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5.xml" ContentType="application/vnd.openxmlformats-officedocument.drawingml.chart+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12"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A90C7D-A79F-458B-B5AE-56683D2EFDF6}" v="25" dt="2026-10-12T10:05:51.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ou De Buyser" userId="9e855837-ff07-4ba4-86ed-57f131032e08" providerId="ADAL" clId="{E6AEFF39-D5DE-49A5-AE36-7B9FC3E010AE}"/>
    <pc:docChg chg="custSel modSld">
      <pc:chgData name="Janou De Buyser" userId="9e855837-ff07-4ba4-86ed-57f131032e08" providerId="ADAL" clId="{E6AEFF39-D5DE-49A5-AE36-7B9FC3E010AE}" dt="2026-10-12T10:51:58.849" v="0" actId="20577"/>
      <pc:docMkLst>
        <pc:docMk/>
      </pc:docMkLst>
      <pc:sldChg chg="modSp mod">
        <pc:chgData name="Janou De Buyser" userId="9e855837-ff07-4ba4-86ed-57f131032e08" providerId="ADAL" clId="{E6AEFF39-D5DE-49A5-AE36-7B9FC3E010AE}" dt="2026-10-12T10:51:58.849" v="0" actId="20577"/>
        <pc:sldMkLst>
          <pc:docMk/>
          <pc:sldMk cId="0" sldId="278"/>
        </pc:sldMkLst>
        <pc:spChg chg="mod">
          <ac:chgData name="Janou De Buyser" userId="9e855837-ff07-4ba4-86ed-57f131032e08" providerId="ADAL" clId="{E6AEFF39-D5DE-49A5-AE36-7B9FC3E010AE}" dt="2026-10-12T10:51:58.849" v="0" actId="20577"/>
          <ac:spMkLst>
            <pc:docMk/>
            <pc:sldMk cId="0" sldId="278"/>
            <ac:spMk id="12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nl-NL"/>
  <c:roundedCorners val="1"/>
  <c:style val="2"/>
  <c:chart>
    <c:autoTitleDeleted val="1"/>
    <c:plotArea>
      <c:layout>
        <c:manualLayout>
          <c:layoutTarget val="inner"/>
          <c:xMode val="edge"/>
          <c:yMode val="edge"/>
          <c:x val="0.1047"/>
          <c:y val="6.7799999999999999E-2"/>
          <c:w val="0.86050000000000004"/>
          <c:h val="0.74580000000000002"/>
        </c:manualLayout>
      </c:layout>
      <c:scatterChart>
        <c:scatterStyle val="lineMarker"/>
        <c:varyColors val="0"/>
        <c:ser>
          <c:idx val="0"/>
          <c:order val="0"/>
          <c:tx>
            <c:strRef>
              <c:f>Sheet1!$B$1</c:f>
              <c:strCache>
                <c:ptCount val="1"/>
                <c:pt idx="0">
                  <c:v>kans</c:v>
                </c:pt>
              </c:strCache>
            </c:strRef>
          </c:tx>
          <c:spPr>
            <a:ln w="19050">
              <a:solidFill>
                <a:srgbClr val="3A4F63"/>
              </a:solidFill>
            </a:ln>
          </c:spPr>
          <c:marker>
            <c:symbol val="none"/>
          </c:marker>
          <c:xVal>
            <c:numRef>
              <c:f>Sheet1!$A$2:$A$252</c:f>
              <c:numCache>
                <c:formatCode>General</c:formatCode>
                <c:ptCount val="251"/>
                <c:pt idx="0">
                  <c:v>1.5</c:v>
                </c:pt>
                <c:pt idx="1">
                  <c:v>1.51</c:v>
                </c:pt>
                <c:pt idx="2">
                  <c:v>1.52</c:v>
                </c:pt>
                <c:pt idx="3">
                  <c:v>1.53</c:v>
                </c:pt>
                <c:pt idx="4">
                  <c:v>1.54</c:v>
                </c:pt>
                <c:pt idx="5">
                  <c:v>1.55</c:v>
                </c:pt>
                <c:pt idx="6">
                  <c:v>1.56</c:v>
                </c:pt>
                <c:pt idx="7">
                  <c:v>1.57</c:v>
                </c:pt>
                <c:pt idx="8">
                  <c:v>1.58</c:v>
                </c:pt>
                <c:pt idx="9">
                  <c:v>1.59</c:v>
                </c:pt>
                <c:pt idx="10">
                  <c:v>1.6</c:v>
                </c:pt>
                <c:pt idx="11">
                  <c:v>1.61</c:v>
                </c:pt>
                <c:pt idx="12">
                  <c:v>1.62</c:v>
                </c:pt>
                <c:pt idx="13">
                  <c:v>1.63</c:v>
                </c:pt>
                <c:pt idx="14">
                  <c:v>1.64</c:v>
                </c:pt>
                <c:pt idx="15">
                  <c:v>1.65</c:v>
                </c:pt>
                <c:pt idx="16">
                  <c:v>1.66</c:v>
                </c:pt>
                <c:pt idx="17">
                  <c:v>1.67</c:v>
                </c:pt>
                <c:pt idx="18">
                  <c:v>1.68</c:v>
                </c:pt>
                <c:pt idx="19">
                  <c:v>1.69</c:v>
                </c:pt>
                <c:pt idx="20">
                  <c:v>1.7</c:v>
                </c:pt>
                <c:pt idx="21">
                  <c:v>1.71</c:v>
                </c:pt>
                <c:pt idx="22">
                  <c:v>1.72</c:v>
                </c:pt>
                <c:pt idx="23">
                  <c:v>1.73</c:v>
                </c:pt>
                <c:pt idx="24">
                  <c:v>1.74</c:v>
                </c:pt>
                <c:pt idx="25">
                  <c:v>1.75</c:v>
                </c:pt>
                <c:pt idx="26">
                  <c:v>1.76</c:v>
                </c:pt>
                <c:pt idx="27">
                  <c:v>1.77</c:v>
                </c:pt>
                <c:pt idx="28">
                  <c:v>1.78</c:v>
                </c:pt>
                <c:pt idx="29">
                  <c:v>1.79</c:v>
                </c:pt>
                <c:pt idx="30">
                  <c:v>1.8</c:v>
                </c:pt>
                <c:pt idx="31">
                  <c:v>1.81</c:v>
                </c:pt>
                <c:pt idx="32">
                  <c:v>1.82</c:v>
                </c:pt>
                <c:pt idx="33">
                  <c:v>1.83</c:v>
                </c:pt>
                <c:pt idx="34">
                  <c:v>1.84</c:v>
                </c:pt>
                <c:pt idx="35">
                  <c:v>1.85</c:v>
                </c:pt>
                <c:pt idx="36">
                  <c:v>1.86</c:v>
                </c:pt>
                <c:pt idx="37">
                  <c:v>1.87</c:v>
                </c:pt>
                <c:pt idx="38">
                  <c:v>1.88</c:v>
                </c:pt>
                <c:pt idx="39">
                  <c:v>1.89</c:v>
                </c:pt>
                <c:pt idx="40">
                  <c:v>1.9</c:v>
                </c:pt>
                <c:pt idx="41">
                  <c:v>1.91</c:v>
                </c:pt>
                <c:pt idx="42">
                  <c:v>1.92</c:v>
                </c:pt>
                <c:pt idx="43">
                  <c:v>1.93</c:v>
                </c:pt>
                <c:pt idx="44">
                  <c:v>1.94</c:v>
                </c:pt>
                <c:pt idx="45">
                  <c:v>1.95</c:v>
                </c:pt>
                <c:pt idx="46">
                  <c:v>1.96</c:v>
                </c:pt>
                <c:pt idx="47">
                  <c:v>1.97</c:v>
                </c:pt>
                <c:pt idx="48">
                  <c:v>1.98</c:v>
                </c:pt>
                <c:pt idx="49">
                  <c:v>1.99</c:v>
                </c:pt>
                <c:pt idx="50">
                  <c:v>2</c:v>
                </c:pt>
                <c:pt idx="51">
                  <c:v>2.0099999999999998</c:v>
                </c:pt>
                <c:pt idx="52">
                  <c:v>2.02</c:v>
                </c:pt>
                <c:pt idx="53">
                  <c:v>2.0299999999999998</c:v>
                </c:pt>
                <c:pt idx="54">
                  <c:v>2.04</c:v>
                </c:pt>
                <c:pt idx="55">
                  <c:v>2.0499999999999998</c:v>
                </c:pt>
                <c:pt idx="56">
                  <c:v>2.06</c:v>
                </c:pt>
                <c:pt idx="57">
                  <c:v>2.0699999999999998</c:v>
                </c:pt>
                <c:pt idx="58">
                  <c:v>2.08</c:v>
                </c:pt>
                <c:pt idx="59">
                  <c:v>2.09</c:v>
                </c:pt>
                <c:pt idx="60">
                  <c:v>2.1</c:v>
                </c:pt>
                <c:pt idx="61">
                  <c:v>2.11</c:v>
                </c:pt>
                <c:pt idx="62">
                  <c:v>2.12</c:v>
                </c:pt>
                <c:pt idx="63">
                  <c:v>2.13</c:v>
                </c:pt>
                <c:pt idx="64">
                  <c:v>2.14</c:v>
                </c:pt>
                <c:pt idx="65">
                  <c:v>2.15</c:v>
                </c:pt>
                <c:pt idx="66">
                  <c:v>2.16</c:v>
                </c:pt>
                <c:pt idx="67">
                  <c:v>2.17</c:v>
                </c:pt>
                <c:pt idx="68">
                  <c:v>2.1800000000000002</c:v>
                </c:pt>
                <c:pt idx="69">
                  <c:v>2.19</c:v>
                </c:pt>
                <c:pt idx="70">
                  <c:v>2.2000000000000002</c:v>
                </c:pt>
                <c:pt idx="71">
                  <c:v>2.21</c:v>
                </c:pt>
                <c:pt idx="72">
                  <c:v>2.2200000000000002</c:v>
                </c:pt>
                <c:pt idx="73">
                  <c:v>2.23</c:v>
                </c:pt>
                <c:pt idx="74">
                  <c:v>2.2400000000000002</c:v>
                </c:pt>
                <c:pt idx="75">
                  <c:v>2.25</c:v>
                </c:pt>
                <c:pt idx="76">
                  <c:v>2.2599999999999998</c:v>
                </c:pt>
                <c:pt idx="77">
                  <c:v>2.27</c:v>
                </c:pt>
                <c:pt idx="78">
                  <c:v>2.2799999999999998</c:v>
                </c:pt>
                <c:pt idx="79">
                  <c:v>2.29</c:v>
                </c:pt>
                <c:pt idx="80">
                  <c:v>2.2999999999999998</c:v>
                </c:pt>
                <c:pt idx="81">
                  <c:v>2.31</c:v>
                </c:pt>
                <c:pt idx="82">
                  <c:v>2.3199999999999998</c:v>
                </c:pt>
                <c:pt idx="83">
                  <c:v>2.33</c:v>
                </c:pt>
                <c:pt idx="84">
                  <c:v>2.34</c:v>
                </c:pt>
                <c:pt idx="85">
                  <c:v>2.35</c:v>
                </c:pt>
                <c:pt idx="86">
                  <c:v>2.36</c:v>
                </c:pt>
                <c:pt idx="87">
                  <c:v>2.37</c:v>
                </c:pt>
                <c:pt idx="88">
                  <c:v>2.38</c:v>
                </c:pt>
                <c:pt idx="89">
                  <c:v>2.39</c:v>
                </c:pt>
                <c:pt idx="90">
                  <c:v>2.4</c:v>
                </c:pt>
                <c:pt idx="91">
                  <c:v>2.41</c:v>
                </c:pt>
                <c:pt idx="92">
                  <c:v>2.42</c:v>
                </c:pt>
                <c:pt idx="93">
                  <c:v>2.4300000000000002</c:v>
                </c:pt>
                <c:pt idx="94">
                  <c:v>2.44</c:v>
                </c:pt>
                <c:pt idx="95">
                  <c:v>2.4500000000000002</c:v>
                </c:pt>
                <c:pt idx="96">
                  <c:v>2.46</c:v>
                </c:pt>
                <c:pt idx="97">
                  <c:v>2.4700000000000002</c:v>
                </c:pt>
                <c:pt idx="98">
                  <c:v>2.48</c:v>
                </c:pt>
                <c:pt idx="99">
                  <c:v>2.4900000000000002</c:v>
                </c:pt>
                <c:pt idx="100">
                  <c:v>2.5</c:v>
                </c:pt>
                <c:pt idx="101">
                  <c:v>2.5099999999999998</c:v>
                </c:pt>
                <c:pt idx="102">
                  <c:v>2.52</c:v>
                </c:pt>
                <c:pt idx="103">
                  <c:v>2.5299999999999998</c:v>
                </c:pt>
                <c:pt idx="104">
                  <c:v>2.54</c:v>
                </c:pt>
                <c:pt idx="105">
                  <c:v>2.5499999999999998</c:v>
                </c:pt>
                <c:pt idx="106">
                  <c:v>2.56</c:v>
                </c:pt>
                <c:pt idx="107">
                  <c:v>2.57</c:v>
                </c:pt>
                <c:pt idx="108">
                  <c:v>2.58</c:v>
                </c:pt>
                <c:pt idx="109">
                  <c:v>2.59</c:v>
                </c:pt>
                <c:pt idx="110">
                  <c:v>2.6</c:v>
                </c:pt>
                <c:pt idx="111">
                  <c:v>2.61</c:v>
                </c:pt>
                <c:pt idx="112">
                  <c:v>2.62</c:v>
                </c:pt>
                <c:pt idx="113">
                  <c:v>2.63</c:v>
                </c:pt>
                <c:pt idx="114">
                  <c:v>2.64</c:v>
                </c:pt>
                <c:pt idx="115">
                  <c:v>2.65</c:v>
                </c:pt>
                <c:pt idx="116">
                  <c:v>2.66</c:v>
                </c:pt>
                <c:pt idx="117">
                  <c:v>2.67</c:v>
                </c:pt>
                <c:pt idx="118">
                  <c:v>2.68</c:v>
                </c:pt>
                <c:pt idx="119">
                  <c:v>2.69</c:v>
                </c:pt>
                <c:pt idx="120">
                  <c:v>2.7</c:v>
                </c:pt>
                <c:pt idx="121">
                  <c:v>2.71</c:v>
                </c:pt>
                <c:pt idx="122">
                  <c:v>2.72</c:v>
                </c:pt>
                <c:pt idx="123">
                  <c:v>2.73</c:v>
                </c:pt>
                <c:pt idx="124">
                  <c:v>2.74</c:v>
                </c:pt>
                <c:pt idx="125">
                  <c:v>2.75</c:v>
                </c:pt>
                <c:pt idx="126">
                  <c:v>2.76</c:v>
                </c:pt>
                <c:pt idx="127">
                  <c:v>2.77</c:v>
                </c:pt>
                <c:pt idx="128">
                  <c:v>2.78</c:v>
                </c:pt>
                <c:pt idx="129">
                  <c:v>2.79</c:v>
                </c:pt>
                <c:pt idx="130">
                  <c:v>2.8</c:v>
                </c:pt>
                <c:pt idx="131">
                  <c:v>2.81</c:v>
                </c:pt>
                <c:pt idx="132">
                  <c:v>2.82</c:v>
                </c:pt>
                <c:pt idx="133">
                  <c:v>2.83</c:v>
                </c:pt>
                <c:pt idx="134">
                  <c:v>2.84</c:v>
                </c:pt>
                <c:pt idx="135">
                  <c:v>2.85</c:v>
                </c:pt>
                <c:pt idx="136">
                  <c:v>2.86</c:v>
                </c:pt>
                <c:pt idx="137">
                  <c:v>2.87</c:v>
                </c:pt>
                <c:pt idx="138">
                  <c:v>2.88</c:v>
                </c:pt>
                <c:pt idx="139">
                  <c:v>2.89</c:v>
                </c:pt>
                <c:pt idx="140">
                  <c:v>2.9</c:v>
                </c:pt>
                <c:pt idx="141">
                  <c:v>2.91</c:v>
                </c:pt>
                <c:pt idx="142">
                  <c:v>2.92</c:v>
                </c:pt>
                <c:pt idx="143">
                  <c:v>2.93</c:v>
                </c:pt>
                <c:pt idx="144">
                  <c:v>2.94</c:v>
                </c:pt>
                <c:pt idx="145">
                  <c:v>2.95</c:v>
                </c:pt>
                <c:pt idx="146">
                  <c:v>2.96</c:v>
                </c:pt>
                <c:pt idx="147">
                  <c:v>2.97</c:v>
                </c:pt>
                <c:pt idx="148">
                  <c:v>2.98</c:v>
                </c:pt>
                <c:pt idx="149">
                  <c:v>2.99</c:v>
                </c:pt>
                <c:pt idx="150">
                  <c:v>3</c:v>
                </c:pt>
                <c:pt idx="151">
                  <c:v>3.01</c:v>
                </c:pt>
                <c:pt idx="152">
                  <c:v>3.02</c:v>
                </c:pt>
                <c:pt idx="153">
                  <c:v>3.03</c:v>
                </c:pt>
                <c:pt idx="154">
                  <c:v>3.04</c:v>
                </c:pt>
                <c:pt idx="155">
                  <c:v>3.05</c:v>
                </c:pt>
                <c:pt idx="156">
                  <c:v>3.06</c:v>
                </c:pt>
                <c:pt idx="157">
                  <c:v>3.07</c:v>
                </c:pt>
                <c:pt idx="158">
                  <c:v>3.08</c:v>
                </c:pt>
                <c:pt idx="159">
                  <c:v>3.09</c:v>
                </c:pt>
                <c:pt idx="160">
                  <c:v>3.1</c:v>
                </c:pt>
                <c:pt idx="161">
                  <c:v>3.11</c:v>
                </c:pt>
                <c:pt idx="162">
                  <c:v>3.12</c:v>
                </c:pt>
                <c:pt idx="163">
                  <c:v>3.13</c:v>
                </c:pt>
                <c:pt idx="164">
                  <c:v>3.14</c:v>
                </c:pt>
                <c:pt idx="165">
                  <c:v>3.15</c:v>
                </c:pt>
                <c:pt idx="166">
                  <c:v>3.16</c:v>
                </c:pt>
                <c:pt idx="167">
                  <c:v>3.17</c:v>
                </c:pt>
                <c:pt idx="168">
                  <c:v>3.18</c:v>
                </c:pt>
                <c:pt idx="169">
                  <c:v>3.19</c:v>
                </c:pt>
                <c:pt idx="170">
                  <c:v>3.2</c:v>
                </c:pt>
                <c:pt idx="171">
                  <c:v>3.21</c:v>
                </c:pt>
                <c:pt idx="172">
                  <c:v>3.22</c:v>
                </c:pt>
                <c:pt idx="173">
                  <c:v>3.23</c:v>
                </c:pt>
                <c:pt idx="174">
                  <c:v>3.24</c:v>
                </c:pt>
                <c:pt idx="175">
                  <c:v>3.25</c:v>
                </c:pt>
                <c:pt idx="176">
                  <c:v>3.26</c:v>
                </c:pt>
                <c:pt idx="177">
                  <c:v>3.27</c:v>
                </c:pt>
                <c:pt idx="178">
                  <c:v>3.28</c:v>
                </c:pt>
                <c:pt idx="179">
                  <c:v>3.29</c:v>
                </c:pt>
                <c:pt idx="180">
                  <c:v>3.3</c:v>
                </c:pt>
                <c:pt idx="181">
                  <c:v>3.31</c:v>
                </c:pt>
                <c:pt idx="182">
                  <c:v>3.32</c:v>
                </c:pt>
                <c:pt idx="183">
                  <c:v>3.33</c:v>
                </c:pt>
                <c:pt idx="184">
                  <c:v>3.34</c:v>
                </c:pt>
                <c:pt idx="185">
                  <c:v>3.35</c:v>
                </c:pt>
                <c:pt idx="186">
                  <c:v>3.36</c:v>
                </c:pt>
                <c:pt idx="187">
                  <c:v>3.37</c:v>
                </c:pt>
                <c:pt idx="188">
                  <c:v>3.38</c:v>
                </c:pt>
                <c:pt idx="189">
                  <c:v>3.39</c:v>
                </c:pt>
                <c:pt idx="190">
                  <c:v>3.4</c:v>
                </c:pt>
                <c:pt idx="191">
                  <c:v>3.41</c:v>
                </c:pt>
                <c:pt idx="192">
                  <c:v>3.42</c:v>
                </c:pt>
                <c:pt idx="193">
                  <c:v>3.43</c:v>
                </c:pt>
                <c:pt idx="194">
                  <c:v>3.44</c:v>
                </c:pt>
                <c:pt idx="195">
                  <c:v>3.45</c:v>
                </c:pt>
                <c:pt idx="196">
                  <c:v>3.46</c:v>
                </c:pt>
                <c:pt idx="197">
                  <c:v>3.47</c:v>
                </c:pt>
                <c:pt idx="198">
                  <c:v>3.48</c:v>
                </c:pt>
                <c:pt idx="199">
                  <c:v>3.49</c:v>
                </c:pt>
                <c:pt idx="200">
                  <c:v>3.5</c:v>
                </c:pt>
                <c:pt idx="201">
                  <c:v>3.51</c:v>
                </c:pt>
                <c:pt idx="202">
                  <c:v>3.52</c:v>
                </c:pt>
                <c:pt idx="203">
                  <c:v>3.53</c:v>
                </c:pt>
                <c:pt idx="204">
                  <c:v>3.54</c:v>
                </c:pt>
                <c:pt idx="205">
                  <c:v>3.55</c:v>
                </c:pt>
                <c:pt idx="206">
                  <c:v>3.56</c:v>
                </c:pt>
                <c:pt idx="207">
                  <c:v>3.57</c:v>
                </c:pt>
                <c:pt idx="208">
                  <c:v>3.58</c:v>
                </c:pt>
                <c:pt idx="209">
                  <c:v>3.59</c:v>
                </c:pt>
                <c:pt idx="210">
                  <c:v>3.6</c:v>
                </c:pt>
                <c:pt idx="211">
                  <c:v>3.61</c:v>
                </c:pt>
                <c:pt idx="212">
                  <c:v>3.62</c:v>
                </c:pt>
                <c:pt idx="213">
                  <c:v>3.63</c:v>
                </c:pt>
                <c:pt idx="214">
                  <c:v>3.64</c:v>
                </c:pt>
                <c:pt idx="215">
                  <c:v>3.65</c:v>
                </c:pt>
                <c:pt idx="216">
                  <c:v>3.66</c:v>
                </c:pt>
                <c:pt idx="217">
                  <c:v>3.67</c:v>
                </c:pt>
                <c:pt idx="218">
                  <c:v>3.68</c:v>
                </c:pt>
                <c:pt idx="219">
                  <c:v>3.69</c:v>
                </c:pt>
                <c:pt idx="220">
                  <c:v>3.7</c:v>
                </c:pt>
                <c:pt idx="221">
                  <c:v>3.71</c:v>
                </c:pt>
                <c:pt idx="222">
                  <c:v>3.72</c:v>
                </c:pt>
                <c:pt idx="223">
                  <c:v>3.73</c:v>
                </c:pt>
                <c:pt idx="224">
                  <c:v>3.74</c:v>
                </c:pt>
                <c:pt idx="225">
                  <c:v>3.75</c:v>
                </c:pt>
                <c:pt idx="226">
                  <c:v>3.76</c:v>
                </c:pt>
                <c:pt idx="227">
                  <c:v>3.77</c:v>
                </c:pt>
                <c:pt idx="228">
                  <c:v>3.78</c:v>
                </c:pt>
                <c:pt idx="229">
                  <c:v>3.79</c:v>
                </c:pt>
                <c:pt idx="230">
                  <c:v>3.8</c:v>
                </c:pt>
                <c:pt idx="231">
                  <c:v>3.81</c:v>
                </c:pt>
                <c:pt idx="232">
                  <c:v>3.82</c:v>
                </c:pt>
                <c:pt idx="233">
                  <c:v>3.83</c:v>
                </c:pt>
                <c:pt idx="234">
                  <c:v>3.84</c:v>
                </c:pt>
                <c:pt idx="235">
                  <c:v>3.85</c:v>
                </c:pt>
                <c:pt idx="236">
                  <c:v>3.86</c:v>
                </c:pt>
                <c:pt idx="237">
                  <c:v>3.87</c:v>
                </c:pt>
                <c:pt idx="238">
                  <c:v>3.88</c:v>
                </c:pt>
                <c:pt idx="239">
                  <c:v>3.89</c:v>
                </c:pt>
                <c:pt idx="240">
                  <c:v>3.9</c:v>
                </c:pt>
                <c:pt idx="241">
                  <c:v>3.91</c:v>
                </c:pt>
                <c:pt idx="242">
                  <c:v>3.92</c:v>
                </c:pt>
                <c:pt idx="243">
                  <c:v>3.93</c:v>
                </c:pt>
                <c:pt idx="244">
                  <c:v>3.94</c:v>
                </c:pt>
                <c:pt idx="245">
                  <c:v>3.95</c:v>
                </c:pt>
                <c:pt idx="246">
                  <c:v>3.96</c:v>
                </c:pt>
                <c:pt idx="247">
                  <c:v>3.97</c:v>
                </c:pt>
                <c:pt idx="248">
                  <c:v>3.98</c:v>
                </c:pt>
                <c:pt idx="249">
                  <c:v>3.99</c:v>
                </c:pt>
                <c:pt idx="250">
                  <c:v>4</c:v>
                </c:pt>
              </c:numCache>
            </c:numRef>
          </c:xVal>
          <c:yVal>
            <c:numRef>
              <c:f>Sheet1!$B$2:$B$252</c:f>
              <c:numCache>
                <c:formatCode>General</c:formatCode>
                <c:ptCount val="251"/>
                <c:pt idx="0">
                  <c:v>10.111009185571074</c:v>
                </c:pt>
                <c:pt idx="1">
                  <c:v>10.645373875787179</c:v>
                </c:pt>
                <c:pt idx="2">
                  <c:v>11.197289303461266</c:v>
                </c:pt>
                <c:pt idx="3">
                  <c:v>11.7667610136725</c:v>
                </c:pt>
                <c:pt idx="4">
                  <c:v>12.353766690916835</c:v>
                </c:pt>
                <c:pt idx="5">
                  <c:v>12.958255899581117</c:v>
                </c:pt>
                <c:pt idx="6">
                  <c:v>13.580149911675466</c:v>
                </c:pt>
                <c:pt idx="7">
                  <c:v>14.219341622254989</c:v>
                </c:pt>
                <c:pt idx="8">
                  <c:v>14.875695552560398</c:v>
                </c:pt>
                <c:pt idx="9">
                  <c:v>15.549047940492301</c:v>
                </c:pt>
                <c:pt idx="10">
                  <c:v>16.239206917639525</c:v>
                </c:pt>
                <c:pt idx="11">
                  <c:v>16.945952771702146</c:v>
                </c:pt>
                <c:pt idx="12">
                  <c:v>17.669038292769244</c:v>
                </c:pt>
                <c:pt idx="13">
                  <c:v>18.408189201559122</c:v>
                </c:pt>
                <c:pt idx="14">
                  <c:v>19.163104657394491</c:v>
                </c:pt>
                <c:pt idx="15">
                  <c:v>19.933457843349345</c:v>
                </c:pt>
                <c:pt idx="16">
                  <c:v>20.71889662571742</c:v>
                </c:pt>
                <c:pt idx="17">
                  <c:v>21.519044284663025</c:v>
                </c:pt>
                <c:pt idx="18">
                  <c:v>22.333500312652465</c:v>
                </c:pt>
                <c:pt idx="19">
                  <c:v>23.161841277041241</c:v>
                </c:pt>
                <c:pt idx="20">
                  <c:v>24.00362174296642</c:v>
                </c:pt>
                <c:pt idx="21">
                  <c:v>24.858375252511667</c:v>
                </c:pt>
                <c:pt idx="22">
                  <c:v>25.725615355949294</c:v>
                </c:pt>
                <c:pt idx="23">
                  <c:v>26.60483669072239</c:v>
                </c:pt>
                <c:pt idx="24">
                  <c:v>27.495516103715257</c:v>
                </c:pt>
                <c:pt idx="25">
                  <c:v>28.397113812277329</c:v>
                </c:pt>
                <c:pt idx="26">
                  <c:v>29.309074599385664</c:v>
                </c:pt>
                <c:pt idx="27">
                  <c:v>30.230829038310503</c:v>
                </c:pt>
                <c:pt idx="28">
                  <c:v>31.161794742108874</c:v>
                </c:pt>
                <c:pt idx="29">
                  <c:v>32.101377633290426</c:v>
                </c:pt>
                <c:pt idx="30">
                  <c:v>33.048973229017619</c:v>
                </c:pt>
                <c:pt idx="31">
                  <c:v>34.003967937260349</c:v>
                </c:pt>
                <c:pt idx="32">
                  <c:v>34.965740359370336</c:v>
                </c:pt>
                <c:pt idx="33">
                  <c:v>35.933662594654848</c:v>
                </c:pt>
                <c:pt idx="34">
                  <c:v>36.907101542615052</c:v>
                </c:pt>
                <c:pt idx="35">
                  <c:v>37.885420198635622</c:v>
                </c:pt>
                <c:pt idx="36">
                  <c:v>38.867978939051639</c:v>
                </c:pt>
                <c:pt idx="37">
                  <c:v>39.854136791679515</c:v>
                </c:pt>
                <c:pt idx="38">
                  <c:v>40.843252688036181</c:v>
                </c:pt>
                <c:pt idx="39">
                  <c:v>41.834686693667479</c:v>
                </c:pt>
                <c:pt idx="40">
                  <c:v>42.827801213185388</c:v>
                </c:pt>
                <c:pt idx="41">
                  <c:v>43.821962166803189</c:v>
                </c:pt>
                <c:pt idx="42">
                  <c:v>44.816540135354352</c:v>
                </c:pt>
                <c:pt idx="43">
                  <c:v>45.810911471009476</c:v>
                </c:pt>
                <c:pt idx="44">
                  <c:v>46.804459371085713</c:v>
                </c:pt>
                <c:pt idx="45">
                  <c:v>47.796574912589762</c:v>
                </c:pt>
                <c:pt idx="46">
                  <c:v>48.786658045329808</c:v>
                </c:pt>
                <c:pt idx="47">
                  <c:v>49.774118541671939</c:v>
                </c:pt>
                <c:pt idx="48">
                  <c:v>50.758376901212934</c:v>
                </c:pt>
                <c:pt idx="49">
                  <c:v>51.738865208888555</c:v>
                </c:pt>
                <c:pt idx="50">
                  <c:v>52.715027945225536</c:v>
                </c:pt>
                <c:pt idx="51">
                  <c:v>53.68632274767937</c:v>
                </c:pt>
                <c:pt idx="52">
                  <c:v>54.652221122204693</c:v>
                </c:pt>
                <c:pt idx="53">
                  <c:v>55.612209104403476</c:v>
                </c:pt>
                <c:pt idx="54">
                  <c:v>56.565787869813441</c:v>
                </c:pt>
                <c:pt idx="55">
                  <c:v>57.512474293069893</c:v>
                </c:pt>
                <c:pt idx="56">
                  <c:v>58.451801455891307</c:v>
                </c:pt>
                <c:pt idx="57">
                  <c:v>59.383319103988995</c:v>
                </c:pt>
                <c:pt idx="58">
                  <c:v>60.306594053201465</c:v>
                </c:pt>
                <c:pt idx="59">
                  <c:v>61.22121054529368</c:v>
                </c:pt>
                <c:pt idx="60">
                  <c:v>62.126770554041357</c:v>
                </c:pt>
                <c:pt idx="61">
                  <c:v>63.022894042345399</c:v>
                </c:pt>
                <c:pt idx="62">
                  <c:v>63.909219171277321</c:v>
                </c:pt>
                <c:pt idx="63">
                  <c:v>64.785402462070991</c:v>
                </c:pt>
                <c:pt idx="64">
                  <c:v>65.651118912207963</c:v>
                </c:pt>
                <c:pt idx="65">
                  <c:v>66.506062066841579</c:v>
                </c:pt>
                <c:pt idx="66">
                  <c:v>67.349944046908945</c:v>
                </c:pt>
                <c:pt idx="67">
                  <c:v>68.182495535378152</c:v>
                </c:pt>
                <c:pt idx="68">
                  <c:v>69.003465723143293</c:v>
                </c:pt>
                <c:pt idx="69">
                  <c:v>69.812622216165494</c:v>
                </c:pt>
                <c:pt idx="70">
                  <c:v>70.609750905510765</c:v>
                </c:pt>
                <c:pt idx="71">
                  <c:v>71.394655801994119</c:v>
                </c:pt>
                <c:pt idx="72">
                  <c:v>72.167158837184431</c:v>
                </c:pt>
                <c:pt idx="73">
                  <c:v>72.927099632547609</c:v>
                </c:pt>
                <c:pt idx="74">
                  <c:v>73.674335238557262</c:v>
                </c:pt>
                <c:pt idx="75">
                  <c:v>74.408739845591001</c:v>
                </c:pt>
                <c:pt idx="76">
                  <c:v>75.130204468471916</c:v>
                </c:pt>
                <c:pt idx="77">
                  <c:v>75.838636606494575</c:v>
                </c:pt>
                <c:pt idx="78">
                  <c:v>76.533959880787492</c:v>
                </c:pt>
                <c:pt idx="79">
                  <c:v>77.216113650849877</c:v>
                </c:pt>
                <c:pt idx="80">
                  <c:v>77.885052612080841</c:v>
                </c:pt>
                <c:pt idx="81">
                  <c:v>78.540746376107222</c:v>
                </c:pt>
                <c:pt idx="82">
                  <c:v>79.183179035677554</c:v>
                </c:pt>
                <c:pt idx="83">
                  <c:v>79.812348715870016</c:v>
                </c:pt>
                <c:pt idx="84">
                  <c:v>80.428267113315371</c:v>
                </c:pt>
                <c:pt idx="85">
                  <c:v>81.030959025100373</c:v>
                </c:pt>
                <c:pt idx="86">
                  <c:v>81.620461868972583</c:v>
                </c:pt>
                <c:pt idx="87">
                  <c:v>82.196825196417905</c:v>
                </c:pt>
                <c:pt idx="88">
                  <c:v>82.76011020012875</c:v>
                </c:pt>
                <c:pt idx="89">
                  <c:v>83.310389217332911</c:v>
                </c:pt>
                <c:pt idx="90">
                  <c:v>83.847745230390942</c:v>
                </c:pt>
                <c:pt idx="91">
                  <c:v>84.372271366014346</c:v>
                </c:pt>
                <c:pt idx="92">
                  <c:v>84.884070394395664</c:v>
                </c:pt>
                <c:pt idx="93">
                  <c:v>85.383254229482944</c:v>
                </c:pt>
                <c:pt idx="94">
                  <c:v>85.869943431564081</c:v>
                </c:pt>
                <c:pt idx="95">
                  <c:v>86.344266713267103</c:v>
                </c:pt>
                <c:pt idx="96">
                  <c:v>86.806360450018872</c:v>
                </c:pt>
                <c:pt idx="97">
                  <c:v>87.256368195939132</c:v>
                </c:pt>
                <c:pt idx="98">
                  <c:v>87.694440206081538</c:v>
                </c:pt>
                <c:pt idx="99">
                  <c:v>88.12073296587856</c:v>
                </c:pt>
                <c:pt idx="100">
                  <c:v>88.535408728572591</c:v>
                </c:pt>
                <c:pt idx="101">
                  <c:v>88.938635061361566</c:v>
                </c:pt>
                <c:pt idx="102">
                  <c:v>89.330584400925432</c:v>
                </c:pt>
                <c:pt idx="103">
                  <c:v>89.711433618935857</c:v>
                </c:pt>
                <c:pt idx="104">
                  <c:v>90.081363598098875</c:v>
                </c:pt>
                <c:pt idx="105">
                  <c:v>90.44055881921615</c:v>
                </c:pt>
                <c:pt idx="106">
                  <c:v>90.789206959702398</c:v>
                </c:pt>
                <c:pt idx="107">
                  <c:v>91.127498503933666</c:v>
                </c:pt>
                <c:pt idx="108">
                  <c:v>91.455626365758988</c:v>
                </c:pt>
                <c:pt idx="109">
                  <c:v>91.773785523448069</c:v>
                </c:pt>
                <c:pt idx="110">
                  <c:v>92.082172667305414</c:v>
                </c:pt>
                <c:pt idx="111">
                  <c:v>92.380985860131645</c:v>
                </c:pt>
                <c:pt idx="112">
                  <c:v>92.670424210670944</c:v>
                </c:pt>
                <c:pt idx="113">
                  <c:v>92.950687560138363</c:v>
                </c:pt>
                <c:pt idx="114">
                  <c:v>93.221976181880692</c:v>
                </c:pt>
                <c:pt idx="115">
                  <c:v>93.484490494190808</c:v>
                </c:pt>
                <c:pt idx="116">
                  <c:v>93.73843078625255</c:v>
                </c:pt>
                <c:pt idx="117">
                  <c:v>93.983996957164024</c:v>
                </c:pt>
                <c:pt idx="118">
                  <c:v>94.221388267955291</c:v>
                </c:pt>
                <c:pt idx="119">
                  <c:v>94.450803106483178</c:v>
                </c:pt>
                <c:pt idx="120">
                  <c:v>94.672438765062878</c:v>
                </c:pt>
                <c:pt idx="121">
                  <c:v>94.886491230667019</c:v>
                </c:pt>
                <c:pt idx="122">
                  <c:v>95.093154987500881</c:v>
                </c:pt>
                <c:pt idx="123">
                  <c:v>95.292622831740502</c:v>
                </c:pt>
                <c:pt idx="124">
                  <c:v>95.485085698200749</c:v>
                </c:pt>
                <c:pt idx="125">
                  <c:v>95.67073249868227</c:v>
                </c:pt>
                <c:pt idx="126">
                  <c:v>95.849749971731185</c:v>
                </c:pt>
                <c:pt idx="127">
                  <c:v>96.022322543529526</c:v>
                </c:pt>
                <c:pt idx="128">
                  <c:v>96.188632199623385</c:v>
                </c:pt>
                <c:pt idx="129">
                  <c:v>96.348858367183951</c:v>
                </c:pt>
                <c:pt idx="130">
                  <c:v>96.503177807487532</c:v>
                </c:pt>
                <c:pt idx="131">
                  <c:v>96.651764518292168</c:v>
                </c:pt>
                <c:pt idx="132">
                  <c:v>96.794789645783084</c:v>
                </c:pt>
                <c:pt idx="133">
                  <c:v>96.932421405752805</c:v>
                </c:pt>
                <c:pt idx="134">
                  <c:v>97.064825013678856</c:v>
                </c:pt>
                <c:pt idx="135">
                  <c:v>97.192162623358854</c:v>
                </c:pt>
                <c:pt idx="136">
                  <c:v>97.314593273761716</c:v>
                </c:pt>
                <c:pt idx="137">
                  <c:v>97.432272843752159</c:v>
                </c:pt>
                <c:pt idx="138">
                  <c:v>97.545354014348462</c:v>
                </c:pt>
                <c:pt idx="139">
                  <c:v>97.653986238172536</c:v>
                </c:pt>
                <c:pt idx="140">
                  <c:v>97.758315715754989</c:v>
                </c:pt>
                <c:pt idx="141">
                  <c:v>97.858485378361749</c:v>
                </c:pt>
                <c:pt idx="142">
                  <c:v>97.954634877010903</c:v>
                </c:pt>
                <c:pt idx="143">
                  <c:v>98.046900577354762</c:v>
                </c:pt>
                <c:pt idx="144">
                  <c:v>98.135415560106637</c:v>
                </c:pt>
                <c:pt idx="145">
                  <c:v>98.220309626697585</c:v>
                </c:pt>
                <c:pt idx="146">
                  <c:v>98.301709309855397</c:v>
                </c:pt>
                <c:pt idx="147">
                  <c:v>98.379737888803646</c:v>
                </c:pt>
                <c:pt idx="148">
                  <c:v>98.454515408787429</c:v>
                </c:pt>
                <c:pt idx="149">
                  <c:v>98.526158704638405</c:v>
                </c:pt>
                <c:pt idx="150">
                  <c:v>98.594781428100873</c:v>
                </c:pt>
                <c:pt idx="151">
                  <c:v>98.660494078647915</c:v>
                </c:pt>
                <c:pt idx="152">
                  <c:v>98.723404037525341</c:v>
                </c:pt>
                <c:pt idx="153">
                  <c:v>98.783615604769622</c:v>
                </c:pt>
                <c:pt idx="154">
                  <c:v>98.841230038954734</c:v>
                </c:pt>
                <c:pt idx="155">
                  <c:v>98.896345599431214</c:v>
                </c:pt>
                <c:pt idx="156">
                  <c:v>98.949057590830435</c:v>
                </c:pt>
                <c:pt idx="157">
                  <c:v>98.999458409614732</c:v>
                </c:pt>
                <c:pt idx="158">
                  <c:v>99.047637592464199</c:v>
                </c:pt>
                <c:pt idx="159">
                  <c:v>99.093681866298596</c:v>
                </c:pt>
                <c:pt idx="160">
                  <c:v>99.13767519974283</c:v>
                </c:pt>
                <c:pt idx="161">
                  <c:v>99.179698855852152</c:v>
                </c:pt>
                <c:pt idx="162">
                  <c:v>99.219831445922495</c:v>
                </c:pt>
                <c:pt idx="163">
                  <c:v>99.258148984219957</c:v>
                </c:pt>
                <c:pt idx="164">
                  <c:v>99.294724943471152</c:v>
                </c:pt>
                <c:pt idx="165">
                  <c:v>99.32963031096557</c:v>
                </c:pt>
                <c:pt idx="166">
                  <c:v>99.362933645127924</c:v>
                </c:pt>
                <c:pt idx="167">
                  <c:v>99.394701132427571</c:v>
                </c:pt>
                <c:pt idx="168">
                  <c:v>99.42499664449889</c:v>
                </c:pt>
                <c:pt idx="169">
                  <c:v>99.453881795354732</c:v>
                </c:pt>
                <c:pt idx="170">
                  <c:v>99.481415998582122</c:v>
                </c:pt>
                <c:pt idx="171">
                  <c:v>99.507656524416603</c:v>
                </c:pt>
                <c:pt idx="172">
                  <c:v>99.53265855659842</c:v>
                </c:pt>
                <c:pt idx="173">
                  <c:v>99.556475248920691</c:v>
                </c:pt>
                <c:pt idx="174">
                  <c:v>99.579157781386229</c:v>
                </c:pt>
                <c:pt idx="175">
                  <c:v>99.600755415895321</c:v>
                </c:pt>
                <c:pt idx="176">
                  <c:v>99.621315551393906</c:v>
                </c:pt>
                <c:pt idx="177">
                  <c:v>99.640883778416196</c:v>
                </c:pt>
                <c:pt idx="178">
                  <c:v>99.659503932962352</c:v>
                </c:pt>
                <c:pt idx="179">
                  <c:v>99.677218149656412</c:v>
                </c:pt>
                <c:pt idx="180">
                  <c:v>99.694066914135334</c:v>
                </c:pt>
                <c:pt idx="181">
                  <c:v>99.710089114624637</c:v>
                </c:pt>
                <c:pt idx="182">
                  <c:v>99.725322092660505</c:v>
                </c:pt>
                <c:pt idx="183">
                  <c:v>99.739801692923564</c:v>
                </c:pt>
                <c:pt idx="184">
                  <c:v>99.753562312152468</c:v>
                </c:pt>
                <c:pt idx="185">
                  <c:v>99.766636947110626</c:v>
                </c:pt>
                <c:pt idx="186">
                  <c:v>99.779057241582478</c:v>
                </c:pt>
                <c:pt idx="187">
                  <c:v>99.790853532379458</c:v>
                </c:pt>
                <c:pt idx="188">
                  <c:v>99.802054894339449</c:v>
                </c:pt>
                <c:pt idx="189">
                  <c:v>99.812689184306109</c:v>
                </c:pt>
                <c:pt idx="190">
                  <c:v>99.822783084078452</c:v>
                </c:pt>
                <c:pt idx="191">
                  <c:v>99.832362142322523</c:v>
                </c:pt>
                <c:pt idx="192">
                  <c:v>99.841450815440965</c:v>
                </c:pt>
                <c:pt idx="193">
                  <c:v>99.850072507397897</c:v>
                </c:pt>
                <c:pt idx="194">
                  <c:v>99.858249608499136</c:v>
                </c:pt>
                <c:pt idx="195">
                  <c:v>99.866003533129742</c:v>
                </c:pt>
                <c:pt idx="196">
                  <c:v>99.87335475645321</c:v>
                </c:pt>
                <c:pt idx="197">
                  <c:v>99.880322850077903</c:v>
                </c:pt>
                <c:pt idx="198">
                  <c:v>99.886926516698651</c:v>
                </c:pt>
                <c:pt idx="199">
                  <c:v>99.893183623722251</c:v>
                </c:pt>
                <c:pt idx="200">
                  <c:v>99.899111235887872</c:v>
                </c:pt>
                <c:pt idx="201">
                  <c:v>99.904725646893795</c:v>
                </c:pt>
                <c:pt idx="202">
                  <c:v>99.910042410043758</c:v>
                </c:pt>
                <c:pt idx="203">
                  <c:v>99.915076367926844</c:v>
                </c:pt>
                <c:pt idx="204">
                  <c:v>99.919841681145996</c:v>
                </c:pt>
                <c:pt idx="205">
                  <c:v>99.924351856110974</c:v>
                </c:pt>
                <c:pt idx="206">
                  <c:v>99.928619771912437</c:v>
                </c:pt>
                <c:pt idx="207">
                  <c:v>99.932657706294307</c:v>
                </c:pt>
                <c:pt idx="208">
                  <c:v>99.936477360742273</c:v>
                </c:pt>
                <c:pt idx="209">
                  <c:v>99.940089884706921</c:v>
                </c:pt>
                <c:pt idx="210">
                  <c:v>99.943505898980007</c:v>
                </c:pt>
                <c:pt idx="211">
                  <c:v>99.946735518243017</c:v>
                </c:pt>
                <c:pt idx="212">
                  <c:v>99.949788372807504</c:v>
                </c:pt>
                <c:pt idx="213">
                  <c:v>99.952673629566476</c:v>
                </c:pt>
                <c:pt idx="214">
                  <c:v>99.955400012176881</c:v>
                </c:pt>
                <c:pt idx="215">
                  <c:v>99.957975820492635</c:v>
                </c:pt>
                <c:pt idx="216">
                  <c:v>99.96040894926827</c:v>
                </c:pt>
                <c:pt idx="217">
                  <c:v>99.962706906153016</c:v>
                </c:pt>
                <c:pt idx="218">
                  <c:v>99.964876828995003</c:v>
                </c:pt>
                <c:pt idx="219">
                  <c:v>99.966925502475263</c:v>
                </c:pt>
                <c:pt idx="220">
                  <c:v>99.968859374091338</c:v>
                </c:pt>
                <c:pt idx="221">
                  <c:v>99.970684569509586</c:v>
                </c:pt>
                <c:pt idx="222">
                  <c:v>99.972406907305626</c:v>
                </c:pt>
                <c:pt idx="223">
                  <c:v>99.974031913111844</c:v>
                </c:pt>
                <c:pt idx="224">
                  <c:v>99.975564833190688</c:v>
                </c:pt>
                <c:pt idx="225">
                  <c:v>99.977010647452417</c:v>
                </c:pt>
                <c:pt idx="226">
                  <c:v>99.978374081935172</c:v>
                </c:pt>
                <c:pt idx="227">
                  <c:v>99.979659620765631</c:v>
                </c:pt>
                <c:pt idx="228">
                  <c:v>99.980871517617558</c:v>
                </c:pt>
                <c:pt idx="229">
                  <c:v>99.982013806685657</c:v>
                </c:pt>
                <c:pt idx="230">
                  <c:v>99.983090313191454</c:v>
                </c:pt>
                <c:pt idx="231">
                  <c:v>99.984104663437961</c:v>
                </c:pt>
                <c:pt idx="232">
                  <c:v>99.98506029442909</c:v>
                </c:pt>
                <c:pt idx="233">
                  <c:v>99.985960463069588</c:v>
                </c:pt>
                <c:pt idx="234">
                  <c:v>99.986808254961261</c:v>
                </c:pt>
                <c:pt idx="235">
                  <c:v>99.987606592809954</c:v>
                </c:pt>
                <c:pt idx="236">
                  <c:v>99.988358244458425</c:v>
                </c:pt>
                <c:pt idx="237">
                  <c:v>99.989065830559127</c:v>
                </c:pt>
                <c:pt idx="238">
                  <c:v>99.989731831900755</c:v>
                </c:pt>
                <c:pt idx="239">
                  <c:v>99.990358596402103</c:v>
                </c:pt>
                <c:pt idx="240">
                  <c:v>99.990948345786407</c:v>
                </c:pt>
                <c:pt idx="241">
                  <c:v>99.991503181948559</c:v>
                </c:pt>
                <c:pt idx="242">
                  <c:v>99.99202509302792</c:v>
                </c:pt>
                <c:pt idx="243">
                  <c:v>99.992515959198286</c:v>
                </c:pt>
                <c:pt idx="244">
                  <c:v>99.992977558186951</c:v>
                </c:pt>
                <c:pt idx="245">
                  <c:v>99.993411570533624</c:v>
                </c:pt>
                <c:pt idx="246">
                  <c:v>99.993819584600459</c:v>
                </c:pt>
                <c:pt idx="247">
                  <c:v>99.994203101343317</c:v>
                </c:pt>
                <c:pt idx="248">
                  <c:v>99.994563538854607</c:v>
                </c:pt>
                <c:pt idx="249">
                  <c:v>99.994902236687309</c:v>
                </c:pt>
                <c:pt idx="250">
                  <c:v>99.995220459969687</c:v>
                </c:pt>
              </c:numCache>
            </c:numRef>
          </c:yVal>
          <c:smooth val="0"/>
          <c:extLst>
            <c:ext xmlns:c16="http://schemas.microsoft.com/office/drawing/2014/chart" uri="{C3380CC4-5D6E-409C-BE32-E72D297353CC}">
              <c16:uniqueId val="{00000000-7EB4-484F-A5B6-B62B3C5FDBE2}"/>
            </c:ext>
          </c:extLst>
        </c:ser>
        <c:ser>
          <c:idx val="1"/>
          <c:order val="1"/>
          <c:tx>
            <c:strRef>
              <c:f>Sheet1!$B$254</c:f>
              <c:strCache>
                <c:ptCount val="1"/>
                <c:pt idx="0">
                  <c:v>lood 2.0</c:v>
                </c:pt>
              </c:strCache>
            </c:strRef>
          </c:tx>
          <c:spPr>
            <a:ln w="12700">
              <a:solidFill>
                <a:srgbClr val="FF7A00"/>
              </a:solidFill>
              <a:prstDash val="dash"/>
            </a:ln>
          </c:spPr>
          <c:marker>
            <c:symbol val="none"/>
          </c:marker>
          <c:xVal>
            <c:numRef>
              <c:f>Sheet1!$A$255:$A$256</c:f>
              <c:numCache>
                <c:formatCode>General</c:formatCode>
                <c:ptCount val="2"/>
                <c:pt idx="0">
                  <c:v>2</c:v>
                </c:pt>
                <c:pt idx="1">
                  <c:v>2</c:v>
                </c:pt>
              </c:numCache>
            </c:numRef>
          </c:xVal>
          <c:yVal>
            <c:numRef>
              <c:f>Sheet1!$B$255:$B$256</c:f>
              <c:numCache>
                <c:formatCode>General</c:formatCode>
                <c:ptCount val="2"/>
                <c:pt idx="0">
                  <c:v>0</c:v>
                </c:pt>
                <c:pt idx="1">
                  <c:v>52.715027945225536</c:v>
                </c:pt>
              </c:numCache>
            </c:numRef>
          </c:yVal>
          <c:smooth val="0"/>
          <c:extLst>
            <c:ext xmlns:c16="http://schemas.microsoft.com/office/drawing/2014/chart" uri="{C3380CC4-5D6E-409C-BE32-E72D297353CC}">
              <c16:uniqueId val="{00000001-7EB4-484F-A5B6-B62B3C5FDBE2}"/>
            </c:ext>
          </c:extLst>
        </c:ser>
        <c:ser>
          <c:idx val="2"/>
          <c:order val="2"/>
          <c:tx>
            <c:strRef>
              <c:f>Sheet1!$B$258</c:f>
              <c:strCache>
                <c:ptCount val="1"/>
                <c:pt idx="0">
                  <c:v>lood 3.0</c:v>
                </c:pt>
              </c:strCache>
            </c:strRef>
          </c:tx>
          <c:spPr>
            <a:ln w="12700">
              <a:solidFill>
                <a:srgbClr val="1D8DB0"/>
              </a:solidFill>
              <a:prstDash val="dash"/>
            </a:ln>
          </c:spPr>
          <c:marker>
            <c:symbol val="none"/>
          </c:marker>
          <c:xVal>
            <c:numRef>
              <c:f>Sheet1!$A$259:$A$260</c:f>
              <c:numCache>
                <c:formatCode>General</c:formatCode>
                <c:ptCount val="2"/>
                <c:pt idx="0">
                  <c:v>3</c:v>
                </c:pt>
                <c:pt idx="1">
                  <c:v>3</c:v>
                </c:pt>
              </c:numCache>
            </c:numRef>
          </c:xVal>
          <c:yVal>
            <c:numRef>
              <c:f>Sheet1!$B$259:$B$260</c:f>
              <c:numCache>
                <c:formatCode>General</c:formatCode>
                <c:ptCount val="2"/>
                <c:pt idx="0">
                  <c:v>0</c:v>
                </c:pt>
                <c:pt idx="1">
                  <c:v>98.594781428100873</c:v>
                </c:pt>
              </c:numCache>
            </c:numRef>
          </c:yVal>
          <c:smooth val="0"/>
          <c:extLst>
            <c:ext xmlns:c16="http://schemas.microsoft.com/office/drawing/2014/chart" uri="{C3380CC4-5D6E-409C-BE32-E72D297353CC}">
              <c16:uniqueId val="{00000002-7EB4-484F-A5B6-B62B3C5FDBE2}"/>
            </c:ext>
          </c:extLst>
        </c:ser>
        <c:ser>
          <c:idx val="3"/>
          <c:order val="3"/>
          <c:tx>
            <c:strRef>
              <c:f>Sheet1!$B$262</c:f>
              <c:strCache>
                <c:ptCount val="1"/>
                <c:pt idx="0">
                  <c:v>punt 2.0</c:v>
                </c:pt>
              </c:strCache>
            </c:strRef>
          </c:tx>
          <c:spPr>
            <a:ln>
              <a:noFill/>
            </a:ln>
          </c:spPr>
          <c:marker>
            <c:symbol val="circle"/>
            <c:size val="9"/>
            <c:spPr>
              <a:solidFill>
                <a:srgbClr val="FF7A00"/>
              </a:solidFill>
              <a:ln w="19050">
                <a:solidFill>
                  <a:srgbClr val="F2F6F9"/>
                </a:solidFill>
              </a:ln>
            </c:spPr>
          </c:marker>
          <c:xVal>
            <c:numRef>
              <c:f>Sheet1!$A$263:$A$263</c:f>
              <c:numCache>
                <c:formatCode>General</c:formatCode>
                <c:ptCount val="1"/>
                <c:pt idx="0">
                  <c:v>2</c:v>
                </c:pt>
              </c:numCache>
            </c:numRef>
          </c:xVal>
          <c:yVal>
            <c:numRef>
              <c:f>Sheet1!$B$263:$B$263</c:f>
              <c:numCache>
                <c:formatCode>General</c:formatCode>
                <c:ptCount val="1"/>
                <c:pt idx="0">
                  <c:v>52.715027945225536</c:v>
                </c:pt>
              </c:numCache>
            </c:numRef>
          </c:yVal>
          <c:smooth val="0"/>
          <c:extLst>
            <c:ext xmlns:c16="http://schemas.microsoft.com/office/drawing/2014/chart" uri="{C3380CC4-5D6E-409C-BE32-E72D297353CC}">
              <c16:uniqueId val="{00000003-7EB4-484F-A5B6-B62B3C5FDBE2}"/>
            </c:ext>
          </c:extLst>
        </c:ser>
        <c:ser>
          <c:idx val="4"/>
          <c:order val="4"/>
          <c:tx>
            <c:strRef>
              <c:f>Sheet1!$B$265</c:f>
              <c:strCache>
                <c:ptCount val="1"/>
                <c:pt idx="0">
                  <c:v>punt 3.0</c:v>
                </c:pt>
              </c:strCache>
            </c:strRef>
          </c:tx>
          <c:spPr>
            <a:ln>
              <a:noFill/>
            </a:ln>
          </c:spPr>
          <c:marker>
            <c:symbol val="circle"/>
            <c:size val="9"/>
            <c:spPr>
              <a:solidFill>
                <a:srgbClr val="1D8DB0"/>
              </a:solidFill>
              <a:ln w="19050">
                <a:solidFill>
                  <a:srgbClr val="F2F6F9"/>
                </a:solidFill>
              </a:ln>
            </c:spPr>
          </c:marker>
          <c:xVal>
            <c:numRef>
              <c:f>Sheet1!$A$266:$A$266</c:f>
              <c:numCache>
                <c:formatCode>General</c:formatCode>
                <c:ptCount val="1"/>
                <c:pt idx="0">
                  <c:v>3</c:v>
                </c:pt>
              </c:numCache>
            </c:numRef>
          </c:xVal>
          <c:yVal>
            <c:numRef>
              <c:f>Sheet1!$B$266:$B$266</c:f>
              <c:numCache>
                <c:formatCode>General</c:formatCode>
                <c:ptCount val="1"/>
                <c:pt idx="0">
                  <c:v>98.594781428100873</c:v>
                </c:pt>
              </c:numCache>
            </c:numRef>
          </c:yVal>
          <c:smooth val="0"/>
          <c:extLst>
            <c:ext xmlns:c16="http://schemas.microsoft.com/office/drawing/2014/chart" uri="{C3380CC4-5D6E-409C-BE32-E72D297353CC}">
              <c16:uniqueId val="{00000004-7EB4-484F-A5B6-B62B3C5FDBE2}"/>
            </c:ext>
          </c:extLst>
        </c:ser>
        <c:dLbls>
          <c:showLegendKey val="0"/>
          <c:showVal val="0"/>
          <c:showCatName val="0"/>
          <c:showSerName val="0"/>
          <c:showPercent val="0"/>
          <c:showBubbleSize val="0"/>
        </c:dLbls>
        <c:axId val="-2128940872"/>
        <c:axId val="-2129643912"/>
      </c:scatterChart>
      <c:valAx>
        <c:axId val="-2128940872"/>
        <c:scaling>
          <c:orientation val="minMax"/>
          <c:max val="4"/>
          <c:min val="1.5"/>
        </c:scaling>
        <c:delete val="0"/>
        <c:axPos val="b"/>
        <c:numFmt formatCode="0.0"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29643912"/>
        <c:crosses val="autoZero"/>
        <c:crossBetween val="midCat"/>
        <c:majorUnit val="0.5"/>
      </c:valAx>
      <c:valAx>
        <c:axId val="-2129643912"/>
        <c:scaling>
          <c:orientation val="minMax"/>
          <c:max val="100"/>
          <c:min val="0"/>
        </c:scaling>
        <c:delete val="0"/>
        <c:axPos val="l"/>
        <c:majorGridlines>
          <c:spPr>
            <a:ln w="9525">
              <a:solidFill>
                <a:srgbClr val="D3DFE8"/>
              </a:solidFill>
            </a:ln>
          </c:spPr>
        </c:majorGridlines>
        <c:numFmt formatCode="0&quot;%&quot;" sourceLinked="0"/>
        <c:majorTickMark val="none"/>
        <c:minorTickMark val="none"/>
        <c:tickLblPos val="nextTo"/>
        <c:spPr>
          <a:ln>
            <a:noFill/>
          </a:ln>
        </c:spPr>
        <c:txPr>
          <a:bodyPr/>
          <a:lstStyle/>
          <a:p>
            <a:pPr>
              <a:defRPr sz="1200" b="0">
                <a:solidFill>
                  <a:srgbClr val="5A6E80"/>
                </a:solidFill>
                <a:latin typeface="Segoe UI"/>
              </a:defRPr>
            </a:pPr>
            <a:endParaRPr lang="nl-BE"/>
          </a:p>
        </c:txPr>
        <c:crossAx val="-2128940872"/>
        <c:crosses val="autoZero"/>
        <c:crossBetween val="midCat"/>
        <c:majorUnit val="20"/>
      </c:valAx>
      <c:spPr>
        <a:noFill/>
        <a:ln>
          <a:noFill/>
        </a:ln>
      </c:spPr>
    </c:plotArea>
    <c:plotVisOnly val="1"/>
    <c:dispBlanksAs val="gap"/>
    <c:showDLblsOverMax val="0"/>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6</c:v>
                </c:pt>
                <c:pt idx="1">
                  <c:v>6.1</c:v>
                </c:pt>
                <c:pt idx="2">
                  <c:v>6</c:v>
                </c:pt>
                <c:pt idx="3">
                  <c:v>6</c:v>
                </c:pt>
                <c:pt idx="4">
                  <c:v>5.9</c:v>
                </c:pt>
                <c:pt idx="5">
                  <c:v>5.7</c:v>
                </c:pt>
                <c:pt idx="6">
                  <c:v>4.9000000000000004</c:v>
                </c:pt>
                <c:pt idx="7">
                  <c:v>3.6</c:v>
                </c:pt>
                <c:pt idx="8">
                  <c:v>2.1</c:v>
                </c:pt>
                <c:pt idx="9">
                  <c:v>1</c:v>
                </c:pt>
                <c:pt idx="10">
                  <c:v>0.5</c:v>
                </c:pt>
                <c:pt idx="11">
                  <c:v>0.2</c:v>
                </c:pt>
                <c:pt idx="12">
                  <c:v>0.1</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613-447A-A7FC-BC5B6B56665F}"/>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1.3</c:v>
                </c:pt>
                <c:pt idx="1">
                  <c:v>4.5</c:v>
                </c:pt>
                <c:pt idx="2">
                  <c:v>4.5</c:v>
                </c:pt>
                <c:pt idx="3">
                  <c:v>4.5</c:v>
                </c:pt>
                <c:pt idx="4">
                  <c:v>4.5</c:v>
                </c:pt>
                <c:pt idx="5">
                  <c:v>4.4000000000000004</c:v>
                </c:pt>
                <c:pt idx="6">
                  <c:v>4.0999999999999996</c:v>
                </c:pt>
                <c:pt idx="7">
                  <c:v>3.4</c:v>
                </c:pt>
                <c:pt idx="8">
                  <c:v>2.4</c:v>
                </c:pt>
                <c:pt idx="9">
                  <c:v>1.3</c:v>
                </c:pt>
                <c:pt idx="10">
                  <c:v>0.6</c:v>
                </c:pt>
                <c:pt idx="11">
                  <c:v>0.3</c:v>
                </c:pt>
                <c:pt idx="12">
                  <c:v>0.1</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6613-447A-A7FC-BC5B6B56665F}"/>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0.1</c:v>
                </c:pt>
                <c:pt idx="3">
                  <c:v>4.5</c:v>
                </c:pt>
                <c:pt idx="4">
                  <c:v>4.5999999999999996</c:v>
                </c:pt>
                <c:pt idx="5">
                  <c:v>4.5</c:v>
                </c:pt>
                <c:pt idx="6">
                  <c:v>4.5</c:v>
                </c:pt>
                <c:pt idx="7">
                  <c:v>4.4000000000000004</c:v>
                </c:pt>
                <c:pt idx="8">
                  <c:v>4.2</c:v>
                </c:pt>
                <c:pt idx="9">
                  <c:v>3.6</c:v>
                </c:pt>
                <c:pt idx="10">
                  <c:v>2.7</c:v>
                </c:pt>
                <c:pt idx="11">
                  <c:v>1.6</c:v>
                </c:pt>
                <c:pt idx="12">
                  <c:v>0.8</c:v>
                </c:pt>
                <c:pt idx="13">
                  <c:v>0.3</c:v>
                </c:pt>
                <c:pt idx="14">
                  <c:v>0.1</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6613-447A-A7FC-BC5B6B56665F}"/>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4.5</c:v>
                </c:pt>
                <c:pt idx="7">
                  <c:v>4.5999999999999996</c:v>
                </c:pt>
                <c:pt idx="8">
                  <c:v>4.5</c:v>
                </c:pt>
                <c:pt idx="9">
                  <c:v>4.5</c:v>
                </c:pt>
                <c:pt idx="10">
                  <c:v>4.4000000000000004</c:v>
                </c:pt>
                <c:pt idx="11">
                  <c:v>4.2</c:v>
                </c:pt>
                <c:pt idx="12">
                  <c:v>3.6</c:v>
                </c:pt>
                <c:pt idx="13">
                  <c:v>2.7</c:v>
                </c:pt>
                <c:pt idx="14">
                  <c:v>1.6</c:v>
                </c:pt>
                <c:pt idx="15">
                  <c:v>0.8</c:v>
                </c:pt>
                <c:pt idx="16">
                  <c:v>0.3</c:v>
                </c:pt>
                <c:pt idx="17">
                  <c:v>0.1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6613-447A-A7FC-BC5B6B56665F}"/>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4.5</c:v>
                </c:pt>
                <c:pt idx="10">
                  <c:v>4.5999999999999996</c:v>
                </c:pt>
                <c:pt idx="11">
                  <c:v>4.5</c:v>
                </c:pt>
                <c:pt idx="12">
                  <c:v>4.5</c:v>
                </c:pt>
                <c:pt idx="13">
                  <c:v>4.4000000000000004</c:v>
                </c:pt>
                <c:pt idx="14">
                  <c:v>4.2</c:v>
                </c:pt>
                <c:pt idx="15">
                  <c:v>3.6</c:v>
                </c:pt>
                <c:pt idx="16">
                  <c:v>2.7</c:v>
                </c:pt>
                <c:pt idx="17">
                  <c:v>1.6</c:v>
                </c:pt>
                <c:pt idx="18">
                  <c:v>0.8</c:v>
                </c:pt>
                <c:pt idx="19">
                  <c:v>0.3</c:v>
                </c:pt>
                <c:pt idx="20">
                  <c:v>0.1</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6613-447A-A7FC-BC5B6B56665F}"/>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4.5</c:v>
                </c:pt>
                <c:pt idx="13">
                  <c:v>4.5999999999999996</c:v>
                </c:pt>
                <c:pt idx="14">
                  <c:v>4.5</c:v>
                </c:pt>
                <c:pt idx="15">
                  <c:v>4.5</c:v>
                </c:pt>
                <c:pt idx="16">
                  <c:v>4.4000000000000004</c:v>
                </c:pt>
                <c:pt idx="17">
                  <c:v>4.2</c:v>
                </c:pt>
                <c:pt idx="18">
                  <c:v>3.7</c:v>
                </c:pt>
                <c:pt idx="19">
                  <c:v>2.7</c:v>
                </c:pt>
                <c:pt idx="20">
                  <c:v>1.6</c:v>
                </c:pt>
                <c:pt idx="21">
                  <c:v>0.8</c:v>
                </c:pt>
                <c:pt idx="22">
                  <c:v>0.3</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6613-447A-A7FC-BC5B6B56665F}"/>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4.5</c:v>
                </c:pt>
                <c:pt idx="16">
                  <c:v>4.5999999999999996</c:v>
                </c:pt>
                <c:pt idx="17">
                  <c:v>4.5</c:v>
                </c:pt>
                <c:pt idx="18">
                  <c:v>4.5</c:v>
                </c:pt>
                <c:pt idx="19">
                  <c:v>4.4000000000000004</c:v>
                </c:pt>
                <c:pt idx="20">
                  <c:v>4.2</c:v>
                </c:pt>
                <c:pt idx="21">
                  <c:v>3.6</c:v>
                </c:pt>
                <c:pt idx="22">
                  <c:v>2.7</c:v>
                </c:pt>
                <c:pt idx="23">
                  <c:v>1.6</c:v>
                </c:pt>
                <c:pt idx="24">
                  <c:v>0.8</c:v>
                </c:pt>
                <c:pt idx="25">
                  <c:v>0.3</c:v>
                </c:pt>
                <c:pt idx="26">
                  <c:v>0.1</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6613-447A-A7FC-BC5B6B56665F}"/>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4.5</c:v>
                </c:pt>
                <c:pt idx="19">
                  <c:v>4.5999999999999996</c:v>
                </c:pt>
                <c:pt idx="20">
                  <c:v>4.5</c:v>
                </c:pt>
                <c:pt idx="21">
                  <c:v>4.5</c:v>
                </c:pt>
                <c:pt idx="22">
                  <c:v>4.4000000000000004</c:v>
                </c:pt>
                <c:pt idx="23">
                  <c:v>4.2</c:v>
                </c:pt>
                <c:pt idx="24">
                  <c:v>3.6</c:v>
                </c:pt>
                <c:pt idx="25">
                  <c:v>2.7</c:v>
                </c:pt>
                <c:pt idx="26">
                  <c:v>1.6</c:v>
                </c:pt>
                <c:pt idx="27">
                  <c:v>0.8</c:v>
                </c:pt>
                <c:pt idx="28">
                  <c:v>0.3</c:v>
                </c:pt>
                <c:pt idx="29">
                  <c:v>0.1</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6613-447A-A7FC-BC5B6B56665F}"/>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extTo"/>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4</c:v>
                </c:pt>
                <c:pt idx="1">
                  <c:v>4.0999999999999996</c:v>
                </c:pt>
                <c:pt idx="2">
                  <c:v>4</c:v>
                </c:pt>
                <c:pt idx="3">
                  <c:v>4</c:v>
                </c:pt>
                <c:pt idx="4">
                  <c:v>4</c:v>
                </c:pt>
                <c:pt idx="5">
                  <c:v>4</c:v>
                </c:pt>
                <c:pt idx="6">
                  <c:v>4</c:v>
                </c:pt>
                <c:pt idx="7">
                  <c:v>3.9</c:v>
                </c:pt>
                <c:pt idx="8">
                  <c:v>3.7</c:v>
                </c:pt>
                <c:pt idx="9">
                  <c:v>3.4</c:v>
                </c:pt>
                <c:pt idx="10">
                  <c:v>2.9</c:v>
                </c:pt>
                <c:pt idx="11">
                  <c:v>2.2000000000000002</c:v>
                </c:pt>
                <c:pt idx="12">
                  <c:v>1.5</c:v>
                </c:pt>
                <c:pt idx="13">
                  <c:v>1</c:v>
                </c:pt>
                <c:pt idx="14">
                  <c:v>0.6</c:v>
                </c:pt>
                <c:pt idx="15">
                  <c:v>0.4</c:v>
                </c:pt>
                <c:pt idx="16">
                  <c:v>0.2</c:v>
                </c:pt>
                <c:pt idx="17">
                  <c:v>0.1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EDB-44E0-BED0-3CA1ED24E3E9}"/>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0.8</c:v>
                </c:pt>
                <c:pt idx="1">
                  <c:v>3</c:v>
                </c:pt>
                <c:pt idx="2">
                  <c:v>3</c:v>
                </c:pt>
                <c:pt idx="3">
                  <c:v>3</c:v>
                </c:pt>
                <c:pt idx="4">
                  <c:v>3</c:v>
                </c:pt>
                <c:pt idx="5">
                  <c:v>3</c:v>
                </c:pt>
                <c:pt idx="6">
                  <c:v>3</c:v>
                </c:pt>
                <c:pt idx="7">
                  <c:v>3</c:v>
                </c:pt>
                <c:pt idx="8">
                  <c:v>2.9</c:v>
                </c:pt>
                <c:pt idx="9">
                  <c:v>2.8</c:v>
                </c:pt>
                <c:pt idx="10">
                  <c:v>2.4</c:v>
                </c:pt>
                <c:pt idx="11">
                  <c:v>2</c:v>
                </c:pt>
                <c:pt idx="12">
                  <c:v>1.5</c:v>
                </c:pt>
                <c:pt idx="13">
                  <c:v>1</c:v>
                </c:pt>
                <c:pt idx="14">
                  <c:v>0.7</c:v>
                </c:pt>
                <c:pt idx="15">
                  <c:v>0.4</c:v>
                </c:pt>
                <c:pt idx="16">
                  <c:v>0.2</c:v>
                </c:pt>
                <c:pt idx="17">
                  <c:v>0.1</c:v>
                </c:pt>
                <c:pt idx="18">
                  <c:v>0.1</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EEDB-44E0-BED0-3CA1ED24E3E9}"/>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c:v>
                </c:pt>
                <c:pt idx="3">
                  <c:v>3</c:v>
                </c:pt>
                <c:pt idx="4">
                  <c:v>3.1</c:v>
                </c:pt>
                <c:pt idx="5">
                  <c:v>3</c:v>
                </c:pt>
                <c:pt idx="6">
                  <c:v>3</c:v>
                </c:pt>
                <c:pt idx="7">
                  <c:v>3</c:v>
                </c:pt>
                <c:pt idx="8">
                  <c:v>3</c:v>
                </c:pt>
                <c:pt idx="9">
                  <c:v>3</c:v>
                </c:pt>
                <c:pt idx="10">
                  <c:v>2.9</c:v>
                </c:pt>
                <c:pt idx="11">
                  <c:v>2.8</c:v>
                </c:pt>
                <c:pt idx="12">
                  <c:v>2.6</c:v>
                </c:pt>
                <c:pt idx="13">
                  <c:v>2.1</c:v>
                </c:pt>
                <c:pt idx="14">
                  <c:v>1.7</c:v>
                </c:pt>
                <c:pt idx="15">
                  <c:v>1.1000000000000001</c:v>
                </c:pt>
                <c:pt idx="16">
                  <c:v>0.8</c:v>
                </c:pt>
                <c:pt idx="17">
                  <c:v>0.5</c:v>
                </c:pt>
                <c:pt idx="18">
                  <c:v>0.3</c:v>
                </c:pt>
                <c:pt idx="19">
                  <c:v>0.1</c:v>
                </c:pt>
                <c:pt idx="20">
                  <c:v>0.1</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EEDB-44E0-BED0-3CA1ED24E3E9}"/>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3</c:v>
                </c:pt>
                <c:pt idx="7">
                  <c:v>3.1</c:v>
                </c:pt>
                <c:pt idx="8">
                  <c:v>3</c:v>
                </c:pt>
                <c:pt idx="9">
                  <c:v>3</c:v>
                </c:pt>
                <c:pt idx="10">
                  <c:v>3</c:v>
                </c:pt>
                <c:pt idx="11">
                  <c:v>3</c:v>
                </c:pt>
                <c:pt idx="12">
                  <c:v>3</c:v>
                </c:pt>
                <c:pt idx="13">
                  <c:v>2.9</c:v>
                </c:pt>
                <c:pt idx="14">
                  <c:v>2.8</c:v>
                </c:pt>
                <c:pt idx="15">
                  <c:v>2.6</c:v>
                </c:pt>
                <c:pt idx="16">
                  <c:v>2.1</c:v>
                </c:pt>
                <c:pt idx="17">
                  <c:v>1.7</c:v>
                </c:pt>
                <c:pt idx="18">
                  <c:v>1.1000000000000001</c:v>
                </c:pt>
                <c:pt idx="19">
                  <c:v>0.8</c:v>
                </c:pt>
                <c:pt idx="20">
                  <c:v>0.5</c:v>
                </c:pt>
                <c:pt idx="21">
                  <c:v>0.3</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EEDB-44E0-BED0-3CA1ED24E3E9}"/>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3</c:v>
                </c:pt>
                <c:pt idx="10">
                  <c:v>3.1</c:v>
                </c:pt>
                <c:pt idx="11">
                  <c:v>3</c:v>
                </c:pt>
                <c:pt idx="12">
                  <c:v>3</c:v>
                </c:pt>
                <c:pt idx="13">
                  <c:v>3</c:v>
                </c:pt>
                <c:pt idx="14">
                  <c:v>3</c:v>
                </c:pt>
                <c:pt idx="15">
                  <c:v>3</c:v>
                </c:pt>
                <c:pt idx="16">
                  <c:v>2.9</c:v>
                </c:pt>
                <c:pt idx="17">
                  <c:v>2.8</c:v>
                </c:pt>
                <c:pt idx="18">
                  <c:v>2.5</c:v>
                </c:pt>
                <c:pt idx="19">
                  <c:v>2.1</c:v>
                </c:pt>
                <c:pt idx="20">
                  <c:v>1.6</c:v>
                </c:pt>
                <c:pt idx="21">
                  <c:v>1.1000000000000001</c:v>
                </c:pt>
                <c:pt idx="22">
                  <c:v>0.8</c:v>
                </c:pt>
                <c:pt idx="23">
                  <c:v>0.5</c:v>
                </c:pt>
                <c:pt idx="24">
                  <c:v>0.3</c:v>
                </c:pt>
                <c:pt idx="25">
                  <c:v>0.1</c:v>
                </c:pt>
                <c:pt idx="26">
                  <c:v>0.1</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EEDB-44E0-BED0-3CA1ED24E3E9}"/>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3</c:v>
                </c:pt>
                <c:pt idx="13">
                  <c:v>3.1</c:v>
                </c:pt>
                <c:pt idx="14">
                  <c:v>3</c:v>
                </c:pt>
                <c:pt idx="15">
                  <c:v>3</c:v>
                </c:pt>
                <c:pt idx="16">
                  <c:v>3</c:v>
                </c:pt>
                <c:pt idx="17">
                  <c:v>3</c:v>
                </c:pt>
                <c:pt idx="18">
                  <c:v>3</c:v>
                </c:pt>
                <c:pt idx="19">
                  <c:v>2.9</c:v>
                </c:pt>
                <c:pt idx="20">
                  <c:v>2.8</c:v>
                </c:pt>
                <c:pt idx="21">
                  <c:v>2.6</c:v>
                </c:pt>
                <c:pt idx="22">
                  <c:v>2.1</c:v>
                </c:pt>
                <c:pt idx="23">
                  <c:v>1.6</c:v>
                </c:pt>
                <c:pt idx="24">
                  <c:v>1.1000000000000001</c:v>
                </c:pt>
                <c:pt idx="25">
                  <c:v>0.8</c:v>
                </c:pt>
                <c:pt idx="26">
                  <c:v>0.5</c:v>
                </c:pt>
                <c:pt idx="27">
                  <c:v>0.3</c:v>
                </c:pt>
                <c:pt idx="28">
                  <c:v>0.1</c:v>
                </c:pt>
                <c:pt idx="29">
                  <c:v>0.1</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EEDB-44E0-BED0-3CA1ED24E3E9}"/>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3</c:v>
                </c:pt>
                <c:pt idx="16">
                  <c:v>3.1</c:v>
                </c:pt>
                <c:pt idx="17">
                  <c:v>3</c:v>
                </c:pt>
                <c:pt idx="18">
                  <c:v>3</c:v>
                </c:pt>
                <c:pt idx="19">
                  <c:v>3</c:v>
                </c:pt>
                <c:pt idx="20">
                  <c:v>3</c:v>
                </c:pt>
                <c:pt idx="21">
                  <c:v>3</c:v>
                </c:pt>
                <c:pt idx="22">
                  <c:v>2.9</c:v>
                </c:pt>
                <c:pt idx="23">
                  <c:v>2.8</c:v>
                </c:pt>
                <c:pt idx="24">
                  <c:v>2.6</c:v>
                </c:pt>
                <c:pt idx="25">
                  <c:v>2.1</c:v>
                </c:pt>
                <c:pt idx="26">
                  <c:v>1.7</c:v>
                </c:pt>
                <c:pt idx="27">
                  <c:v>1.1000000000000001</c:v>
                </c:pt>
                <c:pt idx="28">
                  <c:v>0.8</c:v>
                </c:pt>
                <c:pt idx="29">
                  <c:v>0.5</c:v>
                </c:pt>
                <c:pt idx="30">
                  <c:v>0.3</c:v>
                </c:pt>
                <c:pt idx="31">
                  <c:v>0.1</c:v>
                </c:pt>
                <c:pt idx="32">
                  <c:v>0.1</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EEDB-44E0-BED0-3CA1ED24E3E9}"/>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3</c:v>
                </c:pt>
                <c:pt idx="19">
                  <c:v>3.1</c:v>
                </c:pt>
                <c:pt idx="20">
                  <c:v>3</c:v>
                </c:pt>
                <c:pt idx="21">
                  <c:v>3</c:v>
                </c:pt>
                <c:pt idx="22">
                  <c:v>3</c:v>
                </c:pt>
                <c:pt idx="23">
                  <c:v>3</c:v>
                </c:pt>
                <c:pt idx="24">
                  <c:v>3</c:v>
                </c:pt>
                <c:pt idx="25">
                  <c:v>2.9</c:v>
                </c:pt>
                <c:pt idx="26">
                  <c:v>2.8</c:v>
                </c:pt>
                <c:pt idx="27">
                  <c:v>2.5</c:v>
                </c:pt>
                <c:pt idx="28">
                  <c:v>2.1</c:v>
                </c:pt>
                <c:pt idx="29">
                  <c:v>1.6</c:v>
                </c:pt>
                <c:pt idx="30">
                  <c:v>1.1000000000000001</c:v>
                </c:pt>
                <c:pt idx="31">
                  <c:v>0.8</c:v>
                </c:pt>
                <c:pt idx="32">
                  <c:v>0.5</c:v>
                </c:pt>
                <c:pt idx="33">
                  <c:v>0.3</c:v>
                </c:pt>
                <c:pt idx="34">
                  <c:v>0.1</c:v>
                </c:pt>
                <c:pt idx="35">
                  <c:v>0.1</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EEDB-44E0-BED0-3CA1ED24E3E9}"/>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one"/>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0"/>
    <c:plotArea>
      <c:layout/>
      <c:barChart>
        <c:barDir val="col"/>
        <c:grouping val="stacked"/>
        <c:varyColors val="1"/>
        <c:ser>
          <c:idx val="0"/>
          <c:order val="0"/>
          <c:tx>
            <c:strRef>
              <c:f>Sheet1!$B$1</c:f>
              <c:strCache>
                <c:ptCount val="1"/>
                <c:pt idx="0">
                  <c:v>Visite 1</c:v>
                </c:pt>
              </c:strCache>
            </c:strRef>
          </c:tx>
          <c:spPr>
            <a:solidFill>
              <a:srgbClr val="FF7A0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3</c:v>
                </c:pt>
                <c:pt idx="1">
                  <c:v>3</c:v>
                </c:pt>
                <c:pt idx="2">
                  <c:v>3</c:v>
                </c:pt>
                <c:pt idx="3">
                  <c:v>3</c:v>
                </c:pt>
                <c:pt idx="4">
                  <c:v>3</c:v>
                </c:pt>
                <c:pt idx="5">
                  <c:v>3</c:v>
                </c:pt>
                <c:pt idx="6">
                  <c:v>3</c:v>
                </c:pt>
                <c:pt idx="7">
                  <c:v>3.1</c:v>
                </c:pt>
                <c:pt idx="8">
                  <c:v>3</c:v>
                </c:pt>
                <c:pt idx="9">
                  <c:v>3</c:v>
                </c:pt>
                <c:pt idx="10">
                  <c:v>2.9</c:v>
                </c:pt>
                <c:pt idx="11">
                  <c:v>2.8</c:v>
                </c:pt>
                <c:pt idx="12">
                  <c:v>2.6</c:v>
                </c:pt>
                <c:pt idx="13">
                  <c:v>2.2999999999999998</c:v>
                </c:pt>
                <c:pt idx="14">
                  <c:v>1.9</c:v>
                </c:pt>
                <c:pt idx="15">
                  <c:v>1.6</c:v>
                </c:pt>
                <c:pt idx="16">
                  <c:v>1.2</c:v>
                </c:pt>
                <c:pt idx="17">
                  <c:v>0.9</c:v>
                </c:pt>
                <c:pt idx="18">
                  <c:v>0.6</c:v>
                </c:pt>
                <c:pt idx="19">
                  <c:v>0.4</c:v>
                </c:pt>
                <c:pt idx="20">
                  <c:v>0.3</c:v>
                </c:pt>
                <c:pt idx="21">
                  <c:v>0.2</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3501-4794-8769-C2CA7420FAB5}"/>
            </c:ext>
          </c:extLst>
        </c:ser>
        <c:ser>
          <c:idx val="1"/>
          <c:order val="1"/>
          <c:tx>
            <c:strRef>
              <c:f>Sheet1!$C$1</c:f>
              <c:strCache>
                <c:ptCount val="1"/>
                <c:pt idx="0">
                  <c:v>Visite 2</c:v>
                </c:pt>
              </c:strCache>
            </c:strRef>
          </c:tx>
          <c:spPr>
            <a:solidFill>
              <a:srgbClr val="FFB15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0.6</c:v>
                </c:pt>
                <c:pt idx="1">
                  <c:v>2.2000000000000002</c:v>
                </c:pt>
                <c:pt idx="2">
                  <c:v>2.2000000000000002</c:v>
                </c:pt>
                <c:pt idx="3">
                  <c:v>2.2000000000000002</c:v>
                </c:pt>
                <c:pt idx="4">
                  <c:v>2.2999999999999998</c:v>
                </c:pt>
                <c:pt idx="5">
                  <c:v>2.2000000000000002</c:v>
                </c:pt>
                <c:pt idx="6">
                  <c:v>2.2999999999999998</c:v>
                </c:pt>
                <c:pt idx="7">
                  <c:v>2.2999999999999998</c:v>
                </c:pt>
                <c:pt idx="8">
                  <c:v>2.2999999999999998</c:v>
                </c:pt>
                <c:pt idx="9">
                  <c:v>2.2000000000000002</c:v>
                </c:pt>
                <c:pt idx="10">
                  <c:v>2.2000000000000002</c:v>
                </c:pt>
                <c:pt idx="11">
                  <c:v>2.1</c:v>
                </c:pt>
                <c:pt idx="12">
                  <c:v>2.1</c:v>
                </c:pt>
                <c:pt idx="13">
                  <c:v>1.9</c:v>
                </c:pt>
                <c:pt idx="14">
                  <c:v>1.7</c:v>
                </c:pt>
                <c:pt idx="15">
                  <c:v>1.4</c:v>
                </c:pt>
                <c:pt idx="16">
                  <c:v>1.1000000000000001</c:v>
                </c:pt>
                <c:pt idx="17">
                  <c:v>0.8</c:v>
                </c:pt>
                <c:pt idx="18">
                  <c:v>0.6</c:v>
                </c:pt>
                <c:pt idx="19">
                  <c:v>0.4</c:v>
                </c:pt>
                <c:pt idx="20">
                  <c:v>0.3</c:v>
                </c:pt>
                <c:pt idx="21">
                  <c:v>0.2</c:v>
                </c:pt>
                <c:pt idx="22">
                  <c:v>0.1</c:v>
                </c:pt>
                <c:pt idx="23">
                  <c:v>0.1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3501-4794-8769-C2CA7420FAB5}"/>
            </c:ext>
          </c:extLst>
        </c:ser>
        <c:ser>
          <c:idx val="2"/>
          <c:order val="2"/>
          <c:tx>
            <c:strRef>
              <c:f>Sheet1!$D$1</c:f>
              <c:strCache>
                <c:ptCount val="1"/>
                <c:pt idx="0">
                  <c:v>Maand 3</c:v>
                </c:pt>
              </c:strCache>
            </c:strRef>
          </c:tx>
          <c:spPr>
            <a:solidFill>
              <a:srgbClr val="1F6FA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c:v>
                </c:pt>
                <c:pt idx="1">
                  <c:v>0</c:v>
                </c:pt>
                <c:pt idx="2">
                  <c:v>0</c:v>
                </c:pt>
                <c:pt idx="3">
                  <c:v>2.2000000000000002</c:v>
                </c:pt>
                <c:pt idx="4">
                  <c:v>2.2999999999999998</c:v>
                </c:pt>
                <c:pt idx="5">
                  <c:v>2.2000000000000002</c:v>
                </c:pt>
                <c:pt idx="6">
                  <c:v>2.2000000000000002</c:v>
                </c:pt>
                <c:pt idx="7">
                  <c:v>2.2999999999999998</c:v>
                </c:pt>
                <c:pt idx="8">
                  <c:v>2.2999999999999998</c:v>
                </c:pt>
                <c:pt idx="9">
                  <c:v>2.2000000000000002</c:v>
                </c:pt>
                <c:pt idx="10">
                  <c:v>2.2999999999999998</c:v>
                </c:pt>
                <c:pt idx="11">
                  <c:v>2.2000000000000002</c:v>
                </c:pt>
                <c:pt idx="12">
                  <c:v>2.2999999999999998</c:v>
                </c:pt>
                <c:pt idx="13">
                  <c:v>2.1</c:v>
                </c:pt>
                <c:pt idx="14">
                  <c:v>2.1</c:v>
                </c:pt>
                <c:pt idx="15">
                  <c:v>2</c:v>
                </c:pt>
                <c:pt idx="16">
                  <c:v>1.7</c:v>
                </c:pt>
                <c:pt idx="17">
                  <c:v>1.5</c:v>
                </c:pt>
                <c:pt idx="18">
                  <c:v>1.2</c:v>
                </c:pt>
                <c:pt idx="19">
                  <c:v>0.9</c:v>
                </c:pt>
                <c:pt idx="20">
                  <c:v>0.7</c:v>
                </c:pt>
                <c:pt idx="21">
                  <c:v>0.5</c:v>
                </c:pt>
                <c:pt idx="22">
                  <c:v>0.3</c:v>
                </c:pt>
                <c:pt idx="23">
                  <c:v>0.2</c:v>
                </c:pt>
                <c:pt idx="24">
                  <c:v>0.1</c:v>
                </c:pt>
                <c:pt idx="25">
                  <c:v>0.1</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501-4794-8769-C2CA7420FAB5}"/>
            </c:ext>
          </c:extLst>
        </c:ser>
        <c:ser>
          <c:idx val="3"/>
          <c:order val="3"/>
          <c:tx>
            <c:strRef>
              <c:f>Sheet1!$E$1</c:f>
              <c:strCache>
                <c:ptCount val="1"/>
                <c:pt idx="0">
                  <c:v>Maand 6</c:v>
                </c:pt>
              </c:strCache>
            </c:strRef>
          </c:tx>
          <c:spPr>
            <a:solidFill>
              <a:srgbClr val="2A8CC0"/>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c:v>
                </c:pt>
                <c:pt idx="1">
                  <c:v>0</c:v>
                </c:pt>
                <c:pt idx="2">
                  <c:v>0</c:v>
                </c:pt>
                <c:pt idx="3">
                  <c:v>0</c:v>
                </c:pt>
                <c:pt idx="4">
                  <c:v>0</c:v>
                </c:pt>
                <c:pt idx="5">
                  <c:v>0.1</c:v>
                </c:pt>
                <c:pt idx="6">
                  <c:v>2.2000000000000002</c:v>
                </c:pt>
                <c:pt idx="7">
                  <c:v>2.2999999999999998</c:v>
                </c:pt>
                <c:pt idx="8">
                  <c:v>2.2000000000000002</c:v>
                </c:pt>
                <c:pt idx="9">
                  <c:v>2.2999999999999998</c:v>
                </c:pt>
                <c:pt idx="10">
                  <c:v>2.2999999999999998</c:v>
                </c:pt>
                <c:pt idx="11">
                  <c:v>2.2999999999999998</c:v>
                </c:pt>
                <c:pt idx="12">
                  <c:v>2.2000000000000002</c:v>
                </c:pt>
                <c:pt idx="13">
                  <c:v>2.2999999999999998</c:v>
                </c:pt>
                <c:pt idx="14">
                  <c:v>2.2000000000000002</c:v>
                </c:pt>
                <c:pt idx="15">
                  <c:v>2.2999999999999998</c:v>
                </c:pt>
                <c:pt idx="16">
                  <c:v>2.1</c:v>
                </c:pt>
                <c:pt idx="17">
                  <c:v>2.1</c:v>
                </c:pt>
                <c:pt idx="18">
                  <c:v>2</c:v>
                </c:pt>
                <c:pt idx="19">
                  <c:v>1.7</c:v>
                </c:pt>
                <c:pt idx="20">
                  <c:v>1.5</c:v>
                </c:pt>
                <c:pt idx="21">
                  <c:v>1.2</c:v>
                </c:pt>
                <c:pt idx="22">
                  <c:v>0.9</c:v>
                </c:pt>
                <c:pt idx="23">
                  <c:v>0.7</c:v>
                </c:pt>
                <c:pt idx="24">
                  <c:v>0.5</c:v>
                </c:pt>
                <c:pt idx="25">
                  <c:v>0.3</c:v>
                </c:pt>
                <c:pt idx="26">
                  <c:v>0.2</c:v>
                </c:pt>
                <c:pt idx="27">
                  <c:v>0.1</c:v>
                </c:pt>
                <c:pt idx="28">
                  <c:v>0.1</c:v>
                </c:pt>
                <c:pt idx="29">
                  <c:v>0</c:v>
                </c:pt>
                <c:pt idx="30">
                  <c:v>0</c:v>
                </c:pt>
                <c:pt idx="31">
                  <c:v>0</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3501-4794-8769-C2CA7420FAB5}"/>
            </c:ext>
          </c:extLst>
        </c:ser>
        <c:ser>
          <c:idx val="4"/>
          <c:order val="4"/>
          <c:tx>
            <c:strRef>
              <c:f>Sheet1!$F$1</c:f>
              <c:strCache>
                <c:ptCount val="1"/>
                <c:pt idx="0">
                  <c:v>Maand 9</c:v>
                </c:pt>
              </c:strCache>
            </c:strRef>
          </c:tx>
          <c:spPr>
            <a:solidFill>
              <a:srgbClr val="45A9DB"/>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c:v>
                </c:pt>
                <c:pt idx="1">
                  <c:v>0</c:v>
                </c:pt>
                <c:pt idx="2">
                  <c:v>0</c:v>
                </c:pt>
                <c:pt idx="3">
                  <c:v>0</c:v>
                </c:pt>
                <c:pt idx="4">
                  <c:v>0</c:v>
                </c:pt>
                <c:pt idx="5">
                  <c:v>0</c:v>
                </c:pt>
                <c:pt idx="6">
                  <c:v>0</c:v>
                </c:pt>
                <c:pt idx="7">
                  <c:v>0</c:v>
                </c:pt>
                <c:pt idx="8">
                  <c:v>0.1</c:v>
                </c:pt>
                <c:pt idx="9">
                  <c:v>2.2000000000000002</c:v>
                </c:pt>
                <c:pt idx="10">
                  <c:v>2.2999999999999998</c:v>
                </c:pt>
                <c:pt idx="11">
                  <c:v>2.2000000000000002</c:v>
                </c:pt>
                <c:pt idx="12">
                  <c:v>2.2000000000000002</c:v>
                </c:pt>
                <c:pt idx="13">
                  <c:v>2.2999999999999998</c:v>
                </c:pt>
                <c:pt idx="14">
                  <c:v>2.2000000000000002</c:v>
                </c:pt>
                <c:pt idx="15">
                  <c:v>2.2000000000000002</c:v>
                </c:pt>
                <c:pt idx="16">
                  <c:v>2.2999999999999998</c:v>
                </c:pt>
                <c:pt idx="17">
                  <c:v>2.2000000000000002</c:v>
                </c:pt>
                <c:pt idx="18">
                  <c:v>2.2000000000000002</c:v>
                </c:pt>
                <c:pt idx="19">
                  <c:v>2.1</c:v>
                </c:pt>
                <c:pt idx="20">
                  <c:v>2.1</c:v>
                </c:pt>
                <c:pt idx="21">
                  <c:v>2</c:v>
                </c:pt>
                <c:pt idx="22">
                  <c:v>1.7</c:v>
                </c:pt>
                <c:pt idx="23">
                  <c:v>1.5</c:v>
                </c:pt>
                <c:pt idx="24">
                  <c:v>1.2</c:v>
                </c:pt>
                <c:pt idx="25">
                  <c:v>0.9</c:v>
                </c:pt>
                <c:pt idx="26">
                  <c:v>0.7</c:v>
                </c:pt>
                <c:pt idx="27">
                  <c:v>0.5</c:v>
                </c:pt>
                <c:pt idx="28">
                  <c:v>0.3</c:v>
                </c:pt>
                <c:pt idx="29">
                  <c:v>0.2</c:v>
                </c:pt>
                <c:pt idx="30">
                  <c:v>0.1</c:v>
                </c:pt>
                <c:pt idx="31">
                  <c:v>0.1</c:v>
                </c:pt>
                <c:pt idx="32">
                  <c:v>0</c:v>
                </c:pt>
                <c:pt idx="33">
                  <c:v>0</c:v>
                </c:pt>
                <c:pt idx="34">
                  <c:v>0</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4-3501-4794-8769-C2CA7420FAB5}"/>
            </c:ext>
          </c:extLst>
        </c:ser>
        <c:ser>
          <c:idx val="5"/>
          <c:order val="5"/>
          <c:tx>
            <c:strRef>
              <c:f>Sheet1!$G$1</c:f>
              <c:strCache>
                <c:ptCount val="1"/>
                <c:pt idx="0">
                  <c:v>Maand 12</c:v>
                </c:pt>
              </c:strCache>
            </c:strRef>
          </c:tx>
          <c:spPr>
            <a:solidFill>
              <a:srgbClr val="6CC2EC"/>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2.2000000000000002</c:v>
                </c:pt>
                <c:pt idx="13">
                  <c:v>2.2999999999999998</c:v>
                </c:pt>
                <c:pt idx="14">
                  <c:v>2.2000000000000002</c:v>
                </c:pt>
                <c:pt idx="15">
                  <c:v>2.2000000000000002</c:v>
                </c:pt>
                <c:pt idx="16">
                  <c:v>2.2999999999999998</c:v>
                </c:pt>
                <c:pt idx="17">
                  <c:v>2.2000000000000002</c:v>
                </c:pt>
                <c:pt idx="18">
                  <c:v>2.2000000000000002</c:v>
                </c:pt>
                <c:pt idx="19">
                  <c:v>2.2999999999999998</c:v>
                </c:pt>
                <c:pt idx="20">
                  <c:v>2.2000000000000002</c:v>
                </c:pt>
                <c:pt idx="21">
                  <c:v>2.2999999999999998</c:v>
                </c:pt>
                <c:pt idx="22">
                  <c:v>2.1</c:v>
                </c:pt>
                <c:pt idx="23">
                  <c:v>2.1</c:v>
                </c:pt>
                <c:pt idx="24">
                  <c:v>2</c:v>
                </c:pt>
                <c:pt idx="25">
                  <c:v>1.7</c:v>
                </c:pt>
                <c:pt idx="26">
                  <c:v>1.5</c:v>
                </c:pt>
                <c:pt idx="27">
                  <c:v>1.2</c:v>
                </c:pt>
                <c:pt idx="28">
                  <c:v>0.9</c:v>
                </c:pt>
                <c:pt idx="29">
                  <c:v>0.7</c:v>
                </c:pt>
                <c:pt idx="30">
                  <c:v>0.5</c:v>
                </c:pt>
                <c:pt idx="31">
                  <c:v>0.3</c:v>
                </c:pt>
                <c:pt idx="32">
                  <c:v>0.2</c:v>
                </c:pt>
                <c:pt idx="33">
                  <c:v>0.1</c:v>
                </c:pt>
                <c:pt idx="34">
                  <c:v>0.1</c:v>
                </c:pt>
                <c:pt idx="35">
                  <c:v>0</c:v>
                </c:pt>
                <c:pt idx="36">
                  <c:v>0</c:v>
                </c:pt>
                <c:pt idx="37">
                  <c:v>0</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5-3501-4794-8769-C2CA7420FAB5}"/>
            </c:ext>
          </c:extLst>
        </c:ser>
        <c:ser>
          <c:idx val="6"/>
          <c:order val="6"/>
          <c:tx>
            <c:strRef>
              <c:f>Sheet1!$H$1</c:f>
              <c:strCache>
                <c:ptCount val="1"/>
                <c:pt idx="0">
                  <c:v>Maand 15</c:v>
                </c:pt>
              </c:strCache>
            </c:strRef>
          </c:tx>
          <c:spPr>
            <a:solidFill>
              <a:srgbClr val="97D5F2"/>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0.1</c:v>
                </c:pt>
                <c:pt idx="15">
                  <c:v>2.2000000000000002</c:v>
                </c:pt>
                <c:pt idx="16">
                  <c:v>2.2999999999999998</c:v>
                </c:pt>
                <c:pt idx="17">
                  <c:v>2.2000000000000002</c:v>
                </c:pt>
                <c:pt idx="18">
                  <c:v>2.2999999999999998</c:v>
                </c:pt>
                <c:pt idx="19">
                  <c:v>2.2999999999999998</c:v>
                </c:pt>
                <c:pt idx="20">
                  <c:v>2.2999999999999998</c:v>
                </c:pt>
                <c:pt idx="21">
                  <c:v>2.2000000000000002</c:v>
                </c:pt>
                <c:pt idx="22">
                  <c:v>2.2999999999999998</c:v>
                </c:pt>
                <c:pt idx="23">
                  <c:v>2.2000000000000002</c:v>
                </c:pt>
                <c:pt idx="24">
                  <c:v>2.2999999999999998</c:v>
                </c:pt>
                <c:pt idx="25">
                  <c:v>2.1</c:v>
                </c:pt>
                <c:pt idx="26">
                  <c:v>2.1</c:v>
                </c:pt>
                <c:pt idx="27">
                  <c:v>2</c:v>
                </c:pt>
                <c:pt idx="28">
                  <c:v>1.7</c:v>
                </c:pt>
                <c:pt idx="29">
                  <c:v>1.5</c:v>
                </c:pt>
                <c:pt idx="30">
                  <c:v>1.2</c:v>
                </c:pt>
                <c:pt idx="31">
                  <c:v>0.9</c:v>
                </c:pt>
                <c:pt idx="32">
                  <c:v>0.7</c:v>
                </c:pt>
                <c:pt idx="33">
                  <c:v>0.5</c:v>
                </c:pt>
                <c:pt idx="34">
                  <c:v>0.3</c:v>
                </c:pt>
                <c:pt idx="35">
                  <c:v>0.2</c:v>
                </c:pt>
                <c:pt idx="36">
                  <c:v>0.1</c:v>
                </c:pt>
                <c:pt idx="37">
                  <c:v>0.1</c:v>
                </c:pt>
                <c:pt idx="38">
                  <c:v>0</c:v>
                </c:pt>
                <c:pt idx="39">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6-3501-4794-8769-C2CA7420FAB5}"/>
            </c:ext>
          </c:extLst>
        </c:ser>
        <c:ser>
          <c:idx val="7"/>
          <c:order val="7"/>
          <c:tx>
            <c:strRef>
              <c:f>Sheet1!$I$1</c:f>
              <c:strCache>
                <c:ptCount val="1"/>
                <c:pt idx="0">
                  <c:v>Maand 18</c:v>
                </c:pt>
              </c:strCache>
            </c:strRef>
          </c:tx>
          <c:spPr>
            <a:solidFill>
              <a:srgbClr val="C4E8F8"/>
            </a:solidFill>
            <a:ln>
              <a:noFill/>
            </a:ln>
          </c:spPr>
          <c:invertIfNegative val="1"/>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0.1</c:v>
                </c:pt>
                <c:pt idx="18">
                  <c:v>2.2000000000000002</c:v>
                </c:pt>
                <c:pt idx="19">
                  <c:v>2.2999999999999998</c:v>
                </c:pt>
                <c:pt idx="20">
                  <c:v>2.2000000000000002</c:v>
                </c:pt>
                <c:pt idx="21">
                  <c:v>2.2000000000000002</c:v>
                </c:pt>
                <c:pt idx="22">
                  <c:v>2.2999999999999998</c:v>
                </c:pt>
                <c:pt idx="23">
                  <c:v>2.2000000000000002</c:v>
                </c:pt>
                <c:pt idx="24">
                  <c:v>2.2000000000000002</c:v>
                </c:pt>
                <c:pt idx="25">
                  <c:v>2.2999999999999998</c:v>
                </c:pt>
                <c:pt idx="26">
                  <c:v>2.2000000000000002</c:v>
                </c:pt>
                <c:pt idx="27">
                  <c:v>2.2999999999999998</c:v>
                </c:pt>
                <c:pt idx="28">
                  <c:v>2.1</c:v>
                </c:pt>
                <c:pt idx="29">
                  <c:v>2.1</c:v>
                </c:pt>
                <c:pt idx="30">
                  <c:v>2</c:v>
                </c:pt>
                <c:pt idx="31">
                  <c:v>1.7</c:v>
                </c:pt>
                <c:pt idx="32">
                  <c:v>1.5</c:v>
                </c:pt>
                <c:pt idx="33">
                  <c:v>1.2</c:v>
                </c:pt>
                <c:pt idx="34">
                  <c:v>0.9</c:v>
                </c:pt>
                <c:pt idx="35">
                  <c:v>0.7</c:v>
                </c:pt>
                <c:pt idx="36">
                  <c:v>0.5</c:v>
                </c:pt>
                <c:pt idx="37">
                  <c:v>0.3</c:v>
                </c:pt>
                <c:pt idx="38">
                  <c:v>0.2</c:v>
                </c:pt>
                <c:pt idx="39">
                  <c:v>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7-3501-4794-8769-C2CA7420FAB5}"/>
            </c:ext>
          </c:extLst>
        </c:ser>
        <c:dLbls>
          <c:showLegendKey val="0"/>
          <c:showVal val="0"/>
          <c:showCatName val="0"/>
          <c:showSerName val="0"/>
          <c:showPercent val="0"/>
          <c:showBubbleSize val="0"/>
        </c:dLbls>
        <c:gapWidth val="20"/>
        <c:overlap val="100"/>
        <c:axId val="-2068027336"/>
        <c:axId val="-2113994440"/>
      </c:barChart>
      <c:catAx>
        <c:axId val="-2068027336"/>
        <c:scaling>
          <c:orientation val="minMax"/>
        </c:scaling>
        <c:delete val="0"/>
        <c:axPos val="b"/>
        <c:numFmt formatCode="General"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13994440"/>
        <c:crosses val="autoZero"/>
        <c:auto val="1"/>
        <c:lblAlgn val="ctr"/>
        <c:lblOffset val="100"/>
        <c:tickLblSkip val="1"/>
        <c:noMultiLvlLbl val="0"/>
      </c:catAx>
      <c:valAx>
        <c:axId val="-2113994440"/>
        <c:scaling>
          <c:orientation val="minMax"/>
          <c:max val="20"/>
          <c:min val="0"/>
        </c:scaling>
        <c:delete val="0"/>
        <c:axPos val="l"/>
        <c:majorGridlines>
          <c:spPr>
            <a:ln w="9525">
              <a:solidFill>
                <a:srgbClr val="D3DFE8"/>
              </a:solidFill>
            </a:ln>
          </c:spPr>
        </c:majorGridlines>
        <c:numFmt formatCode="General" sourceLinked="1"/>
        <c:majorTickMark val="none"/>
        <c:minorTickMark val="none"/>
        <c:tickLblPos val="none"/>
        <c:spPr>
          <a:ln>
            <a:noFill/>
          </a:ln>
        </c:spPr>
        <c:txPr>
          <a:bodyPr/>
          <a:lstStyle/>
          <a:p>
            <a:pPr>
              <a:defRPr sz="1200" b="0">
                <a:solidFill>
                  <a:srgbClr val="5A6E80"/>
                </a:solidFill>
                <a:latin typeface="Segoe UI"/>
              </a:defRPr>
            </a:pPr>
            <a:endParaRPr lang="nl-BE"/>
          </a:p>
        </c:txPr>
        <c:crossAx val="-2068027336"/>
        <c:crosses val="autoZero"/>
        <c:crossBetween val="between"/>
        <c:majorUnit val="5"/>
      </c:valAx>
      <c:spPr>
        <a:noFill/>
        <a:ln>
          <a:noFill/>
        </a:ln>
      </c:spPr>
    </c:plotArea>
    <c:plotVisOnly val="1"/>
    <c:dispBlanksAs val="gap"/>
    <c:showDLblsOverMax val="1"/>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nl-NL"/>
  <c:roundedCorners val="1"/>
  <c:style val="2"/>
  <c:chart>
    <c:autoTitleDeleted val="1"/>
    <c:plotArea>
      <c:layout>
        <c:manualLayout>
          <c:layoutTarget val="inner"/>
          <c:xMode val="edge"/>
          <c:yMode val="edge"/>
          <c:x val="8.8900000000000007E-2"/>
          <c:y val="6.7799999999999999E-2"/>
          <c:w val="0.88890000000000002"/>
          <c:h val="0.69489999999999996"/>
        </c:manualLayout>
      </c:layout>
      <c:scatterChart>
        <c:scatterStyle val="lineMarker"/>
        <c:varyColors val="0"/>
        <c:ser>
          <c:idx val="0"/>
          <c:order val="0"/>
          <c:tx>
            <c:strRef>
              <c:f>Sheet1!$B$1</c:f>
              <c:strCache>
                <c:ptCount val="1"/>
                <c:pt idx="0">
                  <c:v>3 per maand, één centrum</c:v>
                </c:pt>
              </c:strCache>
            </c:strRef>
          </c:tx>
          <c:spPr>
            <a:ln w="12700">
              <a:solidFill>
                <a:srgbClr val="1D8DB0"/>
              </a:solidFill>
            </a:ln>
          </c:spPr>
          <c:marker>
            <c:symbol val="none"/>
          </c:marker>
          <c:xVal>
            <c:numRef>
              <c:f>Sheet1!$A$2:$A$402</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Sheet1!$B$2:$B$402</c:f>
              <c:numCache>
                <c:formatCode>General</c:formatCode>
                <c:ptCount val="401"/>
                <c:pt idx="0">
                  <c:v>0</c:v>
                </c:pt>
                <c:pt idx="1">
                  <c:v>0</c:v>
                </c:pt>
                <c:pt idx="2">
                  <c:v>0</c:v>
                </c:pt>
                <c:pt idx="3">
                  <c:v>0</c:v>
                </c:pt>
                <c:pt idx="4">
                  <c:v>0</c:v>
                </c:pt>
                <c:pt idx="5">
                  <c:v>0</c:v>
                </c:pt>
                <c:pt idx="6">
                  <c:v>0</c:v>
                </c:pt>
                <c:pt idx="7">
                  <c:v>0</c:v>
                </c:pt>
                <c:pt idx="8">
                  <c:v>0</c:v>
                </c:pt>
                <c:pt idx="9">
                  <c:v>-2.2204460492503131E-14</c:v>
                </c:pt>
                <c:pt idx="10">
                  <c:v>0</c:v>
                </c:pt>
                <c:pt idx="11">
                  <c:v>-2.2204460492503131E-14</c:v>
                </c:pt>
                <c:pt idx="12">
                  <c:v>-2.2204460492503131E-14</c:v>
                </c:pt>
                <c:pt idx="13">
                  <c:v>0</c:v>
                </c:pt>
                <c:pt idx="14">
                  <c:v>0</c:v>
                </c:pt>
                <c:pt idx="15">
                  <c:v>0</c:v>
                </c:pt>
                <c:pt idx="16">
                  <c:v>2.2204460492503131E-14</c:v>
                </c:pt>
                <c:pt idx="17">
                  <c:v>7.7715611723760958E-14</c:v>
                </c:pt>
                <c:pt idx="18">
                  <c:v>2.6645352591003757E-13</c:v>
                </c:pt>
                <c:pt idx="19">
                  <c:v>8.659739592076221E-13</c:v>
                </c:pt>
                <c:pt idx="20">
                  <c:v>2.55351295663786E-12</c:v>
                </c:pt>
                <c:pt idx="21">
                  <c:v>7.2275518903097691E-12</c:v>
                </c:pt>
                <c:pt idx="22">
                  <c:v>1.9073631563060189E-11</c:v>
                </c:pt>
                <c:pt idx="23">
                  <c:v>4.7961634663806763E-11</c:v>
                </c:pt>
                <c:pt idx="24">
                  <c:v>1.1539658117953877E-10</c:v>
                </c:pt>
                <c:pt idx="25">
                  <c:v>2.6638691252856006E-10</c:v>
                </c:pt>
                <c:pt idx="26">
                  <c:v>5.918265877369322E-10</c:v>
                </c:pt>
                <c:pt idx="27">
                  <c:v>1.2689960193768002E-9</c:v>
                </c:pt>
                <c:pt idx="28">
                  <c:v>2.6330271296615138E-9</c:v>
                </c:pt>
                <c:pt idx="29">
                  <c:v>5.2985948961747908E-9</c:v>
                </c:pt>
                <c:pt idx="30">
                  <c:v>1.0362810609620965E-8</c:v>
                </c:pt>
                <c:pt idx="31">
                  <c:v>1.9734758271994224E-8</c:v>
                </c:pt>
                <c:pt idx="32">
                  <c:v>3.6656533364265442E-8</c:v>
                </c:pt>
                <c:pt idx="33">
                  <c:v>6.6513405894141897E-8</c:v>
                </c:pt>
                <c:pt idx="34">
                  <c:v>1.1806238209288722E-7</c:v>
                </c:pt>
                <c:pt idx="35">
                  <c:v>2.052648162553794E-7</c:v>
                </c:pt>
                <c:pt idx="36">
                  <c:v>3.4996660014385839E-7</c:v>
                </c:pt>
                <c:pt idx="37">
                  <c:v>5.8575300165841782E-7</c:v>
                </c:pt>
                <c:pt idx="38">
                  <c:v>9.6340219135626626E-7</c:v>
                </c:pt>
                <c:pt idx="39">
                  <c:v>1.5584829093917563E-6</c:v>
                </c:pt>
                <c:pt idx="40">
                  <c:v>2.4817817800837361E-6</c:v>
                </c:pt>
                <c:pt idx="41">
                  <c:v>3.8934189316996992E-6</c:v>
                </c:pt>
                <c:pt idx="42">
                  <c:v>6.0216992392447821E-6</c:v>
                </c:pt>
                <c:pt idx="43">
                  <c:v>9.1879693076002411E-6</c:v>
                </c:pt>
                <c:pt idx="44">
                  <c:v>1.3838997758863769E-5</c:v>
                </c:pt>
                <c:pt idx="45">
                  <c:v>2.0588660420983729E-5</c:v>
                </c:pt>
                <c:pt idx="46">
                  <c:v>3.0271011686178184E-5</c:v>
                </c:pt>
                <c:pt idx="47">
                  <c:v>4.4007117605548984E-5</c:v>
                </c:pt>
                <c:pt idx="48">
                  <c:v>6.3288358054247595E-5</c:v>
                </c:pt>
                <c:pt idx="49">
                  <c:v>9.0079215253613398E-5</c:v>
                </c:pt>
                <c:pt idx="50">
                  <c:v>1.2694288609171878E-4</c:v>
                </c:pt>
                <c:pt idx="51">
                  <c:v>1.7719335889676557E-4</c:v>
                </c:pt>
                <c:pt idx="52">
                  <c:v>2.450778650686658E-4</c:v>
                </c:pt>
                <c:pt idx="53">
                  <c:v>3.3599385687033134E-4</c:v>
                </c:pt>
                <c:pt idx="54">
                  <c:v>4.5674484266955417E-4</c:v>
                </c:pt>
                <c:pt idx="55">
                  <c:v>6.1583954193977775E-4</c:v>
                </c:pt>
                <c:pt idx="56">
                  <c:v>8.2383885523507061E-4</c:v>
                </c:pt>
                <c:pt idx="57">
                  <c:v>1.0937551111256383E-3</c:v>
                </c:pt>
                <c:pt idx="58">
                  <c:v>1.4415078980700713E-3</c:v>
                </c:pt>
                <c:pt idx="59">
                  <c:v>1.8864405373131277E-3</c:v>
                </c:pt>
                <c:pt idx="60">
                  <c:v>2.4519008763101979E-3</c:v>
                </c:pt>
                <c:pt idx="61">
                  <c:v>3.1658895757180616E-3</c:v>
                </c:pt>
                <c:pt idx="62">
                  <c:v>4.0617784336061113E-3</c:v>
                </c:pt>
                <c:pt idx="63">
                  <c:v>5.1791005240553467E-3</c:v>
                </c:pt>
                <c:pt idx="64">
                  <c:v>6.5644130312847437E-3</c:v>
                </c:pt>
                <c:pt idx="65">
                  <c:v>8.2722326475881403E-3</c:v>
                </c:pt>
                <c:pt idx="66">
                  <c:v>1.0366042258114216E-2</c:v>
                </c:pt>
                <c:pt idx="67">
                  <c:v>1.291936640500646E-2</c:v>
                </c:pt>
                <c:pt idx="68">
                  <c:v>1.6016911691307811E-2</c:v>
                </c:pt>
                <c:pt idx="69">
                  <c:v>1.9755766883533532E-2</c:v>
                </c:pt>
                <c:pt idx="70">
                  <c:v>2.4246656019277779E-2</c:v>
                </c:pt>
                <c:pt idx="71">
                  <c:v>2.9615236351432372E-2</c:v>
                </c:pt>
                <c:pt idx="72">
                  <c:v>3.6003431479147974E-2</c:v>
                </c:pt>
                <c:pt idx="73">
                  <c:v>4.3570788551683393E-2</c:v>
                </c:pt>
                <c:pt idx="74">
                  <c:v>5.2495847042710597E-2</c:v>
                </c:pt>
                <c:pt idx="75">
                  <c:v>6.2977505249584009E-2</c:v>
                </c:pt>
                <c:pt idx="76">
                  <c:v>7.523636948191248E-2</c:v>
                </c:pt>
                <c:pt idx="77">
                  <c:v>8.9516069797246356E-2</c:v>
                </c:pt>
                <c:pt idx="78">
                  <c:v>0.10608452525641132</c:v>
                </c:pt>
                <c:pt idx="79">
                  <c:v>0.12523514090934107</c:v>
                </c:pt>
                <c:pt idx="80">
                  <c:v>0.14728791823149789</c:v>
                </c:pt>
                <c:pt idx="81">
                  <c:v>0.17259046040608572</c:v>
                </c:pt>
                <c:pt idx="82">
                  <c:v>0.20151885380907952</c:v>
                </c:pt>
                <c:pt idx="83">
                  <c:v>0.23447840725047131</c:v>
                </c:pt>
                <c:pt idx="84">
                  <c:v>0.2719042309676567</c:v>
                </c:pt>
                <c:pt idx="85">
                  <c:v>0.31426163811402175</c:v>
                </c:pt>
                <c:pt idx="86">
                  <c:v>0.36204635242602645</c:v>
                </c:pt>
                <c:pt idx="87">
                  <c:v>0.41578450703926295</c:v>
                </c:pt>
                <c:pt idx="88">
                  <c:v>0.47603242085230146</c:v>
                </c:pt>
                <c:pt idx="89">
                  <c:v>0.54337614059751793</c:v>
                </c:pt>
                <c:pt idx="90">
                  <c:v>0.6184307386750465</c:v>
                </c:pt>
                <c:pt idx="91">
                  <c:v>0.70183935892523808</c:v>
                </c:pt>
                <c:pt idx="92">
                  <c:v>0.79427200481819726</c:v>
                </c:pt>
                <c:pt idx="93">
                  <c:v>0.89642406693956067</c:v>
                </c:pt>
                <c:pt idx="94">
                  <c:v>1.0090145891815783</c:v>
                </c:pt>
                <c:pt idx="95">
                  <c:v>1.1327842756779227</c:v>
                </c:pt>
                <c:pt idx="96">
                  <c:v>1.2684932431305529</c:v>
                </c:pt>
                <c:pt idx="97">
                  <c:v>1.4169185258669947</c:v>
                </c:pt>
                <c:pt idx="98">
                  <c:v>1.5788513435706975</c:v>
                </c:pt>
                <c:pt idx="99">
                  <c:v>1.7550941442155743</c:v>
                </c:pt>
                <c:pt idx="100">
                  <c:v>1.9464574372022314</c:v>
                </c:pt>
                <c:pt idx="101">
                  <c:v>2.1537564340373794</c:v>
                </c:pt>
                <c:pt idx="102">
                  <c:v>2.3778075161249412</c:v>
                </c:pt>
                <c:pt idx="103">
                  <c:v>2.6194245512164871</c:v>
                </c:pt>
                <c:pt idx="104">
                  <c:v>2.8794150819079989</c:v>
                </c:pt>
                <c:pt idx="105">
                  <c:v>3.1585764111389247</c:v>
                </c:pt>
                <c:pt idx="106">
                  <c:v>3.457691610981739</c:v>
                </c:pt>
                <c:pt idx="107">
                  <c:v>3.7775254820976212</c:v>
                </c:pt>
                <c:pt idx="108">
                  <c:v>4.1188204920237448</c:v>
                </c:pt>
                <c:pt idx="109">
                  <c:v>4.4822927209823504</c:v>
                </c:pt>
                <c:pt idx="110">
                  <c:v>4.8686278441404829</c:v>
                </c:pt>
                <c:pt idx="111">
                  <c:v>5.2784771791968277</c:v>
                </c:pt>
                <c:pt idx="112">
                  <c:v>5.7124538278527375</c:v>
                </c:pt>
                <c:pt idx="113">
                  <c:v>6.1711289391023545</c:v>
                </c:pt>
                <c:pt idx="114">
                  <c:v>6.6550281214309166</c:v>
                </c:pt>
                <c:pt idx="115">
                  <c:v>7.1646280298701122</c:v>
                </c:pt>
                <c:pt idx="116">
                  <c:v>7.7003531525151043</c:v>
                </c:pt>
                <c:pt idx="117">
                  <c:v>8.2625728195279251</c:v>
                </c:pt>
                <c:pt idx="118">
                  <c:v>8.851598455882403</c:v>
                </c:pt>
                <c:pt idx="119">
                  <c:v>9.4676810971549674</c:v>
                </c:pt>
                <c:pt idx="120">
                  <c:v>10.111009185571074</c:v>
                </c:pt>
                <c:pt idx="121">
                  <c:v>10.781706661280232</c:v>
                </c:pt>
                <c:pt idx="122">
                  <c:v>11.479831361520276</c:v>
                </c:pt>
                <c:pt idx="123">
                  <c:v>12.205373737897807</c:v>
                </c:pt>
                <c:pt idx="124">
                  <c:v>12.958255899581117</c:v>
                </c:pt>
                <c:pt idx="125">
                  <c:v>13.738330987711556</c:v>
                </c:pt>
                <c:pt idx="126">
                  <c:v>14.545382883837144</c:v>
                </c:pt>
                <c:pt idx="127">
                  <c:v>15.379126252746445</c:v>
                </c:pt>
                <c:pt idx="128">
                  <c:v>16.239206917639525</c:v>
                </c:pt>
                <c:pt idx="129">
                  <c:v>17.125202563239771</c:v>
                </c:pt>
                <c:pt idx="130">
                  <c:v>18.03662376019588</c:v>
                </c:pt>
                <c:pt idx="131">
                  <c:v>18.972915301963244</c:v>
                </c:pt>
                <c:pt idx="132">
                  <c:v>19.933457843348844</c:v>
                </c:pt>
                <c:pt idx="133">
                  <c:v>20.917569827986227</c:v>
                </c:pt>
                <c:pt idx="134">
                  <c:v>21.924509690290328</c:v>
                </c:pt>
                <c:pt idx="135">
                  <c:v>22.953478315873799</c:v>
                </c:pt>
                <c:pt idx="136">
                  <c:v>24.003621742966619</c:v>
                </c:pt>
                <c:pt idx="137">
                  <c:v>25.074034086186536</c:v>
                </c:pt>
                <c:pt idx="138">
                  <c:v>26.163760662950541</c:v>
                </c:pt>
                <c:pt idx="139">
                  <c:v>27.271801301923816</c:v>
                </c:pt>
                <c:pt idx="140">
                  <c:v>28.397113812277329</c:v>
                </c:pt>
                <c:pt idx="141">
                  <c:v>29.538617591961845</c:v>
                </c:pt>
                <c:pt idx="142">
                  <c:v>30.695197352942728</c:v>
                </c:pt>
                <c:pt idx="143">
                  <c:v>31.865706941160077</c:v>
                </c:pt>
                <c:pt idx="144">
                  <c:v>33.048973229017619</c:v>
                </c:pt>
                <c:pt idx="145">
                  <c:v>34.243800058394847</c:v>
                </c:pt>
                <c:pt idx="146">
                  <c:v>35.448972212502561</c:v>
                </c:pt>
                <c:pt idx="147">
                  <c:v>36.663259395404765</c:v>
                </c:pt>
                <c:pt idx="148">
                  <c:v>37.885420198635622</c:v>
                </c:pt>
                <c:pt idx="149">
                  <c:v>39.114206035075327</c:v>
                </c:pt>
                <c:pt idx="150">
                  <c:v>40.348365021127385</c:v>
                </c:pt>
                <c:pt idx="151">
                  <c:v>41.586645789152264</c:v>
                </c:pt>
                <c:pt idx="152">
                  <c:v>42.827801213185488</c:v>
                </c:pt>
                <c:pt idx="153">
                  <c:v>44.07059203205764</c:v>
                </c:pt>
                <c:pt idx="154">
                  <c:v>45.313790355215858</c:v>
                </c:pt>
                <c:pt idx="155">
                  <c:v>46.556183037775568</c:v>
                </c:pt>
                <c:pt idx="156">
                  <c:v>47.796574912590096</c:v>
                </c:pt>
                <c:pt idx="157">
                  <c:v>49.033791868404521</c:v>
                </c:pt>
                <c:pt idx="158">
                  <c:v>50.266683764497188</c:v>
                </c:pt>
                <c:pt idx="159">
                  <c:v>51.494127173472528</c:v>
                </c:pt>
                <c:pt idx="160">
                  <c:v>52.715027945225536</c:v>
                </c:pt>
                <c:pt idx="161">
                  <c:v>53.928323586346004</c:v>
                </c:pt>
                <c:pt idx="162">
                  <c:v>55.132985450518632</c:v>
                </c:pt>
                <c:pt idx="163">
                  <c:v>56.328020736703706</c:v>
                </c:pt>
                <c:pt idx="164">
                  <c:v>57.512474293070156</c:v>
                </c:pt>
                <c:pt idx="165">
                  <c:v>58.68543022581585</c:v>
                </c:pt>
                <c:pt idx="166">
                  <c:v>59.846013313093849</c:v>
                </c:pt>
                <c:pt idx="167">
                  <c:v>60.993390225309781</c:v>
                </c:pt>
                <c:pt idx="168">
                  <c:v>62.126770554041357</c:v>
                </c:pt>
                <c:pt idx="169">
                  <c:v>63.245407652733945</c:v>
                </c:pt>
                <c:pt idx="170">
                  <c:v>64.348599293187746</c:v>
                </c:pt>
                <c:pt idx="171">
                  <c:v>65.435688142625978</c:v>
                </c:pt>
                <c:pt idx="172">
                  <c:v>66.506062066841579</c:v>
                </c:pt>
                <c:pt idx="173">
                  <c:v>67.559154265561574</c:v>
                </c:pt>
                <c:pt idx="174">
                  <c:v>68.594443246733405</c:v>
                </c:pt>
                <c:pt idx="175">
                  <c:v>69.611452646931383</c:v>
                </c:pt>
                <c:pt idx="176">
                  <c:v>70.609750905510765</c:v>
                </c:pt>
                <c:pt idx="177">
                  <c:v>71.588950800488774</c:v>
                </c:pt>
                <c:pt idx="178">
                  <c:v>72.548708854427744</c:v>
                </c:pt>
                <c:pt idx="179">
                  <c:v>73.488724618813166</c:v>
                </c:pt>
                <c:pt idx="180">
                  <c:v>74.408739845591001</c:v>
                </c:pt>
                <c:pt idx="181">
                  <c:v>75.308537554623925</c:v>
                </c:pt>
                <c:pt idx="182">
                  <c:v>76.187941005878443</c:v>
                </c:pt>
                <c:pt idx="183">
                  <c:v>77.046812585151969</c:v>
                </c:pt>
                <c:pt idx="184">
                  <c:v>77.885052612080841</c:v>
                </c:pt>
                <c:pt idx="185">
                  <c:v>78.702598079087807</c:v>
                </c:pt>
                <c:pt idx="186">
                  <c:v>79.499421329765681</c:v>
                </c:pt>
                <c:pt idx="187">
                  <c:v>80.275528685023531</c:v>
                </c:pt>
                <c:pt idx="188">
                  <c:v>81.030959025100373</c:v>
                </c:pt>
                <c:pt idx="189">
                  <c:v>81.765782335298411</c:v>
                </c:pt>
                <c:pt idx="190">
                  <c:v>82.480098223021031</c:v>
                </c:pt>
                <c:pt idx="191">
                  <c:v>83.174034413388014</c:v>
                </c:pt>
                <c:pt idx="192">
                  <c:v>83.847745230391055</c:v>
                </c:pt>
                <c:pt idx="193">
                  <c:v>84.50141007020504</c:v>
                </c:pt>
                <c:pt idx="194">
                  <c:v>85.135231872923328</c:v>
                </c:pt>
                <c:pt idx="195">
                  <c:v>85.749435598619442</c:v>
                </c:pt>
                <c:pt idx="196">
                  <c:v>86.344266713267103</c:v>
                </c:pt>
                <c:pt idx="197">
                  <c:v>86.919989689673955</c:v>
                </c:pt>
                <c:pt idx="198">
                  <c:v>87.476886528205952</c:v>
                </c:pt>
                <c:pt idx="199">
                  <c:v>88.015255301698048</c:v>
                </c:pt>
                <c:pt idx="200">
                  <c:v>88.535408728572591</c:v>
                </c:pt>
                <c:pt idx="201">
                  <c:v>89.037672777812787</c:v>
                </c:pt>
                <c:pt idx="202">
                  <c:v>89.522385309070259</c:v>
                </c:pt>
                <c:pt idx="203">
                  <c:v>89.989894750832278</c:v>
                </c:pt>
                <c:pt idx="204">
                  <c:v>90.440558819216207</c:v>
                </c:pt>
                <c:pt idx="205">
                  <c:v>90.874743279629527</c:v>
                </c:pt>
                <c:pt idx="206">
                  <c:v>91.292820753198185</c:v>
                </c:pt>
                <c:pt idx="207">
                  <c:v>91.695169569558956</c:v>
                </c:pt>
                <c:pt idx="208">
                  <c:v>92.082172667305414</c:v>
                </c:pt>
                <c:pt idx="209">
                  <c:v>92.4542165430951</c:v>
                </c:pt>
                <c:pt idx="210">
                  <c:v>92.811690250152935</c:v>
                </c:pt>
                <c:pt idx="211">
                  <c:v>93.154984446648854</c:v>
                </c:pt>
                <c:pt idx="212">
                  <c:v>93.484490494190808</c:v>
                </c:pt>
                <c:pt idx="213">
                  <c:v>93.800599606446553</c:v>
                </c:pt>
                <c:pt idx="214">
                  <c:v>94.103702047700963</c:v>
                </c:pt>
                <c:pt idx="215">
                  <c:v>94.394186380963816</c:v>
                </c:pt>
                <c:pt idx="216">
                  <c:v>94.672438765062878</c:v>
                </c:pt>
                <c:pt idx="217">
                  <c:v>94.938842299999266</c:v>
                </c:pt>
                <c:pt idx="218">
                  <c:v>95.193776419692625</c:v>
                </c:pt>
                <c:pt idx="219">
                  <c:v>95.437616331113517</c:v>
                </c:pt>
                <c:pt idx="220">
                  <c:v>95.67073249868227</c:v>
                </c:pt>
                <c:pt idx="221">
                  <c:v>95.8934901727105</c:v>
                </c:pt>
                <c:pt idx="222">
                  <c:v>96.106248960570269</c:v>
                </c:pt>
                <c:pt idx="223">
                  <c:v>96.30936243919993</c:v>
                </c:pt>
                <c:pt idx="224">
                  <c:v>96.503177807487532</c:v>
                </c:pt>
                <c:pt idx="225">
                  <c:v>96.688035577022688</c:v>
                </c:pt>
                <c:pt idx="226">
                  <c:v>96.864269299660791</c:v>
                </c:pt>
                <c:pt idx="227">
                  <c:v>97.032205330314099</c:v>
                </c:pt>
                <c:pt idx="228">
                  <c:v>97.192162623358854</c:v>
                </c:pt>
                <c:pt idx="229">
                  <c:v>97.344452561035283</c:v>
                </c:pt>
                <c:pt idx="230">
                  <c:v>97.489378812209836</c:v>
                </c:pt>
                <c:pt idx="231">
                  <c:v>97.627237219873393</c:v>
                </c:pt>
                <c:pt idx="232">
                  <c:v>97.758315715754989</c:v>
                </c:pt>
                <c:pt idx="233">
                  <c:v>97.882894260449646</c:v>
                </c:pt>
                <c:pt idx="234">
                  <c:v>98.001244807477178</c:v>
                </c:pt>
                <c:pt idx="235">
                  <c:v>98.113631289717389</c:v>
                </c:pt>
                <c:pt idx="236">
                  <c:v>98.220309626697585</c:v>
                </c:pt>
                <c:pt idx="237">
                  <c:v>98.321527751243977</c:v>
                </c:pt>
                <c:pt idx="238">
                  <c:v>98.417525654047608</c:v>
                </c:pt>
                <c:pt idx="239">
                  <c:v>98.508535444737731</c:v>
                </c:pt>
                <c:pt idx="240">
                  <c:v>98.594781428100873</c:v>
                </c:pt>
                <c:pt idx="241">
                  <c:v>98.676480194130178</c:v>
                </c:pt>
                <c:pt idx="242">
                  <c:v>98.753840720639872</c:v>
                </c:pt>
                <c:pt idx="243">
                  <c:v>98.827064487229009</c:v>
                </c:pt>
                <c:pt idx="244">
                  <c:v>98.896345599431228</c:v>
                </c:pt>
                <c:pt idx="245">
                  <c:v>98.961870921938612</c:v>
                </c:pt>
                <c:pt idx="246">
                  <c:v>99.02382021984161</c:v>
                </c:pt>
                <c:pt idx="247">
                  <c:v>99.08236630687864</c:v>
                </c:pt>
                <c:pt idx="248">
                  <c:v>99.13767519974283</c:v>
                </c:pt>
                <c:pt idx="249">
                  <c:v>99.189906277545091</c:v>
                </c:pt>
                <c:pt idx="250">
                  <c:v>99.239212445584911</c:v>
                </c:pt>
                <c:pt idx="251">
                  <c:v>99.285740302631169</c:v>
                </c:pt>
                <c:pt idx="252">
                  <c:v>99.32963031096557</c:v>
                </c:pt>
                <c:pt idx="253">
                  <c:v>99.371016968490196</c:v>
                </c:pt>
                <c:pt idx="254">
                  <c:v>99.410028982248576</c:v>
                </c:pt>
                <c:pt idx="255">
                  <c:v>99.446789442756327</c:v>
                </c:pt>
                <c:pt idx="256">
                  <c:v>99.481415998582122</c:v>
                </c:pt>
                <c:pt idx="257">
                  <c:v>99.514021030663841</c:v>
                </c:pt>
                <c:pt idx="258">
                  <c:v>99.544711825886182</c:v>
                </c:pt>
                <c:pt idx="259">
                  <c:v>99.573590749486556</c:v>
                </c:pt>
                <c:pt idx="260">
                  <c:v>99.600755415895321</c:v>
                </c:pt>
                <c:pt idx="261">
                  <c:v>99.626298857652102</c:v>
                </c:pt>
                <c:pt idx="262">
                  <c:v>99.650309692076604</c:v>
                </c:pt>
                <c:pt idx="263">
                  <c:v>99.672872285405049</c:v>
                </c:pt>
                <c:pt idx="264">
                  <c:v>99.694066914135348</c:v>
                </c:pt>
                <c:pt idx="265">
                  <c:v>99.713969923354213</c:v>
                </c:pt>
                <c:pt idx="266">
                  <c:v>99.732653881848137</c:v>
                </c:pt>
                <c:pt idx="267">
                  <c:v>99.750187733826536</c:v>
                </c:pt>
                <c:pt idx="268">
                  <c:v>99.766636947110626</c:v>
                </c:pt>
                <c:pt idx="269">
                  <c:v>99.782063657665304</c:v>
                </c:pt>
                <c:pt idx="270">
                  <c:v>99.796526810372981</c:v>
                </c:pt>
                <c:pt idx="271">
                  <c:v>99.810082295969224</c:v>
                </c:pt>
                <c:pt idx="272">
                  <c:v>99.822783084078452</c:v>
                </c:pt>
                <c:pt idx="273">
                  <c:v>99.834679352306225</c:v>
                </c:pt>
                <c:pt idx="274">
                  <c:v>99.845818611360201</c:v>
                </c:pt>
                <c:pt idx="275">
                  <c:v>99.856245826187632</c:v>
                </c:pt>
                <c:pt idx="276">
                  <c:v>99.866003533129742</c:v>
                </c:pt>
                <c:pt idx="277">
                  <c:v>99.875131953107186</c:v>
                </c:pt>
                <c:pt idx="278">
                  <c:v>99.883669100860928</c:v>
                </c:pt>
                <c:pt idx="279">
                  <c:v>99.891650890283941</c:v>
                </c:pt>
                <c:pt idx="280">
                  <c:v>99.899111235887872</c:v>
                </c:pt>
                <c:pt idx="281">
                  <c:v>99.906082150457422</c:v>
                </c:pt>
                <c:pt idx="282">
                  <c:v>99.912593838952162</c:v>
                </c:pt>
                <c:pt idx="283">
                  <c:v>99.918674788722413</c:v>
                </c:pt>
                <c:pt idx="284">
                  <c:v>99.924351856110974</c:v>
                </c:pt>
                <c:pt idx="285">
                  <c:v>99.929650349517857</c:v>
                </c:pt>
                <c:pt idx="286">
                  <c:v>99.934594109009069</c:v>
                </c:pt>
                <c:pt idx="287">
                  <c:v>99.939205582554152</c:v>
                </c:pt>
                <c:pt idx="288">
                  <c:v>99.943505898980007</c:v>
                </c:pt>
                <c:pt idx="289">
                  <c:v>99.947514937731015</c:v>
                </c:pt>
                <c:pt idx="290">
                  <c:v>99.951251395527123</c:v>
                </c:pt>
                <c:pt idx="291">
                  <c:v>99.954732850013059</c:v>
                </c:pt>
                <c:pt idx="292">
                  <c:v>99.957975820492635</c:v>
                </c:pt>
                <c:pt idx="293">
                  <c:v>99.960995825842446</c:v>
                </c:pt>
                <c:pt idx="294">
                  <c:v>99.963807439699863</c:v>
                </c:pt>
                <c:pt idx="295">
                  <c:v>99.966424343019412</c:v>
                </c:pt>
                <c:pt idx="296">
                  <c:v>99.968859374091338</c:v>
                </c:pt>
                <c:pt idx="297">
                  <c:v>99.971124576115685</c:v>
                </c:pt>
                <c:pt idx="298">
                  <c:v>99.973231242423537</c:v>
                </c:pt>
                <c:pt idx="299">
                  <c:v>99.975189959436321</c:v>
                </c:pt>
                <c:pt idx="300">
                  <c:v>99.977010647452417</c:v>
                </c:pt>
                <c:pt idx="301">
                  <c:v>99.978702599348736</c:v>
                </c:pt>
                <c:pt idx="302">
                  <c:v>99.980274517283064</c:v>
                </c:pt>
                <c:pt idx="303">
                  <c:v>99.98173454748131</c:v>
                </c:pt>
                <c:pt idx="304">
                  <c:v>99.983090313191454</c:v>
                </c:pt>
                <c:pt idx="305">
                  <c:v>99.984348945884278</c:v>
                </c:pt>
                <c:pt idx="306">
                  <c:v>99.985517114778517</c:v>
                </c:pt>
                <c:pt idx="307">
                  <c:v>99.986601054765998</c:v>
                </c:pt>
                <c:pt idx="308">
                  <c:v>99.987606592809954</c:v>
                </c:pt>
                <c:pt idx="309">
                  <c:v>99.988539172887585</c:v>
                </c:pt>
                <c:pt idx="310">
                  <c:v>99.989403879545506</c:v>
                </c:pt>
                <c:pt idx="311">
                  <c:v>99.990205460134291</c:v>
                </c:pt>
                <c:pt idx="312">
                  <c:v>99.990948345786407</c:v>
                </c:pt>
                <c:pt idx="313">
                  <c:v>99.99163667119889</c:v>
                </c:pt>
                <c:pt idx="314">
                  <c:v>99.992274293280545</c:v>
                </c:pt>
                <c:pt idx="315">
                  <c:v>99.992864808720583</c:v>
                </c:pt>
                <c:pt idx="316">
                  <c:v>99.993411570533624</c:v>
                </c:pt>
                <c:pt idx="317">
                  <c:v>99.99391770363394</c:v>
                </c:pt>
                <c:pt idx="318">
                  <c:v>99.994386119489292</c:v>
                </c:pt>
                <c:pt idx="319">
                  <c:v>99.994819529902884</c:v>
                </c:pt>
                <c:pt idx="320">
                  <c:v>99.995220459969687</c:v>
                </c:pt>
                <c:pt idx="321">
                  <c:v>99.9955912602517</c:v>
                </c:pt>
                <c:pt idx="322">
                  <c:v>99.995934118214137</c:v>
                </c:pt>
                <c:pt idx="323">
                  <c:v>99.996251068963247</c:v>
                </c:pt>
                <c:pt idx="324">
                  <c:v>99.996544005324324</c:v>
                </c:pt>
                <c:pt idx="325">
                  <c:v>99.996814687296478</c:v>
                </c:pt>
                <c:pt idx="326">
                  <c:v>99.997064750919407</c:v>
                </c:pt>
                <c:pt idx="327">
                  <c:v>99.997295716585484</c:v>
                </c:pt>
                <c:pt idx="328">
                  <c:v>99.997508996828671</c:v>
                </c:pt>
                <c:pt idx="329">
                  <c:v>99.997705903620627</c:v>
                </c:pt>
                <c:pt idx="330">
                  <c:v>99.997887655202462</c:v>
                </c:pt>
                <c:pt idx="331">
                  <c:v>99.998055382479478</c:v>
                </c:pt>
                <c:pt idx="332">
                  <c:v>99.998210135004499</c:v>
                </c:pt>
                <c:pt idx="333">
                  <c:v>99.998352886574239</c:v>
                </c:pt>
                <c:pt idx="334">
                  <c:v>99.998484540462002</c:v>
                </c:pt>
                <c:pt idx="335">
                  <c:v>99.998605934308387</c:v>
                </c:pt>
                <c:pt idx="336">
                  <c:v>99.998717844691058</c:v>
                </c:pt>
                <c:pt idx="337">
                  <c:v>99.998820991392677</c:v>
                </c:pt>
                <c:pt idx="338">
                  <c:v>99.998916041386167</c:v>
                </c:pt>
                <c:pt idx="339">
                  <c:v>99.999003612554191</c:v>
                </c:pt>
                <c:pt idx="340">
                  <c:v>99.999084277159881</c:v>
                </c:pt>
                <c:pt idx="341">
                  <c:v>99.99915856508396</c:v>
                </c:pt>
                <c:pt idx="342">
                  <c:v>99.999226966843395</c:v>
                </c:pt>
                <c:pt idx="343">
                  <c:v>99.999289936405006</c:v>
                </c:pt>
                <c:pt idx="344">
                  <c:v>99.999347893807453</c:v>
                </c:pt>
                <c:pt idx="345">
                  <c:v>99.999401227603698</c:v>
                </c:pt>
                <c:pt idx="346">
                  <c:v>99.999450297135468</c:v>
                </c:pt>
                <c:pt idx="347">
                  <c:v>99.999495434650782</c:v>
                </c:pt>
                <c:pt idx="348">
                  <c:v>99.999536947274663</c:v>
                </c:pt>
                <c:pt idx="349">
                  <c:v>99.9995751188426</c:v>
                </c:pt>
                <c:pt idx="350">
                  <c:v>99.999610211605912</c:v>
                </c:pt>
                <c:pt idx="351">
                  <c:v>99.999642467817424</c:v>
                </c:pt>
                <c:pt idx="352">
                  <c:v>99.999672111205385</c:v>
                </c:pt>
                <c:pt idx="353">
                  <c:v>99.999699348343242</c:v>
                </c:pt>
                <c:pt idx="354">
                  <c:v>99.999724369922021</c:v>
                </c:pt>
                <c:pt idx="355">
                  <c:v>99.999747351932143</c:v>
                </c:pt>
                <c:pt idx="356">
                  <c:v>99.999768456760691</c:v>
                </c:pt>
                <c:pt idx="357">
                  <c:v>99.999787834209826</c:v>
                </c:pt>
                <c:pt idx="358">
                  <c:v>99.999805622441812</c:v>
                </c:pt>
                <c:pt idx="359">
                  <c:v>99.999821948855868</c:v>
                </c:pt>
                <c:pt idx="360">
                  <c:v>99.999836930901168</c:v>
                </c:pt>
                <c:pt idx="361">
                  <c:v>99.999850676830732</c:v>
                </c:pt>
                <c:pt idx="362">
                  <c:v>99.999863286400227</c:v>
                </c:pt>
                <c:pt idx="363">
                  <c:v>99.999874851515528</c:v>
                </c:pt>
                <c:pt idx="364">
                  <c:v>99.999885456832644</c:v>
                </c:pt>
                <c:pt idx="365">
                  <c:v>99.999895180313203</c:v>
                </c:pt>
                <c:pt idx="366">
                  <c:v>99.999904093739076</c:v>
                </c:pt>
                <c:pt idx="367">
                  <c:v>99.999912263188534</c:v>
                </c:pt>
                <c:pt idx="368">
                  <c:v>99.999919749476987</c:v>
                </c:pt>
                <c:pt idx="369">
                  <c:v>99.999926608564763</c:v>
                </c:pt>
                <c:pt idx="370">
                  <c:v>99.999932891934307</c:v>
                </c:pt>
                <c:pt idx="371">
                  <c:v>99.999938646939</c:v>
                </c:pt>
                <c:pt idx="372">
                  <c:v>99.999943917125577</c:v>
                </c:pt>
                <c:pt idx="373">
                  <c:v>99.999948742532268</c:v>
                </c:pt>
                <c:pt idx="374">
                  <c:v>99.999953159964164</c:v>
                </c:pt>
                <c:pt idx="375">
                  <c:v>99.999957203247703</c:v>
                </c:pt>
                <c:pt idx="376">
                  <c:v>99.999960903465691</c:v>
                </c:pt>
                <c:pt idx="377">
                  <c:v>99.999964289174301</c:v>
                </c:pt>
                <c:pt idx="378">
                  <c:v>99.99996738660343</c:v>
                </c:pt>
                <c:pt idx="379">
                  <c:v>99.999970219841586</c:v>
                </c:pt>
                <c:pt idx="380">
                  <c:v>99.999972811006515</c:v>
                </c:pt>
                <c:pt idx="381">
                  <c:v>99.999975180402657</c:v>
                </c:pt>
                <c:pt idx="382">
                  <c:v>99.999977346666256</c:v>
                </c:pt>
                <c:pt idx="383">
                  <c:v>99.999979326899251</c:v>
                </c:pt>
                <c:pt idx="384">
                  <c:v>99.999981136792684</c:v>
                </c:pt>
                <c:pt idx="385">
                  <c:v>99.999982790740503</c:v>
                </c:pt>
                <c:pt idx="386">
                  <c:v>99.999984301944281</c:v>
                </c:pt>
                <c:pt idx="387">
                  <c:v>99.999985682509859</c:v>
                </c:pt>
                <c:pt idx="388">
                  <c:v>99.999986943536285</c:v>
                </c:pt>
                <c:pt idx="389">
                  <c:v>99.999988095197665</c:v>
                </c:pt>
                <c:pt idx="390">
                  <c:v>99.999989146818649</c:v>
                </c:pt>
                <c:pt idx="391">
                  <c:v>99.99999010694377</c:v>
                </c:pt>
                <c:pt idx="392">
                  <c:v>99.999990983401389</c:v>
                </c:pt>
                <c:pt idx="393">
                  <c:v>99.999991783362418</c:v>
                </c:pt>
                <c:pt idx="394">
                  <c:v>99.999992513394432</c:v>
                </c:pt>
                <c:pt idx="395">
                  <c:v>99.999993179511364</c:v>
                </c:pt>
                <c:pt idx="396">
                  <c:v>99.999993787219211</c:v>
                </c:pt>
                <c:pt idx="397">
                  <c:v>99.999994341558121</c:v>
                </c:pt>
                <c:pt idx="398">
                  <c:v>99.999994847140968</c:v>
                </c:pt>
                <c:pt idx="399">
                  <c:v>99.999995308188929</c:v>
                </c:pt>
                <c:pt idx="400">
                  <c:v>99.999995728563988</c:v>
                </c:pt>
              </c:numCache>
            </c:numRef>
          </c:yVal>
          <c:smooth val="0"/>
          <c:extLst>
            <c:ext xmlns:c16="http://schemas.microsoft.com/office/drawing/2014/chart" uri="{C3380CC4-5D6E-409C-BE32-E72D297353CC}">
              <c16:uniqueId val="{00000000-6C55-442D-8CC0-6E06055C17CA}"/>
            </c:ext>
          </c:extLst>
        </c:ser>
        <c:ser>
          <c:idx val="1"/>
          <c:order val="1"/>
          <c:tx>
            <c:strRef>
              <c:f>Sheet1!$B$404</c:f>
              <c:strCache>
                <c:ptCount val="1"/>
                <c:pt idx="0">
                  <c:v>3 per maand, alle zes</c:v>
                </c:pt>
              </c:strCache>
            </c:strRef>
          </c:tx>
          <c:spPr>
            <a:ln w="19050">
              <a:solidFill>
                <a:srgbClr val="1D8DB0"/>
              </a:solidFill>
              <a:prstDash val="dash"/>
            </a:ln>
          </c:spPr>
          <c:marker>
            <c:symbol val="none"/>
          </c:marker>
          <c:xVal>
            <c:numRef>
              <c:f>Sheet1!$A$405:$A$805</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Sheet1!$B$405:$B$805</c:f>
              <c:numCache>
                <c:formatCode>General</c:formatCode>
                <c:ptCount val="401"/>
                <c:pt idx="0">
                  <c:v>0</c:v>
                </c:pt>
                <c:pt idx="1">
                  <c:v>0</c:v>
                </c:pt>
                <c:pt idx="2">
                  <c:v>0</c:v>
                </c:pt>
                <c:pt idx="3">
                  <c:v>0</c:v>
                </c:pt>
                <c:pt idx="4">
                  <c:v>0</c:v>
                </c:pt>
                <c:pt idx="5">
                  <c:v>0</c:v>
                </c:pt>
                <c:pt idx="6">
                  <c:v>0</c:v>
                </c:pt>
                <c:pt idx="7">
                  <c:v>0</c:v>
                </c:pt>
                <c:pt idx="8">
                  <c:v>0</c:v>
                </c:pt>
                <c:pt idx="9">
                  <c:v>1.1985091468012028E-92</c:v>
                </c:pt>
                <c:pt idx="10">
                  <c:v>0</c:v>
                </c:pt>
                <c:pt idx="11">
                  <c:v>1.1985091468012028E-92</c:v>
                </c:pt>
                <c:pt idx="12">
                  <c:v>1.1985091468012028E-92</c:v>
                </c:pt>
                <c:pt idx="13">
                  <c:v>0</c:v>
                </c:pt>
                <c:pt idx="14">
                  <c:v>0</c:v>
                </c:pt>
                <c:pt idx="15">
                  <c:v>0</c:v>
                </c:pt>
                <c:pt idx="16">
                  <c:v>1.1985091468012028E-92</c:v>
                </c:pt>
                <c:pt idx="17">
                  <c:v>2.2031781658127298E-89</c:v>
                </c:pt>
                <c:pt idx="18">
                  <c:v>3.5787291362020427E-86</c:v>
                </c:pt>
                <c:pt idx="19">
                  <c:v>4.2172465828081654E-83</c:v>
                </c:pt>
                <c:pt idx="20">
                  <c:v>2.7722244847085556E-80</c:v>
                </c:pt>
                <c:pt idx="21">
                  <c:v>1.4254346456700096E-77</c:v>
                </c:pt>
                <c:pt idx="22">
                  <c:v>4.8150448398675127E-75</c:v>
                </c:pt>
                <c:pt idx="23">
                  <c:v>1.2172053701583038E-72</c:v>
                </c:pt>
                <c:pt idx="24">
                  <c:v>2.3613352688400177E-70</c:v>
                </c:pt>
                <c:pt idx="25">
                  <c:v>3.5733643964381614E-68</c:v>
                </c:pt>
                <c:pt idx="26">
                  <c:v>4.2970146202182299E-66</c:v>
                </c:pt>
                <c:pt idx="27">
                  <c:v>4.1760102766064862E-64</c:v>
                </c:pt>
                <c:pt idx="28">
                  <c:v>3.3322072392451988E-62</c:v>
                </c:pt>
                <c:pt idx="29">
                  <c:v>2.2129128002990937E-60</c:v>
                </c:pt>
                <c:pt idx="30">
                  <c:v>1.238412612670638E-58</c:v>
                </c:pt>
                <c:pt idx="31">
                  <c:v>5.9073250285170923E-57</c:v>
                </c:pt>
                <c:pt idx="32">
                  <c:v>2.4260980350628877E-55</c:v>
                </c:pt>
                <c:pt idx="33">
                  <c:v>8.658748425253087E-54</c:v>
                </c:pt>
                <c:pt idx="34">
                  <c:v>2.7081283852224268E-52</c:v>
                </c:pt>
                <c:pt idx="35">
                  <c:v>7.4797501105407208E-51</c:v>
                </c:pt>
                <c:pt idx="36">
                  <c:v>1.8372133422299007E-49</c:v>
                </c:pt>
                <c:pt idx="37">
                  <c:v>4.0391235411014071E-48</c:v>
                </c:pt>
                <c:pt idx="38">
                  <c:v>7.9955027863229572E-47</c:v>
                </c:pt>
                <c:pt idx="39">
                  <c:v>1.4328880623906331E-45</c:v>
                </c:pt>
                <c:pt idx="40">
                  <c:v>2.3365848220277212E-44</c:v>
                </c:pt>
                <c:pt idx="41">
                  <c:v>3.4832674206080663E-43</c:v>
                </c:pt>
                <c:pt idx="42">
                  <c:v>4.7677597424333998E-42</c:v>
                </c:pt>
                <c:pt idx="43">
                  <c:v>6.0161300335422612E-41</c:v>
                </c:pt>
                <c:pt idx="44">
                  <c:v>7.0247008440580876E-40</c:v>
                </c:pt>
                <c:pt idx="45">
                  <c:v>7.6167297007026387E-39</c:v>
                </c:pt>
                <c:pt idx="46">
                  <c:v>7.6941671078923263E-38</c:v>
                </c:pt>
                <c:pt idx="47">
                  <c:v>7.2633595565962557E-37</c:v>
                </c:pt>
                <c:pt idx="48">
                  <c:v>6.4260332919763156E-36</c:v>
                </c:pt>
                <c:pt idx="49">
                  <c:v>5.342537317553466E-35</c:v>
                </c:pt>
                <c:pt idx="50">
                  <c:v>4.1845639335301446E-34</c:v>
                </c:pt>
                <c:pt idx="51">
                  <c:v>3.0951709777762068E-33</c:v>
                </c:pt>
                <c:pt idx="52">
                  <c:v>2.166828457275942E-32</c:v>
                </c:pt>
                <c:pt idx="53">
                  <c:v>1.4387588973548732E-31</c:v>
                </c:pt>
                <c:pt idx="54">
                  <c:v>9.0790814724308521E-31</c:v>
                </c:pt>
                <c:pt idx="55">
                  <c:v>5.4551340159212184E-30</c:v>
                </c:pt>
                <c:pt idx="56">
                  <c:v>3.1264653947493409E-29</c:v>
                </c:pt>
                <c:pt idx="57">
                  <c:v>1.71206627713079E-28</c:v>
                </c:pt>
                <c:pt idx="58">
                  <c:v>8.9722663486389361E-28</c:v>
                </c:pt>
                <c:pt idx="59">
                  <c:v>4.506700755015146E-27</c:v>
                </c:pt>
                <c:pt idx="60">
                  <c:v>2.1727884956637314E-26</c:v>
                </c:pt>
                <c:pt idx="61">
                  <c:v>1.0068727266401712E-25</c:v>
                </c:pt>
                <c:pt idx="62">
                  <c:v>4.4905276620661625E-25</c:v>
                </c:pt>
                <c:pt idx="63">
                  <c:v>1.9298610609037678E-24</c:v>
                </c:pt>
                <c:pt idx="64">
                  <c:v>8.0015734038340773E-24</c:v>
                </c:pt>
                <c:pt idx="65">
                  <c:v>3.2043241275797502E-23</c:v>
                </c:pt>
                <c:pt idx="66">
                  <c:v>1.2407316181160317E-22</c:v>
                </c:pt>
                <c:pt idx="67">
                  <c:v>4.6499393931652156E-22</c:v>
                </c:pt>
                <c:pt idx="68">
                  <c:v>1.6883896712949263E-21</c:v>
                </c:pt>
                <c:pt idx="69">
                  <c:v>5.9451574011166215E-21</c:v>
                </c:pt>
                <c:pt idx="70">
                  <c:v>2.0319410665707816E-20</c:v>
                </c:pt>
                <c:pt idx="71">
                  <c:v>6.7466971838463326E-20</c:v>
                </c:pt>
                <c:pt idx="72">
                  <c:v>2.1780275632337306E-19</c:v>
                </c:pt>
                <c:pt idx="73">
                  <c:v>6.841833791344309E-19</c:v>
                </c:pt>
                <c:pt idx="74">
                  <c:v>2.0929058207139843E-18</c:v>
                </c:pt>
                <c:pt idx="75">
                  <c:v>6.2389674046294284E-18</c:v>
                </c:pt>
                <c:pt idx="76">
                  <c:v>1.8137063915573395E-17</c:v>
                </c:pt>
                <c:pt idx="77">
                  <c:v>5.1452447411422359E-17</c:v>
                </c:pt>
                <c:pt idx="78">
                  <c:v>1.4253194879403707E-16</c:v>
                </c:pt>
                <c:pt idx="79">
                  <c:v>3.8579558432248532E-16</c:v>
                </c:pt>
                <c:pt idx="80">
                  <c:v>1.0209459328037421E-15</c:v>
                </c:pt>
                <c:pt idx="81">
                  <c:v>2.6430216686388452E-15</c:v>
                </c:pt>
                <c:pt idx="82">
                  <c:v>6.6972129140826298E-15</c:v>
                </c:pt>
                <c:pt idx="83">
                  <c:v>1.661946856402469E-14</c:v>
                </c:pt>
                <c:pt idx="84">
                  <c:v>4.0410645982663158E-14</c:v>
                </c:pt>
                <c:pt idx="85">
                  <c:v>9.6327041023186541E-14</c:v>
                </c:pt>
                <c:pt idx="86">
                  <c:v>2.2520864533235391E-13</c:v>
                </c:pt>
                <c:pt idx="87">
                  <c:v>5.1666591985836742E-13</c:v>
                </c:pt>
                <c:pt idx="88">
                  <c:v>1.1636414739258241E-12</c:v>
                </c:pt>
                <c:pt idx="89">
                  <c:v>2.5739694554277922E-12</c:v>
                </c:pt>
                <c:pt idx="90">
                  <c:v>5.5943084294689048E-12</c:v>
                </c:pt>
                <c:pt idx="91">
                  <c:v>1.1951607384473617E-11</c:v>
                </c:pt>
                <c:pt idx="92">
                  <c:v>2.510819732847126E-11</c:v>
                </c:pt>
                <c:pt idx="93">
                  <c:v>5.1889686519966445E-11</c:v>
                </c:pt>
                <c:pt idx="94">
                  <c:v>1.0553212277919751E-10</c:v>
                </c:pt>
                <c:pt idx="95">
                  <c:v>2.112921057528971E-10</c:v>
                </c:pt>
                <c:pt idx="96">
                  <c:v>4.1660928922266784E-10</c:v>
                </c:pt>
                <c:pt idx="97">
                  <c:v>8.0922496362591612E-10</c:v>
                </c:pt>
                <c:pt idx="98">
                  <c:v>1.548985834487732E-9</c:v>
                </c:pt>
                <c:pt idx="99">
                  <c:v>2.9228229134141036E-9</c:v>
                </c:pt>
                <c:pt idx="100">
                  <c:v>5.4383789865192768E-9</c:v>
                </c:pt>
                <c:pt idx="101">
                  <c:v>9.9811257476660054E-9</c:v>
                </c:pt>
                <c:pt idx="102">
                  <c:v>1.8074245336253395E-8</c:v>
                </c:pt>
                <c:pt idx="103">
                  <c:v>3.2302442522460975E-8</c:v>
                </c:pt>
                <c:pt idx="104">
                  <c:v>5.6993542319343134E-8</c:v>
                </c:pt>
                <c:pt idx="105">
                  <c:v>9.9299789055414124E-8</c:v>
                </c:pt>
                <c:pt idx="106">
                  <c:v>1.708903493180778E-7</c:v>
                </c:pt>
                <c:pt idx="107">
                  <c:v>2.9056574645843823E-7</c:v>
                </c:pt>
                <c:pt idx="108">
                  <c:v>4.8824430773407596E-7</c:v>
                </c:pt>
                <c:pt idx="109">
                  <c:v>8.109634688887817E-7</c:v>
                </c:pt>
                <c:pt idx="110">
                  <c:v>1.3318014124956953E-6</c:v>
                </c:pt>
                <c:pt idx="111">
                  <c:v>2.1629769416393604E-6</c:v>
                </c:pt>
                <c:pt idx="112">
                  <c:v>3.4748512392105929E-6</c:v>
                </c:pt>
                <c:pt idx="113">
                  <c:v>5.5231612628820173E-6</c:v>
                </c:pt>
                <c:pt idx="114">
                  <c:v>8.6875910612755831E-6</c:v>
                </c:pt>
                <c:pt idx="115">
                  <c:v>1.3525766532080235E-5</c:v>
                </c:pt>
                <c:pt idx="116">
                  <c:v>2.0847974112363244E-5</c:v>
                </c:pt>
                <c:pt idx="117">
                  <c:v>3.1819386372622381E-5</c:v>
                </c:pt>
                <c:pt idx="118">
                  <c:v>4.8098355300533609E-5</c:v>
                </c:pt>
                <c:pt idx="119">
                  <c:v>7.2021427684779905E-5</c:v>
                </c:pt>
                <c:pt idx="120">
                  <c:v>1.0684815554451748E-4</c:v>
                </c:pt>
                <c:pt idx="121">
                  <c:v>1.5708151115637208E-4</c:v>
                </c:pt>
                <c:pt idx="122">
                  <c:v>2.2888274323590326E-4</c:v>
                </c:pt>
                <c:pt idx="123">
                  <c:v>3.3060277477634425E-4</c:v>
                </c:pt>
                <c:pt idx="124">
                  <c:v>4.7345566008349032E-4</c:v>
                </c:pt>
                <c:pt idx="125">
                  <c:v>6.7236307055933457E-4</c:v>
                </c:pt>
                <c:pt idx="126">
                  <c:v>9.4700211082792763E-4</c:v>
                </c:pt>
                <c:pt idx="127">
                  <c:v>1.3230917863129704E-3</c:v>
                </c:pt>
                <c:pt idx="128">
                  <c:v>1.8339559216775001E-3</c:v>
                </c:pt>
                <c:pt idx="129">
                  <c:v>2.5224020061287602E-3</c:v>
                </c:pt>
                <c:pt idx="130">
                  <c:v>3.4429560314678084E-3</c:v>
                </c:pt>
                <c:pt idx="131">
                  <c:v>4.6644925929847456E-3</c:v>
                </c:pt>
                <c:pt idx="132">
                  <c:v>6.2732970428163413E-3</c:v>
                </c:pt>
                <c:pt idx="133">
                  <c:v>8.3765920374936093E-3</c:v>
                </c:pt>
                <c:pt idx="134">
                  <c:v>1.1106554158974559E-2</c:v>
                </c:pt>
                <c:pt idx="135">
                  <c:v>1.46248372200539E-2</c:v>
                </c:pt>
                <c:pt idx="136">
                  <c:v>1.9127607275664E-2</c:v>
                </c:pt>
                <c:pt idx="137">
                  <c:v>2.4851080233046191E-2</c:v>
                </c:pt>
                <c:pt idx="138">
                  <c:v>3.2077536381390562E-2</c:v>
                </c:pt>
                <c:pt idx="139">
                  <c:v>4.1141767368290408E-2</c:v>
                </c:pt>
                <c:pt idx="140">
                  <c:v>5.2437890496270054E-2</c:v>
                </c:pt>
                <c:pt idx="141">
                  <c:v>6.6426443194219656E-2</c:v>
                </c:pt>
                <c:pt idx="142">
                  <c:v>8.3641647768106051E-2</c:v>
                </c:pt>
                <c:pt idx="143">
                  <c:v>0.10469871380235549</c:v>
                </c:pt>
                <c:pt idx="144">
                  <c:v>0.13030102371866487</c:v>
                </c:pt>
                <c:pt idx="145">
                  <c:v>0.16124702692269349</c:v>
                </c:pt>
                <c:pt idx="146">
                  <c:v>0.19843665063592505</c:v>
                </c:pt>
                <c:pt idx="147">
                  <c:v>0.24287702187080268</c:v>
                </c:pt>
                <c:pt idx="148">
                  <c:v>0.29568728596112098</c:v>
                </c:pt>
                <c:pt idx="149">
                  <c:v>0.35810230341257471</c:v>
                </c:pt>
                <c:pt idx="150">
                  <c:v>0.43147500925914017</c:v>
                </c:pt>
                <c:pt idx="151">
                  <c:v>0.517277228083592</c:v>
                </c:pt>
                <c:pt idx="152">
                  <c:v>0.61709875366583644</c:v>
                </c:pt>
                <c:pt idx="153">
                  <c:v>0.73264452489121024</c:v>
                </c:pt>
                <c:pt idx="154">
                  <c:v>0.8657297588668702</c:v>
                </c:pt>
                <c:pt idx="155">
                  <c:v>1.0182729376775361</c:v>
                </c:pt>
                <c:pt idx="156">
                  <c:v>1.1922865861284513</c:v>
                </c:pt>
                <c:pt idx="157">
                  <c:v>1.389865823205217</c:v>
                </c:pt>
                <c:pt idx="158">
                  <c:v>1.6131747186627965</c:v>
                </c:pt>
                <c:pt idx="159">
                  <c:v>1.8644305367854066</c:v>
                </c:pt>
                <c:pt idx="160">
                  <c:v>2.1458860005076801</c:v>
                </c:pt>
                <c:pt idx="161">
                  <c:v>2.4598097592103092</c:v>
                </c:pt>
                <c:pt idx="162">
                  <c:v>2.8084652911023729</c:v>
                </c:pt>
                <c:pt idx="163">
                  <c:v>3.1940885146941294</c:v>
                </c:pt>
                <c:pt idx="164">
                  <c:v>3.6188644220883734</c:v>
                </c:pt>
                <c:pt idx="165">
                  <c:v>4.0849030784813634</c:v>
                </c:pt>
                <c:pt idx="166">
                  <c:v>4.5942153563522599</c:v>
                </c:pt>
                <c:pt idx="167">
                  <c:v>5.1486887885855825</c:v>
                </c:pt>
                <c:pt idx="168">
                  <c:v>5.7500639317156281</c:v>
                </c:pt>
                <c:pt idx="169">
                  <c:v>6.3999116283771365</c:v>
                </c:pt>
                <c:pt idx="170">
                  <c:v>7.0996115469770169</c:v>
                </c:pt>
                <c:pt idx="171">
                  <c:v>7.8503323568874972</c:v>
                </c:pt>
                <c:pt idx="172">
                  <c:v>8.6530138697033028</c:v>
                </c:pt>
                <c:pt idx="173">
                  <c:v>9.5083514421289941</c:v>
                </c:pt>
                <c:pt idx="174">
                  <c:v>10.416782894876439</c:v>
                </c:pt>
                <c:pt idx="175">
                  <c:v>11.378478155726626</c:v>
                </c:pt>
                <c:pt idx="176">
                  <c:v>12.393331784926552</c:v>
                </c:pt>
                <c:pt idx="177">
                  <c:v>13.46095848867868</c:v>
                </c:pt>
                <c:pt idx="178">
                  <c:v>14.580691673010621</c:v>
                </c:pt>
                <c:pt idx="179">
                  <c:v>15.751585037093118</c:v>
                </c:pt>
                <c:pt idx="180">
                  <c:v>16.972417153396993</c:v>
                </c:pt>
                <c:pt idx="181">
                  <c:v>18.241698933070605</c:v>
                </c:pt>
                <c:pt idx="182">
                  <c:v>19.557683829638428</c:v>
                </c:pt>
                <c:pt idx="183">
                  <c:v>20.918380593429983</c:v>
                </c:pt>
                <c:pt idx="184">
                  <c:v>22.321568353723322</c:v>
                </c:pt>
                <c:pt idx="185">
                  <c:v>23.764813776024248</c:v>
                </c:pt>
                <c:pt idx="186">
                  <c:v>25.245490018440698</c:v>
                </c:pt>
                <c:pt idx="187">
                  <c:v>26.760797194012177</c:v>
                </c:pt>
                <c:pt idx="188">
                  <c:v>28.307784035042115</c:v>
                </c:pt>
                <c:pt idx="189">
                  <c:v>29.883370450810549</c:v>
                </c:pt>
                <c:pt idx="190">
                  <c:v>31.484370671245625</c:v>
                </c:pt>
                <c:pt idx="191">
                  <c:v>33.10751667571305</c:v>
                </c:pt>
                <c:pt idx="192">
                  <c:v>34.749481617613753</c:v>
                </c:pt>
                <c:pt idx="193">
                  <c:v>36.406902971282072</c:v>
                </c:pt>
                <c:pt idx="194">
                  <c:v>38.076405147172835</c:v>
                </c:pt>
                <c:pt idx="195">
                  <c:v>39.754621343802199</c:v>
                </c:pt>
                <c:pt idx="196">
                  <c:v>41.438214429698213</c:v>
                </c:pt>
                <c:pt idx="197">
                  <c:v>43.12389667504511</c:v>
                </c:pt>
                <c:pt idx="198">
                  <c:v>44.808448180121822</c:v>
                </c:pt>
                <c:pt idx="199">
                  <c:v>46.488733875424423</c:v>
                </c:pt>
                <c:pt idx="200">
                  <c:v>48.161718995985147</c:v>
                </c:pt>
                <c:pt idx="201">
                  <c:v>49.82448295933461</c:v>
                </c:pt>
                <c:pt idx="202">
                  <c:v>51.474231602371212</c:v>
                </c:pt>
                <c:pt idx="203">
                  <c:v>53.108307756761434</c:v>
                </c:pt>
                <c:pt idx="204">
                  <c:v>54.724200165030233</c:v>
                </c:pt>
                <c:pt idx="205">
                  <c:v>56.319550760088113</c:v>
                </c:pt>
                <c:pt idx="206">
                  <c:v>57.89216034929472</c:v>
                </c:pt>
                <c:pt idx="207">
                  <c:v>59.439992760291915</c:v>
                </c:pt>
                <c:pt idx="208">
                  <c:v>60.961177519605805</c:v>
                </c:pt>
                <c:pt idx="209">
                  <c:v>62.454011146507447</c:v>
                </c:pt>
                <c:pt idx="210">
                  <c:v>63.916957153823702</c:v>
                </c:pt>
                <c:pt idx="211">
                  <c:v>65.348644854416889</c:v>
                </c:pt>
                <c:pt idx="212">
                  <c:v>66.747867077039302</c:v>
                </c:pt>
                <c:pt idx="213">
                  <c:v>68.113576898315614</c:v>
                </c:pt>
                <c:pt idx="214">
                  <c:v>69.444883498920447</c:v>
                </c:pt>
                <c:pt idx="215">
                  <c:v>70.741047251756001</c:v>
                </c:pt>
                <c:pt idx="216">
                  <c:v>72.001474148256221</c:v>
                </c:pt>
                <c:pt idx="217">
                  <c:v>73.225709666089315</c:v>
                </c:pt>
                <c:pt idx="218">
                  <c:v>74.413432177615846</c:v>
                </c:pt>
                <c:pt idx="219">
                  <c:v>75.564445993721151</c:v>
                </c:pt>
                <c:pt idx="220">
                  <c:v>76.678674132209864</c:v>
                </c:pt>
                <c:pt idx="221">
                  <c:v>77.756150894010531</c:v>
                </c:pt>
                <c:pt idx="222">
                  <c:v>78.797014324120212</c:v>
                </c:pt>
                <c:pt idx="223">
                  <c:v>79.801498627680019</c:v>
                </c:pt>
                <c:pt idx="224">
                  <c:v>80.769926604900007</c:v>
                </c:pt>
                <c:pt idx="225">
                  <c:v>81.702702161903403</c:v>
                </c:pt>
                <c:pt idx="226">
                  <c:v>82.600302947964863</c:v>
                </c:pt>
                <c:pt idx="227">
                  <c:v>83.463273163222482</c:v>
                </c:pt>
                <c:pt idx="228">
                  <c:v>84.292216574752217</c:v>
                </c:pt>
                <c:pt idx="229">
                  <c:v>85.087789773013711</c:v>
                </c:pt>
                <c:pt idx="230">
                  <c:v>85.850695695101024</c:v>
                </c:pt>
                <c:pt idx="231">
                  <c:v>86.581677436041559</c:v>
                </c:pt>
                <c:pt idx="232">
                  <c:v>87.281512364544895</c:v>
                </c:pt>
                <c:pt idx="233">
                  <c:v>87.951006555189764</c:v>
                </c:pt>
                <c:pt idx="234">
                  <c:v>88.590989544991189</c:v>
                </c:pt>
                <c:pt idx="235">
                  <c:v>89.202309418659311</c:v>
                </c:pt>
                <c:pt idx="236">
                  <c:v>89.785828223615653</c:v>
                </c:pt>
                <c:pt idx="237">
                  <c:v>90.342417712961677</c:v>
                </c:pt>
                <c:pt idx="238">
                  <c:v>90.872955412093319</c:v>
                </c:pt>
                <c:pt idx="239">
                  <c:v>91.37832100249193</c:v>
                </c:pt>
                <c:pt idx="240">
                  <c:v>91.859393014393532</c:v>
                </c:pt>
                <c:pt idx="241">
                  <c:v>92.317045818499494</c:v>
                </c:pt>
                <c:pt idx="242">
                  <c:v>92.752146905649596</c:v>
                </c:pt>
                <c:pt idx="243">
                  <c:v>93.165554442377669</c:v>
                </c:pt>
                <c:pt idx="244">
                  <c:v>93.558115089517443</c:v>
                </c:pt>
                <c:pt idx="245">
                  <c:v>93.93066207047211</c:v>
                </c:pt>
                <c:pt idx="246">
                  <c:v>94.284013475408415</c:v>
                </c:pt>
                <c:pt idx="247">
                  <c:v>94.618970787439309</c:v>
                </c:pt>
                <c:pt idx="248">
                  <c:v>94.936317616817732</c:v>
                </c:pt>
                <c:pt idx="249">
                  <c:v>95.23681862924677</c:v>
                </c:pt>
                <c:pt idx="250">
                  <c:v>95.521218654603516</c:v>
                </c:pt>
                <c:pt idx="251">
                  <c:v>95.790241962660232</c:v>
                </c:pt>
                <c:pt idx="252">
                  <c:v>96.044591692750814</c:v>
                </c:pt>
                <c:pt idx="253">
                  <c:v>96.284949424754856</c:v>
                </c:pt>
                <c:pt idx="254">
                  <c:v>96.511974879251568</c:v>
                </c:pt>
                <c:pt idx="255">
                  <c:v>96.726305735210744</c:v>
                </c:pt>
                <c:pt idx="256">
                  <c:v>96.928557554134414</c:v>
                </c:pt>
                <c:pt idx="257">
                  <c:v>97.119323800127788</c:v>
                </c:pt>
                <c:pt idx="258">
                  <c:v>97.299175945955653</c:v>
                </c:pt>
                <c:pt idx="259">
                  <c:v>97.468663655721684</c:v>
                </c:pt>
                <c:pt idx="260">
                  <c:v>97.628315035392248</c:v>
                </c:pt>
                <c:pt idx="261">
                  <c:v>97.778636942956581</c:v>
                </c:pt>
                <c:pt idx="262">
                  <c:v>97.920115350584823</c:v>
                </c:pt>
                <c:pt idx="263">
                  <c:v>98.053215751692932</c:v>
                </c:pt>
                <c:pt idx="264">
                  <c:v>98.178383606359105</c:v>
                </c:pt>
                <c:pt idx="265">
                  <c:v>98.296044819048873</c:v>
                </c:pt>
                <c:pt idx="266">
                  <c:v>98.406606243103894</c:v>
                </c:pt>
                <c:pt idx="267">
                  <c:v>98.510456206915748</c:v>
                </c:pt>
                <c:pt idx="268">
                  <c:v>98.607965057158893</c:v>
                </c:pt>
                <c:pt idx="269">
                  <c:v>98.699485714879543</c:v>
                </c:pt>
                <c:pt idx="270">
                  <c:v>98.785354240637588</c:v>
                </c:pt>
                <c:pt idx="271">
                  <c:v>98.86589040527808</c:v>
                </c:pt>
                <c:pt idx="272">
                  <c:v>98.941398263257938</c:v>
                </c:pt>
                <c:pt idx="273">
                  <c:v>99.012166725788035</c:v>
                </c:pt>
                <c:pt idx="274">
                  <c:v>99.078470131353697</c:v>
                </c:pt>
                <c:pt idx="275">
                  <c:v>99.140568811465684</c:v>
                </c:pt>
                <c:pt idx="276">
                  <c:v>99.198709649754321</c:v>
                </c:pt>
                <c:pt idx="277">
                  <c:v>99.253126632765756</c:v>
                </c:pt>
                <c:pt idx="278">
                  <c:v>99.304041391041793</c:v>
                </c:pt>
                <c:pt idx="279">
                  <c:v>99.351663729271309</c:v>
                </c:pt>
                <c:pt idx="280">
                  <c:v>99.396192144488055</c:v>
                </c:pt>
                <c:pt idx="281">
                  <c:v>99.437814331463997</c:v>
                </c:pt>
                <c:pt idx="282">
                  <c:v>99.476707674598856</c:v>
                </c:pt>
                <c:pt idx="283">
                  <c:v>99.513039725753089</c:v>
                </c:pt>
                <c:pt idx="284">
                  <c:v>99.546968667593546</c:v>
                </c:pt>
                <c:pt idx="285">
                  <c:v>99.578643762141695</c:v>
                </c:pt>
                <c:pt idx="286">
                  <c:v>99.608205784311565</c:v>
                </c:pt>
                <c:pt idx="287">
                  <c:v>99.63578744032101</c:v>
                </c:pt>
                <c:pt idx="288">
                  <c:v>99.661513770938996</c:v>
                </c:pt>
                <c:pt idx="289">
                  <c:v>99.685502539604769</c:v>
                </c:pt>
                <c:pt idx="290">
                  <c:v>99.707864605518168</c:v>
                </c:pt>
                <c:pt idx="291">
                  <c:v>99.728704281856352</c:v>
                </c:pt>
                <c:pt idx="292">
                  <c:v>99.748119679320041</c:v>
                </c:pt>
                <c:pt idx="293">
                  <c:v>99.766203035253554</c:v>
                </c:pt>
                <c:pt idx="294">
                  <c:v>99.783041028620744</c:v>
                </c:pt>
                <c:pt idx="295">
                  <c:v>99.798715081145446</c:v>
                </c:pt>
                <c:pt idx="296">
                  <c:v>99.813301644952872</c:v>
                </c:pt>
                <c:pt idx="297">
                  <c:v>99.82687247706815</c:v>
                </c:pt>
                <c:pt idx="298">
                  <c:v>99.839494901143112</c:v>
                </c:pt>
                <c:pt idx="299">
                  <c:v>99.851232056797443</c:v>
                </c:pt>
                <c:pt idx="300">
                  <c:v>99.862143136968029</c:v>
                </c:pt>
                <c:pt idx="301">
                  <c:v>99.872283613666539</c:v>
                </c:pt>
                <c:pt idx="302">
                  <c:v>99.881705452550747</c:v>
                </c:pt>
                <c:pt idx="303">
                  <c:v>99.890457316715228</c:v>
                </c:pt>
                <c:pt idx="304">
                  <c:v>99.898584760105877</c:v>
                </c:pt>
                <c:pt idx="305">
                  <c:v>99.906130410963144</c:v>
                </c:pt>
                <c:pt idx="306">
                  <c:v>99.913134145690748</c:v>
                </c:pt>
                <c:pt idx="307">
                  <c:v>99.919633253545413</c:v>
                </c:pt>
                <c:pt idx="308">
                  <c:v>99.925662592534167</c:v>
                </c:pt>
                <c:pt idx="309">
                  <c:v>99.931254736898751</c:v>
                </c:pt>
                <c:pt idx="310">
                  <c:v>99.936440116559083</c:v>
                </c:pt>
                <c:pt idx="311">
                  <c:v>99.941247148878347</c:v>
                </c:pt>
                <c:pt idx="312">
                  <c:v>99.945702363101859</c:v>
                </c:pt>
                <c:pt idx="313">
                  <c:v>99.949830517813766</c:v>
                </c:pt>
                <c:pt idx="314">
                  <c:v>99.953654711742743</c:v>
                </c:pt>
                <c:pt idx="315">
                  <c:v>99.957196488240214</c:v>
                </c:pt>
                <c:pt idx="316">
                  <c:v>99.960475933740184</c:v>
                </c:pt>
                <c:pt idx="317">
                  <c:v>99.963511770503004</c:v>
                </c:pt>
                <c:pt idx="318">
                  <c:v>99.966321443930113</c:v>
                </c:pt>
                <c:pt idx="319">
                  <c:v>99.968921204729781</c:v>
                </c:pt>
                <c:pt idx="320">
                  <c:v>99.971326186200159</c:v>
                </c:pt>
                <c:pt idx="321">
                  <c:v>99.973550476886757</c:v>
                </c:pt>
                <c:pt idx="322">
                  <c:v>99.975607188859598</c:v>
                </c:pt>
                <c:pt idx="323">
                  <c:v>99.977508521846701</c:v>
                </c:pt>
                <c:pt idx="324">
                  <c:v>99.979265823448287</c:v>
                </c:pt>
                <c:pt idx="325">
                  <c:v>99.980889645646769</c:v>
                </c:pt>
                <c:pt idx="326">
                  <c:v>99.982389797818939</c:v>
                </c:pt>
                <c:pt idx="327">
                  <c:v>99.983775396445694</c:v>
                </c:pt>
                <c:pt idx="328">
                  <c:v>99.98505491170566</c:v>
                </c:pt>
                <c:pt idx="329">
                  <c:v>99.986236211131342</c:v>
                </c:pt>
                <c:pt idx="330">
                  <c:v>99.987326600495962</c:v>
                </c:pt>
                <c:pt idx="331">
                  <c:v>99.988332862092761</c:v>
                </c:pt>
                <c:pt idx="332">
                  <c:v>99.989261290558005</c:v>
                </c:pt>
                <c:pt idx="333">
                  <c:v>99.990117726383886</c:v>
                </c:pt>
                <c:pt idx="334">
                  <c:v>99.990907587257666</c:v>
                </c:pt>
                <c:pt idx="335">
                  <c:v>99.99163589735781</c:v>
                </c:pt>
                <c:pt idx="336">
                  <c:v>99.992307314730439</c:v>
                </c:pt>
                <c:pt idx="337">
                  <c:v>99.992926156861984</c:v>
                </c:pt>
                <c:pt idx="338">
                  <c:v>99.993496424559396</c:v>
                </c:pt>
                <c:pt idx="339">
                  <c:v>99.994021824241372</c:v>
                </c:pt>
                <c:pt idx="340">
                  <c:v>99.994505788739971</c:v>
                </c:pt>
                <c:pt idx="341">
                  <c:v>99.994951496704459</c:v>
                </c:pt>
                <c:pt idx="342">
                  <c:v>99.995361890696472</c:v>
                </c:pt>
                <c:pt idx="343">
                  <c:v>99.995739694057832</c:v>
                </c:pt>
                <c:pt idx="344">
                  <c:v>99.996087426630552</c:v>
                </c:pt>
                <c:pt idx="345">
                  <c:v>99.996407419401038</c:v>
                </c:pt>
                <c:pt idx="346">
                  <c:v>99.996701828138427</c:v>
                </c:pt>
                <c:pt idx="347">
                  <c:v>99.996972646092331</c:v>
                </c:pt>
                <c:pt idx="348">
                  <c:v>99.997221715810426</c:v>
                </c:pt>
                <c:pt idx="349">
                  <c:v>99.997450740134042</c:v>
                </c:pt>
                <c:pt idx="350">
                  <c:v>99.997661292425619</c:v>
                </c:pt>
                <c:pt idx="351">
                  <c:v>99.997854826078807</c:v>
                </c:pt>
                <c:pt idx="352">
                  <c:v>99.9980326833589</c:v>
                </c:pt>
                <c:pt idx="353">
                  <c:v>99.998196103618099</c:v>
                </c:pt>
                <c:pt idx="354">
                  <c:v>99.998346230927851</c:v>
                </c:pt>
                <c:pt idx="355">
                  <c:v>99.998484121167493</c:v>
                </c:pt>
                <c:pt idx="356">
                  <c:v>99.998610748605984</c:v>
                </c:pt>
                <c:pt idx="357">
                  <c:v>99.998727012011045</c:v>
                </c:pt>
                <c:pt idx="358">
                  <c:v>99.998833740318275</c:v>
                </c:pt>
                <c:pt idx="359">
                  <c:v>99.998931697890541</c:v>
                </c:pt>
                <c:pt idx="360">
                  <c:v>99.99902158939571</c:v>
                </c:pt>
                <c:pt idx="361">
                  <c:v>99.999104064328961</c:v>
                </c:pt>
                <c:pt idx="362">
                  <c:v>99.999179721204939</c:v>
                </c:pt>
                <c:pt idx="363">
                  <c:v>99.999249111442538</c:v>
                </c:pt>
                <c:pt idx="364">
                  <c:v>99.999312742963838</c:v>
                </c:pt>
                <c:pt idx="365">
                  <c:v>99.999371083527294</c:v>
                </c:pt>
                <c:pt idx="366">
                  <c:v>99.999424563814159</c:v>
                </c:pt>
                <c:pt idx="367">
                  <c:v>99.999473580285837</c:v>
                </c:pt>
                <c:pt idx="368">
                  <c:v>99.999518497827921</c:v>
                </c:pt>
                <c:pt idx="369">
                  <c:v>99.999559652196496</c:v>
                </c:pt>
                <c:pt idx="370">
                  <c:v>99.99959735228137</c:v>
                </c:pt>
                <c:pt idx="371">
                  <c:v>99.999631882198642</c:v>
                </c:pt>
                <c:pt idx="372">
                  <c:v>99.99966350322525</c:v>
                </c:pt>
                <c:pt idx="373">
                  <c:v>99.999692455587677</c:v>
                </c:pt>
                <c:pt idx="374">
                  <c:v>99.999718960114066</c:v>
                </c:pt>
                <c:pt idx="375">
                  <c:v>99.999743219760944</c:v>
                </c:pt>
                <c:pt idx="376">
                  <c:v>99.999765421023426</c:v>
                </c:pt>
                <c:pt idx="377">
                  <c:v>99.999785735237111</c:v>
                </c:pt>
                <c:pt idx="378">
                  <c:v>99.999804319780111</c:v>
                </c:pt>
                <c:pt idx="379">
                  <c:v>99.99982131918253</c:v>
                </c:pt>
                <c:pt idx="380">
                  <c:v>99.999836866150019</c:v>
                </c:pt>
                <c:pt idx="381">
                  <c:v>99.999851082508343</c:v>
                </c:pt>
                <c:pt idx="382">
                  <c:v>99.999864080074516</c:v>
                </c:pt>
                <c:pt idx="383">
                  <c:v>99.99987596145958</c:v>
                </c:pt>
                <c:pt idx="384">
                  <c:v>99.999886820809465</c:v>
                </c:pt>
                <c:pt idx="385">
                  <c:v>99.999896744487444</c:v>
                </c:pt>
                <c:pt idx="386">
                  <c:v>99.999905811702632</c:v>
                </c:pt>
                <c:pt idx="387">
                  <c:v>99.99991409508992</c:v>
                </c:pt>
                <c:pt idx="388">
                  <c:v>99.999921661243306</c:v>
                </c:pt>
                <c:pt idx="389">
                  <c:v>99.999928571207263</c:v>
                </c:pt>
                <c:pt idx="390">
                  <c:v>99.999934880929544</c:v>
                </c:pt>
                <c:pt idx="391">
                  <c:v>99.999940641677298</c:v>
                </c:pt>
                <c:pt idx="392">
                  <c:v>99.999945900420514</c:v>
                </c:pt>
                <c:pt idx="393">
                  <c:v>99.999950700184641</c:v>
                </c:pt>
                <c:pt idx="394">
                  <c:v>99.999955080374988</c:v>
                </c:pt>
                <c:pt idx="395">
                  <c:v>99.999959077075147</c:v>
                </c:pt>
                <c:pt idx="396">
                  <c:v>99.999962723321048</c:v>
                </c:pt>
                <c:pt idx="397">
                  <c:v>99.999966049353517</c:v>
                </c:pt>
                <c:pt idx="398">
                  <c:v>99.999969082849816</c:v>
                </c:pt>
                <c:pt idx="399">
                  <c:v>99.999971849136855</c:v>
                </c:pt>
                <c:pt idx="400">
                  <c:v>99.999974371386713</c:v>
                </c:pt>
              </c:numCache>
            </c:numRef>
          </c:yVal>
          <c:smooth val="0"/>
          <c:extLst>
            <c:ext xmlns:c16="http://schemas.microsoft.com/office/drawing/2014/chart" uri="{C3380CC4-5D6E-409C-BE32-E72D297353CC}">
              <c16:uniqueId val="{00000001-6C55-442D-8CC0-6E06055C17CA}"/>
            </c:ext>
          </c:extLst>
        </c:ser>
        <c:ser>
          <c:idx val="2"/>
          <c:order val="2"/>
          <c:tx>
            <c:strRef>
              <c:f>Sheet1!$B$807</c:f>
              <c:strCache>
                <c:ptCount val="1"/>
                <c:pt idx="0">
                  <c:v>2 per maand, één centrum</c:v>
                </c:pt>
              </c:strCache>
            </c:strRef>
          </c:tx>
          <c:spPr>
            <a:ln w="12700">
              <a:solidFill>
                <a:srgbClr val="FF7A00"/>
              </a:solidFill>
            </a:ln>
          </c:spPr>
          <c:marker>
            <c:symbol val="none"/>
          </c:marker>
          <c:xVal>
            <c:numRef>
              <c:f>Sheet1!$A$808:$A$1208</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Sheet1!$B$808:$B$1208</c:f>
              <c:numCache>
                <c:formatCode>General</c:formatCode>
                <c:ptCount val="401"/>
                <c:pt idx="0">
                  <c:v>0</c:v>
                </c:pt>
                <c:pt idx="1">
                  <c:v>0</c:v>
                </c:pt>
                <c:pt idx="2">
                  <c:v>0</c:v>
                </c:pt>
                <c:pt idx="3">
                  <c:v>0</c:v>
                </c:pt>
                <c:pt idx="4">
                  <c:v>0</c:v>
                </c:pt>
                <c:pt idx="5">
                  <c:v>0</c:v>
                </c:pt>
                <c:pt idx="6">
                  <c:v>0</c:v>
                </c:pt>
                <c:pt idx="7">
                  <c:v>0</c:v>
                </c:pt>
                <c:pt idx="8">
                  <c:v>0</c:v>
                </c:pt>
                <c:pt idx="9">
                  <c:v>0</c:v>
                </c:pt>
                <c:pt idx="10">
                  <c:v>0</c:v>
                </c:pt>
                <c:pt idx="11">
                  <c:v>-2.2204460492503131E-14</c:v>
                </c:pt>
                <c:pt idx="12">
                  <c:v>0</c:v>
                </c:pt>
                <c:pt idx="13">
                  <c:v>0</c:v>
                </c:pt>
                <c:pt idx="14">
                  <c:v>0</c:v>
                </c:pt>
                <c:pt idx="15">
                  <c:v>0</c:v>
                </c:pt>
                <c:pt idx="16">
                  <c:v>-2.2204460492503131E-14</c:v>
                </c:pt>
                <c:pt idx="17">
                  <c:v>0</c:v>
                </c:pt>
                <c:pt idx="18">
                  <c:v>-2.2204460492503131E-14</c:v>
                </c:pt>
                <c:pt idx="19">
                  <c:v>0</c:v>
                </c:pt>
                <c:pt idx="20">
                  <c:v>0</c:v>
                </c:pt>
                <c:pt idx="21">
                  <c:v>0</c:v>
                </c:pt>
                <c:pt idx="22">
                  <c:v>0</c:v>
                </c:pt>
                <c:pt idx="23">
                  <c:v>1.1102230246251565E-14</c:v>
                </c:pt>
                <c:pt idx="24">
                  <c:v>2.2204460492503131E-14</c:v>
                </c:pt>
                <c:pt idx="25">
                  <c:v>3.3306690738754696E-14</c:v>
                </c:pt>
                <c:pt idx="26">
                  <c:v>1.3322676295501878E-13</c:v>
                </c:pt>
                <c:pt idx="27">
                  <c:v>2.6645352591003757E-13</c:v>
                </c:pt>
                <c:pt idx="28">
                  <c:v>5.8841820305133297E-13</c:v>
                </c:pt>
                <c:pt idx="29">
                  <c:v>1.2545520178264269E-12</c:v>
                </c:pt>
                <c:pt idx="30">
                  <c:v>2.55351295663786E-12</c:v>
                </c:pt>
                <c:pt idx="31">
                  <c:v>5.1292303737682232E-12</c:v>
                </c:pt>
                <c:pt idx="32">
                  <c:v>1.0025313912365164E-11</c:v>
                </c:pt>
                <c:pt idx="33">
                  <c:v>1.9073631563060189E-11</c:v>
                </c:pt>
                <c:pt idx="34">
                  <c:v>3.5393910025049991E-11</c:v>
                </c:pt>
                <c:pt idx="35">
                  <c:v>6.4548366651706601E-11</c:v>
                </c:pt>
                <c:pt idx="36">
                  <c:v>1.1541878564003127E-10</c:v>
                </c:pt>
                <c:pt idx="37">
                  <c:v>2.0241586184965854E-10</c:v>
                </c:pt>
                <c:pt idx="38">
                  <c:v>3.4904301671190296E-10</c:v>
                </c:pt>
                <c:pt idx="39">
                  <c:v>5.918265877369322E-10</c:v>
                </c:pt>
                <c:pt idx="40">
                  <c:v>9.8787644731146429E-10</c:v>
                </c:pt>
                <c:pt idx="41">
                  <c:v>1.6243117961778353E-9</c:v>
                </c:pt>
                <c:pt idx="42">
                  <c:v>2.6330271296615138E-9</c:v>
                </c:pt>
                <c:pt idx="43">
                  <c:v>4.2106096387328762E-9</c:v>
                </c:pt>
                <c:pt idx="44">
                  <c:v>6.6466054882141634E-9</c:v>
                </c:pt>
                <c:pt idx="45">
                  <c:v>1.0362810609620965E-8</c:v>
                </c:pt>
                <c:pt idx="46">
                  <c:v>1.5966850064330629E-8</c:v>
                </c:pt>
                <c:pt idx="47">
                  <c:v>2.432427592680142E-8</c:v>
                </c:pt>
                <c:pt idx="48">
                  <c:v>3.6656533364265442E-8</c:v>
                </c:pt>
                <c:pt idx="49">
                  <c:v>5.4669768712045652E-8</c:v>
                </c:pt>
                <c:pt idx="50">
                  <c:v>8.0725381934598772E-8</c:v>
                </c:pt>
                <c:pt idx="51">
                  <c:v>1.1806238209288722E-7</c:v>
                </c:pt>
                <c:pt idx="52">
                  <c:v>1.7108608973970263E-7</c:v>
                </c:pt>
                <c:pt idx="53">
                  <c:v>2.4573754142664939E-7</c:v>
                </c:pt>
                <c:pt idx="54">
                  <c:v>3.4996660014385839E-7</c:v>
                </c:pt>
                <c:pt idx="55">
                  <c:v>4.9432915538716315E-7</c:v>
                </c:pt>
                <c:pt idx="56">
                  <c:v>6.9273831115879148E-7</c:v>
                </c:pt>
                <c:pt idx="57">
                  <c:v>9.6340219135626626E-7</c:v>
                </c:pt>
                <c:pt idx="58">
                  <c:v>1.3299865764260232E-6</c:v>
                </c:pt>
                <c:pt idx="59">
                  <c:v>1.8230468801228028E-6</c:v>
                </c:pt>
                <c:pt idx="60">
                  <c:v>2.4817817800837361E-6</c:v>
                </c:pt>
                <c:pt idx="61">
                  <c:v>3.3561674883664239E-6</c:v>
                </c:pt>
                <c:pt idx="62">
                  <c:v>4.5095395306837815E-6</c:v>
                </c:pt>
                <c:pt idx="63">
                  <c:v>6.0216992392447821E-6</c:v>
                </c:pt>
                <c:pt idx="64">
                  <c:v>7.9926295470933439E-6</c:v>
                </c:pt>
                <c:pt idx="65">
                  <c:v>1.0546919071430239E-5</c:v>
                </c:pt>
                <c:pt idx="66">
                  <c:v>1.3838997758863769E-5</c:v>
                </c:pt>
                <c:pt idx="67">
                  <c:v>1.8059305795237179E-5</c:v>
                </c:pt>
                <c:pt idx="68">
                  <c:v>2.3441524765743793E-5</c:v>
                </c:pt>
                <c:pt idx="69">
                  <c:v>3.0271011686178184E-5</c:v>
                </c:pt>
                <c:pt idx="70">
                  <c:v>3.8894595300043022E-5</c:v>
                </c:pt>
                <c:pt idx="71">
                  <c:v>4.9731896489824123E-5</c:v>
                </c:pt>
                <c:pt idx="72">
                  <c:v>6.3288358054247595E-5</c:v>
                </c:pt>
                <c:pt idx="73">
                  <c:v>8.0170172345184199E-5</c:v>
                </c:pt>
                <c:pt idx="74">
                  <c:v>1.0110131254403854E-4</c:v>
                </c:pt>
                <c:pt idx="75">
                  <c:v>1.2694288609171878E-4</c:v>
                </c:pt>
                <c:pt idx="76">
                  <c:v>1.5871503065145731E-4</c:v>
                </c:pt>
                <c:pt idx="77">
                  <c:v>1.9762159850778005E-4</c:v>
                </c:pt>
                <c:pt idx="78">
                  <c:v>2.450778650686658E-4</c:v>
                </c:pt>
                <c:pt idx="79">
                  <c:v>3.0274152170717272E-4</c:v>
                </c:pt>
                <c:pt idx="80">
                  <c:v>3.7254720772761374E-4</c:v>
                </c:pt>
                <c:pt idx="81">
                  <c:v>4.5674484251412295E-4</c:v>
                </c:pt>
                <c:pt idx="82">
                  <c:v>5.5794202982184515E-4</c:v>
                </c:pt>
                <c:pt idx="83">
                  <c:v>6.7915078391100892E-4</c:v>
                </c:pt>
                <c:pt idx="84">
                  <c:v>8.2383885523507061E-4</c:v>
                </c:pt>
                <c:pt idx="85">
                  <c:v>9.9598589536897819E-4</c:v>
                </c:pt>
                <c:pt idx="86">
                  <c:v>1.2001447203591198E-3</c:v>
                </c:pt>
                <c:pt idx="87">
                  <c:v>1.4415078980700713E-3</c:v>
                </c:pt>
                <c:pt idx="88">
                  <c:v>1.7259798886115618E-3</c:v>
                </c:pt>
                <c:pt idx="89">
                  <c:v>2.060254932889638E-3</c:v>
                </c:pt>
                <c:pt idx="90">
                  <c:v>2.4519008763101979E-3</c:v>
                </c:pt>
                <c:pt idx="91">
                  <c:v>2.9094490828440733E-3</c:v>
                </c:pt>
                <c:pt idx="92">
                  <c:v>3.4424905653196447E-3</c:v>
                </c:pt>
                <c:pt idx="93">
                  <c:v>4.0617784336061113E-3</c:v>
                </c:pt>
                <c:pt idx="94">
                  <c:v>4.7793367202175752E-3</c:v>
                </c:pt>
                <c:pt idx="95">
                  <c:v>5.6085756060308967E-3</c:v>
                </c:pt>
                <c:pt idx="96">
                  <c:v>6.5644130312847437E-3</c:v>
                </c:pt>
                <c:pt idx="97">
                  <c:v>7.6634026277666578E-3</c:v>
                </c:pt>
                <c:pt idx="98">
                  <c:v>8.9238678667613591E-3</c:v>
                </c:pt>
                <c:pt idx="99">
                  <c:v>1.0366042258114216E-2</c:v>
                </c:pt>
                <c:pt idx="100">
                  <c:v>1.2012215394707759E-2</c:v>
                </c:pt>
                <c:pt idx="101">
                  <c:v>1.388688457680809E-2</c:v>
                </c:pt>
                <c:pt idx="102">
                  <c:v>1.6016911691307811E-2</c:v>
                </c:pt>
                <c:pt idx="103">
                  <c:v>1.8431684980058094E-2</c:v>
                </c:pt>
                <c:pt idx="104">
                  <c:v>2.1163285245151542E-2</c:v>
                </c:pt>
                <c:pt idx="105">
                  <c:v>2.4246656019277779E-2</c:v>
                </c:pt>
                <c:pt idx="106">
                  <c:v>2.7719777130452705E-2</c:v>
                </c:pt>
                <c:pt idx="107">
                  <c:v>3.1623841068062486E-2</c:v>
                </c:pt>
                <c:pt idx="108">
                  <c:v>3.6003431479147974E-2</c:v>
                </c:pt>
                <c:pt idx="109">
                  <c:v>4.0906703071941219E-2</c:v>
                </c:pt>
                <c:pt idx="110">
                  <c:v>4.6385562164064087E-2</c:v>
                </c:pt>
                <c:pt idx="111">
                  <c:v>5.2495847042710597E-2</c:v>
                </c:pt>
                <c:pt idx="112">
                  <c:v>5.9297507268851746E-2</c:v>
                </c:pt>
                <c:pt idx="113">
                  <c:v>6.6854781016945086E-2</c:v>
                </c:pt>
                <c:pt idx="114">
                  <c:v>7.523636948191248E-2</c:v>
                </c:pt>
                <c:pt idx="115">
                  <c:v>8.4515607377433355E-2</c:v>
                </c:pt>
                <c:pt idx="116">
                  <c:v>9.4770628491158693E-2</c:v>
                </c:pt>
                <c:pt idx="117">
                  <c:v>0.10608452525641132</c:v>
                </c:pt>
                <c:pt idx="118">
                  <c:v>0.11854550126630947</c:v>
                </c:pt>
                <c:pt idx="119">
                  <c:v>0.13224701565294206</c:v>
                </c:pt>
                <c:pt idx="120">
                  <c:v>0.14728791823149789</c:v>
                </c:pt>
                <c:pt idx="121">
                  <c:v>0.16377257432348413</c:v>
                </c:pt>
                <c:pt idx="122">
                  <c:v>0.18181097816284408</c:v>
                </c:pt>
                <c:pt idx="123">
                  <c:v>0.20151885380907952</c:v>
                </c:pt>
                <c:pt idx="124">
                  <c:v>0.22301774250795825</c:v>
                </c:pt>
                <c:pt idx="125">
                  <c:v>0.2464350754544653</c:v>
                </c:pt>
                <c:pt idx="126">
                  <c:v>0.2719042309676567</c:v>
                </c:pt>
                <c:pt idx="127">
                  <c:v>0.29956457509583423</c:v>
                </c:pt>
                <c:pt idx="128">
                  <c:v>0.32956148474075908</c:v>
                </c:pt>
                <c:pt idx="129">
                  <c:v>0.36204635242609307</c:v>
                </c:pt>
                <c:pt idx="130">
                  <c:v>0.39717657190033728</c:v>
                </c:pt>
                <c:pt idx="131">
                  <c:v>0.43511550382109299</c:v>
                </c:pt>
                <c:pt idx="132">
                  <c:v>0.47603242085230146</c:v>
                </c:pt>
                <c:pt idx="133">
                  <c:v>0.52010243155679037</c:v>
                </c:pt>
                <c:pt idx="134">
                  <c:v>0.56750638258158403</c:v>
                </c:pt>
                <c:pt idx="135">
                  <c:v>0.6184307386750465</c:v>
                </c:pt>
                <c:pt idx="136">
                  <c:v>0.6730674402077752</c:v>
                </c:pt>
                <c:pt idx="137">
                  <c:v>0.73161373793173556</c:v>
                </c:pt>
                <c:pt idx="138">
                  <c:v>0.79427200481819726</c:v>
                </c:pt>
                <c:pt idx="139">
                  <c:v>0.8612495249238683</c:v>
                </c:pt>
                <c:pt idx="140">
                  <c:v>0.93275825931141698</c:v>
                </c:pt>
                <c:pt idx="141">
                  <c:v>1.0090145891815783</c:v>
                </c:pt>
                <c:pt idx="142">
                  <c:v>1.0902390364586845</c:v>
                </c:pt>
                <c:pt idx="143">
                  <c:v>1.1766559621770312</c:v>
                </c:pt>
                <c:pt idx="144">
                  <c:v>1.2684932431308193</c:v>
                </c:pt>
                <c:pt idx="145">
                  <c:v>1.3659819273371343</c:v>
                </c:pt>
                <c:pt idx="146">
                  <c:v>1.4693558689771291</c:v>
                </c:pt>
                <c:pt idx="147">
                  <c:v>1.5788513435706975</c:v>
                </c:pt>
                <c:pt idx="148">
                  <c:v>1.6947066442395964</c:v>
                </c:pt>
                <c:pt idx="149">
                  <c:v>1.8171616600118567</c:v>
                </c:pt>
                <c:pt idx="150">
                  <c:v>1.9464574372022314</c:v>
                </c:pt>
                <c:pt idx="151">
                  <c:v>2.0828357249949359</c:v>
                </c:pt>
                <c:pt idx="152">
                  <c:v>2.2265385064379251</c:v>
                </c:pt>
                <c:pt idx="153">
                  <c:v>2.3778075161249412</c:v>
                </c:pt>
                <c:pt idx="154">
                  <c:v>2.536883745931684</c:v>
                </c:pt>
                <c:pt idx="155">
                  <c:v>2.7040069402070377</c:v>
                </c:pt>
                <c:pt idx="156">
                  <c:v>2.8794150819079989</c:v>
                </c:pt>
                <c:pt idx="157">
                  <c:v>3.0633438712118433</c:v>
                </c:pt>
                <c:pt idx="158">
                  <c:v>3.2560261981611549</c:v>
                </c:pt>
                <c:pt idx="159">
                  <c:v>3.4576916109813838</c:v>
                </c:pt>
                <c:pt idx="160">
                  <c:v>3.6685657816940331</c:v>
                </c:pt>
                <c:pt idx="161">
                  <c:v>3.888869970699016</c:v>
                </c:pt>
                <c:pt idx="162">
                  <c:v>4.118820492024156</c:v>
                </c:pt>
                <c:pt idx="163">
                  <c:v>4.3586281809188225</c:v>
                </c:pt>
                <c:pt idx="164">
                  <c:v>4.6084978655015929</c:v>
                </c:pt>
                <c:pt idx="165">
                  <c:v>4.8686278441404829</c:v>
                </c:pt>
                <c:pt idx="166">
                  <c:v>5.1392093702577801</c:v>
                </c:pt>
                <c:pt idx="167">
                  <c:v>5.4204261462067365</c:v>
                </c:pt>
                <c:pt idx="168">
                  <c:v>5.7124538278527375</c:v>
                </c:pt>
                <c:pt idx="169">
                  <c:v>6.0154595414591121</c:v>
                </c:pt>
                <c:pt idx="170">
                  <c:v>6.3296014144320401</c:v>
                </c:pt>
                <c:pt idx="171">
                  <c:v>6.6550281214309166</c:v>
                </c:pt>
                <c:pt idx="172">
                  <c:v>6.991878447305055</c:v>
                </c:pt>
                <c:pt idx="173">
                  <c:v>7.3402808682489606</c:v>
                </c:pt>
                <c:pt idx="174">
                  <c:v>7.7003531525151043</c:v>
                </c:pt>
                <c:pt idx="175">
                  <c:v>8.0722019819406512</c:v>
                </c:pt>
                <c:pt idx="176">
                  <c:v>8.4559225954846546</c:v>
                </c:pt>
                <c:pt idx="177">
                  <c:v>8.8515984558826482</c:v>
                </c:pt>
                <c:pt idx="178">
                  <c:v>9.2593009404493323</c:v>
                </c:pt>
                <c:pt idx="179">
                  <c:v>9.6790890569759753</c:v>
                </c:pt>
                <c:pt idx="180">
                  <c:v>10.111009185571074</c:v>
                </c:pt>
                <c:pt idx="181">
                  <c:v>10.555094847215262</c:v>
                </c:pt>
                <c:pt idx="182">
                  <c:v>11.01136649970007</c:v>
                </c:pt>
                <c:pt idx="183">
                  <c:v>11.479831361520276</c:v>
                </c:pt>
                <c:pt idx="184">
                  <c:v>11.960483264211408</c:v>
                </c:pt>
                <c:pt idx="185">
                  <c:v>12.453302533502097</c:v>
                </c:pt>
                <c:pt idx="186">
                  <c:v>12.958255899581117</c:v>
                </c:pt>
                <c:pt idx="187">
                  <c:v>13.475296436658969</c:v>
                </c:pt>
                <c:pt idx="188">
                  <c:v>14.00436353191451</c:v>
                </c:pt>
                <c:pt idx="189">
                  <c:v>14.545382883837144</c:v>
                </c:pt>
                <c:pt idx="190">
                  <c:v>15.09826652984626</c:v>
                </c:pt>
                <c:pt idx="191">
                  <c:v>15.662912903020509</c:v>
                </c:pt>
                <c:pt idx="192">
                  <c:v>16.239206917639525</c:v>
                </c:pt>
                <c:pt idx="193">
                  <c:v>16.827020083172663</c:v>
                </c:pt>
                <c:pt idx="194">
                  <c:v>17.426210646267272</c:v>
                </c:pt>
                <c:pt idx="195">
                  <c:v>18.03662376019588</c:v>
                </c:pt>
                <c:pt idx="196">
                  <c:v>18.658091681137059</c:v>
                </c:pt>
                <c:pt idx="197">
                  <c:v>19.290433990621313</c:v>
                </c:pt>
                <c:pt idx="198">
                  <c:v>19.933457843348844</c:v>
                </c:pt>
                <c:pt idx="199">
                  <c:v>20.586958239576781</c:v>
                </c:pt>
                <c:pt idx="200">
                  <c:v>21.250718321157478</c:v>
                </c:pt>
                <c:pt idx="201">
                  <c:v>21.924509690290328</c:v>
                </c:pt>
                <c:pt idx="202">
                  <c:v>22.608092749970798</c:v>
                </c:pt>
                <c:pt idx="203">
                  <c:v>23.301217065071821</c:v>
                </c:pt>
                <c:pt idx="204">
                  <c:v>24.003621742966619</c:v>
                </c:pt>
                <c:pt idx="205">
                  <c:v>24.715035832530962</c:v>
                </c:pt>
                <c:pt idx="206">
                  <c:v>25.435178740356701</c:v>
                </c:pt>
                <c:pt idx="207">
                  <c:v>26.163760662950541</c:v>
                </c:pt>
                <c:pt idx="208">
                  <c:v>26.900483033686086</c:v>
                </c:pt>
                <c:pt idx="209">
                  <c:v>27.645038983248106</c:v>
                </c:pt>
                <c:pt idx="210">
                  <c:v>28.397113812277329</c:v>
                </c:pt>
                <c:pt idx="211">
                  <c:v>29.156385474943935</c:v>
                </c:pt>
                <c:pt idx="212">
                  <c:v>29.922525072131599</c:v>
                </c:pt>
                <c:pt idx="213">
                  <c:v>30.695197352942728</c:v>
                </c:pt>
                <c:pt idx="214">
                  <c:v>31.474061223215777</c:v>
                </c:pt>
                <c:pt idx="215">
                  <c:v>32.258770259758364</c:v>
                </c:pt>
                <c:pt idx="216">
                  <c:v>33.048973229017619</c:v>
                </c:pt>
                <c:pt idx="217">
                  <c:v>33.844314608902607</c:v>
                </c:pt>
                <c:pt idx="218">
                  <c:v>34.644435112506741</c:v>
                </c:pt>
                <c:pt idx="219">
                  <c:v>35.448972212502561</c:v>
                </c:pt>
                <c:pt idx="220">
                  <c:v>36.257560664978961</c:v>
                </c:pt>
                <c:pt idx="221">
                  <c:v>37.069833031562219</c:v>
                </c:pt>
                <c:pt idx="222">
                  <c:v>37.885420198635622</c:v>
                </c:pt>
                <c:pt idx="223">
                  <c:v>38.703951892571652</c:v>
                </c:pt>
                <c:pt idx="224">
                  <c:v>39.52505718986361</c:v>
                </c:pt>
                <c:pt idx="225">
                  <c:v>40.348365021127385</c:v>
                </c:pt>
                <c:pt idx="226">
                  <c:v>41.17350466796195</c:v>
                </c:pt>
                <c:pt idx="227">
                  <c:v>42.000106251709077</c:v>
                </c:pt>
                <c:pt idx="228">
                  <c:v>42.827801213185488</c:v>
                </c:pt>
                <c:pt idx="229">
                  <c:v>43.656222782530165</c:v>
                </c:pt>
                <c:pt idx="230">
                  <c:v>44.48500643832314</c:v>
                </c:pt>
                <c:pt idx="231">
                  <c:v>45.313790355215858</c:v>
                </c:pt>
                <c:pt idx="232">
                  <c:v>46.142215839332309</c:v>
                </c:pt>
                <c:pt idx="233">
                  <c:v>46.969927750773479</c:v>
                </c:pt>
                <c:pt idx="234">
                  <c:v>47.796574912590096</c:v>
                </c:pt>
                <c:pt idx="235">
                  <c:v>48.621810505654992</c:v>
                </c:pt>
                <c:pt idx="236">
                  <c:v>49.445292448908774</c:v>
                </c:pt>
                <c:pt idx="237">
                  <c:v>50.266683764497188</c:v>
                </c:pt>
                <c:pt idx="238">
                  <c:v>51.085652927391493</c:v>
                </c:pt>
                <c:pt idx="239">
                  <c:v>51.901874199111184</c:v>
                </c:pt>
                <c:pt idx="240">
                  <c:v>52.715027945225536</c:v>
                </c:pt>
                <c:pt idx="241">
                  <c:v>53.524800936369473</c:v>
                </c:pt>
                <c:pt idx="242">
                  <c:v>54.330886632542288</c:v>
                </c:pt>
                <c:pt idx="243">
                  <c:v>55.13298545051866</c:v>
                </c:pt>
                <c:pt idx="244">
                  <c:v>55.930805014238146</c:v>
                </c:pt>
                <c:pt idx="245">
                  <c:v>56.724060388092056</c:v>
                </c:pt>
                <c:pt idx="246">
                  <c:v>57.512474293070156</c:v>
                </c:pt>
                <c:pt idx="247">
                  <c:v>58.295777305761334</c:v>
                </c:pt>
                <c:pt idx="248">
                  <c:v>59.07370804026619</c:v>
                </c:pt>
                <c:pt idx="249">
                  <c:v>59.846013313093849</c:v>
                </c:pt>
                <c:pt idx="250">
                  <c:v>60.612448291171752</c:v>
                </c:pt>
                <c:pt idx="251">
                  <c:v>61.372776623128523</c:v>
                </c:pt>
                <c:pt idx="252">
                  <c:v>62.126770554041357</c:v>
                </c:pt>
                <c:pt idx="253">
                  <c:v>62.874211023874494</c:v>
                </c:pt>
                <c:pt idx="254">
                  <c:v>63.614887749871471</c:v>
                </c:pt>
                <c:pt idx="255">
                  <c:v>64.348599293187746</c:v>
                </c:pt>
                <c:pt idx="256">
                  <c:v>65.075153110075817</c:v>
                </c:pt>
                <c:pt idx="257">
                  <c:v>65.794365587971569</c:v>
                </c:pt>
                <c:pt idx="258">
                  <c:v>66.506062066841267</c:v>
                </c:pt>
                <c:pt idx="259">
                  <c:v>67.210076846181124</c:v>
                </c:pt>
                <c:pt idx="260">
                  <c:v>67.906253178073641</c:v>
                </c:pt>
                <c:pt idx="261">
                  <c:v>68.594443246733405</c:v>
                </c:pt>
                <c:pt idx="262">
                  <c:v>69.27450813497731</c:v>
                </c:pt>
                <c:pt idx="263">
                  <c:v>69.946317778084008</c:v>
                </c:pt>
                <c:pt idx="264">
                  <c:v>70.609750905510765</c:v>
                </c:pt>
                <c:pt idx="265">
                  <c:v>71.264694970946721</c:v>
                </c:pt>
                <c:pt idx="266">
                  <c:v>71.911046071202762</c:v>
                </c:pt>
                <c:pt idx="267">
                  <c:v>72.548708854427744</c:v>
                </c:pt>
                <c:pt idx="268">
                  <c:v>73.177596418163631</c:v>
                </c:pt>
                <c:pt idx="269">
                  <c:v>73.797630197750891</c:v>
                </c:pt>
                <c:pt idx="270">
                  <c:v>74.408739845591001</c:v>
                </c:pt>
                <c:pt idx="271">
                  <c:v>75.010863101792467</c:v>
                </c:pt>
                <c:pt idx="272">
                  <c:v>75.603945656706912</c:v>
                </c:pt>
                <c:pt idx="273">
                  <c:v>76.187941005878315</c:v>
                </c:pt>
                <c:pt idx="274">
                  <c:v>76.762810297913944</c:v>
                </c:pt>
                <c:pt idx="275">
                  <c:v>77.328522175786745</c:v>
                </c:pt>
                <c:pt idx="276">
                  <c:v>77.885052612080841</c:v>
                </c:pt>
                <c:pt idx="277">
                  <c:v>78.432384738669597</c:v>
                </c:pt>
                <c:pt idx="278">
                  <c:v>78.970508671329114</c:v>
                </c:pt>
                <c:pt idx="279">
                  <c:v>79.499421329765681</c:v>
                </c:pt>
                <c:pt idx="280">
                  <c:v>80.019126253537578</c:v>
                </c:pt>
                <c:pt idx="281">
                  <c:v>80.52963341433906</c:v>
                </c:pt>
                <c:pt idx="282">
                  <c:v>81.030959025100373</c:v>
                </c:pt>
                <c:pt idx="283">
                  <c:v>81.523125346355258</c:v>
                </c:pt>
                <c:pt idx="284">
                  <c:v>82.006160490307593</c:v>
                </c:pt>
                <c:pt idx="285">
                  <c:v>82.480098223021031</c:v>
                </c:pt>
                <c:pt idx="286">
                  <c:v>82.944977765144557</c:v>
                </c:pt>
                <c:pt idx="287">
                  <c:v>83.400843591567281</c:v>
                </c:pt>
                <c:pt idx="288">
                  <c:v>83.847745230390956</c:v>
                </c:pt>
                <c:pt idx="289">
                  <c:v>84.285737061587511</c:v>
                </c:pt>
                <c:pt idx="290">
                  <c:v>84.71487811569915</c:v>
                </c:pt>
                <c:pt idx="291">
                  <c:v>85.135231872923328</c:v>
                </c:pt>
                <c:pt idx="292">
                  <c:v>85.546866062908933</c:v>
                </c:pt>
                <c:pt idx="293">
                  <c:v>85.949852465577507</c:v>
                </c:pt>
                <c:pt idx="294">
                  <c:v>86.344266713267103</c:v>
                </c:pt>
                <c:pt idx="295">
                  <c:v>86.730188094481491</c:v>
                </c:pt>
                <c:pt idx="296">
                  <c:v>87.107699359515536</c:v>
                </c:pt>
                <c:pt idx="297">
                  <c:v>87.476886528205952</c:v>
                </c:pt>
                <c:pt idx="298">
                  <c:v>87.837838700051265</c:v>
                </c:pt>
                <c:pt idx="299">
                  <c:v>88.190647866922191</c:v>
                </c:pt>
                <c:pt idx="300">
                  <c:v>88.535408728572591</c:v>
                </c:pt>
                <c:pt idx="301">
                  <c:v>88.872218511147793</c:v>
                </c:pt>
                <c:pt idx="302">
                  <c:v>89.201176788870015</c:v>
                </c:pt>
                <c:pt idx="303">
                  <c:v>89.522385309070287</c:v>
                </c:pt>
                <c:pt idx="304">
                  <c:v>89.835947820718133</c:v>
                </c:pt>
                <c:pt idx="305">
                  <c:v>90.141969906591839</c:v>
                </c:pt>
                <c:pt idx="306">
                  <c:v>90.440558819216207</c:v>
                </c:pt>
                <c:pt idx="307">
                  <c:v>90.731823320680448</c:v>
                </c:pt>
                <c:pt idx="308">
                  <c:v>91.015873526440856</c:v>
                </c:pt>
                <c:pt idx="309">
                  <c:v>91.292820753198185</c:v>
                </c:pt>
                <c:pt idx="310">
                  <c:v>91.562777370925062</c:v>
                </c:pt>
                <c:pt idx="311">
                  <c:v>91.825856659115047</c:v>
                </c:pt>
                <c:pt idx="312">
                  <c:v>92.082172667305414</c:v>
                </c:pt>
                <c:pt idx="313">
                  <c:v>92.33184007992125</c:v>
                </c:pt>
                <c:pt idx="314">
                  <c:v>92.574974085476185</c:v>
                </c:pt>
                <c:pt idx="315">
                  <c:v>92.811690250152935</c:v>
                </c:pt>
                <c:pt idx="316">
                  <c:v>93.042104395783838</c:v>
                </c:pt>
                <c:pt idx="317">
                  <c:v>93.266332482234375</c:v>
                </c:pt>
                <c:pt idx="318">
                  <c:v>93.484490494190851</c:v>
                </c:pt>
                <c:pt idx="319">
                  <c:v>93.696694332342318</c:v>
                </c:pt>
                <c:pt idx="320">
                  <c:v>93.903059708938542</c:v>
                </c:pt>
                <c:pt idx="321">
                  <c:v>94.103702047700963</c:v>
                </c:pt>
                <c:pt idx="322">
                  <c:v>94.298736388053683</c:v>
                </c:pt>
                <c:pt idx="323">
                  <c:v>94.488277293637452</c:v>
                </c:pt>
                <c:pt idx="324">
                  <c:v>94.672438765062864</c:v>
                </c:pt>
                <c:pt idx="325">
                  <c:v>94.851334156851834</c:v>
                </c:pt>
                <c:pt idx="326">
                  <c:v>95.025076098513296</c:v>
                </c:pt>
                <c:pt idx="327">
                  <c:v>95.193776419692625</c:v>
                </c:pt>
                <c:pt idx="328">
                  <c:v>95.357546079330561</c:v>
                </c:pt>
                <c:pt idx="329">
                  <c:v>95.516495098761865</c:v>
                </c:pt>
                <c:pt idx="330">
                  <c:v>95.67073249868227</c:v>
                </c:pt>
                <c:pt idx="331">
                  <c:v>95.82036623990642</c:v>
                </c:pt>
                <c:pt idx="332">
                  <c:v>95.965503167838179</c:v>
                </c:pt>
                <c:pt idx="333">
                  <c:v>96.106248960570269</c:v>
                </c:pt>
                <c:pt idx="334">
                  <c:v>96.242708080529255</c:v>
                </c:pt>
                <c:pt idx="335">
                  <c:v>96.374983729578062</c:v>
                </c:pt>
                <c:pt idx="336">
                  <c:v>96.503177807487532</c:v>
                </c:pt>
                <c:pt idx="337">
                  <c:v>96.627390873686252</c:v>
                </c:pt>
                <c:pt idx="338">
                  <c:v>96.747722112196072</c:v>
                </c:pt>
                <c:pt idx="339">
                  <c:v>96.864269299660805</c:v>
                </c:pt>
                <c:pt idx="340">
                  <c:v>96.977128776373576</c:v>
                </c:pt>
                <c:pt idx="341">
                  <c:v>97.086395420208177</c:v>
                </c:pt>
                <c:pt idx="342">
                  <c:v>97.192162623358854</c:v>
                </c:pt>
                <c:pt idx="343">
                  <c:v>97.294522271793994</c:v>
                </c:pt>
                <c:pt idx="344">
                  <c:v>97.39356472732689</c:v>
                </c:pt>
                <c:pt idx="345">
                  <c:v>97.489378812209836</c:v>
                </c:pt>
                <c:pt idx="346">
                  <c:v>97.582051796155483</c:v>
                </c:pt>
                <c:pt idx="347">
                  <c:v>97.671669385691516</c:v>
                </c:pt>
                <c:pt idx="348">
                  <c:v>97.758315715754989</c:v>
                </c:pt>
                <c:pt idx="349">
                  <c:v>97.842073343433427</c:v>
                </c:pt>
                <c:pt idx="350">
                  <c:v>97.923023243760781</c:v>
                </c:pt>
                <c:pt idx="351">
                  <c:v>98.001244807477178</c:v>
                </c:pt>
                <c:pt idx="352">
                  <c:v>98.076815840663528</c:v>
                </c:pt>
                <c:pt idx="353">
                  <c:v>98.149812566162282</c:v>
                </c:pt>
                <c:pt idx="354">
                  <c:v>98.220309626697571</c:v>
                </c:pt>
                <c:pt idx="355">
                  <c:v>98.288380089609845</c:v>
                </c:pt>
                <c:pt idx="356">
                  <c:v>98.354095453120877</c:v>
                </c:pt>
                <c:pt idx="357">
                  <c:v>98.417525654047608</c:v>
                </c:pt>
                <c:pt idx="358">
                  <c:v>98.478739076884395</c:v>
                </c:pt>
                <c:pt idx="359">
                  <c:v>98.537802564175479</c:v>
                </c:pt>
                <c:pt idx="360">
                  <c:v>98.594781428100873</c:v>
                </c:pt>
                <c:pt idx="361">
                  <c:v>98.649739463201414</c:v>
                </c:pt>
                <c:pt idx="362">
                  <c:v>98.702738960170208</c:v>
                </c:pt>
                <c:pt idx="363">
                  <c:v>98.753840720639872</c:v>
                </c:pt>
                <c:pt idx="364">
                  <c:v>98.803104072896673</c:v>
                </c:pt>
                <c:pt idx="365">
                  <c:v>98.850586888455624</c:v>
                </c:pt>
                <c:pt idx="366">
                  <c:v>98.896345599431228</c:v>
                </c:pt>
                <c:pt idx="367">
                  <c:v>98.940435216641859</c:v>
                </c:pt>
                <c:pt idx="368">
                  <c:v>98.982909348387437</c:v>
                </c:pt>
                <c:pt idx="369">
                  <c:v>99.02382021984161</c:v>
                </c:pt>
                <c:pt idx="370">
                  <c:v>99.063218693002582</c:v>
                </c:pt>
                <c:pt idx="371">
                  <c:v>99.101154287148162</c:v>
                </c:pt>
                <c:pt idx="372">
                  <c:v>99.13767519974283</c:v>
                </c:pt>
                <c:pt idx="373">
                  <c:v>99.172828327746743</c:v>
                </c:pt>
                <c:pt idx="374">
                  <c:v>99.206659289278392</c:v>
                </c:pt>
                <c:pt idx="375">
                  <c:v>99.239212445584911</c:v>
                </c:pt>
                <c:pt idx="376">
                  <c:v>99.270530923275587</c:v>
                </c:pt>
                <c:pt idx="377">
                  <c:v>99.300656636776466</c:v>
                </c:pt>
                <c:pt idx="378">
                  <c:v>99.32963031096557</c:v>
                </c:pt>
                <c:pt idx="379">
                  <c:v>99.357491503950186</c:v>
                </c:pt>
                <c:pt idx="380">
                  <c:v>99.384278629949648</c:v>
                </c:pt>
                <c:pt idx="381">
                  <c:v>99.410028982248576</c:v>
                </c:pt>
                <c:pt idx="382">
                  <c:v>99.434778756187427</c:v>
                </c:pt>
                <c:pt idx="383">
                  <c:v>99.458563072159194</c:v>
                </c:pt>
                <c:pt idx="384">
                  <c:v>99.481415998582122</c:v>
                </c:pt>
                <c:pt idx="385">
                  <c:v>99.503370574820721</c:v>
                </c:pt>
                <c:pt idx="386">
                  <c:v>99.524458834028309</c:v>
                </c:pt>
                <c:pt idx="387">
                  <c:v>99.544711825886182</c:v>
                </c:pt>
                <c:pt idx="388">
                  <c:v>99.564159639216172</c:v>
                </c:pt>
                <c:pt idx="389">
                  <c:v>99.582831424444308</c:v>
                </c:pt>
                <c:pt idx="390">
                  <c:v>99.600755415895321</c:v>
                </c:pt>
                <c:pt idx="391">
                  <c:v>99.617958953898537</c:v>
                </c:pt>
                <c:pt idx="392">
                  <c:v>99.63446850668744</c:v>
                </c:pt>
                <c:pt idx="393">
                  <c:v>99.650309692076604</c:v>
                </c:pt>
                <c:pt idx="394">
                  <c:v>99.665507298900025</c:v>
                </c:pt>
                <c:pt idx="395">
                  <c:v>99.680085308197476</c:v>
                </c:pt>
                <c:pt idx="396">
                  <c:v>99.694066914135348</c:v>
                </c:pt>
                <c:pt idx="397">
                  <c:v>99.707474544650395</c:v>
                </c:pt>
                <c:pt idx="398">
                  <c:v>99.720329881805597</c:v>
                </c:pt>
                <c:pt idx="399">
                  <c:v>99.732653881848137</c:v>
                </c:pt>
                <c:pt idx="400">
                  <c:v>99.744466794961014</c:v>
                </c:pt>
              </c:numCache>
            </c:numRef>
          </c:yVal>
          <c:smooth val="0"/>
          <c:extLst>
            <c:ext xmlns:c16="http://schemas.microsoft.com/office/drawing/2014/chart" uri="{C3380CC4-5D6E-409C-BE32-E72D297353CC}">
              <c16:uniqueId val="{00000002-6C55-442D-8CC0-6E06055C17CA}"/>
            </c:ext>
          </c:extLst>
        </c:ser>
        <c:ser>
          <c:idx val="3"/>
          <c:order val="3"/>
          <c:tx>
            <c:strRef>
              <c:f>Sheet1!$B$1210</c:f>
              <c:strCache>
                <c:ptCount val="1"/>
                <c:pt idx="0">
                  <c:v>2 per maand, alle zes</c:v>
                </c:pt>
              </c:strCache>
            </c:strRef>
          </c:tx>
          <c:spPr>
            <a:ln w="19050">
              <a:solidFill>
                <a:srgbClr val="FF7A00"/>
              </a:solidFill>
              <a:prstDash val="dash"/>
            </a:ln>
          </c:spPr>
          <c:marker>
            <c:symbol val="none"/>
          </c:marker>
          <c:xVal>
            <c:numRef>
              <c:f>Sheet1!$A$1211:$A$1611</c:f>
              <c:numCache>
                <c:formatCode>General</c:formatCode>
                <c:ptCount val="40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pt idx="161">
                  <c:v>8.0500000000000007</c:v>
                </c:pt>
                <c:pt idx="162">
                  <c:v>8.1</c:v>
                </c:pt>
                <c:pt idx="163">
                  <c:v>8.15</c:v>
                </c:pt>
                <c:pt idx="164">
                  <c:v>8.1999999999999993</c:v>
                </c:pt>
                <c:pt idx="165">
                  <c:v>8.25</c:v>
                </c:pt>
                <c:pt idx="166">
                  <c:v>8.3000000000000007</c:v>
                </c:pt>
                <c:pt idx="167">
                  <c:v>8.35</c:v>
                </c:pt>
                <c:pt idx="168">
                  <c:v>8.4</c:v>
                </c:pt>
                <c:pt idx="169">
                  <c:v>8.4499999999999993</c:v>
                </c:pt>
                <c:pt idx="170">
                  <c:v>8.5</c:v>
                </c:pt>
                <c:pt idx="171">
                  <c:v>8.5500000000000007</c:v>
                </c:pt>
                <c:pt idx="172">
                  <c:v>8.6</c:v>
                </c:pt>
                <c:pt idx="173">
                  <c:v>8.65</c:v>
                </c:pt>
                <c:pt idx="174">
                  <c:v>8.6999999999999993</c:v>
                </c:pt>
                <c:pt idx="175">
                  <c:v>8.75</c:v>
                </c:pt>
                <c:pt idx="176">
                  <c:v>8.8000000000000007</c:v>
                </c:pt>
                <c:pt idx="177">
                  <c:v>8.85</c:v>
                </c:pt>
                <c:pt idx="178">
                  <c:v>8.9</c:v>
                </c:pt>
                <c:pt idx="179">
                  <c:v>8.9499999999999993</c:v>
                </c:pt>
                <c:pt idx="180">
                  <c:v>9</c:v>
                </c:pt>
                <c:pt idx="181">
                  <c:v>9.0500000000000007</c:v>
                </c:pt>
                <c:pt idx="182">
                  <c:v>9.1</c:v>
                </c:pt>
                <c:pt idx="183">
                  <c:v>9.15</c:v>
                </c:pt>
                <c:pt idx="184">
                  <c:v>9.1999999999999993</c:v>
                </c:pt>
                <c:pt idx="185">
                  <c:v>9.25</c:v>
                </c:pt>
                <c:pt idx="186">
                  <c:v>9.3000000000000007</c:v>
                </c:pt>
                <c:pt idx="187">
                  <c:v>9.35</c:v>
                </c:pt>
                <c:pt idx="188">
                  <c:v>9.4</c:v>
                </c:pt>
                <c:pt idx="189">
                  <c:v>9.4499999999999993</c:v>
                </c:pt>
                <c:pt idx="190">
                  <c:v>9.5</c:v>
                </c:pt>
                <c:pt idx="191">
                  <c:v>9.5500000000000007</c:v>
                </c:pt>
                <c:pt idx="192">
                  <c:v>9.6</c:v>
                </c:pt>
                <c:pt idx="193">
                  <c:v>9.65</c:v>
                </c:pt>
                <c:pt idx="194">
                  <c:v>9.6999999999999993</c:v>
                </c:pt>
                <c:pt idx="195">
                  <c:v>9.75</c:v>
                </c:pt>
                <c:pt idx="196">
                  <c:v>9.8000000000000007</c:v>
                </c:pt>
                <c:pt idx="197">
                  <c:v>9.85</c:v>
                </c:pt>
                <c:pt idx="198">
                  <c:v>9.9</c:v>
                </c:pt>
                <c:pt idx="199">
                  <c:v>9.9499999999999993</c:v>
                </c:pt>
                <c:pt idx="200">
                  <c:v>10</c:v>
                </c:pt>
                <c:pt idx="201">
                  <c:v>10.050000000000001</c:v>
                </c:pt>
                <c:pt idx="202">
                  <c:v>10.1</c:v>
                </c:pt>
                <c:pt idx="203">
                  <c:v>10.15</c:v>
                </c:pt>
                <c:pt idx="204">
                  <c:v>10.199999999999999</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16.100000000000001</c:v>
                </c:pt>
                <c:pt idx="323">
                  <c:v>16.149999999999999</c:v>
                </c:pt>
                <c:pt idx="324">
                  <c:v>16.2</c:v>
                </c:pt>
                <c:pt idx="325">
                  <c:v>16.25</c:v>
                </c:pt>
                <c:pt idx="326">
                  <c:v>16.3</c:v>
                </c:pt>
                <c:pt idx="327">
                  <c:v>16.350000000000001</c:v>
                </c:pt>
                <c:pt idx="328">
                  <c:v>16.399999999999999</c:v>
                </c:pt>
                <c:pt idx="329">
                  <c:v>16.45</c:v>
                </c:pt>
                <c:pt idx="330">
                  <c:v>16.5</c:v>
                </c:pt>
                <c:pt idx="331">
                  <c:v>16.55</c:v>
                </c:pt>
                <c:pt idx="332">
                  <c:v>16.600000000000001</c:v>
                </c:pt>
                <c:pt idx="333">
                  <c:v>16.649999999999999</c:v>
                </c:pt>
                <c:pt idx="334">
                  <c:v>16.7</c:v>
                </c:pt>
                <c:pt idx="335">
                  <c:v>16.75</c:v>
                </c:pt>
                <c:pt idx="336">
                  <c:v>16.8</c:v>
                </c:pt>
                <c:pt idx="337">
                  <c:v>16.850000000000001</c:v>
                </c:pt>
                <c:pt idx="338">
                  <c:v>16.899999999999999</c:v>
                </c:pt>
                <c:pt idx="339">
                  <c:v>16.95</c:v>
                </c:pt>
                <c:pt idx="340">
                  <c:v>17</c:v>
                </c:pt>
                <c:pt idx="341">
                  <c:v>17.05</c:v>
                </c:pt>
                <c:pt idx="342">
                  <c:v>17.100000000000001</c:v>
                </c:pt>
                <c:pt idx="343">
                  <c:v>17.149999999999999</c:v>
                </c:pt>
                <c:pt idx="344">
                  <c:v>17.2</c:v>
                </c:pt>
                <c:pt idx="345">
                  <c:v>17.25</c:v>
                </c:pt>
                <c:pt idx="346">
                  <c:v>17.3</c:v>
                </c:pt>
                <c:pt idx="347">
                  <c:v>17.350000000000001</c:v>
                </c:pt>
                <c:pt idx="348">
                  <c:v>17.399999999999999</c:v>
                </c:pt>
                <c:pt idx="349">
                  <c:v>17.45</c:v>
                </c:pt>
                <c:pt idx="350">
                  <c:v>17.5</c:v>
                </c:pt>
                <c:pt idx="351">
                  <c:v>17.55</c:v>
                </c:pt>
                <c:pt idx="352">
                  <c:v>17.600000000000001</c:v>
                </c:pt>
                <c:pt idx="353">
                  <c:v>17.649999999999999</c:v>
                </c:pt>
                <c:pt idx="354">
                  <c:v>17.7</c:v>
                </c:pt>
                <c:pt idx="355">
                  <c:v>17.75</c:v>
                </c:pt>
                <c:pt idx="356">
                  <c:v>17.8</c:v>
                </c:pt>
                <c:pt idx="357">
                  <c:v>17.850000000000001</c:v>
                </c:pt>
                <c:pt idx="358">
                  <c:v>17.899999999999999</c:v>
                </c:pt>
                <c:pt idx="359">
                  <c:v>17.95</c:v>
                </c:pt>
                <c:pt idx="360">
                  <c:v>18</c:v>
                </c:pt>
                <c:pt idx="361">
                  <c:v>18.05</c:v>
                </c:pt>
                <c:pt idx="362">
                  <c:v>18.100000000000001</c:v>
                </c:pt>
                <c:pt idx="363">
                  <c:v>18.149999999999999</c:v>
                </c:pt>
                <c:pt idx="364">
                  <c:v>18.2</c:v>
                </c:pt>
                <c:pt idx="365">
                  <c:v>18.25</c:v>
                </c:pt>
                <c:pt idx="366">
                  <c:v>18.3</c:v>
                </c:pt>
                <c:pt idx="367">
                  <c:v>18.350000000000001</c:v>
                </c:pt>
                <c:pt idx="368">
                  <c:v>18.399999999999999</c:v>
                </c:pt>
                <c:pt idx="369">
                  <c:v>18.45</c:v>
                </c:pt>
                <c:pt idx="370">
                  <c:v>18.5</c:v>
                </c:pt>
                <c:pt idx="371">
                  <c:v>18.55</c:v>
                </c:pt>
                <c:pt idx="372">
                  <c:v>18.600000000000001</c:v>
                </c:pt>
                <c:pt idx="373">
                  <c:v>18.649999999999999</c:v>
                </c:pt>
                <c:pt idx="374">
                  <c:v>18.7</c:v>
                </c:pt>
                <c:pt idx="375">
                  <c:v>18.75</c:v>
                </c:pt>
                <c:pt idx="376">
                  <c:v>18.8</c:v>
                </c:pt>
                <c:pt idx="377">
                  <c:v>18.850000000000001</c:v>
                </c:pt>
                <c:pt idx="378">
                  <c:v>18.899999999999999</c:v>
                </c:pt>
                <c:pt idx="379">
                  <c:v>18.95</c:v>
                </c:pt>
                <c:pt idx="380">
                  <c:v>19</c:v>
                </c:pt>
                <c:pt idx="381">
                  <c:v>19.05</c:v>
                </c:pt>
                <c:pt idx="382">
                  <c:v>19.100000000000001</c:v>
                </c:pt>
                <c:pt idx="383">
                  <c:v>19.149999999999999</c:v>
                </c:pt>
                <c:pt idx="384">
                  <c:v>19.2</c:v>
                </c:pt>
                <c:pt idx="385">
                  <c:v>19.25</c:v>
                </c:pt>
                <c:pt idx="386">
                  <c:v>19.3</c:v>
                </c:pt>
                <c:pt idx="387">
                  <c:v>19.350000000000001</c:v>
                </c:pt>
                <c:pt idx="388">
                  <c:v>19.399999999999999</c:v>
                </c:pt>
                <c:pt idx="389">
                  <c:v>19.45</c:v>
                </c:pt>
                <c:pt idx="390">
                  <c:v>19.5</c:v>
                </c:pt>
                <c:pt idx="391">
                  <c:v>19.55</c:v>
                </c:pt>
                <c:pt idx="392">
                  <c:v>19.600000000000001</c:v>
                </c:pt>
                <c:pt idx="393">
                  <c:v>19.649999999999999</c:v>
                </c:pt>
                <c:pt idx="394">
                  <c:v>19.7</c:v>
                </c:pt>
                <c:pt idx="395">
                  <c:v>19.75</c:v>
                </c:pt>
                <c:pt idx="396">
                  <c:v>19.8</c:v>
                </c:pt>
                <c:pt idx="397">
                  <c:v>19.850000000000001</c:v>
                </c:pt>
                <c:pt idx="398">
                  <c:v>19.899999999999999</c:v>
                </c:pt>
                <c:pt idx="399">
                  <c:v>19.95</c:v>
                </c:pt>
                <c:pt idx="400">
                  <c:v>20</c:v>
                </c:pt>
              </c:numCache>
            </c:numRef>
          </c:xVal>
          <c:yVal>
            <c:numRef>
              <c:f>Sheet1!$B$1211:$B$1611</c:f>
              <c:numCache>
                <c:formatCode>General</c:formatCode>
                <c:ptCount val="401"/>
                <c:pt idx="0">
                  <c:v>0</c:v>
                </c:pt>
                <c:pt idx="1">
                  <c:v>0</c:v>
                </c:pt>
                <c:pt idx="2">
                  <c:v>0</c:v>
                </c:pt>
                <c:pt idx="3">
                  <c:v>0</c:v>
                </c:pt>
                <c:pt idx="4">
                  <c:v>0</c:v>
                </c:pt>
                <c:pt idx="5">
                  <c:v>0</c:v>
                </c:pt>
                <c:pt idx="6">
                  <c:v>0</c:v>
                </c:pt>
                <c:pt idx="7">
                  <c:v>0</c:v>
                </c:pt>
                <c:pt idx="8">
                  <c:v>0</c:v>
                </c:pt>
                <c:pt idx="9">
                  <c:v>0</c:v>
                </c:pt>
                <c:pt idx="10">
                  <c:v>0</c:v>
                </c:pt>
                <c:pt idx="11">
                  <c:v>1.1985091468012028E-92</c:v>
                </c:pt>
                <c:pt idx="12">
                  <c:v>0</c:v>
                </c:pt>
                <c:pt idx="13">
                  <c:v>0</c:v>
                </c:pt>
                <c:pt idx="14">
                  <c:v>0</c:v>
                </c:pt>
                <c:pt idx="15">
                  <c:v>0</c:v>
                </c:pt>
                <c:pt idx="16">
                  <c:v>1.1985091468012028E-92</c:v>
                </c:pt>
                <c:pt idx="17">
                  <c:v>0</c:v>
                </c:pt>
                <c:pt idx="18">
                  <c:v>1.1985091468012028E-92</c:v>
                </c:pt>
                <c:pt idx="19">
                  <c:v>0</c:v>
                </c:pt>
                <c:pt idx="20">
                  <c:v>0</c:v>
                </c:pt>
                <c:pt idx="21">
                  <c:v>0</c:v>
                </c:pt>
                <c:pt idx="22">
                  <c:v>0</c:v>
                </c:pt>
                <c:pt idx="23">
                  <c:v>1.8726705418768793E-94</c:v>
                </c:pt>
                <c:pt idx="24">
                  <c:v>1.1985091468012028E-92</c:v>
                </c:pt>
                <c:pt idx="25">
                  <c:v>1.365176825028245E-91</c:v>
                </c:pt>
                <c:pt idx="26">
                  <c:v>5.5917642753156917E-88</c:v>
                </c:pt>
                <c:pt idx="27">
                  <c:v>3.5787291362020427E-86</c:v>
                </c:pt>
                <c:pt idx="28">
                  <c:v>4.1506546165799271E-84</c:v>
                </c:pt>
                <c:pt idx="29">
                  <c:v>3.8988097167198147E-82</c:v>
                </c:pt>
                <c:pt idx="30">
                  <c:v>2.7722244847085556E-80</c:v>
                </c:pt>
                <c:pt idx="31">
                  <c:v>1.8210137799342793E-78</c:v>
                </c:pt>
                <c:pt idx="32">
                  <c:v>1.0152847915796762E-76</c:v>
                </c:pt>
                <c:pt idx="33">
                  <c:v>4.8150448398675127E-75</c:v>
                </c:pt>
                <c:pt idx="34">
                  <c:v>1.9659445089123969E-73</c:v>
                </c:pt>
                <c:pt idx="35">
                  <c:v>7.2328847238423251E-72</c:v>
                </c:pt>
                <c:pt idx="36">
                  <c:v>2.3640627710216433E-70</c:v>
                </c:pt>
                <c:pt idx="37">
                  <c:v>6.8780804597113461E-69</c:v>
                </c:pt>
                <c:pt idx="38">
                  <c:v>1.8083134857131762E-67</c:v>
                </c:pt>
                <c:pt idx="39">
                  <c:v>4.2970146202182299E-66</c:v>
                </c:pt>
                <c:pt idx="40">
                  <c:v>9.2942807577258542E-65</c:v>
                </c:pt>
                <c:pt idx="41">
                  <c:v>1.836607653124796E-63</c:v>
                </c:pt>
                <c:pt idx="42">
                  <c:v>3.3322072392451988E-62</c:v>
                </c:pt>
                <c:pt idx="43">
                  <c:v>5.572754121847788E-61</c:v>
                </c:pt>
                <c:pt idx="44">
                  <c:v>8.6218291166891933E-60</c:v>
                </c:pt>
                <c:pt idx="45">
                  <c:v>1.238412612670638E-58</c:v>
                </c:pt>
                <c:pt idx="46">
                  <c:v>1.6569731939279047E-57</c:v>
                </c:pt>
                <c:pt idx="47">
                  <c:v>2.071283414300022E-56</c:v>
                </c:pt>
                <c:pt idx="48">
                  <c:v>2.4260980350628877E-55</c:v>
                </c:pt>
                <c:pt idx="49">
                  <c:v>2.6698288353100773E-54</c:v>
                </c:pt>
                <c:pt idx="50">
                  <c:v>2.7673280857322066E-53</c:v>
                </c:pt>
                <c:pt idx="51">
                  <c:v>2.7081283852224268E-52</c:v>
                </c:pt>
                <c:pt idx="52">
                  <c:v>2.5077728853448524E-51</c:v>
                </c:pt>
                <c:pt idx="53">
                  <c:v>2.2020595196985367E-50</c:v>
                </c:pt>
                <c:pt idx="54">
                  <c:v>1.8372133422299007E-49</c:v>
                </c:pt>
                <c:pt idx="55">
                  <c:v>1.4591413155032454E-48</c:v>
                </c:pt>
                <c:pt idx="56">
                  <c:v>1.1051347597904817E-47</c:v>
                </c:pt>
                <c:pt idx="57">
                  <c:v>7.9955027863229572E-47</c:v>
                </c:pt>
                <c:pt idx="58">
                  <c:v>5.53456568259737E-46</c:v>
                </c:pt>
                <c:pt idx="59">
                  <c:v>3.6710222838035397E-45</c:v>
                </c:pt>
                <c:pt idx="60">
                  <c:v>2.3365848220277212E-44</c:v>
                </c:pt>
                <c:pt idx="61">
                  <c:v>1.4290971596927036E-43</c:v>
                </c:pt>
                <c:pt idx="62">
                  <c:v>8.4099456638842665E-43</c:v>
                </c:pt>
                <c:pt idx="63">
                  <c:v>4.7677597424333998E-42</c:v>
                </c:pt>
                <c:pt idx="64">
                  <c:v>2.6069824353828554E-41</c:v>
                </c:pt>
                <c:pt idx="65">
                  <c:v>1.3764285796822632E-40</c:v>
                </c:pt>
                <c:pt idx="66">
                  <c:v>7.0247008440580876E-40</c:v>
                </c:pt>
                <c:pt idx="67">
                  <c:v>3.4690160675529742E-39</c:v>
                </c:pt>
                <c:pt idx="68">
                  <c:v>1.6592626716764856E-38</c:v>
                </c:pt>
                <c:pt idx="69">
                  <c:v>7.6941671078923263E-38</c:v>
                </c:pt>
                <c:pt idx="70">
                  <c:v>3.4620675869164678E-37</c:v>
                </c:pt>
                <c:pt idx="71">
                  <c:v>1.5128996636285256E-36</c:v>
                </c:pt>
                <c:pt idx="72">
                  <c:v>6.4260332919763156E-36</c:v>
                </c:pt>
                <c:pt idx="73">
                  <c:v>2.6550756716752545E-35</c:v>
                </c:pt>
                <c:pt idx="74">
                  <c:v>1.0679250236651868E-34</c:v>
                </c:pt>
                <c:pt idx="75">
                  <c:v>4.1845639335301446E-34</c:v>
                </c:pt>
                <c:pt idx="76">
                  <c:v>1.5984841852236738E-33</c:v>
                </c:pt>
                <c:pt idx="77">
                  <c:v>5.9567098630938949E-33</c:v>
                </c:pt>
                <c:pt idx="78">
                  <c:v>2.166828457275942E-32</c:v>
                </c:pt>
                <c:pt idx="79">
                  <c:v>7.6989577665754902E-32</c:v>
                </c:pt>
                <c:pt idx="80">
                  <c:v>2.6735473249762389E-31</c:v>
                </c:pt>
                <c:pt idx="81">
                  <c:v>9.0790814538930694E-31</c:v>
                </c:pt>
                <c:pt idx="82">
                  <c:v>3.0167162903644964E-30</c:v>
                </c:pt>
                <c:pt idx="83">
                  <c:v>9.8128969443823311E-30</c:v>
                </c:pt>
                <c:pt idx="84">
                  <c:v>3.1264653947493409E-29</c:v>
                </c:pt>
                <c:pt idx="85">
                  <c:v>9.7615577805365326E-29</c:v>
                </c:pt>
                <c:pt idx="86">
                  <c:v>2.9881453149304182E-28</c:v>
                </c:pt>
                <c:pt idx="87">
                  <c:v>8.9722663486389361E-28</c:v>
                </c:pt>
                <c:pt idx="88">
                  <c:v>2.6437134811471988E-27</c:v>
                </c:pt>
                <c:pt idx="89">
                  <c:v>7.6476107657411028E-27</c:v>
                </c:pt>
                <c:pt idx="90">
                  <c:v>2.1727884956637314E-26</c:v>
                </c:pt>
                <c:pt idx="91">
                  <c:v>6.0654715084942471E-26</c:v>
                </c:pt>
                <c:pt idx="92">
                  <c:v>1.6643189268958518E-25</c:v>
                </c:pt>
                <c:pt idx="93">
                  <c:v>4.4905276620661625E-25</c:v>
                </c:pt>
                <c:pt idx="94">
                  <c:v>1.1918065682413987E-24</c:v>
                </c:pt>
                <c:pt idx="95">
                  <c:v>3.1125438056284261E-24</c:v>
                </c:pt>
                <c:pt idx="96">
                  <c:v>8.0015734038340773E-24</c:v>
                </c:pt>
                <c:pt idx="97">
                  <c:v>2.0254888714890518E-23</c:v>
                </c:pt>
                <c:pt idx="98">
                  <c:v>5.050318723054513E-23</c:v>
                </c:pt>
                <c:pt idx="99">
                  <c:v>1.2407316181160317E-22</c:v>
                </c:pt>
                <c:pt idx="100">
                  <c:v>3.0042679617207547E-22</c:v>
                </c:pt>
                <c:pt idx="101">
                  <c:v>7.1718129623295702E-22</c:v>
                </c:pt>
                <c:pt idx="102">
                  <c:v>1.6883896712949263E-21</c:v>
                </c:pt>
                <c:pt idx="103">
                  <c:v>3.9209403478578012E-21</c:v>
                </c:pt>
                <c:pt idx="104">
                  <c:v>8.9845951668857942E-21</c:v>
                </c:pt>
                <c:pt idx="105">
                  <c:v>2.0319410665707816E-20</c:v>
                </c:pt>
                <c:pt idx="106">
                  <c:v>4.5366826975823838E-20</c:v>
                </c:pt>
                <c:pt idx="107">
                  <c:v>1.0002019852920533E-19</c:v>
                </c:pt>
                <c:pt idx="108">
                  <c:v>2.1780275632337306E-19</c:v>
                </c:pt>
                <c:pt idx="109">
                  <c:v>4.6856179023974571E-19</c:v>
                </c:pt>
                <c:pt idx="110">
                  <c:v>9.9608625213981853E-19</c:v>
                </c:pt>
                <c:pt idx="111">
                  <c:v>2.0929058207139843E-18</c:v>
                </c:pt>
                <c:pt idx="112">
                  <c:v>4.3472900986531678E-18</c:v>
                </c:pt>
                <c:pt idx="113">
                  <c:v>8.9288355376984811E-18</c:v>
                </c:pt>
                <c:pt idx="114">
                  <c:v>1.8137063915573395E-17</c:v>
                </c:pt>
                <c:pt idx="115">
                  <c:v>3.6443619315368311E-17</c:v>
                </c:pt>
                <c:pt idx="116">
                  <c:v>7.245069643381944E-17</c:v>
                </c:pt>
                <c:pt idx="117">
                  <c:v>1.4253194879403707E-16</c:v>
                </c:pt>
                <c:pt idx="118">
                  <c:v>2.7753033787714871E-16</c:v>
                </c:pt>
                <c:pt idx="119">
                  <c:v>5.3495257454398927E-16</c:v>
                </c:pt>
                <c:pt idx="120">
                  <c:v>1.0209459328037421E-15</c:v>
                </c:pt>
                <c:pt idx="121">
                  <c:v>1.9295100912121349E-15</c:v>
                </c:pt>
                <c:pt idx="122">
                  <c:v>3.6117744399887815E-15</c:v>
                </c:pt>
                <c:pt idx="123">
                  <c:v>6.6972129140826298E-15</c:v>
                </c:pt>
                <c:pt idx="124">
                  <c:v>1.2303721501876299E-14</c:v>
                </c:pt>
                <c:pt idx="125">
                  <c:v>2.2398303745354791E-14</c:v>
                </c:pt>
                <c:pt idx="126">
                  <c:v>4.0410645982663158E-14</c:v>
                </c:pt>
                <c:pt idx="127">
                  <c:v>7.2267449614036142E-14</c:v>
                </c:pt>
                <c:pt idx="128">
                  <c:v>1.2812052353631298E-13</c:v>
                </c:pt>
                <c:pt idx="129">
                  <c:v>2.2520864533260251E-13</c:v>
                </c:pt>
                <c:pt idx="130">
                  <c:v>3.9255610704024518E-13</c:v>
                </c:pt>
                <c:pt idx="131">
                  <c:v>6.7862108438720628E-13</c:v>
                </c:pt>
                <c:pt idx="132">
                  <c:v>1.1636414739258241E-12</c:v>
                </c:pt>
                <c:pt idx="133">
                  <c:v>1.9793988108826954E-12</c:v>
                </c:pt>
                <c:pt idx="134">
                  <c:v>3.3406001914638485E-12</c:v>
                </c:pt>
                <c:pt idx="135">
                  <c:v>5.5943084294689048E-12</c:v>
                </c:pt>
                <c:pt idx="136">
                  <c:v>9.2971854059865679E-12</c:v>
                </c:pt>
                <c:pt idx="137">
                  <c:v>1.5335258859075054E-11</c:v>
                </c:pt>
                <c:pt idx="138">
                  <c:v>2.510819732847126E-11</c:v>
                </c:pt>
                <c:pt idx="139">
                  <c:v>4.0810693244124966E-11</c:v>
                </c:pt>
                <c:pt idx="140">
                  <c:v>6.5858922295424677E-11</c:v>
                </c:pt>
                <c:pt idx="141">
                  <c:v>1.0553212277919751E-10</c:v>
                </c:pt>
                <c:pt idx="142">
                  <c:v>1.679308044356696E-10</c:v>
                </c:pt>
                <c:pt idx="143">
                  <c:v>2.6539760443196816E-10</c:v>
                </c:pt>
                <c:pt idx="144">
                  <c:v>4.1660928922319294E-10</c:v>
                </c:pt>
                <c:pt idx="145">
                  <c:v>6.4963545703608064E-10</c:v>
                </c:pt>
                <c:pt idx="146">
                  <c:v>1.0063798947291304E-9</c:v>
                </c:pt>
                <c:pt idx="147">
                  <c:v>1.548985834487732E-9</c:v>
                </c:pt>
                <c:pt idx="148">
                  <c:v>2.369011630591396E-9</c:v>
                </c:pt>
                <c:pt idx="149">
                  <c:v>3.6004881906052876E-9</c:v>
                </c:pt>
                <c:pt idx="150">
                  <c:v>5.4383789865192768E-9</c:v>
                </c:pt>
                <c:pt idx="151">
                  <c:v>8.1645096890975294E-9</c:v>
                </c:pt>
                <c:pt idx="152">
                  <c:v>1.2183757940722693E-8</c:v>
                </c:pt>
                <c:pt idx="153">
                  <c:v>1.8074245336253395E-8</c:v>
                </c:pt>
                <c:pt idx="154">
                  <c:v>2.665651653917194E-8</c:v>
                </c:pt>
                <c:pt idx="155">
                  <c:v>3.9088302597905671E-8</c:v>
                </c:pt>
                <c:pt idx="156">
                  <c:v>5.6993542319343134E-8</c:v>
                </c:pt>
                <c:pt idx="157">
                  <c:v>8.2636992651177183E-8</c:v>
                </c:pt>
                <c:pt idx="158">
                  <c:v>1.1915913543992057E-7</c:v>
                </c:pt>
                <c:pt idx="159">
                  <c:v>1.7089034931797245E-7</c:v>
                </c:pt>
                <c:pt idx="160">
                  <c:v>2.4376865738104044E-7</c:v>
                </c:pt>
                <c:pt idx="161">
                  <c:v>3.4589201251637244E-7</c:v>
                </c:pt>
                <c:pt idx="162">
                  <c:v>4.8824430773436808E-7</c:v>
                </c:pt>
                <c:pt idx="163">
                  <c:v>6.8564440254746246E-7</c:v>
                </c:pt>
                <c:pt idx="164">
                  <c:v>9.5797978330047182E-7</c:v>
                </c:pt>
                <c:pt idx="165">
                  <c:v>1.3318014124956953E-6</c:v>
                </c:pt>
                <c:pt idx="166">
                  <c:v>1.8423742991005288E-6</c:v>
                </c:pt>
                <c:pt idx="167">
                  <c:v>2.5362998088858363E-6</c:v>
                </c:pt>
                <c:pt idx="168">
                  <c:v>3.4748512392105929E-6</c:v>
                </c:pt>
                <c:pt idx="169">
                  <c:v>4.738194246857412E-6</c:v>
                </c:pt>
                <c:pt idx="170">
                  <c:v>6.4306989056142173E-6</c:v>
                </c:pt>
                <c:pt idx="171">
                  <c:v>8.6875910612755831E-6</c:v>
                </c:pt>
                <c:pt idx="172">
                  <c:v>1.1683237824711693E-5</c:v>
                </c:pt>
                <c:pt idx="173">
                  <c:v>1.564141606038366E-5</c:v>
                </c:pt>
                <c:pt idx="174">
                  <c:v>2.0847974112363244E-5</c:v>
                </c:pt>
                <c:pt idx="175">
                  <c:v>2.7666366223878997E-5</c:v>
                </c:pt>
                <c:pt idx="176">
                  <c:v>3.6556616521498662E-5</c:v>
                </c:pt>
                <c:pt idx="177">
                  <c:v>4.8098355300541571E-5</c:v>
                </c:pt>
                <c:pt idx="178">
                  <c:v>6.3018664758521137E-5</c:v>
                </c:pt>
                <c:pt idx="179">
                  <c:v>8.222557417955009E-5</c:v>
                </c:pt>
                <c:pt idx="180">
                  <c:v>1.0684815554451748E-4</c:v>
                </c:pt>
                <c:pt idx="181">
                  <c:v>1.3828428903110487E-4</c:v>
                </c:pt>
                <c:pt idx="182">
                  <c:v>1.7825729296499487E-4</c:v>
                </c:pt>
                <c:pt idx="183">
                  <c:v>2.2888274323590326E-4</c:v>
                </c:pt>
                <c:pt idx="184">
                  <c:v>2.9274694137064342E-4</c:v>
                </c:pt>
                <c:pt idx="185">
                  <c:v>3.7299862631728149E-4</c:v>
                </c:pt>
                <c:pt idx="186">
                  <c:v>4.7345566008349032E-4</c:v>
                </c:pt>
                <c:pt idx="187">
                  <c:v>5.9872854877454282E-4</c:v>
                </c:pt>
                <c:pt idx="188">
                  <c:v>7.5436278495373229E-4</c:v>
                </c:pt>
                <c:pt idx="189">
                  <c:v>9.4700211082792763E-4</c:v>
                </c:pt>
                <c:pt idx="190">
                  <c:v>1.1845749003438759E-3</c:v>
                </c:pt>
                <c:pt idx="191">
                  <c:v>1.4765059373544737E-3</c:v>
                </c:pt>
                <c:pt idx="192">
                  <c:v>1.8339559216775001E-3</c:v>
                </c:pt>
                <c:pt idx="193">
                  <c:v>2.2700910600678857E-3</c:v>
                </c:pt>
                <c:pt idx="194">
                  <c:v>2.8003850896047748E-3</c:v>
                </c:pt>
                <c:pt idx="195">
                  <c:v>3.4429560314678084E-3</c:v>
                </c:pt>
                <c:pt idx="196">
                  <c:v>4.2189398783491049E-3</c:v>
                </c:pt>
                <c:pt idx="197">
                  <c:v>5.1529032738918418E-3</c:v>
                </c:pt>
                <c:pt idx="198">
                  <c:v>6.2732970428163413E-3</c:v>
                </c:pt>
                <c:pt idx="199">
                  <c:v>7.6129521719158844E-3</c:v>
                </c:pt>
                <c:pt idx="200">
                  <c:v>9.2096195212136144E-3</c:v>
                </c:pt>
                <c:pt idx="201">
                  <c:v>1.1106554158974559E-2</c:v>
                </c:pt>
                <c:pt idx="202">
                  <c:v>1.3353144762194728E-2</c:v>
                </c:pt>
                <c:pt idx="203">
                  <c:v>1.6005588005361632E-2</c:v>
                </c:pt>
                <c:pt idx="204">
                  <c:v>1.9127607275664E-2</c:v>
                </c:pt>
                <c:pt idx="205">
                  <c:v>2.2791214404502835E-2</c:v>
                </c:pt>
                <c:pt idx="206">
                  <c:v>2.707751239731724E-2</c:v>
                </c:pt>
                <c:pt idx="207">
                  <c:v>3.2077536381390562E-2</c:v>
                </c:pt>
                <c:pt idx="208">
                  <c:v>3.7893129181883617E-2</c:v>
                </c:pt>
                <c:pt idx="209">
                  <c:v>4.4637847088214382E-2</c:v>
                </c:pt>
                <c:pt idx="210">
                  <c:v>5.2437890496270054E-2</c:v>
                </c:pt>
                <c:pt idx="211">
                  <c:v>6.1433053219048919E-2</c:v>
                </c:pt>
                <c:pt idx="212">
                  <c:v>7.177768336130276E-2</c:v>
                </c:pt>
                <c:pt idx="213">
                  <c:v>8.3641647768106051E-2</c:v>
                </c:pt>
                <c:pt idx="214">
                  <c:v>9.7211291197257035E-2</c:v>
                </c:pt>
                <c:pt idx="215">
                  <c:v>0.11269038054784164</c:v>
                </c:pt>
                <c:pt idx="216">
                  <c:v>0.13030102371866487</c:v>
                </c:pt>
                <c:pt idx="217">
                  <c:v>0.15028455198667781</c:v>
                </c:pt>
                <c:pt idx="218">
                  <c:v>0.17290235420477115</c:v>
                </c:pt>
                <c:pt idx="219">
                  <c:v>0.19843665063592505</c:v>
                </c:pt>
                <c:pt idx="220">
                  <c:v>0.22719119388112885</c:v>
                </c:pt>
                <c:pt idx="221">
                  <c:v>0.25949188413879104</c:v>
                </c:pt>
                <c:pt idx="222">
                  <c:v>0.29568728596112098</c:v>
                </c:pt>
                <c:pt idx="223">
                  <c:v>0.33614903376605759</c:v>
                </c:pt>
                <c:pt idx="224">
                  <c:v>0.38127211362176006</c:v>
                </c:pt>
                <c:pt idx="225">
                  <c:v>0.43147500925914017</c:v>
                </c:pt>
                <c:pt idx="226">
                  <c:v>0.48719970088341674</c:v>
                </c:pt>
                <c:pt idx="227">
                  <c:v>0.54891150615275108</c:v>
                </c:pt>
                <c:pt idx="228">
                  <c:v>0.61709875366583644</c:v>
                </c:pt>
                <c:pt idx="229">
                  <c:v>0.69227228044936928</c:v>
                </c:pt>
                <c:pt idx="230">
                  <c:v>0.77496474624550549</c:v>
                </c:pt>
                <c:pt idx="231">
                  <c:v>0.8657297588668702</c:v>
                </c:pt>
                <c:pt idx="232">
                  <c:v>0.96514080648771683</c:v>
                </c:pt>
                <c:pt idx="233">
                  <c:v>1.0737899944673894</c:v>
                </c:pt>
                <c:pt idx="234">
                  <c:v>1.1922865861284513</c:v>
                </c:pt>
                <c:pt idx="235">
                  <c:v>1.321255348822588</c:v>
                </c:pt>
                <c:pt idx="236">
                  <c:v>1.4613347085833297</c:v>
                </c:pt>
                <c:pt idx="237">
                  <c:v>1.6131747186627965</c:v>
                </c:pt>
                <c:pt idx="238">
                  <c:v>1.7774348492596996</c:v>
                </c:pt>
                <c:pt idx="239">
                  <c:v>1.9547816077293685</c:v>
                </c:pt>
                <c:pt idx="240">
                  <c:v>2.1458860005076801</c:v>
                </c:pt>
                <c:pt idx="241">
                  <c:v>2.3514208498508977</c:v>
                </c:pt>
                <c:pt idx="242">
                  <c:v>2.5720579802593742</c:v>
                </c:pt>
                <c:pt idx="243">
                  <c:v>2.8084652911023795</c:v>
                </c:pt>
                <c:pt idx="244">
                  <c:v>3.0613037334591007</c:v>
                </c:pt>
                <c:pt idx="245">
                  <c:v>3.3312242105259959</c:v>
                </c:pt>
                <c:pt idx="246">
                  <c:v>3.6188644220883734</c:v>
                </c:pt>
                <c:pt idx="247">
                  <c:v>3.9248456744954847</c:v>
                </c:pt>
                <c:pt idx="248">
                  <c:v>4.2497696783167136</c:v>
                </c:pt>
                <c:pt idx="249">
                  <c:v>4.5942153563522599</c:v>
                </c:pt>
                <c:pt idx="250">
                  <c:v>4.9587356849506081</c:v>
                </c:pt>
                <c:pt idx="251">
                  <c:v>5.3438545916195839</c:v>
                </c:pt>
                <c:pt idx="252">
                  <c:v>5.7500639317156281</c:v>
                </c:pt>
                <c:pt idx="253">
                  <c:v>6.1778205665617332</c:v>
                </c:pt>
                <c:pt idx="254">
                  <c:v>6.6275435646845651</c:v>
                </c:pt>
                <c:pt idx="255">
                  <c:v>7.0996115469770169</c:v>
                </c:pt>
                <c:pt idx="256">
                  <c:v>7.5943601955014621</c:v>
                </c:pt>
                <c:pt idx="257">
                  <c:v>8.1120799443739315</c:v>
                </c:pt>
                <c:pt idx="258">
                  <c:v>8.6530138697030612</c:v>
                </c:pt>
                <c:pt idx="259">
                  <c:v>9.2173557939489736</c:v>
                </c:pt>
                <c:pt idx="260">
                  <c:v>9.8052486183088554</c:v>
                </c:pt>
                <c:pt idx="261">
                  <c:v>10.416782894876439</c:v>
                </c:pt>
                <c:pt idx="262">
                  <c:v>11.051995648350793</c:v>
                </c:pt>
                <c:pt idx="263">
                  <c:v>11.710869455052929</c:v>
                </c:pt>
                <c:pt idx="264">
                  <c:v>12.393331784926552</c:v>
                </c:pt>
                <c:pt idx="265">
                  <c:v>13.099254610101777</c:v>
                </c:pt>
                <c:pt idx="266">
                  <c:v>13.828454281517677</c:v>
                </c:pt>
                <c:pt idx="267">
                  <c:v>14.580691673010621</c:v>
                </c:pt>
                <c:pt idx="268">
                  <c:v>15.355672590266249</c:v>
                </c:pt>
                <c:pt idx="269">
                  <c:v>16.153048440068947</c:v>
                </c:pt>
                <c:pt idx="270">
                  <c:v>16.972417153396993</c:v>
                </c:pt>
                <c:pt idx="271">
                  <c:v>17.813324354160525</c:v>
                </c:pt>
                <c:pt idx="272">
                  <c:v>18.675264763697378</c:v>
                </c:pt>
                <c:pt idx="273">
                  <c:v>19.557683829638222</c:v>
                </c:pt>
                <c:pt idx="274">
                  <c:v>20.459979566350057</c:v>
                </c:pt>
                <c:pt idx="275">
                  <c:v>21.3815045929387</c:v>
                </c:pt>
                <c:pt idx="276">
                  <c:v>22.321568353723322</c:v>
                </c:pt>
                <c:pt idx="277">
                  <c:v>23.279439505154549</c:v>
                </c:pt>
                <c:pt idx="278">
                  <c:v>24.25434845242896</c:v>
                </c:pt>
                <c:pt idx="279">
                  <c:v>25.245490018440698</c:v>
                </c:pt>
                <c:pt idx="280">
                  <c:v>26.252026227307013</c:v>
                </c:pt>
                <c:pt idx="281">
                  <c:v>27.273089184442085</c:v>
                </c:pt>
                <c:pt idx="282">
                  <c:v>28.307784035042115</c:v>
                </c:pt>
                <c:pt idx="283">
                  <c:v>29.355191982911531</c:v>
                </c:pt>
                <c:pt idx="284">
                  <c:v>30.41437335173628</c:v>
                </c:pt>
                <c:pt idx="285">
                  <c:v>31.484370671245625</c:v>
                </c:pt>
                <c:pt idx="286">
                  <c:v>32.564211771162647</c:v>
                </c:pt>
                <c:pt idx="287">
                  <c:v>33.652912866395219</c:v>
                </c:pt>
                <c:pt idx="288">
                  <c:v>34.749481617613505</c:v>
                </c:pt>
                <c:pt idx="289">
                  <c:v>35.852920152106712</c:v>
                </c:pt>
                <c:pt idx="290">
                  <c:v>36.962228030668406</c:v>
                </c:pt>
                <c:pt idx="291">
                  <c:v>38.076405147172835</c:v>
                </c:pt>
                <c:pt idx="292">
                  <c:v>39.194454548473722</c:v>
                </c:pt>
                <c:pt idx="293">
                  <c:v>40.31538516327813</c:v>
                </c:pt>
                <c:pt idx="294">
                  <c:v>41.438214429698213</c:v>
                </c:pt>
                <c:pt idx="295">
                  <c:v>42.561970812254835</c:v>
                </c:pt>
                <c:pt idx="296">
                  <c:v>43.685696200203601</c:v>
                </c:pt>
                <c:pt idx="297">
                  <c:v>44.808448180121822</c:v>
                </c:pt>
                <c:pt idx="298">
                  <c:v>45.929302176802601</c:v>
                </c:pt>
                <c:pt idx="299">
                  <c:v>47.047353457545846</c:v>
                </c:pt>
                <c:pt idx="300">
                  <c:v>48.161718995985147</c:v>
                </c:pt>
                <c:pt idx="301">
                  <c:v>49.271539192604259</c:v>
                </c:pt>
                <c:pt idx="302">
                  <c:v>50.375979450060328</c:v>
                </c:pt>
                <c:pt idx="303">
                  <c:v>51.47423160237129</c:v>
                </c:pt>
                <c:pt idx="304">
                  <c:v>52.565515197893717</c:v>
                </c:pt>
                <c:pt idx="305">
                  <c:v>53.649078636862328</c:v>
                </c:pt>
                <c:pt idx="306">
                  <c:v>54.724200165030233</c:v>
                </c:pt>
                <c:pt idx="307">
                  <c:v>55.790188725659853</c:v>
                </c:pt>
                <c:pt idx="308">
                  <c:v>56.846384672790151</c:v>
                </c:pt>
                <c:pt idx="309">
                  <c:v>57.89216034929472</c:v>
                </c:pt>
                <c:pt idx="310">
                  <c:v>58.926920533772332</c:v>
                </c:pt>
                <c:pt idx="311">
                  <c:v>59.9501027608177</c:v>
                </c:pt>
                <c:pt idx="312">
                  <c:v>60.961177519605805</c:v>
                </c:pt>
                <c:pt idx="313">
                  <c:v>61.959648336103413</c:v>
                </c:pt>
                <c:pt idx="314">
                  <c:v>62.945051744517521</c:v>
                </c:pt>
                <c:pt idx="315">
                  <c:v>63.916957153823702</c:v>
                </c:pt>
                <c:pt idx="316">
                  <c:v>64.874966615439973</c:v>
                </c:pt>
                <c:pt idx="317">
                  <c:v>65.818714498216906</c:v>
                </c:pt>
                <c:pt idx="318">
                  <c:v>66.747867077039487</c:v>
                </c:pt>
                <c:pt idx="319">
                  <c:v>67.66212204137409</c:v>
                </c:pt>
                <c:pt idx="320">
                  <c:v>68.56120793009643</c:v>
                </c:pt>
                <c:pt idx="321">
                  <c:v>69.444883498920447</c:v>
                </c:pt>
                <c:pt idx="322">
                  <c:v>70.312937026664699</c:v>
                </c:pt>
                <c:pt idx="323">
                  <c:v>71.165185566508356</c:v>
                </c:pt>
                <c:pt idx="324">
                  <c:v>72.001474148256179</c:v>
                </c:pt>
                <c:pt idx="325">
                  <c:v>72.821674937472821</c:v>
                </c:pt>
                <c:pt idx="326">
                  <c:v>73.625686357181308</c:v>
                </c:pt>
                <c:pt idx="327">
                  <c:v>74.413432177615846</c:v>
                </c:pt>
                <c:pt idx="328">
                  <c:v>75.184860579312257</c:v>
                </c:pt>
                <c:pt idx="329">
                  <c:v>75.939943194584743</c:v>
                </c:pt>
                <c:pt idx="330">
                  <c:v>76.678674132209864</c:v>
                </c:pt>
                <c:pt idx="331">
                  <c:v>77.401068989881551</c:v>
                </c:pt>
                <c:pt idx="332">
                  <c:v>78.107163858753154</c:v>
                </c:pt>
                <c:pt idx="333">
                  <c:v>78.797014324120212</c:v>
                </c:pt>
                <c:pt idx="334">
                  <c:v>79.470694466042175</c:v>
                </c:pt>
                <c:pt idx="335">
                  <c:v>80.128295863433323</c:v>
                </c:pt>
                <c:pt idx="336">
                  <c:v>80.769926604900007</c:v>
                </c:pt>
                <c:pt idx="337">
                  <c:v>81.395710309339748</c:v>
                </c:pt>
                <c:pt idx="338">
                  <c:v>82.00578515906416</c:v>
                </c:pt>
                <c:pt idx="339">
                  <c:v>82.60030294796492</c:v>
                </c:pt>
                <c:pt idx="340">
                  <c:v>83.179428146994965</c:v>
                </c:pt>
                <c:pt idx="341">
                  <c:v>83.743336989005442</c:v>
                </c:pt>
                <c:pt idx="342">
                  <c:v>84.292216574752217</c:v>
                </c:pt>
                <c:pt idx="343">
                  <c:v>84.826264001671902</c:v>
                </c:pt>
                <c:pt idx="344">
                  <c:v>85.345685516810306</c:v>
                </c:pt>
                <c:pt idx="345">
                  <c:v>85.850695695101024</c:v>
                </c:pt>
                <c:pt idx="346">
                  <c:v>86.341516643990971</c:v>
                </c:pt>
                <c:pt idx="347">
                  <c:v>86.818377235239055</c:v>
                </c:pt>
                <c:pt idx="348">
                  <c:v>87.281512364544895</c:v>
                </c:pt>
                <c:pt idx="349">
                  <c:v>87.73116223950565</c:v>
                </c:pt>
                <c:pt idx="350">
                  <c:v>88.167571696254171</c:v>
                </c:pt>
                <c:pt idx="351">
                  <c:v>88.590989544991189</c:v>
                </c:pt>
                <c:pt idx="352">
                  <c:v>89.001667944504334</c:v>
                </c:pt>
                <c:pt idx="353">
                  <c:v>89.39986180564317</c:v>
                </c:pt>
                <c:pt idx="354">
                  <c:v>89.785828223615582</c:v>
                </c:pt>
                <c:pt idx="355">
                  <c:v>90.159825938875102</c:v>
                </c:pt>
                <c:pt idx="356">
                  <c:v>90.522114826275313</c:v>
                </c:pt>
                <c:pt idx="357">
                  <c:v>90.872955412093319</c:v>
                </c:pt>
                <c:pt idx="358">
                  <c:v>91.212608418447743</c:v>
                </c:pt>
                <c:pt idx="359">
                  <c:v>91.541334334578607</c:v>
                </c:pt>
                <c:pt idx="360">
                  <c:v>91.859393014393532</c:v>
                </c:pt>
                <c:pt idx="361">
                  <c:v>92.167043299644376</c:v>
                </c:pt>
                <c:pt idx="362">
                  <c:v>92.464542668050157</c:v>
                </c:pt>
                <c:pt idx="363">
                  <c:v>92.752146905649596</c:v>
                </c:pt>
                <c:pt idx="364">
                  <c:v>93.030109802635351</c:v>
                </c:pt>
                <c:pt idx="365">
                  <c:v>93.298682871902443</c:v>
                </c:pt>
                <c:pt idx="366">
                  <c:v>93.558115089517443</c:v>
                </c:pt>
                <c:pt idx="367">
                  <c:v>93.808652656308269</c:v>
                </c:pt>
                <c:pt idx="368">
                  <c:v>94.050538779761595</c:v>
                </c:pt>
                <c:pt idx="369">
                  <c:v>94.284013475408415</c:v>
                </c:pt>
                <c:pt idx="370">
                  <c:v>94.509313386880464</c:v>
                </c:pt>
                <c:pt idx="371">
                  <c:v>94.726671623818049</c:v>
                </c:pt>
                <c:pt idx="372">
                  <c:v>94.936317616817732</c:v>
                </c:pt>
                <c:pt idx="373">
                  <c:v>95.138476988613817</c:v>
                </c:pt>
                <c:pt idx="374">
                  <c:v>95.333371440699324</c:v>
                </c:pt>
                <c:pt idx="375">
                  <c:v>95.521218654603516</c:v>
                </c:pt>
                <c:pt idx="376">
                  <c:v>95.702232207057051</c:v>
                </c:pt>
                <c:pt idx="377">
                  <c:v>95.876621498293389</c:v>
                </c:pt>
                <c:pt idx="378">
                  <c:v>96.044591692750814</c:v>
                </c:pt>
                <c:pt idx="379">
                  <c:v>96.206343671458185</c:v>
                </c:pt>
                <c:pt idx="380">
                  <c:v>96.362073995409858</c:v>
                </c:pt>
                <c:pt idx="381">
                  <c:v>96.511974879251568</c:v>
                </c:pt>
                <c:pt idx="382">
                  <c:v>96.656234174624387</c:v>
                </c:pt>
                <c:pt idx="383">
                  <c:v>96.795035362534108</c:v>
                </c:pt>
                <c:pt idx="384">
                  <c:v>96.928557554134414</c:v>
                </c:pt>
                <c:pt idx="385">
                  <c:v>97.056975499337952</c:v>
                </c:pt>
                <c:pt idx="386">
                  <c:v>97.180459602688956</c:v>
                </c:pt>
                <c:pt idx="387">
                  <c:v>97.299175945955653</c:v>
                </c:pt>
                <c:pt idx="388">
                  <c:v>97.413286316923205</c:v>
                </c:pt>
                <c:pt idx="389">
                  <c:v>97.522948243889886</c:v>
                </c:pt>
                <c:pt idx="390">
                  <c:v>97.628315035392248</c:v>
                </c:pt>
                <c:pt idx="391">
                  <c:v>97.729535824706119</c:v>
                </c:pt>
                <c:pt idx="392">
                  <c:v>97.826755618693355</c:v>
                </c:pt>
                <c:pt idx="393">
                  <c:v>97.920115350584823</c:v>
                </c:pt>
                <c:pt idx="394">
                  <c:v>98.009751936310153</c:v>
                </c:pt>
                <c:pt idx="395">
                  <c:v>98.095798334006687</c:v>
                </c:pt>
                <c:pt idx="396">
                  <c:v>98.178383606359105</c:v>
                </c:pt>
                <c:pt idx="397">
                  <c:v>98.257632985439784</c:v>
                </c:pt>
                <c:pt idx="398">
                  <c:v>98.333667939740906</c:v>
                </c:pt>
                <c:pt idx="399">
                  <c:v>98.406606243103894</c:v>
                </c:pt>
                <c:pt idx="400">
                  <c:v>98.476562045273056</c:v>
                </c:pt>
              </c:numCache>
            </c:numRef>
          </c:yVal>
          <c:smooth val="0"/>
          <c:extLst>
            <c:ext xmlns:c16="http://schemas.microsoft.com/office/drawing/2014/chart" uri="{C3380CC4-5D6E-409C-BE32-E72D297353CC}">
              <c16:uniqueId val="{00000003-6C55-442D-8CC0-6E06055C17CA}"/>
            </c:ext>
          </c:extLst>
        </c:ser>
        <c:ser>
          <c:idx val="4"/>
          <c:order val="4"/>
          <c:tx>
            <c:strRef>
              <c:f>Sheet1!$B$1613</c:f>
              <c:strCache>
                <c:ptCount val="1"/>
                <c:pt idx="0">
                  <c:v>grens</c:v>
                </c:pt>
              </c:strCache>
            </c:strRef>
          </c:tx>
          <c:spPr>
            <a:ln w="9525">
              <a:solidFill>
                <a:srgbClr val="0A2540"/>
              </a:solidFill>
              <a:prstDash val="dash"/>
            </a:ln>
          </c:spPr>
          <c:marker>
            <c:symbol val="none"/>
          </c:marker>
          <c:xVal>
            <c:numRef>
              <c:f>Sheet1!$A$1614:$A$1616</c:f>
              <c:numCache>
                <c:formatCode>General</c:formatCode>
                <c:ptCount val="3"/>
                <c:pt idx="0">
                  <c:v>13.17</c:v>
                </c:pt>
                <c:pt idx="1">
                  <c:v>13.17</c:v>
                </c:pt>
                <c:pt idx="2">
                  <c:v>13.17</c:v>
                </c:pt>
              </c:numCache>
            </c:numRef>
          </c:xVal>
          <c:yVal>
            <c:numRef>
              <c:f>Sheet1!$B$1614:$B$1616</c:f>
              <c:numCache>
                <c:formatCode>General</c:formatCode>
                <c:ptCount val="3"/>
                <c:pt idx="0">
                  <c:v>0</c:v>
                </c:pt>
                <c:pt idx="1">
                  <c:v>5</c:v>
                </c:pt>
                <c:pt idx="2">
                  <c:v>100</c:v>
                </c:pt>
              </c:numCache>
            </c:numRef>
          </c:yVal>
          <c:smooth val="0"/>
          <c:extLst>
            <c:ext xmlns:c16="http://schemas.microsoft.com/office/drawing/2014/chart" uri="{C3380CC4-5D6E-409C-BE32-E72D297353CC}">
              <c16:uniqueId val="{00000004-6C55-442D-8CC0-6E06055C17CA}"/>
            </c:ext>
          </c:extLst>
        </c:ser>
        <c:ser>
          <c:idx val="5"/>
          <c:order val="5"/>
          <c:tx>
            <c:strRef>
              <c:f>Sheet1!$B$1618</c:f>
              <c:strCache>
                <c:ptCount val="1"/>
                <c:pt idx="0">
                  <c:v>punt 3</c:v>
                </c:pt>
              </c:strCache>
            </c:strRef>
          </c:tx>
          <c:spPr>
            <a:ln>
              <a:noFill/>
            </a:ln>
          </c:spPr>
          <c:marker>
            <c:symbol val="circle"/>
            <c:size val="8"/>
            <c:spPr>
              <a:solidFill>
                <a:srgbClr val="1D8DB0"/>
              </a:solidFill>
              <a:ln w="19050">
                <a:solidFill>
                  <a:srgbClr val="F2F6F9"/>
                </a:solidFill>
              </a:ln>
            </c:spPr>
          </c:marker>
          <c:xVal>
            <c:numRef>
              <c:f>Sheet1!$A$1619:$A$1619</c:f>
              <c:numCache>
                <c:formatCode>General</c:formatCode>
                <c:ptCount val="1"/>
                <c:pt idx="0">
                  <c:v>13.17</c:v>
                </c:pt>
              </c:numCache>
            </c:numRef>
          </c:xVal>
          <c:yVal>
            <c:numRef>
              <c:f>Sheet1!$B$1619:$B$1619</c:f>
              <c:numCache>
                <c:formatCode>General</c:formatCode>
                <c:ptCount val="1"/>
                <c:pt idx="0">
                  <c:v>98.104210515748193</c:v>
                </c:pt>
              </c:numCache>
            </c:numRef>
          </c:yVal>
          <c:smooth val="0"/>
          <c:extLst>
            <c:ext xmlns:c16="http://schemas.microsoft.com/office/drawing/2014/chart" uri="{C3380CC4-5D6E-409C-BE32-E72D297353CC}">
              <c16:uniqueId val="{00000005-6C55-442D-8CC0-6E06055C17CA}"/>
            </c:ext>
          </c:extLst>
        </c:ser>
        <c:ser>
          <c:idx val="6"/>
          <c:order val="6"/>
          <c:tx>
            <c:strRef>
              <c:f>Sheet1!$B$1621</c:f>
              <c:strCache>
                <c:ptCount val="1"/>
                <c:pt idx="0">
                  <c:v>punt 2</c:v>
                </c:pt>
              </c:strCache>
            </c:strRef>
          </c:tx>
          <c:spPr>
            <a:ln>
              <a:noFill/>
            </a:ln>
          </c:spPr>
          <c:marker>
            <c:symbol val="circle"/>
            <c:size val="8"/>
            <c:spPr>
              <a:solidFill>
                <a:srgbClr val="FF7A00"/>
              </a:solidFill>
              <a:ln w="19050">
                <a:solidFill>
                  <a:srgbClr val="F2F6F9"/>
                </a:solidFill>
              </a:ln>
            </c:spPr>
          </c:marker>
          <c:xVal>
            <c:numRef>
              <c:f>Sheet1!$A$1622:$A$1622</c:f>
              <c:numCache>
                <c:formatCode>General</c:formatCode>
                <c:ptCount val="1"/>
                <c:pt idx="0">
                  <c:v>13.17</c:v>
                </c:pt>
              </c:numCache>
            </c:numRef>
          </c:xVal>
          <c:yVal>
            <c:numRef>
              <c:f>Sheet1!$B$1622:$B$1622</c:f>
              <c:numCache>
                <c:formatCode>General</c:formatCode>
                <c:ptCount val="1"/>
                <c:pt idx="0">
                  <c:v>11.981029688055258</c:v>
                </c:pt>
              </c:numCache>
            </c:numRef>
          </c:yVal>
          <c:smooth val="0"/>
          <c:extLst>
            <c:ext xmlns:c16="http://schemas.microsoft.com/office/drawing/2014/chart" uri="{C3380CC4-5D6E-409C-BE32-E72D297353CC}">
              <c16:uniqueId val="{00000006-6C55-442D-8CC0-6E06055C17CA}"/>
            </c:ext>
          </c:extLst>
        </c:ser>
        <c:dLbls>
          <c:showLegendKey val="0"/>
          <c:showVal val="0"/>
          <c:showCatName val="0"/>
          <c:showSerName val="0"/>
          <c:showPercent val="0"/>
          <c:showBubbleSize val="0"/>
        </c:dLbls>
        <c:axId val="-2128940872"/>
        <c:axId val="-2129643912"/>
      </c:scatterChart>
      <c:valAx>
        <c:axId val="-2128940872"/>
        <c:scaling>
          <c:orientation val="minMax"/>
          <c:max val="20"/>
          <c:min val="0"/>
        </c:scaling>
        <c:delete val="0"/>
        <c:axPos val="b"/>
        <c:numFmt formatCode="0" sourceLinked="0"/>
        <c:majorTickMark val="none"/>
        <c:minorTickMark val="none"/>
        <c:tickLblPos val="low"/>
        <c:spPr>
          <a:ln>
            <a:solidFill>
              <a:srgbClr val="D3DFE8"/>
            </a:solidFill>
          </a:ln>
        </c:spPr>
        <c:txPr>
          <a:bodyPr/>
          <a:lstStyle/>
          <a:p>
            <a:pPr>
              <a:defRPr sz="1200" b="0">
                <a:solidFill>
                  <a:srgbClr val="5A6E80"/>
                </a:solidFill>
                <a:latin typeface="Segoe UI"/>
              </a:defRPr>
            </a:pPr>
            <a:endParaRPr lang="nl-BE"/>
          </a:p>
        </c:txPr>
        <c:crossAx val="-2129643912"/>
        <c:crosses val="autoZero"/>
        <c:crossBetween val="midCat"/>
        <c:majorUnit val="6"/>
      </c:valAx>
      <c:valAx>
        <c:axId val="-2129643912"/>
        <c:scaling>
          <c:orientation val="minMax"/>
          <c:max val="100"/>
          <c:min val="0"/>
        </c:scaling>
        <c:delete val="0"/>
        <c:axPos val="l"/>
        <c:majorGridlines>
          <c:spPr>
            <a:ln w="9525">
              <a:solidFill>
                <a:srgbClr val="D3DFE8"/>
              </a:solidFill>
            </a:ln>
          </c:spPr>
        </c:majorGridlines>
        <c:numFmt formatCode="0&quot;%&quot;" sourceLinked="0"/>
        <c:majorTickMark val="none"/>
        <c:minorTickMark val="none"/>
        <c:tickLblPos val="nextTo"/>
        <c:spPr>
          <a:ln>
            <a:noFill/>
          </a:ln>
        </c:spPr>
        <c:txPr>
          <a:bodyPr/>
          <a:lstStyle/>
          <a:p>
            <a:pPr>
              <a:defRPr sz="1200" b="0">
                <a:solidFill>
                  <a:srgbClr val="5A6E80"/>
                </a:solidFill>
                <a:latin typeface="Segoe UI"/>
              </a:defRPr>
            </a:pPr>
            <a:endParaRPr lang="nl-BE"/>
          </a:p>
        </c:txPr>
        <c:crossAx val="-2128940872"/>
        <c:crosses val="autoZero"/>
        <c:crossBetween val="midCat"/>
        <c:majorUnit val="25"/>
      </c:valAx>
      <c:spPr>
        <a:noFill/>
        <a:ln>
          <a:noFill/>
        </a:ln>
      </c:spPr>
    </c:plotArea>
    <c:plotVisOnly val="1"/>
    <c:dispBlanksAs val="gap"/>
    <c:showDLblsOverMax val="0"/>
  </c:chart>
  <c:spPr>
    <a:noFill/>
    <a:ln>
      <a:noFill/>
    </a:ln>
  </c:spPr>
  <c:txPr>
    <a:bodyPr/>
    <a:lstStyle/>
    <a:p>
      <a:pPr>
        <a:defRPr sz="1200">
          <a:solidFill>
            <a:srgbClr val="5A6E8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484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Welkom op de eerste officiële meeting van PARADISE: de kick-off van de studie. PARADISE staat voor Towards Pressure-Adherence and Education Driven Service in Diabetic Foot Disease; onthoud vooral die drie woorden: de druk, het dragen en de educatie. De zes centra: AZ Sint-Jan in Brugge, AZ Groeninge in Kortrijk, UZ Gent, AZORG in Aalst, UZ Antwerpen en UZ Leuven. We volgen de agenda die u vooraf kreeg.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Vandaag vertellen we het verhaal van PARADISE in zeven delen, en elk deel beantwoordt één vraag. Waar staan we vandaag? Wat ligt sinds april vast? Wat verandert er in uw kliniek? Wat moet er nog gebeuren? Hoe geraken we tot de eerste patiënt, eind februari? Wat vragen we van u? En dan is het uw beurt. De meeste tijd gaat naar deel 2, de twee normen, naar deel 5, de planning, en naar de bespreking.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1: Stand van zaken. Eerst waar we vandaag staan: de studie in één beeld, de goedkeuring per centrum en het materiaal dat bij u staat.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 herinnering: 144 deelnemers, 24 per voetkliniek, twaalf in elke arm: Optimal Care, de PARADISE-zorg, en Usual Care, de gebruikelijke zorg. Elke deelnemer wordt achttien maanden gevolgd, met één primair eindpunt: het voetulcusrecidief over die achttien maanden. De PI loot per centrum met verzegelde enveloppen, na bevestigde geschiktheid en toestemming. Blijft één centrum achter, dan loopt de hele studie uit: vandaar het tempo dat we straks vragen. Op de kaart ook uw contactpersoon: Janou De Buyser, PhD A, voor Brugge, Gent en Kortrijk; PhD B voor Aalst, Leuven en Antwerpen.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Drie nieuwe namen in het studieteam. Janou De Buyser, doctoraatsonderzoeker, PhD A: uw contactpersoon in Brugge, Gent en Kortrijk; hij doet de procesevaluatie in Leuven, Aalst en Antwerpen, en geeft de theorie, de technologie, de datacollectie en de droogloop. PhD B, nog te selecteren, wordt de contactpersoon in Aalst, Leuven en Antwerpen en doet de procesevaluatie in Brugge, Gent en Kortrijk. Zo evalueert nooit wie uw dagelijkse contactpersoon is. Gillian Debra is labmanager en neemt het trial master file, de ethische comités en het FAGG op zich.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ethische goedkeuring is het kritieke pad: zonder alle goedkeuringen geen piloot en geen eerste patiënt. Bovenaan wat voor de hele studie geldt: de centrale ethische commissie van UZ Leuven en het FAGG. Daaronder de stand bij het Clinical Trial Center van elk ziekenhuis. UZ Leuven is goedgekeurd; in Kortrijk, Brugge en Antwerpen ligt het volledige dossier bij externe diensten; Gent verwerkte een eerste feedback; AZORG heeft geen CTC en wacht op de andere centra. Geen enkel centrum includeert vóór alle goedkeuringen binnen zijn; opleiden kan wel.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Het materiaal per centrum. De Novel pedar, met laptop, router en twee zenders, is geïnstalleerd in Brugge, onderweg naar Gent en Aalst, en aanwezig maar nog niet geïnstalleerd in Kortrijk, Leuven en Antwerpen. In Leuven zijn we met de installatie van de Novel pedar en de MoveMonitors bezig. De MoveMonitors zijn bijna overal aanwezig; de Orthotimers zijn in Leuven geïnstalleerd en elders aanwezig. Alles hoort geïnstalleerd te zijn vóór uw technologiesessie in december.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Dan deel twee: wat er sinds 1 april vastligt.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214941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2: Ontwikkelingen sinds 1 april 2026. Sinds de meeting van 1 april is er veel vastgelegd. Het belangrijkste gaat over de eerste twee woorden van de naam, de druk en het dragen: voor elk is er nu een norm die de zorg in Optimal Care stuurt.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Zes punten die sinds 1 april vastliggen. De drukmeting: de Novel pedar is het klinische toestel, altijd in de schoen, nooit blootsvoets; de F-Scan GO gebruikt alleen het studieteam, om beide toestellen te vergelijken. Het eindpunt: sinds 3 september één primair eindpunt, het recidief over achttien maanden; therapietrouw wordt volledig gemeten, als mediator. De kern: twee normen sturen de zorg in Optimal Care, voor de druk en voor het dragen; die volgen zo meteen. De CMFO: de opbouw hangt af van het schoentype, en zodra de druknorm gehaald is, volgt een identiek tweede paar. De data: REDCap staat klaar, u werkt op papier en wij voeren in. En de rekrutering: twaalf maanden, niet de achttien van de aanvraag; waarom, ziet u in deel 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Beide armen krijgen dezelfde zool: een drukherverdelende maatzool met dezelfde opbouw, voetzorg en screening om de drie maanden, een draagsensor in de zool en één week MoveMonitor bij de start. Het verschil zit in wat er met de metingen gebeurt. In Optimal Care sturen twee normen de zorg. Eerst de druk. De pedar meet in elke sessie twee keer, zonder en mét de zool, op visite 2 en op maand 6, 12 en 18, op de doelregio's: de vorige ulcuslocatie, en per voet de twee voor- of middenvoetregio's met de hoogste piekdruk boven 200 kilopascal, zoals in de DIAFOS-studie van Bus en collega's. De norm: mét de zool onder 200 kilopascal, óf minstens 25 procent lager dan zonder zool in diezelfde sessie; één van beide volstaat. Zo niet, dan wordt de zool aangepast en opnieuw mét gemeten, tot drie keer; zodra de norm gehaald is, volgt een identiek tweede paar. In Usual Care wordt de druk alleen bij de start en op maand 6 gemeten, geblindeerd: het scherm wordt niet getoond, de waarden niet besproken, en de zool wordt er niet op aangepast.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Samen: twee normen sturen de zorg in Optimal Care, de druk en het dragen. In Usual Care is het dezelfde zool en dezelfde opvolging, maar de metingen blijven geblindeerd, en de druk wordt alleen bij de start en op maand 6 gemeten: niet getoetst, niet besproken, geen feedback, en educatie zoals vandaag met hetzelfde boekje. Omdat dezelfde podologen in beide armen werken, is dat de belangrijkste afspraak: geen SEBIA-technieken en geen gesprek over druk of draagtijd in Usual Care.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CMFO die beide armen krijgen, laag per laag, van onder naar boven, de dikte is op schaal. </a:t>
            </a:r>
            <a:r>
              <a:rPr lang="nl-NL"/>
              <a:t>Onderaan vijf millimeter microkurk of EVA shore 50: die laag zit alleen in een volledig op maat gemaakte schoen.</a:t>
            </a:r>
            <a:r>
              <a:t> Daarop EVA, shore 35 tot 40: vijf millimeter in een maatschoen, </a:t>
            </a:r>
            <a:r>
              <a:rPr lang="nl-NL"/>
              <a:t>zes millimeter zonder die onderlaag in een confectieschoen</a:t>
            </a:r>
            <a:r>
              <a:t> en in semi-orthopedisch schoeisel. Op de EVA, in oranje, het deel dat de druk verplaatst: de metatarsaalbalk, negen tot tien millimeter hoog, in EVA, kurk of een gelijkwaardig materiaal van ongeveer shore 55, zes tot elf millimeter proximaal van de metatarsaalkopjes; ligt maar één regio hoog, of zat daar het vorige ulcus, dan volstaat een lokale pad, en waar nodig komen er bijkomende uitsparingen bij. Daarover de deklaag, over de volledige lengte: drie millimeter open-cellig dempend schuim, bijvoorbeeld PPT, en bovenaan, in goud, drie millimeter gesloten-cellig schuim, bijvoorbeeld Plastazote LD45. Andere materialen met vergelijkbare eigenschappen mogen, als ze op eCRF 23 staan. Samen is dat zestien millimeter in een maatschoen en twaalf in confectie of semi-orthopedisch schoeisel, plus de balk van negen tot tien millimeter: dat is veel voor een schoen. De schoen moet dus adequaat zijn, met voldoende diepte. De pasvorm wordt apart beoordeeld in het binnen- én het buitenschoeisel, met foto's. Wat de zool en de balk doen,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de zool en de balk doen, op één voet. Links de druk zonder zool, met schoen: een rode piek onder de metatarsaalkopjes, en onder de hallux. Met zool 1, een Total Contact Zool, draagt de middenvoet mee en wordt de piek kleiner. Zool 2 krijgt een RCTB van 6 millimeter, zool 3 een van 9: bij elke aanpassing zakt de piek onder de kopjes verder, en de druk verschuift naar de balk erachter. Zo werkt het ook in de studie: meten zonder en mét de zool, en aanpassen waar de norm niet gehaald wordt, tot drie keer. Hoe de zool gemaakt wordt,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Hoe de zool gemaakt wordt. De voetafdruk neemt de pedorthist manueel of met een 3D-scan. De zool wordt thermoplastisch gevormd of met CNC gefreesd. Welke weg ook: de opbouw laag per laag blijft dezelfde, en de pasvorm wordt beoordeeld in het binnen- én het buitenschoeisel, met foto's, op eCRF 23.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Welke schoenen zijn toegelaten? We specifiëren het nog eens goed. Als buitenschoen: een goedgekeurde confectieschoen, een semi-orthopedische schoen of een orthopedische schoen. Hetzelfde geldt voor het binnenschoeisel. Heeft de patiënt maar één paar schoenen dat aan de criteria voldoet, dan moet dat paar ook in huis gedragen worden. De goedgekeurde buiten- en binnenschoenen worden gedocumenteerd, met foto's en een beschrijving. En in deze schoenen moet er altijd plaats zijn voor de opgelegde zooltherapie. Dan het tweede woord van de naam: het dragen.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06243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BE"/>
              <a:t>draagnorm</a:t>
            </a:r>
            <a:r>
              <a:t>, </a:t>
            </a:r>
            <a:r>
              <a:rPr lang="nl-BE"/>
              <a:t>met </a:t>
            </a:r>
            <a:r>
              <a:t>een </a:t>
            </a:r>
            <a:r>
              <a:rPr lang="nl-BE"/>
              <a:t>voorbeeldpatiënt</a:t>
            </a:r>
            <a:r>
              <a:t>. </a:t>
            </a:r>
            <a:r>
              <a:rPr lang="nl-BE"/>
              <a:t>Bij de start draagt </a:t>
            </a:r>
            <a:r>
              <a:t>de </a:t>
            </a:r>
            <a:r>
              <a:rPr lang="nl-BE"/>
              <a:t>patiënt één week </a:t>
            </a:r>
            <a:r>
              <a:t>de </a:t>
            </a:r>
            <a:r>
              <a:rPr lang="nl-BE"/>
              <a:t>MoveMonitor; daaruit halen </a:t>
            </a:r>
            <a:r>
              <a:t>we </a:t>
            </a:r>
            <a:r>
              <a:rPr lang="nl-BE"/>
              <a:t>de slaaptijd </a:t>
            </a:r>
            <a:r>
              <a:t>en </a:t>
            </a:r>
            <a:r>
              <a:rPr lang="nl-BE"/>
              <a:t>dus </a:t>
            </a:r>
            <a:r>
              <a:t>de </a:t>
            </a:r>
            <a:r>
              <a:rPr lang="nl-BE"/>
              <a:t>waaktijd, hier 15,5 uur</a:t>
            </a:r>
            <a:r>
              <a:t>. </a:t>
            </a:r>
            <a:r>
              <a:rPr lang="nl-NL"/>
              <a:t>De norm is tachtig procent daarvan</a:t>
            </a:r>
            <a:r>
              <a:t>, </a:t>
            </a:r>
            <a:r>
              <a:rPr lang="nl-BE"/>
              <a:t>hier 12,4 </a:t>
            </a:r>
            <a:r>
              <a:t>uur</a:t>
            </a:r>
            <a:r>
              <a:rPr lang="nl-BE"/>
              <a:t> per dag</a:t>
            </a:r>
            <a:r>
              <a:t>, </a:t>
            </a:r>
            <a:r>
              <a:rPr lang="nl-NL"/>
              <a:t>alle zeven dagen; die zetten we </a:t>
            </a:r>
            <a:r>
              <a:t>in de </a:t>
            </a:r>
            <a:r>
              <a:rPr lang="nl-NL"/>
              <a:t>Orthotimer, die meet hoeveel uur het schoeisel echt aan was en elk kwartaal wordt uitgelezen</a:t>
            </a:r>
            <a:r>
              <a:t>. </a:t>
            </a:r>
            <a:r>
              <a:rPr lang="nl-BE"/>
              <a:t>Voor de patiënt is </a:t>
            </a:r>
            <a:r>
              <a:t>het </a:t>
            </a:r>
            <a:r>
              <a:rPr lang="nl-NL"/>
              <a:t>één boodschap: u draagt uw schoenen altijd, </a:t>
            </a:r>
            <a:r>
              <a:t>van het </a:t>
            </a:r>
            <a:r>
              <a:rPr lang="nl-BE"/>
              <a:t>moment dat u opstaat </a:t>
            </a:r>
            <a:r>
              <a:t>tot </a:t>
            </a:r>
            <a:r>
              <a:rPr lang="nl-BE"/>
              <a:t>u gaat slapen. Nieuw</a:t>
            </a:r>
            <a:r>
              <a:t>: de </a:t>
            </a:r>
            <a:r>
              <a:rPr lang="nl-NL"/>
              <a:t>meetweek op maand zes vervalt</a:t>
            </a:r>
            <a:r>
              <a:t>, </a:t>
            </a:r>
            <a:r>
              <a:rPr lang="nl-NL"/>
              <a:t>en daarmee een contact per patiënt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Waar komt die grens van 80% eigenlijk vandaan? Die gaat terug op de DIAFOS-studie van Bus en collega’s uit 2013. De onderzoekers kozen deze grens vooraf, omdat ze de patiënten zo in twee even grote groepen konden verdelen. Het was dus in eerste instantie een statistische keuze. Achteraf bleek die grens ook klinisch relevant: bij patiënten die hun voorgeschreven drukverlagend schoeisel minstens 80% van de tijd droegen, trad een recidief op bij 25,7%, tegenover 47,8% bij patiënten in de gebruikelijke zorg.Maar er is een belangrijke nuance. Want wat bedoelen we precies met 80% therapietrouw? Waaijman en collega’s onderzochten bij 107 patiënten het draaggedrag en berekenden de therapietrouw op twee manieren. Wanneer ze keken naar het aantal stappen, droegen patiënten hun voorgeschreven schoenen bij 71% van de stappen. Wanneer ze datzelfde gedrag uitdrukten als percentage van een veronderstelde waakdag van zestien uur, daalde dat cijfer tot 59%.Met andere woorden: 80% van de stappen is niet hetzelfde als 80% van de dag. Daarom kiest PARADISE ervoor om de draagduur uit te drukken in uren, op basis van de individueel gemeten waaktijd. Ook het onderzoek van Jarl en collega’s uit 2023, met onze meettoestellen, ondersteunt het gebruik van draaguren als maat voor therapietrouw.Zo komen we tot een duidelijke keuze voor PARADISE: we meten therapietrouw op basis van de objectief geregistreerde draagduur, uitgedrukt als percentage van de gemeten waaktijd.Referenties: Bus e.a., Diabetes Care 2013;36:4109–16. Waaijman e.a., Diabetes Care 2013;36:1613–8. Jarl e.a., Sensors 2023;23:1648.</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82017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a:t>
            </a:r>
            <a:r>
              <a:rPr lang="nl-BE"/>
              <a:t>drie</a:t>
            </a:r>
            <a:r>
              <a:t>: wat </a:t>
            </a:r>
            <a:r>
              <a:rPr lang="nl-BE"/>
              <a:t>er </a:t>
            </a:r>
            <a:r>
              <a:t>in uw kliniek</a:t>
            </a:r>
            <a:r>
              <a:rPr lang="nl-BE"/>
              <a:t> verandert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Deel 3: Werkpakketten</a:t>
            </a:r>
            <a:r>
              <a:t>. </a:t>
            </a:r>
            <a:r>
              <a:rPr lang="nl-NL"/>
              <a:t>Dan wat dat concreet betekent in uw kliniek: hoe een patiënt </a:t>
            </a:r>
            <a:r>
              <a:t>de studie </a:t>
            </a:r>
            <a:r>
              <a:rPr lang="nl-NL"/>
              <a:t>doorloopt, het gesprek op elke visite</a:t>
            </a:r>
            <a:r>
              <a:t>, </a:t>
            </a:r>
            <a:r>
              <a:rPr lang="nl-BE"/>
              <a:t>dat is </a:t>
            </a:r>
            <a:r>
              <a:t>de </a:t>
            </a:r>
            <a:r>
              <a:rPr lang="nl-BE"/>
              <a:t>educatie uit </a:t>
            </a:r>
            <a:r>
              <a:t>de </a:t>
            </a:r>
            <a:r>
              <a:rPr lang="nl-BE"/>
              <a:t>naam</a:t>
            </a:r>
            <a:r>
              <a:t>, en </a:t>
            </a:r>
            <a:r>
              <a:rPr lang="nl-NL"/>
              <a:t>hoe uw team het leert; </a:t>
            </a:r>
            <a:r>
              <a:t>de procesevaluatie en de gezondheidseconomie</a:t>
            </a:r>
            <a:r>
              <a:rPr lang="nl-BE"/>
              <a:t>; wie in aanmerking komt</a:t>
            </a:r>
            <a:r>
              <a:t>, en </a:t>
            </a:r>
            <a:r>
              <a:rPr lang="nl-BE"/>
              <a:t>wat er gebeurt bij </a:t>
            </a:r>
            <a:r>
              <a:t>een </a:t>
            </a:r>
            <a:r>
              <a:rPr lang="nl-BE"/>
              <a:t>nieuwe wonde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BE"/>
              <a:t>vijf werkpakketten, zoals </a:t>
            </a:r>
            <a:r>
              <a:t>op 1 </a:t>
            </a:r>
            <a:r>
              <a:rPr lang="nl-BE"/>
              <a:t>april voorgesteld. WP1 </a:t>
            </a:r>
            <a:r>
              <a:t>is de </a:t>
            </a:r>
            <a:r>
              <a:rPr lang="nl-BE"/>
              <a:t>studie zelf: de opleiding</a:t>
            </a:r>
            <a:r>
              <a:t>, de </a:t>
            </a:r>
            <a:r>
              <a:rPr lang="nl-BE"/>
              <a:t>piloot en </a:t>
            </a:r>
            <a:r>
              <a:t>de </a:t>
            </a:r>
            <a:r>
              <a:rPr lang="nl-BE"/>
              <a:t>Go/No-Go</a:t>
            </a:r>
            <a:r>
              <a:t>, en </a:t>
            </a:r>
            <a:r>
              <a:rPr lang="nl-BE"/>
              <a:t>de inclusie. WP2</a:t>
            </a:r>
            <a:r>
              <a:t>, </a:t>
            </a:r>
            <a:r>
              <a:rPr lang="nl-NL"/>
              <a:t>de procesevaluatie onder Maaike Fobelets: opnames </a:t>
            </a:r>
            <a:r>
              <a:t>en </a:t>
            </a:r>
            <a:r>
              <a:rPr lang="nl-BE"/>
              <a:t>observaties van PARADISE-sessies, </a:t>
            </a:r>
            <a:r>
              <a:t>het </a:t>
            </a:r>
            <a:r>
              <a:rPr lang="nl-BE"/>
              <a:t>dagboek </a:t>
            </a:r>
            <a:r>
              <a:t>van de </a:t>
            </a:r>
            <a:r>
              <a:rPr lang="nl-BE"/>
              <a:t>therapeut, interviews</a:t>
            </a:r>
            <a:r>
              <a:t>, en de </a:t>
            </a:r>
            <a:r>
              <a:rPr lang="nl-BE"/>
              <a:t>fidelity van SEBIA</a:t>
            </a:r>
            <a:r>
              <a:t>. </a:t>
            </a:r>
            <a:r>
              <a:rPr lang="nl-BE"/>
              <a:t>WP3, </a:t>
            </a:r>
            <a:r>
              <a:t>de </a:t>
            </a:r>
            <a:r>
              <a:rPr lang="nl-NL"/>
              <a:t>gezondheidseconomie onder Koen Putman: levenskwaliteit, zorggebruik en productiviteit, met vragenlijsten </a:t>
            </a:r>
            <a:r>
              <a:t>en </a:t>
            </a:r>
            <a:r>
              <a:rPr lang="nl-NL"/>
              <a:t>een dagboek dat wij telefonisch bevragen</a:t>
            </a:r>
            <a:r>
              <a:t>. </a:t>
            </a:r>
            <a:r>
              <a:rPr lang="nl-BE"/>
              <a:t>WP4, project- </a:t>
            </a:r>
            <a:r>
              <a:t>en </a:t>
            </a:r>
            <a:r>
              <a:rPr lang="nl-NL"/>
              <a:t>databeheer onder Kevin Deschamps: REDCap, ManGO </a:t>
            </a:r>
            <a:r>
              <a:t>en de </a:t>
            </a:r>
            <a:r>
              <a:rPr lang="nl-BE"/>
              <a:t>overlegorganen. WP5: website</a:t>
            </a:r>
            <a:r>
              <a:t>, </a:t>
            </a:r>
            <a:r>
              <a:rPr lang="nl-BE"/>
              <a:t>publicaties </a:t>
            </a:r>
            <a:r>
              <a:t>en </a:t>
            </a:r>
            <a:r>
              <a:rPr lang="nl-BE"/>
              <a:t>communicatie</a:t>
            </a:r>
            <a:r>
              <a:t>; </a:t>
            </a:r>
            <a:r>
              <a:rPr lang="nl-BE"/>
              <a:t>dat is vandaag niet </a:t>
            </a:r>
            <a:r>
              <a:t>de </a:t>
            </a:r>
            <a:r>
              <a:rPr lang="nl-BE"/>
              <a:t>focus, </a:t>
            </a:r>
            <a:r>
              <a:t>op </a:t>
            </a:r>
            <a:r>
              <a:rPr lang="nl-NL"/>
              <a:t>de volgende meeting komen we met een plan van aanpak</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Het hele </a:t>
            </a:r>
            <a:r>
              <a:t>traject </a:t>
            </a:r>
            <a:r>
              <a:rPr lang="nl-BE"/>
              <a:t>op één blad</a:t>
            </a:r>
            <a:r>
              <a:t>. </a:t>
            </a:r>
            <a:r>
              <a:rPr lang="nl-BE"/>
              <a:t>De arts screent </a:t>
            </a:r>
            <a:r>
              <a:t>en </a:t>
            </a:r>
            <a:r>
              <a:rPr lang="nl-BE"/>
              <a:t>vraagt toestemming</a:t>
            </a:r>
            <a:r>
              <a:t>; </a:t>
            </a:r>
            <a:r>
              <a:rPr lang="nl-BE"/>
              <a:t>op visite 0 wordt </a:t>
            </a:r>
            <a:r>
              <a:t>de </a:t>
            </a:r>
            <a:r>
              <a:rPr lang="nl-BE"/>
              <a:t>geschiktheid bevestigd </a:t>
            </a:r>
            <a:r>
              <a:t>en </a:t>
            </a:r>
            <a:r>
              <a:rPr lang="nl-BE"/>
              <a:t>loot </a:t>
            </a:r>
            <a:r>
              <a:t>de </a:t>
            </a:r>
            <a:r>
              <a:rPr lang="nl-NL"/>
              <a:t>PI. Visite 1 is de baseline, visite 2 de aflevering van </a:t>
            </a:r>
            <a:r>
              <a:t>de zool</a:t>
            </a:r>
            <a:r>
              <a:rPr lang="nl-NL"/>
              <a:t>, tussen 14 dagen en een maand later, en daarna elke drie maanden tot maand 18: het ritme van de controle die deze patiënten al krijgen</a:t>
            </a:r>
            <a:r>
              <a:t>. De </a:t>
            </a:r>
            <a:r>
              <a:rPr lang="nl-BE"/>
              <a:t>drukmeting: </a:t>
            </a:r>
            <a:r>
              <a:t>op visite 1 </a:t>
            </a:r>
            <a:r>
              <a:rPr lang="nl-NL"/>
              <a:t>alleen zonder zool; op visite 2 </a:t>
            </a:r>
            <a:r>
              <a:t>en op maand 6, </a:t>
            </a:r>
            <a:r>
              <a:rPr lang="nl-BE"/>
              <a:t>12 </a:t>
            </a:r>
            <a:r>
              <a:t>en </a:t>
            </a:r>
            <a:r>
              <a:rPr lang="nl-BE"/>
              <a:t>18 </a:t>
            </a:r>
            <a:r>
              <a:t>zonder en </a:t>
            </a:r>
            <a:r>
              <a:rPr lang="nl-NL"/>
              <a:t>mét, binnen dezelfde sessie vergeleken. De MoveMonitor gaat één week mee bij </a:t>
            </a:r>
            <a:r>
              <a:t>de </a:t>
            </a:r>
            <a:r>
              <a:rPr lang="nl-BE"/>
              <a:t>start</a:t>
            </a:r>
            <a:r>
              <a:t>. De Orthotimer </a:t>
            </a:r>
            <a:r>
              <a:rPr lang="nl-NL"/>
              <a:t>gaat op visite 2 in de zool en </a:t>
            </a:r>
            <a:r>
              <a:t>wordt </a:t>
            </a:r>
            <a:r>
              <a:rPr lang="nl-BE"/>
              <a:t>elke visite </a:t>
            </a:r>
            <a:r>
              <a:t>uitgelezen. </a:t>
            </a:r>
            <a:r>
              <a:rPr lang="nl-NL"/>
              <a:t>Op visite 1 en vanaf visite 3 volgt de voet- </a:t>
            </a:r>
            <a:r>
              <a:t>en </a:t>
            </a:r>
            <a:r>
              <a:rPr lang="nl-BE"/>
              <a:t>schoeiselscreening</a:t>
            </a:r>
            <a:r>
              <a:t>. </a:t>
            </a:r>
            <a:r>
              <a:rPr lang="nl-NL"/>
              <a:t>De vragenlijsten vult de patiënt op papier </a:t>
            </a:r>
            <a:r>
              <a:t>in </a:t>
            </a:r>
            <a:r>
              <a:rPr lang="nl-NL"/>
              <a:t>de wachtzaal in, en uw team kijkt ze na; welke wanneer</a:t>
            </a:r>
            <a:r>
              <a:t>, </a:t>
            </a:r>
            <a:r>
              <a:rPr lang="nl-BE"/>
              <a:t>overlopen we in </a:t>
            </a:r>
            <a:r>
              <a:t>de </a:t>
            </a:r>
            <a:r>
              <a:rPr lang="nl-NL"/>
              <a:t>sessie datacollectie op 12 januari. Het kostendagboek vragen wij telefonisch op. Dan hetzelfde traject in Usual Care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Hetzelfde traject </a:t>
            </a:r>
            <a:r>
              <a:t>in </a:t>
            </a:r>
            <a:r>
              <a:rPr lang="nl-BE"/>
              <a:t>Usual </a:t>
            </a:r>
            <a:r>
              <a:t>Care, </a:t>
            </a:r>
            <a:r>
              <a:rPr lang="nl-NL"/>
              <a:t>met in oranje wat anders is</a:t>
            </a:r>
            <a:r>
              <a:t>. </a:t>
            </a:r>
            <a:r>
              <a:rPr lang="nl-BE"/>
              <a:t>Dezelfde visites</a:t>
            </a:r>
            <a:r>
              <a:t>, </a:t>
            </a:r>
            <a:r>
              <a:rPr lang="nl-BE"/>
              <a:t>dezelfde screening</a:t>
            </a:r>
            <a:r>
              <a:t>, </a:t>
            </a:r>
            <a:r>
              <a:rPr lang="nl-BE"/>
              <a:t>dezelfde vragenlijsten </a:t>
            </a:r>
            <a:r>
              <a:t>en </a:t>
            </a:r>
            <a:r>
              <a:rPr lang="nl-NL"/>
              <a:t>hetzelfde kostendagboek; ook de MoveMonitor bij de start </a:t>
            </a:r>
            <a:r>
              <a:t>en de </a:t>
            </a:r>
            <a:r>
              <a:rPr lang="nl-NL"/>
              <a:t>Orthotimer in de zool. Drie verschillen. De druk wordt alleen gemeten op visite 1 en op maand 6, en geblindeerd: </a:t>
            </a:r>
            <a:r>
              <a:t>met </a:t>
            </a:r>
            <a:r>
              <a:rPr lang="nl-BE"/>
              <a:t>een drempel </a:t>
            </a:r>
            <a:r>
              <a:t>van </a:t>
            </a:r>
            <a:r>
              <a:rPr lang="nl-BE"/>
              <a:t>50 kilopascal </a:t>
            </a:r>
            <a:r>
              <a:t>en de </a:t>
            </a:r>
            <a:r>
              <a:rPr lang="nl-BE"/>
              <a:t>waarden uitgezet</a:t>
            </a:r>
            <a:r>
              <a:t>, </a:t>
            </a:r>
            <a:r>
              <a:rPr lang="nl-BE"/>
              <a:t>zonder </a:t>
            </a:r>
            <a:r>
              <a:t>het </a:t>
            </a:r>
            <a:r>
              <a:rPr lang="nl-BE"/>
              <a:t>scherm te tonen of </a:t>
            </a:r>
            <a:r>
              <a:t>de </a:t>
            </a:r>
            <a:r>
              <a:rPr lang="nl-BE"/>
              <a:t>waarden </a:t>
            </a:r>
            <a:r>
              <a:t>te </a:t>
            </a:r>
            <a:r>
              <a:rPr lang="nl-BE"/>
              <a:t>bespreken, </a:t>
            </a:r>
            <a:r>
              <a:t>en </a:t>
            </a:r>
            <a:r>
              <a:rPr lang="nl-BE"/>
              <a:t>zonder </a:t>
            </a:r>
            <a:r>
              <a:t>de </a:t>
            </a:r>
            <a:r>
              <a:rPr lang="nl-BE"/>
              <a:t>zool erop </a:t>
            </a:r>
            <a:r>
              <a:t>aan te </a:t>
            </a:r>
            <a:r>
              <a:rPr lang="nl-BE"/>
              <a:t>passen</a:t>
            </a:r>
            <a:r>
              <a:t>. </a:t>
            </a:r>
            <a:r>
              <a:rPr lang="nl-NL"/>
              <a:t>De Orthotimer wordt uitgelezen, maar zonder terugkoppeling </a:t>
            </a:r>
            <a:r>
              <a:t>aan </a:t>
            </a:r>
            <a:r>
              <a:rPr lang="nl-NL"/>
              <a:t>de patiënt. En er is geen SEBIA: voetzorg en educatie zoals vandaag. Omdat dezelfde podologen in beide armen werken</a:t>
            </a:r>
            <a:r>
              <a:t>, </a:t>
            </a:r>
            <a:r>
              <a:rPr lang="nl-BE"/>
              <a:t>is dat </a:t>
            </a:r>
            <a:r>
              <a:t>de </a:t>
            </a:r>
            <a:r>
              <a:rPr lang="nl-BE"/>
              <a:t>belangrijkste afspraak</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BE"/>
              <a:t>SEBIA-interventie, in Optimal Care</a:t>
            </a:r>
            <a:r>
              <a:t>, zoals Fabienne Dobbels ze opbouwt</a:t>
            </a:r>
            <a:r>
              <a:rPr lang="nl-BE"/>
              <a:t>, heeft twee componenten</a:t>
            </a:r>
            <a:r>
              <a:t>. </a:t>
            </a:r>
            <a:r>
              <a:rPr lang="nl-BE"/>
              <a:t>Links </a:t>
            </a:r>
            <a:r>
              <a:t>de </a:t>
            </a:r>
            <a:r>
              <a:rPr lang="nl-BE"/>
              <a:t>diabetesvoetzorg</a:t>
            </a:r>
            <a:r>
              <a:t>, </a:t>
            </a:r>
            <a:r>
              <a:rPr lang="nl-BE"/>
              <a:t>via educatie en skills training</a:t>
            </a:r>
            <a:r>
              <a:t>: </a:t>
            </a:r>
            <a:r>
              <a:rPr lang="nl-BE"/>
              <a:t>kennis van goede </a:t>
            </a:r>
            <a:r>
              <a:t>voetzorg, </a:t>
            </a:r>
            <a:r>
              <a:rPr lang="nl-BE"/>
              <a:t>het uitvoeren </a:t>
            </a:r>
            <a:r>
              <a:t>van goede voetzorg, en kennis van het belang van </a:t>
            </a:r>
            <a:r>
              <a:rPr lang="nl-BE"/>
              <a:t>aangepast schoeisel </a:t>
            </a:r>
            <a:r>
              <a:t>en zolen. </a:t>
            </a:r>
            <a:r>
              <a:rPr lang="nl-BE"/>
              <a:t>Rechts </a:t>
            </a:r>
            <a:r>
              <a:t>de therapietrouw</a:t>
            </a:r>
            <a:r>
              <a:rPr lang="nl-NL"/>
              <a:t> met het dragen van aangepast schoeisel en zolen</a:t>
            </a:r>
            <a:r>
              <a:t>: </a:t>
            </a:r>
            <a:r>
              <a:rPr lang="nl-BE"/>
              <a:t>eerst </a:t>
            </a:r>
            <a:r>
              <a:t>de therapietrouw </a:t>
            </a:r>
            <a:r>
              <a:rPr lang="nl-BE"/>
              <a:t>monitoren, dan ze verbeteren</a:t>
            </a:r>
            <a:r>
              <a:t>, </a:t>
            </a:r>
            <a:r>
              <a:rPr lang="nl-BE"/>
              <a:t>door het belang </a:t>
            </a:r>
            <a:r>
              <a:t>en de </a:t>
            </a:r>
            <a:r>
              <a:rPr lang="nl-BE"/>
              <a:t>motivatie te verhogen </a:t>
            </a:r>
            <a:r>
              <a:t>en de </a:t>
            </a:r>
            <a:r>
              <a:rPr lang="nl-BE"/>
              <a:t>barrières voor therapietrouw </a:t>
            </a:r>
            <a:r>
              <a:t>aan </a:t>
            </a:r>
            <a:r>
              <a:rPr lang="nl-BE"/>
              <a:t>te pakken</a:t>
            </a:r>
            <a:r>
              <a:t>. </a:t>
            </a:r>
            <a:r>
              <a:rPr lang="nl-NL"/>
              <a:t>Wat daarvan op welke visite aan bod komt</a:t>
            </a:r>
            <a:r>
              <a: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BE"/>
              <a:t>inhoud </a:t>
            </a:r>
            <a:r>
              <a:t>van </a:t>
            </a:r>
            <a:r>
              <a:rPr lang="nl-BE"/>
              <a:t>de studievisites, zoals </a:t>
            </a:r>
            <a:r>
              <a:t>Fabienne Dobbels</a:t>
            </a:r>
            <a:r>
              <a:rPr lang="nl-BE"/>
              <a:t> ze opbouwt. Op </a:t>
            </a:r>
            <a:r>
              <a:t>de </a:t>
            </a:r>
            <a:r>
              <a:rPr lang="nl-BE"/>
              <a:t>eerste twee visites ligt </a:t>
            </a:r>
            <a:r>
              <a:t>de </a:t>
            </a:r>
            <a:r>
              <a:rPr lang="nl-BE"/>
              <a:t>focus op educatie</a:t>
            </a:r>
            <a:r>
              <a:t>. </a:t>
            </a:r>
            <a:r>
              <a:rPr lang="nl-BE"/>
              <a:t>Visite </a:t>
            </a:r>
            <a:r>
              <a:t>1</a:t>
            </a:r>
            <a:r>
              <a:rPr lang="nl-NL"/>
              <a:t>, de baseline: mondelinge educatie over voetzorg, een demonstratie van goede voetzorg,</a:t>
            </a:r>
            <a:r>
              <a:t> en </a:t>
            </a:r>
            <a:r>
              <a:rPr lang="nl-NL"/>
              <a:t>uitleg over de activity monitor. Visite </a:t>
            </a:r>
            <a:r>
              <a:t>2, </a:t>
            </a:r>
            <a:r>
              <a:rPr lang="nl-BE"/>
              <a:t>tussen dag 14 </a:t>
            </a:r>
            <a:r>
              <a:t>en </a:t>
            </a:r>
            <a:r>
              <a:rPr lang="nl-BE"/>
              <a:t>maand 1</a:t>
            </a:r>
            <a:r>
              <a:t>: de </a:t>
            </a:r>
            <a:r>
              <a:rPr lang="nl-NL"/>
              <a:t>kennis van de voetzorg evalueren op basis </a:t>
            </a:r>
            <a:r>
              <a:t>van de </a:t>
            </a:r>
            <a:r>
              <a:rPr lang="nl-NL"/>
              <a:t>NAFF, met re-educatie waar nodig, </a:t>
            </a:r>
            <a:r>
              <a:t>educatie</a:t>
            </a:r>
            <a:r>
              <a:rPr lang="nl-BE"/>
              <a:t> over het belang </a:t>
            </a:r>
            <a:r>
              <a:t>van </a:t>
            </a:r>
            <a:r>
              <a:rPr lang="nl-NL"/>
              <a:t>zolen en gepaste schoenen dragen</a:t>
            </a:r>
            <a:r>
              <a:t>, en </a:t>
            </a:r>
            <a:r>
              <a:rPr lang="nl-BE"/>
              <a:t>uitleg over </a:t>
            </a:r>
            <a:r>
              <a:t>het </a:t>
            </a:r>
            <a:r>
              <a:rPr lang="nl-BE"/>
              <a:t>doel </a:t>
            </a:r>
            <a:r>
              <a:t>van de </a:t>
            </a:r>
            <a:r>
              <a:rPr lang="nl-BE"/>
              <a:t>sensor in </a:t>
            </a:r>
            <a:r>
              <a:t>de </a:t>
            </a:r>
            <a:r>
              <a:rPr lang="nl-BE"/>
              <a:t>zolen</a:t>
            </a:r>
            <a:r>
              <a:t>. </a:t>
            </a:r>
            <a:r>
              <a:rPr lang="nl-BE"/>
              <a:t>Op maand </a:t>
            </a:r>
            <a:r>
              <a:t>3</a:t>
            </a:r>
            <a:r>
              <a:rPr lang="nl-BE"/>
              <a:t>, 9</a:t>
            </a:r>
            <a:r>
              <a:t> en </a:t>
            </a:r>
            <a:r>
              <a:rPr lang="nl-NL"/>
              <a:t>15 ligt de focus op </a:t>
            </a:r>
            <a:r>
              <a:t>therapietrouw: feedback op de therapietrouw op basis van de sensor, en </a:t>
            </a:r>
            <a:r>
              <a:rPr lang="nl-BE"/>
              <a:t>therapietrouwverhogende interventies</a:t>
            </a:r>
            <a:r>
              <a:t>. </a:t>
            </a:r>
            <a:r>
              <a:rPr lang="nl-NL"/>
              <a:t>Op maand 6 en 12 komen beide samen</a:t>
            </a:r>
            <a:r>
              <a:t>: </a:t>
            </a:r>
            <a:r>
              <a:rPr lang="nl-BE"/>
              <a:t>daar worden ook </a:t>
            </a:r>
            <a:r>
              <a:t>de </a:t>
            </a:r>
            <a:r>
              <a:rPr lang="nl-BE"/>
              <a:t>vaardigheden voetzorg geëvalueerd</a:t>
            </a:r>
            <a:r>
              <a:t>, en </a:t>
            </a:r>
            <a:r>
              <a:rPr lang="nl-NL"/>
              <a:t>de nood aan bijkomende kennis op basis </a:t>
            </a:r>
            <a:r>
              <a:t>van </a:t>
            </a:r>
            <a:r>
              <a:rPr lang="nl-NL"/>
              <a:t>de NAFF. Op maand 18 volgt </a:t>
            </a:r>
            <a:r>
              <a:t>een </a:t>
            </a:r>
            <a:r>
              <a:rPr lang="nl-BE"/>
              <a:t>afrondend gesprek</a:t>
            </a:r>
            <a:r>
              <a:t>, </a:t>
            </a:r>
            <a:r>
              <a:rPr lang="nl-NL"/>
              <a:t>zonder feedback of nieuwe interventies. Hoe uw podologen dat leren</a:t>
            </a:r>
            <a:r>
              <a:t>, ziet u </a:t>
            </a:r>
            <a:r>
              <a:rPr lang="nl-BE"/>
              <a:t>op </a:t>
            </a:r>
            <a:r>
              <a:t>de </a:t>
            </a:r>
            <a:r>
              <a:rPr lang="nl-BE"/>
              <a:t>volgende dia</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De trainingssessies van Fabienne Dobbels</a:t>
            </a:r>
            <a:r>
              <a:t>, van de </a:t>
            </a:r>
            <a:r>
              <a:rPr lang="nl-NL"/>
              <a:t>groep naar de eigen praktijk</a:t>
            </a:r>
            <a:r>
              <a:t>. </a:t>
            </a:r>
            <a:r>
              <a:rPr lang="nl-BE"/>
              <a:t>Sessie 1 </a:t>
            </a:r>
            <a:r>
              <a:t>en </a:t>
            </a:r>
            <a:r>
              <a:rPr lang="nl-BE"/>
              <a:t>2</a:t>
            </a:r>
            <a:r>
              <a:t>, </a:t>
            </a:r>
            <a:r>
              <a:rPr lang="nl-BE"/>
              <a:t>kennis </a:t>
            </a:r>
            <a:r>
              <a:t>en </a:t>
            </a:r>
            <a:r>
              <a:rPr lang="nl-NL"/>
              <a:t>vaardigheden, vier uur in groep in januari: de inhoud </a:t>
            </a:r>
            <a:r>
              <a:t>van </a:t>
            </a:r>
            <a:r>
              <a:rPr lang="nl-BE"/>
              <a:t>de educatie</a:t>
            </a:r>
            <a:r>
              <a:t>, </a:t>
            </a:r>
            <a:r>
              <a:rPr lang="nl-BE"/>
              <a:t>de principes </a:t>
            </a:r>
            <a:r>
              <a:t>van </a:t>
            </a:r>
            <a:r>
              <a:rPr lang="nl-BE"/>
              <a:t>goede educatie, </a:t>
            </a:r>
            <a:r>
              <a:t>de </a:t>
            </a:r>
            <a:r>
              <a:rPr lang="nl-NL"/>
              <a:t>aanpak om goede voetzorg te demonstreren</a:t>
            </a:r>
            <a:r>
              <a:t>, en het </a:t>
            </a:r>
            <a:r>
              <a:rPr lang="nl-BE"/>
              <a:t>gebruik </a:t>
            </a:r>
            <a:r>
              <a:t>van </a:t>
            </a:r>
            <a:r>
              <a:rPr lang="nl-NL"/>
              <a:t>de vragenlijsten bij de educatie, met oefeningen</a:t>
            </a:r>
            <a:r>
              <a:t>. </a:t>
            </a:r>
            <a:r>
              <a:rPr lang="nl-NL"/>
              <a:t>Sessie 3 en 4, therapietrouw bevorderen</a:t>
            </a:r>
            <a:r>
              <a:t>, </a:t>
            </a:r>
            <a:r>
              <a:rPr lang="nl-NL"/>
              <a:t>vier uur in groep begin maart</a:t>
            </a:r>
            <a:r>
              <a:t>: </a:t>
            </a:r>
            <a:r>
              <a:rPr lang="nl-NL"/>
              <a:t>feedback op de therapietrouw op basis van de sensor</a:t>
            </a:r>
            <a:r>
              <a:t>, </a:t>
            </a:r>
            <a:r>
              <a:rPr lang="nl-BE"/>
              <a:t>communicatieprincipes</a:t>
            </a:r>
            <a:r>
              <a:t>, </a:t>
            </a:r>
            <a:r>
              <a:rPr lang="nl-NL"/>
              <a:t>de motivatie inschatten en bespreken</a:t>
            </a:r>
            <a:r>
              <a:t>, en </a:t>
            </a:r>
            <a:r>
              <a:rPr lang="nl-BE"/>
              <a:t>de correcte therapietrouwinterventies kiezen</a:t>
            </a:r>
            <a:r>
              <a:t>, </a:t>
            </a:r>
            <a:r>
              <a:rPr lang="nl-BE"/>
              <a:t>weer met oefeningen</a:t>
            </a:r>
            <a:r>
              <a:t>. </a:t>
            </a:r>
            <a:r>
              <a:rPr lang="nl-NL"/>
              <a:t>Daarna, individueel: in sessie 5 oefent elke podoloog SEBIA in aan </a:t>
            </a:r>
            <a:r>
              <a:t>de </a:t>
            </a:r>
            <a:r>
              <a:rPr lang="nl-NL"/>
              <a:t>hand van het script, anderhalf uur in uw centrum tussen 20 en 30 april, en sessie 6 is een intervisie van een uur, online, in het najaar </a:t>
            </a:r>
            <a:r>
              <a:t>van </a:t>
            </a:r>
            <a:r>
              <a:rPr lang="nl-NL"/>
              <a:t>2027. De data per centrum ziet u bij </a:t>
            </a:r>
            <a:r>
              <a:t>de </a:t>
            </a:r>
            <a:r>
              <a:rPr lang="nl-BE"/>
              <a:t>planning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WP2</a:t>
            </a:r>
            <a:r>
              <a:t>, de </a:t>
            </a:r>
            <a:r>
              <a:rPr lang="nl-BE"/>
              <a:t>procesevaluatie</a:t>
            </a:r>
            <a:r>
              <a:t>, onder </a:t>
            </a:r>
            <a:r>
              <a:rPr lang="nl-BE"/>
              <a:t>leiding van Maaike Fobelets </a:t>
            </a:r>
            <a:r>
              <a:t>van de VUB</a:t>
            </a:r>
            <a:r>
              <a:rPr lang="nl-BE"/>
              <a:t>. Wat ze inhoudt</a:t>
            </a:r>
            <a:r>
              <a:t>: </a:t>
            </a:r>
            <a:r>
              <a:rPr lang="nl-NL"/>
              <a:t>een bevraging van managers en therapeuten</a:t>
            </a:r>
            <a:r>
              <a:t>, </a:t>
            </a:r>
            <a:r>
              <a:rPr lang="nl-BE"/>
              <a:t>opnames </a:t>
            </a:r>
            <a:r>
              <a:t>en </a:t>
            </a:r>
            <a:r>
              <a:rPr lang="nl-BE"/>
              <a:t>observaties van PARADISE-sessies</a:t>
            </a:r>
            <a:r>
              <a:t>, </a:t>
            </a:r>
            <a:r>
              <a:rPr lang="nl-BE"/>
              <a:t>het dagboek van </a:t>
            </a:r>
            <a:r>
              <a:t>de </a:t>
            </a:r>
            <a:r>
              <a:rPr lang="nl-BE"/>
              <a:t>therapeut in Optimal Care</a:t>
            </a:r>
            <a:r>
              <a:t>, en de </a:t>
            </a:r>
            <a:r>
              <a:rPr lang="nl-BE"/>
              <a:t>fidelity </a:t>
            </a:r>
            <a:r>
              <a:t>van </a:t>
            </a:r>
            <a:r>
              <a:rPr lang="nl-BE"/>
              <a:t>SEBIA: wordt </a:t>
            </a:r>
            <a:r>
              <a:t>het </a:t>
            </a:r>
            <a:r>
              <a:rPr lang="nl-NL"/>
              <a:t>gegeven zoals bedoeld? De twee doctorandi wisselen daarbij van rol</a:t>
            </a:r>
            <a:r>
              <a:t>. </a:t>
            </a:r>
            <a:r>
              <a:rPr lang="nl-BE"/>
              <a:t>Wie </a:t>
            </a:r>
            <a:r>
              <a:t>uw </a:t>
            </a:r>
            <a:r>
              <a:rPr lang="nl-BE"/>
              <a:t>contactpersoon is</a:t>
            </a:r>
            <a:r>
              <a:t>, </a:t>
            </a:r>
            <a:r>
              <a:rPr lang="nl-BE"/>
              <a:t>evalueert een ander centrum</a:t>
            </a:r>
            <a:r>
              <a:t>: </a:t>
            </a:r>
            <a:r>
              <a:rPr lang="pt-BR"/>
              <a:t>Janou De Buyser, PhD A</a:t>
            </a:r>
            <a:r>
              <a:t>, </a:t>
            </a:r>
            <a:r>
              <a:rPr lang="nl-BE"/>
              <a:t>evalueert Leuven</a:t>
            </a:r>
            <a:r>
              <a:t>, </a:t>
            </a:r>
            <a:r>
              <a:rPr lang="nl-NL"/>
              <a:t>Aalst en Antwerpen; PhD B evalueert Brugge</a:t>
            </a:r>
            <a:r>
              <a:t>, </a:t>
            </a:r>
            <a:r>
              <a:rPr lang="nl-BE"/>
              <a:t>Gent </a:t>
            </a:r>
            <a:r>
              <a:t>en </a:t>
            </a:r>
            <a:r>
              <a:rPr lang="nl-BE"/>
              <a:t>Kortrijk</a:t>
            </a:r>
            <a:r>
              <a:t>. </a:t>
            </a:r>
            <a:r>
              <a:rPr lang="nl-NL"/>
              <a:t>Zo blijft de evaluatie onafhankelijk van de dagelijkse begeleiding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WP3</a:t>
            </a:r>
            <a:r>
              <a:t>, </a:t>
            </a:r>
            <a:r>
              <a:rPr lang="nl-BE"/>
              <a:t>de gezondheidseconomie</a:t>
            </a:r>
            <a:r>
              <a:t>, </a:t>
            </a:r>
            <a:r>
              <a:rPr lang="nl-BE"/>
              <a:t>onder Koen Putman </a:t>
            </a:r>
            <a:r>
              <a:t>van de </a:t>
            </a:r>
            <a:r>
              <a:rPr lang="nl-NL"/>
              <a:t>VUB: levenskwaliteit, zorggebruik en productiviteit</a:t>
            </a:r>
            <a:r>
              <a:t>. </a:t>
            </a:r>
            <a:r>
              <a:rPr lang="nl-BE"/>
              <a:t>De levenskwaliteit</a:t>
            </a:r>
            <a:r>
              <a:t>, met </a:t>
            </a:r>
            <a:r>
              <a:rPr lang="nl-BE"/>
              <a:t>de EQ-5D-5L</a:t>
            </a:r>
            <a:r>
              <a:t>, </a:t>
            </a:r>
            <a:r>
              <a:rPr lang="nl-NL"/>
              <a:t>bij de start en vanaf maand 3 op elke visite; het zorggebruik en de productiviteit</a:t>
            </a:r>
            <a:r>
              <a:t>, </a:t>
            </a:r>
            <a:r>
              <a:rPr lang="nl-BE"/>
              <a:t>met de vragenlijsten </a:t>
            </a:r>
            <a:r>
              <a:t>van </a:t>
            </a:r>
            <a:r>
              <a:rPr lang="nl-BE"/>
              <a:t>het iMTA</a:t>
            </a:r>
            <a:r>
              <a:t>, </a:t>
            </a:r>
            <a:r>
              <a:rPr lang="nl-NL"/>
              <a:t>vanaf maand 3 op elke visite</a:t>
            </a:r>
            <a:r>
              <a:t>. </a:t>
            </a:r>
            <a:r>
              <a:rPr lang="nl-NL"/>
              <a:t>De patiënt vult ze op papier in </a:t>
            </a:r>
            <a:r>
              <a:t>de </a:t>
            </a:r>
            <a:r>
              <a:rPr lang="nl-BE"/>
              <a:t>wachtzaal </a:t>
            </a:r>
            <a:r>
              <a:t>in</a:t>
            </a:r>
            <a:r>
              <a:rPr lang="nl-NL"/>
              <a:t>, uw team kijkt ze na</a:t>
            </a:r>
            <a:r>
              <a:t> en </a:t>
            </a:r>
            <a:r>
              <a:rPr lang="nl-BE"/>
              <a:t>wij voeren ze in</a:t>
            </a:r>
            <a:r>
              <a:t>. </a:t>
            </a:r>
            <a:r>
              <a:rPr lang="nl-BE"/>
              <a:t>Daarnaast </a:t>
            </a:r>
            <a:r>
              <a:t>het </a:t>
            </a:r>
            <a:r>
              <a:rPr lang="nl-NL"/>
              <a:t>kostendagboek, dat wij telefonisch bevragen: bij </a:t>
            </a:r>
            <a:r>
              <a:t>de </a:t>
            </a:r>
            <a:r>
              <a:rPr lang="nl-BE"/>
              <a:t>start één volledig overzicht </a:t>
            </a:r>
            <a:r>
              <a:t>van </a:t>
            </a:r>
            <a:r>
              <a:rPr lang="nl-BE"/>
              <a:t>medicatie, thuiszorg en zorgcontacten</a:t>
            </a:r>
            <a:r>
              <a:t>, </a:t>
            </a:r>
            <a:r>
              <a:rPr lang="nl-BE"/>
              <a:t>tot maand 3 om </a:t>
            </a:r>
            <a:r>
              <a:t>de </a:t>
            </a:r>
            <a:r>
              <a:rPr lang="nl-NL"/>
              <a:t>twee weken een kort dagboekje over </a:t>
            </a:r>
            <a:r>
              <a:t>de </a:t>
            </a:r>
            <a:r>
              <a:rPr lang="nl-BE"/>
              <a:t>andere kosten</a:t>
            </a:r>
            <a:r>
              <a:t>, en </a:t>
            </a:r>
            <a:r>
              <a:rPr lang="nl-NL"/>
              <a:t>daarna per studiebezoek tot maand 18 alleen wat veranderd is. Uw team hoeft daarvoor niets te doen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Links wie in aanmerking komt, met een ezelsbruggetje: VOETEN. Vaten stabiel: PEDIS-graad 1 of 2, naar oordeel </a:t>
            </a:r>
            <a:r>
              <a:t>van de </a:t>
            </a:r>
            <a:r>
              <a:rPr lang="nl-BE"/>
              <a:t>arts</a:t>
            </a:r>
            <a:r>
              <a:t>. </a:t>
            </a:r>
            <a:r>
              <a:rPr lang="nl-BE"/>
              <a:t>Onlangs een voetwonde</a:t>
            </a:r>
            <a:r>
              <a:t>: </a:t>
            </a:r>
            <a:r>
              <a:rPr lang="nl-BE"/>
              <a:t>IWGDF-risico 3, met </a:t>
            </a:r>
            <a:r>
              <a:t>een </a:t>
            </a:r>
            <a:r>
              <a:rPr lang="nl-BE"/>
              <a:t>genezen plantair </a:t>
            </a:r>
            <a:r>
              <a:t>ulcus, </a:t>
            </a:r>
            <a:r>
              <a:rPr lang="nl-BE"/>
              <a:t>een teen- of halluxamputatie, </a:t>
            </a:r>
            <a:r>
              <a:t>of een </a:t>
            </a:r>
            <a:r>
              <a:rPr lang="nl-NL"/>
              <a:t>resectie van één of meer metatarsaalkopjes</a:t>
            </a:r>
            <a:r>
              <a:t>, </a:t>
            </a:r>
            <a:r>
              <a:rPr lang="nl-NL"/>
              <a:t>tussen twee weken en achttien maanden geleden</a:t>
            </a:r>
            <a:r>
              <a:t>. </a:t>
            </a:r>
            <a:r>
              <a:rPr lang="nl-BE"/>
              <a:t>Eigen stappen</a:t>
            </a:r>
            <a:r>
              <a:t>, </a:t>
            </a:r>
            <a:r>
              <a:rPr lang="nl-BE"/>
              <a:t>zonder hulpmiddel</a:t>
            </a:r>
            <a:r>
              <a:t>. </a:t>
            </a:r>
            <a:r>
              <a:rPr lang="nl-BE"/>
              <a:t>Type 1 of 2</a:t>
            </a:r>
            <a:r>
              <a:t>. </a:t>
            </a:r>
            <a:r>
              <a:rPr lang="nl-NL"/>
              <a:t>Echt beschermend schoeisel, of bereid om over te schakelen</a:t>
            </a:r>
            <a:r>
              <a:t>: </a:t>
            </a:r>
            <a:r>
              <a:rPr lang="nl-BE"/>
              <a:t>alle drie </a:t>
            </a:r>
            <a:r>
              <a:t>de </a:t>
            </a:r>
            <a:r>
              <a:rPr lang="nl-BE"/>
              <a:t>schoeiselsituaties komen in aanmerking</a:t>
            </a:r>
            <a:r>
              <a:t>. </a:t>
            </a:r>
            <a:r>
              <a:rPr lang="nl-BE"/>
              <a:t>Nederlands </a:t>
            </a:r>
            <a:r>
              <a:t>en </a:t>
            </a:r>
            <a:r>
              <a:rPr lang="nl-BE"/>
              <a:t>volwassen. Rechts wie niet</a:t>
            </a:r>
            <a:r>
              <a:t>. Drie</a:t>
            </a:r>
            <a:r>
              <a:rPr lang="nl-NL"/>
              <a:t> punten worden het vaakst gemist. Een resectie van </a:t>
            </a:r>
            <a:r>
              <a:t>de </a:t>
            </a:r>
            <a:r>
              <a:rPr lang="nl-NL"/>
              <a:t>eerste metatarsaalkop komt wél in aanmerking; alleen </a:t>
            </a:r>
            <a:r>
              <a:t>een amputatie </a:t>
            </a:r>
            <a:r>
              <a:rPr lang="nl-NL"/>
              <a:t>proximaal van de MTP-gewrichten sluit uit</a:t>
            </a:r>
            <a:r>
              <a:t>. </a:t>
            </a:r>
            <a:r>
              <a:rPr lang="nl-BE"/>
              <a:t>Een enkel-voetorthese sluit uit</a:t>
            </a:r>
            <a:r>
              <a:t>, </a:t>
            </a:r>
            <a:r>
              <a:rPr lang="nl-BE"/>
              <a:t>want </a:t>
            </a:r>
            <a:r>
              <a:t>de </a:t>
            </a:r>
            <a:r>
              <a:rPr lang="nl-NL"/>
              <a:t>druksensoren passen er niet in</a:t>
            </a:r>
            <a:r>
              <a:t>. En </a:t>
            </a:r>
            <a:r>
              <a:rPr lang="nl-NL"/>
              <a:t>wie de draagsensor weigert, valt af</a:t>
            </a:r>
            <a:r>
              <a:t>: </a:t>
            </a:r>
            <a:r>
              <a:rPr lang="nl-BE"/>
              <a:t>zonder sensor </a:t>
            </a:r>
            <a:r>
              <a:t>geen </a:t>
            </a:r>
            <a:r>
              <a:rPr lang="nl-BE"/>
              <a:t>draagtijd</a:t>
            </a:r>
            <a:r>
              <a:t>. De </a:t>
            </a:r>
            <a:r>
              <a:rPr lang="nl-BE"/>
              <a:t>arts screent en vraagt </a:t>
            </a:r>
            <a:r>
              <a:t>de </a:t>
            </a:r>
            <a:r>
              <a:rPr lang="nl-BE"/>
              <a:t>toestemming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Het belangrijkste gegeven van de studie is het voetulcusrecidief, en dat stelt u vast. Wat telt: een nieuw ulcus, op dezelfde of een andere plek. Op elke visite worden beide voeten gescreend, plantair én dorsaal. Het team stelt het ulcus vast tegen vooraf vastgelegde criteria en op foto's, op dezelfde manier in beide armen, los van de toewijzing. Wat u doet. Eén: verwittig meteen de investigator. Twee: foto's, verzorgen, en klasseren met PEDIS en WIfI, eCRF 36 en 38. Drie: de investigator laadt alles geanonimiseerd op, en een aangeduide arts per centrum beoordeelt de foto's. Vier: bij elk vervolgcontact noteert u de genezing met eCRF 47, tot genezing, amputatie of overlijden. Vijf: een ernstig ongewenst voorval, zoals een opname, meldt u binnen 72 uur aan de sponsor, met eCRF 46. En het belangrijkste: het eindpunt is geen einde. De deelnemer blijft tot maand 18 in opvolging, in de arm waarin hij geloot werd; wie na een wonde uitvalt, ontbreekt in de analyse.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61461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a:t>
            </a:r>
            <a:r>
              <a:rPr lang="nl-BE"/>
              <a:t>vier</a:t>
            </a:r>
            <a:r>
              <a:t>: </a:t>
            </a:r>
            <a:r>
              <a:rPr lang="nl-BE"/>
              <a:t>wat </a:t>
            </a:r>
            <a:r>
              <a:t>er nog moet gebeuren.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Deel 4: Aandachtspunten. Wat er nog moet gebeuren </a:t>
            </a:r>
            <a:r>
              <a:t>vóór </a:t>
            </a:r>
            <a:r>
              <a:rPr lang="nl-BE"/>
              <a:t>we kunnen starten</a:t>
            </a:r>
            <a:r>
              <a:t>, in de </a:t>
            </a:r>
            <a:r>
              <a:rPr lang="nl-BE"/>
              <a:t>volgorde waarin </a:t>
            </a:r>
            <a:r>
              <a:t>het </a:t>
            </a:r>
            <a:r>
              <a:rPr lang="nl-BE"/>
              <a:t>klaar moet zijn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Vijf punten die klaar moeten zijn vóór de start, in die volgorde. De eerste vier zag u in deel 1 of komen in deel 5 terug: de ethische goedkeuring, de toestellen, de opleiding, en de droogloop en de piloot. Eén punt is nieuw. Vijf: een aparte toestemming voor de opnames en observaties van de procesevaluatie in het toestemmingsformulier, eCRF 02.</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38981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a:t>
            </a:r>
            <a:r>
              <a:rPr lang="nl-BE"/>
              <a:t>vijf</a:t>
            </a:r>
            <a:r>
              <a:t>: </a:t>
            </a:r>
            <a:r>
              <a:rPr lang="nl-BE"/>
              <a:t>hoe </a:t>
            </a:r>
            <a:r>
              <a:t>we tot de eerste patiënt geraken, </a:t>
            </a:r>
            <a:r>
              <a:rPr lang="nl-BE"/>
              <a:t>eind februari</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Deel 5: Mijlpalen en planning</a:t>
            </a:r>
            <a:r>
              <a:t>. </a:t>
            </a:r>
            <a:r>
              <a:rPr lang="nl-BE"/>
              <a:t>Hoe we </a:t>
            </a:r>
            <a:r>
              <a:t>van </a:t>
            </a:r>
            <a:r>
              <a:rPr lang="nl-BE"/>
              <a:t>vandaag </a:t>
            </a:r>
            <a:r>
              <a:t>tot de </a:t>
            </a:r>
            <a:r>
              <a:rPr lang="nl-BE"/>
              <a:t>eerste patiënt </a:t>
            </a:r>
            <a:r>
              <a:t>eind februari </a:t>
            </a:r>
            <a:r>
              <a:rPr lang="nl-BE"/>
              <a:t>geraken</a:t>
            </a:r>
            <a:r>
              <a:t>, </a:t>
            </a:r>
            <a:r>
              <a:rPr lang="nl-BE"/>
              <a:t>en wat </a:t>
            </a:r>
            <a:r>
              <a:t>het tempo van de inclusie</a:t>
            </a:r>
            <a:r>
              <a:rPr lang="nl-BE"/>
              <a:t> van uw team vraagt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NL"/>
              <a:t>grote lijnen. De opleidingen lopen </a:t>
            </a:r>
            <a:r>
              <a:t>van november tot april. </a:t>
            </a:r>
            <a:r>
              <a:rPr lang="nl-BE"/>
              <a:t>Op 23 februari beslist </a:t>
            </a:r>
            <a:r>
              <a:t>de </a:t>
            </a:r>
            <a:r>
              <a:rPr lang="nl-BE"/>
              <a:t>Executive Board </a:t>
            </a:r>
            <a:r>
              <a:t>na de </a:t>
            </a:r>
            <a:r>
              <a:rPr lang="en-US"/>
              <a:t>piloot over Go of No-Go, </a:t>
            </a:r>
            <a:r>
              <a:t>en </a:t>
            </a:r>
            <a:r>
              <a:rPr lang="nl-BE"/>
              <a:t>meteen daarna start </a:t>
            </a:r>
            <a:r>
              <a:t>de </a:t>
            </a:r>
            <a:r>
              <a:rPr lang="nl-BE"/>
              <a:t>inclusie</a:t>
            </a:r>
            <a:r>
              <a:t>. </a:t>
            </a:r>
            <a:r>
              <a:rPr lang="nl-BE"/>
              <a:t>Twaalf maanden inclusie </a:t>
            </a:r>
            <a:r>
              <a:t>geeft </a:t>
            </a:r>
            <a:r>
              <a:rPr lang="nl-NL"/>
              <a:t>144 gerandomiseerde deelnemers eind februari 2028; </a:t>
            </a:r>
            <a:r>
              <a:t>met </a:t>
            </a:r>
            <a:r>
              <a:rPr lang="nl-BE"/>
              <a:t>achttien maanden opvolging valt </a:t>
            </a:r>
            <a:r>
              <a:t>de </a:t>
            </a:r>
            <a:r>
              <a:rPr lang="nl-BE"/>
              <a:t>laatste visite </a:t>
            </a:r>
            <a:r>
              <a:t>eind </a:t>
            </a:r>
            <a:r>
              <a:rPr lang="nl-BE"/>
              <a:t>augustus 2029</a:t>
            </a:r>
            <a:r>
              <a:t>. </a:t>
            </a:r>
            <a:r>
              <a:rPr lang="nl-NL"/>
              <a:t>De geplande laatste visite is september 2029</a:t>
            </a:r>
            <a:r>
              <a:t>; </a:t>
            </a:r>
            <a:r>
              <a:rPr lang="nl-NL"/>
              <a:t>achttien maanden terug is eind maart 2028 de uiterste datum voor </a:t>
            </a:r>
            <a:r>
              <a:t>de </a:t>
            </a:r>
            <a:r>
              <a:rPr lang="nl-NL"/>
              <a:t>laatste inclusie: één maand marge. Eerst zoomen we in op </a:t>
            </a:r>
            <a:r>
              <a:t>de </a:t>
            </a:r>
            <a:r>
              <a:rPr lang="nl-NL"/>
              <a:t>opleiding, daarna op het tempo </a:t>
            </a:r>
            <a:r>
              <a:t>van de </a:t>
            </a:r>
            <a:r>
              <a:rPr lang="nl-BE"/>
              <a:t>inclusie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De opleiding, </a:t>
            </a:r>
            <a:r>
              <a:t>van </a:t>
            </a:r>
            <a:r>
              <a:rPr lang="nl-BE"/>
              <a:t>november tot april</a:t>
            </a:r>
            <a:r>
              <a:t>; </a:t>
            </a:r>
            <a:r>
              <a:rPr lang="nl-NL"/>
              <a:t>een bolletje is een sessie</a:t>
            </a:r>
            <a:r>
              <a:t>, </a:t>
            </a:r>
            <a:r>
              <a:rPr lang="nl-BE"/>
              <a:t>een balk een reeks</a:t>
            </a:r>
            <a:r>
              <a:t>, en de </a:t>
            </a:r>
            <a:r>
              <a:rPr lang="nl-BE"/>
              <a:t>kleur zegt waar. Online </a:t>
            </a:r>
            <a:r>
              <a:t>en </a:t>
            </a:r>
            <a:r>
              <a:rPr lang="nl-BE"/>
              <a:t>opgenomen: </a:t>
            </a:r>
            <a:r>
              <a:t>het </a:t>
            </a:r>
            <a:r>
              <a:rPr lang="nl-BE"/>
              <a:t>info draaiboek</a:t>
            </a:r>
            <a:r>
              <a:t>, de </a:t>
            </a:r>
            <a:r>
              <a:rPr lang="nl-NL"/>
              <a:t>theorie, op 10 en 24 november, gezondheidseconomie </a:t>
            </a:r>
            <a:r>
              <a:t>en </a:t>
            </a:r>
            <a:r>
              <a:rPr lang="nl-BE"/>
              <a:t>procesevaluatie op 8 december</a:t>
            </a:r>
            <a:r>
              <a:t>, </a:t>
            </a:r>
            <a:r>
              <a:rPr lang="nl-BE"/>
              <a:t>en datacollectie en vragenlijsten </a:t>
            </a:r>
            <a:r>
              <a:t>op </a:t>
            </a:r>
            <a:r>
              <a:rPr lang="nl-NL"/>
              <a:t>12 januari, na een zelftest waarbij elk centrum </a:t>
            </a:r>
            <a:r>
              <a:t>de </a:t>
            </a:r>
            <a:r>
              <a:rPr lang="nl-NL"/>
              <a:t>vragenlijsten eens zelf invult. Ter plaatse in uw centrum: </a:t>
            </a:r>
            <a:r>
              <a:t>de </a:t>
            </a:r>
            <a:r>
              <a:rPr lang="nl-BE"/>
              <a:t>technologie in december en </a:t>
            </a:r>
            <a:r>
              <a:t>de </a:t>
            </a:r>
            <a:r>
              <a:rPr lang="nl-BE"/>
              <a:t>droogloop eind januari</a:t>
            </a:r>
            <a:r>
              <a:t>. SEBIA </a:t>
            </a:r>
            <a:r>
              <a:rPr lang="nl-NL"/>
              <a:t>geeft Fabienne Dobbels, overdag en in drie groepen: 1 en 2 in januari, </a:t>
            </a:r>
            <a:r>
              <a:t>3 en 4 </a:t>
            </a:r>
            <a:r>
              <a:rPr lang="nl-NL"/>
              <a:t>begin maart, het inoefenen met het script</a:t>
            </a:r>
            <a:r>
              <a:t>, in uw centrum tussen 20 en 30 april, </a:t>
            </a:r>
            <a:r>
              <a:rPr lang="nl-NL"/>
              <a:t>en in het najaar van 2027 </a:t>
            </a:r>
            <a:r>
              <a:t>een </a:t>
            </a:r>
            <a:r>
              <a:rPr lang="nl-BE"/>
              <a:t>online intervisie</a:t>
            </a:r>
            <a:r>
              <a:t>. </a:t>
            </a:r>
            <a:r>
              <a:rPr lang="nl-BE"/>
              <a:t>Zo zit alles vóór </a:t>
            </a:r>
            <a:r>
              <a:t>de </a:t>
            </a:r>
            <a:r>
              <a:rPr lang="nl-BE"/>
              <a:t>eerste gesprekken over </a:t>
            </a:r>
            <a:r>
              <a:t>de </a:t>
            </a:r>
            <a:r>
              <a:rPr lang="nl-BE"/>
              <a:t>draagtijd, eind mei</a:t>
            </a:r>
            <a:r>
              <a:t>. </a:t>
            </a:r>
            <a:r>
              <a:rPr lang="nl-NL"/>
              <a:t>Artsen volgen alleen de theorie; de twee pedorthisten komen naar </a:t>
            </a:r>
            <a:r>
              <a:t>de </a:t>
            </a:r>
            <a:r>
              <a:rPr lang="nl-BE"/>
              <a:t>theorie </a:t>
            </a:r>
            <a:r>
              <a:t>van de </a:t>
            </a:r>
            <a:r>
              <a:rPr lang="nl-BE"/>
              <a:t>technologie</a:t>
            </a:r>
            <a:r>
              <a:t>. </a:t>
            </a:r>
            <a:r>
              <a:rPr lang="nl-NL"/>
              <a:t>De praktijksessies worden niet opgenomen</a:t>
            </a:r>
            <a:r>
              <a:t>: </a:t>
            </a:r>
            <a:r>
              <a:rPr lang="nl-BE"/>
              <a:t>daar is aanwezigheid nodig</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Per centrum de voorgestelde data. SEBIA in drie groepen: Kortrijk met de eerste podoloog van Brugge; groep Oost met Aalst, Leuven, Antwerpen en de tweede podoloog van Brugge; en Gent in het eigen centrum, waarvoor de droogloop van Gent </a:t>
            </a:r>
            <a:r>
              <a:t>naar </a:t>
            </a:r>
            <a:r>
              <a:rPr lang="nl-NL"/>
              <a:t>21 januari schuift. SEBIA 3 en 4 zijn een voorstel, op </a:t>
            </a:r>
            <a:r>
              <a:t>de </a:t>
            </a:r>
            <a:r>
              <a:rPr lang="nl-NL"/>
              <a:t>data die mevrouw Dobbels aanbood; </a:t>
            </a:r>
            <a:r>
              <a:t>de </a:t>
            </a:r>
            <a:r>
              <a:rPr lang="nl-NL"/>
              <a:t>eerste podoloog van Brugge gaf alleen </a:t>
            </a:r>
            <a:r>
              <a:t>de </a:t>
            </a:r>
            <a:r>
              <a:rPr lang="nl-NL"/>
              <a:t>woensdag op en moet maandag 1 maart nog bevestigen. SEBIA 3 en 4 krijgen één inhaalmoment, maandag 8 maart. SEBIA 5 geeft mevrouw Dobbels in uw eigen centrum</a:t>
            </a:r>
            <a:r>
              <a:t>, </a:t>
            </a:r>
            <a:r>
              <a:rPr lang="nl-BE"/>
              <a:t>tussen 20 </a:t>
            </a:r>
            <a:r>
              <a:t>en </a:t>
            </a:r>
            <a:r>
              <a:rPr lang="nl-NL"/>
              <a:t>30 april; ook die dag is een voorstel, op een dag </a:t>
            </a:r>
            <a:r>
              <a:t>dat </a:t>
            </a:r>
            <a:r>
              <a:rPr lang="nl-NL"/>
              <a:t>uw podologen er zijn. de inhaalmomenten in de laatste kolom horen bij de droogloop. Lukt een datum niet, dan staat op de fiche </a:t>
            </a:r>
            <a:r>
              <a:t>van uw </a:t>
            </a:r>
            <a:r>
              <a:rPr lang="nl-NL"/>
              <a:t>centrum een optie B. Graag uw antwoord tegen vrijdag 16 oktober; daarna ligt de kalender vast. Vragen of opmerkingen over uw data: mail naar janou.debuyser@kuleuven.be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Terug naar de tijdlijn. Na de opleiding de inclusie zelf: hoe snel, en wat dat van uw team vraagt.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vragen elk centrum drie inclusies per maand. Waarom drie, als twee gemiddeld volstaat? Omdat patiënten niet op regelmatige tijdstippen binnenkomen. De curve toont de kans dat een centrum zijn 24 binnen twaalf maanden haalt. Aan twee per maand is dat een muntworp, 53 procent; aan drie per maand 99 procent: de derde patiënt is de marge. De studie is pas rond als het traagste centrum klaar is: dat alle zes het halen, is aan drie per maand 92 procent, aan twee per maand amper 2 procent. Het model rekent met een vast tempo vanaf de eerste maand; een trage start of een zomer aan halve kracht kost al snel een maand. Ook daarom drie, en niet twee. Wat dat tempo van uw team vraagt, ziet u op de volgende dia.</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het tempo van uw team vraagt, per maand, in kleur per visite. Links ons voorstel, drie per maand: 14 uur per maand zolang de inclusie loopt, en de laatste visite rond juni 2029. In het midden en rechts achttien maanden inclusie, aan twee of anderhalve patiënt per maand: per maand iets minder, rond elf en tien uur, maar het duurt langer. In totaal is het overal 300 uur per centrum, want elke patiënt krijgt dezelfde visites. Het verschil zit in het einde: aan twee per maand valt de laatste visite rond november 2029, aan anderhalve rond april 2030, na de geplande laatste visite van september 2029, en dan blijft er geen tijd voor de verwerking. Dit zijn medianen uit de simulatie; volgens plan is de laatste visite eind augustus 2029. De uren: twee per visite in Optimal Care, één in Usual Care, twee bij de start.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Deel </a:t>
            </a:r>
            <a:r>
              <a:rPr lang="nl-BE"/>
              <a:t>zes</a:t>
            </a:r>
            <a:r>
              <a:t>: </a:t>
            </a:r>
            <a:r>
              <a:rPr lang="nl-BE"/>
              <a:t>de bespreking, en wat </a:t>
            </a:r>
            <a:r>
              <a:t>we van u vragen.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Deel 6</a:t>
            </a:r>
            <a:r>
              <a:t>: </a:t>
            </a:r>
            <a:r>
              <a:rPr lang="nl-BE"/>
              <a:t>Bespreking</a:t>
            </a:r>
            <a:r>
              <a:t>. </a:t>
            </a:r>
            <a:r>
              <a:rPr lang="nl-NL"/>
              <a:t>Wat we vandaag van u vragen</a:t>
            </a:r>
            <a:r>
              <a:t>, en </a:t>
            </a:r>
            <a:r>
              <a:rPr lang="nl-BE"/>
              <a:t>twee punten waarover </a:t>
            </a:r>
            <a:r>
              <a:t>we uw </a:t>
            </a:r>
            <a:r>
              <a:rPr lang="nl-BE"/>
              <a:t>mening willen.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Het logo </a:t>
            </a:r>
            <a:r>
              <a:t>van </a:t>
            </a:r>
            <a:r>
              <a:rPr lang="nl-NL"/>
              <a:t>PARADISE, zoals het nu in alle materiaal staat</a:t>
            </a:r>
            <a:r>
              <a:t>: de </a:t>
            </a:r>
            <a:r>
              <a:rPr lang="nl-NL"/>
              <a:t>voet als drukbeeld, van koel naar warm, met </a:t>
            </a:r>
            <a:r>
              <a:t>de </a:t>
            </a:r>
            <a:r>
              <a:rPr lang="nl-BE"/>
              <a:t>P die erin zit</a:t>
            </a:r>
            <a:r>
              <a:t>. </a:t>
            </a:r>
            <a:r>
              <a:rPr lang="nl-NL"/>
              <a:t>Links het volledige logo op een lichte achtergrond, zoals op </a:t>
            </a:r>
            <a:r>
              <a:t>de </a:t>
            </a:r>
            <a:r>
              <a:rPr lang="nl-BE"/>
              <a:t>formulieren </a:t>
            </a:r>
            <a:r>
              <a:t>en</a:t>
            </a:r>
            <a:r>
              <a:rPr lang="nl-NL"/>
              <a:t> het patiëntenmateriaal; rechts het symbool alleen</a:t>
            </a:r>
            <a:r>
              <a:t>, </a:t>
            </a:r>
            <a:r>
              <a:rPr lang="nl-NL"/>
              <a:t>voor klein formaat. In het midden is </a:t>
            </a:r>
            <a:r>
              <a:t>er </a:t>
            </a:r>
            <a:r>
              <a:rPr lang="nl-NL"/>
              <a:t>ruimte voor een nieuw idee</a:t>
            </a:r>
            <a:r>
              <a:t>, </a:t>
            </a:r>
            <a:r>
              <a:rPr lang="nl-NL"/>
              <a:t>dat we samen kunnen uitwerken</a:t>
            </a:r>
            <a:r>
              <a:t>. </a:t>
            </a:r>
            <a:r>
              <a:rPr lang="nl-BE"/>
              <a:t>Dit is </a:t>
            </a:r>
            <a:r>
              <a:t>de </a:t>
            </a:r>
            <a:r>
              <a:rPr lang="nl-BE"/>
              <a:t>eerste officiële meeting</a:t>
            </a:r>
            <a:r>
              <a:t>, </a:t>
            </a:r>
            <a:r>
              <a:rPr lang="nl-BE"/>
              <a:t>dus </a:t>
            </a:r>
            <a:r>
              <a:t>we vragen uw </a:t>
            </a:r>
            <a:r>
              <a:rPr lang="nl-NL"/>
              <a:t>akkoord: gebruiken we dit logo overal</a:t>
            </a:r>
            <a:r>
              <a:t>, </a:t>
            </a:r>
            <a:r>
              <a:rPr lang="nl-NL"/>
              <a:t>of wilt u iets aangepast zien?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Links wat we van elk centrum vragen. Eén: drie inclusies per maand, vanaf de start na de Go/No-Go. Twee: de fiche uit uw opleidingsdocument terug tegen vrijdag 16 oktober: de data bevestigen en, waar er twee zijn, optie A of B kiezen. Drie: wie deelneemt aan de opleidingen, podologen, verpleegkundigen en artsen. Vier: de drukmeting geïnstalleerd vóór uw technologiesessie. Vijf: mail voor alles over PARADISE naar paradise-tbm@kuleuven.be. Rechts een punt waarover we uw mening vragen: twaalf maanden inclusie in plaats van achttien. Dat kost uw team evenveel uren, alleen sneller; met achttien maanden valt de laatste visite in 2030, en dan blijft er geen tijd voor de verwerking.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372778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En tot slot deel zeven</a:t>
            </a:r>
            <a:r>
              <a:t>: de </a:t>
            </a:r>
            <a:r>
              <a:rPr lang="nl-BE"/>
              <a:t>tour de </a:t>
            </a:r>
            <a:r>
              <a:t>table, en wat nu volgt.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Deel 7: Tour de table. Dan uw beurt: een korte </a:t>
            </a:r>
            <a:r>
              <a:t>ronde per centrum</a:t>
            </a:r>
            <a:r>
              <a:rPr lang="nl-NL"/>
              <a:t>, en daarna wat nu volgt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Een ronde per centrum</a:t>
            </a:r>
            <a:r>
              <a:t>.</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Dan, los van de studie zelf, iets uit WP5</a:t>
            </a:r>
            <a:r>
              <a:t>. </a:t>
            </a:r>
            <a:r>
              <a:rPr lang="nl-BE"/>
              <a:t>Kortrijk Kerngezond loopt van </a:t>
            </a:r>
            <a:r>
              <a:t>16 </a:t>
            </a:r>
            <a:r>
              <a:rPr lang="nl-BE"/>
              <a:t>tot 24 </a:t>
            </a:r>
            <a:r>
              <a:t>oktober in </a:t>
            </a:r>
            <a:r>
              <a:rPr lang="nl-BE"/>
              <a:t>K </a:t>
            </a:r>
            <a:r>
              <a:t>in </a:t>
            </a:r>
            <a:r>
              <a:rPr lang="nl-BE"/>
              <a:t>Kortrijk: zes dagen zorginnovatie</a:t>
            </a:r>
            <a:r>
              <a:t>. </a:t>
            </a:r>
            <a:r>
              <a:rPr lang="nl-BE"/>
              <a:t>PARADISE is er op 16 oktober</a:t>
            </a:r>
            <a:r>
              <a:t>, </a:t>
            </a:r>
            <a:r>
              <a:rPr lang="nl-BE"/>
              <a:t>samen met AZ Groeninge </a:t>
            </a:r>
            <a:r>
              <a:t>en </a:t>
            </a:r>
            <a:r>
              <a:rPr lang="nl-NL"/>
              <a:t>KU Leuven Campus Brugge, met een korte demonstratie van hoe je </a:t>
            </a:r>
            <a:r>
              <a:t>de </a:t>
            </a:r>
            <a:r>
              <a:rPr lang="nl-NL"/>
              <a:t>druk onder een voet meet, een stand en een animatievideo. We zeggen er eerlijk bij dat er nog geen resultaten zijn: we tonen hoe we meten</a:t>
            </a:r>
            <a:r>
              <a:t>. </a:t>
            </a:r>
            <a:r>
              <a:rPr lang="nl-BE"/>
              <a:t>Wilt u ook </a:t>
            </a:r>
            <a:r>
              <a:t>in </a:t>
            </a:r>
            <a:r>
              <a:rPr lang="nl-NL"/>
              <a:t>uw stad of ziekenhuis iets tonen</a:t>
            </a:r>
            <a:r>
              <a:t>, </a:t>
            </a:r>
            <a:r>
              <a:rPr lang="nl-BE"/>
              <a:t>laat </a:t>
            </a:r>
            <a:r>
              <a:t>het </a:t>
            </a:r>
            <a:r>
              <a:rPr lang="nl-BE"/>
              <a:t>ons weten</a:t>
            </a:r>
            <a:r>
              <a:t>. </a:t>
            </a:r>
            <a:r>
              <a:rPr lang="nl-NL"/>
              <a:t>Disseminatie is vandaag verder niet de focus: op de volgende meeting komen we met een plan van aanpak</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NL"/>
              <a:t>Tot slot wat nu volgt. Tegen vrijdag 16 oktober uw fiche terug</a:t>
            </a:r>
            <a:r>
              <a:t>. </a:t>
            </a:r>
            <a:r>
              <a:rPr lang="nl-NL"/>
              <a:t>Op dinsdag 10 november start </a:t>
            </a:r>
            <a:r>
              <a:t>het </a:t>
            </a:r>
            <a:r>
              <a:rPr lang="nl-BE"/>
              <a:t>info draaiboek</a:t>
            </a:r>
            <a:r>
              <a:t>, </a:t>
            </a:r>
            <a:r>
              <a:rPr lang="nl-BE"/>
              <a:t>online</a:t>
            </a:r>
            <a:r>
              <a:t>. </a:t>
            </a:r>
            <a:r>
              <a:rPr lang="nl-NL"/>
              <a:t>In december komen we in uw </a:t>
            </a:r>
            <a:r>
              <a:t>centrum </a:t>
            </a:r>
            <a:r>
              <a:rPr lang="nl-BE"/>
              <a:t>voor de technologie</a:t>
            </a:r>
            <a:r>
              <a:t>, in</a:t>
            </a:r>
            <a:r>
              <a:rPr lang="nl-BE"/>
              <a:t> januari voor de droogloop</a:t>
            </a:r>
            <a:r>
              <a:t>. </a:t>
            </a:r>
            <a:r>
              <a:rPr lang="nl-BE"/>
              <a:t>Op 23 </a:t>
            </a:r>
            <a:r>
              <a:t>februari </a:t>
            </a:r>
            <a:r>
              <a:rPr lang="en-US"/>
              <a:t>beslist de Executive Board na </a:t>
            </a:r>
            <a:r>
              <a:t>de piloot</a:t>
            </a:r>
            <a:r>
              <a:rPr lang="nl-BE"/>
              <a:t> over </a:t>
            </a:r>
            <a:r>
              <a:t>Go</a:t>
            </a:r>
            <a:r>
              <a:rPr lang="nl-BE"/>
              <a:t> of </a:t>
            </a:r>
            <a:r>
              <a:t>No-Go</a:t>
            </a:r>
            <a:r>
              <a:rPr lang="nl-BE"/>
              <a:t>,</a:t>
            </a:r>
            <a:r>
              <a:t> en dan </a:t>
            </a:r>
            <a:r>
              <a:rPr lang="nl-BE"/>
              <a:t>volgt </a:t>
            </a:r>
            <a:r>
              <a:t>de eerste patiënt</a:t>
            </a:r>
            <a:r>
              <a:rPr lang="nl-NL"/>
              <a:t>. Daarna drie inclusies per maand, in elk centrum, en de inclusie is binnen het jaar rond. Dank u</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De stand </a:t>
            </a:r>
            <a:r>
              <a:t>in </a:t>
            </a:r>
            <a:r>
              <a:rPr lang="nl-BE"/>
              <a:t>vier punten</a:t>
            </a:r>
            <a:r>
              <a:t>. De </a:t>
            </a:r>
            <a:r>
              <a:rPr lang="nl-NL"/>
              <a:t>ethische goedkeuring is het kritieke pad, want nergens </a:t>
            </a:r>
            <a:r>
              <a:t>wordt </a:t>
            </a:r>
            <a:r>
              <a:rPr lang="nl-NL"/>
              <a:t>geïncludeerd vóór alle goedkeuringen binnen zijn</a:t>
            </a:r>
            <a:r>
              <a:t>. </a:t>
            </a:r>
            <a:r>
              <a:rPr lang="nl-BE"/>
              <a:t>De drukmeetsystemen</a:t>
            </a:r>
            <a:r>
              <a:t>, de </a:t>
            </a:r>
            <a:r>
              <a:rPr lang="nl-BE"/>
              <a:t>Novel pedar, zijn geleverd </a:t>
            </a:r>
            <a:r>
              <a:t>en </a:t>
            </a:r>
            <a:r>
              <a:rPr lang="nl-NL"/>
              <a:t>worden centrum per centrum geïnstalleerd</a:t>
            </a:r>
            <a:r>
              <a:t>. De </a:t>
            </a:r>
            <a:r>
              <a:rPr lang="nl-BE"/>
              <a:t>REDCap-databank staat klaar</a:t>
            </a:r>
            <a:r>
              <a:t>: </a:t>
            </a:r>
            <a:r>
              <a:rPr lang="nl-BE"/>
              <a:t>u vult papieren formulieren in</a:t>
            </a:r>
            <a:r>
              <a:t>, </a:t>
            </a:r>
            <a:r>
              <a:rPr lang="nl-NL"/>
              <a:t>het studieteam voert ze in</a:t>
            </a:r>
            <a:r>
              <a:t>, </a:t>
            </a:r>
            <a:r>
              <a:rPr lang="nl-NL"/>
              <a:t>u voert zelf niets in</a:t>
            </a:r>
            <a:r>
              <a:t>. </a:t>
            </a:r>
            <a:r>
              <a:rPr lang="nl-BE"/>
              <a:t>De opleidingsplanning ligt klaar</a:t>
            </a:r>
            <a:r>
              <a:t>, van </a:t>
            </a:r>
            <a:r>
              <a:rPr lang="nl-NL"/>
              <a:t>10 november tot april; elk centrum krijgt een opleidingsdocument </a:t>
            </a:r>
            <a:r>
              <a:t>met </a:t>
            </a:r>
            <a:r>
              <a:rPr lang="nl-BE"/>
              <a:t>zijn </a:t>
            </a:r>
            <a:r>
              <a:t>eigen </a:t>
            </a:r>
            <a:r>
              <a:rPr lang="nl-NL"/>
              <a:t>data en een fiche om te bevestigen. En in februari 2027 volgen de piloot</a:t>
            </a:r>
            <a:r>
              <a:t>, </a:t>
            </a:r>
            <a:r>
              <a:rPr lang="nl-BE"/>
              <a:t>de Go/No-Go </a:t>
            </a:r>
            <a:r>
              <a:t>en </a:t>
            </a:r>
            <a:r>
              <a:rPr lang="nl-BE"/>
              <a:t>dan de eerste patiënt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nl-BE"/>
              <a:t>Hoe </a:t>
            </a:r>
            <a:r>
              <a:t>de </a:t>
            </a:r>
            <a:r>
              <a:rPr lang="nl-BE"/>
              <a:t>druknorm in </a:t>
            </a:r>
            <a:r>
              <a:t>de </a:t>
            </a:r>
            <a:r>
              <a:rPr lang="nl-BE"/>
              <a:t>praktijk werkt, </a:t>
            </a:r>
            <a:r>
              <a:t>met </a:t>
            </a:r>
            <a:r>
              <a:rPr lang="nl-NL"/>
              <a:t>een rekenvoorbeeld voor één doelregio; </a:t>
            </a:r>
            <a:r>
              <a:t>de </a:t>
            </a:r>
            <a:r>
              <a:rPr lang="nl-BE"/>
              <a:t>getallen zijn verzonnen</a:t>
            </a:r>
            <a:r>
              <a:t>. </a:t>
            </a:r>
            <a:r>
              <a:rPr lang="nl-NL"/>
              <a:t>Elke meetsessie meet twee keer </a:t>
            </a:r>
            <a:r>
              <a:t>in </a:t>
            </a:r>
            <a:r>
              <a:rPr lang="nl-BE"/>
              <a:t>de schoen: eerst </a:t>
            </a:r>
            <a:r>
              <a:t>zonder de </a:t>
            </a:r>
            <a:r>
              <a:rPr lang="nl-BE"/>
              <a:t>CMFO, </a:t>
            </a:r>
            <a:r>
              <a:t>dan </a:t>
            </a:r>
            <a:r>
              <a:rPr lang="nl-BE"/>
              <a:t>mét. De 25 </a:t>
            </a:r>
            <a:r>
              <a:t>procent </a:t>
            </a:r>
            <a:r>
              <a:rPr lang="nl-NL"/>
              <a:t>wordt altijd berekend op de meting zonder zool </a:t>
            </a:r>
            <a:r>
              <a:t>van </a:t>
            </a:r>
            <a:r>
              <a:rPr lang="nl-BE"/>
              <a:t>díe sessie</a:t>
            </a:r>
            <a:r>
              <a:t>; de </a:t>
            </a:r>
            <a:r>
              <a:rPr lang="nl-NL"/>
              <a:t>oranje lijn ligt dus elke sessie op een andere hoogte</a:t>
            </a:r>
            <a:r>
              <a:t>. </a:t>
            </a:r>
            <a:r>
              <a:rPr lang="nl-BE"/>
              <a:t>Links visite 2</a:t>
            </a:r>
            <a:r>
              <a:t>: </a:t>
            </a:r>
            <a:r>
              <a:rPr lang="nl-BE"/>
              <a:t>zonder zool 340 kilopascal</a:t>
            </a:r>
            <a:r>
              <a:t>, de grens voor </a:t>
            </a:r>
            <a:r>
              <a:rPr lang="nl-BE"/>
              <a:t>25 </a:t>
            </a:r>
            <a:r>
              <a:t>procent </a:t>
            </a:r>
            <a:r>
              <a:rPr lang="nl-BE"/>
              <a:t>lager </a:t>
            </a:r>
            <a:r>
              <a:t>is dan </a:t>
            </a:r>
            <a:r>
              <a:rPr lang="nl-BE"/>
              <a:t>255</a:t>
            </a:r>
            <a:r>
              <a:t>. </a:t>
            </a:r>
            <a:r>
              <a:rPr lang="nl-BE"/>
              <a:t>Mét de zool 280</a:t>
            </a:r>
            <a:r>
              <a:t>: </a:t>
            </a:r>
            <a:r>
              <a:rPr lang="nl-BE"/>
              <a:t>dat is 18 </a:t>
            </a:r>
            <a:r>
              <a:t>procent </a:t>
            </a:r>
            <a:r>
              <a:rPr lang="nl-NL"/>
              <a:t>lager en nog boven 200, dus niet gehaald</a:t>
            </a:r>
            <a:r>
              <a:t>. </a:t>
            </a:r>
            <a:r>
              <a:rPr lang="nl-BE"/>
              <a:t>De pedorthist past </a:t>
            </a:r>
            <a:r>
              <a:t>de </a:t>
            </a:r>
            <a:r>
              <a:rPr lang="nl-BE"/>
              <a:t>zool aan </a:t>
            </a:r>
            <a:r>
              <a:t>en </a:t>
            </a:r>
            <a:r>
              <a:rPr lang="nl-NL"/>
              <a:t>er wordt opnieuw mét gemeten: 245</a:t>
            </a:r>
            <a:r>
              <a:t>, </a:t>
            </a:r>
            <a:r>
              <a:rPr lang="nl-BE"/>
              <a:t>28 </a:t>
            </a:r>
            <a:r>
              <a:t>procent </a:t>
            </a:r>
            <a:r>
              <a:rPr lang="nl-BE"/>
              <a:t>lager</a:t>
            </a:r>
            <a:r>
              <a:t>, </a:t>
            </a:r>
            <a:r>
              <a:rPr lang="nl-BE"/>
              <a:t>gehaald. Er mogen tot </a:t>
            </a:r>
            <a:r>
              <a:t>drie </a:t>
            </a:r>
            <a:r>
              <a:rPr lang="nl-BE"/>
              <a:t>aanpassingen gebeuren</a:t>
            </a:r>
            <a:r>
              <a:t>. </a:t>
            </a:r>
            <a:r>
              <a:rPr lang="nl-NL"/>
              <a:t>Rechts maand 6: zonder zool nu 230</a:t>
            </a:r>
            <a:r>
              <a:t>, de </a:t>
            </a:r>
            <a:r>
              <a:rPr lang="nl-BE"/>
              <a:t>grens wordt 173</a:t>
            </a:r>
            <a:r>
              <a:t>. </a:t>
            </a:r>
            <a:r>
              <a:rPr lang="nl-BE"/>
              <a:t>Mét </a:t>
            </a:r>
            <a:r>
              <a:t>de </a:t>
            </a:r>
            <a:r>
              <a:rPr lang="nl-BE"/>
              <a:t>zool 190</a:t>
            </a:r>
            <a:r>
              <a:t>: </a:t>
            </a:r>
            <a:r>
              <a:rPr lang="nl-BE"/>
              <a:t>maar 17 procent lager</a:t>
            </a:r>
            <a:r>
              <a:t>, </a:t>
            </a:r>
            <a:r>
              <a:rPr lang="nl-BE"/>
              <a:t>maar onder 200 kilopascal</a:t>
            </a:r>
            <a:r>
              <a:t>, en </a:t>
            </a:r>
            <a:r>
              <a:rPr lang="nl-BE"/>
              <a:t>één </a:t>
            </a:r>
            <a:r>
              <a:t>van </a:t>
            </a:r>
            <a:r>
              <a:rPr lang="nl-BE"/>
              <a:t>beide volstaat</a:t>
            </a:r>
            <a:r>
              <a:t>.</a:t>
            </a:r>
            <a:r>
              <a:rPr lang="nl-BE"/>
              <a:t> Gehaald</a:t>
            </a:r>
            <a:r>
              <a:t>. </a:t>
            </a:r>
            <a:r>
              <a:rPr lang="nl-NL"/>
              <a:t>Zo vergelijkt elke sessie met haar eigen meting zonder zool, en niet meer met visite 2</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a:t>
            </a:r>
            <a:r>
              <a:rPr lang="nl-NL"/>
              <a:t>literatuur naast elkaar, per noemer</a:t>
            </a:r>
            <a:r>
              <a:t>: </a:t>
            </a:r>
            <a:r>
              <a:rPr lang="nl-NL"/>
              <a:t>waardoor deelt elke studie de draagtijd? In de bolletjes de grens die </a:t>
            </a:r>
            <a:r>
              <a:t>ze </a:t>
            </a:r>
            <a:r>
              <a:rPr lang="nl-NL"/>
              <a:t>gebruiken. Niemand rekent met de volle vierentwintig uur. Chantelau rekende in dagtijd, zonder sensor</a:t>
            </a:r>
            <a:r>
              <a:t>, </a:t>
            </a:r>
            <a:r>
              <a:rPr lang="nl-BE"/>
              <a:t>en zag minder recidief </a:t>
            </a:r>
            <a:r>
              <a:t>bij wie de </a:t>
            </a:r>
            <a:r>
              <a:rPr lang="nl-NL"/>
              <a:t>schoenen meer dan zestig procent van de dag droeg; hoe lang die dag was, staat niet in de samenvatting. Arts </a:t>
            </a:r>
            <a:r>
              <a:t>en </a:t>
            </a:r>
            <a:r>
              <a:rPr lang="nl-NL"/>
              <a:t>Exterkate delen door een aangenomen dag van zestien uur uit bed</a:t>
            </a:r>
            <a:r>
              <a:t>: </a:t>
            </a:r>
            <a:r>
              <a:rPr lang="nl-NL"/>
              <a:t>Arts vroeg de uren aan de patiënt, Exterkate mat ze met </a:t>
            </a:r>
            <a:r>
              <a:t>de Orthotimer en </a:t>
            </a:r>
            <a:r>
              <a:rPr lang="nl-BE"/>
              <a:t>legde </a:t>
            </a:r>
            <a:r>
              <a:t>de </a:t>
            </a:r>
            <a:r>
              <a:rPr lang="nl-NL"/>
              <a:t>grens voor niet therapietrouw vooraf op zestig procent, met tachtig procent als bovenste groep</a:t>
            </a:r>
            <a:r>
              <a:t>. </a:t>
            </a:r>
            <a:r>
              <a:rPr lang="nl-NL"/>
              <a:t>Waaijman en Bus delen door de stappen, gemeten </a:t>
            </a:r>
            <a:r>
              <a:t>met </a:t>
            </a:r>
            <a:r>
              <a:rPr lang="nl-BE"/>
              <a:t>een temperatuursensor in </a:t>
            </a:r>
            <a:r>
              <a:t>de </a:t>
            </a:r>
            <a:r>
              <a:rPr lang="nl-NL"/>
              <a:t>schoen en een StepWatch aan </a:t>
            </a:r>
            <a:r>
              <a:t>de </a:t>
            </a:r>
            <a:r>
              <a:rPr lang="nl-NL"/>
              <a:t>enkel; daar is geen daglengte voor nodig. DIASSIST heeft </a:t>
            </a:r>
            <a:r>
              <a:t>als </a:t>
            </a:r>
            <a:r>
              <a:rPr lang="nl-BE"/>
              <a:t>primaire uitkomst </a:t>
            </a:r>
            <a:r>
              <a:t>het deel van de stappen</a:t>
            </a:r>
            <a:r>
              <a:rPr lang="nl-BE"/>
              <a:t> in </a:t>
            </a:r>
            <a:r>
              <a:t>de </a:t>
            </a:r>
            <a:r>
              <a:rPr lang="nl-BE"/>
              <a:t>voorgeschreven schoen</a:t>
            </a:r>
            <a:r>
              <a:t>, </a:t>
            </a:r>
            <a:r>
              <a:rPr lang="nl-NL"/>
              <a:t>en noemt in het protocol minder dan acht </a:t>
            </a:r>
            <a:r>
              <a:t>uur per dag </a:t>
            </a:r>
            <a:r>
              <a:rPr lang="nl-BE"/>
              <a:t>niet therapietrouw</a:t>
            </a:r>
            <a:r>
              <a:t>; die </a:t>
            </a:r>
            <a:r>
              <a:rPr lang="nl-BE"/>
              <a:t>acht </a:t>
            </a:r>
            <a:r>
              <a:t>uur is</a:t>
            </a:r>
            <a:r>
              <a:rPr lang="nl-BE"/>
              <a:t> een absoluut getal</a:t>
            </a:r>
            <a:r>
              <a:t>, </a:t>
            </a:r>
            <a:r>
              <a:rPr lang="nl-NL"/>
              <a:t>zonder noemer. Van Netten gebruikt beide: minder dan tachtig procent van de stappen of minder dan acht </a:t>
            </a:r>
            <a:r>
              <a:t>uur</a:t>
            </a:r>
            <a:r>
              <a:rPr lang="nl-BE"/>
              <a:t> per dag</a:t>
            </a:r>
            <a:r>
              <a:t>. </a:t>
            </a:r>
            <a:r>
              <a:rPr lang="nl-NL"/>
              <a:t>Jarl nam als referentie het </a:t>
            </a:r>
            <a:r>
              <a:t>deel van de </a:t>
            </a:r>
            <a:r>
              <a:rPr lang="nl-BE"/>
              <a:t>gewichtdragende tijd, staan en </a:t>
            </a:r>
            <a:r>
              <a:t>stappen </a:t>
            </a:r>
            <a:r>
              <a:rPr lang="nl-BE"/>
              <a:t>samen</a:t>
            </a:r>
            <a:r>
              <a:t>, </a:t>
            </a:r>
            <a:r>
              <a:rPr lang="nl-BE"/>
              <a:t>waarin </a:t>
            </a:r>
            <a:r>
              <a:t>de schoen aan was. </a:t>
            </a:r>
            <a:r>
              <a:rPr lang="nl-NL"/>
              <a:t>Bij een referentiegrens van tachtig procent hoort volgens zijn tabel 3 een grens van 77,4 procent </a:t>
            </a:r>
            <a:r>
              <a:t>van </a:t>
            </a:r>
            <a:r>
              <a:rPr lang="nl-BE"/>
              <a:t>de stappen, of 12,2 </a:t>
            </a:r>
            <a:r>
              <a:t>uur </a:t>
            </a:r>
            <a:r>
              <a:rPr lang="nl-NL"/>
              <a:t>draagtijd per dag: drie noemers</a:t>
            </a:r>
            <a:r>
              <a:t>, </a:t>
            </a:r>
            <a:r>
              <a:rPr lang="nl-BE"/>
              <a:t>dezelfde lat</a:t>
            </a:r>
            <a:r>
              <a:t>. </a:t>
            </a:r>
            <a:r>
              <a:rPr lang="nl-BE"/>
              <a:t>DIASSIST, van Netten </a:t>
            </a:r>
            <a:r>
              <a:t>en </a:t>
            </a:r>
            <a:r>
              <a:rPr lang="nl-NL"/>
              <a:t>Jarl gebruiken dezelfde toestellen als wij</a:t>
            </a:r>
            <a:r>
              <a:t>, </a:t>
            </a:r>
            <a:r>
              <a:rPr lang="nl-NL"/>
              <a:t>de Orthotimer en de MoveMonitor; voor DIASSIST staat dat </a:t>
            </a:r>
            <a:r>
              <a:t>in het </a:t>
            </a:r>
            <a:r>
              <a:rPr lang="nl-BE"/>
              <a:t>protocol</a:t>
            </a:r>
            <a:r>
              <a:t>, </a:t>
            </a:r>
            <a:r>
              <a:rPr lang="nl-NL"/>
              <a:t>want de samenvatting van 2026 noemt geen toestellen. PARADISE staat </a:t>
            </a:r>
            <a:r>
              <a:t>alleen </a:t>
            </a:r>
            <a:r>
              <a:rPr lang="nl-BE"/>
              <a:t>in </a:t>
            </a:r>
            <a:r>
              <a:t>de </a:t>
            </a:r>
            <a:r>
              <a:rPr lang="nl-BE"/>
              <a:t>laatste kolom: niemand deelt door een gemeten waaktijd. Referenties: Chantelau en Haage, Diabet Med 1994;11:114–6. Arts e.a., J Rehabil Med 2014;46:357–62. Waaijman e.a., Diabetes Care 2013;36:1613–8. Bus e.a., Diabetes Care 2013;36:4109–16. Vossen e.a., Trials 2023;24:663, en Diabetes Care 2026;49:1384–94. Exterkate e.a., J Foot Ankle Res 2023;16:60. van Netten e.a., J Clin Med 2025;14:3635</a:t>
            </a:r>
            <a:r>
              <a:t>. </a:t>
            </a:r>
            <a:r>
              <a:rPr lang="nl-BE"/>
              <a:t>Jarl e.a., Sensors 2023;23:1648</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betekent dat voor PARADISE? Links wat we overnemen. De tachtig procent als lat: ze komt uit DIAFOS, waar het drukverlagend schoeisel werkte bij wie ze haalde. Dezelfde toestellen als de recente Nederlandse en Zweedse studies: de Orthotimer en de MoveMonitor. De draaguren als maat: Jarl toonde met precies onze toestellen dat de uren per dag de referentie bijna even goed volgen als het deel van de stappen, r = 0,91 tegenover 0,96, terwijl wat de patiënt zelf opgeeft maar matig meevolgt, 0,42. Jarl schrijft er wel bij dat er geen gouden standaard bestaat. En een lat rond twaalf uur: Jarl vond 12,2 uur per dag als grens; onze lat voor iemand die 15,5 uur wakker is, ligt op 12,4 uur. Rechts wat niet voor ons geldt. Het deel van de stappen kunnen we niet berekenen, want McRoberts levert alleen dagtotalen en geen data per tijdstip; dan weet je niet of de schoen aan was tijdens het stappen. Een aangenomen dag van zestien uur is niet nodig, want wij meten de eigen waaktijd. Een MoveMonitor-week op maand 6 en 12, zoals in het DIASSIST-protocol, doen we niet: bij ons alleen bij de start. En zelfrapportage gebruiken we niet als maat.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als een centrum twee per maand haalt in plaats van drie? De grafiek toont, maand na maand, hoeveel kans er is dat de inclusie klaar is: de volle lijnen voor één centrum, de streepjeslijnen voor alle zes samen. Blauw is drie per maand, oranje twee. Aan twee per maand duurt het gemiddeld twaalf maanden per centrum, met een spreiding van tweeënhalve maand: acht op tien centra zijn klaar tussen negen en vijftien maanden. Na een jaar is gemiddeld maar de helft van de centra rond, drie van de zes. De studie is pas rond als het traagste centrum klaar is. De geplande laatste visite is september 2029; achttien maanden terug is dat eind maart 2028, de uiterste datum voor de laatste inclusie. We starten eind februari 2027, meteen na de Go/No-Go; dan zijn dat dertien maanden: de verticale lijn. Aan twee per maand halen alle zes die grens maar in 12 procent van de gevallen; aan drie per maand in 98 procent. In de helft van de gevallen is het laatste centrum pas na vijftien maanden klaar, en valt de laatste visite eind november 2029; in één op tien pas in februari 2030. En in acht procent is na achttien maanden nog altijd een centrum niet rond. Dit is gerekend met zes centra die allemaal even snel zijn. Verschillen ze onderling, dan wordt het nog later; dat toont de dia over het traagste centrum.</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 de tweede norm, het dragen. De MoveMonitor geeft bij de start de slaaptijd en dus de waaktijd; tachtig procent daarvan is de draagnorm, alle zeven dagen, en de Orthotimer meet hoeveel de zool echt gedragen wordt. Dat komt terug in SEBIA, de Structured Education and Behavioural Intervention Approach: een gesprek op elke visite. In Usual Care dragen de patiënten dezelfde MoveMonitor en Orthotimer, maar zonder draagnorm, zonder terugkoppeling en zonder SEBIA: educatie zoals vandaag.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8.xml"/><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19.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 Id="rId1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 Id="rId1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1.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 Id="rId1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chart" Target="../charts/chart4.xml"/><Relationship Id="rId4" Type="http://schemas.openxmlformats.org/officeDocument/2006/relationships/chart" Target="../charts/chart3.xml"/></Relationships>
</file>

<file path=ppt/slides/_rels/slide4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1.png"/><Relationship Id="rId5" Type="http://schemas.openxmlformats.org/officeDocument/2006/relationships/image" Target="../media/image11.png"/><Relationship Id="rId1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2.png"/><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5.png"/><Relationship Id="rId12" Type="http://schemas.openxmlformats.org/officeDocument/2006/relationships/image" Target="../media/image23.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22.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8.png"/><Relationship Id="rId9"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5588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14abb052316bca6838ae130b0aff4182.png"/>
          <p:cNvPicPr>
            <a:picLocks noChangeAspect="1"/>
          </p:cNvPicPr>
          <p:nvPr/>
        </p:nvPicPr>
        <p:blipFill>
          <a:blip r:embed="rId3"/>
          <a:stretch>
            <a:fillRect/>
          </a:stretch>
        </p:blipFill>
        <p:spPr>
          <a:xfrm>
            <a:off x="611790" y="508000"/>
            <a:ext cx="2408621" cy="889000"/>
          </a:xfrm>
          <a:prstGeom prst="rect">
            <a:avLst/>
          </a:prstGeom>
        </p:spPr>
      </p:pic>
      <p:pic>
        <p:nvPicPr>
          <p:cNvPr id="4" name="Picture 3" descr="0dbcd856d0c21c2d81b496cf3b8e7586.png"/>
          <p:cNvPicPr>
            <a:picLocks noChangeAspect="1"/>
          </p:cNvPicPr>
          <p:nvPr/>
        </p:nvPicPr>
        <p:blipFill>
          <a:blip r:embed="rId4"/>
          <a:stretch>
            <a:fillRect/>
          </a:stretch>
        </p:blipFill>
        <p:spPr>
          <a:xfrm>
            <a:off x="508000" y="1627505"/>
            <a:ext cx="4572000" cy="3577590"/>
          </a:xfrm>
          <a:prstGeom prst="rect">
            <a:avLst/>
          </a:prstGeom>
        </p:spPr>
      </p:pic>
      <p:sp>
        <p:nvSpPr>
          <p:cNvPr id="5" name="TextBox 4"/>
          <p:cNvSpPr txBox="1"/>
          <p:nvPr/>
        </p:nvSpPr>
        <p:spPr>
          <a:xfrm>
            <a:off x="609600" y="5588000"/>
            <a:ext cx="4495800" cy="165100"/>
          </a:xfrm>
          <a:prstGeom prst="rect">
            <a:avLst/>
          </a:prstGeom>
          <a:noFill/>
        </p:spPr>
        <p:txBody>
          <a:bodyPr wrap="none" lIns="0" tIns="0" rIns="0" bIns="0" anchor="t">
            <a:noAutofit/>
          </a:bodyPr>
          <a:lstStyle/>
          <a:p>
            <a:pPr algn="l"/>
            <a:r>
              <a:rPr sz="1000" b="1" i="0">
                <a:solidFill>
                  <a:srgbClr val="5A6E80"/>
                </a:solidFill>
                <a:latin typeface="DM Sans"/>
              </a:rPr>
              <a:t>McRoberts · Novel pedar · Orthotimer</a:t>
            </a:r>
          </a:p>
        </p:txBody>
      </p:sp>
      <p:sp>
        <p:nvSpPr>
          <p:cNvPr id="6" name="TextBox 5"/>
          <p:cNvSpPr txBox="1"/>
          <p:nvPr/>
        </p:nvSpPr>
        <p:spPr>
          <a:xfrm>
            <a:off x="6299200" y="812800"/>
            <a:ext cx="5130800" cy="198120"/>
          </a:xfrm>
          <a:prstGeom prst="rect">
            <a:avLst/>
          </a:prstGeom>
          <a:noFill/>
        </p:spPr>
        <p:txBody>
          <a:bodyPr wrap="none" lIns="0" tIns="0" rIns="0" bIns="0" anchor="t">
            <a:noAutofit/>
          </a:bodyPr>
          <a:lstStyle/>
          <a:p>
            <a:pPr algn="l"/>
            <a:r>
              <a:rPr sz="1200" b="1" i="0">
                <a:solidFill>
                  <a:srgbClr val="52BDEC"/>
                </a:solidFill>
                <a:latin typeface="DM Sans"/>
              </a:rPr>
              <a:t>Kick-off · 12 oktober 2026</a:t>
            </a:r>
          </a:p>
        </p:txBody>
      </p:sp>
      <p:sp>
        <p:nvSpPr>
          <p:cNvPr id="7" name="TextBox 6"/>
          <p:cNvSpPr txBox="1"/>
          <p:nvPr/>
        </p:nvSpPr>
        <p:spPr>
          <a:xfrm>
            <a:off x="6299200" y="1174750"/>
            <a:ext cx="5181600" cy="1320800"/>
          </a:xfrm>
          <a:prstGeom prst="rect">
            <a:avLst/>
          </a:prstGeom>
          <a:noFill/>
        </p:spPr>
        <p:txBody>
          <a:bodyPr wrap="square" lIns="0" tIns="0" rIns="0" bIns="0" anchor="t">
            <a:noAutofit/>
          </a:bodyPr>
          <a:lstStyle/>
          <a:p>
            <a:pPr algn="l">
              <a:lnSpc>
                <a:spcPts val="5200"/>
              </a:lnSpc>
            </a:pPr>
            <a:r>
              <a:rPr sz="5000" b="0" i="0" spc="-100">
                <a:solidFill>
                  <a:srgbClr val="F2F8FC"/>
                </a:solidFill>
                <a:latin typeface="DM Serif Display"/>
              </a:rPr>
              <a:t>Eerste officiële </a:t>
            </a:r>
            <a:r>
              <a:rPr sz="5000" b="0" i="0" spc="-100">
                <a:solidFill>
                  <a:srgbClr val="52BDEC"/>
                </a:solidFill>
                <a:latin typeface="DM Serif Display"/>
              </a:rPr>
              <a:t>meeting</a:t>
            </a:r>
          </a:p>
        </p:txBody>
      </p:sp>
      <p:sp>
        <p:nvSpPr>
          <p:cNvPr id="8" name="Rectangle 7"/>
          <p:cNvSpPr/>
          <p:nvPr/>
        </p:nvSpPr>
        <p:spPr>
          <a:xfrm>
            <a:off x="6299200" y="2825750"/>
            <a:ext cx="609600" cy="25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299200" y="3016250"/>
            <a:ext cx="5181600" cy="462161"/>
          </a:xfrm>
          <a:prstGeom prst="rect">
            <a:avLst/>
          </a:prstGeom>
          <a:noFill/>
        </p:spPr>
        <p:txBody>
          <a:bodyPr wrap="square" lIns="0" tIns="0" rIns="0" bIns="0" anchor="t">
            <a:noAutofit/>
          </a:bodyPr>
          <a:lstStyle/>
          <a:p>
            <a:pPr algn="l">
              <a:lnSpc>
                <a:spcPts val="1820"/>
              </a:lnSpc>
            </a:pPr>
            <a:r>
              <a:rPr sz="1300" b="0" i="0">
                <a:solidFill>
                  <a:srgbClr val="8FB0CA"/>
                </a:solidFill>
                <a:latin typeface="DM Sans"/>
              </a:rPr>
              <a:t>Towards Pressure-Adherence &amp; Education Driven Service in Diabetic Foot Disease</a:t>
            </a:r>
          </a:p>
        </p:txBody>
      </p:sp>
      <p:sp>
        <p:nvSpPr>
          <p:cNvPr id="10" name="TextBox 9"/>
          <p:cNvSpPr txBox="1"/>
          <p:nvPr/>
        </p:nvSpPr>
        <p:spPr>
          <a:xfrm>
            <a:off x="6299200" y="4864100"/>
            <a:ext cx="5181600" cy="406400"/>
          </a:xfrm>
          <a:prstGeom prst="rect">
            <a:avLst/>
          </a:prstGeom>
          <a:noFill/>
        </p:spPr>
        <p:txBody>
          <a:bodyPr wrap="square" lIns="0" tIns="0" rIns="0" bIns="0" anchor="t">
            <a:noAutofit/>
          </a:bodyPr>
          <a:lstStyle/>
          <a:p>
            <a:pPr algn="l">
              <a:lnSpc>
                <a:spcPts val="1600"/>
              </a:lnSpc>
            </a:pPr>
            <a:r>
              <a:rPr sz="1000" b="0" i="0">
                <a:solidFill>
                  <a:srgbClr val="8FB0CA"/>
                </a:solidFill>
                <a:latin typeface="DM Sans"/>
              </a:rPr>
              <a:t>AZ Sint-Jan Brugge · AZ Groeninge Kortrijk · UZ Gent</a:t>
            </a:r>
          </a:p>
          <a:p>
            <a:pPr algn="l">
              <a:lnSpc>
                <a:spcPts val="1600"/>
              </a:lnSpc>
            </a:pPr>
            <a:r>
              <a:rPr sz="1000" b="0" i="0">
                <a:solidFill>
                  <a:srgbClr val="8FB0CA"/>
                </a:solidFill>
                <a:latin typeface="DM Sans"/>
              </a:rPr>
              <a:t>AZORG Aalst · UZ Antwerpen · UZ Leuven</a:t>
            </a:r>
          </a:p>
        </p:txBody>
      </p:sp>
      <p:sp>
        <p:nvSpPr>
          <p:cNvPr id="11" name="Rounded Rectangle 10"/>
          <p:cNvSpPr/>
          <p:nvPr/>
        </p:nvSpPr>
        <p:spPr>
          <a:xfrm>
            <a:off x="6299200" y="5435600"/>
            <a:ext cx="2794000" cy="609600"/>
          </a:xfrm>
          <a:prstGeom prst="roundRect">
            <a:avLst>
              <a:gd name="adj" fmla="val 145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75504389baacf5fb07e89c0ba89ea558.png"/>
          <p:cNvPicPr>
            <a:picLocks noChangeAspect="1"/>
          </p:cNvPicPr>
          <p:nvPr/>
        </p:nvPicPr>
        <p:blipFill>
          <a:blip r:embed="rId5"/>
          <a:stretch>
            <a:fillRect/>
          </a:stretch>
        </p:blipFill>
        <p:spPr>
          <a:xfrm>
            <a:off x="6530975" y="5568950"/>
            <a:ext cx="1200150" cy="342900"/>
          </a:xfrm>
          <a:prstGeom prst="rect">
            <a:avLst/>
          </a:prstGeom>
        </p:spPr>
      </p:pic>
      <p:pic>
        <p:nvPicPr>
          <p:cNvPr id="13" name="Picture 12" descr="228c2b11ec878f28c18f6d8655b98aa7.png"/>
          <p:cNvPicPr>
            <a:picLocks noChangeAspect="1"/>
          </p:cNvPicPr>
          <p:nvPr/>
        </p:nvPicPr>
        <p:blipFill>
          <a:blip r:embed="rId6"/>
          <a:stretch>
            <a:fillRect/>
          </a:stretch>
        </p:blipFill>
        <p:spPr>
          <a:xfrm>
            <a:off x="7927606" y="5575300"/>
            <a:ext cx="921488" cy="330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pic>
        <p:nvPicPr>
          <p:cNvPr id="3" name="Picture 2" descr="22aa538137679711d90552620d6baa14.png"/>
          <p:cNvPicPr>
            <a:picLocks noChangeAspect="1"/>
          </p:cNvPicPr>
          <p:nvPr/>
        </p:nvPicPr>
        <p:blipFill>
          <a:blip r:embed="rId4"/>
          <a:stretch>
            <a:fillRect/>
          </a:stretch>
        </p:blipFill>
        <p:spPr>
          <a:xfrm>
            <a:off x="990600" y="1663700"/>
            <a:ext cx="2133600" cy="1200150"/>
          </a:xfrm>
          <a:prstGeom prst="rect">
            <a:avLst/>
          </a:prstGeom>
        </p:spPr>
      </p:pic>
      <p:pic>
        <p:nvPicPr>
          <p:cNvPr id="4" name="Picture 3" descr="ca836d0b9d11957ccf0ce43f9feaf573.png"/>
          <p:cNvPicPr>
            <a:picLocks noChangeAspect="1"/>
          </p:cNvPicPr>
          <p:nvPr/>
        </p:nvPicPr>
        <p:blipFill>
          <a:blip r:embed="rId5"/>
          <a:stretch>
            <a:fillRect/>
          </a:stretch>
        </p:blipFill>
        <p:spPr>
          <a:xfrm>
            <a:off x="901700" y="1752600"/>
            <a:ext cx="2311400" cy="1301750"/>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4fe31fe826e2a686c44b2a9df6f4ec34.png"/>
          <p:cNvPicPr>
            <a:picLocks noChangeAspect="1"/>
          </p:cNvPicPr>
          <p:nvPr/>
        </p:nvPicPr>
        <p:blipFill>
          <a:blip r:embed="rId6"/>
          <a:stretch>
            <a:fillRect/>
          </a:stretch>
        </p:blipFill>
        <p:spPr>
          <a:xfrm>
            <a:off x="831850" y="1860550"/>
            <a:ext cx="2451100" cy="1378744"/>
          </a:xfrm>
          <a:prstGeom prst="rect">
            <a:avLst/>
          </a:prstGeom>
        </p:spPr>
      </p:pic>
      <p:sp>
        <p:nvSpPr>
          <p:cNvPr id="7" name="TextBox 6"/>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1 Stand van zaken</a:t>
            </a:r>
          </a:p>
        </p:txBody>
      </p:sp>
      <p:pic>
        <p:nvPicPr>
          <p:cNvPr id="8" name="Picture 7" descr="8dccc3185da0f080a429109f0bc9358d.png"/>
          <p:cNvPicPr>
            <a:picLocks noChangeAspect="1"/>
          </p:cNvPicPr>
          <p:nvPr/>
        </p:nvPicPr>
        <p:blipFill>
          <a:blip r:embed="rId7"/>
          <a:stretch>
            <a:fillRect/>
          </a:stretch>
        </p:blipFill>
        <p:spPr>
          <a:xfrm>
            <a:off x="3683000" y="1663700"/>
            <a:ext cx="2133600" cy="1200150"/>
          </a:xfrm>
          <a:prstGeom prst="rect">
            <a:avLst/>
          </a:prstGeom>
        </p:spPr>
      </p:pic>
      <p:pic>
        <p:nvPicPr>
          <p:cNvPr id="9" name="Picture 8" descr="33ff6f98e238090dfea59b8da3d0895b.png"/>
          <p:cNvPicPr>
            <a:picLocks noChangeAspect="1"/>
          </p:cNvPicPr>
          <p:nvPr/>
        </p:nvPicPr>
        <p:blipFill>
          <a:blip r:embed="rId8"/>
          <a:stretch>
            <a:fillRect/>
          </a:stretch>
        </p:blipFill>
        <p:spPr>
          <a:xfrm>
            <a:off x="3594100" y="1752600"/>
            <a:ext cx="2311400" cy="1301750"/>
          </a:xfrm>
          <a:prstGeom prst="rect">
            <a:avLst/>
          </a:prstGeom>
        </p:spPr>
      </p:pic>
      <p:sp>
        <p:nvSpPr>
          <p:cNvPr id="10" name="Rounded Rectangle 9"/>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f6c315e3b6c8da4983f797f076543ae.png"/>
          <p:cNvPicPr>
            <a:picLocks noChangeAspect="1"/>
          </p:cNvPicPr>
          <p:nvPr/>
        </p:nvPicPr>
        <p:blipFill>
          <a:blip r:embed="rId9"/>
          <a:stretch>
            <a:fillRect/>
          </a:stretch>
        </p:blipFill>
        <p:spPr>
          <a:xfrm>
            <a:off x="3511550" y="1847850"/>
            <a:ext cx="2476500" cy="1393031"/>
          </a:xfrm>
          <a:prstGeom prst="rect">
            <a:avLst/>
          </a:prstGeom>
        </p:spPr>
      </p:pic>
      <p:sp>
        <p:nvSpPr>
          <p:cNvPr id="12" name="TextBox 11"/>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2 Ontwikkelingen sinds 1 april</a:t>
            </a:r>
          </a:p>
        </p:txBody>
      </p:sp>
      <p:pic>
        <p:nvPicPr>
          <p:cNvPr id="13" name="Picture 12" descr="78e1c08c648ea238ba766890b863e925.png"/>
          <p:cNvPicPr>
            <a:picLocks noChangeAspect="1"/>
          </p:cNvPicPr>
          <p:nvPr/>
        </p:nvPicPr>
        <p:blipFill>
          <a:blip r:embed="rId10"/>
          <a:stretch>
            <a:fillRect/>
          </a:stretch>
        </p:blipFill>
        <p:spPr>
          <a:xfrm>
            <a:off x="6375400" y="1663700"/>
            <a:ext cx="2133600" cy="1200150"/>
          </a:xfrm>
          <a:prstGeom prst="rect">
            <a:avLst/>
          </a:prstGeom>
        </p:spPr>
      </p:pic>
      <p:pic>
        <p:nvPicPr>
          <p:cNvPr id="14" name="Picture 13" descr="1936b300a323b1d5fafa4319ba1396a7.png"/>
          <p:cNvPicPr>
            <a:picLocks noChangeAspect="1"/>
          </p:cNvPicPr>
          <p:nvPr/>
        </p:nvPicPr>
        <p:blipFill>
          <a:blip r:embed="rId11"/>
          <a:stretch>
            <a:fillRect/>
          </a:stretch>
        </p:blipFill>
        <p:spPr>
          <a:xfrm>
            <a:off x="6286500" y="1752600"/>
            <a:ext cx="2311400" cy="1301750"/>
          </a:xfrm>
          <a:prstGeom prst="rect">
            <a:avLst/>
          </a:prstGeom>
        </p:spPr>
      </p:pic>
      <p:sp>
        <p:nvSpPr>
          <p:cNvPr id="15" name="Rounded Rectangle 14"/>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b3575449de919ba8ba77497cf770d56b.png"/>
          <p:cNvPicPr>
            <a:picLocks noChangeAspect="1"/>
          </p:cNvPicPr>
          <p:nvPr/>
        </p:nvPicPr>
        <p:blipFill>
          <a:blip r:embed="rId12"/>
          <a:stretch>
            <a:fillRect/>
          </a:stretch>
        </p:blipFill>
        <p:spPr>
          <a:xfrm>
            <a:off x="6203950" y="1847850"/>
            <a:ext cx="2476500" cy="1393031"/>
          </a:xfrm>
          <a:prstGeom prst="rect">
            <a:avLst/>
          </a:prstGeom>
        </p:spPr>
      </p:pic>
      <p:sp>
        <p:nvSpPr>
          <p:cNvPr id="17" name="TextBox 16"/>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3 Werkpakketten</a:t>
            </a:r>
          </a:p>
        </p:txBody>
      </p:sp>
      <p:sp>
        <p:nvSpPr>
          <p:cNvPr id="18" name="Rounded Rectangle 17"/>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76718c0faffa53b3e96d91bd5d17d843.png"/>
          <p:cNvPicPr>
            <a:picLocks noChangeAspect="1"/>
          </p:cNvPicPr>
          <p:nvPr/>
        </p:nvPicPr>
        <p:blipFill>
          <a:blip r:embed="rId13"/>
          <a:stretch>
            <a:fillRect/>
          </a:stretch>
        </p:blipFill>
        <p:spPr>
          <a:xfrm>
            <a:off x="8896350" y="1847850"/>
            <a:ext cx="2476500" cy="1393031"/>
          </a:xfrm>
          <a:prstGeom prst="rect">
            <a:avLst/>
          </a:prstGeom>
        </p:spPr>
      </p:pic>
      <p:sp>
        <p:nvSpPr>
          <p:cNvPr id="20" name="TextBox 19"/>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4 Aandachtspunten</a:t>
            </a:r>
          </a:p>
        </p:txBody>
      </p:sp>
      <p:pic>
        <p:nvPicPr>
          <p:cNvPr id="21" name="Picture 20" descr="0a62dff855207c43a1c6690d0e4c697a.png"/>
          <p:cNvPicPr>
            <a:picLocks noChangeAspect="1"/>
          </p:cNvPicPr>
          <p:nvPr/>
        </p:nvPicPr>
        <p:blipFill>
          <a:blip r:embed="rId14"/>
          <a:stretch>
            <a:fillRect/>
          </a:stretch>
        </p:blipFill>
        <p:spPr>
          <a:xfrm>
            <a:off x="2336800" y="3937000"/>
            <a:ext cx="2133600" cy="1200150"/>
          </a:xfrm>
          <a:prstGeom prst="rect">
            <a:avLst/>
          </a:prstGeom>
        </p:spPr>
      </p:pic>
      <p:pic>
        <p:nvPicPr>
          <p:cNvPr id="22" name="Picture 21" descr="993f9ef2261edfc6639be1e2fe47b272.png"/>
          <p:cNvPicPr>
            <a:picLocks noChangeAspect="1"/>
          </p:cNvPicPr>
          <p:nvPr/>
        </p:nvPicPr>
        <p:blipFill>
          <a:blip r:embed="rId15"/>
          <a:stretch>
            <a:fillRect/>
          </a:stretch>
        </p:blipFill>
        <p:spPr>
          <a:xfrm>
            <a:off x="2247900" y="4025900"/>
            <a:ext cx="2311400" cy="1301750"/>
          </a:xfrm>
          <a:prstGeom prst="rect">
            <a:avLst/>
          </a:prstGeom>
        </p:spPr>
      </p:pic>
      <p:sp>
        <p:nvSpPr>
          <p:cNvPr id="23" name="Rounded Rectangle 22"/>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c828e07bbef239086018a2f6a17a466c.png"/>
          <p:cNvPicPr>
            <a:picLocks noChangeAspect="1"/>
          </p:cNvPicPr>
          <p:nvPr/>
        </p:nvPicPr>
        <p:blipFill>
          <a:blip r:embed="rId16"/>
          <a:stretch>
            <a:fillRect/>
          </a:stretch>
        </p:blipFill>
        <p:spPr>
          <a:xfrm>
            <a:off x="2165350" y="4121150"/>
            <a:ext cx="2476500" cy="1393031"/>
          </a:xfrm>
          <a:prstGeom prst="rect">
            <a:avLst/>
          </a:prstGeom>
        </p:spPr>
      </p:pic>
      <p:sp>
        <p:nvSpPr>
          <p:cNvPr id="25" name="TextBox 24"/>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6" name="Picture 25" descr="dad1d5849a0f54ecab7e2a87be32dc30.png"/>
          <p:cNvPicPr>
            <a:picLocks noChangeAspect="1"/>
          </p:cNvPicPr>
          <p:nvPr/>
        </p:nvPicPr>
        <p:blipFill>
          <a:blip r:embed="rId17"/>
          <a:stretch>
            <a:fillRect/>
          </a:stretch>
        </p:blipFill>
        <p:spPr>
          <a:xfrm>
            <a:off x="4940300" y="4025900"/>
            <a:ext cx="2311400" cy="1301750"/>
          </a:xfrm>
          <a:prstGeom prst="rect">
            <a:avLst/>
          </a:prstGeom>
        </p:spPr>
      </p:pic>
      <p:sp>
        <p:nvSpPr>
          <p:cNvPr id="27" name="Rounded Rectangle 26"/>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a218f23a9d1aeae7790db2aa9d8f48a7.png"/>
          <p:cNvPicPr>
            <a:picLocks noChangeAspect="1"/>
          </p:cNvPicPr>
          <p:nvPr/>
        </p:nvPicPr>
        <p:blipFill>
          <a:blip r:embed="rId18"/>
          <a:stretch>
            <a:fillRect/>
          </a:stretch>
        </p:blipFill>
        <p:spPr>
          <a:xfrm>
            <a:off x="4857750" y="4121150"/>
            <a:ext cx="2476500" cy="1393031"/>
          </a:xfrm>
          <a:prstGeom prst="rect">
            <a:avLst/>
          </a:prstGeom>
        </p:spPr>
      </p:pic>
      <p:sp>
        <p:nvSpPr>
          <p:cNvPr id="29" name="TextBox 28"/>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30" name="Picture 29" descr="e49a2c4874452277a94494e99280aaa0.png"/>
          <p:cNvPicPr>
            <a:picLocks noChangeAspect="1"/>
          </p:cNvPicPr>
          <p:nvPr/>
        </p:nvPicPr>
        <p:blipFill>
          <a:blip r:embed="rId19"/>
          <a:stretch>
            <a:fillRect/>
          </a:stretch>
        </p:blipFill>
        <p:spPr>
          <a:xfrm>
            <a:off x="7632700" y="4025900"/>
            <a:ext cx="2311400" cy="1301750"/>
          </a:xfrm>
          <a:prstGeom prst="rect">
            <a:avLst/>
          </a:prstGeom>
        </p:spPr>
      </p:pic>
      <p:sp>
        <p:nvSpPr>
          <p:cNvPr id="31" name="Rounded Rectangle 30"/>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0b3315c9a761b9fd4dfcb184751fa8ea.png"/>
          <p:cNvPicPr>
            <a:picLocks noChangeAspect="1"/>
          </p:cNvPicPr>
          <p:nvPr/>
        </p:nvPicPr>
        <p:blipFill>
          <a:blip r:embed="rId20"/>
          <a:stretch>
            <a:fillRect/>
          </a:stretch>
        </p:blipFill>
        <p:spPr>
          <a:xfrm>
            <a:off x="7550150" y="4121150"/>
            <a:ext cx="2476500" cy="1393031"/>
          </a:xfrm>
          <a:prstGeom prst="rect">
            <a:avLst/>
          </a:prstGeom>
        </p:spPr>
      </p:pic>
      <p:sp>
        <p:nvSpPr>
          <p:cNvPr id="33" name="TextBox 32"/>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4" name="TextBox 3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5" name="Picture 34" descr="ec5c93e6f83f209b4e97ddfdecd480c8.png"/>
          <p:cNvPicPr>
            <a:picLocks noChangeAspect="1"/>
          </p:cNvPicPr>
          <p:nvPr/>
        </p:nvPicPr>
        <p:blipFill>
          <a:blip r:embed="rId21"/>
          <a:stretch>
            <a:fillRect/>
          </a:stretch>
        </p:blipFill>
        <p:spPr>
          <a:xfrm>
            <a:off x="812967" y="6261100"/>
            <a:ext cx="171116" cy="203200"/>
          </a:xfrm>
          <a:prstGeom prst="rect">
            <a:avLst/>
          </a:prstGeom>
        </p:spPr>
      </p:pic>
      <p:sp>
        <p:nvSpPr>
          <p:cNvPr id="36" name="TextBox 35"/>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1</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1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Stand van zaken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Waar staan we vandaag?</a:t>
            </a:r>
          </a:p>
        </p:txBody>
      </p:sp>
      <p:sp>
        <p:nvSpPr>
          <p:cNvPr id="7" name="Rectangle 6"/>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144 deelnemers in zes voetklinieken</a:t>
            </a:r>
          </a:p>
        </p:txBody>
      </p:sp>
      <p:sp>
        <p:nvSpPr>
          <p:cNvPr id="9" name="Rectangle 8"/>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de ethische goedkeuring per centrum</a:t>
            </a:r>
          </a:p>
        </p:txBody>
      </p:sp>
      <p:sp>
        <p:nvSpPr>
          <p:cNvPr id="11" name="Rectangle 10"/>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het materiaal in uw centrum</a:t>
            </a:r>
          </a:p>
        </p:txBody>
      </p:sp>
      <p:pic>
        <p:nvPicPr>
          <p:cNvPr id="13" name="Picture 1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4" name="TextBox 1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Stand van zaken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bca0e7442a2bdffe745679463c941007.png"/>
          <p:cNvPicPr>
            <a:picLocks noChangeAspect="1"/>
          </p:cNvPicPr>
          <p:nvPr/>
        </p:nvPicPr>
        <p:blipFill>
          <a:blip r:embed="rId3"/>
          <a:stretch>
            <a:fillRect/>
          </a:stretch>
        </p:blipFill>
        <p:spPr>
          <a:xfrm>
            <a:off x="5282605" y="1693072"/>
            <a:ext cx="6420545" cy="3611556"/>
          </a:xfrm>
          <a:prstGeom prst="rect">
            <a:avLst/>
          </a:prstGeom>
        </p:spPr>
      </p:pic>
      <p:sp>
        <p:nvSpPr>
          <p:cNvPr id="3" name="Rounded Rectangle 2"/>
          <p:cNvSpPr/>
          <p:nvPr/>
        </p:nvSpPr>
        <p:spPr>
          <a:xfrm>
            <a:off x="5797550" y="2743200"/>
            <a:ext cx="1295400" cy="1181100"/>
          </a:xfrm>
          <a:prstGeom prst="roundRect">
            <a:avLst>
              <a:gd name="adj" fmla="val 7526"/>
            </a:avLst>
          </a:prstGeom>
          <a:noFill/>
          <a:ln w="1905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797550" y="3987800"/>
            <a:ext cx="2717800" cy="182880"/>
          </a:xfrm>
          <a:prstGeom prst="rect">
            <a:avLst/>
          </a:prstGeom>
          <a:noFill/>
        </p:spPr>
        <p:txBody>
          <a:bodyPr wrap="none" lIns="0" tIns="0" rIns="0" bIns="0" anchor="t">
            <a:noAutofit/>
          </a:bodyPr>
          <a:lstStyle/>
          <a:p>
            <a:pPr algn="l">
              <a:lnSpc>
                <a:spcPts val="1440"/>
              </a:lnSpc>
            </a:pPr>
            <a:r>
              <a:rPr sz="1200" b="1" i="0">
                <a:solidFill>
                  <a:srgbClr val="0B6E8F"/>
                </a:solidFill>
                <a:latin typeface="DM Sans"/>
              </a:rPr>
              <a:t>contact: PhD A · Janou De Buyser</a:t>
            </a:r>
          </a:p>
        </p:txBody>
      </p:sp>
      <p:sp>
        <p:nvSpPr>
          <p:cNvPr id="5" name="Rounded Rectangle 4"/>
          <p:cNvSpPr/>
          <p:nvPr/>
        </p:nvSpPr>
        <p:spPr>
          <a:xfrm>
            <a:off x="10096500" y="2508250"/>
            <a:ext cx="1308100" cy="1358900"/>
          </a:xfrm>
          <a:prstGeom prst="roundRect">
            <a:avLst>
              <a:gd name="adj" fmla="val 6796"/>
            </a:avLst>
          </a:prstGeom>
          <a:no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664700" y="3930650"/>
            <a:ext cx="1739900" cy="182880"/>
          </a:xfrm>
          <a:prstGeom prst="rect">
            <a:avLst/>
          </a:prstGeom>
          <a:noFill/>
        </p:spPr>
        <p:txBody>
          <a:bodyPr wrap="none" lIns="0" tIns="0" rIns="0" bIns="0" anchor="t">
            <a:noAutofit/>
          </a:bodyPr>
          <a:lstStyle/>
          <a:p>
            <a:pPr algn="r">
              <a:lnSpc>
                <a:spcPts val="1440"/>
              </a:lnSpc>
            </a:pPr>
            <a:r>
              <a:rPr sz="1200" b="1" i="0">
                <a:solidFill>
                  <a:srgbClr val="A34A00"/>
                </a:solidFill>
                <a:latin typeface="DM Sans"/>
              </a:rPr>
              <a:t>contact: PhD B</a:t>
            </a:r>
          </a:p>
        </p:txBody>
      </p:sp>
      <p:pic>
        <p:nvPicPr>
          <p:cNvPr id="7" name="Picture 6"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8" name="TextBox 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9" name="TextBox 8"/>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S71769</a:t>
            </a:r>
          </a:p>
        </p:txBody>
      </p:sp>
      <p:sp>
        <p:nvSpPr>
          <p:cNvPr id="10" name="TextBox 9"/>
          <p:cNvSpPr txBox="1"/>
          <p:nvPr/>
        </p:nvSpPr>
        <p:spPr>
          <a:xfrm>
            <a:off x="812800" y="812800"/>
            <a:ext cx="4145280" cy="1005681"/>
          </a:xfrm>
          <a:prstGeom prst="rect">
            <a:avLst/>
          </a:prstGeom>
          <a:noFill/>
        </p:spPr>
        <p:txBody>
          <a:bodyPr wrap="square" lIns="0" tIns="0" rIns="0" bIns="0" anchor="t">
            <a:noAutofit/>
          </a:bodyPr>
          <a:lstStyle/>
          <a:p>
            <a:pPr algn="l">
              <a:lnSpc>
                <a:spcPts val="3960"/>
              </a:lnSpc>
            </a:pPr>
            <a:r>
              <a:rPr sz="3600" b="0" i="0" spc="-50">
                <a:solidFill>
                  <a:srgbClr val="0A2540"/>
                </a:solidFill>
                <a:latin typeface="DM Serif Display"/>
              </a:rPr>
              <a:t>144 deelnemers, zes voetklinieken</a:t>
            </a:r>
          </a:p>
        </p:txBody>
      </p:sp>
      <p:sp>
        <p:nvSpPr>
          <p:cNvPr id="11" name="TextBox 10"/>
          <p:cNvSpPr txBox="1"/>
          <p:nvPr/>
        </p:nvSpPr>
        <p:spPr>
          <a:xfrm>
            <a:off x="812800" y="250190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24</a:t>
            </a:r>
          </a:p>
        </p:txBody>
      </p:sp>
      <p:sp>
        <p:nvSpPr>
          <p:cNvPr id="12" name="TextBox 11"/>
          <p:cNvSpPr txBox="1"/>
          <p:nvPr/>
        </p:nvSpPr>
        <p:spPr>
          <a:xfrm>
            <a:off x="1778000" y="2755900"/>
            <a:ext cx="3031236"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per centrum: 12 in Optimal Care, 12 in Usual Care</a:t>
            </a:r>
          </a:p>
        </p:txBody>
      </p:sp>
      <p:sp>
        <p:nvSpPr>
          <p:cNvPr id="13" name="Rectangle 12"/>
          <p:cNvSpPr/>
          <p:nvPr/>
        </p:nvSpPr>
        <p:spPr>
          <a:xfrm>
            <a:off x="812800" y="3350220"/>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800" y="347087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18</a:t>
            </a:r>
          </a:p>
        </p:txBody>
      </p:sp>
      <p:sp>
        <p:nvSpPr>
          <p:cNvPr id="15" name="TextBox 14"/>
          <p:cNvSpPr txBox="1"/>
          <p:nvPr/>
        </p:nvSpPr>
        <p:spPr>
          <a:xfrm>
            <a:off x="1778000" y="3724870"/>
            <a:ext cx="30226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maanden opvolging per deelnemer</a:t>
            </a:r>
          </a:p>
        </p:txBody>
      </p:sp>
      <p:sp>
        <p:nvSpPr>
          <p:cNvPr id="16" name="Rectangle 15"/>
          <p:cNvSpPr/>
          <p:nvPr/>
        </p:nvSpPr>
        <p:spPr>
          <a:xfrm>
            <a:off x="812800" y="4093170"/>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2800" y="4213820"/>
            <a:ext cx="812800" cy="508000"/>
          </a:xfrm>
          <a:prstGeom prst="rect">
            <a:avLst/>
          </a:prstGeom>
          <a:noFill/>
        </p:spPr>
        <p:txBody>
          <a:bodyPr wrap="none" lIns="0" tIns="0" rIns="0" bIns="0" anchor="t">
            <a:noAutofit/>
          </a:bodyPr>
          <a:lstStyle/>
          <a:p>
            <a:pPr algn="l">
              <a:lnSpc>
                <a:spcPts val="4000"/>
              </a:lnSpc>
            </a:pPr>
            <a:r>
              <a:rPr sz="4000" b="0" i="0">
                <a:solidFill>
                  <a:srgbClr val="0A2540"/>
                </a:solidFill>
                <a:latin typeface="DM Serif Display"/>
              </a:rPr>
              <a:t>1</a:t>
            </a:r>
          </a:p>
        </p:txBody>
      </p:sp>
      <p:sp>
        <p:nvSpPr>
          <p:cNvPr id="18" name="TextBox 17"/>
          <p:cNvSpPr txBox="1"/>
          <p:nvPr/>
        </p:nvSpPr>
        <p:spPr>
          <a:xfrm>
            <a:off x="1778000" y="4467820"/>
            <a:ext cx="3031236"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primair eindpunt: voetulcusrecidief over 18 maanden</a:t>
            </a:r>
          </a:p>
        </p:txBody>
      </p:sp>
      <p:sp>
        <p:nvSpPr>
          <p:cNvPr id="19" name="TextBox 18"/>
          <p:cNvSpPr txBox="1"/>
          <p:nvPr/>
        </p:nvSpPr>
        <p:spPr>
          <a:xfrm>
            <a:off x="812800" y="5346898"/>
            <a:ext cx="3987800" cy="222885"/>
          </a:xfrm>
          <a:prstGeom prst="rect">
            <a:avLst/>
          </a:prstGeom>
          <a:noFill/>
        </p:spPr>
        <p:txBody>
          <a:bodyPr wrap="none" lIns="0" tIns="0" rIns="0" bIns="0" anchor="t">
            <a:noAutofit/>
          </a:bodyPr>
          <a:lstStyle/>
          <a:p>
            <a:pPr algn="l">
              <a:lnSpc>
                <a:spcPts val="1755"/>
              </a:lnSpc>
            </a:pPr>
            <a:r>
              <a:rPr sz="1300" b="0" i="0">
                <a:solidFill>
                  <a:srgbClr val="5A6E80"/>
                </a:solidFill>
                <a:latin typeface="DM Sans"/>
              </a:rPr>
              <a:t>De PI randomiseert, met verzegelde enveloppen.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Nieuw in het studieteam</a:t>
            </a:r>
          </a:p>
        </p:txBody>
      </p:sp>
      <p:pic>
        <p:nvPicPr>
          <p:cNvPr id="3" name="Picture 2" descr="a6c090e5bb20bd65f24d045ad3a5b4b9.png"/>
          <p:cNvPicPr>
            <a:picLocks noChangeAspect="1"/>
          </p:cNvPicPr>
          <p:nvPr/>
        </p:nvPicPr>
        <p:blipFill>
          <a:blip r:embed="rId3"/>
          <a:stretch>
            <a:fillRect/>
          </a:stretch>
        </p:blipFill>
        <p:spPr>
          <a:xfrm>
            <a:off x="812800" y="1671241"/>
            <a:ext cx="1397000" cy="1397000"/>
          </a:xfrm>
          <a:prstGeom prst="rect">
            <a:avLst/>
          </a:prstGeom>
        </p:spPr>
      </p:pic>
      <p:sp>
        <p:nvSpPr>
          <p:cNvPr id="4" name="TextBox 3"/>
          <p:cNvSpPr txBox="1"/>
          <p:nvPr/>
        </p:nvSpPr>
        <p:spPr>
          <a:xfrm>
            <a:off x="812800" y="3233341"/>
            <a:ext cx="3268067" cy="198120"/>
          </a:xfrm>
          <a:prstGeom prst="rect">
            <a:avLst/>
          </a:prstGeom>
          <a:noFill/>
        </p:spPr>
        <p:txBody>
          <a:bodyPr wrap="none" lIns="0" tIns="0" rIns="0" bIns="0" anchor="t">
            <a:noAutofit/>
          </a:bodyPr>
          <a:lstStyle/>
          <a:p>
            <a:pPr algn="l"/>
            <a:r>
              <a:rPr sz="1200" b="1" i="0">
                <a:solidFill>
                  <a:srgbClr val="0B6E8F"/>
                </a:solidFill>
                <a:latin typeface="DM Sans"/>
              </a:rPr>
              <a:t>PhD A</a:t>
            </a:r>
          </a:p>
        </p:txBody>
      </p:sp>
      <p:sp>
        <p:nvSpPr>
          <p:cNvPr id="5" name="TextBox 4"/>
          <p:cNvSpPr txBox="1"/>
          <p:nvPr/>
        </p:nvSpPr>
        <p:spPr>
          <a:xfrm>
            <a:off x="812800" y="3506391"/>
            <a:ext cx="3268067"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Janou De Buyser</a:t>
            </a:r>
          </a:p>
        </p:txBody>
      </p:sp>
      <p:sp>
        <p:nvSpPr>
          <p:cNvPr id="6" name="Rectangle 5"/>
          <p:cNvSpPr/>
          <p:nvPr/>
        </p:nvSpPr>
        <p:spPr>
          <a:xfrm>
            <a:off x="812800" y="4176216"/>
            <a:ext cx="3217267"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3889276"/>
            <a:ext cx="3268067"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doctoraatsonderzoeker</a:t>
            </a:r>
          </a:p>
        </p:txBody>
      </p:sp>
      <p:sp>
        <p:nvSpPr>
          <p:cNvPr id="8" name="TextBox 7"/>
          <p:cNvSpPr txBox="1"/>
          <p:nvPr/>
        </p:nvSpPr>
        <p:spPr>
          <a:xfrm>
            <a:off x="812800" y="4258766"/>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Contactpersoon</a:t>
            </a:r>
            <a:r>
              <a:rPr sz="1350" b="0" i="0">
                <a:solidFill>
                  <a:srgbClr val="0A2540"/>
                </a:solidFill>
                <a:latin typeface="DM Sans"/>
              </a:rPr>
              <a:t> voor Brugge, Gent en Kortrijk</a:t>
            </a:r>
          </a:p>
        </p:txBody>
      </p:sp>
      <p:sp>
        <p:nvSpPr>
          <p:cNvPr id="9" name="TextBox 8"/>
          <p:cNvSpPr txBox="1"/>
          <p:nvPr/>
        </p:nvSpPr>
        <p:spPr>
          <a:xfrm>
            <a:off x="812800" y="4780657"/>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Procesevaluatie</a:t>
            </a:r>
            <a:r>
              <a:rPr sz="1350" b="0" i="0">
                <a:solidFill>
                  <a:srgbClr val="0A2540"/>
                </a:solidFill>
                <a:latin typeface="DM Sans"/>
              </a:rPr>
              <a:t> in Leuven, Aalst en Antwerpen</a:t>
            </a:r>
          </a:p>
        </p:txBody>
      </p:sp>
      <p:sp>
        <p:nvSpPr>
          <p:cNvPr id="10" name="TextBox 9"/>
          <p:cNvSpPr txBox="1"/>
          <p:nvPr/>
        </p:nvSpPr>
        <p:spPr>
          <a:xfrm>
            <a:off x="812800" y="5302548"/>
            <a:ext cx="3281613"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Opleiding</a:t>
            </a:r>
            <a:r>
              <a:rPr sz="1350" b="0" i="0">
                <a:solidFill>
                  <a:srgbClr val="0A2540"/>
                </a:solidFill>
                <a:latin typeface="DM Sans"/>
              </a:rPr>
              <a:t>: theorie, technologie, datacollectie en droogloop</a:t>
            </a:r>
          </a:p>
        </p:txBody>
      </p:sp>
      <p:sp>
        <p:nvSpPr>
          <p:cNvPr id="11" name="Rounded Rectangle 10"/>
          <p:cNvSpPr/>
          <p:nvPr/>
        </p:nvSpPr>
        <p:spPr>
          <a:xfrm>
            <a:off x="4487267" y="1671241"/>
            <a:ext cx="1397000" cy="1397000"/>
          </a:xfrm>
          <a:prstGeom prst="roundRect">
            <a:avLst>
              <a:gd name="adj" fmla="val 50000"/>
            </a:avLst>
          </a:prstGeom>
          <a:solidFill>
            <a:srgbClr val="FFFFFF"/>
          </a:solidFill>
          <a:ln w="254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487267" y="3233341"/>
            <a:ext cx="3268166" cy="198120"/>
          </a:xfrm>
          <a:prstGeom prst="rect">
            <a:avLst/>
          </a:prstGeom>
          <a:noFill/>
        </p:spPr>
        <p:txBody>
          <a:bodyPr wrap="none" lIns="0" tIns="0" rIns="0" bIns="0" anchor="t">
            <a:noAutofit/>
          </a:bodyPr>
          <a:lstStyle/>
          <a:p>
            <a:pPr algn="l"/>
            <a:r>
              <a:rPr sz="1200" b="1" i="0">
                <a:solidFill>
                  <a:srgbClr val="A34A00"/>
                </a:solidFill>
                <a:latin typeface="DM Sans"/>
              </a:rPr>
              <a:t>PhD B</a:t>
            </a:r>
          </a:p>
        </p:txBody>
      </p:sp>
      <p:sp>
        <p:nvSpPr>
          <p:cNvPr id="13" name="TextBox 12"/>
          <p:cNvSpPr txBox="1"/>
          <p:nvPr/>
        </p:nvSpPr>
        <p:spPr>
          <a:xfrm>
            <a:off x="4487267" y="3506391"/>
            <a:ext cx="3268166"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nog te selecteren</a:t>
            </a:r>
          </a:p>
        </p:txBody>
      </p:sp>
      <p:sp>
        <p:nvSpPr>
          <p:cNvPr id="14" name="Rectangle 13"/>
          <p:cNvSpPr/>
          <p:nvPr/>
        </p:nvSpPr>
        <p:spPr>
          <a:xfrm>
            <a:off x="4487267" y="4176216"/>
            <a:ext cx="3217366"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7267" y="3889276"/>
            <a:ext cx="3268166"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doctoraatsonderzoeker</a:t>
            </a:r>
          </a:p>
        </p:txBody>
      </p:sp>
      <p:sp>
        <p:nvSpPr>
          <p:cNvPr id="16" name="TextBox 15"/>
          <p:cNvSpPr txBox="1"/>
          <p:nvPr/>
        </p:nvSpPr>
        <p:spPr>
          <a:xfrm>
            <a:off x="4487267" y="4258766"/>
            <a:ext cx="3281714"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Contactpersoon</a:t>
            </a:r>
            <a:r>
              <a:rPr sz="1350" b="0" i="0">
                <a:solidFill>
                  <a:srgbClr val="0A2540"/>
                </a:solidFill>
                <a:latin typeface="DM Sans"/>
              </a:rPr>
              <a:t> voor Aalst, Leuven en Antwerpen</a:t>
            </a:r>
          </a:p>
        </p:txBody>
      </p:sp>
      <p:sp>
        <p:nvSpPr>
          <p:cNvPr id="17" name="TextBox 16"/>
          <p:cNvSpPr txBox="1"/>
          <p:nvPr/>
        </p:nvSpPr>
        <p:spPr>
          <a:xfrm>
            <a:off x="4487267" y="4780657"/>
            <a:ext cx="3281714" cy="445691"/>
          </a:xfrm>
          <a:prstGeom prst="rect">
            <a:avLst/>
          </a:prstGeom>
          <a:noFill/>
        </p:spPr>
        <p:txBody>
          <a:bodyPr wrap="square" lIns="0" tIns="0" rIns="0" bIns="0" anchor="t">
            <a:noAutofit/>
          </a:bodyPr>
          <a:lstStyle/>
          <a:p>
            <a:pPr algn="l">
              <a:lnSpc>
                <a:spcPts val="1755"/>
              </a:lnSpc>
            </a:pPr>
            <a:r>
              <a:rPr sz="1350" b="1" i="0">
                <a:solidFill>
                  <a:srgbClr val="0A2540"/>
                </a:solidFill>
                <a:latin typeface="DM Sans"/>
              </a:rPr>
              <a:t>Procesevaluatie</a:t>
            </a:r>
            <a:r>
              <a:rPr sz="1350" b="0" i="0">
                <a:solidFill>
                  <a:srgbClr val="0A2540"/>
                </a:solidFill>
                <a:latin typeface="DM Sans"/>
              </a:rPr>
              <a:t> in Brugge, Gent en Kortrijk</a:t>
            </a:r>
          </a:p>
        </p:txBody>
      </p:sp>
      <p:pic>
        <p:nvPicPr>
          <p:cNvPr id="18" name="Picture 17" descr="12e6f0653de5aa4c76ee29f03afe4abc.png"/>
          <p:cNvPicPr>
            <a:picLocks noChangeAspect="1"/>
          </p:cNvPicPr>
          <p:nvPr/>
        </p:nvPicPr>
        <p:blipFill>
          <a:blip r:embed="rId4"/>
          <a:stretch>
            <a:fillRect/>
          </a:stretch>
        </p:blipFill>
        <p:spPr>
          <a:xfrm>
            <a:off x="8161834" y="1671241"/>
            <a:ext cx="1397000" cy="1397000"/>
          </a:xfrm>
          <a:prstGeom prst="rect">
            <a:avLst/>
          </a:prstGeom>
        </p:spPr>
      </p:pic>
      <p:sp>
        <p:nvSpPr>
          <p:cNvPr id="19" name="TextBox 18"/>
          <p:cNvSpPr txBox="1"/>
          <p:nvPr/>
        </p:nvSpPr>
        <p:spPr>
          <a:xfrm>
            <a:off x="8161834" y="3233341"/>
            <a:ext cx="3268166" cy="198120"/>
          </a:xfrm>
          <a:prstGeom prst="rect">
            <a:avLst/>
          </a:prstGeom>
          <a:noFill/>
        </p:spPr>
        <p:txBody>
          <a:bodyPr wrap="none" lIns="0" tIns="0" rIns="0" bIns="0" anchor="t">
            <a:noAutofit/>
          </a:bodyPr>
          <a:lstStyle/>
          <a:p>
            <a:pPr algn="l"/>
            <a:r>
              <a:rPr sz="1200" b="1" i="0">
                <a:solidFill>
                  <a:srgbClr val="00407A"/>
                </a:solidFill>
                <a:latin typeface="DM Sans"/>
              </a:rPr>
              <a:t>Labmanager</a:t>
            </a:r>
          </a:p>
        </p:txBody>
      </p:sp>
      <p:sp>
        <p:nvSpPr>
          <p:cNvPr id="20" name="TextBox 19"/>
          <p:cNvSpPr txBox="1"/>
          <p:nvPr/>
        </p:nvSpPr>
        <p:spPr>
          <a:xfrm>
            <a:off x="8161834" y="3506391"/>
            <a:ext cx="3268166" cy="306705"/>
          </a:xfrm>
          <a:prstGeom prst="rect">
            <a:avLst/>
          </a:prstGeom>
          <a:noFill/>
        </p:spPr>
        <p:txBody>
          <a:bodyPr wrap="none" lIns="0" tIns="0" rIns="0" bIns="0" anchor="t">
            <a:noAutofit/>
          </a:bodyPr>
          <a:lstStyle/>
          <a:p>
            <a:pPr algn="l">
              <a:lnSpc>
                <a:spcPts val="2415"/>
              </a:lnSpc>
            </a:pPr>
            <a:r>
              <a:rPr sz="2300" b="0" i="0">
                <a:solidFill>
                  <a:srgbClr val="0A2540"/>
                </a:solidFill>
                <a:latin typeface="DM Serif Display"/>
              </a:rPr>
              <a:t>Gillian Debra</a:t>
            </a:r>
          </a:p>
        </p:txBody>
      </p:sp>
      <p:sp>
        <p:nvSpPr>
          <p:cNvPr id="21" name="Rectangle 20"/>
          <p:cNvSpPr/>
          <p:nvPr/>
        </p:nvSpPr>
        <p:spPr>
          <a:xfrm>
            <a:off x="8161834" y="4176216"/>
            <a:ext cx="3217366"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61834" y="3889276"/>
            <a:ext cx="3268166" cy="198120"/>
          </a:xfrm>
          <a:prstGeom prst="rect">
            <a:avLst/>
          </a:prstGeom>
          <a:noFill/>
        </p:spPr>
        <p:txBody>
          <a:bodyPr wrap="none" lIns="0" tIns="0" rIns="0" bIns="0" anchor="t">
            <a:noAutofit/>
          </a:bodyPr>
          <a:lstStyle/>
          <a:p>
            <a:pPr algn="l">
              <a:lnSpc>
                <a:spcPts val="1560"/>
              </a:lnSpc>
            </a:pPr>
            <a:r>
              <a:rPr sz="1200" b="0" i="0">
                <a:solidFill>
                  <a:srgbClr val="5A6E80"/>
                </a:solidFill>
                <a:latin typeface="DM Sans"/>
              </a:rPr>
              <a:t>regelgeving en studiedossier</a:t>
            </a:r>
          </a:p>
        </p:txBody>
      </p:sp>
      <p:sp>
        <p:nvSpPr>
          <p:cNvPr id="23" name="TextBox 22"/>
          <p:cNvSpPr txBox="1"/>
          <p:nvPr/>
        </p:nvSpPr>
        <p:spPr>
          <a:xfrm>
            <a:off x="8161834" y="4258766"/>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Trial master file</a:t>
            </a:r>
            <a:r>
              <a:rPr sz="1350" b="0" i="0">
                <a:solidFill>
                  <a:srgbClr val="0A2540"/>
                </a:solidFill>
                <a:latin typeface="DM Sans"/>
              </a:rPr>
              <a:t> (TMF)</a:t>
            </a:r>
          </a:p>
        </p:txBody>
      </p:sp>
      <p:sp>
        <p:nvSpPr>
          <p:cNvPr id="24" name="TextBox 23"/>
          <p:cNvSpPr txBox="1"/>
          <p:nvPr/>
        </p:nvSpPr>
        <p:spPr>
          <a:xfrm>
            <a:off x="8161834" y="4557812"/>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Ethische comités</a:t>
            </a:r>
            <a:r>
              <a:rPr sz="1350" b="0" i="0">
                <a:solidFill>
                  <a:srgbClr val="0A2540"/>
                </a:solidFill>
                <a:latin typeface="DM Sans"/>
              </a:rPr>
              <a:t> (EC)</a:t>
            </a:r>
          </a:p>
        </p:txBody>
      </p:sp>
      <p:sp>
        <p:nvSpPr>
          <p:cNvPr id="25" name="TextBox 24"/>
          <p:cNvSpPr txBox="1"/>
          <p:nvPr/>
        </p:nvSpPr>
        <p:spPr>
          <a:xfrm>
            <a:off x="8161834" y="4856857"/>
            <a:ext cx="3268166" cy="222885"/>
          </a:xfrm>
          <a:prstGeom prst="rect">
            <a:avLst/>
          </a:prstGeom>
          <a:noFill/>
        </p:spPr>
        <p:txBody>
          <a:bodyPr wrap="none" lIns="0" tIns="0" rIns="0" bIns="0" anchor="t">
            <a:noAutofit/>
          </a:bodyPr>
          <a:lstStyle/>
          <a:p>
            <a:pPr algn="l">
              <a:lnSpc>
                <a:spcPts val="1755"/>
              </a:lnSpc>
            </a:pPr>
            <a:r>
              <a:rPr sz="1350" b="1" i="0">
                <a:solidFill>
                  <a:srgbClr val="0A2540"/>
                </a:solidFill>
                <a:latin typeface="DM Sans"/>
              </a:rPr>
              <a:t>FAGG</a:t>
            </a:r>
          </a:p>
        </p:txBody>
      </p:sp>
      <p:pic>
        <p:nvPicPr>
          <p:cNvPr id="26" name="Picture 25"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27" name="TextBox 2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28" name="TextBox 2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studieteam,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4" name="TextBox 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stand op 12 oktober 2026</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Goedkeuring per centrum</a:t>
            </a:r>
          </a:p>
        </p:txBody>
      </p:sp>
      <p:sp>
        <p:nvSpPr>
          <p:cNvPr id="6" name="Rectangle 5"/>
          <p:cNvSpPr/>
          <p:nvPr/>
        </p:nvSpPr>
        <p:spPr>
          <a:xfrm>
            <a:off x="812800" y="1835150"/>
            <a:ext cx="519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044700"/>
            <a:ext cx="1808460" cy="198120"/>
          </a:xfrm>
          <a:prstGeom prst="rect">
            <a:avLst/>
          </a:prstGeom>
          <a:noFill/>
        </p:spPr>
        <p:txBody>
          <a:bodyPr wrap="none" lIns="0" tIns="0" rIns="0" bIns="0" anchor="t">
            <a:noAutofit/>
          </a:bodyPr>
          <a:lstStyle/>
          <a:p>
            <a:pPr algn="l"/>
            <a:r>
              <a:rPr sz="1200" b="1" i="0">
                <a:solidFill>
                  <a:srgbClr val="0B6E8F"/>
                </a:solidFill>
                <a:latin typeface="DM Sans"/>
              </a:rPr>
              <a:t>Centraal · EC UZ Leuven</a:t>
            </a:r>
          </a:p>
        </p:txBody>
      </p:sp>
      <p:sp>
        <p:nvSpPr>
          <p:cNvPr id="8" name="TextBox 7"/>
          <p:cNvSpPr txBox="1"/>
          <p:nvPr/>
        </p:nvSpPr>
        <p:spPr>
          <a:xfrm>
            <a:off x="2722860" y="2035175"/>
            <a:ext cx="3335040" cy="215900"/>
          </a:xfrm>
          <a:prstGeom prst="rect">
            <a:avLst/>
          </a:prstGeom>
          <a:noFill/>
        </p:spPr>
        <p:txBody>
          <a:bodyPr wrap="none" lIns="0" tIns="0" rIns="0" bIns="0" anchor="t">
            <a:noAutofit/>
          </a:bodyPr>
          <a:lstStyle/>
          <a:p>
            <a:pPr algn="l"/>
            <a:r>
              <a:rPr sz="1300" b="0" i="0">
                <a:solidFill>
                  <a:srgbClr val="5A6E80"/>
                </a:solidFill>
                <a:latin typeface="DM Sans"/>
              </a:rPr>
              <a:t>In afwachting lokale CTC</a:t>
            </a:r>
          </a:p>
        </p:txBody>
      </p:sp>
      <p:sp>
        <p:nvSpPr>
          <p:cNvPr id="9" name="Rectangle 8"/>
          <p:cNvSpPr/>
          <p:nvPr/>
        </p:nvSpPr>
        <p:spPr>
          <a:xfrm>
            <a:off x="6184900" y="1835150"/>
            <a:ext cx="519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84900" y="2044700"/>
            <a:ext cx="462756" cy="198120"/>
          </a:xfrm>
          <a:prstGeom prst="rect">
            <a:avLst/>
          </a:prstGeom>
          <a:noFill/>
        </p:spPr>
        <p:txBody>
          <a:bodyPr wrap="none" lIns="0" tIns="0" rIns="0" bIns="0" anchor="t">
            <a:noAutofit/>
          </a:bodyPr>
          <a:lstStyle/>
          <a:p>
            <a:pPr algn="l"/>
            <a:r>
              <a:rPr sz="1200" b="1" i="0">
                <a:solidFill>
                  <a:srgbClr val="0B6E8F"/>
                </a:solidFill>
                <a:latin typeface="DM Sans"/>
              </a:rPr>
              <a:t>FAGG</a:t>
            </a:r>
          </a:p>
        </p:txBody>
      </p:sp>
      <p:sp>
        <p:nvSpPr>
          <p:cNvPr id="11" name="TextBox 10"/>
          <p:cNvSpPr txBox="1"/>
          <p:nvPr/>
        </p:nvSpPr>
        <p:spPr>
          <a:xfrm>
            <a:off x="6749256" y="2035175"/>
            <a:ext cx="4680744" cy="215900"/>
          </a:xfrm>
          <a:prstGeom prst="rect">
            <a:avLst/>
          </a:prstGeom>
          <a:noFill/>
        </p:spPr>
        <p:txBody>
          <a:bodyPr wrap="none" lIns="0" tIns="0" rIns="0" bIns="0" anchor="t">
            <a:noAutofit/>
          </a:bodyPr>
          <a:lstStyle/>
          <a:p>
            <a:pPr algn="l"/>
            <a:r>
              <a:rPr sz="1300" b="0" i="0">
                <a:solidFill>
                  <a:srgbClr val="5A6E80"/>
                </a:solidFill>
                <a:latin typeface="DM Sans"/>
              </a:rPr>
              <a:t>Samen met EC UZ Leuven</a:t>
            </a:r>
          </a:p>
        </p:txBody>
      </p:sp>
      <p:graphicFrame>
        <p:nvGraphicFramePr>
          <p:cNvPr id="12" name="Table 11"/>
          <p:cNvGraphicFramePr>
            <a:graphicFrameLocks noGrp="1"/>
          </p:cNvGraphicFramePr>
          <p:nvPr/>
        </p:nvGraphicFramePr>
        <p:xfrm>
          <a:off x="812800" y="2550914"/>
          <a:ext cx="10560050" cy="2168327"/>
        </p:xfrm>
        <a:graphic>
          <a:graphicData uri="http://schemas.openxmlformats.org/drawingml/2006/table">
            <a:tbl>
              <a:tblPr>
                <a:tableStyleId>{2D5ABB26-0587-4C30-8999-92F81FD0307C}</a:tableStyleId>
              </a:tblPr>
              <a:tblGrid>
                <a:gridCol w="2880023">
                  <a:extLst>
                    <a:ext uri="{9D8B030D-6E8A-4147-A177-3AD203B41FA5}">
                      <a16:colId xmlns:a16="http://schemas.microsoft.com/office/drawing/2014/main" val="20000"/>
                    </a:ext>
                  </a:extLst>
                </a:gridCol>
                <a:gridCol w="1919982">
                  <a:extLst>
                    <a:ext uri="{9D8B030D-6E8A-4147-A177-3AD203B41FA5}">
                      <a16:colId xmlns:a16="http://schemas.microsoft.com/office/drawing/2014/main" val="20001"/>
                    </a:ext>
                  </a:extLst>
                </a:gridCol>
                <a:gridCol w="1919982">
                  <a:extLst>
                    <a:ext uri="{9D8B030D-6E8A-4147-A177-3AD203B41FA5}">
                      <a16:colId xmlns:a16="http://schemas.microsoft.com/office/drawing/2014/main" val="20002"/>
                    </a:ext>
                  </a:extLst>
                </a:gridCol>
                <a:gridCol w="3840063">
                  <a:extLst>
                    <a:ext uri="{9D8B030D-6E8A-4147-A177-3AD203B41FA5}">
                      <a16:colId xmlns:a16="http://schemas.microsoft.com/office/drawing/2014/main" val="20003"/>
                    </a:ext>
                  </a:extLst>
                </a:gridCol>
              </a:tblGrid>
              <a:tr h="309761">
                <a:tc>
                  <a:txBody>
                    <a:bodyPr/>
                    <a:lstStyle/>
                    <a:p>
                      <a:pPr algn="ctr"/>
                      <a:r>
                        <a:rPr sz="1200" b="1" i="0">
                          <a:solidFill>
                            <a:srgbClr val="3A4F63"/>
                          </a:solidFill>
                          <a:latin typeface="DM Sans"/>
                        </a:rPr>
                        <a:t>Centrum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Ingediend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Goedgekeurd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a:lstStyle/>
                    <a:p>
                      <a:pPr algn="ctr"/>
                      <a:r>
                        <a:rPr sz="1200" b="1" i="0">
                          <a:solidFill>
                            <a:srgbClr val="3A4F63"/>
                          </a:solidFill>
                          <a:latin typeface="DM Sans"/>
                        </a:rPr>
                        <a:t>Stand</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extLst>
                  <a:ext uri="{0D108BD9-81ED-4DB2-BD59-A6C34878D82A}">
                    <a16:rowId xmlns:a16="http://schemas.microsoft.com/office/drawing/2014/main" val="10000"/>
                  </a:ext>
                </a:extLst>
              </a:tr>
              <a:tr h="309761">
                <a:tc>
                  <a:txBody>
                    <a:bodyPr/>
                    <a:lstStyle/>
                    <a:p>
                      <a:pPr algn="l"/>
                      <a:r>
                        <a:rPr sz="1200" b="0" i="0">
                          <a:solidFill>
                            <a:srgbClr val="3A4F63"/>
                          </a:solidFill>
                          <a:latin typeface="DM Sans"/>
                        </a:rPr>
                        <a:t>AZ Groeninge Kortrijk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1"/>
                  </a:ext>
                </a:extLst>
              </a:tr>
              <a:tr h="309761">
                <a:tc>
                  <a:txBody>
                    <a:bodyPr/>
                    <a:lstStyle/>
                    <a:p>
                      <a:pPr algn="l"/>
                      <a:r>
                        <a:rPr sz="1200" b="0" i="0">
                          <a:solidFill>
                            <a:srgbClr val="3A4F63"/>
                          </a:solidFill>
                          <a:latin typeface="DM Sans"/>
                        </a:rPr>
                        <a:t>AZ Sint-Jan Brugge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2"/>
                  </a:ext>
                </a:extLst>
              </a:tr>
              <a:tr h="309761">
                <a:tc>
                  <a:txBody>
                    <a:bodyPr/>
                    <a:lstStyle/>
                    <a:p>
                      <a:pPr algn="l"/>
                      <a:r>
                        <a:rPr sz="1200" b="0" i="0">
                          <a:solidFill>
                            <a:srgbClr val="3A4F63"/>
                          </a:solidFill>
                          <a:latin typeface="DM Sans"/>
                        </a:rPr>
                        <a:t>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Eerste feedback verwerkt; verloop afwachten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3"/>
                  </a:ext>
                </a:extLst>
              </a:tr>
              <a:tr h="309761">
                <a:tc>
                  <a:txBody>
                    <a:bodyPr/>
                    <a:lstStyle/>
                    <a:p>
                      <a:pPr algn="l"/>
                      <a:r>
                        <a:rPr sz="1200" b="0" i="0">
                          <a:solidFill>
                            <a:srgbClr val="3A4F63"/>
                          </a:solidFill>
                          <a:latin typeface="DM Sans"/>
                        </a:rPr>
                        <a:t>AZORG Aalst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n.v.t.¹</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n.v.t.¹</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Wacht op de goedkeuring van de andere CTC's</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4"/>
                  </a:ext>
                </a:extLst>
              </a:tr>
              <a:tr h="309761">
                <a:tc>
                  <a:txBody>
                    <a:bodyPr/>
                    <a:lstStyle/>
                    <a:p>
                      <a:pPr algn="l"/>
                      <a:r>
                        <a:rPr sz="1200" b="0" i="0">
                          <a:solidFill>
                            <a:srgbClr val="3A4F63"/>
                          </a:solidFill>
                          <a:latin typeface="DM Sans"/>
                        </a:rPr>
                        <a:t>UZ Leuven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Goedgekeurd; wacht op de andere CTC's</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5"/>
                  </a:ext>
                </a:extLst>
              </a:tr>
              <a:tr h="309761">
                <a:tc>
                  <a:txBody>
                    <a:bodyPr/>
                    <a:lstStyle/>
                    <a:p>
                      <a:pPr algn="l"/>
                      <a:r>
                        <a:rPr sz="1200" b="0" i="0">
                          <a:solidFill>
                            <a:srgbClr val="3A4F63"/>
                          </a:solidFill>
                          <a:latin typeface="DM Sans"/>
                        </a:rPr>
                        <a:t>UZ Antwerpen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Ja</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Nee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ctr"/>
                      <a:r>
                        <a:rPr sz="1200" b="0" i="0">
                          <a:solidFill>
                            <a:srgbClr val="3A4F63"/>
                          </a:solidFill>
                          <a:latin typeface="DM Sans"/>
                        </a:rPr>
                        <a:t>Volledig, bij externe diensten voor feedback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812800" y="5083274"/>
            <a:ext cx="10617200" cy="213360"/>
          </a:xfrm>
          <a:prstGeom prst="rect">
            <a:avLst/>
          </a:prstGeom>
          <a:noFill/>
        </p:spPr>
        <p:txBody>
          <a:bodyPr wrap="none" lIns="0" tIns="0" rIns="0" bIns="0" anchor="t">
            <a:noAutofit/>
          </a:bodyPr>
          <a:lstStyle/>
          <a:p>
            <a:pPr algn="l">
              <a:lnSpc>
                <a:spcPts val="1680"/>
              </a:lnSpc>
            </a:pPr>
            <a:r>
              <a:rPr sz="1200" b="0" i="0">
                <a:solidFill>
                  <a:srgbClr val="5A6E80"/>
                </a:solidFill>
                <a:latin typeface="DM Sans"/>
              </a:rPr>
              <a:t>¹ AZORG heeft geen CTC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stand op 12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Materiaal per centrum</a:t>
            </a:r>
          </a:p>
        </p:txBody>
      </p:sp>
      <p:sp>
        <p:nvSpPr>
          <p:cNvPr id="7" name="Rectangle 6"/>
          <p:cNvSpPr/>
          <p:nvPr/>
        </p:nvSpPr>
        <p:spPr>
          <a:xfrm>
            <a:off x="812800" y="182880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51400" y="1536700"/>
            <a:ext cx="1134467" cy="215900"/>
          </a:xfrm>
          <a:prstGeom prst="rect">
            <a:avLst/>
          </a:prstGeom>
          <a:noFill/>
        </p:spPr>
        <p:txBody>
          <a:bodyPr wrap="none" lIns="0" tIns="0" rIns="0" bIns="0" anchor="t">
            <a:noAutofit/>
          </a:bodyPr>
          <a:lstStyle/>
          <a:p>
            <a:pPr algn="ctr"/>
            <a:r>
              <a:rPr sz="1300" b="1" i="0">
                <a:solidFill>
                  <a:srgbClr val="0A2540"/>
                </a:solidFill>
                <a:latin typeface="DM Sans"/>
              </a:rPr>
              <a:t>Kortrijk</a:t>
            </a:r>
          </a:p>
        </p:txBody>
      </p:sp>
      <p:sp>
        <p:nvSpPr>
          <p:cNvPr id="9" name="TextBox 8"/>
          <p:cNvSpPr txBox="1"/>
          <p:nvPr/>
        </p:nvSpPr>
        <p:spPr>
          <a:xfrm>
            <a:off x="5935067"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Brugge</a:t>
            </a:r>
          </a:p>
        </p:txBody>
      </p:sp>
      <p:sp>
        <p:nvSpPr>
          <p:cNvPr id="10" name="TextBox 9"/>
          <p:cNvSpPr txBox="1"/>
          <p:nvPr/>
        </p:nvSpPr>
        <p:spPr>
          <a:xfrm>
            <a:off x="7018834"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Gent</a:t>
            </a:r>
          </a:p>
        </p:txBody>
      </p:sp>
      <p:sp>
        <p:nvSpPr>
          <p:cNvPr id="11" name="TextBox 10"/>
          <p:cNvSpPr txBox="1"/>
          <p:nvPr/>
        </p:nvSpPr>
        <p:spPr>
          <a:xfrm>
            <a:off x="8102600" y="1536700"/>
            <a:ext cx="1134467" cy="215900"/>
          </a:xfrm>
          <a:prstGeom prst="rect">
            <a:avLst/>
          </a:prstGeom>
          <a:noFill/>
        </p:spPr>
        <p:txBody>
          <a:bodyPr wrap="none" lIns="0" tIns="0" rIns="0" bIns="0" anchor="t">
            <a:noAutofit/>
          </a:bodyPr>
          <a:lstStyle/>
          <a:p>
            <a:pPr algn="ctr"/>
            <a:r>
              <a:rPr sz="1300" b="1" i="0">
                <a:solidFill>
                  <a:srgbClr val="0A2540"/>
                </a:solidFill>
                <a:latin typeface="DM Sans"/>
              </a:rPr>
              <a:t>Aalst</a:t>
            </a:r>
          </a:p>
        </p:txBody>
      </p:sp>
      <p:sp>
        <p:nvSpPr>
          <p:cNvPr id="12" name="TextBox 11"/>
          <p:cNvSpPr txBox="1"/>
          <p:nvPr/>
        </p:nvSpPr>
        <p:spPr>
          <a:xfrm>
            <a:off x="9186267"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Leuven</a:t>
            </a:r>
          </a:p>
        </p:txBody>
      </p:sp>
      <p:sp>
        <p:nvSpPr>
          <p:cNvPr id="13" name="TextBox 12"/>
          <p:cNvSpPr txBox="1"/>
          <p:nvPr/>
        </p:nvSpPr>
        <p:spPr>
          <a:xfrm>
            <a:off x="10270034" y="1536700"/>
            <a:ext cx="1134566" cy="215900"/>
          </a:xfrm>
          <a:prstGeom prst="rect">
            <a:avLst/>
          </a:prstGeom>
          <a:noFill/>
        </p:spPr>
        <p:txBody>
          <a:bodyPr wrap="none" lIns="0" tIns="0" rIns="0" bIns="0" anchor="t">
            <a:noAutofit/>
          </a:bodyPr>
          <a:lstStyle/>
          <a:p>
            <a:pPr algn="ctr"/>
            <a:r>
              <a:rPr sz="1300" b="1" i="0">
                <a:solidFill>
                  <a:srgbClr val="0A2540"/>
                </a:solidFill>
                <a:latin typeface="DM Sans"/>
              </a:rPr>
              <a:t>Antwerpen</a:t>
            </a:r>
          </a:p>
        </p:txBody>
      </p:sp>
      <p:sp>
        <p:nvSpPr>
          <p:cNvPr id="14" name="Rectangle 13"/>
          <p:cNvSpPr/>
          <p:nvPr/>
        </p:nvSpPr>
        <p:spPr>
          <a:xfrm>
            <a:off x="812800" y="326390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7006ea103c3e8fa9006c500fec1a0272.png"/>
          <p:cNvPicPr>
            <a:picLocks noChangeAspect="1"/>
          </p:cNvPicPr>
          <p:nvPr/>
        </p:nvPicPr>
        <p:blipFill>
          <a:blip r:embed="rId4"/>
          <a:stretch>
            <a:fillRect/>
          </a:stretch>
        </p:blipFill>
        <p:spPr>
          <a:xfrm>
            <a:off x="812800" y="1930400"/>
            <a:ext cx="1714500" cy="1244600"/>
          </a:xfrm>
          <a:prstGeom prst="rect">
            <a:avLst/>
          </a:prstGeom>
        </p:spPr>
      </p:pic>
      <p:sp>
        <p:nvSpPr>
          <p:cNvPr id="16" name="TextBox 15"/>
          <p:cNvSpPr txBox="1"/>
          <p:nvPr/>
        </p:nvSpPr>
        <p:spPr>
          <a:xfrm>
            <a:off x="2705100" y="2185690"/>
            <a:ext cx="2222500" cy="266700"/>
          </a:xfrm>
          <a:prstGeom prst="rect">
            <a:avLst/>
          </a:prstGeom>
          <a:noFill/>
        </p:spPr>
        <p:txBody>
          <a:bodyPr wrap="none" lIns="0" tIns="0" rIns="0" bIns="0" anchor="t">
            <a:noAutofit/>
          </a:bodyPr>
          <a:lstStyle/>
          <a:p>
            <a:pPr algn="l"/>
            <a:r>
              <a:rPr sz="1600" b="1" i="0">
                <a:solidFill>
                  <a:srgbClr val="0A2540"/>
                </a:solidFill>
                <a:latin typeface="DM Sans"/>
              </a:rPr>
              <a:t>Novel pedar</a:t>
            </a:r>
          </a:p>
        </p:txBody>
      </p:sp>
      <p:sp>
        <p:nvSpPr>
          <p:cNvPr id="17" name="TextBox 16"/>
          <p:cNvSpPr txBox="1"/>
          <p:nvPr/>
        </p:nvSpPr>
        <p:spPr>
          <a:xfrm>
            <a:off x="2705100" y="2490490"/>
            <a:ext cx="2222500" cy="429220"/>
          </a:xfrm>
          <a:prstGeom prst="rect">
            <a:avLst/>
          </a:prstGeom>
          <a:noFill/>
        </p:spPr>
        <p:txBody>
          <a:bodyPr wrap="square" lIns="0" tIns="0" rIns="0" bIns="0" anchor="t">
            <a:noAutofit/>
          </a:bodyPr>
          <a:lstStyle/>
          <a:p>
            <a:pPr algn="l">
              <a:lnSpc>
                <a:spcPts val="1689"/>
              </a:lnSpc>
            </a:pPr>
            <a:r>
              <a:rPr sz="1300" b="0" i="0">
                <a:solidFill>
                  <a:srgbClr val="5A6E80"/>
                </a:solidFill>
                <a:latin typeface="DM Sans"/>
              </a:rPr>
              <a:t>laptop, router en twee zenders</a:t>
            </a:r>
          </a:p>
        </p:txBody>
      </p:sp>
      <p:sp>
        <p:nvSpPr>
          <p:cNvPr id="18" name="Rounded Rectangle 17"/>
          <p:cNvSpPr/>
          <p:nvPr/>
        </p:nvSpPr>
        <p:spPr>
          <a:xfrm>
            <a:off x="5304334"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069384"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20" name="Rounded Rectangle 19"/>
          <p:cNvSpPr/>
          <p:nvPr/>
        </p:nvSpPr>
        <p:spPr>
          <a:xfrm>
            <a:off x="6388001" y="2298700"/>
            <a:ext cx="228600" cy="228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017022" y="2590800"/>
            <a:ext cx="1021457" cy="215900"/>
          </a:xfrm>
          <a:prstGeom prst="rect">
            <a:avLst/>
          </a:prstGeom>
          <a:noFill/>
        </p:spPr>
        <p:txBody>
          <a:bodyPr wrap="none" lIns="0" tIns="0" rIns="0" bIns="0" anchor="t">
            <a:noAutofit/>
          </a:bodyPr>
          <a:lstStyle/>
          <a:p>
            <a:pPr algn="l"/>
            <a:r>
              <a:rPr sz="1300" b="0" i="0">
                <a:solidFill>
                  <a:srgbClr val="0A2540"/>
                </a:solidFill>
                <a:latin typeface="DM Sans"/>
              </a:rPr>
              <a:t>geïnstalleerd</a:t>
            </a:r>
          </a:p>
        </p:txBody>
      </p:sp>
      <p:sp>
        <p:nvSpPr>
          <p:cNvPr id="22" name="Rounded Rectangle 21"/>
          <p:cNvSpPr/>
          <p:nvPr/>
        </p:nvSpPr>
        <p:spPr>
          <a:xfrm>
            <a:off x="7471767" y="2298700"/>
            <a:ext cx="228600" cy="228600"/>
          </a:xfrm>
          <a:prstGeom prst="roundRect">
            <a:avLst>
              <a:gd name="adj" fmla="val 50000"/>
            </a:avLst>
          </a:prstGeom>
          <a:solidFill>
            <a:srgbClr val="F2F6F9"/>
          </a:solidFill>
          <a:ln w="254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206456" y="2590800"/>
            <a:ext cx="810121" cy="215900"/>
          </a:xfrm>
          <a:prstGeom prst="rect">
            <a:avLst/>
          </a:prstGeom>
          <a:noFill/>
        </p:spPr>
        <p:txBody>
          <a:bodyPr wrap="none" lIns="0" tIns="0" rIns="0" bIns="0" anchor="t">
            <a:noAutofit/>
          </a:bodyPr>
          <a:lstStyle/>
          <a:p>
            <a:pPr algn="l"/>
            <a:r>
              <a:rPr sz="1300" b="0" i="0">
                <a:solidFill>
                  <a:srgbClr val="A34A00"/>
                </a:solidFill>
                <a:latin typeface="DM Sans"/>
              </a:rPr>
              <a:t>onderweg</a:t>
            </a:r>
          </a:p>
        </p:txBody>
      </p:sp>
      <p:sp>
        <p:nvSpPr>
          <p:cNvPr id="24" name="Rounded Rectangle 23"/>
          <p:cNvSpPr/>
          <p:nvPr/>
        </p:nvSpPr>
        <p:spPr>
          <a:xfrm>
            <a:off x="8555534" y="2298700"/>
            <a:ext cx="228600" cy="228600"/>
          </a:xfrm>
          <a:prstGeom prst="roundRect">
            <a:avLst>
              <a:gd name="adj" fmla="val 50000"/>
            </a:avLst>
          </a:prstGeom>
          <a:solidFill>
            <a:srgbClr val="F2F6F9"/>
          </a:solidFill>
          <a:ln w="254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90123" y="2590800"/>
            <a:ext cx="810121" cy="215900"/>
          </a:xfrm>
          <a:prstGeom prst="rect">
            <a:avLst/>
          </a:prstGeom>
          <a:noFill/>
        </p:spPr>
        <p:txBody>
          <a:bodyPr wrap="none" lIns="0" tIns="0" rIns="0" bIns="0" anchor="t">
            <a:noAutofit/>
          </a:bodyPr>
          <a:lstStyle/>
          <a:p>
            <a:pPr algn="l"/>
            <a:r>
              <a:rPr sz="1300" b="0" i="0">
                <a:solidFill>
                  <a:srgbClr val="A34A00"/>
                </a:solidFill>
                <a:latin typeface="DM Sans"/>
              </a:rPr>
              <a:t>onderweg</a:t>
            </a:r>
          </a:p>
        </p:txBody>
      </p:sp>
      <p:sp>
        <p:nvSpPr>
          <p:cNvPr id="26" name="Rounded Rectangle 25"/>
          <p:cNvSpPr/>
          <p:nvPr/>
        </p:nvSpPr>
        <p:spPr>
          <a:xfrm>
            <a:off x="9639201"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404350"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28" name="Rounded Rectangle 27"/>
          <p:cNvSpPr/>
          <p:nvPr/>
        </p:nvSpPr>
        <p:spPr>
          <a:xfrm>
            <a:off x="10722967" y="22987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0488116" y="25908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0" name="Rectangle 29"/>
          <p:cNvSpPr/>
          <p:nvPr/>
        </p:nvSpPr>
        <p:spPr>
          <a:xfrm>
            <a:off x="812800" y="4692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3433b372cfc1d99d6ab11119954a595.png"/>
          <p:cNvPicPr>
            <a:picLocks noChangeAspect="1"/>
          </p:cNvPicPr>
          <p:nvPr/>
        </p:nvPicPr>
        <p:blipFill>
          <a:blip r:embed="rId5"/>
          <a:stretch>
            <a:fillRect/>
          </a:stretch>
        </p:blipFill>
        <p:spPr>
          <a:xfrm>
            <a:off x="812800" y="3359150"/>
            <a:ext cx="1714500" cy="1244600"/>
          </a:xfrm>
          <a:prstGeom prst="rect">
            <a:avLst/>
          </a:prstGeom>
        </p:spPr>
      </p:pic>
      <p:sp>
        <p:nvSpPr>
          <p:cNvPr id="32" name="TextBox 31"/>
          <p:cNvSpPr txBox="1"/>
          <p:nvPr/>
        </p:nvSpPr>
        <p:spPr>
          <a:xfrm>
            <a:off x="2705100" y="3721695"/>
            <a:ext cx="1360190" cy="266700"/>
          </a:xfrm>
          <a:prstGeom prst="rect">
            <a:avLst/>
          </a:prstGeom>
          <a:noFill/>
        </p:spPr>
        <p:txBody>
          <a:bodyPr wrap="none" lIns="0" tIns="0" rIns="0" bIns="0" anchor="t">
            <a:noAutofit/>
          </a:bodyPr>
          <a:lstStyle/>
          <a:p>
            <a:pPr algn="l"/>
            <a:r>
              <a:rPr sz="1600" b="1" i="0">
                <a:solidFill>
                  <a:srgbClr val="0A2540"/>
                </a:solidFill>
                <a:latin typeface="DM Sans"/>
              </a:rPr>
              <a:t>MoveMonitor</a:t>
            </a:r>
          </a:p>
        </p:txBody>
      </p:sp>
      <p:sp>
        <p:nvSpPr>
          <p:cNvPr id="33" name="TextBox 32"/>
          <p:cNvSpPr txBox="1"/>
          <p:nvPr/>
        </p:nvSpPr>
        <p:spPr>
          <a:xfrm>
            <a:off x="2705100" y="4026495"/>
            <a:ext cx="1360190"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vier per centrum</a:t>
            </a:r>
          </a:p>
        </p:txBody>
      </p:sp>
      <p:sp>
        <p:nvSpPr>
          <p:cNvPr id="34" name="Rounded Rectangle 33"/>
          <p:cNvSpPr/>
          <p:nvPr/>
        </p:nvSpPr>
        <p:spPr>
          <a:xfrm>
            <a:off x="5304334"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069384"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6" name="Rounded Rectangle 35"/>
          <p:cNvSpPr/>
          <p:nvPr/>
        </p:nvSpPr>
        <p:spPr>
          <a:xfrm>
            <a:off x="6388001"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153150"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38" name="Rounded Rectangle 37"/>
          <p:cNvSpPr/>
          <p:nvPr/>
        </p:nvSpPr>
        <p:spPr>
          <a:xfrm>
            <a:off x="7471767" y="3727450"/>
            <a:ext cx="228600" cy="228600"/>
          </a:xfrm>
          <a:prstGeom prst="roundRect">
            <a:avLst>
              <a:gd name="adj" fmla="val 50000"/>
            </a:avLst>
          </a:prstGeom>
          <a:solidFill>
            <a:srgbClr val="F2F6F9"/>
          </a:solid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060208" y="4019550"/>
            <a:ext cx="1102519" cy="215900"/>
          </a:xfrm>
          <a:prstGeom prst="rect">
            <a:avLst/>
          </a:prstGeom>
          <a:noFill/>
        </p:spPr>
        <p:txBody>
          <a:bodyPr wrap="none" lIns="0" tIns="0" rIns="0" bIns="0" anchor="t">
            <a:noAutofit/>
          </a:bodyPr>
          <a:lstStyle/>
          <a:p>
            <a:pPr algn="l"/>
            <a:r>
              <a:rPr sz="1300" b="0" i="0">
                <a:solidFill>
                  <a:srgbClr val="3A4F63"/>
                </a:solidFill>
                <a:latin typeface="DM Sans"/>
              </a:rPr>
              <a:t>Niet aanwezig</a:t>
            </a:r>
          </a:p>
        </p:txBody>
      </p:sp>
      <p:sp>
        <p:nvSpPr>
          <p:cNvPr id="40" name="Rounded Rectangle 39"/>
          <p:cNvSpPr/>
          <p:nvPr/>
        </p:nvSpPr>
        <p:spPr>
          <a:xfrm>
            <a:off x="8555534"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320584"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2" name="Rounded Rectangle 41"/>
          <p:cNvSpPr/>
          <p:nvPr/>
        </p:nvSpPr>
        <p:spPr>
          <a:xfrm>
            <a:off x="9639201"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9404350"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4" name="Rounded Rectangle 43"/>
          <p:cNvSpPr/>
          <p:nvPr/>
        </p:nvSpPr>
        <p:spPr>
          <a:xfrm>
            <a:off x="10722967" y="372745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0488116" y="401955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46" name="Rectangle 45"/>
          <p:cNvSpPr/>
          <p:nvPr/>
        </p:nvSpPr>
        <p:spPr>
          <a:xfrm>
            <a:off x="812800" y="612140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08f3416e444e7f76df034ad715d9910f.png"/>
          <p:cNvPicPr>
            <a:picLocks noChangeAspect="1"/>
          </p:cNvPicPr>
          <p:nvPr/>
        </p:nvPicPr>
        <p:blipFill>
          <a:blip r:embed="rId6"/>
          <a:stretch>
            <a:fillRect/>
          </a:stretch>
        </p:blipFill>
        <p:spPr>
          <a:xfrm>
            <a:off x="812800" y="4787900"/>
            <a:ext cx="1714500" cy="1244600"/>
          </a:xfrm>
          <a:prstGeom prst="rect">
            <a:avLst/>
          </a:prstGeom>
        </p:spPr>
      </p:pic>
      <p:sp>
        <p:nvSpPr>
          <p:cNvPr id="48" name="TextBox 47"/>
          <p:cNvSpPr txBox="1"/>
          <p:nvPr/>
        </p:nvSpPr>
        <p:spPr>
          <a:xfrm>
            <a:off x="2705100" y="5150445"/>
            <a:ext cx="2065238" cy="266700"/>
          </a:xfrm>
          <a:prstGeom prst="rect">
            <a:avLst/>
          </a:prstGeom>
          <a:noFill/>
        </p:spPr>
        <p:txBody>
          <a:bodyPr wrap="none" lIns="0" tIns="0" rIns="0" bIns="0" anchor="t">
            <a:noAutofit/>
          </a:bodyPr>
          <a:lstStyle/>
          <a:p>
            <a:pPr algn="l"/>
            <a:r>
              <a:rPr sz="1600" b="1" i="0">
                <a:solidFill>
                  <a:srgbClr val="0A2540"/>
                </a:solidFill>
                <a:latin typeface="DM Sans"/>
              </a:rPr>
              <a:t>Orthotimer</a:t>
            </a:r>
          </a:p>
        </p:txBody>
      </p:sp>
      <p:sp>
        <p:nvSpPr>
          <p:cNvPr id="49" name="TextBox 48"/>
          <p:cNvSpPr txBox="1"/>
          <p:nvPr/>
        </p:nvSpPr>
        <p:spPr>
          <a:xfrm>
            <a:off x="2705100" y="5455245"/>
            <a:ext cx="2065238"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sensoren en de uitleespen</a:t>
            </a:r>
          </a:p>
        </p:txBody>
      </p:sp>
      <p:sp>
        <p:nvSpPr>
          <p:cNvPr id="50" name="Rounded Rectangle 49"/>
          <p:cNvSpPr/>
          <p:nvPr/>
        </p:nvSpPr>
        <p:spPr>
          <a:xfrm>
            <a:off x="5304334"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5069384"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2" name="Rounded Rectangle 51"/>
          <p:cNvSpPr/>
          <p:nvPr/>
        </p:nvSpPr>
        <p:spPr>
          <a:xfrm>
            <a:off x="6388001"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6153150"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4" name="Rounded Rectangle 53"/>
          <p:cNvSpPr/>
          <p:nvPr/>
        </p:nvSpPr>
        <p:spPr>
          <a:xfrm>
            <a:off x="7471767" y="5156200"/>
            <a:ext cx="228600" cy="228600"/>
          </a:xfrm>
          <a:prstGeom prst="roundRect">
            <a:avLst>
              <a:gd name="adj" fmla="val 50000"/>
            </a:avLst>
          </a:prstGeom>
          <a:solidFill>
            <a:srgbClr val="F2F6F9"/>
          </a:solid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060208" y="5448300"/>
            <a:ext cx="1102519" cy="215900"/>
          </a:xfrm>
          <a:prstGeom prst="rect">
            <a:avLst/>
          </a:prstGeom>
          <a:noFill/>
        </p:spPr>
        <p:txBody>
          <a:bodyPr wrap="none" lIns="0" tIns="0" rIns="0" bIns="0" anchor="t">
            <a:noAutofit/>
          </a:bodyPr>
          <a:lstStyle/>
          <a:p>
            <a:pPr algn="l"/>
            <a:r>
              <a:rPr sz="1300" b="0" i="0">
                <a:solidFill>
                  <a:srgbClr val="3A4F63"/>
                </a:solidFill>
                <a:latin typeface="DM Sans"/>
              </a:rPr>
              <a:t>Niet aanwezig</a:t>
            </a:r>
          </a:p>
        </p:txBody>
      </p:sp>
      <p:sp>
        <p:nvSpPr>
          <p:cNvPr id="56" name="Rounded Rectangle 55"/>
          <p:cNvSpPr/>
          <p:nvPr/>
        </p:nvSpPr>
        <p:spPr>
          <a:xfrm>
            <a:off x="8555534"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320584"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
        <p:nvSpPr>
          <p:cNvPr id="58" name="Rounded Rectangle 57"/>
          <p:cNvSpPr/>
          <p:nvPr/>
        </p:nvSpPr>
        <p:spPr>
          <a:xfrm>
            <a:off x="9639201" y="5156200"/>
            <a:ext cx="228600" cy="228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9268222" y="5448300"/>
            <a:ext cx="1021457" cy="215900"/>
          </a:xfrm>
          <a:prstGeom prst="rect">
            <a:avLst/>
          </a:prstGeom>
          <a:noFill/>
        </p:spPr>
        <p:txBody>
          <a:bodyPr wrap="none" lIns="0" tIns="0" rIns="0" bIns="0" anchor="t">
            <a:noAutofit/>
          </a:bodyPr>
          <a:lstStyle/>
          <a:p>
            <a:pPr algn="l"/>
            <a:r>
              <a:rPr sz="1300" b="0" i="0">
                <a:solidFill>
                  <a:srgbClr val="0A2540"/>
                </a:solidFill>
                <a:latin typeface="DM Sans"/>
              </a:rPr>
              <a:t>geïnstalleerd</a:t>
            </a:r>
          </a:p>
        </p:txBody>
      </p:sp>
      <p:sp>
        <p:nvSpPr>
          <p:cNvPr id="60" name="Rounded Rectangle 59"/>
          <p:cNvSpPr/>
          <p:nvPr/>
        </p:nvSpPr>
        <p:spPr>
          <a:xfrm>
            <a:off x="10722967" y="5156200"/>
            <a:ext cx="228600" cy="228600"/>
          </a:xfrm>
          <a:prstGeom prst="roundRect">
            <a:avLst>
              <a:gd name="adj" fmla="val 50000"/>
            </a:avLst>
          </a:prstGeom>
          <a:solidFill>
            <a:srgbClr val="F2F6F9"/>
          </a:solidFill>
          <a:ln w="254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0488116" y="5448300"/>
            <a:ext cx="749201" cy="215900"/>
          </a:xfrm>
          <a:prstGeom prst="rect">
            <a:avLst/>
          </a:prstGeom>
          <a:noFill/>
        </p:spPr>
        <p:txBody>
          <a:bodyPr wrap="none" lIns="0" tIns="0" rIns="0" bIns="0" anchor="t">
            <a:noAutofit/>
          </a:bodyPr>
          <a:lstStyle/>
          <a:p>
            <a:pPr algn="l"/>
            <a:r>
              <a:rPr sz="1300" b="0" i="0">
                <a:solidFill>
                  <a:srgbClr val="3A4F63"/>
                </a:solidFill>
                <a:latin typeface="DM Sans"/>
              </a:rPr>
              <a:t>aanwezig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1 Stand van zaken</a:t>
            </a:r>
          </a:p>
        </p:txBody>
      </p:sp>
      <p:pic>
        <p:nvPicPr>
          <p:cNvPr id="7" name="Picture 6" descr="8dccc3185da0f080a429109f0bc9358d.png"/>
          <p:cNvPicPr>
            <a:picLocks noChangeAspect="1"/>
          </p:cNvPicPr>
          <p:nvPr/>
        </p:nvPicPr>
        <p:blipFill>
          <a:blip r:embed="rId5"/>
          <a:stretch>
            <a:fillRect/>
          </a:stretch>
        </p:blipFill>
        <p:spPr>
          <a:xfrm>
            <a:off x="3683000" y="1663700"/>
            <a:ext cx="2133600" cy="1200150"/>
          </a:xfrm>
          <a:prstGeom prst="rect">
            <a:avLst/>
          </a:prstGeom>
        </p:spPr>
      </p:pic>
      <p:pic>
        <p:nvPicPr>
          <p:cNvPr id="8" name="Picture 7" descr="33ff6f98e238090dfea59b8da3d0895b.png"/>
          <p:cNvPicPr>
            <a:picLocks noChangeAspect="1"/>
          </p:cNvPicPr>
          <p:nvPr/>
        </p:nvPicPr>
        <p:blipFill>
          <a:blip r:embed="rId6"/>
          <a:stretch>
            <a:fillRect/>
          </a:stretch>
        </p:blipFill>
        <p:spPr>
          <a:xfrm>
            <a:off x="3594100" y="1752600"/>
            <a:ext cx="2311400" cy="1301750"/>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f6c315e3b6c8da4983f797f076543ae.png"/>
          <p:cNvPicPr>
            <a:picLocks noChangeAspect="1"/>
          </p:cNvPicPr>
          <p:nvPr/>
        </p:nvPicPr>
        <p:blipFill>
          <a:blip r:embed="rId7"/>
          <a:stretch>
            <a:fillRect/>
          </a:stretch>
        </p:blipFill>
        <p:spPr>
          <a:xfrm>
            <a:off x="3524250" y="1860550"/>
            <a:ext cx="2451100" cy="1378744"/>
          </a:xfrm>
          <a:prstGeom prst="rect">
            <a:avLst/>
          </a:prstGeom>
        </p:spPr>
      </p:pic>
      <p:sp>
        <p:nvSpPr>
          <p:cNvPr id="11" name="TextBox 10"/>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2 Ontwikkelingen sinds 1 april</a:t>
            </a:r>
          </a:p>
        </p:txBody>
      </p:sp>
      <p:pic>
        <p:nvPicPr>
          <p:cNvPr id="12" name="Picture 11" descr="78e1c08c648ea238ba766890b863e925.png"/>
          <p:cNvPicPr>
            <a:picLocks noChangeAspect="1"/>
          </p:cNvPicPr>
          <p:nvPr/>
        </p:nvPicPr>
        <p:blipFill>
          <a:blip r:embed="rId8"/>
          <a:stretch>
            <a:fillRect/>
          </a:stretch>
        </p:blipFill>
        <p:spPr>
          <a:xfrm>
            <a:off x="6375400" y="1663700"/>
            <a:ext cx="2133600" cy="1200150"/>
          </a:xfrm>
          <a:prstGeom prst="rect">
            <a:avLst/>
          </a:prstGeom>
        </p:spPr>
      </p:pic>
      <p:pic>
        <p:nvPicPr>
          <p:cNvPr id="13" name="Picture 12" descr="1936b300a323b1d5fafa4319ba1396a7.png"/>
          <p:cNvPicPr>
            <a:picLocks noChangeAspect="1"/>
          </p:cNvPicPr>
          <p:nvPr/>
        </p:nvPicPr>
        <p:blipFill>
          <a:blip r:embed="rId9"/>
          <a:stretch>
            <a:fillRect/>
          </a:stretch>
        </p:blipFill>
        <p:spPr>
          <a:xfrm>
            <a:off x="6286500" y="1752600"/>
            <a:ext cx="2311400" cy="1301750"/>
          </a:xfrm>
          <a:prstGeom prst="rect">
            <a:avLst/>
          </a:prstGeom>
        </p:spPr>
      </p:pic>
      <p:sp>
        <p:nvSpPr>
          <p:cNvPr id="14" name="Rounded Rectangle 13"/>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b3575449de919ba8ba77497cf770d56b.png"/>
          <p:cNvPicPr>
            <a:picLocks noChangeAspect="1"/>
          </p:cNvPicPr>
          <p:nvPr/>
        </p:nvPicPr>
        <p:blipFill>
          <a:blip r:embed="rId10"/>
          <a:stretch>
            <a:fillRect/>
          </a:stretch>
        </p:blipFill>
        <p:spPr>
          <a:xfrm>
            <a:off x="6203950" y="1847850"/>
            <a:ext cx="2476500" cy="1393031"/>
          </a:xfrm>
          <a:prstGeom prst="rect">
            <a:avLst/>
          </a:prstGeom>
        </p:spPr>
      </p:pic>
      <p:sp>
        <p:nvSpPr>
          <p:cNvPr id="16" name="TextBox 15"/>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3 Werkpakketten</a:t>
            </a:r>
          </a:p>
        </p:txBody>
      </p:sp>
      <p:sp>
        <p:nvSpPr>
          <p:cNvPr id="17" name="Rounded Rectangle 16"/>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76718c0faffa53b3e96d91bd5d17d843.png"/>
          <p:cNvPicPr>
            <a:picLocks noChangeAspect="1"/>
          </p:cNvPicPr>
          <p:nvPr/>
        </p:nvPicPr>
        <p:blipFill>
          <a:blip r:embed="rId11"/>
          <a:stretch>
            <a:fillRect/>
          </a:stretch>
        </p:blipFill>
        <p:spPr>
          <a:xfrm>
            <a:off x="8896350" y="1847850"/>
            <a:ext cx="2476500" cy="1393031"/>
          </a:xfrm>
          <a:prstGeom prst="rect">
            <a:avLst/>
          </a:prstGeom>
        </p:spPr>
      </p:pic>
      <p:sp>
        <p:nvSpPr>
          <p:cNvPr id="19" name="TextBox 18"/>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4 Aandachtspunten</a:t>
            </a:r>
          </a:p>
        </p:txBody>
      </p:sp>
      <p:pic>
        <p:nvPicPr>
          <p:cNvPr id="20" name="Picture 19" descr="0a62dff855207c43a1c6690d0e4c697a.png"/>
          <p:cNvPicPr>
            <a:picLocks noChangeAspect="1"/>
          </p:cNvPicPr>
          <p:nvPr/>
        </p:nvPicPr>
        <p:blipFill>
          <a:blip r:embed="rId12"/>
          <a:stretch>
            <a:fillRect/>
          </a:stretch>
        </p:blipFill>
        <p:spPr>
          <a:xfrm>
            <a:off x="2336800" y="3937000"/>
            <a:ext cx="2133600" cy="1200150"/>
          </a:xfrm>
          <a:prstGeom prst="rect">
            <a:avLst/>
          </a:prstGeom>
        </p:spPr>
      </p:pic>
      <p:pic>
        <p:nvPicPr>
          <p:cNvPr id="21" name="Picture 20" descr="993f9ef2261edfc6639be1e2fe47b272.png"/>
          <p:cNvPicPr>
            <a:picLocks noChangeAspect="1"/>
          </p:cNvPicPr>
          <p:nvPr/>
        </p:nvPicPr>
        <p:blipFill>
          <a:blip r:embed="rId13"/>
          <a:stretch>
            <a:fillRect/>
          </a:stretch>
        </p:blipFill>
        <p:spPr>
          <a:xfrm>
            <a:off x="2247900" y="4025900"/>
            <a:ext cx="2311400" cy="1301750"/>
          </a:xfrm>
          <a:prstGeom prst="rect">
            <a:avLst/>
          </a:prstGeom>
        </p:spPr>
      </p:pic>
      <p:sp>
        <p:nvSpPr>
          <p:cNvPr id="22" name="Rounded Rectangle 21"/>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828e07bbef239086018a2f6a17a466c.png"/>
          <p:cNvPicPr>
            <a:picLocks noChangeAspect="1"/>
          </p:cNvPicPr>
          <p:nvPr/>
        </p:nvPicPr>
        <p:blipFill>
          <a:blip r:embed="rId14"/>
          <a:stretch>
            <a:fillRect/>
          </a:stretch>
        </p:blipFill>
        <p:spPr>
          <a:xfrm>
            <a:off x="2165350" y="4121150"/>
            <a:ext cx="2476500" cy="1393031"/>
          </a:xfrm>
          <a:prstGeom prst="rect">
            <a:avLst/>
          </a:prstGeom>
        </p:spPr>
      </p:pic>
      <p:sp>
        <p:nvSpPr>
          <p:cNvPr id="24" name="TextBox 23"/>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5" name="Picture 24" descr="dad1d5849a0f54ecab7e2a87be32dc30.png"/>
          <p:cNvPicPr>
            <a:picLocks noChangeAspect="1"/>
          </p:cNvPicPr>
          <p:nvPr/>
        </p:nvPicPr>
        <p:blipFill>
          <a:blip r:embed="rId15"/>
          <a:stretch>
            <a:fillRect/>
          </a:stretch>
        </p:blipFill>
        <p:spPr>
          <a:xfrm>
            <a:off x="4940300" y="4025900"/>
            <a:ext cx="2311400" cy="1301750"/>
          </a:xfrm>
          <a:prstGeom prst="rect">
            <a:avLst/>
          </a:prstGeom>
        </p:spPr>
      </p:pic>
      <p:sp>
        <p:nvSpPr>
          <p:cNvPr id="26" name="Rounded Rectangle 25"/>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a218f23a9d1aeae7790db2aa9d8f48a7.png"/>
          <p:cNvPicPr>
            <a:picLocks noChangeAspect="1"/>
          </p:cNvPicPr>
          <p:nvPr/>
        </p:nvPicPr>
        <p:blipFill>
          <a:blip r:embed="rId16"/>
          <a:stretch>
            <a:fillRect/>
          </a:stretch>
        </p:blipFill>
        <p:spPr>
          <a:xfrm>
            <a:off x="4857750" y="4121150"/>
            <a:ext cx="2476500" cy="1393031"/>
          </a:xfrm>
          <a:prstGeom prst="rect">
            <a:avLst/>
          </a:prstGeom>
        </p:spPr>
      </p:pic>
      <p:sp>
        <p:nvSpPr>
          <p:cNvPr id="28" name="TextBox 27"/>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9" name="Picture 28" descr="e49a2c4874452277a94494e99280aaa0.png"/>
          <p:cNvPicPr>
            <a:picLocks noChangeAspect="1"/>
          </p:cNvPicPr>
          <p:nvPr/>
        </p:nvPicPr>
        <p:blipFill>
          <a:blip r:embed="rId17"/>
          <a:stretch>
            <a:fillRect/>
          </a:stretch>
        </p:blipFill>
        <p:spPr>
          <a:xfrm>
            <a:off x="7632700" y="4025900"/>
            <a:ext cx="2311400" cy="1301750"/>
          </a:xfrm>
          <a:prstGeom prst="rect">
            <a:avLst/>
          </a:prstGeom>
        </p:spPr>
      </p:pic>
      <p:sp>
        <p:nvSpPr>
          <p:cNvPr id="30" name="Rounded Rectangle 29"/>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0b3315c9a761b9fd4dfcb184751fa8ea.png"/>
          <p:cNvPicPr>
            <a:picLocks noChangeAspect="1"/>
          </p:cNvPicPr>
          <p:nvPr/>
        </p:nvPicPr>
        <p:blipFill>
          <a:blip r:embed="rId18"/>
          <a:stretch>
            <a:fillRect/>
          </a:stretch>
        </p:blipFill>
        <p:spPr>
          <a:xfrm>
            <a:off x="7550150" y="4121150"/>
            <a:ext cx="2476500" cy="1393031"/>
          </a:xfrm>
          <a:prstGeom prst="rect">
            <a:avLst/>
          </a:prstGeom>
        </p:spPr>
      </p:pic>
      <p:sp>
        <p:nvSpPr>
          <p:cNvPr id="32" name="TextBox 31"/>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3" name="TextBox 3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4" name="Picture 33" descr="ec5c93e6f83f209b4e97ddfdecd480c8.png"/>
          <p:cNvPicPr>
            <a:picLocks noChangeAspect="1"/>
          </p:cNvPicPr>
          <p:nvPr/>
        </p:nvPicPr>
        <p:blipFill>
          <a:blip r:embed="rId19"/>
          <a:stretch>
            <a:fillRect/>
          </a:stretch>
        </p:blipFill>
        <p:spPr>
          <a:xfrm>
            <a:off x="812967" y="6261100"/>
            <a:ext cx="171116" cy="203200"/>
          </a:xfrm>
          <a:prstGeom prst="rect">
            <a:avLst/>
          </a:prstGeom>
        </p:spPr>
      </p:pic>
      <p:sp>
        <p:nvSpPr>
          <p:cNvPr id="35" name="TextBox 34"/>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2</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sz="1300" b="1" i="0">
                <a:solidFill>
                  <a:srgbClr val="52BDEC"/>
                </a:solidFill>
                <a:latin typeface="DM Sans"/>
              </a:rPr>
              <a:t>Deel 2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Ontwikkelingen sinds 1 april 2026</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sz="2200" b="0" i="1">
                <a:solidFill>
                  <a:srgbClr val="52BDEC"/>
                </a:solidFill>
                <a:latin typeface="DM Serif Display"/>
              </a:rPr>
              <a:t>Wat ligt sinds april vast?</a:t>
            </a:r>
          </a:p>
        </p:txBody>
      </p:sp>
      <p:sp>
        <p:nvSpPr>
          <p:cNvPr id="7" name="Rectangle 6"/>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wat intussen vastligt</a:t>
            </a:r>
          </a:p>
        </p:txBody>
      </p:sp>
      <p:sp>
        <p:nvSpPr>
          <p:cNvPr id="9" name="Rectangle 8"/>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twee normen sturen de zorg</a:t>
            </a:r>
          </a:p>
        </p:txBody>
      </p:sp>
      <p:sp>
        <p:nvSpPr>
          <p:cNvPr id="11" name="Rectangle 10"/>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de CMFO, laag per laag, en wat ze doet</a:t>
            </a:r>
          </a:p>
        </p:txBody>
      </p:sp>
      <p:sp>
        <p:nvSpPr>
          <p:cNvPr id="13" name="Rectangle 12"/>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een draagnorm op maat, en waarom 80%</a:t>
            </a:r>
          </a:p>
        </p:txBody>
      </p:sp>
      <p:pic>
        <p:nvPicPr>
          <p:cNvPr id="15" name="Picture 1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6" name="TextBox 15"/>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6F8FAA"/>
                </a:solidFill>
                <a:latin typeface="DM Sans"/>
              </a:rPr>
              <a:t>PARADISE · Ontwikkelingen sinds 1 april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7956550" y="1543050"/>
            <a:ext cx="3422650" cy="12890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intussen vastligt</a:t>
            </a:r>
          </a:p>
        </p:txBody>
      </p:sp>
      <p:sp>
        <p:nvSpPr>
          <p:cNvPr id="4" name="Rectangle 3"/>
          <p:cNvSpPr/>
          <p:nvPr/>
        </p:nvSpPr>
        <p:spPr>
          <a:xfrm>
            <a:off x="812800" y="1544241"/>
            <a:ext cx="3420467"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683941"/>
            <a:ext cx="3471267" cy="198120"/>
          </a:xfrm>
          <a:prstGeom prst="rect">
            <a:avLst/>
          </a:prstGeom>
          <a:noFill/>
        </p:spPr>
        <p:txBody>
          <a:bodyPr wrap="none" lIns="0" tIns="0" rIns="0" bIns="0" anchor="t">
            <a:noAutofit/>
          </a:bodyPr>
          <a:lstStyle/>
          <a:p>
            <a:pPr algn="l"/>
            <a:r>
              <a:rPr sz="1200" b="1" i="0">
                <a:solidFill>
                  <a:srgbClr val="0B6E8F"/>
                </a:solidFill>
                <a:latin typeface="DM Sans"/>
              </a:rPr>
              <a:t>Drukmeting</a:t>
            </a:r>
          </a:p>
        </p:txBody>
      </p:sp>
      <p:pic>
        <p:nvPicPr>
          <p:cNvPr id="6" name="Picture 5" descr="7006ea103c3e8fa9006c500fec1a0272.png"/>
          <p:cNvPicPr>
            <a:picLocks noChangeAspect="1"/>
          </p:cNvPicPr>
          <p:nvPr/>
        </p:nvPicPr>
        <p:blipFill>
          <a:blip r:embed="rId3"/>
          <a:stretch>
            <a:fillRect/>
          </a:stretch>
        </p:blipFill>
        <p:spPr>
          <a:xfrm>
            <a:off x="812800" y="1956991"/>
            <a:ext cx="419100" cy="304800"/>
          </a:xfrm>
          <a:prstGeom prst="rect">
            <a:avLst/>
          </a:prstGeom>
        </p:spPr>
      </p:pic>
      <p:sp>
        <p:nvSpPr>
          <p:cNvPr id="7" name="TextBox 6"/>
          <p:cNvSpPr txBox="1"/>
          <p:nvPr/>
        </p:nvSpPr>
        <p:spPr>
          <a:xfrm>
            <a:off x="1333500" y="1963341"/>
            <a:ext cx="2830413"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Novel pedar in de kliniek</a:t>
            </a:r>
          </a:p>
        </p:txBody>
      </p:sp>
      <p:sp>
        <p:nvSpPr>
          <p:cNvPr id="8" name="TextBox 7"/>
          <p:cNvSpPr txBox="1"/>
          <p:nvPr/>
        </p:nvSpPr>
        <p:spPr>
          <a:xfrm>
            <a:off x="812800" y="2337991"/>
            <a:ext cx="3488877" cy="429220"/>
          </a:xfrm>
          <a:prstGeom prst="rect">
            <a:avLst/>
          </a:prstGeom>
          <a:noFill/>
        </p:spPr>
        <p:txBody>
          <a:bodyPr wrap="square" lIns="0" tIns="0" rIns="0" bIns="0" anchor="t">
            <a:noAutofit/>
          </a:bodyPr>
          <a:lstStyle/>
          <a:p>
            <a:pPr algn="l">
              <a:lnSpc>
                <a:spcPts val="1689"/>
              </a:lnSpc>
            </a:pPr>
            <a:r>
              <a:rPr sz="1300" b="0" i="0">
                <a:solidFill>
                  <a:srgbClr val="5A6E80"/>
                </a:solidFill>
                <a:latin typeface="DM Sans"/>
              </a:rPr>
              <a:t>altijd in de schoen; de F-Scan GO alleen bij het studieteam (deelstudie)</a:t>
            </a:r>
          </a:p>
        </p:txBody>
      </p:sp>
      <p:sp>
        <p:nvSpPr>
          <p:cNvPr id="9" name="Rectangle 8"/>
          <p:cNvSpPr/>
          <p:nvPr/>
        </p:nvSpPr>
        <p:spPr>
          <a:xfrm>
            <a:off x="4385667" y="154424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5667" y="1683941"/>
            <a:ext cx="3471366" cy="198120"/>
          </a:xfrm>
          <a:prstGeom prst="rect">
            <a:avLst/>
          </a:prstGeom>
          <a:noFill/>
        </p:spPr>
        <p:txBody>
          <a:bodyPr wrap="none" lIns="0" tIns="0" rIns="0" bIns="0" anchor="t">
            <a:noAutofit/>
          </a:bodyPr>
          <a:lstStyle/>
          <a:p>
            <a:pPr algn="l"/>
            <a:r>
              <a:rPr sz="1200" b="1" i="0">
                <a:solidFill>
                  <a:srgbClr val="0B6E8F"/>
                </a:solidFill>
                <a:latin typeface="DM Sans"/>
              </a:rPr>
              <a:t>Eindpunt</a:t>
            </a:r>
          </a:p>
        </p:txBody>
      </p:sp>
      <p:sp>
        <p:nvSpPr>
          <p:cNvPr id="11" name="TextBox 10"/>
          <p:cNvSpPr txBox="1"/>
          <p:nvPr/>
        </p:nvSpPr>
        <p:spPr>
          <a:xfrm>
            <a:off x="4385667" y="1956991"/>
            <a:ext cx="3488978" cy="584200"/>
          </a:xfrm>
          <a:prstGeom prst="rect">
            <a:avLst/>
          </a:prstGeom>
          <a:noFill/>
        </p:spPr>
        <p:txBody>
          <a:bodyPr wrap="square" lIns="0" tIns="0" rIns="0" bIns="0" anchor="t">
            <a:noAutofit/>
          </a:bodyPr>
          <a:lstStyle/>
          <a:p>
            <a:pPr algn="l">
              <a:lnSpc>
                <a:spcPts val="2300"/>
              </a:lnSpc>
            </a:pPr>
            <a:r>
              <a:rPr sz="2000" b="0" i="0">
                <a:solidFill>
                  <a:srgbClr val="0A2540"/>
                </a:solidFill>
                <a:latin typeface="DM Serif Display"/>
              </a:rPr>
              <a:t>Eén primair: recidief over 18 maanden</a:t>
            </a:r>
          </a:p>
        </p:txBody>
      </p:sp>
      <p:sp>
        <p:nvSpPr>
          <p:cNvPr id="12" name="TextBox 11"/>
          <p:cNvSpPr txBox="1"/>
          <p:nvPr/>
        </p:nvSpPr>
        <p:spPr>
          <a:xfrm>
            <a:off x="4385667" y="261739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therapietrouw is de mediator</a:t>
            </a:r>
          </a:p>
        </p:txBody>
      </p:sp>
      <p:sp>
        <p:nvSpPr>
          <p:cNvPr id="13" name="Rectangle 12"/>
          <p:cNvSpPr/>
          <p:nvPr/>
        </p:nvSpPr>
        <p:spPr>
          <a:xfrm>
            <a:off x="7958634" y="1544241"/>
            <a:ext cx="3420566" cy="190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8634" y="1690291"/>
            <a:ext cx="3471366" cy="198120"/>
          </a:xfrm>
          <a:prstGeom prst="rect">
            <a:avLst/>
          </a:prstGeom>
          <a:noFill/>
        </p:spPr>
        <p:txBody>
          <a:bodyPr wrap="none" lIns="0" tIns="0" rIns="0" bIns="0" anchor="t">
            <a:noAutofit/>
          </a:bodyPr>
          <a:lstStyle/>
          <a:p>
            <a:pPr algn="l"/>
            <a:r>
              <a:rPr sz="1200" b="1" i="0">
                <a:solidFill>
                  <a:srgbClr val="A34A00"/>
                </a:solidFill>
                <a:latin typeface="DM Sans"/>
              </a:rPr>
              <a:t>Twee normen</a:t>
            </a:r>
          </a:p>
        </p:txBody>
      </p:sp>
      <p:sp>
        <p:nvSpPr>
          <p:cNvPr id="15" name="TextBox 14"/>
          <p:cNvSpPr txBox="1"/>
          <p:nvPr/>
        </p:nvSpPr>
        <p:spPr>
          <a:xfrm>
            <a:off x="7958634" y="196334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Druk en dragen sturen de zorg</a:t>
            </a:r>
          </a:p>
        </p:txBody>
      </p:sp>
      <p:sp>
        <p:nvSpPr>
          <p:cNvPr id="16" name="TextBox 15"/>
          <p:cNvSpPr txBox="1"/>
          <p:nvPr/>
        </p:nvSpPr>
        <p:spPr>
          <a:xfrm>
            <a:off x="7958634" y="233164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alleen in Optimal Care</a:t>
            </a:r>
          </a:p>
        </p:txBody>
      </p:sp>
      <p:sp>
        <p:nvSpPr>
          <p:cNvPr id="17" name="Rectangle 16"/>
          <p:cNvSpPr/>
          <p:nvPr/>
        </p:nvSpPr>
        <p:spPr>
          <a:xfrm>
            <a:off x="812800" y="2984401"/>
            <a:ext cx="3420467"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2800" y="3124101"/>
            <a:ext cx="3471267" cy="198120"/>
          </a:xfrm>
          <a:prstGeom prst="rect">
            <a:avLst/>
          </a:prstGeom>
          <a:noFill/>
        </p:spPr>
        <p:txBody>
          <a:bodyPr wrap="none" lIns="0" tIns="0" rIns="0" bIns="0" anchor="t">
            <a:noAutofit/>
          </a:bodyPr>
          <a:lstStyle/>
          <a:p>
            <a:pPr algn="l"/>
            <a:r>
              <a:rPr sz="1200" b="1" i="0">
                <a:solidFill>
                  <a:srgbClr val="0B6E8F"/>
                </a:solidFill>
                <a:latin typeface="DM Sans"/>
              </a:rPr>
              <a:t>CMFO</a:t>
            </a:r>
          </a:p>
        </p:txBody>
      </p:sp>
      <p:sp>
        <p:nvSpPr>
          <p:cNvPr id="19" name="TextBox 18"/>
          <p:cNvSpPr txBox="1"/>
          <p:nvPr/>
        </p:nvSpPr>
        <p:spPr>
          <a:xfrm>
            <a:off x="812800" y="3397151"/>
            <a:ext cx="3471267"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Opbouw per schoentype</a:t>
            </a:r>
          </a:p>
        </p:txBody>
      </p:sp>
      <p:sp>
        <p:nvSpPr>
          <p:cNvPr id="20" name="TextBox 19"/>
          <p:cNvSpPr txBox="1"/>
          <p:nvPr/>
        </p:nvSpPr>
        <p:spPr>
          <a:xfrm>
            <a:off x="812800" y="3765451"/>
            <a:ext cx="3471267"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plus een identiek tweede paar</a:t>
            </a:r>
          </a:p>
        </p:txBody>
      </p:sp>
      <p:sp>
        <p:nvSpPr>
          <p:cNvPr id="21" name="Rectangle 20"/>
          <p:cNvSpPr/>
          <p:nvPr/>
        </p:nvSpPr>
        <p:spPr>
          <a:xfrm>
            <a:off x="4385667" y="298440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5667" y="3124101"/>
            <a:ext cx="3471366" cy="198120"/>
          </a:xfrm>
          <a:prstGeom prst="rect">
            <a:avLst/>
          </a:prstGeom>
          <a:noFill/>
        </p:spPr>
        <p:txBody>
          <a:bodyPr wrap="none" lIns="0" tIns="0" rIns="0" bIns="0" anchor="t">
            <a:noAutofit/>
          </a:bodyPr>
          <a:lstStyle/>
          <a:p>
            <a:pPr algn="l"/>
            <a:r>
              <a:rPr sz="1200" b="1" i="0">
                <a:solidFill>
                  <a:srgbClr val="0B6E8F"/>
                </a:solidFill>
                <a:latin typeface="DM Sans"/>
              </a:rPr>
              <a:t>Data</a:t>
            </a:r>
          </a:p>
        </p:txBody>
      </p:sp>
      <p:sp>
        <p:nvSpPr>
          <p:cNvPr id="23" name="TextBox 22"/>
          <p:cNvSpPr txBox="1"/>
          <p:nvPr/>
        </p:nvSpPr>
        <p:spPr>
          <a:xfrm>
            <a:off x="4385667" y="339715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REDCap klaar</a:t>
            </a:r>
          </a:p>
        </p:txBody>
      </p:sp>
      <p:sp>
        <p:nvSpPr>
          <p:cNvPr id="24" name="TextBox 23"/>
          <p:cNvSpPr txBox="1"/>
          <p:nvPr/>
        </p:nvSpPr>
        <p:spPr>
          <a:xfrm>
            <a:off x="4385667" y="376545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u werkt op papier, wij zetten over</a:t>
            </a:r>
          </a:p>
        </p:txBody>
      </p:sp>
      <p:sp>
        <p:nvSpPr>
          <p:cNvPr id="25" name="Rectangle 24"/>
          <p:cNvSpPr/>
          <p:nvPr/>
        </p:nvSpPr>
        <p:spPr>
          <a:xfrm>
            <a:off x="7958634" y="2984401"/>
            <a:ext cx="3420566"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58634" y="3124101"/>
            <a:ext cx="3471366" cy="198120"/>
          </a:xfrm>
          <a:prstGeom prst="rect">
            <a:avLst/>
          </a:prstGeom>
          <a:noFill/>
        </p:spPr>
        <p:txBody>
          <a:bodyPr wrap="none" lIns="0" tIns="0" rIns="0" bIns="0" anchor="t">
            <a:noAutofit/>
          </a:bodyPr>
          <a:lstStyle/>
          <a:p>
            <a:pPr algn="l"/>
            <a:r>
              <a:rPr sz="1200" b="1" i="0">
                <a:solidFill>
                  <a:srgbClr val="0B6E8F"/>
                </a:solidFill>
                <a:latin typeface="DM Sans"/>
              </a:rPr>
              <a:t>Rekrutering</a:t>
            </a:r>
          </a:p>
        </p:txBody>
      </p:sp>
      <p:sp>
        <p:nvSpPr>
          <p:cNvPr id="27" name="TextBox 26"/>
          <p:cNvSpPr txBox="1"/>
          <p:nvPr/>
        </p:nvSpPr>
        <p:spPr>
          <a:xfrm>
            <a:off x="7958634" y="3397151"/>
            <a:ext cx="3471366" cy="292100"/>
          </a:xfrm>
          <a:prstGeom prst="rect">
            <a:avLst/>
          </a:prstGeom>
          <a:noFill/>
        </p:spPr>
        <p:txBody>
          <a:bodyPr wrap="none" lIns="0" tIns="0" rIns="0" bIns="0" anchor="t">
            <a:noAutofit/>
          </a:bodyPr>
          <a:lstStyle/>
          <a:p>
            <a:pPr algn="l">
              <a:lnSpc>
                <a:spcPts val="2300"/>
              </a:lnSpc>
            </a:pPr>
            <a:r>
              <a:rPr sz="2000" b="0" i="0">
                <a:solidFill>
                  <a:srgbClr val="0A2540"/>
                </a:solidFill>
                <a:latin typeface="DM Serif Display"/>
              </a:rPr>
              <a:t>12 maanden</a:t>
            </a:r>
          </a:p>
        </p:txBody>
      </p:sp>
      <p:sp>
        <p:nvSpPr>
          <p:cNvPr id="28" name="TextBox 27"/>
          <p:cNvSpPr txBox="1"/>
          <p:nvPr/>
        </p:nvSpPr>
        <p:spPr>
          <a:xfrm>
            <a:off x="7958634" y="3765451"/>
            <a:ext cx="3471366"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februari 2027 tot februari 2028</a:t>
            </a:r>
          </a:p>
        </p:txBody>
      </p:sp>
      <p:pic>
        <p:nvPicPr>
          <p:cNvPr id="29" name="Picture 28"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30" name="TextBox 2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1" name="TextBox 3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 beslissingen PI aug–sep 2026 · meeting 1 april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§5.4 · Bus e.a. 2011, 2013 · beslissingen 6 en 8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7" name="Rectangle 6"/>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10" name="TextBox 9"/>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1" name="Rounded Rectangle 10"/>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3" name="TextBox 12"/>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4" name="Rounded Rectangle 13"/>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7006ea103c3e8fa9006c500fec1a0272.png"/>
          <p:cNvPicPr>
            <a:picLocks noChangeAspect="1"/>
          </p:cNvPicPr>
          <p:nvPr/>
        </p:nvPicPr>
        <p:blipFill>
          <a:blip r:embed="rId4"/>
          <a:stretch>
            <a:fillRect/>
          </a:stretch>
        </p:blipFill>
        <p:spPr>
          <a:xfrm>
            <a:off x="946150" y="2774950"/>
            <a:ext cx="317500" cy="228600"/>
          </a:xfrm>
          <a:prstGeom prst="rect">
            <a:avLst/>
          </a:prstGeom>
        </p:spPr>
      </p:pic>
      <p:sp>
        <p:nvSpPr>
          <p:cNvPr id="16" name="TextBox 15"/>
          <p:cNvSpPr txBox="1"/>
          <p:nvPr/>
        </p:nvSpPr>
        <p:spPr>
          <a:xfrm>
            <a:off x="1339850" y="2790825"/>
            <a:ext cx="945555" cy="198120"/>
          </a:xfrm>
          <a:prstGeom prst="rect">
            <a:avLst/>
          </a:prstGeom>
          <a:noFill/>
        </p:spPr>
        <p:txBody>
          <a:bodyPr wrap="none" lIns="0" tIns="0" rIns="0" bIns="0" anchor="t">
            <a:noAutofit/>
          </a:bodyPr>
          <a:lstStyle/>
          <a:p>
            <a:pPr algn="l"/>
            <a:r>
              <a:rPr sz="1200" b="1" i="0">
                <a:solidFill>
                  <a:srgbClr val="0B6E8F"/>
                </a:solidFill>
                <a:latin typeface="DM Sans"/>
              </a:rPr>
              <a:t>Novel pedar</a:t>
            </a:r>
          </a:p>
        </p:txBody>
      </p:sp>
      <p:sp>
        <p:nvSpPr>
          <p:cNvPr id="17" name="TextBox 16"/>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elke sessie zonder én mét de CMFO: V2, maand 6, 12, 18</a:t>
            </a:r>
          </a:p>
        </p:txBody>
      </p:sp>
      <p:cxnSp>
        <p:nvCxnSpPr>
          <p:cNvPr id="18" name="Connector 17"/>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Druknorm</a:t>
            </a:r>
          </a:p>
        </p:txBody>
      </p:sp>
      <p:sp>
        <p:nvSpPr>
          <p:cNvPr id="21" name="TextBox 20"/>
          <p:cNvSpPr txBox="1"/>
          <p:nvPr/>
        </p:nvSpPr>
        <p:spPr>
          <a:xfrm>
            <a:off x="3648075" y="3016250"/>
            <a:ext cx="2251075" cy="64383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&lt; 200 kPa óf ≥ 25% lager dan zonder, in dezelfde sessie</a:t>
            </a:r>
          </a:p>
        </p:txBody>
      </p:sp>
      <p:cxnSp>
        <p:nvCxnSpPr>
          <p:cNvPr id="22" name="Connector 21"/>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50000"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Aanpassen</a:t>
            </a:r>
          </a:p>
        </p:txBody>
      </p:sp>
      <p:sp>
        <p:nvSpPr>
          <p:cNvPr id="25" name="TextBox 24"/>
          <p:cNvSpPr txBox="1"/>
          <p:nvPr/>
        </p:nvSpPr>
        <p:spPr>
          <a:xfrm>
            <a:off x="6350000"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niet gehaald: aanpassen en opnieuw mét, tot 3 keer</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Daarna</a:t>
            </a:r>
          </a:p>
        </p:txBody>
      </p:sp>
      <p:sp>
        <p:nvSpPr>
          <p:cNvPr id="29" name="TextBox 28"/>
          <p:cNvSpPr txBox="1"/>
          <p:nvPr/>
        </p:nvSpPr>
        <p:spPr>
          <a:xfrm>
            <a:off x="9045575" y="3009900"/>
            <a:ext cx="2251075"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een identiek tweede paar</a:t>
            </a:r>
          </a:p>
        </p:txBody>
      </p:sp>
      <p:sp>
        <p:nvSpPr>
          <p:cNvPr id="30" name="TextBox 29"/>
          <p:cNvSpPr txBox="1"/>
          <p:nvPr/>
        </p:nvSpPr>
        <p:spPr>
          <a:xfrm>
            <a:off x="812800" y="3962400"/>
            <a:ext cx="10617200" cy="240030"/>
          </a:xfrm>
          <a:prstGeom prst="rect">
            <a:avLst/>
          </a:prstGeom>
          <a:noFill/>
        </p:spPr>
        <p:txBody>
          <a:bodyPr wrap="none" lIns="0" tIns="0" rIns="0" bIns="0" anchor="t">
            <a:noAutofit/>
          </a:bodyPr>
          <a:lstStyle/>
          <a:p>
            <a:pPr algn="l">
              <a:lnSpc>
                <a:spcPts val="1889"/>
              </a:lnSpc>
            </a:pPr>
            <a:r>
              <a:rPr sz="1400" b="1" i="0">
                <a:solidFill>
                  <a:srgbClr val="3A4F63"/>
                </a:solidFill>
                <a:latin typeface="DM Sans"/>
              </a:rPr>
              <a:t>Doelregio's</a:t>
            </a:r>
            <a:r>
              <a:rPr sz="1400" b="0" i="0">
                <a:solidFill>
                  <a:srgbClr val="3A4F63"/>
                </a:solidFill>
                <a:latin typeface="DM Sans"/>
              </a:rPr>
              <a:t>: de vorige ulcuslocatie, plus per voet de twee voor- of middenvoetregio's met de hoogste piekdruk boven 200 kPa</a:t>
            </a:r>
          </a:p>
        </p:txBody>
      </p:sp>
      <p:sp>
        <p:nvSpPr>
          <p:cNvPr id="31" name="Rectangle 30"/>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34" name="TextBox 33"/>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drukmeting alleen bij de start en op maand 6, geblindeerd: niet getoond, niet besproken, de zool wordt er niet op aangepast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1771650"/>
            <a:ext cx="10566400" cy="4127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5" name="TextBox 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beslissingen 6 en 8 oktober 2026</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7" name="Rectangle 6"/>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10" name="TextBox 9"/>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1" name="Rounded Rectangle 10"/>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3" name="TextBox 12"/>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4" name="Rounded Rectangle 13"/>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7006ea103c3e8fa9006c500fec1a0272.png"/>
          <p:cNvPicPr>
            <a:picLocks noChangeAspect="1"/>
          </p:cNvPicPr>
          <p:nvPr/>
        </p:nvPicPr>
        <p:blipFill>
          <a:blip r:embed="rId4"/>
          <a:stretch>
            <a:fillRect/>
          </a:stretch>
        </p:blipFill>
        <p:spPr>
          <a:xfrm>
            <a:off x="946150" y="2774950"/>
            <a:ext cx="317500" cy="228600"/>
          </a:xfrm>
          <a:prstGeom prst="rect">
            <a:avLst/>
          </a:prstGeom>
        </p:spPr>
      </p:pic>
      <p:sp>
        <p:nvSpPr>
          <p:cNvPr id="16" name="TextBox 15"/>
          <p:cNvSpPr txBox="1"/>
          <p:nvPr/>
        </p:nvSpPr>
        <p:spPr>
          <a:xfrm>
            <a:off x="1339850" y="2790825"/>
            <a:ext cx="945555" cy="198120"/>
          </a:xfrm>
          <a:prstGeom prst="rect">
            <a:avLst/>
          </a:prstGeom>
          <a:noFill/>
        </p:spPr>
        <p:txBody>
          <a:bodyPr wrap="none" lIns="0" tIns="0" rIns="0" bIns="0" anchor="t">
            <a:noAutofit/>
          </a:bodyPr>
          <a:lstStyle/>
          <a:p>
            <a:pPr algn="l"/>
            <a:r>
              <a:rPr sz="1200" b="1" i="0">
                <a:solidFill>
                  <a:srgbClr val="0B6E8F"/>
                </a:solidFill>
                <a:latin typeface="DM Sans"/>
              </a:rPr>
              <a:t>Novel pedar</a:t>
            </a:r>
          </a:p>
        </p:txBody>
      </p:sp>
      <p:sp>
        <p:nvSpPr>
          <p:cNvPr id="17" name="TextBox 16"/>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elke sessie zonder én mét de CMFO: V2, maand 6, 12, 18</a:t>
            </a:r>
          </a:p>
        </p:txBody>
      </p:sp>
      <p:cxnSp>
        <p:nvCxnSpPr>
          <p:cNvPr id="18" name="Connector 17"/>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Druknorm</a:t>
            </a:r>
          </a:p>
        </p:txBody>
      </p:sp>
      <p:sp>
        <p:nvSpPr>
          <p:cNvPr id="21" name="TextBox 20"/>
          <p:cNvSpPr txBox="1"/>
          <p:nvPr/>
        </p:nvSpPr>
        <p:spPr>
          <a:xfrm>
            <a:off x="3648075" y="3016250"/>
            <a:ext cx="2251075" cy="64383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&lt; 200 kPa óf ≥ 25% lager dan zonder, in dezelfde sessie</a:t>
            </a:r>
          </a:p>
        </p:txBody>
      </p:sp>
      <p:cxnSp>
        <p:nvCxnSpPr>
          <p:cNvPr id="22" name="Connector 21"/>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50000"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Aanpassen</a:t>
            </a:r>
          </a:p>
        </p:txBody>
      </p:sp>
      <p:sp>
        <p:nvSpPr>
          <p:cNvPr id="25" name="TextBox 24"/>
          <p:cNvSpPr txBox="1"/>
          <p:nvPr/>
        </p:nvSpPr>
        <p:spPr>
          <a:xfrm>
            <a:off x="6350000"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niet gehaald: aanpassen en opnieuw mét, tot 3 keer</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Daarna</a:t>
            </a:r>
          </a:p>
        </p:txBody>
      </p:sp>
      <p:sp>
        <p:nvSpPr>
          <p:cNvPr id="29" name="TextBox 28"/>
          <p:cNvSpPr txBox="1"/>
          <p:nvPr/>
        </p:nvSpPr>
        <p:spPr>
          <a:xfrm>
            <a:off x="9045575" y="3009900"/>
            <a:ext cx="2251075"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een identiek tweede paar</a:t>
            </a:r>
          </a:p>
        </p:txBody>
      </p:sp>
      <p:sp>
        <p:nvSpPr>
          <p:cNvPr id="30" name="Rounded Rectangle 29"/>
          <p:cNvSpPr/>
          <p:nvPr/>
        </p:nvSpPr>
        <p:spPr>
          <a:xfrm>
            <a:off x="812800"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c3433b372cfc1d99d6ab11119954a595.png"/>
          <p:cNvPicPr>
            <a:picLocks noChangeAspect="1"/>
          </p:cNvPicPr>
          <p:nvPr/>
        </p:nvPicPr>
        <p:blipFill>
          <a:blip r:embed="rId5"/>
          <a:stretch>
            <a:fillRect/>
          </a:stretch>
        </p:blipFill>
        <p:spPr>
          <a:xfrm>
            <a:off x="946150" y="4032250"/>
            <a:ext cx="317500" cy="228600"/>
          </a:xfrm>
          <a:prstGeom prst="rect">
            <a:avLst/>
          </a:prstGeom>
        </p:spPr>
      </p:pic>
      <p:sp>
        <p:nvSpPr>
          <p:cNvPr id="32" name="TextBox 31"/>
          <p:cNvSpPr txBox="1"/>
          <p:nvPr/>
        </p:nvSpPr>
        <p:spPr>
          <a:xfrm>
            <a:off x="1339850" y="4048125"/>
            <a:ext cx="1032867" cy="198120"/>
          </a:xfrm>
          <a:prstGeom prst="rect">
            <a:avLst/>
          </a:prstGeom>
          <a:noFill/>
        </p:spPr>
        <p:txBody>
          <a:bodyPr wrap="none" lIns="0" tIns="0" rIns="0" bIns="0" anchor="t">
            <a:noAutofit/>
          </a:bodyPr>
          <a:lstStyle/>
          <a:p>
            <a:pPr algn="l"/>
            <a:r>
              <a:rPr sz="1200" b="1" i="0">
                <a:solidFill>
                  <a:srgbClr val="0B6E8F"/>
                </a:solidFill>
                <a:latin typeface="DM Sans"/>
              </a:rPr>
              <a:t>MoveMonitor</a:t>
            </a:r>
          </a:p>
        </p:txBody>
      </p:sp>
      <p:sp>
        <p:nvSpPr>
          <p:cNvPr id="33" name="TextBox 32"/>
          <p:cNvSpPr txBox="1"/>
          <p:nvPr/>
        </p:nvSpPr>
        <p:spPr>
          <a:xfrm>
            <a:off x="946150" y="42989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één week bij de start: slaaptijd/waaktijd</a:t>
            </a:r>
          </a:p>
        </p:txBody>
      </p:sp>
      <p:cxnSp>
        <p:nvCxnSpPr>
          <p:cNvPr id="34" name="Connector 33"/>
          <p:cNvCxnSpPr/>
          <p:nvPr/>
        </p:nvCxnSpPr>
        <p:spPr>
          <a:xfrm>
            <a:off x="3317875"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508375" y="39243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648075" y="4038600"/>
            <a:ext cx="2251075" cy="198120"/>
          </a:xfrm>
          <a:prstGeom prst="rect">
            <a:avLst/>
          </a:prstGeom>
          <a:noFill/>
        </p:spPr>
        <p:txBody>
          <a:bodyPr wrap="none" lIns="0" tIns="0" rIns="0" bIns="0" anchor="t">
            <a:noAutofit/>
          </a:bodyPr>
          <a:lstStyle/>
          <a:p>
            <a:pPr algn="l"/>
            <a:r>
              <a:rPr sz="1200" b="1" i="0">
                <a:solidFill>
                  <a:srgbClr val="A34A00"/>
                </a:solidFill>
                <a:latin typeface="DM Sans"/>
              </a:rPr>
              <a:t>Draagnorm</a:t>
            </a:r>
          </a:p>
        </p:txBody>
      </p:sp>
      <p:sp>
        <p:nvSpPr>
          <p:cNvPr id="37" name="TextBox 36"/>
          <p:cNvSpPr txBox="1"/>
          <p:nvPr/>
        </p:nvSpPr>
        <p:spPr>
          <a:xfrm>
            <a:off x="3648075" y="4273550"/>
            <a:ext cx="2251075" cy="42922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80% van de waaktijd, 7 dagen per week</a:t>
            </a:r>
          </a:p>
        </p:txBody>
      </p:sp>
      <p:cxnSp>
        <p:nvCxnSpPr>
          <p:cNvPr id="38" name="Connector 37"/>
          <p:cNvCxnSpPr/>
          <p:nvPr/>
        </p:nvCxnSpPr>
        <p:spPr>
          <a:xfrm>
            <a:off x="6026150"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216650"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Picture 39" descr="08f3416e444e7f76df034ad715d9910f.png"/>
          <p:cNvPicPr>
            <a:picLocks noChangeAspect="1"/>
          </p:cNvPicPr>
          <p:nvPr/>
        </p:nvPicPr>
        <p:blipFill>
          <a:blip r:embed="rId6"/>
          <a:stretch>
            <a:fillRect/>
          </a:stretch>
        </p:blipFill>
        <p:spPr>
          <a:xfrm>
            <a:off x="6350000" y="4032250"/>
            <a:ext cx="317500" cy="228600"/>
          </a:xfrm>
          <a:prstGeom prst="rect">
            <a:avLst/>
          </a:prstGeom>
        </p:spPr>
      </p:pic>
      <p:sp>
        <p:nvSpPr>
          <p:cNvPr id="41" name="TextBox 40"/>
          <p:cNvSpPr txBox="1"/>
          <p:nvPr/>
        </p:nvSpPr>
        <p:spPr>
          <a:xfrm>
            <a:off x="6743700" y="4048125"/>
            <a:ext cx="887809" cy="198120"/>
          </a:xfrm>
          <a:prstGeom prst="rect">
            <a:avLst/>
          </a:prstGeom>
          <a:noFill/>
        </p:spPr>
        <p:txBody>
          <a:bodyPr wrap="none" lIns="0" tIns="0" rIns="0" bIns="0" anchor="t">
            <a:noAutofit/>
          </a:bodyPr>
          <a:lstStyle/>
          <a:p>
            <a:pPr algn="l"/>
            <a:r>
              <a:rPr sz="1200" b="1" i="0">
                <a:solidFill>
                  <a:srgbClr val="0B6E8F"/>
                </a:solidFill>
                <a:latin typeface="DM Sans"/>
              </a:rPr>
              <a:t>Orthotimer</a:t>
            </a:r>
          </a:p>
        </p:txBody>
      </p:sp>
      <p:sp>
        <p:nvSpPr>
          <p:cNvPr id="42" name="TextBox 41"/>
          <p:cNvSpPr txBox="1"/>
          <p:nvPr/>
        </p:nvSpPr>
        <p:spPr>
          <a:xfrm>
            <a:off x="6350000" y="42989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draagtijd per dag, elke 3 maanden uitgelezen</a:t>
            </a:r>
          </a:p>
        </p:txBody>
      </p:sp>
      <p:cxnSp>
        <p:nvCxnSpPr>
          <p:cNvPr id="43" name="Connector 42"/>
          <p:cNvCxnSpPr/>
          <p:nvPr/>
        </p:nvCxnSpPr>
        <p:spPr>
          <a:xfrm>
            <a:off x="8721725" y="45148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912225" y="39243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045575" y="4032250"/>
            <a:ext cx="2251075" cy="198120"/>
          </a:xfrm>
          <a:prstGeom prst="rect">
            <a:avLst/>
          </a:prstGeom>
          <a:noFill/>
        </p:spPr>
        <p:txBody>
          <a:bodyPr wrap="none" lIns="0" tIns="0" rIns="0" bIns="0" anchor="t">
            <a:noAutofit/>
          </a:bodyPr>
          <a:lstStyle/>
          <a:p>
            <a:pPr algn="l"/>
            <a:r>
              <a:rPr sz="1200" b="1" i="0">
                <a:solidFill>
                  <a:srgbClr val="0B6E8F"/>
                </a:solidFill>
                <a:latin typeface="DM Sans"/>
              </a:rPr>
              <a:t>SEBIA</a:t>
            </a:r>
          </a:p>
        </p:txBody>
      </p:sp>
      <p:sp>
        <p:nvSpPr>
          <p:cNvPr id="46" name="TextBox 45"/>
          <p:cNvSpPr txBox="1"/>
          <p:nvPr/>
        </p:nvSpPr>
        <p:spPr>
          <a:xfrm>
            <a:off x="9045575" y="42672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een gesprek op elke visite: voetzorg en therapietrouw</a:t>
            </a:r>
          </a:p>
        </p:txBody>
      </p:sp>
      <p:sp>
        <p:nvSpPr>
          <p:cNvPr id="47" name="Rectangle 46"/>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50" name="TextBox 49"/>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zelfde zool en opvolging · druk alleen bij de start en op maand 6 · alles geblindeerd, geen terugkoppeling, educatie zoals vandaag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_zool.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35d9458366f21742d58c68885f5e26b0.png"/>
          <p:cNvPicPr>
            <a:picLocks noChangeAspect="1"/>
          </p:cNvPicPr>
          <p:nvPr/>
        </p:nvPicPr>
        <p:blipFill>
          <a:blip r:embed="rId4"/>
          <a:stretch>
            <a:fillRect/>
          </a:stretch>
        </p:blipFill>
        <p:spPr>
          <a:xfrm>
            <a:off x="812800" y="1435654"/>
            <a:ext cx="5594350" cy="4291492"/>
          </a:xfrm>
          <a:prstGeom prst="rect">
            <a:avLst/>
          </a:prstGeom>
        </p:spPr>
      </p:pic>
      <p:pic>
        <p:nvPicPr>
          <p:cNvPr id="5" name="Picture 4" descr="263adf933d018f658a3f794787bae901.png"/>
          <p:cNvPicPr>
            <a:picLocks noChangeAspect="1"/>
          </p:cNvPicPr>
          <p:nvPr/>
        </p:nvPicPr>
        <p:blipFill>
          <a:blip r:embed="rId5"/>
          <a:stretch>
            <a:fillRect/>
          </a:stretch>
        </p:blipFill>
        <p:spPr>
          <a:xfrm>
            <a:off x="812800" y="1435654"/>
            <a:ext cx="5594350" cy="4291492"/>
          </a:xfrm>
          <a:prstGeom prst="rect">
            <a:avLst/>
          </a:prstGeom>
        </p:spPr>
      </p:pic>
      <p:pic>
        <p:nvPicPr>
          <p:cNvPr id="6" name="Picture 5" descr="ff2be040825968f74e167f3f017192d8.png"/>
          <p:cNvPicPr>
            <a:picLocks noChangeAspect="1"/>
          </p:cNvPicPr>
          <p:nvPr/>
        </p:nvPicPr>
        <p:blipFill>
          <a:blip r:embed="rId6"/>
          <a:stretch>
            <a:fillRect/>
          </a:stretch>
        </p:blipFill>
        <p:spPr>
          <a:xfrm>
            <a:off x="812800" y="1435654"/>
            <a:ext cx="5594350" cy="4291492"/>
          </a:xfrm>
          <a:prstGeom prst="rect">
            <a:avLst/>
          </a:prstGeom>
        </p:spPr>
      </p:pic>
      <p:pic>
        <p:nvPicPr>
          <p:cNvPr id="7" name="Picture 6" descr="2d13919730587cd6927f343698bc45b8.png"/>
          <p:cNvPicPr>
            <a:picLocks noChangeAspect="1"/>
          </p:cNvPicPr>
          <p:nvPr/>
        </p:nvPicPr>
        <p:blipFill>
          <a:blip r:embed="rId7"/>
          <a:stretch>
            <a:fillRect/>
          </a:stretch>
        </p:blipFill>
        <p:spPr>
          <a:xfrm>
            <a:off x="812800" y="1435654"/>
            <a:ext cx="5594350" cy="4291492"/>
          </a:xfrm>
          <a:prstGeom prst="rect">
            <a:avLst/>
          </a:prstGeom>
        </p:spPr>
      </p:pic>
      <p:pic>
        <p:nvPicPr>
          <p:cNvPr id="8" name="Picture 7" descr="f1f719f7a9890072b66877132b7c74e1.png"/>
          <p:cNvPicPr>
            <a:picLocks noChangeAspect="1"/>
          </p:cNvPicPr>
          <p:nvPr/>
        </p:nvPicPr>
        <p:blipFill>
          <a:blip r:embed="rId8"/>
          <a:stretch>
            <a:fillRect/>
          </a:stretch>
        </p:blipFill>
        <p:spPr>
          <a:xfrm>
            <a:off x="812800" y="1435654"/>
            <a:ext cx="5594350" cy="4291492"/>
          </a:xfrm>
          <a:prstGeom prst="rect">
            <a:avLst/>
          </a:prstGeom>
        </p:spPr>
      </p:pic>
      <p:sp>
        <p:nvSpPr>
          <p:cNvPr id="9" name="TextBox 8"/>
          <p:cNvSpPr txBox="1"/>
          <p:nvPr/>
        </p:nvSpPr>
        <p:spPr>
          <a:xfrm>
            <a:off x="6858000" y="22034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Gesloten-cellig · 3 mm</a:t>
            </a:r>
          </a:p>
        </p:txBody>
      </p:sp>
      <p:sp>
        <p:nvSpPr>
          <p:cNvPr id="10" name="TextBox 9"/>
          <p:cNvSpPr txBox="1"/>
          <p:nvPr/>
        </p:nvSpPr>
        <p:spPr>
          <a:xfrm>
            <a:off x="6858000" y="24447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bv. Plastazote LD45 · volledige lengte</a:t>
            </a:r>
          </a:p>
        </p:txBody>
      </p:sp>
      <p:sp>
        <p:nvSpPr>
          <p:cNvPr id="11" name="TextBox 10"/>
          <p:cNvSpPr txBox="1"/>
          <p:nvPr/>
        </p:nvSpPr>
        <p:spPr>
          <a:xfrm>
            <a:off x="6858000" y="28384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Open-cellig, dempend · 3 mm</a:t>
            </a:r>
          </a:p>
        </p:txBody>
      </p:sp>
      <p:sp>
        <p:nvSpPr>
          <p:cNvPr id="12" name="TextBox 11"/>
          <p:cNvSpPr txBox="1"/>
          <p:nvPr/>
        </p:nvSpPr>
        <p:spPr>
          <a:xfrm>
            <a:off x="6858000" y="30797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bv. PPT · volledige lengte</a:t>
            </a:r>
          </a:p>
        </p:txBody>
      </p:sp>
      <p:sp>
        <p:nvSpPr>
          <p:cNvPr id="13" name="TextBox 12"/>
          <p:cNvSpPr txBox="1"/>
          <p:nvPr/>
        </p:nvSpPr>
        <p:spPr>
          <a:xfrm>
            <a:off x="6858000" y="3473450"/>
            <a:ext cx="4572000" cy="228600"/>
          </a:xfrm>
          <a:prstGeom prst="rect">
            <a:avLst/>
          </a:prstGeom>
          <a:noFill/>
        </p:spPr>
        <p:txBody>
          <a:bodyPr wrap="none" lIns="0" tIns="0" rIns="0" bIns="0" anchor="t">
            <a:noAutofit/>
          </a:bodyPr>
          <a:lstStyle/>
          <a:p>
            <a:pPr algn="l">
              <a:lnSpc>
                <a:spcPts val="1800"/>
              </a:lnSpc>
            </a:pPr>
            <a:r>
              <a:rPr sz="1500" b="1" i="0">
                <a:solidFill>
                  <a:srgbClr val="A34A00"/>
                </a:solidFill>
                <a:latin typeface="DM Sans"/>
              </a:rPr>
              <a:t>Metatarsaalbalk · 9–10 mm</a:t>
            </a:r>
          </a:p>
        </p:txBody>
      </p:sp>
      <p:sp>
        <p:nvSpPr>
          <p:cNvPr id="14" name="TextBox 13"/>
          <p:cNvSpPr txBox="1"/>
          <p:nvPr/>
        </p:nvSpPr>
        <p:spPr>
          <a:xfrm>
            <a:off x="6858000" y="3714750"/>
            <a:ext cx="4572000" cy="198120"/>
          </a:xfrm>
          <a:prstGeom prst="rect">
            <a:avLst/>
          </a:prstGeom>
          <a:noFill/>
        </p:spPr>
        <p:txBody>
          <a:bodyPr wrap="none" lIns="0" tIns="0" rIns="0" bIns="0" anchor="t">
            <a:noAutofit/>
          </a:bodyPr>
          <a:lstStyle/>
          <a:p>
            <a:pPr algn="l">
              <a:lnSpc>
                <a:spcPts val="1560"/>
              </a:lnSpc>
            </a:pPr>
            <a:r>
              <a:rPr sz="1300" b="1" i="0">
                <a:solidFill>
                  <a:srgbClr val="A34A00"/>
                </a:solidFill>
                <a:latin typeface="DM Sans"/>
              </a:rPr>
              <a:t>+ bijkomende uitsparingen volgens nood</a:t>
            </a:r>
          </a:p>
        </p:txBody>
      </p:sp>
      <p:sp>
        <p:nvSpPr>
          <p:cNvPr id="15" name="TextBox 14"/>
          <p:cNvSpPr txBox="1"/>
          <p:nvPr/>
        </p:nvSpPr>
        <p:spPr>
          <a:xfrm>
            <a:off x="6858000" y="3925491"/>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shore ~55 · 6–11 mm proximaal van de kopjes · of een lokale pad</a:t>
            </a:r>
          </a:p>
        </p:txBody>
      </p:sp>
      <p:sp>
        <p:nvSpPr>
          <p:cNvPr id="16" name="TextBox 15"/>
          <p:cNvSpPr txBox="1"/>
          <p:nvPr/>
        </p:nvSpPr>
        <p:spPr>
          <a:xfrm>
            <a:off x="6858000" y="4311650"/>
            <a:ext cx="45720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EVA · shore 35–40</a:t>
            </a:r>
          </a:p>
        </p:txBody>
      </p:sp>
      <p:sp>
        <p:nvSpPr>
          <p:cNvPr id="17" name="TextBox 16"/>
          <p:cNvSpPr txBox="1"/>
          <p:nvPr/>
        </p:nvSpPr>
        <p:spPr>
          <a:xfrm>
            <a:off x="6858000" y="4552950"/>
            <a:ext cx="4572000" cy="190500"/>
          </a:xfrm>
          <a:prstGeom prst="rect">
            <a:avLst/>
          </a:prstGeom>
          <a:noFill/>
        </p:spPr>
        <p:txBody>
          <a:bodyPr wrap="none" lIns="0" tIns="0" rIns="0" bIns="0" anchor="t">
            <a:noAutofit/>
          </a:bodyPr>
          <a:lstStyle/>
          <a:p>
            <a:pPr algn="l">
              <a:lnSpc>
                <a:spcPts val="1500"/>
              </a:lnSpc>
            </a:pPr>
            <a:r>
              <a:rPr lang="nl-BE" sz="1200" b="0" i="0">
                <a:solidFill>
                  <a:srgbClr val="5A6E80"/>
                </a:solidFill>
                <a:latin typeface="DM Sans"/>
              </a:rPr>
              <a:t>5 mm; 6 mm in confectie of semi-orthopedisch</a:t>
            </a:r>
            <a:endParaRPr sz="1200" b="0" i="0">
              <a:solidFill>
                <a:srgbClr val="5A6E80"/>
              </a:solidFill>
              <a:latin typeface="DM Sans"/>
            </a:endParaRPr>
          </a:p>
        </p:txBody>
      </p:sp>
      <p:sp>
        <p:nvSpPr>
          <p:cNvPr id="18" name="TextBox 17"/>
          <p:cNvSpPr txBox="1"/>
          <p:nvPr/>
        </p:nvSpPr>
        <p:spPr>
          <a:xfrm>
            <a:off x="6858000" y="4946650"/>
            <a:ext cx="4572000" cy="228600"/>
          </a:xfrm>
          <a:prstGeom prst="rect">
            <a:avLst/>
          </a:prstGeom>
          <a:noFill/>
        </p:spPr>
        <p:txBody>
          <a:bodyPr wrap="none" lIns="0" tIns="0" rIns="0" bIns="0" anchor="t">
            <a:noAutofit/>
          </a:bodyPr>
          <a:lstStyle/>
          <a:p>
            <a:pPr algn="l">
              <a:lnSpc>
                <a:spcPts val="1800"/>
              </a:lnSpc>
            </a:pPr>
            <a:r>
              <a:rPr lang="en-US" sz="1500" b="1" i="0">
                <a:solidFill>
                  <a:srgbClr val="0A2540"/>
                </a:solidFill>
                <a:latin typeface="DM Sans"/>
              </a:rPr>
              <a:t>Microkurk of EVA shore 50 · 5 mm</a:t>
            </a:r>
            <a:endParaRPr sz="1500" b="1" i="0">
              <a:solidFill>
                <a:srgbClr val="0A2540"/>
              </a:solidFill>
              <a:latin typeface="DM Sans"/>
            </a:endParaRPr>
          </a:p>
        </p:txBody>
      </p:sp>
      <p:sp>
        <p:nvSpPr>
          <p:cNvPr id="19" name="TextBox 18"/>
          <p:cNvSpPr txBox="1"/>
          <p:nvPr/>
        </p:nvSpPr>
        <p:spPr>
          <a:xfrm>
            <a:off x="6858000" y="5187950"/>
            <a:ext cx="45720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alleen in een volledig op maat gemaakte schoen</a:t>
            </a:r>
          </a:p>
        </p:txBody>
      </p:sp>
      <p:sp>
        <p:nvSpPr>
          <p:cNvPr id="20" name="Rounded Rectangle 19"/>
          <p:cNvSpPr/>
          <p:nvPr/>
        </p:nvSpPr>
        <p:spPr>
          <a:xfrm>
            <a:off x="812800" y="5588000"/>
            <a:ext cx="10566400" cy="533400"/>
          </a:xfrm>
          <a:prstGeom prst="roundRect">
            <a:avLst>
              <a:gd name="adj" fmla="val 19047"/>
            </a:avLst>
          </a:prstGeom>
          <a:solidFill>
            <a:srgbClr val="FFFFFF"/>
          </a:solid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03300" y="5708650"/>
            <a:ext cx="880368" cy="292100"/>
          </a:xfrm>
          <a:prstGeom prst="rect">
            <a:avLst/>
          </a:prstGeom>
          <a:noFill/>
        </p:spPr>
        <p:txBody>
          <a:bodyPr wrap="none" lIns="0" tIns="0" rIns="0" bIns="0" anchor="t">
            <a:noAutofit/>
          </a:bodyPr>
          <a:lstStyle/>
          <a:p>
            <a:pPr algn="l">
              <a:lnSpc>
                <a:spcPts val="2300"/>
              </a:lnSpc>
            </a:pPr>
            <a:r>
              <a:rPr sz="2300" b="0" i="0">
                <a:solidFill>
                  <a:srgbClr val="0A2540"/>
                </a:solidFill>
                <a:latin typeface="DM Serif Display"/>
              </a:rPr>
              <a:t>16 mm</a:t>
            </a:r>
          </a:p>
        </p:txBody>
      </p:sp>
      <p:sp>
        <p:nvSpPr>
          <p:cNvPr id="22" name="TextBox 21"/>
          <p:cNvSpPr txBox="1"/>
          <p:nvPr/>
        </p:nvSpPr>
        <p:spPr>
          <a:xfrm>
            <a:off x="1972568" y="5763220"/>
            <a:ext cx="92581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maatschoen</a:t>
            </a:r>
          </a:p>
        </p:txBody>
      </p:sp>
      <p:sp>
        <p:nvSpPr>
          <p:cNvPr id="23" name="TextBox 22"/>
          <p:cNvSpPr txBox="1"/>
          <p:nvPr/>
        </p:nvSpPr>
        <p:spPr>
          <a:xfrm>
            <a:off x="2987278" y="5730875"/>
            <a:ext cx="88602" cy="247650"/>
          </a:xfrm>
          <a:prstGeom prst="rect">
            <a:avLst/>
          </a:prstGeom>
          <a:noFill/>
        </p:spPr>
        <p:txBody>
          <a:bodyPr wrap="none" lIns="0" tIns="0" rIns="0" bIns="0" anchor="t">
            <a:noAutofit/>
          </a:bodyPr>
          <a:lstStyle/>
          <a:p>
            <a:pPr algn="l"/>
            <a:r>
              <a:rPr sz="1500" b="0" i="0">
                <a:solidFill>
                  <a:srgbClr val="9FB3C6"/>
                </a:solidFill>
                <a:latin typeface="DM Sans"/>
              </a:rPr>
              <a:t>·</a:t>
            </a:r>
          </a:p>
        </p:txBody>
      </p:sp>
      <p:sp>
        <p:nvSpPr>
          <p:cNvPr id="24" name="TextBox 23"/>
          <p:cNvSpPr txBox="1"/>
          <p:nvPr/>
        </p:nvSpPr>
        <p:spPr>
          <a:xfrm>
            <a:off x="3164780" y="5708650"/>
            <a:ext cx="880963" cy="292100"/>
          </a:xfrm>
          <a:prstGeom prst="rect">
            <a:avLst/>
          </a:prstGeom>
          <a:noFill/>
        </p:spPr>
        <p:txBody>
          <a:bodyPr wrap="none" lIns="0" tIns="0" rIns="0" bIns="0" anchor="t">
            <a:noAutofit/>
          </a:bodyPr>
          <a:lstStyle/>
          <a:p>
            <a:pPr algn="l">
              <a:lnSpc>
                <a:spcPts val="2300"/>
              </a:lnSpc>
            </a:pPr>
            <a:r>
              <a:rPr sz="2300" b="0" i="0">
                <a:solidFill>
                  <a:srgbClr val="0A2540"/>
                </a:solidFill>
                <a:latin typeface="DM Serif Display"/>
              </a:rPr>
              <a:t>12 mm</a:t>
            </a:r>
          </a:p>
        </p:txBody>
      </p:sp>
      <p:sp>
        <p:nvSpPr>
          <p:cNvPr id="25" name="TextBox 24"/>
          <p:cNvSpPr txBox="1"/>
          <p:nvPr/>
        </p:nvSpPr>
        <p:spPr>
          <a:xfrm>
            <a:off x="4134644" y="5763220"/>
            <a:ext cx="2310209"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confectie of semi-orthopedisch</a:t>
            </a:r>
          </a:p>
        </p:txBody>
      </p:sp>
      <p:sp>
        <p:nvSpPr>
          <p:cNvPr id="26" name="TextBox 25"/>
          <p:cNvSpPr txBox="1"/>
          <p:nvPr/>
        </p:nvSpPr>
        <p:spPr>
          <a:xfrm>
            <a:off x="6533753" y="5708650"/>
            <a:ext cx="1404739" cy="292100"/>
          </a:xfrm>
          <a:prstGeom prst="rect">
            <a:avLst/>
          </a:prstGeom>
          <a:noFill/>
        </p:spPr>
        <p:txBody>
          <a:bodyPr wrap="none" lIns="0" tIns="0" rIns="0" bIns="0" anchor="t">
            <a:noAutofit/>
          </a:bodyPr>
          <a:lstStyle/>
          <a:p>
            <a:pPr algn="l">
              <a:lnSpc>
                <a:spcPts val="2300"/>
              </a:lnSpc>
            </a:pPr>
            <a:r>
              <a:rPr sz="2300" b="0" i="0">
                <a:solidFill>
                  <a:srgbClr val="A34A00"/>
                </a:solidFill>
                <a:latin typeface="DM Serif Display"/>
              </a:rPr>
              <a:t>+ 9–10 mm</a:t>
            </a:r>
          </a:p>
        </p:txBody>
      </p:sp>
      <p:sp>
        <p:nvSpPr>
          <p:cNvPr id="27" name="TextBox 26"/>
          <p:cNvSpPr txBox="1"/>
          <p:nvPr/>
        </p:nvSpPr>
        <p:spPr>
          <a:xfrm>
            <a:off x="8027392" y="5763220"/>
            <a:ext cx="339923"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balk</a:t>
            </a:r>
          </a:p>
        </p:txBody>
      </p:sp>
      <p:sp>
        <p:nvSpPr>
          <p:cNvPr id="28" name="TextBox 27"/>
          <p:cNvSpPr txBox="1"/>
          <p:nvPr/>
        </p:nvSpPr>
        <p:spPr>
          <a:xfrm>
            <a:off x="8405416" y="5748040"/>
            <a:ext cx="2783284" cy="213360"/>
          </a:xfrm>
          <a:prstGeom prst="rect">
            <a:avLst/>
          </a:prstGeom>
          <a:noFill/>
        </p:spPr>
        <p:txBody>
          <a:bodyPr wrap="none" lIns="0" tIns="0" rIns="0" bIns="0" anchor="t">
            <a:noAutofit/>
          </a:bodyPr>
          <a:lstStyle/>
          <a:p>
            <a:pPr algn="r">
              <a:lnSpc>
                <a:spcPts val="1680"/>
              </a:lnSpc>
            </a:pPr>
            <a:r>
              <a:rPr sz="1400" b="1" i="0">
                <a:solidFill>
                  <a:srgbClr val="A34A00"/>
                </a:solidFill>
                <a:latin typeface="DM Sans"/>
              </a:rPr>
              <a:t>De schoen moet adequaat zijn</a:t>
            </a:r>
          </a:p>
        </p:txBody>
      </p:sp>
      <p:sp>
        <p:nvSpPr>
          <p:cNvPr id="29" name="TextBox 28"/>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De CMFO, laag per laag</a:t>
            </a:r>
          </a:p>
        </p:txBody>
      </p:sp>
      <p:pic>
        <p:nvPicPr>
          <p:cNvPr id="30" name="Picture 29" descr="ec5c93e6f83f209b4e97ddfdecd480c8.png"/>
          <p:cNvPicPr>
            <a:picLocks noChangeAspect="1"/>
          </p:cNvPicPr>
          <p:nvPr/>
        </p:nvPicPr>
        <p:blipFill>
          <a:blip r:embed="rId9"/>
          <a:stretch>
            <a:fillRect/>
          </a:stretch>
        </p:blipFill>
        <p:spPr>
          <a:xfrm>
            <a:off x="812967" y="6261100"/>
            <a:ext cx="171116" cy="203200"/>
          </a:xfrm>
          <a:prstGeom prst="rect">
            <a:avLst/>
          </a:prstGeom>
        </p:spPr>
      </p:pic>
      <p:sp>
        <p:nvSpPr>
          <p:cNvPr id="31" name="TextBox 3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2" name="TextBox 31"/>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§5.4.1 · eCRF 23 · beslissing 6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_druk.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Eén voet, vier zolen</a:t>
            </a:r>
          </a:p>
        </p:txBody>
      </p:sp>
      <p:sp>
        <p:nvSpPr>
          <p:cNvPr id="4" name="TextBox 3"/>
          <p:cNvSpPr txBox="1"/>
          <p:nvPr/>
        </p:nvSpPr>
        <p:spPr>
          <a:xfrm>
            <a:off x="8128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Zonder zool</a:t>
            </a:r>
          </a:p>
        </p:txBody>
      </p:sp>
      <p:sp>
        <p:nvSpPr>
          <p:cNvPr id="5" name="TextBox 4"/>
          <p:cNvSpPr txBox="1"/>
          <p:nvPr/>
        </p:nvSpPr>
        <p:spPr>
          <a:xfrm>
            <a:off x="812800" y="1803400"/>
            <a:ext cx="18288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met schoen</a:t>
            </a:r>
          </a:p>
        </p:txBody>
      </p:sp>
      <p:pic>
        <p:nvPicPr>
          <p:cNvPr id="6" name="Picture 5" descr="3825b6387d3c764508758626beea4ba8.png"/>
          <p:cNvPicPr>
            <a:picLocks noChangeAspect="1"/>
          </p:cNvPicPr>
          <p:nvPr/>
        </p:nvPicPr>
        <p:blipFill>
          <a:blip r:embed="rId4"/>
          <a:stretch>
            <a:fillRect/>
          </a:stretch>
        </p:blipFill>
        <p:spPr>
          <a:xfrm>
            <a:off x="812800" y="2121835"/>
            <a:ext cx="1384300" cy="3808131"/>
          </a:xfrm>
          <a:prstGeom prst="rect">
            <a:avLst/>
          </a:prstGeom>
        </p:spPr>
      </p:pic>
      <p:sp>
        <p:nvSpPr>
          <p:cNvPr id="7" name="TextBox 6"/>
          <p:cNvSpPr txBox="1"/>
          <p:nvPr/>
        </p:nvSpPr>
        <p:spPr>
          <a:xfrm>
            <a:off x="27813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1</a:t>
            </a:r>
          </a:p>
        </p:txBody>
      </p:sp>
      <p:sp>
        <p:nvSpPr>
          <p:cNvPr id="8" name="TextBox 7"/>
          <p:cNvSpPr txBox="1"/>
          <p:nvPr/>
        </p:nvSpPr>
        <p:spPr>
          <a:xfrm>
            <a:off x="2781300" y="1803400"/>
            <a:ext cx="1828800" cy="190500"/>
          </a:xfrm>
          <a:prstGeom prst="rect">
            <a:avLst/>
          </a:prstGeom>
          <a:noFill/>
        </p:spPr>
        <p:txBody>
          <a:bodyPr wrap="none" lIns="0" tIns="0" rIns="0" bIns="0" anchor="t">
            <a:noAutofit/>
          </a:bodyPr>
          <a:lstStyle/>
          <a:p>
            <a:pPr algn="l">
              <a:lnSpc>
                <a:spcPts val="1500"/>
              </a:lnSpc>
            </a:pPr>
            <a:r>
              <a:rPr sz="1200" b="0" i="0">
                <a:solidFill>
                  <a:srgbClr val="5A6E80"/>
                </a:solidFill>
                <a:latin typeface="DM Sans"/>
              </a:rPr>
              <a:t>Total Contact Zool</a:t>
            </a:r>
          </a:p>
        </p:txBody>
      </p:sp>
      <p:pic>
        <p:nvPicPr>
          <p:cNvPr id="9" name="Picture 8" descr="c36ccd7ce0562c1fa427d104ab1b836f.png"/>
          <p:cNvPicPr>
            <a:picLocks noChangeAspect="1"/>
          </p:cNvPicPr>
          <p:nvPr/>
        </p:nvPicPr>
        <p:blipFill>
          <a:blip r:embed="rId5"/>
          <a:stretch>
            <a:fillRect/>
          </a:stretch>
        </p:blipFill>
        <p:spPr>
          <a:xfrm>
            <a:off x="2781300" y="2121835"/>
            <a:ext cx="1384300" cy="3808131"/>
          </a:xfrm>
          <a:prstGeom prst="rect">
            <a:avLst/>
          </a:prstGeom>
        </p:spPr>
      </p:pic>
      <p:sp>
        <p:nvSpPr>
          <p:cNvPr id="10" name="TextBox 9"/>
          <p:cNvSpPr txBox="1"/>
          <p:nvPr/>
        </p:nvSpPr>
        <p:spPr>
          <a:xfrm>
            <a:off x="47498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2</a:t>
            </a:r>
          </a:p>
        </p:txBody>
      </p:sp>
      <p:sp>
        <p:nvSpPr>
          <p:cNvPr id="11" name="TextBox 10"/>
          <p:cNvSpPr txBox="1"/>
          <p:nvPr/>
        </p:nvSpPr>
        <p:spPr>
          <a:xfrm>
            <a:off x="4749800" y="1803400"/>
            <a:ext cx="1828800" cy="190500"/>
          </a:xfrm>
          <a:prstGeom prst="rect">
            <a:avLst/>
          </a:prstGeom>
          <a:noFill/>
        </p:spPr>
        <p:txBody>
          <a:bodyPr wrap="none" lIns="0" tIns="0" rIns="0" bIns="0" anchor="t">
            <a:noAutofit/>
          </a:bodyPr>
          <a:lstStyle/>
          <a:p>
            <a:pPr algn="l">
              <a:lnSpc>
                <a:spcPts val="1500"/>
              </a:lnSpc>
            </a:pPr>
            <a:r>
              <a:rPr sz="1200" b="1" i="0">
                <a:solidFill>
                  <a:srgbClr val="A34A00"/>
                </a:solidFill>
                <a:latin typeface="DM Sans"/>
              </a:rPr>
              <a:t>+ RCTB 6 mm</a:t>
            </a:r>
          </a:p>
        </p:txBody>
      </p:sp>
      <p:pic>
        <p:nvPicPr>
          <p:cNvPr id="12" name="Picture 11" descr="e8c34085a070149383e812b143052985.png"/>
          <p:cNvPicPr>
            <a:picLocks noChangeAspect="1"/>
          </p:cNvPicPr>
          <p:nvPr/>
        </p:nvPicPr>
        <p:blipFill>
          <a:blip r:embed="rId6"/>
          <a:stretch>
            <a:fillRect/>
          </a:stretch>
        </p:blipFill>
        <p:spPr>
          <a:xfrm>
            <a:off x="4749800" y="2121835"/>
            <a:ext cx="1384300" cy="3808131"/>
          </a:xfrm>
          <a:prstGeom prst="rect">
            <a:avLst/>
          </a:prstGeom>
        </p:spPr>
      </p:pic>
      <p:sp>
        <p:nvSpPr>
          <p:cNvPr id="13" name="TextBox 12"/>
          <p:cNvSpPr txBox="1"/>
          <p:nvPr/>
        </p:nvSpPr>
        <p:spPr>
          <a:xfrm>
            <a:off x="6718300" y="1549400"/>
            <a:ext cx="1828800" cy="228600"/>
          </a:xfrm>
          <a:prstGeom prst="rect">
            <a:avLst/>
          </a:prstGeom>
          <a:noFill/>
        </p:spPr>
        <p:txBody>
          <a:bodyPr wrap="none" lIns="0" tIns="0" rIns="0" bIns="0" anchor="t">
            <a:noAutofit/>
          </a:bodyPr>
          <a:lstStyle/>
          <a:p>
            <a:pPr algn="l">
              <a:lnSpc>
                <a:spcPts val="1800"/>
              </a:lnSpc>
            </a:pPr>
            <a:r>
              <a:rPr sz="1500" b="1" i="0">
                <a:solidFill>
                  <a:srgbClr val="0A2540"/>
                </a:solidFill>
                <a:latin typeface="DM Sans"/>
              </a:rPr>
              <a:t>Zool 3</a:t>
            </a:r>
          </a:p>
        </p:txBody>
      </p:sp>
      <p:sp>
        <p:nvSpPr>
          <p:cNvPr id="14" name="TextBox 13"/>
          <p:cNvSpPr txBox="1"/>
          <p:nvPr/>
        </p:nvSpPr>
        <p:spPr>
          <a:xfrm>
            <a:off x="6718300" y="1803400"/>
            <a:ext cx="1828800" cy="190500"/>
          </a:xfrm>
          <a:prstGeom prst="rect">
            <a:avLst/>
          </a:prstGeom>
          <a:noFill/>
        </p:spPr>
        <p:txBody>
          <a:bodyPr wrap="none" lIns="0" tIns="0" rIns="0" bIns="0" anchor="t">
            <a:noAutofit/>
          </a:bodyPr>
          <a:lstStyle/>
          <a:p>
            <a:pPr algn="l">
              <a:lnSpc>
                <a:spcPts val="1500"/>
              </a:lnSpc>
            </a:pPr>
            <a:r>
              <a:rPr sz="1200" b="1" i="0">
                <a:solidFill>
                  <a:srgbClr val="A34A00"/>
                </a:solidFill>
                <a:latin typeface="DM Sans"/>
              </a:rPr>
              <a:t>+ RCTB 9 mm</a:t>
            </a:r>
          </a:p>
        </p:txBody>
      </p:sp>
      <p:pic>
        <p:nvPicPr>
          <p:cNvPr id="15" name="Picture 14" descr="a74b22459579f436b9f1c45a3ef23fcd.png"/>
          <p:cNvPicPr>
            <a:picLocks noChangeAspect="1"/>
          </p:cNvPicPr>
          <p:nvPr/>
        </p:nvPicPr>
        <p:blipFill>
          <a:blip r:embed="rId7"/>
          <a:stretch>
            <a:fillRect/>
          </a:stretch>
        </p:blipFill>
        <p:spPr>
          <a:xfrm>
            <a:off x="6718300" y="2121835"/>
            <a:ext cx="1384300" cy="3808131"/>
          </a:xfrm>
          <a:prstGeom prst="rect">
            <a:avLst/>
          </a:prstGeom>
        </p:spPr>
      </p:pic>
      <p:sp>
        <p:nvSpPr>
          <p:cNvPr id="16" name="TextBox 15"/>
          <p:cNvSpPr txBox="1"/>
          <p:nvPr/>
        </p:nvSpPr>
        <p:spPr>
          <a:xfrm>
            <a:off x="8890000" y="2120900"/>
            <a:ext cx="2540000" cy="198120"/>
          </a:xfrm>
          <a:prstGeom prst="rect">
            <a:avLst/>
          </a:prstGeom>
          <a:noFill/>
        </p:spPr>
        <p:txBody>
          <a:bodyPr wrap="none" lIns="0" tIns="0" rIns="0" bIns="0" anchor="t">
            <a:noAutofit/>
          </a:bodyPr>
          <a:lstStyle/>
          <a:p>
            <a:pPr algn="l"/>
            <a:r>
              <a:rPr sz="1200" b="1" i="0">
                <a:solidFill>
                  <a:srgbClr val="5A6E80"/>
                </a:solidFill>
                <a:latin typeface="DM Sans"/>
              </a:rPr>
              <a:t>kPa</a:t>
            </a:r>
          </a:p>
        </p:txBody>
      </p:sp>
      <p:sp>
        <p:nvSpPr>
          <p:cNvPr id="17" name="Rectangle 16"/>
          <p:cNvSpPr/>
          <p:nvPr/>
        </p:nvSpPr>
        <p:spPr>
          <a:xfrm>
            <a:off x="8890000" y="2374900"/>
            <a:ext cx="228600" cy="1651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890000" y="2540000"/>
            <a:ext cx="228600" cy="1651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8890000" y="2705100"/>
            <a:ext cx="228600" cy="165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890000" y="2870200"/>
            <a:ext cx="228600" cy="165100"/>
          </a:xfrm>
          <a:prstGeom prst="rect">
            <a:avLst/>
          </a:prstGeom>
          <a:solidFill>
            <a:srgbClr val="FFCC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890000" y="3035300"/>
            <a:ext cx="228600" cy="165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890000" y="3200400"/>
            <a:ext cx="228600" cy="165100"/>
          </a:xfrm>
          <a:prstGeom prst="rect">
            <a:avLst/>
          </a:prstGeom>
          <a:solidFill>
            <a:srgbClr val="CC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890000" y="3365500"/>
            <a:ext cx="228600" cy="165100"/>
          </a:xfrm>
          <a:prstGeom prst="rect">
            <a:avLst/>
          </a:prstGeom>
          <a:solidFill>
            <a:srgbClr val="99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890000" y="3530600"/>
            <a:ext cx="228600" cy="165100"/>
          </a:xfrm>
          <a:prstGeom prst="rect">
            <a:avLst/>
          </a:prstGeom>
          <a:solidFill>
            <a:srgbClr val="00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890000" y="3695700"/>
            <a:ext cx="228600" cy="165100"/>
          </a:xfrm>
          <a:prstGeom prst="rect">
            <a:avLst/>
          </a:prstGeom>
          <a:solidFill>
            <a:srgbClr val="33FF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8890000" y="3860800"/>
            <a:ext cx="228600" cy="165100"/>
          </a:xfrm>
          <a:prstGeom prst="rect">
            <a:avLst/>
          </a:prstGeom>
          <a:solidFill>
            <a:srgbClr val="00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890000" y="4025900"/>
            <a:ext cx="228600" cy="165100"/>
          </a:xfrm>
          <a:prstGeom prst="rect">
            <a:avLst/>
          </a:prstGeom>
          <a:solidFill>
            <a:srgbClr val="00C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8890000" y="4191000"/>
            <a:ext cx="228600" cy="165100"/>
          </a:xfrm>
          <a:prstGeom prst="rect">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8890000" y="4356100"/>
            <a:ext cx="228600" cy="165100"/>
          </a:xfrm>
          <a:prstGeom prst="rect">
            <a:avLst/>
          </a:prstGeom>
          <a:solidFill>
            <a:srgbClr val="006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8890000" y="4521200"/>
            <a:ext cx="228600" cy="165100"/>
          </a:xfrm>
          <a:prstGeom prst="rect">
            <a:avLst/>
          </a:prstGeom>
          <a:solidFill>
            <a:srgbClr val="003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890000" y="4686300"/>
            <a:ext cx="228600" cy="165100"/>
          </a:xfrm>
          <a:prstGeom prst="rect">
            <a:avLst/>
          </a:prstGeom>
          <a:solidFill>
            <a:srgbClr val="0000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8890000" y="4851400"/>
            <a:ext cx="228600" cy="165100"/>
          </a:xfrm>
          <a:prstGeom prst="rect">
            <a:avLst/>
          </a:prstGeom>
          <a:solidFill>
            <a:srgbClr val="000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220200" y="23622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 563</a:t>
            </a:r>
          </a:p>
        </p:txBody>
      </p:sp>
      <p:sp>
        <p:nvSpPr>
          <p:cNvPr id="34" name="TextBox 33"/>
          <p:cNvSpPr txBox="1"/>
          <p:nvPr/>
        </p:nvSpPr>
        <p:spPr>
          <a:xfrm>
            <a:off x="9220200" y="28575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450</a:t>
            </a:r>
          </a:p>
        </p:txBody>
      </p:sp>
      <p:sp>
        <p:nvSpPr>
          <p:cNvPr id="35" name="TextBox 34"/>
          <p:cNvSpPr txBox="1"/>
          <p:nvPr/>
        </p:nvSpPr>
        <p:spPr>
          <a:xfrm>
            <a:off x="9220200" y="35179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300</a:t>
            </a:r>
          </a:p>
        </p:txBody>
      </p:sp>
      <p:sp>
        <p:nvSpPr>
          <p:cNvPr id="36" name="TextBox 35"/>
          <p:cNvSpPr txBox="1"/>
          <p:nvPr/>
        </p:nvSpPr>
        <p:spPr>
          <a:xfrm>
            <a:off x="9220200" y="41783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150</a:t>
            </a:r>
          </a:p>
        </p:txBody>
      </p:sp>
      <p:sp>
        <p:nvSpPr>
          <p:cNvPr id="37" name="TextBox 36"/>
          <p:cNvSpPr txBox="1"/>
          <p:nvPr/>
        </p:nvSpPr>
        <p:spPr>
          <a:xfrm>
            <a:off x="9220200" y="4838700"/>
            <a:ext cx="1320800"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0</a:t>
            </a:r>
          </a:p>
        </p:txBody>
      </p:sp>
      <p:sp>
        <p:nvSpPr>
          <p:cNvPr id="38" name="TextBox 37"/>
          <p:cNvSpPr txBox="1"/>
          <p:nvPr/>
        </p:nvSpPr>
        <p:spPr>
          <a:xfrm>
            <a:off x="8890000" y="5270500"/>
            <a:ext cx="2540000" cy="74295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Elke aanpassing haalt de piek onder de voorvoet verder omlaag.</a:t>
            </a:r>
          </a:p>
        </p:txBody>
      </p:sp>
      <p:pic>
        <p:nvPicPr>
          <p:cNvPr id="39" name="Picture 38" descr="ec5c93e6f83f209b4e97ddfdecd480c8.png"/>
          <p:cNvPicPr>
            <a:picLocks noChangeAspect="1"/>
          </p:cNvPicPr>
          <p:nvPr/>
        </p:nvPicPr>
        <p:blipFill>
          <a:blip r:embed="rId8"/>
          <a:stretch>
            <a:fillRect/>
          </a:stretch>
        </p:blipFill>
        <p:spPr>
          <a:xfrm>
            <a:off x="812967" y="6261100"/>
            <a:ext cx="171116" cy="203200"/>
          </a:xfrm>
          <a:prstGeom prst="rect">
            <a:avLst/>
          </a:prstGeom>
        </p:spPr>
      </p:pic>
      <p:sp>
        <p:nvSpPr>
          <p:cNvPr id="40" name="TextBox 3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1" name="TextBox 4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Voorbeeld: rechtervoet, met schoen, gemiddelde van zes stappen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voetafdruk tot zool</a:t>
            </a:r>
          </a:p>
        </p:txBody>
      </p:sp>
      <p:sp>
        <p:nvSpPr>
          <p:cNvPr id="3" name="Rectangle 2"/>
          <p:cNvSpPr/>
          <p:nvPr/>
        </p:nvSpPr>
        <p:spPr>
          <a:xfrm>
            <a:off x="8128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08150"/>
            <a:ext cx="166390"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1</a:t>
            </a:r>
          </a:p>
        </p:txBody>
      </p:sp>
      <p:sp>
        <p:nvSpPr>
          <p:cNvPr id="5" name="TextBox 4"/>
          <p:cNvSpPr txBox="1"/>
          <p:nvPr/>
        </p:nvSpPr>
        <p:spPr>
          <a:xfrm>
            <a:off x="1029990" y="1790700"/>
            <a:ext cx="1545034"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voetafdruk</a:t>
            </a:r>
          </a:p>
        </p:txBody>
      </p:sp>
      <p:pic>
        <p:nvPicPr>
          <p:cNvPr id="6" name="Picture 5" descr="70114a0745a3181f830ce26adcca8c6c.png"/>
          <p:cNvPicPr>
            <a:picLocks noChangeAspect="1"/>
          </p:cNvPicPr>
          <p:nvPr/>
        </p:nvPicPr>
        <p:blipFill>
          <a:blip r:embed="rId3"/>
          <a:stretch>
            <a:fillRect/>
          </a:stretch>
        </p:blipFill>
        <p:spPr>
          <a:xfrm>
            <a:off x="1144305" y="2120900"/>
            <a:ext cx="2638989" cy="1435100"/>
          </a:xfrm>
          <a:prstGeom prst="rect">
            <a:avLst/>
          </a:prstGeom>
        </p:spPr>
      </p:pic>
      <p:sp>
        <p:nvSpPr>
          <p:cNvPr id="7" name="TextBox 6"/>
          <p:cNvSpPr txBox="1"/>
          <p:nvPr/>
        </p:nvSpPr>
        <p:spPr>
          <a:xfrm>
            <a:off x="787400" y="3594100"/>
            <a:ext cx="3352800" cy="205740"/>
          </a:xfrm>
          <a:prstGeom prst="rect">
            <a:avLst/>
          </a:prstGeom>
          <a:noFill/>
        </p:spPr>
        <p:txBody>
          <a:bodyPr wrap="none" lIns="0" tIns="0" rIns="0" bIns="0" anchor="t">
            <a:noAutofit/>
          </a:bodyPr>
          <a:lstStyle/>
          <a:p>
            <a:pPr algn="ctr">
              <a:lnSpc>
                <a:spcPts val="1620"/>
              </a:lnSpc>
            </a:pPr>
            <a:r>
              <a:rPr sz="1350" b="1" i="0">
                <a:solidFill>
                  <a:srgbClr val="0A2540"/>
                </a:solidFill>
                <a:latin typeface="DM Sans"/>
              </a:rPr>
              <a:t>manueel</a:t>
            </a:r>
          </a:p>
        </p:txBody>
      </p:sp>
      <p:pic>
        <p:nvPicPr>
          <p:cNvPr id="8" name="Picture 7" descr="6293f937edc0f069c46217b18b862e04.png"/>
          <p:cNvPicPr>
            <a:picLocks noChangeAspect="1"/>
          </p:cNvPicPr>
          <p:nvPr/>
        </p:nvPicPr>
        <p:blipFill>
          <a:blip r:embed="rId4"/>
          <a:stretch>
            <a:fillRect/>
          </a:stretch>
        </p:blipFill>
        <p:spPr>
          <a:xfrm>
            <a:off x="812800" y="3942752"/>
            <a:ext cx="3302000" cy="1334695"/>
          </a:xfrm>
          <a:prstGeom prst="rect">
            <a:avLst/>
          </a:prstGeom>
        </p:spPr>
      </p:pic>
      <p:sp>
        <p:nvSpPr>
          <p:cNvPr id="9" name="TextBox 8"/>
          <p:cNvSpPr txBox="1"/>
          <p:nvPr/>
        </p:nvSpPr>
        <p:spPr>
          <a:xfrm>
            <a:off x="787400" y="5397500"/>
            <a:ext cx="3352800" cy="205740"/>
          </a:xfrm>
          <a:prstGeom prst="rect">
            <a:avLst/>
          </a:prstGeom>
          <a:noFill/>
        </p:spPr>
        <p:txBody>
          <a:bodyPr wrap="none" lIns="0" tIns="0" rIns="0" bIns="0" anchor="t">
            <a:noAutofit/>
          </a:bodyPr>
          <a:lstStyle/>
          <a:p>
            <a:pPr algn="ctr">
              <a:lnSpc>
                <a:spcPts val="1620"/>
              </a:lnSpc>
            </a:pPr>
            <a:r>
              <a:rPr sz="1350" b="0" i="0">
                <a:solidFill>
                  <a:srgbClr val="0A2540"/>
                </a:solidFill>
                <a:latin typeface="DM Sans"/>
              </a:rPr>
              <a:t>of met een </a:t>
            </a:r>
            <a:r>
              <a:rPr sz="1350" b="1" i="0">
                <a:solidFill>
                  <a:srgbClr val="0A2540"/>
                </a:solidFill>
                <a:latin typeface="DM Sans"/>
              </a:rPr>
              <a:t>3D-scan</a:t>
            </a:r>
          </a:p>
        </p:txBody>
      </p:sp>
      <p:sp>
        <p:nvSpPr>
          <p:cNvPr id="10" name="Rectangle 9"/>
          <p:cNvSpPr/>
          <p:nvPr/>
        </p:nvSpPr>
        <p:spPr>
          <a:xfrm>
            <a:off x="44450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45000" y="1708150"/>
            <a:ext cx="226516"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2</a:t>
            </a:r>
          </a:p>
        </p:txBody>
      </p:sp>
      <p:sp>
        <p:nvSpPr>
          <p:cNvPr id="12" name="TextBox 11"/>
          <p:cNvSpPr txBox="1"/>
          <p:nvPr/>
        </p:nvSpPr>
        <p:spPr>
          <a:xfrm>
            <a:off x="4722316" y="1790700"/>
            <a:ext cx="1387277"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fabricage</a:t>
            </a:r>
          </a:p>
        </p:txBody>
      </p:sp>
      <p:pic>
        <p:nvPicPr>
          <p:cNvPr id="13" name="Picture 12" descr="6cdd6b828553c3a9bf3c9157e6580a6c.png"/>
          <p:cNvPicPr>
            <a:picLocks noChangeAspect="1"/>
          </p:cNvPicPr>
          <p:nvPr/>
        </p:nvPicPr>
        <p:blipFill>
          <a:blip r:embed="rId5"/>
          <a:stretch>
            <a:fillRect/>
          </a:stretch>
        </p:blipFill>
        <p:spPr>
          <a:xfrm>
            <a:off x="4562143" y="2120900"/>
            <a:ext cx="3067714" cy="1435100"/>
          </a:xfrm>
          <a:prstGeom prst="rect">
            <a:avLst/>
          </a:prstGeom>
        </p:spPr>
      </p:pic>
      <p:sp>
        <p:nvSpPr>
          <p:cNvPr id="14" name="TextBox 13"/>
          <p:cNvSpPr txBox="1"/>
          <p:nvPr/>
        </p:nvSpPr>
        <p:spPr>
          <a:xfrm>
            <a:off x="4419600" y="3594100"/>
            <a:ext cx="3352800" cy="205740"/>
          </a:xfrm>
          <a:prstGeom prst="rect">
            <a:avLst/>
          </a:prstGeom>
          <a:noFill/>
        </p:spPr>
        <p:txBody>
          <a:bodyPr wrap="none" lIns="0" tIns="0" rIns="0" bIns="0" anchor="t">
            <a:noAutofit/>
          </a:bodyPr>
          <a:lstStyle/>
          <a:p>
            <a:pPr algn="ctr">
              <a:lnSpc>
                <a:spcPts val="1620"/>
              </a:lnSpc>
            </a:pPr>
            <a:r>
              <a:rPr sz="1350" b="1" i="0">
                <a:solidFill>
                  <a:srgbClr val="0A2540"/>
                </a:solidFill>
                <a:latin typeface="DM Sans"/>
              </a:rPr>
              <a:t>thermoplastisch</a:t>
            </a:r>
            <a:r>
              <a:rPr sz="1350" b="0" i="0">
                <a:solidFill>
                  <a:srgbClr val="0A2540"/>
                </a:solidFill>
                <a:latin typeface="DM Sans"/>
              </a:rPr>
              <a:t> gevormd</a:t>
            </a:r>
          </a:p>
        </p:txBody>
      </p:sp>
      <p:pic>
        <p:nvPicPr>
          <p:cNvPr id="15" name="Picture 14" descr="55716b6e2d2d658a8e4b9a60cd74dc6f.png"/>
          <p:cNvPicPr>
            <a:picLocks noChangeAspect="1"/>
          </p:cNvPicPr>
          <p:nvPr/>
        </p:nvPicPr>
        <p:blipFill>
          <a:blip r:embed="rId6"/>
          <a:stretch>
            <a:fillRect/>
          </a:stretch>
        </p:blipFill>
        <p:spPr>
          <a:xfrm>
            <a:off x="5079311" y="3860800"/>
            <a:ext cx="2033379" cy="1498600"/>
          </a:xfrm>
          <a:prstGeom prst="rect">
            <a:avLst/>
          </a:prstGeom>
        </p:spPr>
      </p:pic>
      <p:sp>
        <p:nvSpPr>
          <p:cNvPr id="16" name="TextBox 15"/>
          <p:cNvSpPr txBox="1"/>
          <p:nvPr/>
        </p:nvSpPr>
        <p:spPr>
          <a:xfrm>
            <a:off x="4419600" y="5397500"/>
            <a:ext cx="3352800" cy="205740"/>
          </a:xfrm>
          <a:prstGeom prst="rect">
            <a:avLst/>
          </a:prstGeom>
          <a:noFill/>
        </p:spPr>
        <p:txBody>
          <a:bodyPr wrap="none" lIns="0" tIns="0" rIns="0" bIns="0" anchor="t">
            <a:noAutofit/>
          </a:bodyPr>
          <a:lstStyle/>
          <a:p>
            <a:pPr algn="ctr">
              <a:lnSpc>
                <a:spcPts val="1620"/>
              </a:lnSpc>
            </a:pPr>
            <a:r>
              <a:rPr sz="1350" b="0" i="0">
                <a:solidFill>
                  <a:srgbClr val="0A2540"/>
                </a:solidFill>
                <a:latin typeface="DM Sans"/>
              </a:rPr>
              <a:t>of </a:t>
            </a:r>
            <a:r>
              <a:rPr sz="1350" b="1" i="0">
                <a:solidFill>
                  <a:srgbClr val="0A2540"/>
                </a:solidFill>
                <a:latin typeface="DM Sans"/>
              </a:rPr>
              <a:t>CNC</a:t>
            </a:r>
            <a:r>
              <a:rPr sz="1350" b="0" i="0">
                <a:solidFill>
                  <a:srgbClr val="0A2540"/>
                </a:solidFill>
                <a:latin typeface="DM Sans"/>
              </a:rPr>
              <a:t>-gefreesd</a:t>
            </a:r>
          </a:p>
        </p:txBody>
      </p:sp>
      <p:sp>
        <p:nvSpPr>
          <p:cNvPr id="17" name="Rectangle 16"/>
          <p:cNvSpPr/>
          <p:nvPr/>
        </p:nvSpPr>
        <p:spPr>
          <a:xfrm>
            <a:off x="8077200" y="1600200"/>
            <a:ext cx="3302000"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77200" y="1708150"/>
            <a:ext cx="226516"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3</a:t>
            </a:r>
          </a:p>
        </p:txBody>
      </p:sp>
      <p:sp>
        <p:nvSpPr>
          <p:cNvPr id="19" name="TextBox 18"/>
          <p:cNvSpPr txBox="1"/>
          <p:nvPr/>
        </p:nvSpPr>
        <p:spPr>
          <a:xfrm>
            <a:off x="8354516" y="1790700"/>
            <a:ext cx="1302147"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De pasvorm</a:t>
            </a:r>
          </a:p>
        </p:txBody>
      </p:sp>
      <p:pic>
        <p:nvPicPr>
          <p:cNvPr id="20" name="Picture 19" descr="7f9b05567c6ce43b526733a17a557638.png"/>
          <p:cNvPicPr>
            <a:picLocks noChangeAspect="1"/>
          </p:cNvPicPr>
          <p:nvPr/>
        </p:nvPicPr>
        <p:blipFill>
          <a:blip r:embed="rId7"/>
          <a:stretch>
            <a:fillRect/>
          </a:stretch>
        </p:blipFill>
        <p:spPr>
          <a:xfrm>
            <a:off x="8077200" y="2225203"/>
            <a:ext cx="3302000" cy="1378894"/>
          </a:xfrm>
          <a:prstGeom prst="rect">
            <a:avLst/>
          </a:prstGeom>
        </p:spPr>
      </p:pic>
      <p:sp>
        <p:nvSpPr>
          <p:cNvPr id="21" name="TextBox 20"/>
          <p:cNvSpPr txBox="1"/>
          <p:nvPr/>
        </p:nvSpPr>
        <p:spPr>
          <a:xfrm>
            <a:off x="8077200" y="3835400"/>
            <a:ext cx="336804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beoordeeld in </a:t>
            </a:r>
            <a:r>
              <a:rPr sz="1400" b="1" i="0">
                <a:solidFill>
                  <a:srgbClr val="0A2540"/>
                </a:solidFill>
                <a:latin typeface="DM Sans"/>
              </a:rPr>
              <a:t>binnen- én buitenschoeisel</a:t>
            </a:r>
            <a:r>
              <a:rPr sz="1400" b="0" i="0">
                <a:solidFill>
                  <a:srgbClr val="0A2540"/>
                </a:solidFill>
                <a:latin typeface="DM Sans"/>
              </a:rPr>
              <a:t>, met foto's</a:t>
            </a:r>
          </a:p>
        </p:txBody>
      </p:sp>
      <p:sp>
        <p:nvSpPr>
          <p:cNvPr id="22" name="Rectangle 21"/>
          <p:cNvSpPr/>
          <p:nvPr/>
        </p:nvSpPr>
        <p:spPr>
          <a:xfrm>
            <a:off x="8077200" y="447536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7200" y="4634111"/>
            <a:ext cx="3368040"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Welke weg ook: de opbouw laag per laag blijft dezelfde.</a:t>
            </a:r>
          </a:p>
        </p:txBody>
      </p:sp>
      <p:pic>
        <p:nvPicPr>
          <p:cNvPr id="24" name="Picture 23" descr="ec5c93e6f83f209b4e97ddfdecd480c8.png"/>
          <p:cNvPicPr>
            <a:picLocks noChangeAspect="1"/>
          </p:cNvPicPr>
          <p:nvPr/>
        </p:nvPicPr>
        <p:blipFill>
          <a:blip r:embed="rId8"/>
          <a:stretch>
            <a:fillRect/>
          </a:stretch>
        </p:blipFill>
        <p:spPr>
          <a:xfrm>
            <a:off x="812967" y="6261100"/>
            <a:ext cx="171116" cy="203200"/>
          </a:xfrm>
          <a:prstGeom prst="rect">
            <a:avLst/>
          </a:prstGeom>
        </p:spPr>
      </p:pic>
      <p:sp>
        <p:nvSpPr>
          <p:cNvPr id="25" name="TextBox 2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26" name="TextBox 2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eCRF 23 · studieteam,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Welke schoenen zijn toegelaten</a:t>
            </a:r>
          </a:p>
        </p:txBody>
      </p:sp>
      <p:sp>
        <p:nvSpPr>
          <p:cNvPr id="3" name="TextBox 2"/>
          <p:cNvSpPr txBox="1"/>
          <p:nvPr/>
        </p:nvSpPr>
        <p:spPr>
          <a:xfrm>
            <a:off x="812800" y="1569641"/>
            <a:ext cx="10617200" cy="231140"/>
          </a:xfrm>
          <a:prstGeom prst="rect">
            <a:avLst/>
          </a:prstGeom>
          <a:noFill/>
        </p:spPr>
        <p:txBody>
          <a:bodyPr wrap="none" lIns="0" tIns="0" rIns="0" bIns="0" anchor="t">
            <a:noAutofit/>
          </a:bodyPr>
          <a:lstStyle/>
          <a:p>
            <a:pPr algn="l">
              <a:lnSpc>
                <a:spcPts val="1820"/>
              </a:lnSpc>
            </a:pPr>
            <a:r>
              <a:rPr sz="1400" b="1" i="0">
                <a:solidFill>
                  <a:srgbClr val="0B6E8F"/>
                </a:solidFill>
                <a:latin typeface="DM Sans"/>
              </a:rPr>
              <a:t>Buitenschoen</a:t>
            </a:r>
            <a:r>
              <a:rPr sz="1400" b="0" i="0">
                <a:solidFill>
                  <a:srgbClr val="3A4F63"/>
                </a:solidFill>
                <a:latin typeface="DM Sans"/>
              </a:rPr>
              <a:t> · één van deze drie. Hetzelfde geldt voor het </a:t>
            </a:r>
            <a:r>
              <a:rPr sz="1400" b="1" i="0">
                <a:solidFill>
                  <a:srgbClr val="0B6E8F"/>
                </a:solidFill>
                <a:latin typeface="DM Sans"/>
              </a:rPr>
              <a:t>binnenschoeisel</a:t>
            </a:r>
            <a:r>
              <a:rPr sz="1400" b="0" i="0">
                <a:solidFill>
                  <a:srgbClr val="3A4F63"/>
                </a:solidFill>
                <a:latin typeface="DM Sans"/>
              </a:rPr>
              <a:t>.</a:t>
            </a:r>
          </a:p>
        </p:txBody>
      </p:sp>
      <p:sp>
        <p:nvSpPr>
          <p:cNvPr id="4" name="Rounded Rectangle 3"/>
          <p:cNvSpPr/>
          <p:nvPr/>
        </p:nvSpPr>
        <p:spPr>
          <a:xfrm>
            <a:off x="8128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28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100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128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23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1</a:t>
            </a:r>
          </a:p>
        </p:txBody>
      </p:sp>
      <p:sp>
        <p:nvSpPr>
          <p:cNvPr id="10" name="TextBox 9"/>
          <p:cNvSpPr txBox="1"/>
          <p:nvPr/>
        </p:nvSpPr>
        <p:spPr>
          <a:xfrm>
            <a:off x="1022350" y="2435721"/>
            <a:ext cx="3044190" cy="614561"/>
          </a:xfrm>
          <a:prstGeom prst="rect">
            <a:avLst/>
          </a:prstGeom>
          <a:noFill/>
        </p:spPr>
        <p:txBody>
          <a:bodyPr wrap="square" lIns="0" tIns="0" rIns="0" bIns="0" anchor="t">
            <a:noAutofit/>
          </a:bodyPr>
          <a:lstStyle/>
          <a:p>
            <a:pPr algn="l">
              <a:lnSpc>
                <a:spcPts val="2420"/>
              </a:lnSpc>
            </a:pPr>
            <a:r>
              <a:rPr sz="2200" b="0" i="0">
                <a:solidFill>
                  <a:srgbClr val="0A2540"/>
                </a:solidFill>
                <a:latin typeface="DM Serif Display"/>
              </a:rPr>
              <a:t>Goedgekeurde confectieschoen</a:t>
            </a:r>
          </a:p>
        </p:txBody>
      </p:sp>
      <p:sp>
        <p:nvSpPr>
          <p:cNvPr id="11" name="Rounded Rectangle 10"/>
          <p:cNvSpPr/>
          <p:nvPr/>
        </p:nvSpPr>
        <p:spPr>
          <a:xfrm>
            <a:off x="43942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43942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914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942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942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037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2</a:t>
            </a:r>
          </a:p>
        </p:txBody>
      </p:sp>
      <p:sp>
        <p:nvSpPr>
          <p:cNvPr id="17" name="TextBox 16"/>
          <p:cNvSpPr txBox="1"/>
          <p:nvPr/>
        </p:nvSpPr>
        <p:spPr>
          <a:xfrm>
            <a:off x="4603750" y="2435721"/>
            <a:ext cx="3044190" cy="614561"/>
          </a:xfrm>
          <a:prstGeom prst="rect">
            <a:avLst/>
          </a:prstGeom>
          <a:noFill/>
        </p:spPr>
        <p:txBody>
          <a:bodyPr wrap="square" lIns="0" tIns="0" rIns="0" bIns="0" anchor="t">
            <a:noAutofit/>
          </a:bodyPr>
          <a:lstStyle/>
          <a:p>
            <a:pPr algn="l">
              <a:lnSpc>
                <a:spcPts val="2420"/>
              </a:lnSpc>
            </a:pPr>
            <a:r>
              <a:rPr sz="2200" b="0" i="0">
                <a:solidFill>
                  <a:srgbClr val="0A2540"/>
                </a:solidFill>
                <a:latin typeface="DM Serif Display"/>
              </a:rPr>
              <a:t>Semi-orthopedische schoen</a:t>
            </a:r>
          </a:p>
        </p:txBody>
      </p:sp>
      <p:sp>
        <p:nvSpPr>
          <p:cNvPr id="18" name="Rounded Rectangle 17"/>
          <p:cNvSpPr/>
          <p:nvPr/>
        </p:nvSpPr>
        <p:spPr>
          <a:xfrm>
            <a:off x="7975600" y="1927721"/>
            <a:ext cx="3403600" cy="1332111"/>
          </a:xfrm>
          <a:prstGeom prst="roundRect">
            <a:avLst>
              <a:gd name="adj" fmla="val 76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975600" y="1927721"/>
            <a:ext cx="3403600" cy="2540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37285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75600" y="3253482"/>
            <a:ext cx="3403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75600" y="1927721"/>
            <a:ext cx="6350" cy="1332111"/>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5150" y="2156321"/>
            <a:ext cx="3035300" cy="215900"/>
          </a:xfrm>
          <a:prstGeom prst="rect">
            <a:avLst/>
          </a:prstGeom>
          <a:noFill/>
        </p:spPr>
        <p:txBody>
          <a:bodyPr wrap="none" lIns="0" tIns="0" rIns="0" bIns="0" anchor="t">
            <a:noAutofit/>
          </a:bodyPr>
          <a:lstStyle/>
          <a:p>
            <a:pPr algn="l"/>
            <a:r>
              <a:rPr sz="1300" b="1" i="0">
                <a:solidFill>
                  <a:srgbClr val="0B6E8F"/>
                </a:solidFill>
                <a:latin typeface="DM Sans"/>
              </a:rPr>
              <a:t>3</a:t>
            </a:r>
          </a:p>
        </p:txBody>
      </p:sp>
      <p:sp>
        <p:nvSpPr>
          <p:cNvPr id="24" name="TextBox 23"/>
          <p:cNvSpPr txBox="1"/>
          <p:nvPr/>
        </p:nvSpPr>
        <p:spPr>
          <a:xfrm>
            <a:off x="8185150" y="2435721"/>
            <a:ext cx="30353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Orthopedische schoen</a:t>
            </a:r>
          </a:p>
        </p:txBody>
      </p:sp>
      <p:sp>
        <p:nvSpPr>
          <p:cNvPr id="25" name="Rectangle 24"/>
          <p:cNvSpPr/>
          <p:nvPr/>
        </p:nvSpPr>
        <p:spPr>
          <a:xfrm>
            <a:off x="812800" y="351383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3659882"/>
            <a:ext cx="2146300" cy="234950"/>
          </a:xfrm>
          <a:prstGeom prst="rect">
            <a:avLst/>
          </a:prstGeom>
          <a:noFill/>
        </p:spPr>
        <p:txBody>
          <a:bodyPr wrap="none" lIns="0" tIns="0" rIns="0" bIns="0" anchor="t">
            <a:noAutofit/>
          </a:bodyPr>
          <a:lstStyle/>
          <a:p>
            <a:pPr algn="l"/>
            <a:r>
              <a:rPr sz="1400" b="1" i="0">
                <a:solidFill>
                  <a:srgbClr val="0A2540"/>
                </a:solidFill>
                <a:latin typeface="DM Sans"/>
              </a:rPr>
              <a:t>Eén paar</a:t>
            </a:r>
          </a:p>
        </p:txBody>
      </p:sp>
      <p:sp>
        <p:nvSpPr>
          <p:cNvPr id="27" name="TextBox 26"/>
          <p:cNvSpPr txBox="1"/>
          <p:nvPr/>
        </p:nvSpPr>
        <p:spPr>
          <a:xfrm>
            <a:off x="3162300" y="3659882"/>
            <a:ext cx="838123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Heeft de patiënt maar één paar schoenen dat aan de criteria voldoet, dan moet dat paar ook in huis gedragen worden.</a:t>
            </a:r>
          </a:p>
        </p:txBody>
      </p:sp>
      <p:sp>
        <p:nvSpPr>
          <p:cNvPr id="28" name="Rectangle 27"/>
          <p:cNvSpPr/>
          <p:nvPr/>
        </p:nvSpPr>
        <p:spPr>
          <a:xfrm>
            <a:off x="812800" y="427960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2800" y="4425652"/>
            <a:ext cx="2146300" cy="234950"/>
          </a:xfrm>
          <a:prstGeom prst="rect">
            <a:avLst/>
          </a:prstGeom>
          <a:noFill/>
        </p:spPr>
        <p:txBody>
          <a:bodyPr wrap="none" lIns="0" tIns="0" rIns="0" bIns="0" anchor="t">
            <a:noAutofit/>
          </a:bodyPr>
          <a:lstStyle/>
          <a:p>
            <a:pPr algn="l"/>
            <a:r>
              <a:rPr sz="1400" b="1" i="0">
                <a:solidFill>
                  <a:srgbClr val="0A2540"/>
                </a:solidFill>
                <a:latin typeface="DM Sans"/>
              </a:rPr>
              <a:t>Documenteren</a:t>
            </a:r>
          </a:p>
        </p:txBody>
      </p:sp>
      <p:sp>
        <p:nvSpPr>
          <p:cNvPr id="30" name="TextBox 29"/>
          <p:cNvSpPr txBox="1"/>
          <p:nvPr/>
        </p:nvSpPr>
        <p:spPr>
          <a:xfrm>
            <a:off x="3162300" y="4425652"/>
            <a:ext cx="838123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Goedgekeurde buiten- en binnenschoenen worden gedocumenteerd, met foto's en een beschrijving.</a:t>
            </a:r>
          </a:p>
        </p:txBody>
      </p:sp>
      <p:sp>
        <p:nvSpPr>
          <p:cNvPr id="31" name="Rectangle 30"/>
          <p:cNvSpPr/>
          <p:nvPr/>
        </p:nvSpPr>
        <p:spPr>
          <a:xfrm>
            <a:off x="812800" y="50453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2800" y="5191423"/>
            <a:ext cx="2146300" cy="234950"/>
          </a:xfrm>
          <a:prstGeom prst="rect">
            <a:avLst/>
          </a:prstGeom>
          <a:noFill/>
        </p:spPr>
        <p:txBody>
          <a:bodyPr wrap="none" lIns="0" tIns="0" rIns="0" bIns="0" anchor="t">
            <a:noAutofit/>
          </a:bodyPr>
          <a:lstStyle/>
          <a:p>
            <a:pPr algn="l"/>
            <a:r>
              <a:rPr sz="1400" b="1" i="0">
                <a:solidFill>
                  <a:srgbClr val="A34A00"/>
                </a:solidFill>
                <a:latin typeface="DM Sans"/>
              </a:rPr>
              <a:t>Plaats voor de zool</a:t>
            </a:r>
          </a:p>
        </p:txBody>
      </p:sp>
      <p:sp>
        <p:nvSpPr>
          <p:cNvPr id="33" name="TextBox 32"/>
          <p:cNvSpPr txBox="1"/>
          <p:nvPr/>
        </p:nvSpPr>
        <p:spPr>
          <a:xfrm>
            <a:off x="3162300" y="5191423"/>
            <a:ext cx="82677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In deze schoenen moet er steeds plaats zijn voor de opgelegde zooltherapie.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studieteam, oktober 2026</a:t>
            </a:r>
          </a:p>
        </p:txBody>
      </p:sp>
    </p:spTree>
    <p:extLst>
      <p:ext uri="{BB962C8B-B14F-4D97-AF65-F5344CB8AC3E}">
        <p14:creationId xmlns:p14="http://schemas.microsoft.com/office/powerpoint/2010/main" val="12023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lang="nl-NL" sz="1200" b="0" i="0">
                <a:solidFill>
                  <a:srgbClr val="5A6E80"/>
                </a:solidFill>
                <a:latin typeface="DM Sans"/>
              </a:rPr>
              <a:t>PARADISE · Ontwikkelingen sinds 1 april</a:t>
            </a:r>
          </a:p>
        </p:txBody>
      </p:sp>
      <p:sp>
        <p:nvSpPr>
          <p:cNvPr id="4" name="TextBox 3"/>
          <p:cNvSpPr txBox="1">
            <a:spLocks/>
          </p:cNvSpPr>
          <p:nvPr/>
        </p:nvSpPr>
        <p:spPr>
          <a:xfrm>
            <a:off x="4978400" y="6254750"/>
            <a:ext cx="6400800" cy="198120"/>
          </a:xfrm>
          <a:prstGeom prst="rect">
            <a:avLst/>
          </a:prstGeom>
          <a:noFill/>
        </p:spPr>
        <p:txBody>
          <a:bodyPr wrap="none" lIns="0" tIns="0" rIns="0" bIns="0" anchor="t">
            <a:noAutofit/>
          </a:bodyPr>
          <a:lstStyle/>
          <a:p>
            <a:pPr algn="r"/>
            <a:r>
              <a:rPr lang="nl-NL" sz="1200" b="0" i="0">
                <a:solidFill>
                  <a:srgbClr val="5A6E80"/>
                </a:solidFill>
                <a:latin typeface="DM Sans"/>
              </a:rPr>
              <a:t>Bron: beslissing 30 september 2026 · eCRF 25b, 28</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NL" sz="3600" b="0" i="0" spc="-50">
                <a:solidFill>
                  <a:srgbClr val="0A2540"/>
                </a:solidFill>
                <a:latin typeface="DM Serif Display"/>
              </a:rPr>
              <a:t>Eén week MoveMonitor, een norm op maat</a:t>
            </a:r>
          </a:p>
        </p:txBody>
      </p:sp>
      <p:pic>
        <p:nvPicPr>
          <p:cNvPr id="6" name="Picture 5" descr="c3433b372cfc1d99d6ab11119954a595.png"/>
          <p:cNvPicPr>
            <a:picLocks noChangeAspect="1"/>
          </p:cNvPicPr>
          <p:nvPr/>
        </p:nvPicPr>
        <p:blipFill>
          <a:blip r:embed="rId4"/>
          <a:stretch>
            <a:fillRect/>
          </a:stretch>
        </p:blipFill>
        <p:spPr>
          <a:xfrm>
            <a:off x="812800" y="1847850"/>
            <a:ext cx="254000" cy="184150"/>
          </a:xfrm>
          <a:prstGeom prst="rect">
            <a:avLst/>
          </a:prstGeom>
        </p:spPr>
      </p:pic>
      <p:sp>
        <p:nvSpPr>
          <p:cNvPr id="7" name="TextBox 6"/>
          <p:cNvSpPr txBox="1"/>
          <p:nvPr/>
        </p:nvSpPr>
        <p:spPr>
          <a:xfrm>
            <a:off x="1130300" y="1847850"/>
            <a:ext cx="2690812" cy="184150"/>
          </a:xfrm>
          <a:prstGeom prst="rect">
            <a:avLst/>
          </a:prstGeom>
          <a:noFill/>
        </p:spPr>
        <p:txBody>
          <a:bodyPr wrap="none" lIns="0" tIns="0" rIns="0" bIns="0" anchor="t">
            <a:noAutofit/>
          </a:bodyPr>
          <a:lstStyle/>
          <a:p>
            <a:pPr algn="l"/>
            <a:r>
              <a:rPr lang="nl-NL" sz="1100" b="1" i="0">
                <a:solidFill>
                  <a:srgbClr val="0B6E8F"/>
                </a:solidFill>
                <a:latin typeface="DM Sans"/>
              </a:rPr>
              <a:t>01 · Bij de start: één week MoveMonitor</a:t>
            </a:r>
          </a:p>
        </p:txBody>
      </p:sp>
      <p:sp>
        <p:nvSpPr>
          <p:cNvPr id="8" name="Rectangle 7"/>
          <p:cNvSpPr/>
          <p:nvPr/>
        </p:nvSpPr>
        <p:spPr>
          <a:xfrm>
            <a:off x="812800" y="2108200"/>
            <a:ext cx="6826250" cy="5334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9" name="TextBox 8"/>
          <p:cNvSpPr txBox="1"/>
          <p:nvPr/>
        </p:nvSpPr>
        <p:spPr>
          <a:xfrm>
            <a:off x="952500" y="2277070"/>
            <a:ext cx="1196777" cy="195580"/>
          </a:xfrm>
          <a:prstGeom prst="rect">
            <a:avLst/>
          </a:prstGeom>
          <a:noFill/>
        </p:spPr>
        <p:txBody>
          <a:bodyPr wrap="none" lIns="0" tIns="0" rIns="0" bIns="0" anchor="t">
            <a:noAutofit/>
          </a:bodyPr>
          <a:lstStyle/>
          <a:p>
            <a:pPr algn="l">
              <a:lnSpc>
                <a:spcPts val="1540"/>
              </a:lnSpc>
            </a:pPr>
            <a:r>
              <a:rPr lang="nl-BE" sz="1400" b="1" i="0">
                <a:solidFill>
                  <a:srgbClr val="FFFFFF"/>
                </a:solidFill>
                <a:latin typeface="DM Sans"/>
              </a:rPr>
              <a:t>wakker 15,5 u</a:t>
            </a:r>
          </a:p>
        </p:txBody>
      </p:sp>
      <p:sp>
        <p:nvSpPr>
          <p:cNvPr id="10" name="Rectangle 9"/>
          <p:cNvSpPr>
            <a:spLocks/>
          </p:cNvSpPr>
          <p:nvPr/>
        </p:nvSpPr>
        <p:spPr>
          <a:xfrm>
            <a:off x="7639050" y="2108200"/>
            <a:ext cx="3740150" cy="5334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1" name="TextBox 10"/>
          <p:cNvSpPr txBox="1">
            <a:spLocks/>
          </p:cNvSpPr>
          <p:nvPr/>
        </p:nvSpPr>
        <p:spPr>
          <a:xfrm>
            <a:off x="7778750" y="2277070"/>
            <a:ext cx="977404" cy="195580"/>
          </a:xfrm>
          <a:prstGeom prst="rect">
            <a:avLst/>
          </a:prstGeom>
          <a:noFill/>
        </p:spPr>
        <p:txBody>
          <a:bodyPr wrap="none" lIns="0" tIns="0" rIns="0" bIns="0" anchor="t">
            <a:noAutofit/>
          </a:bodyPr>
          <a:lstStyle/>
          <a:p>
            <a:pPr algn="l">
              <a:lnSpc>
                <a:spcPts val="1540"/>
              </a:lnSpc>
            </a:pPr>
            <a:r>
              <a:rPr lang="nl-BE" sz="1400" b="1" i="0">
                <a:solidFill>
                  <a:srgbClr val="3A4F63"/>
                </a:solidFill>
                <a:latin typeface="DM Sans"/>
              </a:rPr>
              <a:t>slaap 8,5 u</a:t>
            </a:r>
          </a:p>
        </p:txBody>
      </p:sp>
      <p:sp>
        <p:nvSpPr>
          <p:cNvPr id="12" name="TextBox 11"/>
          <p:cNvSpPr txBox="1"/>
          <p:nvPr/>
        </p:nvSpPr>
        <p:spPr>
          <a:xfrm>
            <a:off x="812800" y="2717800"/>
            <a:ext cx="575171" cy="184150"/>
          </a:xfrm>
          <a:prstGeom prst="rect">
            <a:avLst/>
          </a:prstGeom>
          <a:noFill/>
        </p:spPr>
        <p:txBody>
          <a:bodyPr wrap="none" lIns="0" tIns="0" rIns="0" bIns="0" anchor="t">
            <a:noAutofit/>
          </a:bodyPr>
          <a:lstStyle/>
          <a:p>
            <a:pPr algn="l"/>
            <a:r>
              <a:rPr lang="nl-BE" sz="1100" b="0" i="0">
                <a:solidFill>
                  <a:srgbClr val="5A6E80"/>
                </a:solidFill>
                <a:latin typeface="DM Sans"/>
              </a:rPr>
              <a:t>opstaan</a:t>
            </a:r>
          </a:p>
        </p:txBody>
      </p:sp>
      <p:sp>
        <p:nvSpPr>
          <p:cNvPr id="13" name="TextBox 12"/>
          <p:cNvSpPr txBox="1"/>
          <p:nvPr/>
        </p:nvSpPr>
        <p:spPr>
          <a:xfrm>
            <a:off x="6904633" y="2717800"/>
            <a:ext cx="785217" cy="184150"/>
          </a:xfrm>
          <a:prstGeom prst="rect">
            <a:avLst/>
          </a:prstGeom>
          <a:noFill/>
        </p:spPr>
        <p:txBody>
          <a:bodyPr wrap="none" lIns="0" tIns="0" rIns="0" bIns="0" anchor="t">
            <a:noAutofit/>
          </a:bodyPr>
          <a:lstStyle/>
          <a:p>
            <a:pPr algn="l"/>
            <a:r>
              <a:rPr lang="nl-BE" sz="1100" b="0" i="0">
                <a:solidFill>
                  <a:srgbClr val="5A6E80"/>
                </a:solidFill>
                <a:latin typeface="DM Sans"/>
              </a:rPr>
              <a:t>slapengaan</a:t>
            </a:r>
          </a:p>
        </p:txBody>
      </p:sp>
      <p:sp>
        <p:nvSpPr>
          <p:cNvPr id="14" name="TextBox 13"/>
          <p:cNvSpPr txBox="1">
            <a:spLocks/>
          </p:cNvSpPr>
          <p:nvPr/>
        </p:nvSpPr>
        <p:spPr>
          <a:xfrm>
            <a:off x="812800" y="3136900"/>
            <a:ext cx="10617200" cy="184150"/>
          </a:xfrm>
          <a:prstGeom prst="rect">
            <a:avLst/>
          </a:prstGeom>
          <a:noFill/>
        </p:spPr>
        <p:txBody>
          <a:bodyPr wrap="none" lIns="0" tIns="0" rIns="0" bIns="0" anchor="t">
            <a:noAutofit/>
          </a:bodyPr>
          <a:lstStyle/>
          <a:p>
            <a:pPr algn="l"/>
            <a:r>
              <a:rPr lang="nl-NL" sz="1100" b="1" i="0">
                <a:solidFill>
                  <a:srgbClr val="0B6E8F"/>
                </a:solidFill>
                <a:latin typeface="DM Sans"/>
              </a:rPr>
              <a:t>02 · De norm: 80% van die waaktijd, zeven dagen per week</a:t>
            </a:r>
          </a:p>
        </p:txBody>
      </p:sp>
      <p:sp>
        <p:nvSpPr>
          <p:cNvPr id="15" name="Rectangle 14"/>
          <p:cNvSpPr>
            <a:spLocks/>
          </p:cNvSpPr>
          <p:nvPr/>
        </p:nvSpPr>
        <p:spPr>
          <a:xfrm>
            <a:off x="812800" y="3397250"/>
            <a:ext cx="54610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6" name="TextBox 15"/>
          <p:cNvSpPr txBox="1">
            <a:spLocks/>
          </p:cNvSpPr>
          <p:nvPr/>
        </p:nvSpPr>
        <p:spPr>
          <a:xfrm>
            <a:off x="952500" y="3566120"/>
            <a:ext cx="1801614" cy="195580"/>
          </a:xfrm>
          <a:prstGeom prst="rect">
            <a:avLst/>
          </a:prstGeom>
          <a:noFill/>
        </p:spPr>
        <p:txBody>
          <a:bodyPr wrap="none" lIns="0" tIns="0" rIns="0" bIns="0" anchor="t">
            <a:noAutofit/>
          </a:bodyPr>
          <a:lstStyle/>
          <a:p>
            <a:pPr algn="l">
              <a:lnSpc>
                <a:spcPts val="1540"/>
              </a:lnSpc>
            </a:pPr>
            <a:r>
              <a:rPr lang="nl-BE" sz="1400" b="1" i="0">
                <a:solidFill>
                  <a:srgbClr val="FFFFFF"/>
                </a:solidFill>
                <a:latin typeface="DM Sans"/>
              </a:rPr>
              <a:t>schoeisel aan: 12,4 u</a:t>
            </a:r>
          </a:p>
        </p:txBody>
      </p:sp>
      <p:sp>
        <p:nvSpPr>
          <p:cNvPr id="17" name="Rectangle 16"/>
          <p:cNvSpPr>
            <a:spLocks/>
          </p:cNvSpPr>
          <p:nvPr/>
        </p:nvSpPr>
        <p:spPr>
          <a:xfrm>
            <a:off x="6273800" y="33972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8" name="Rectangle 17"/>
          <p:cNvSpPr>
            <a:spLocks/>
          </p:cNvSpPr>
          <p:nvPr/>
        </p:nvSpPr>
        <p:spPr>
          <a:xfrm>
            <a:off x="7626350" y="3397250"/>
            <a:ext cx="127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9" name="Rectangle 18"/>
          <p:cNvSpPr>
            <a:spLocks/>
          </p:cNvSpPr>
          <p:nvPr/>
        </p:nvSpPr>
        <p:spPr>
          <a:xfrm>
            <a:off x="6273800" y="39179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0" name="Rectangle 19"/>
          <p:cNvSpPr/>
          <p:nvPr/>
        </p:nvSpPr>
        <p:spPr>
          <a:xfrm>
            <a:off x="812800" y="41592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2800" y="5753100"/>
            <a:ext cx="1955800" cy="292100"/>
          </a:xfrm>
          <a:prstGeom prst="rect">
            <a:avLst/>
          </a:prstGeom>
          <a:noFill/>
        </p:spPr>
        <p:txBody>
          <a:bodyPr wrap="none" lIns="0" tIns="0" rIns="0" bIns="0" anchor="t">
            <a:noAutofit/>
          </a:bodyPr>
          <a:lstStyle/>
          <a:p>
            <a:pPr algn="l"/>
            <a:r>
              <a:rPr lang="nl-BE" sz="1750" b="1" i="0">
                <a:solidFill>
                  <a:srgbClr val="A34A00"/>
                </a:solidFill>
                <a:latin typeface="DM Sans"/>
              </a:rPr>
              <a:t>Wat verandert</a:t>
            </a:r>
          </a:p>
        </p:txBody>
      </p:sp>
      <p:sp>
        <p:nvSpPr>
          <p:cNvPr id="22" name="TextBox 21"/>
          <p:cNvSpPr txBox="1"/>
          <p:nvPr/>
        </p:nvSpPr>
        <p:spPr>
          <a:xfrm>
            <a:off x="2535436" y="5734050"/>
            <a:ext cx="8534400" cy="300038"/>
          </a:xfrm>
          <a:prstGeom prst="rect">
            <a:avLst/>
          </a:prstGeom>
          <a:noFill/>
        </p:spPr>
        <p:txBody>
          <a:bodyPr wrap="none" lIns="0" tIns="0" rIns="0" bIns="0" anchor="t">
            <a:noAutofit/>
          </a:bodyPr>
          <a:lstStyle/>
          <a:p>
            <a:pPr algn="l">
              <a:lnSpc>
                <a:spcPts val="2362"/>
              </a:lnSpc>
            </a:pPr>
            <a:r>
              <a:rPr lang="nl-NL" sz="1750" b="0" i="0">
                <a:solidFill>
                  <a:srgbClr val="0A2540"/>
                </a:solidFill>
                <a:latin typeface="DM Sans"/>
              </a:rPr>
              <a:t>De meetweek op maand 6 vervalt: minder werk voor uw team.</a:t>
            </a:r>
          </a:p>
        </p:txBody>
      </p:sp>
      <p:pic>
        <p:nvPicPr>
          <p:cNvPr id="23" name="Picture 22" descr="c3433b372cfc1d99d6ab11119954a595.png"/>
          <p:cNvPicPr>
            <a:picLocks noChangeAspect="1"/>
          </p:cNvPicPr>
          <p:nvPr/>
        </p:nvPicPr>
        <p:blipFill>
          <a:blip r:embed="rId4"/>
          <a:stretch>
            <a:fillRect/>
          </a:stretch>
        </p:blipFill>
        <p:spPr>
          <a:xfrm>
            <a:off x="9627592" y="391517"/>
            <a:ext cx="2205236" cy="1642467"/>
          </a:xfrm>
          <a:prstGeom prst="rect">
            <a:avLst/>
          </a:prstGeom>
        </p:spPr>
      </p:pic>
      <p:sp>
        <p:nvSpPr>
          <p:cNvPr id="24" name="Rectangle 23"/>
          <p:cNvSpPr>
            <a:spLocks/>
          </p:cNvSpPr>
          <p:nvPr/>
        </p:nvSpPr>
        <p:spPr>
          <a:xfrm>
            <a:off x="6273800" y="34099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5" name="Rectangle 24"/>
          <p:cNvSpPr>
            <a:spLocks/>
          </p:cNvSpPr>
          <p:nvPr/>
        </p:nvSpPr>
        <p:spPr>
          <a:xfrm>
            <a:off x="7626350" y="3409950"/>
            <a:ext cx="127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6" name="Rectangle 25"/>
          <p:cNvSpPr/>
          <p:nvPr/>
        </p:nvSpPr>
        <p:spPr>
          <a:xfrm>
            <a:off x="6273800" y="3930650"/>
            <a:ext cx="136525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7" name="TextBox 26"/>
          <p:cNvSpPr txBox="1"/>
          <p:nvPr/>
        </p:nvSpPr>
        <p:spPr>
          <a:xfrm>
            <a:off x="812800" y="4993084"/>
            <a:ext cx="1955800" cy="184150"/>
          </a:xfrm>
          <a:prstGeom prst="rect">
            <a:avLst/>
          </a:prstGeom>
          <a:noFill/>
        </p:spPr>
        <p:txBody>
          <a:bodyPr wrap="none" lIns="0" tIns="0" rIns="0" bIns="0" anchor="t">
            <a:noAutofit/>
          </a:bodyPr>
          <a:lstStyle/>
          <a:p>
            <a:pPr algn="l"/>
            <a:r>
              <a:rPr lang="nl-BE" sz="1100" b="1" i="0">
                <a:solidFill>
                  <a:srgbClr val="0B6E8F"/>
                </a:solidFill>
                <a:latin typeface="DM Sans"/>
              </a:rPr>
              <a:t>03 · De boodschap</a:t>
            </a:r>
          </a:p>
        </p:txBody>
      </p:sp>
      <p:sp>
        <p:nvSpPr>
          <p:cNvPr id="28" name="TextBox 27"/>
          <p:cNvSpPr txBox="1"/>
          <p:nvPr/>
        </p:nvSpPr>
        <p:spPr>
          <a:xfrm>
            <a:off x="2269034" y="4894957"/>
            <a:ext cx="10617200" cy="317500"/>
          </a:xfrm>
          <a:prstGeom prst="rect">
            <a:avLst/>
          </a:prstGeom>
          <a:noFill/>
        </p:spPr>
        <p:txBody>
          <a:bodyPr wrap="none" lIns="0" tIns="0" rIns="0" bIns="0" anchor="t">
            <a:noAutofit/>
          </a:bodyPr>
          <a:lstStyle/>
          <a:p>
            <a:pPr algn="l">
              <a:lnSpc>
                <a:spcPts val="2500"/>
              </a:lnSpc>
            </a:pPr>
            <a:r>
              <a:rPr lang="nl-NL" sz="2000" b="0" i="1">
                <a:solidFill>
                  <a:srgbClr val="0A2540"/>
                </a:solidFill>
                <a:latin typeface="DM Serif Display"/>
              </a:rPr>
              <a:t>“U draagt uw schoenen altijd, van het moment dat u opstaat tot u gaat slapen.”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NL" sz="3600" b="0" i="0" spc="-50">
                <a:solidFill>
                  <a:srgbClr val="0A2540"/>
                </a:solidFill>
                <a:latin typeface="DM Serif Display"/>
              </a:rPr>
              <a:t>De 80% komt uit één studie</a:t>
            </a:r>
          </a:p>
        </p:txBody>
      </p:sp>
      <p:sp>
        <p:nvSpPr>
          <p:cNvPr id="4" name="Rectangle 3"/>
          <p:cNvSpPr/>
          <p:nvPr/>
        </p:nvSpPr>
        <p:spPr>
          <a:xfrm>
            <a:off x="812800" y="1544241"/>
            <a:ext cx="5428357"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a:spLocks/>
          </p:cNvSpPr>
          <p:nvPr/>
        </p:nvSpPr>
        <p:spPr>
          <a:xfrm>
            <a:off x="812800" y="1683941"/>
            <a:ext cx="5479157" cy="184150"/>
          </a:xfrm>
          <a:prstGeom prst="rect">
            <a:avLst/>
          </a:prstGeom>
          <a:noFill/>
        </p:spPr>
        <p:txBody>
          <a:bodyPr wrap="none" lIns="0" tIns="0" rIns="0" bIns="0" anchor="t">
            <a:noAutofit/>
          </a:bodyPr>
          <a:lstStyle/>
          <a:p>
            <a:pPr algn="l"/>
            <a:r>
              <a:rPr lang="nl-BE" sz="1100" b="1" i="0">
                <a:solidFill>
                  <a:srgbClr val="0B6E8F"/>
                </a:solidFill>
                <a:latin typeface="DM Sans"/>
              </a:rPr>
              <a:t>DIAFOS · Bus e.a. 2013</a:t>
            </a:r>
          </a:p>
        </p:txBody>
      </p:sp>
      <p:sp>
        <p:nvSpPr>
          <p:cNvPr id="6" name="TextBox 5"/>
          <p:cNvSpPr txBox="1"/>
          <p:nvPr/>
        </p:nvSpPr>
        <p:spPr>
          <a:xfrm>
            <a:off x="812800" y="2007791"/>
            <a:ext cx="5479157" cy="363220"/>
          </a:xfrm>
          <a:prstGeom prst="rect">
            <a:avLst/>
          </a:prstGeom>
          <a:noFill/>
        </p:spPr>
        <p:txBody>
          <a:bodyPr wrap="none" lIns="0" tIns="0" rIns="0" bIns="0" anchor="t">
            <a:noAutofit/>
          </a:bodyPr>
          <a:lstStyle/>
          <a:p>
            <a:pPr algn="l">
              <a:lnSpc>
                <a:spcPts val="2860"/>
              </a:lnSpc>
            </a:pPr>
            <a:r>
              <a:rPr lang="nl-BE" sz="2600" b="0" i="0">
                <a:solidFill>
                  <a:srgbClr val="0A2540"/>
                </a:solidFill>
                <a:latin typeface="DM Serif Display"/>
              </a:rPr>
              <a:t>80% van de stappen</a:t>
            </a:r>
          </a:p>
        </p:txBody>
      </p:sp>
      <p:sp>
        <p:nvSpPr>
          <p:cNvPr id="7" name="TextBox 6"/>
          <p:cNvSpPr txBox="1">
            <a:spLocks/>
          </p:cNvSpPr>
          <p:nvPr/>
        </p:nvSpPr>
        <p:spPr>
          <a:xfrm>
            <a:off x="812800" y="2510631"/>
            <a:ext cx="5479157" cy="240030"/>
          </a:xfrm>
          <a:prstGeom prst="rect">
            <a:avLst/>
          </a:prstGeom>
          <a:noFill/>
        </p:spPr>
        <p:txBody>
          <a:bodyPr wrap="none" lIns="0" tIns="0" rIns="0" bIns="0" anchor="t">
            <a:noAutofit/>
          </a:bodyPr>
          <a:lstStyle/>
          <a:p>
            <a:pPr algn="l">
              <a:lnSpc>
                <a:spcPts val="1889"/>
              </a:lnSpc>
            </a:pPr>
            <a:r>
              <a:rPr lang="nl-NL" sz="1400" b="0" i="0">
                <a:solidFill>
                  <a:srgbClr val="3A4F63"/>
                </a:solidFill>
                <a:latin typeface="DM Sans"/>
              </a:rPr>
              <a:t>vooraf gekozen om twee </a:t>
            </a:r>
            <a:r>
              <a:rPr lang="nl-NL" sz="1400" b="1" i="0">
                <a:solidFill>
                  <a:srgbClr val="3A4F63"/>
                </a:solidFill>
                <a:latin typeface="DM Sans"/>
              </a:rPr>
              <a:t>even grote groepen</a:t>
            </a:r>
            <a:r>
              <a:rPr lang="nl-NL" sz="1400" b="0" i="0">
                <a:solidFill>
                  <a:srgbClr val="3A4F63"/>
                </a:solidFill>
                <a:latin typeface="DM Sans"/>
              </a:rPr>
              <a:t> te maken</a:t>
            </a:r>
          </a:p>
        </p:txBody>
      </p:sp>
      <p:sp>
        <p:nvSpPr>
          <p:cNvPr id="8" name="Rectangle 7"/>
          <p:cNvSpPr/>
          <p:nvPr/>
        </p:nvSpPr>
        <p:spPr>
          <a:xfrm>
            <a:off x="812800" y="2890341"/>
            <a:ext cx="5428357"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a:spLocks/>
          </p:cNvSpPr>
          <p:nvPr/>
        </p:nvSpPr>
        <p:spPr>
          <a:xfrm>
            <a:off x="812800" y="3010991"/>
            <a:ext cx="5479157" cy="165100"/>
          </a:xfrm>
          <a:prstGeom prst="rect">
            <a:avLst/>
          </a:prstGeom>
          <a:noFill/>
        </p:spPr>
        <p:txBody>
          <a:bodyPr wrap="none" lIns="0" tIns="0" rIns="0" bIns="0" anchor="t">
            <a:noAutofit/>
          </a:bodyPr>
          <a:lstStyle/>
          <a:p>
            <a:pPr algn="l"/>
            <a:r>
              <a:rPr lang="nl-NL" sz="1000" b="1" i="0">
                <a:solidFill>
                  <a:srgbClr val="5A6E80"/>
                </a:solidFill>
                <a:latin typeface="DM Sans"/>
              </a:rPr>
              <a:t>Recidief bij wie 80% haalde · n = 79</a:t>
            </a:r>
          </a:p>
        </p:txBody>
      </p:sp>
      <p:sp>
        <p:nvSpPr>
          <p:cNvPr id="10" name="TextBox 9"/>
          <p:cNvSpPr txBox="1"/>
          <p:nvPr/>
        </p:nvSpPr>
        <p:spPr>
          <a:xfrm>
            <a:off x="812800" y="3277691"/>
            <a:ext cx="5479157" cy="182880"/>
          </a:xfrm>
          <a:prstGeom prst="rect">
            <a:avLst/>
          </a:prstGeom>
          <a:noFill/>
        </p:spPr>
        <p:txBody>
          <a:bodyPr wrap="none" lIns="0" tIns="0" rIns="0" bIns="0" anchor="t">
            <a:noAutofit/>
          </a:bodyPr>
          <a:lstStyle/>
          <a:p>
            <a:pPr algn="l">
              <a:lnSpc>
                <a:spcPts val="1440"/>
              </a:lnSpc>
            </a:pPr>
            <a:r>
              <a:rPr lang="nl-BE" sz="1200" b="0" i="0">
                <a:solidFill>
                  <a:srgbClr val="3A4F63"/>
                </a:solidFill>
                <a:latin typeface="DM Sans"/>
              </a:rPr>
              <a:t>drukverlagend schoeisel</a:t>
            </a:r>
          </a:p>
        </p:txBody>
      </p:sp>
      <p:sp>
        <p:nvSpPr>
          <p:cNvPr id="11" name="Rounded Rectangle 10"/>
          <p:cNvSpPr/>
          <p:nvPr/>
        </p:nvSpPr>
        <p:spPr>
          <a:xfrm>
            <a:off x="812800" y="3524052"/>
            <a:ext cx="141605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330450" y="3511352"/>
            <a:ext cx="811907" cy="279400"/>
          </a:xfrm>
          <a:prstGeom prst="rect">
            <a:avLst/>
          </a:prstGeom>
          <a:noFill/>
        </p:spPr>
        <p:txBody>
          <a:bodyPr wrap="none" lIns="0" tIns="0" rIns="0" bIns="0" anchor="t">
            <a:noAutofit/>
          </a:bodyPr>
          <a:lstStyle/>
          <a:p>
            <a:pPr algn="l">
              <a:lnSpc>
                <a:spcPts val="2200"/>
              </a:lnSpc>
            </a:pPr>
            <a:r>
              <a:rPr sz="2200" b="0" i="0">
                <a:solidFill>
                  <a:srgbClr val="0A2540"/>
                </a:solidFill>
                <a:latin typeface="DM Serif Display"/>
              </a:rPr>
              <a:t>25,7%</a:t>
            </a:r>
          </a:p>
        </p:txBody>
      </p:sp>
      <p:sp>
        <p:nvSpPr>
          <p:cNvPr id="13" name="TextBox 12"/>
          <p:cNvSpPr txBox="1">
            <a:spLocks/>
          </p:cNvSpPr>
          <p:nvPr/>
        </p:nvSpPr>
        <p:spPr>
          <a:xfrm>
            <a:off x="812800" y="3892352"/>
            <a:ext cx="5479157" cy="182880"/>
          </a:xfrm>
          <a:prstGeom prst="rect">
            <a:avLst/>
          </a:prstGeom>
          <a:noFill/>
        </p:spPr>
        <p:txBody>
          <a:bodyPr wrap="none" lIns="0" tIns="0" rIns="0" bIns="0" anchor="t">
            <a:noAutofit/>
          </a:bodyPr>
          <a:lstStyle/>
          <a:p>
            <a:pPr algn="l">
              <a:lnSpc>
                <a:spcPts val="1440"/>
              </a:lnSpc>
            </a:pPr>
            <a:r>
              <a:rPr lang="nl-BE" sz="1200" b="0" i="0">
                <a:solidFill>
                  <a:srgbClr val="3A4F63"/>
                </a:solidFill>
                <a:latin typeface="DM Sans"/>
              </a:rPr>
              <a:t>gebruikelijke zorg</a:t>
            </a:r>
          </a:p>
        </p:txBody>
      </p:sp>
      <p:sp>
        <p:nvSpPr>
          <p:cNvPr id="14" name="Rounded Rectangle 13"/>
          <p:cNvSpPr/>
          <p:nvPr/>
        </p:nvSpPr>
        <p:spPr>
          <a:xfrm>
            <a:off x="812800" y="4138712"/>
            <a:ext cx="262890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543300" y="4126012"/>
            <a:ext cx="805259" cy="279400"/>
          </a:xfrm>
          <a:prstGeom prst="rect">
            <a:avLst/>
          </a:prstGeom>
          <a:noFill/>
        </p:spPr>
        <p:txBody>
          <a:bodyPr wrap="none" lIns="0" tIns="0" rIns="0" bIns="0" anchor="t">
            <a:noAutofit/>
          </a:bodyPr>
          <a:lstStyle/>
          <a:p>
            <a:pPr algn="l">
              <a:lnSpc>
                <a:spcPts val="2200"/>
              </a:lnSpc>
            </a:pPr>
            <a:r>
              <a:rPr lang="nl-BE" sz="2200" b="0" i="0">
                <a:solidFill>
                  <a:srgbClr val="3A4F63"/>
                </a:solidFill>
                <a:latin typeface="DM Serif Display"/>
              </a:rPr>
              <a:t>47,8%</a:t>
            </a:r>
          </a:p>
        </p:txBody>
      </p:sp>
      <p:sp>
        <p:nvSpPr>
          <p:cNvPr id="16" name="Rectangle 15"/>
          <p:cNvSpPr/>
          <p:nvPr/>
        </p:nvSpPr>
        <p:spPr>
          <a:xfrm>
            <a:off x="6444357" y="1544241"/>
            <a:ext cx="4934843"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7" name="TextBox 16"/>
          <p:cNvSpPr txBox="1"/>
          <p:nvPr/>
        </p:nvSpPr>
        <p:spPr>
          <a:xfrm>
            <a:off x="6444357" y="1683941"/>
            <a:ext cx="4985643" cy="184150"/>
          </a:xfrm>
          <a:prstGeom prst="rect">
            <a:avLst/>
          </a:prstGeom>
          <a:noFill/>
        </p:spPr>
        <p:txBody>
          <a:bodyPr wrap="none" lIns="0" tIns="0" rIns="0" bIns="0" anchor="t">
            <a:noAutofit/>
          </a:bodyPr>
          <a:lstStyle/>
          <a:p>
            <a:pPr algn="l"/>
            <a:r>
              <a:rPr sz="1100" b="1" i="0">
                <a:solidFill>
                  <a:srgbClr val="0B6E8F"/>
                </a:solidFill>
                <a:latin typeface="DM Sans"/>
              </a:rPr>
              <a:t>Waaijman e.a. 2013 · 107 DIAFOS-patiënten</a:t>
            </a:r>
          </a:p>
        </p:txBody>
      </p:sp>
      <p:sp>
        <p:nvSpPr>
          <p:cNvPr id="18" name="TextBox 17"/>
          <p:cNvSpPr txBox="1"/>
          <p:nvPr/>
        </p:nvSpPr>
        <p:spPr>
          <a:xfrm>
            <a:off x="6444357" y="2007791"/>
            <a:ext cx="4985643" cy="363220"/>
          </a:xfrm>
          <a:prstGeom prst="rect">
            <a:avLst/>
          </a:prstGeom>
          <a:noFill/>
        </p:spPr>
        <p:txBody>
          <a:bodyPr wrap="none" lIns="0" tIns="0" rIns="0" bIns="0" anchor="t">
            <a:noAutofit/>
          </a:bodyPr>
          <a:lstStyle/>
          <a:p>
            <a:pPr algn="l">
              <a:lnSpc>
                <a:spcPts val="2860"/>
              </a:lnSpc>
            </a:pPr>
            <a:r>
              <a:rPr lang="nl-BE" sz="2600" b="0" i="0">
                <a:solidFill>
                  <a:srgbClr val="0A2540"/>
                </a:solidFill>
                <a:latin typeface="DM Serif Display"/>
              </a:rPr>
              <a:t>Zelfde week, twee getallen</a:t>
            </a:r>
          </a:p>
        </p:txBody>
      </p:sp>
      <p:sp>
        <p:nvSpPr>
          <p:cNvPr id="19" name="TextBox 18"/>
          <p:cNvSpPr txBox="1"/>
          <p:nvPr/>
        </p:nvSpPr>
        <p:spPr>
          <a:xfrm>
            <a:off x="6444357" y="2510631"/>
            <a:ext cx="4985643"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dezelfde patiënten, dezelfde meetweek</a:t>
            </a:r>
          </a:p>
        </p:txBody>
      </p:sp>
      <p:sp>
        <p:nvSpPr>
          <p:cNvPr id="20" name="Rectangle 19"/>
          <p:cNvSpPr/>
          <p:nvPr/>
        </p:nvSpPr>
        <p:spPr>
          <a:xfrm>
            <a:off x="6444357" y="2890341"/>
            <a:ext cx="4934843"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a:spLocks/>
          </p:cNvSpPr>
          <p:nvPr/>
        </p:nvSpPr>
        <p:spPr>
          <a:xfrm>
            <a:off x="6444357" y="3010991"/>
            <a:ext cx="4985643" cy="165100"/>
          </a:xfrm>
          <a:prstGeom prst="rect">
            <a:avLst/>
          </a:prstGeom>
          <a:noFill/>
        </p:spPr>
        <p:txBody>
          <a:bodyPr wrap="none" lIns="0" tIns="0" rIns="0" bIns="0" anchor="t">
            <a:noAutofit/>
          </a:bodyPr>
          <a:lstStyle/>
          <a:p>
            <a:pPr algn="l"/>
            <a:r>
              <a:rPr lang="nl-BE" sz="1000" b="1" i="0">
                <a:solidFill>
                  <a:srgbClr val="5A6E80"/>
                </a:solidFill>
                <a:latin typeface="DM Sans"/>
              </a:rPr>
              <a:t>Gemiddelde therapietrouw</a:t>
            </a:r>
          </a:p>
        </p:txBody>
      </p:sp>
      <p:sp>
        <p:nvSpPr>
          <p:cNvPr id="22" name="TextBox 21"/>
          <p:cNvSpPr txBox="1"/>
          <p:nvPr/>
        </p:nvSpPr>
        <p:spPr>
          <a:xfrm>
            <a:off x="6444357" y="3277691"/>
            <a:ext cx="4985643" cy="182880"/>
          </a:xfrm>
          <a:prstGeom prst="rect">
            <a:avLst/>
          </a:prstGeom>
          <a:noFill/>
        </p:spPr>
        <p:txBody>
          <a:bodyPr wrap="none" lIns="0" tIns="0" rIns="0" bIns="0" anchor="t">
            <a:noAutofit/>
          </a:bodyPr>
          <a:lstStyle/>
          <a:p>
            <a:pPr algn="l">
              <a:lnSpc>
                <a:spcPts val="1440"/>
              </a:lnSpc>
            </a:pPr>
            <a:r>
              <a:rPr sz="1200" b="0" i="0">
                <a:solidFill>
                  <a:srgbClr val="3A4F63"/>
                </a:solidFill>
                <a:latin typeface="DM Sans"/>
              </a:rPr>
              <a:t>van alle stappen gezet in de schoen</a:t>
            </a:r>
          </a:p>
        </p:txBody>
      </p:sp>
      <p:sp>
        <p:nvSpPr>
          <p:cNvPr id="23" name="Rounded Rectangle 22"/>
          <p:cNvSpPr>
            <a:spLocks/>
          </p:cNvSpPr>
          <p:nvPr/>
        </p:nvSpPr>
        <p:spPr>
          <a:xfrm>
            <a:off x="6444357" y="3524052"/>
            <a:ext cx="212090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4" name="TextBox 23"/>
          <p:cNvSpPr txBox="1"/>
          <p:nvPr/>
        </p:nvSpPr>
        <p:spPr>
          <a:xfrm>
            <a:off x="8666857" y="3511352"/>
            <a:ext cx="528638" cy="279400"/>
          </a:xfrm>
          <a:prstGeom prst="rect">
            <a:avLst/>
          </a:prstGeom>
          <a:noFill/>
        </p:spPr>
        <p:txBody>
          <a:bodyPr wrap="none" lIns="0" tIns="0" rIns="0" bIns="0" anchor="t">
            <a:noAutofit/>
          </a:bodyPr>
          <a:lstStyle/>
          <a:p>
            <a:pPr algn="l">
              <a:lnSpc>
                <a:spcPts val="2200"/>
              </a:lnSpc>
            </a:pPr>
            <a:r>
              <a:rPr sz="2200" b="0" i="0">
                <a:solidFill>
                  <a:srgbClr val="0A2540"/>
                </a:solidFill>
                <a:latin typeface="DM Serif Display"/>
              </a:rPr>
              <a:t>71%</a:t>
            </a:r>
          </a:p>
        </p:txBody>
      </p:sp>
      <p:sp>
        <p:nvSpPr>
          <p:cNvPr id="25" name="TextBox 24"/>
          <p:cNvSpPr txBox="1">
            <a:spLocks/>
          </p:cNvSpPr>
          <p:nvPr/>
        </p:nvSpPr>
        <p:spPr>
          <a:xfrm>
            <a:off x="6444357" y="3892352"/>
            <a:ext cx="4985643" cy="182880"/>
          </a:xfrm>
          <a:prstGeom prst="rect">
            <a:avLst/>
          </a:prstGeom>
          <a:noFill/>
        </p:spPr>
        <p:txBody>
          <a:bodyPr wrap="none" lIns="0" tIns="0" rIns="0" bIns="0" anchor="t">
            <a:noAutofit/>
          </a:bodyPr>
          <a:lstStyle/>
          <a:p>
            <a:pPr algn="l">
              <a:lnSpc>
                <a:spcPts val="1440"/>
              </a:lnSpc>
            </a:pPr>
            <a:r>
              <a:rPr lang="nl-NL" sz="1200" b="0" i="0">
                <a:solidFill>
                  <a:srgbClr val="3A4F63"/>
                </a:solidFill>
                <a:latin typeface="DM Sans"/>
              </a:rPr>
              <a:t>van een aangenomen dag van 16 uur (9,4 u gedragen)</a:t>
            </a:r>
          </a:p>
        </p:txBody>
      </p:sp>
      <p:sp>
        <p:nvSpPr>
          <p:cNvPr id="26" name="Rounded Rectangle 25"/>
          <p:cNvSpPr/>
          <p:nvPr/>
        </p:nvSpPr>
        <p:spPr>
          <a:xfrm>
            <a:off x="6444357" y="4138712"/>
            <a:ext cx="175895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04907" y="4126012"/>
            <a:ext cx="591443" cy="279400"/>
          </a:xfrm>
          <a:prstGeom prst="rect">
            <a:avLst/>
          </a:prstGeom>
          <a:noFill/>
        </p:spPr>
        <p:txBody>
          <a:bodyPr wrap="none" lIns="0" tIns="0" rIns="0" bIns="0" anchor="t">
            <a:noAutofit/>
          </a:bodyPr>
          <a:lstStyle/>
          <a:p>
            <a:pPr algn="l">
              <a:lnSpc>
                <a:spcPts val="2200"/>
              </a:lnSpc>
            </a:pPr>
            <a:r>
              <a:rPr lang="nl-BE" sz="2200" b="0" i="0">
                <a:solidFill>
                  <a:srgbClr val="3A4F63"/>
                </a:solidFill>
                <a:latin typeface="DM Serif Display"/>
              </a:rPr>
              <a:t>59%</a:t>
            </a:r>
          </a:p>
        </p:txBody>
      </p:sp>
      <p:sp>
        <p:nvSpPr>
          <p:cNvPr id="28" name="TextBox 27"/>
          <p:cNvSpPr txBox="1"/>
          <p:nvPr/>
        </p:nvSpPr>
        <p:spPr>
          <a:xfrm>
            <a:off x="812800" y="4634012"/>
            <a:ext cx="10617200" cy="257175"/>
          </a:xfrm>
          <a:prstGeom prst="rect">
            <a:avLst/>
          </a:prstGeom>
          <a:noFill/>
        </p:spPr>
        <p:txBody>
          <a:bodyPr wrap="none" lIns="0" tIns="0" rIns="0" bIns="0" anchor="t">
            <a:noAutofit/>
          </a:bodyPr>
          <a:lstStyle/>
          <a:p>
            <a:pPr algn="l">
              <a:lnSpc>
                <a:spcPts val="2025"/>
              </a:lnSpc>
            </a:pPr>
            <a:r>
              <a:rPr sz="1500" b="0" i="0">
                <a:solidFill>
                  <a:srgbClr val="0A2540"/>
                </a:solidFill>
                <a:latin typeface="DM Sans"/>
              </a:rPr>
              <a:t>80% van de stappen is niet 80% van de dag. </a:t>
            </a:r>
            <a:r>
              <a:rPr sz="1500" b="1" i="0">
                <a:solidFill>
                  <a:srgbClr val="0A2540"/>
                </a:solidFill>
                <a:latin typeface="DM Sans"/>
              </a:rPr>
              <a:t>PARADISE rekent in uren van de gemeten waaktijd.</a:t>
            </a:r>
          </a:p>
        </p:txBody>
      </p:sp>
      <p:pic>
        <p:nvPicPr>
          <p:cNvPr id="29" name="Picture 2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0" name="TextBox 2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31" name="TextBox 30"/>
          <p:cNvSpPr txBox="1"/>
          <p:nvPr/>
        </p:nvSpPr>
        <p:spPr>
          <a:xfrm>
            <a:off x="4978400" y="6254750"/>
            <a:ext cx="6400800" cy="198120"/>
          </a:xfrm>
          <a:prstGeom prst="rect">
            <a:avLst/>
          </a:prstGeom>
          <a:noFill/>
        </p:spPr>
        <p:txBody>
          <a:bodyPr wrap="none" lIns="0" tIns="0" rIns="0" bIns="0" anchor="t">
            <a:noAutofit/>
          </a:bodyPr>
          <a:lstStyle/>
          <a:p>
            <a:pPr algn="r"/>
            <a:r>
              <a:rPr lang="nl-BE" sz="1200" b="0" i="0">
                <a:solidFill>
                  <a:srgbClr val="5A6E80"/>
                </a:solidFill>
                <a:latin typeface="DM Sans"/>
              </a:rPr>
              <a:t>Bron: Bus e.a. 2013 (DIAFOS) · Waaijman e.a. 2013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a:spLocks/>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a:spLocks/>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lang="nl-NL" sz="1400" b="0" i="0">
                <a:solidFill>
                  <a:srgbClr val="9FB3C6"/>
                </a:solidFill>
                <a:latin typeface="DM Sans"/>
              </a:rPr>
              <a:t>2 Ontwikkelingen sinds 1 april</a:t>
            </a:r>
          </a:p>
        </p:txBody>
      </p:sp>
      <p:pic>
        <p:nvPicPr>
          <p:cNvPr id="11" name="Picture 10" descr="78e1c08c648ea238ba766890b863e925.png"/>
          <p:cNvPicPr>
            <a:picLocks noChangeAspect="1"/>
          </p:cNvPicPr>
          <p:nvPr/>
        </p:nvPicPr>
        <p:blipFill>
          <a:blip r:embed="rId6"/>
          <a:stretch>
            <a:fillRect/>
          </a:stretch>
        </p:blipFill>
        <p:spPr>
          <a:xfrm>
            <a:off x="6375400" y="1663700"/>
            <a:ext cx="2133600" cy="1200150"/>
          </a:xfrm>
          <a:prstGeom prst="rect">
            <a:avLst/>
          </a:prstGeom>
        </p:spPr>
      </p:pic>
      <p:pic>
        <p:nvPicPr>
          <p:cNvPr id="12" name="Picture 11" descr="1936b300a323b1d5fafa4319ba1396a7.png"/>
          <p:cNvPicPr>
            <a:picLocks noChangeAspect="1"/>
          </p:cNvPicPr>
          <p:nvPr/>
        </p:nvPicPr>
        <p:blipFill>
          <a:blip r:embed="rId7"/>
          <a:stretch>
            <a:fillRect/>
          </a:stretch>
        </p:blipFill>
        <p:spPr>
          <a:xfrm>
            <a:off x="6286500" y="1752600"/>
            <a:ext cx="2311400" cy="1301750"/>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14" name="Picture 13" descr="b3575449de919ba8ba77497cf770d56b.png"/>
          <p:cNvPicPr>
            <a:picLocks noChangeAspect="1"/>
          </p:cNvPicPr>
          <p:nvPr/>
        </p:nvPicPr>
        <p:blipFill>
          <a:blip r:embed="rId8"/>
          <a:stretch>
            <a:fillRect/>
          </a:stretch>
        </p:blipFill>
        <p:spPr>
          <a:xfrm>
            <a:off x="6216650" y="1860550"/>
            <a:ext cx="2451100" cy="1378744"/>
          </a:xfrm>
          <a:prstGeom prst="rect">
            <a:avLst/>
          </a:prstGeom>
        </p:spPr>
      </p:pic>
      <p:sp>
        <p:nvSpPr>
          <p:cNvPr id="15" name="TextBox 14"/>
          <p:cNvSpPr txBox="1">
            <a:spLocks/>
          </p:cNvSpPr>
          <p:nvPr/>
        </p:nvSpPr>
        <p:spPr>
          <a:xfrm>
            <a:off x="61976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A34A00"/>
                </a:solidFill>
                <a:latin typeface="DM Sans"/>
              </a:rPr>
              <a:t>3 Werkpakketten</a:t>
            </a:r>
          </a:p>
        </p:txBody>
      </p:sp>
      <p:sp>
        <p:nvSpPr>
          <p:cNvPr id="16" name="Rounded Rectangle 15"/>
          <p:cNvSpPr>
            <a:spLocks/>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17" name="Picture 16" descr="76718c0faffa53b3e96d91bd5d17d843.png"/>
          <p:cNvPicPr>
            <a:picLocks noChangeAspect="1"/>
          </p:cNvPicPr>
          <p:nvPr/>
        </p:nvPicPr>
        <p:blipFill>
          <a:blip r:embed="rId9"/>
          <a:stretch>
            <a:fillRect/>
          </a:stretch>
        </p:blipFill>
        <p:spPr>
          <a:xfrm>
            <a:off x="8896350" y="1847850"/>
            <a:ext cx="2476500" cy="1393031"/>
          </a:xfrm>
          <a:prstGeom prst="rect">
            <a:avLst/>
          </a:prstGeom>
        </p:spPr>
      </p:pic>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0A2540"/>
                </a:solidFill>
                <a:latin typeface="DM Sans"/>
              </a:rPr>
              <a:t>4 Aandachtspunten</a:t>
            </a:r>
          </a:p>
        </p:txBody>
      </p:sp>
      <p:pic>
        <p:nvPicPr>
          <p:cNvPr id="19" name="Picture 18" descr="0a62dff855207c43a1c6690d0e4c697a.png"/>
          <p:cNvPicPr>
            <a:picLocks noChangeAspect="1"/>
          </p:cNvPicPr>
          <p:nvPr/>
        </p:nvPicPr>
        <p:blipFill>
          <a:blip r:embed="rId10"/>
          <a:stretch>
            <a:fillRect/>
          </a:stretch>
        </p:blipFill>
        <p:spPr>
          <a:xfrm>
            <a:off x="2336800" y="3937000"/>
            <a:ext cx="2133600" cy="1200150"/>
          </a:xfrm>
          <a:prstGeom prst="rect">
            <a:avLst/>
          </a:prstGeom>
        </p:spPr>
      </p:pic>
      <p:pic>
        <p:nvPicPr>
          <p:cNvPr id="20" name="Picture 19" descr="993f9ef2261edfc6639be1e2fe47b272.png"/>
          <p:cNvPicPr>
            <a:picLocks noChangeAspect="1"/>
          </p:cNvPicPr>
          <p:nvPr/>
        </p:nvPicPr>
        <p:blipFill>
          <a:blip r:embed="rId11"/>
          <a:stretch>
            <a:fillRect/>
          </a:stretch>
        </p:blipFill>
        <p:spPr>
          <a:xfrm>
            <a:off x="2247900" y="4025900"/>
            <a:ext cx="2311400" cy="1301750"/>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c828e07bbef239086018a2f6a17a466c.png"/>
          <p:cNvPicPr>
            <a:picLocks noChangeAspect="1"/>
          </p:cNvPicPr>
          <p:nvPr/>
        </p:nvPicPr>
        <p:blipFill>
          <a:blip r:embed="rId12"/>
          <a:stretch>
            <a:fillRect/>
          </a:stretch>
        </p:blipFill>
        <p:spPr>
          <a:xfrm>
            <a:off x="2165350" y="4121150"/>
            <a:ext cx="2476500" cy="1393031"/>
          </a:xfrm>
          <a:prstGeom prst="rect">
            <a:avLst/>
          </a:prstGeom>
        </p:spPr>
      </p:pic>
      <p:sp>
        <p:nvSpPr>
          <p:cNvPr id="23" name="TextBox 22"/>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4" name="Picture 23" descr="dad1d5849a0f54ecab7e2a87be32dc30.png"/>
          <p:cNvPicPr>
            <a:picLocks noChangeAspect="1"/>
          </p:cNvPicPr>
          <p:nvPr/>
        </p:nvPicPr>
        <p:blipFill>
          <a:blip r:embed="rId13"/>
          <a:stretch>
            <a:fillRect/>
          </a:stretch>
        </p:blipFill>
        <p:spPr>
          <a:xfrm>
            <a:off x="4940300" y="4025900"/>
            <a:ext cx="2311400" cy="1301750"/>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a218f23a9d1aeae7790db2aa9d8f48a7.png"/>
          <p:cNvPicPr>
            <a:picLocks noChangeAspect="1"/>
          </p:cNvPicPr>
          <p:nvPr/>
        </p:nvPicPr>
        <p:blipFill>
          <a:blip r:embed="rId14"/>
          <a:stretch>
            <a:fillRect/>
          </a:stretch>
        </p:blipFill>
        <p:spPr>
          <a:xfrm>
            <a:off x="4857750" y="4121150"/>
            <a:ext cx="2476500" cy="1393031"/>
          </a:xfrm>
          <a:prstGeom prst="rect">
            <a:avLst/>
          </a:prstGeom>
        </p:spPr>
      </p:pic>
      <p:sp>
        <p:nvSpPr>
          <p:cNvPr id="27" name="TextBox 26"/>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8" name="Picture 27" descr="e49a2c4874452277a94494e99280aaa0.png"/>
          <p:cNvPicPr>
            <a:picLocks noChangeAspect="1"/>
          </p:cNvPicPr>
          <p:nvPr/>
        </p:nvPicPr>
        <p:blipFill>
          <a:blip r:embed="rId15"/>
          <a:stretch>
            <a:fillRect/>
          </a:stretch>
        </p:blipFill>
        <p:spPr>
          <a:xfrm>
            <a:off x="7632700" y="4025900"/>
            <a:ext cx="2311400" cy="1301750"/>
          </a:xfrm>
          <a:prstGeom prst="rect">
            <a:avLst/>
          </a:prstGeom>
        </p:spPr>
      </p:pic>
      <p:sp>
        <p:nvSpPr>
          <p:cNvPr id="29" name="Rounded Rectangle 28"/>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0b3315c9a761b9fd4dfcb184751fa8ea.png"/>
          <p:cNvPicPr>
            <a:picLocks noChangeAspect="1"/>
          </p:cNvPicPr>
          <p:nvPr/>
        </p:nvPicPr>
        <p:blipFill>
          <a:blip r:embed="rId16"/>
          <a:stretch>
            <a:fillRect/>
          </a:stretch>
        </p:blipFill>
        <p:spPr>
          <a:xfrm>
            <a:off x="7550150" y="4121150"/>
            <a:ext cx="2476500" cy="1393031"/>
          </a:xfrm>
          <a:prstGeom prst="rect">
            <a:avLst/>
          </a:prstGeom>
        </p:spPr>
      </p:pic>
      <p:sp>
        <p:nvSpPr>
          <p:cNvPr id="31" name="TextBox 30"/>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2" name="TextBox 3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3" name="Picture 32" descr="ec5c93e6f83f209b4e97ddfdecd480c8.png"/>
          <p:cNvPicPr>
            <a:picLocks noChangeAspect="1"/>
          </p:cNvPicPr>
          <p:nvPr/>
        </p:nvPicPr>
        <p:blipFill>
          <a:blip r:embed="rId17"/>
          <a:stretch>
            <a:fillRect/>
          </a:stretch>
        </p:blipFill>
        <p:spPr>
          <a:xfrm>
            <a:off x="812967" y="6261100"/>
            <a:ext cx="171116" cy="203200"/>
          </a:xfrm>
          <a:prstGeom prst="rect">
            <a:avLst/>
          </a:prstGeom>
        </p:spPr>
      </p:pic>
      <p:sp>
        <p:nvSpPr>
          <p:cNvPr id="34" name="TextBox 3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lang="nl-BE" sz="18000" b="0" i="0">
                <a:solidFill>
                  <a:srgbClr val="FF9A3D"/>
                </a:solidFill>
                <a:latin typeface="DM Serif Display"/>
              </a:rPr>
              <a:t>3</a:t>
            </a:r>
          </a:p>
        </p:txBody>
      </p:sp>
      <p:sp>
        <p:nvSpPr>
          <p:cNvPr id="4" name="TextBox 3"/>
          <p:cNvSpPr txBox="1">
            <a:spLocks/>
          </p:cNvSpPr>
          <p:nvPr/>
        </p:nvSpPr>
        <p:spPr>
          <a:xfrm>
            <a:off x="3327400" y="812800"/>
            <a:ext cx="8102600" cy="215900"/>
          </a:xfrm>
          <a:prstGeom prst="rect">
            <a:avLst/>
          </a:prstGeom>
          <a:noFill/>
        </p:spPr>
        <p:txBody>
          <a:bodyPr wrap="none" lIns="0" tIns="0" rIns="0" bIns="0" anchor="t">
            <a:noAutofit/>
          </a:bodyPr>
          <a:lstStyle/>
          <a:p>
            <a:pPr algn="l"/>
            <a:r>
              <a:rPr lang="nl-BE" sz="1300" b="1" i="0">
                <a:solidFill>
                  <a:srgbClr val="52BDEC"/>
                </a:solidFill>
                <a:latin typeface="DM Sans"/>
              </a:rPr>
              <a:t>Deel 3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lang="nl-BE" sz="4400" b="0" i="0" spc="-50">
                <a:solidFill>
                  <a:srgbClr val="F2F8FC"/>
                </a:solidFill>
                <a:latin typeface="DM Serif Display"/>
              </a:rPr>
              <a:t>Werkpakketten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lang="nl-NL" sz="2200" b="0" i="1">
                <a:solidFill>
                  <a:srgbClr val="52BDEC"/>
                </a:solidFill>
                <a:latin typeface="DM Serif Display"/>
              </a:rPr>
              <a:t>Wat verandert er in uw kliniek?</a:t>
            </a:r>
          </a:p>
        </p:txBody>
      </p:sp>
      <p:sp>
        <p:nvSpPr>
          <p:cNvPr id="7" name="Rectangle 6"/>
          <p:cNvSpPr>
            <a:spLocks/>
          </p:cNvSpPr>
          <p:nvPr/>
        </p:nvSpPr>
        <p:spPr>
          <a:xfrm>
            <a:off x="3327400" y="3152378"/>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a:spLocks/>
          </p:cNvSpPr>
          <p:nvPr/>
        </p:nvSpPr>
        <p:spPr>
          <a:xfrm>
            <a:off x="3327400" y="3247628"/>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vijf werkpakketten, één studie</a:t>
            </a:r>
          </a:p>
        </p:txBody>
      </p:sp>
      <p:sp>
        <p:nvSpPr>
          <p:cNvPr id="9" name="Rectangle 8"/>
          <p:cNvSpPr>
            <a:spLocks/>
          </p:cNvSpPr>
          <p:nvPr/>
        </p:nvSpPr>
        <p:spPr>
          <a:xfrm>
            <a:off x="3327400" y="3600648"/>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a:spLocks/>
          </p:cNvSpPr>
          <p:nvPr/>
        </p:nvSpPr>
        <p:spPr>
          <a:xfrm>
            <a:off x="3327400" y="3695898"/>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het traject, visite per visite</a:t>
            </a:r>
          </a:p>
        </p:txBody>
      </p:sp>
      <p:sp>
        <p:nvSpPr>
          <p:cNvPr id="11" name="Rectangle 10"/>
          <p:cNvSpPr>
            <a:spLocks/>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 name="TextBox 11"/>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SEBIA, en hoe uw team het leert</a:t>
            </a:r>
          </a:p>
        </p:txBody>
      </p:sp>
      <p:sp>
        <p:nvSpPr>
          <p:cNvPr id="13" name="Rectangle 12"/>
          <p:cNvSpPr>
            <a:spLocks/>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4" name="TextBox 13"/>
          <p:cNvSpPr txBox="1">
            <a:spLocks/>
          </p:cNvSpPr>
          <p:nvPr/>
        </p:nvSpPr>
        <p:spPr>
          <a:xfrm>
            <a:off x="3327400" y="4592439"/>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procesevaluatie en gezondheidseconomie</a:t>
            </a:r>
          </a:p>
        </p:txBody>
      </p:sp>
      <p:sp>
        <p:nvSpPr>
          <p:cNvPr id="15" name="Rectangle 14"/>
          <p:cNvSpPr>
            <a:spLocks/>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6" name="TextBox 15"/>
          <p:cNvSpPr txBox="1">
            <a:spLocks/>
          </p:cNvSpPr>
          <p:nvPr/>
        </p:nvSpPr>
        <p:spPr>
          <a:xfrm>
            <a:off x="3327400" y="5040709"/>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wie in aanmerking komt</a:t>
            </a:r>
          </a:p>
        </p:txBody>
      </p:sp>
      <p:sp>
        <p:nvSpPr>
          <p:cNvPr id="17" name="Rectangle 16"/>
          <p:cNvSpPr>
            <a:spLocks/>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8" name="TextBox 17"/>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bij een nieuwe wonde</a:t>
            </a:r>
          </a:p>
        </p:txBody>
      </p:sp>
      <p:pic>
        <p:nvPicPr>
          <p:cNvPr id="19" name="Picture 1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0" name="TextBox 19"/>
          <p:cNvSpPr txBox="1">
            <a:spLocks/>
          </p:cNvSpPr>
          <p:nvPr/>
        </p:nvSpPr>
        <p:spPr>
          <a:xfrm>
            <a:off x="1066800" y="6254750"/>
            <a:ext cx="5765800" cy="198120"/>
          </a:xfrm>
          <a:prstGeom prst="rect">
            <a:avLst/>
          </a:prstGeom>
          <a:noFill/>
        </p:spPr>
        <p:txBody>
          <a:bodyPr wrap="none" lIns="0" tIns="0" rIns="0" bIns="0" anchor="t">
            <a:noAutofit/>
          </a:bodyPr>
          <a:lstStyle/>
          <a:p>
            <a:pPr algn="l"/>
            <a:r>
              <a:rPr lang="nl-BE" sz="1200" b="0" i="0">
                <a:solidFill>
                  <a:srgbClr val="6F8FAA"/>
                </a:solidFill>
                <a:latin typeface="DM Sans"/>
              </a:rPr>
              <a:t>PARADISE · Werkpakketten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1568450"/>
            <a:ext cx="1943100" cy="19558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Vijf werkpakketten, één studie</a:t>
            </a:r>
          </a:p>
        </p:txBody>
      </p:sp>
      <p:sp>
        <p:nvSpPr>
          <p:cNvPr id="4" name="Rectangle 3"/>
          <p:cNvSpPr>
            <a:spLocks/>
          </p:cNvSpPr>
          <p:nvPr/>
        </p:nvSpPr>
        <p:spPr>
          <a:xfrm>
            <a:off x="812800" y="1569641"/>
            <a:ext cx="1941711" cy="19050"/>
          </a:xfrm>
          <a:prstGeom prst="rect">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5" name="TextBox 4"/>
          <p:cNvSpPr txBox="1"/>
          <p:nvPr/>
        </p:nvSpPr>
        <p:spPr>
          <a:xfrm>
            <a:off x="812800" y="1715691"/>
            <a:ext cx="1992511" cy="198120"/>
          </a:xfrm>
          <a:prstGeom prst="rect">
            <a:avLst/>
          </a:prstGeom>
          <a:noFill/>
        </p:spPr>
        <p:txBody>
          <a:bodyPr wrap="none" lIns="0" tIns="0" rIns="0" bIns="0" anchor="t">
            <a:noAutofit/>
          </a:bodyPr>
          <a:lstStyle/>
          <a:p>
            <a:pPr algn="l"/>
            <a:r>
              <a:rPr lang="nl-BE" sz="1200" b="0" i="0">
                <a:solidFill>
                  <a:srgbClr val="0B6E8F"/>
                </a:solidFill>
                <a:latin typeface="DM Sans"/>
              </a:rPr>
              <a:t>WP1</a:t>
            </a:r>
          </a:p>
        </p:txBody>
      </p:sp>
      <p:sp>
        <p:nvSpPr>
          <p:cNvPr id="6" name="TextBox 5"/>
          <p:cNvSpPr txBox="1">
            <a:spLocks/>
          </p:cNvSpPr>
          <p:nvPr/>
        </p:nvSpPr>
        <p:spPr>
          <a:xfrm>
            <a:off x="812800" y="1976041"/>
            <a:ext cx="1992511" cy="251460"/>
          </a:xfrm>
          <a:prstGeom prst="rect">
            <a:avLst/>
          </a:prstGeom>
          <a:noFill/>
        </p:spPr>
        <p:txBody>
          <a:bodyPr wrap="none" lIns="0" tIns="0" rIns="0" bIns="0" anchor="t">
            <a:noAutofit/>
          </a:bodyPr>
          <a:lstStyle/>
          <a:p>
            <a:pPr algn="l">
              <a:lnSpc>
                <a:spcPts val="1980"/>
              </a:lnSpc>
            </a:pPr>
            <a:r>
              <a:rPr lang="nl-BE" sz="1800" b="0" i="0">
                <a:solidFill>
                  <a:srgbClr val="0A2540"/>
                </a:solidFill>
                <a:latin typeface="DM Serif Display"/>
              </a:rPr>
              <a:t>De klinische studie</a:t>
            </a:r>
          </a:p>
        </p:txBody>
      </p:sp>
      <p:sp>
        <p:nvSpPr>
          <p:cNvPr id="7" name="TextBox 6"/>
          <p:cNvSpPr txBox="1"/>
          <p:nvPr/>
        </p:nvSpPr>
        <p:spPr>
          <a:xfrm>
            <a:off x="812800" y="2290961"/>
            <a:ext cx="1992511" cy="198120"/>
          </a:xfrm>
          <a:prstGeom prst="rect">
            <a:avLst/>
          </a:prstGeom>
          <a:noFill/>
        </p:spPr>
        <p:txBody>
          <a:bodyPr wrap="none" lIns="0" tIns="0" rIns="0" bIns="0" anchor="t">
            <a:noAutofit/>
          </a:bodyPr>
          <a:lstStyle/>
          <a:p>
            <a:pPr algn="l">
              <a:lnSpc>
                <a:spcPts val="1560"/>
              </a:lnSpc>
            </a:pPr>
            <a:r>
              <a:rPr lang="nl-BE" sz="1200" b="0" i="0">
                <a:solidFill>
                  <a:srgbClr val="5A6E80"/>
                </a:solidFill>
                <a:latin typeface="DM Sans"/>
              </a:rPr>
              <a:t>studieteam KU Leuven</a:t>
            </a:r>
          </a:p>
        </p:txBody>
      </p:sp>
      <p:sp>
        <p:nvSpPr>
          <p:cNvPr id="8" name="Rectangle 7"/>
          <p:cNvSpPr>
            <a:spLocks/>
          </p:cNvSpPr>
          <p:nvPr/>
        </p:nvSpPr>
        <p:spPr>
          <a:xfrm>
            <a:off x="812800" y="2552502"/>
            <a:ext cx="194171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9" name="TextBox 8"/>
          <p:cNvSpPr txBox="1">
            <a:spLocks/>
          </p:cNvSpPr>
          <p:nvPr/>
        </p:nvSpPr>
        <p:spPr>
          <a:xfrm>
            <a:off x="812800" y="2635052"/>
            <a:ext cx="1992511" cy="445691"/>
          </a:xfrm>
          <a:prstGeom prst="rect">
            <a:avLst/>
          </a:prstGeom>
          <a:noFill/>
        </p:spPr>
        <p:txBody>
          <a:bodyPr wrap="square" lIns="0" tIns="0" rIns="0" bIns="0" anchor="t">
            <a:noAutofit/>
          </a:bodyPr>
          <a:lstStyle/>
          <a:p>
            <a:pPr algn="l">
              <a:lnSpc>
                <a:spcPts val="1755"/>
              </a:lnSpc>
            </a:pPr>
            <a:r>
              <a:rPr lang="nl-NL" sz="1300" b="0" i="0">
                <a:solidFill>
                  <a:srgbClr val="3A4F63"/>
                </a:solidFill>
                <a:latin typeface="DM Sans"/>
              </a:rPr>
              <a:t>Protocol en eCRF's klaar; opleiding, piloot, inclusie</a:t>
            </a:r>
          </a:p>
        </p:txBody>
      </p:sp>
      <p:sp>
        <p:nvSpPr>
          <p:cNvPr id="10" name="Rectangle 9"/>
          <p:cNvSpPr>
            <a:spLocks/>
          </p:cNvSpPr>
          <p:nvPr/>
        </p:nvSpPr>
        <p:spPr>
          <a:xfrm>
            <a:off x="2881511"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1" name="TextBox 10"/>
          <p:cNvSpPr txBox="1"/>
          <p:nvPr/>
        </p:nvSpPr>
        <p:spPr>
          <a:xfrm>
            <a:off x="2881511" y="1709341"/>
            <a:ext cx="1992610" cy="198120"/>
          </a:xfrm>
          <a:prstGeom prst="rect">
            <a:avLst/>
          </a:prstGeom>
          <a:noFill/>
        </p:spPr>
        <p:txBody>
          <a:bodyPr wrap="none" lIns="0" tIns="0" rIns="0" bIns="0" anchor="t">
            <a:noAutofit/>
          </a:bodyPr>
          <a:lstStyle/>
          <a:p>
            <a:pPr algn="l"/>
            <a:r>
              <a:rPr lang="nl-BE" sz="1200" b="0" i="0">
                <a:solidFill>
                  <a:srgbClr val="0B6E8F"/>
                </a:solidFill>
                <a:latin typeface="DM Sans"/>
              </a:rPr>
              <a:t>WP2</a:t>
            </a:r>
          </a:p>
        </p:txBody>
      </p:sp>
      <p:sp>
        <p:nvSpPr>
          <p:cNvPr id="12" name="TextBox 11"/>
          <p:cNvSpPr txBox="1">
            <a:spLocks/>
          </p:cNvSpPr>
          <p:nvPr/>
        </p:nvSpPr>
        <p:spPr>
          <a:xfrm>
            <a:off x="2881511" y="1969691"/>
            <a:ext cx="1992610" cy="251460"/>
          </a:xfrm>
          <a:prstGeom prst="rect">
            <a:avLst/>
          </a:prstGeom>
          <a:noFill/>
        </p:spPr>
        <p:txBody>
          <a:bodyPr wrap="none" lIns="0" tIns="0" rIns="0" bIns="0" anchor="t">
            <a:noAutofit/>
          </a:bodyPr>
          <a:lstStyle/>
          <a:p>
            <a:pPr algn="l">
              <a:lnSpc>
                <a:spcPts val="1980"/>
              </a:lnSpc>
            </a:pPr>
            <a:r>
              <a:rPr lang="nl-BE" sz="1800" b="0" i="0">
                <a:solidFill>
                  <a:srgbClr val="0A2540"/>
                </a:solidFill>
                <a:latin typeface="DM Serif Display"/>
              </a:rPr>
              <a:t>Procesevaluatie</a:t>
            </a:r>
          </a:p>
        </p:txBody>
      </p:sp>
      <p:sp>
        <p:nvSpPr>
          <p:cNvPr id="13" name="TextBox 12"/>
          <p:cNvSpPr txBox="1"/>
          <p:nvPr/>
        </p:nvSpPr>
        <p:spPr>
          <a:xfrm>
            <a:off x="2881511" y="2284611"/>
            <a:ext cx="1992610" cy="198120"/>
          </a:xfrm>
          <a:prstGeom prst="rect">
            <a:avLst/>
          </a:prstGeom>
          <a:noFill/>
        </p:spPr>
        <p:txBody>
          <a:bodyPr wrap="none" lIns="0" tIns="0" rIns="0" bIns="0" anchor="t">
            <a:noAutofit/>
          </a:bodyPr>
          <a:lstStyle/>
          <a:p>
            <a:pPr algn="l">
              <a:lnSpc>
                <a:spcPts val="1560"/>
              </a:lnSpc>
            </a:pPr>
            <a:r>
              <a:rPr lang="nl-BE" sz="1200" b="0" i="0">
                <a:solidFill>
                  <a:srgbClr val="5A6E80"/>
                </a:solidFill>
                <a:latin typeface="DM Sans"/>
              </a:rPr>
              <a:t>Maaike Fobelets, VUB</a:t>
            </a:r>
          </a:p>
        </p:txBody>
      </p:sp>
      <p:sp>
        <p:nvSpPr>
          <p:cNvPr id="14" name="Rectangle 13"/>
          <p:cNvSpPr>
            <a:spLocks/>
          </p:cNvSpPr>
          <p:nvPr/>
        </p:nvSpPr>
        <p:spPr>
          <a:xfrm>
            <a:off x="2881511" y="2546152"/>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5" name="TextBox 14"/>
          <p:cNvSpPr txBox="1">
            <a:spLocks/>
          </p:cNvSpPr>
          <p:nvPr/>
        </p:nvSpPr>
        <p:spPr>
          <a:xfrm>
            <a:off x="2881511" y="2628702"/>
            <a:ext cx="1992610" cy="445691"/>
          </a:xfrm>
          <a:prstGeom prst="rect">
            <a:avLst/>
          </a:prstGeom>
          <a:noFill/>
        </p:spPr>
        <p:txBody>
          <a:bodyPr wrap="square" lIns="0" tIns="0" rIns="0" bIns="0" anchor="t">
            <a:noAutofit/>
          </a:bodyPr>
          <a:lstStyle/>
          <a:p>
            <a:pPr algn="l">
              <a:lnSpc>
                <a:spcPts val="1755"/>
              </a:lnSpc>
            </a:pPr>
            <a:r>
              <a:rPr lang="nl-BE" sz="1300" b="0" i="0">
                <a:solidFill>
                  <a:srgbClr val="3A4F63"/>
                </a:solidFill>
                <a:latin typeface="DM Sans"/>
              </a:rPr>
              <a:t>Opnames, interviews, fidelity van SEBIA</a:t>
            </a:r>
          </a:p>
        </p:txBody>
      </p:sp>
      <p:sp>
        <p:nvSpPr>
          <p:cNvPr id="16" name="Rectangle 15"/>
          <p:cNvSpPr>
            <a:spLocks/>
          </p:cNvSpPr>
          <p:nvPr/>
        </p:nvSpPr>
        <p:spPr>
          <a:xfrm>
            <a:off x="4950321" y="1569641"/>
            <a:ext cx="2291259"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7" name="TextBox 16"/>
          <p:cNvSpPr txBox="1"/>
          <p:nvPr/>
        </p:nvSpPr>
        <p:spPr>
          <a:xfrm>
            <a:off x="4950321" y="1709341"/>
            <a:ext cx="2342059" cy="198120"/>
          </a:xfrm>
          <a:prstGeom prst="rect">
            <a:avLst/>
          </a:prstGeom>
          <a:noFill/>
        </p:spPr>
        <p:txBody>
          <a:bodyPr wrap="none" lIns="0" tIns="0" rIns="0" bIns="0" anchor="t">
            <a:noAutofit/>
          </a:bodyPr>
          <a:lstStyle/>
          <a:p>
            <a:pPr algn="l"/>
            <a:r>
              <a:rPr lang="nl-BE" sz="1200" b="0" i="0">
                <a:solidFill>
                  <a:srgbClr val="0B6E8F"/>
                </a:solidFill>
                <a:latin typeface="DM Sans"/>
              </a:rPr>
              <a:t>WP3</a:t>
            </a:r>
          </a:p>
        </p:txBody>
      </p:sp>
      <p:sp>
        <p:nvSpPr>
          <p:cNvPr id="18" name="TextBox 17"/>
          <p:cNvSpPr txBox="1">
            <a:spLocks/>
          </p:cNvSpPr>
          <p:nvPr/>
        </p:nvSpPr>
        <p:spPr>
          <a:xfrm>
            <a:off x="4950321" y="1969691"/>
            <a:ext cx="2342059" cy="251460"/>
          </a:xfrm>
          <a:prstGeom prst="rect">
            <a:avLst/>
          </a:prstGeom>
          <a:noFill/>
        </p:spPr>
        <p:txBody>
          <a:bodyPr wrap="none" lIns="0" tIns="0" rIns="0" bIns="0" anchor="t">
            <a:noAutofit/>
          </a:bodyPr>
          <a:lstStyle/>
          <a:p>
            <a:pPr algn="l">
              <a:lnSpc>
                <a:spcPts val="1980"/>
              </a:lnSpc>
            </a:pPr>
            <a:r>
              <a:rPr lang="nl-BE" sz="1800" b="0" i="0">
                <a:solidFill>
                  <a:srgbClr val="0A2540"/>
                </a:solidFill>
                <a:latin typeface="DM Serif Display"/>
              </a:rPr>
              <a:t>Gezondheidseconomie</a:t>
            </a:r>
          </a:p>
        </p:txBody>
      </p:sp>
      <p:sp>
        <p:nvSpPr>
          <p:cNvPr id="19" name="TextBox 18"/>
          <p:cNvSpPr txBox="1"/>
          <p:nvPr/>
        </p:nvSpPr>
        <p:spPr>
          <a:xfrm>
            <a:off x="4950321" y="2284611"/>
            <a:ext cx="2342059" cy="198120"/>
          </a:xfrm>
          <a:prstGeom prst="rect">
            <a:avLst/>
          </a:prstGeom>
          <a:noFill/>
        </p:spPr>
        <p:txBody>
          <a:bodyPr wrap="none" lIns="0" tIns="0" rIns="0" bIns="0" anchor="t">
            <a:noAutofit/>
          </a:bodyPr>
          <a:lstStyle/>
          <a:p>
            <a:pPr algn="l">
              <a:lnSpc>
                <a:spcPts val="1560"/>
              </a:lnSpc>
            </a:pPr>
            <a:r>
              <a:rPr lang="nl-BE" sz="1200" b="0" i="0">
                <a:solidFill>
                  <a:srgbClr val="5A6E80"/>
                </a:solidFill>
                <a:latin typeface="DM Sans"/>
              </a:rPr>
              <a:t>Koen Putman, VUB</a:t>
            </a:r>
          </a:p>
        </p:txBody>
      </p:sp>
      <p:sp>
        <p:nvSpPr>
          <p:cNvPr id="20" name="Rectangle 19"/>
          <p:cNvSpPr>
            <a:spLocks/>
          </p:cNvSpPr>
          <p:nvPr/>
        </p:nvSpPr>
        <p:spPr>
          <a:xfrm>
            <a:off x="4950321" y="2546152"/>
            <a:ext cx="2291259"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1" name="TextBox 20"/>
          <p:cNvSpPr txBox="1">
            <a:spLocks/>
          </p:cNvSpPr>
          <p:nvPr/>
        </p:nvSpPr>
        <p:spPr>
          <a:xfrm>
            <a:off x="4950321" y="2628702"/>
            <a:ext cx="2342059" cy="445691"/>
          </a:xfrm>
          <a:prstGeom prst="rect">
            <a:avLst/>
          </a:prstGeom>
          <a:noFill/>
        </p:spPr>
        <p:txBody>
          <a:bodyPr wrap="square" lIns="0" tIns="0" rIns="0" bIns="0" anchor="t">
            <a:noAutofit/>
          </a:bodyPr>
          <a:lstStyle/>
          <a:p>
            <a:pPr algn="l">
              <a:lnSpc>
                <a:spcPts val="1755"/>
              </a:lnSpc>
            </a:pPr>
            <a:r>
              <a:rPr lang="nl-BE" sz="1300" b="0" i="0">
                <a:solidFill>
                  <a:srgbClr val="3A4F63"/>
                </a:solidFill>
                <a:latin typeface="DM Sans"/>
              </a:rPr>
              <a:t>Levenskwaliteit, zorggebruik, productiviteit</a:t>
            </a:r>
          </a:p>
        </p:txBody>
      </p:sp>
      <p:sp>
        <p:nvSpPr>
          <p:cNvPr id="22" name="Rectangle 21"/>
          <p:cNvSpPr>
            <a:spLocks/>
          </p:cNvSpPr>
          <p:nvPr/>
        </p:nvSpPr>
        <p:spPr>
          <a:xfrm>
            <a:off x="7368580"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3" name="TextBox 22"/>
          <p:cNvSpPr txBox="1"/>
          <p:nvPr/>
        </p:nvSpPr>
        <p:spPr>
          <a:xfrm>
            <a:off x="7368580" y="1709341"/>
            <a:ext cx="1992610" cy="198120"/>
          </a:xfrm>
          <a:prstGeom prst="rect">
            <a:avLst/>
          </a:prstGeom>
          <a:noFill/>
        </p:spPr>
        <p:txBody>
          <a:bodyPr wrap="none" lIns="0" tIns="0" rIns="0" bIns="0" anchor="t">
            <a:noAutofit/>
          </a:bodyPr>
          <a:lstStyle/>
          <a:p>
            <a:pPr algn="l"/>
            <a:r>
              <a:rPr lang="nl-BE" sz="1200" b="0" i="0">
                <a:solidFill>
                  <a:srgbClr val="0B6E8F"/>
                </a:solidFill>
                <a:latin typeface="DM Sans"/>
              </a:rPr>
              <a:t>WP4</a:t>
            </a:r>
          </a:p>
        </p:txBody>
      </p:sp>
      <p:sp>
        <p:nvSpPr>
          <p:cNvPr id="24" name="TextBox 23"/>
          <p:cNvSpPr txBox="1">
            <a:spLocks/>
          </p:cNvSpPr>
          <p:nvPr/>
        </p:nvSpPr>
        <p:spPr>
          <a:xfrm>
            <a:off x="7368580" y="1969691"/>
            <a:ext cx="1992610" cy="502841"/>
          </a:xfrm>
          <a:prstGeom prst="rect">
            <a:avLst/>
          </a:prstGeom>
          <a:noFill/>
        </p:spPr>
        <p:txBody>
          <a:bodyPr wrap="square" lIns="0" tIns="0" rIns="0" bIns="0" anchor="t">
            <a:noAutofit/>
          </a:bodyPr>
          <a:lstStyle/>
          <a:p>
            <a:pPr algn="l">
              <a:lnSpc>
                <a:spcPts val="1980"/>
              </a:lnSpc>
            </a:pPr>
            <a:r>
              <a:rPr lang="nl-BE" sz="1800" b="0" i="0">
                <a:solidFill>
                  <a:srgbClr val="0A2540"/>
                </a:solidFill>
                <a:latin typeface="DM Serif Display"/>
              </a:rPr>
              <a:t>Project- en databeheer</a:t>
            </a:r>
          </a:p>
        </p:txBody>
      </p:sp>
      <p:sp>
        <p:nvSpPr>
          <p:cNvPr id="25" name="TextBox 24"/>
          <p:cNvSpPr txBox="1"/>
          <p:nvPr/>
        </p:nvSpPr>
        <p:spPr>
          <a:xfrm>
            <a:off x="7368580" y="2536031"/>
            <a:ext cx="1992610" cy="396081"/>
          </a:xfrm>
          <a:prstGeom prst="rect">
            <a:avLst/>
          </a:prstGeom>
          <a:noFill/>
        </p:spPr>
        <p:txBody>
          <a:bodyPr wrap="square" lIns="0" tIns="0" rIns="0" bIns="0" anchor="t">
            <a:noAutofit/>
          </a:bodyPr>
          <a:lstStyle/>
          <a:p>
            <a:pPr algn="l">
              <a:lnSpc>
                <a:spcPts val="1560"/>
              </a:lnSpc>
            </a:pPr>
            <a:r>
              <a:rPr lang="nl-BE" sz="1200" b="0" i="0">
                <a:solidFill>
                  <a:srgbClr val="5A6E80"/>
                </a:solidFill>
                <a:latin typeface="DM Sans"/>
              </a:rPr>
              <a:t>Kevin Deschamps, KU Leuven</a:t>
            </a:r>
          </a:p>
        </p:txBody>
      </p:sp>
      <p:sp>
        <p:nvSpPr>
          <p:cNvPr id="26" name="Rectangle 25"/>
          <p:cNvSpPr>
            <a:spLocks/>
          </p:cNvSpPr>
          <p:nvPr/>
        </p:nvSpPr>
        <p:spPr>
          <a:xfrm>
            <a:off x="7368580" y="2995612"/>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7" name="TextBox 26"/>
          <p:cNvSpPr txBox="1">
            <a:spLocks/>
          </p:cNvSpPr>
          <p:nvPr/>
        </p:nvSpPr>
        <p:spPr>
          <a:xfrm>
            <a:off x="7368580" y="3078162"/>
            <a:ext cx="1992610" cy="445691"/>
          </a:xfrm>
          <a:prstGeom prst="rect">
            <a:avLst/>
          </a:prstGeom>
          <a:noFill/>
        </p:spPr>
        <p:txBody>
          <a:bodyPr wrap="square" lIns="0" tIns="0" rIns="0" bIns="0" anchor="t">
            <a:noAutofit/>
          </a:bodyPr>
          <a:lstStyle/>
          <a:p>
            <a:pPr algn="l">
              <a:lnSpc>
                <a:spcPts val="1755"/>
              </a:lnSpc>
            </a:pPr>
            <a:r>
              <a:rPr lang="nl-BE" sz="1300" b="0" i="0">
                <a:solidFill>
                  <a:srgbClr val="3A4F63"/>
                </a:solidFill>
                <a:latin typeface="DM Sans"/>
              </a:rPr>
              <a:t>REDCap, ManGO en de overlegorganen</a:t>
            </a:r>
          </a:p>
        </p:txBody>
      </p:sp>
      <p:sp>
        <p:nvSpPr>
          <p:cNvPr id="28" name="Rectangle 27"/>
          <p:cNvSpPr>
            <a:spLocks/>
          </p:cNvSpPr>
          <p:nvPr/>
        </p:nvSpPr>
        <p:spPr>
          <a:xfrm>
            <a:off x="9437390" y="1569641"/>
            <a:ext cx="194181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9" name="TextBox 28"/>
          <p:cNvSpPr txBox="1"/>
          <p:nvPr/>
        </p:nvSpPr>
        <p:spPr>
          <a:xfrm>
            <a:off x="9437390" y="1709341"/>
            <a:ext cx="1992610" cy="198120"/>
          </a:xfrm>
          <a:prstGeom prst="rect">
            <a:avLst/>
          </a:prstGeom>
          <a:noFill/>
        </p:spPr>
        <p:txBody>
          <a:bodyPr wrap="none" lIns="0" tIns="0" rIns="0" bIns="0" anchor="t">
            <a:noAutofit/>
          </a:bodyPr>
          <a:lstStyle/>
          <a:p>
            <a:pPr algn="l"/>
            <a:r>
              <a:rPr lang="nl-BE" sz="1200" b="0" i="0">
                <a:solidFill>
                  <a:srgbClr val="0B6E8F"/>
                </a:solidFill>
                <a:latin typeface="DM Sans"/>
              </a:rPr>
              <a:t>WP5</a:t>
            </a:r>
          </a:p>
        </p:txBody>
      </p:sp>
      <p:sp>
        <p:nvSpPr>
          <p:cNvPr id="30" name="TextBox 29"/>
          <p:cNvSpPr txBox="1">
            <a:spLocks/>
          </p:cNvSpPr>
          <p:nvPr/>
        </p:nvSpPr>
        <p:spPr>
          <a:xfrm>
            <a:off x="9437390" y="1969691"/>
            <a:ext cx="1992610" cy="251460"/>
          </a:xfrm>
          <a:prstGeom prst="rect">
            <a:avLst/>
          </a:prstGeom>
          <a:noFill/>
        </p:spPr>
        <p:txBody>
          <a:bodyPr wrap="none" lIns="0" tIns="0" rIns="0" bIns="0" anchor="t">
            <a:noAutofit/>
          </a:bodyPr>
          <a:lstStyle/>
          <a:p>
            <a:pPr algn="l">
              <a:lnSpc>
                <a:spcPts val="1980"/>
              </a:lnSpc>
            </a:pPr>
            <a:r>
              <a:rPr lang="nl-BE" sz="1800" b="0" i="0">
                <a:solidFill>
                  <a:srgbClr val="0A2540"/>
                </a:solidFill>
                <a:latin typeface="DM Serif Display"/>
              </a:rPr>
              <a:t>Disseminatie</a:t>
            </a:r>
          </a:p>
        </p:txBody>
      </p:sp>
      <p:sp>
        <p:nvSpPr>
          <p:cNvPr id="31" name="Rectangle 30"/>
          <p:cNvSpPr>
            <a:spLocks/>
          </p:cNvSpPr>
          <p:nvPr/>
        </p:nvSpPr>
        <p:spPr>
          <a:xfrm>
            <a:off x="9437390" y="2284611"/>
            <a:ext cx="194181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2" name="TextBox 31"/>
          <p:cNvSpPr txBox="1"/>
          <p:nvPr/>
        </p:nvSpPr>
        <p:spPr>
          <a:xfrm>
            <a:off x="9437390" y="2367161"/>
            <a:ext cx="1992610" cy="445691"/>
          </a:xfrm>
          <a:prstGeom prst="rect">
            <a:avLst/>
          </a:prstGeom>
          <a:noFill/>
        </p:spPr>
        <p:txBody>
          <a:bodyPr wrap="square" lIns="0" tIns="0" rIns="0" bIns="0" anchor="t">
            <a:noAutofit/>
          </a:bodyPr>
          <a:lstStyle/>
          <a:p>
            <a:pPr algn="l">
              <a:lnSpc>
                <a:spcPts val="1755"/>
              </a:lnSpc>
            </a:pPr>
            <a:r>
              <a:rPr lang="nl-BE" sz="1300" b="0" i="0">
                <a:solidFill>
                  <a:srgbClr val="3A4F63"/>
                </a:solidFill>
                <a:latin typeface="DM Sans"/>
              </a:rPr>
              <a:t>Website, publicaties, communicatie</a:t>
            </a:r>
          </a:p>
        </p:txBody>
      </p:sp>
      <p:sp>
        <p:nvSpPr>
          <p:cNvPr id="33" name="TextBox 32"/>
          <p:cNvSpPr txBox="1">
            <a:spLocks/>
          </p:cNvSpPr>
          <p:nvPr/>
        </p:nvSpPr>
        <p:spPr>
          <a:xfrm>
            <a:off x="9437390" y="2876352"/>
            <a:ext cx="1992610" cy="594122"/>
          </a:xfrm>
          <a:prstGeom prst="rect">
            <a:avLst/>
          </a:prstGeom>
          <a:noFill/>
        </p:spPr>
        <p:txBody>
          <a:bodyPr wrap="square" lIns="0" tIns="0" rIns="0" bIns="0" anchor="t">
            <a:noAutofit/>
          </a:bodyPr>
          <a:lstStyle/>
          <a:p>
            <a:pPr algn="l">
              <a:lnSpc>
                <a:spcPts val="1560"/>
              </a:lnSpc>
            </a:pPr>
            <a:r>
              <a:rPr lang="nl-NL" sz="1200" b="0" i="0">
                <a:solidFill>
                  <a:srgbClr val="A34A00"/>
                </a:solidFill>
                <a:latin typeface="DM Sans"/>
              </a:rPr>
              <a:t>Vandaag niet de focus: op de volgende meeting een plan van aanpak</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Werkpakketten</a:t>
            </a:r>
            <a:endParaRPr sz="1200" b="0" i="0">
              <a:solidFill>
                <a:srgbClr val="5A6E80"/>
              </a:solidFill>
              <a:latin typeface="DM Sans"/>
            </a:endParaRP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lang="nl-BE" sz="1200" b="0" i="0">
                <a:solidFill>
                  <a:srgbClr val="5A6E80"/>
                </a:solidFill>
                <a:latin typeface="DM Sans"/>
              </a:rPr>
              <a:t>Bron: consortiummeeting 1 april 2026, dia 46 en 60–65 · eCRF-lijst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2635250" y="4648200"/>
            <a:ext cx="7219950" cy="5778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ounded Rectangle 2"/>
          <p:cNvSpPr/>
          <p:nvPr/>
        </p:nvSpPr>
        <p:spPr>
          <a:xfrm>
            <a:off x="9220200" y="889000"/>
            <a:ext cx="2159000" cy="412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194800" y="952500"/>
            <a:ext cx="2209800" cy="285750"/>
          </a:xfrm>
          <a:prstGeom prst="rect">
            <a:avLst/>
          </a:prstGeom>
          <a:noFill/>
        </p:spPr>
        <p:txBody>
          <a:bodyPr wrap="none" lIns="0" tIns="0" rIns="0" bIns="0" anchor="t">
            <a:noAutofit/>
          </a:bodyPr>
          <a:lstStyle/>
          <a:p>
            <a:pPr algn="ctr"/>
            <a:r>
              <a:rPr lang="nl-BE" sz="1700" b="1" i="0">
                <a:solidFill>
                  <a:srgbClr val="F2F8FC"/>
                </a:solidFill>
                <a:latin typeface="DM Sans"/>
              </a:rPr>
              <a:t>Optimal</a:t>
            </a:r>
            <a:r>
              <a:rPr sz="1700" b="1" i="0">
                <a:solidFill>
                  <a:srgbClr val="F2F8FC"/>
                </a:solidFill>
                <a:latin typeface="DM Sans"/>
              </a:rPr>
              <a:t> Care</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Screening plus negen visites</a:t>
            </a:r>
          </a:p>
        </p:txBody>
      </p:sp>
      <p:sp>
        <p:nvSpPr>
          <p:cNvPr id="6" name="Rectangle 5"/>
          <p:cNvSpPr/>
          <p:nvPr/>
        </p:nvSpPr>
        <p:spPr>
          <a:xfrm>
            <a:off x="81280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Scr</a:t>
            </a:r>
          </a:p>
        </p:txBody>
      </p:sp>
      <p:sp>
        <p:nvSpPr>
          <p:cNvPr id="8" name="TextBox 7"/>
          <p:cNvSpPr txBox="1"/>
          <p:nvPr/>
        </p:nvSpPr>
        <p:spPr>
          <a:xfrm>
            <a:off x="81280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screening</a:t>
            </a:r>
          </a:p>
        </p:txBody>
      </p:sp>
      <p:sp>
        <p:nvSpPr>
          <p:cNvPr id="9" name="Rectangle 8"/>
          <p:cNvSpPr/>
          <p:nvPr/>
        </p:nvSpPr>
        <p:spPr>
          <a:xfrm>
            <a:off x="172333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2333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V0</a:t>
            </a:r>
          </a:p>
        </p:txBody>
      </p:sp>
      <p:sp>
        <p:nvSpPr>
          <p:cNvPr id="11" name="TextBox 10"/>
          <p:cNvSpPr txBox="1"/>
          <p:nvPr/>
        </p:nvSpPr>
        <p:spPr>
          <a:xfrm>
            <a:off x="172333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geschikt</a:t>
            </a:r>
          </a:p>
        </p:txBody>
      </p:sp>
      <p:sp>
        <p:nvSpPr>
          <p:cNvPr id="12" name="Rectangle 11"/>
          <p:cNvSpPr/>
          <p:nvPr/>
        </p:nvSpPr>
        <p:spPr>
          <a:xfrm>
            <a:off x="263396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3396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V1</a:t>
            </a:r>
          </a:p>
        </p:txBody>
      </p:sp>
      <p:sp>
        <p:nvSpPr>
          <p:cNvPr id="14" name="TextBox 13"/>
          <p:cNvSpPr txBox="1"/>
          <p:nvPr/>
        </p:nvSpPr>
        <p:spPr>
          <a:xfrm>
            <a:off x="263396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baseline</a:t>
            </a:r>
          </a:p>
        </p:txBody>
      </p:sp>
      <p:sp>
        <p:nvSpPr>
          <p:cNvPr id="15" name="Rectangle 14"/>
          <p:cNvSpPr/>
          <p:nvPr/>
        </p:nvSpPr>
        <p:spPr>
          <a:xfrm>
            <a:off x="354449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4449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V2</a:t>
            </a:r>
          </a:p>
        </p:txBody>
      </p:sp>
      <p:sp>
        <p:nvSpPr>
          <p:cNvPr id="17" name="TextBox 16"/>
          <p:cNvSpPr txBox="1"/>
          <p:nvPr/>
        </p:nvSpPr>
        <p:spPr>
          <a:xfrm>
            <a:off x="354449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14 d–1 m</a:t>
            </a:r>
          </a:p>
        </p:txBody>
      </p:sp>
      <p:sp>
        <p:nvSpPr>
          <p:cNvPr id="18" name="Rectangle 17"/>
          <p:cNvSpPr/>
          <p:nvPr/>
        </p:nvSpPr>
        <p:spPr>
          <a:xfrm>
            <a:off x="445512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5512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V3</a:t>
            </a:r>
          </a:p>
        </p:txBody>
      </p:sp>
      <p:sp>
        <p:nvSpPr>
          <p:cNvPr id="20" name="TextBox 19"/>
          <p:cNvSpPr txBox="1"/>
          <p:nvPr/>
        </p:nvSpPr>
        <p:spPr>
          <a:xfrm>
            <a:off x="445512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3</a:t>
            </a:r>
          </a:p>
        </p:txBody>
      </p:sp>
      <p:sp>
        <p:nvSpPr>
          <p:cNvPr id="21" name="Rectangle 20"/>
          <p:cNvSpPr/>
          <p:nvPr/>
        </p:nvSpPr>
        <p:spPr>
          <a:xfrm>
            <a:off x="536565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6565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V4</a:t>
            </a:r>
          </a:p>
        </p:txBody>
      </p:sp>
      <p:sp>
        <p:nvSpPr>
          <p:cNvPr id="23" name="TextBox 22"/>
          <p:cNvSpPr txBox="1"/>
          <p:nvPr/>
        </p:nvSpPr>
        <p:spPr>
          <a:xfrm>
            <a:off x="536565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6</a:t>
            </a:r>
          </a:p>
        </p:txBody>
      </p:sp>
      <p:sp>
        <p:nvSpPr>
          <p:cNvPr id="24" name="Rectangle 23"/>
          <p:cNvSpPr/>
          <p:nvPr/>
        </p:nvSpPr>
        <p:spPr>
          <a:xfrm>
            <a:off x="627628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628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V5</a:t>
            </a:r>
          </a:p>
        </p:txBody>
      </p:sp>
      <p:sp>
        <p:nvSpPr>
          <p:cNvPr id="26" name="TextBox 25"/>
          <p:cNvSpPr txBox="1"/>
          <p:nvPr/>
        </p:nvSpPr>
        <p:spPr>
          <a:xfrm>
            <a:off x="627628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9</a:t>
            </a:r>
          </a:p>
        </p:txBody>
      </p:sp>
      <p:sp>
        <p:nvSpPr>
          <p:cNvPr id="27" name="Rectangle 26"/>
          <p:cNvSpPr/>
          <p:nvPr/>
        </p:nvSpPr>
        <p:spPr>
          <a:xfrm>
            <a:off x="718691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691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V6</a:t>
            </a:r>
          </a:p>
        </p:txBody>
      </p:sp>
      <p:sp>
        <p:nvSpPr>
          <p:cNvPr id="29" name="TextBox 28"/>
          <p:cNvSpPr txBox="1"/>
          <p:nvPr/>
        </p:nvSpPr>
        <p:spPr>
          <a:xfrm>
            <a:off x="718691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12</a:t>
            </a:r>
          </a:p>
        </p:txBody>
      </p:sp>
      <p:sp>
        <p:nvSpPr>
          <p:cNvPr id="30" name="Rectangle 29"/>
          <p:cNvSpPr/>
          <p:nvPr/>
        </p:nvSpPr>
        <p:spPr>
          <a:xfrm>
            <a:off x="809744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744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V7</a:t>
            </a:r>
          </a:p>
        </p:txBody>
      </p:sp>
      <p:sp>
        <p:nvSpPr>
          <p:cNvPr id="32" name="TextBox 31"/>
          <p:cNvSpPr txBox="1"/>
          <p:nvPr/>
        </p:nvSpPr>
        <p:spPr>
          <a:xfrm>
            <a:off x="809744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15</a:t>
            </a:r>
          </a:p>
        </p:txBody>
      </p:sp>
      <p:sp>
        <p:nvSpPr>
          <p:cNvPr id="33" name="Rectangle 32"/>
          <p:cNvSpPr/>
          <p:nvPr/>
        </p:nvSpPr>
        <p:spPr>
          <a:xfrm>
            <a:off x="900807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807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V8</a:t>
            </a:r>
          </a:p>
        </p:txBody>
      </p:sp>
      <p:sp>
        <p:nvSpPr>
          <p:cNvPr id="35" name="TextBox 34"/>
          <p:cNvSpPr txBox="1"/>
          <p:nvPr/>
        </p:nvSpPr>
        <p:spPr>
          <a:xfrm>
            <a:off x="900807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18</a:t>
            </a:r>
          </a:p>
        </p:txBody>
      </p:sp>
      <p:sp>
        <p:nvSpPr>
          <p:cNvPr id="36" name="TextBox 35"/>
          <p:cNvSpPr txBox="1"/>
          <p:nvPr/>
        </p:nvSpPr>
        <p:spPr>
          <a:xfrm>
            <a:off x="10020201" y="1785541"/>
            <a:ext cx="1409700" cy="165100"/>
          </a:xfrm>
          <a:prstGeom prst="rect">
            <a:avLst/>
          </a:prstGeom>
          <a:noFill/>
        </p:spPr>
        <p:txBody>
          <a:bodyPr wrap="none" lIns="0" tIns="0" rIns="0" bIns="0" anchor="t">
            <a:noAutofit/>
          </a:bodyPr>
          <a:lstStyle/>
          <a:p>
            <a:pPr algn="l"/>
            <a:r>
              <a:rPr sz="1000" b="1" i="0">
                <a:solidFill>
                  <a:srgbClr val="5A6E80"/>
                </a:solidFill>
                <a:latin typeface="DM Sans"/>
              </a:rPr>
              <a:t>Wat · toestel</a:t>
            </a:r>
          </a:p>
        </p:txBody>
      </p:sp>
      <p:sp>
        <p:nvSpPr>
          <p:cNvPr id="37" name="Rectangle 36"/>
          <p:cNvSpPr/>
          <p:nvPr/>
        </p:nvSpPr>
        <p:spPr>
          <a:xfrm>
            <a:off x="81280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12800" y="223252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2283321"/>
            <a:ext cx="847030" cy="198120"/>
          </a:xfrm>
          <a:prstGeom prst="rect">
            <a:avLst/>
          </a:prstGeom>
          <a:noFill/>
        </p:spPr>
        <p:txBody>
          <a:bodyPr wrap="none" lIns="0" tIns="0" rIns="0" bIns="0" anchor="t">
            <a:noAutofit/>
          </a:bodyPr>
          <a:lstStyle/>
          <a:p>
            <a:pPr algn="ctr"/>
            <a:r>
              <a:rPr sz="1200" b="0" i="0">
                <a:solidFill>
                  <a:srgbClr val="F2F8FC"/>
                </a:solidFill>
                <a:latin typeface="DM Sans"/>
              </a:rPr>
              <a:t>arts</a:t>
            </a:r>
          </a:p>
        </p:txBody>
      </p:sp>
      <p:sp>
        <p:nvSpPr>
          <p:cNvPr id="40" name="Rectangle 39"/>
          <p:cNvSpPr/>
          <p:nvPr/>
        </p:nvSpPr>
        <p:spPr>
          <a:xfrm>
            <a:off x="172333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723330" y="2232521"/>
            <a:ext cx="8471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723330" y="2283321"/>
            <a:ext cx="847130" cy="198120"/>
          </a:xfrm>
          <a:prstGeom prst="rect">
            <a:avLst/>
          </a:prstGeom>
          <a:noFill/>
        </p:spPr>
        <p:txBody>
          <a:bodyPr wrap="none" lIns="0" tIns="0" rIns="0" bIns="0" anchor="t">
            <a:noAutofit/>
          </a:bodyPr>
          <a:lstStyle/>
          <a:p>
            <a:pPr algn="ctr"/>
            <a:r>
              <a:rPr sz="1200" b="0" i="0">
                <a:solidFill>
                  <a:srgbClr val="F2F8FC"/>
                </a:solidFill>
                <a:latin typeface="DM Sans"/>
              </a:rPr>
              <a:t>PI</a:t>
            </a:r>
          </a:p>
        </p:txBody>
      </p:sp>
      <p:sp>
        <p:nvSpPr>
          <p:cNvPr id="43" name="Rectangle 42"/>
          <p:cNvSpPr/>
          <p:nvPr/>
        </p:nvSpPr>
        <p:spPr>
          <a:xfrm>
            <a:off x="263396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54449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45512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36565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7628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18691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09744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0807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918601" y="209034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020201" y="2105620"/>
            <a:ext cx="1409700" cy="379611"/>
          </a:xfrm>
          <a:prstGeom prst="rect">
            <a:avLst/>
          </a:prstGeom>
          <a:noFill/>
        </p:spPr>
        <p:txBody>
          <a:bodyPr wrap="square" lIns="0" tIns="0" rIns="0" bIns="0" anchor="t">
            <a:noAutofit/>
          </a:bodyPr>
          <a:lstStyle/>
          <a:p>
            <a:pPr algn="l">
              <a:lnSpc>
                <a:spcPts val="1495"/>
              </a:lnSpc>
            </a:pPr>
            <a:r>
              <a:rPr sz="1300" b="1" i="0">
                <a:solidFill>
                  <a:srgbClr val="0A2540"/>
                </a:solidFill>
                <a:latin typeface="DM Sans"/>
              </a:rPr>
              <a:t>Toestemming en loting</a:t>
            </a:r>
          </a:p>
        </p:txBody>
      </p:sp>
      <p:sp>
        <p:nvSpPr>
          <p:cNvPr id="53" name="TextBox 52"/>
          <p:cNvSpPr txBox="1"/>
          <p:nvPr/>
        </p:nvSpPr>
        <p:spPr>
          <a:xfrm>
            <a:off x="10020201" y="2497931"/>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arts, dan PI</a:t>
            </a:r>
          </a:p>
        </p:txBody>
      </p:sp>
      <p:sp>
        <p:nvSpPr>
          <p:cNvPr id="54" name="Rectangle 53"/>
          <p:cNvSpPr/>
          <p:nvPr/>
        </p:nvSpPr>
        <p:spPr>
          <a:xfrm>
            <a:off x="81280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72333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63396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263396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2633960" y="2923480"/>
            <a:ext cx="847030" cy="198120"/>
          </a:xfrm>
          <a:prstGeom prst="rect">
            <a:avLst/>
          </a:prstGeom>
          <a:noFill/>
        </p:spPr>
        <p:txBody>
          <a:bodyPr wrap="none" lIns="0" tIns="0" rIns="0" bIns="0" anchor="t">
            <a:noAutofit/>
          </a:bodyPr>
          <a:lstStyle/>
          <a:p>
            <a:pPr algn="ctr"/>
            <a:r>
              <a:rPr lang="nl-BE" sz="1200" b="0" i="0">
                <a:solidFill>
                  <a:srgbClr val="F2F8FC"/>
                </a:solidFill>
                <a:latin typeface="DM Sans"/>
              </a:rPr>
              <a:t>A</a:t>
            </a:r>
          </a:p>
        </p:txBody>
      </p:sp>
      <p:sp>
        <p:nvSpPr>
          <p:cNvPr id="59" name="Rectangle 58"/>
          <p:cNvSpPr/>
          <p:nvPr/>
        </p:nvSpPr>
        <p:spPr>
          <a:xfrm>
            <a:off x="354449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3544491" y="287268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1" name="TextBox 60"/>
          <p:cNvSpPr txBox="1">
            <a:spLocks/>
          </p:cNvSpPr>
          <p:nvPr/>
        </p:nvSpPr>
        <p:spPr>
          <a:xfrm>
            <a:off x="3544491" y="2923480"/>
            <a:ext cx="847130" cy="198120"/>
          </a:xfrm>
          <a:prstGeom prst="rect">
            <a:avLst/>
          </a:prstGeom>
          <a:noFill/>
        </p:spPr>
        <p:txBody>
          <a:bodyPr wrap="none" lIns="0" tIns="0" rIns="0" bIns="0" anchor="t">
            <a:noAutofit/>
          </a:bodyPr>
          <a:lstStyle/>
          <a:p>
            <a:pPr algn="ctr"/>
            <a:r>
              <a:rPr lang="nl-BE" sz="1200" b="0" i="0">
                <a:solidFill>
                  <a:srgbClr val="F2F8FC"/>
                </a:solidFill>
                <a:latin typeface="DM Sans"/>
              </a:rPr>
              <a:t>A + B</a:t>
            </a:r>
          </a:p>
        </p:txBody>
      </p:sp>
      <p:sp>
        <p:nvSpPr>
          <p:cNvPr id="62" name="Rectangle 61"/>
          <p:cNvSpPr/>
          <p:nvPr/>
        </p:nvSpPr>
        <p:spPr>
          <a:xfrm>
            <a:off x="445512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63" name="Rectangle 62"/>
          <p:cNvSpPr>
            <a:spLocks/>
          </p:cNvSpPr>
          <p:nvPr/>
        </p:nvSpPr>
        <p:spPr>
          <a:xfrm>
            <a:off x="536565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64" name="Rounded Rectangle 63"/>
          <p:cNvSpPr/>
          <p:nvPr/>
        </p:nvSpPr>
        <p:spPr>
          <a:xfrm>
            <a:off x="5365651" y="287268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5" name="TextBox 64"/>
          <p:cNvSpPr txBox="1">
            <a:spLocks/>
          </p:cNvSpPr>
          <p:nvPr/>
        </p:nvSpPr>
        <p:spPr>
          <a:xfrm>
            <a:off x="5365651" y="2923480"/>
            <a:ext cx="847130" cy="198120"/>
          </a:xfrm>
          <a:prstGeom prst="rect">
            <a:avLst/>
          </a:prstGeom>
          <a:noFill/>
        </p:spPr>
        <p:txBody>
          <a:bodyPr wrap="none" lIns="0" tIns="0" rIns="0" bIns="0" anchor="t">
            <a:noAutofit/>
          </a:bodyPr>
          <a:lstStyle/>
          <a:p>
            <a:pPr algn="ctr"/>
            <a:r>
              <a:rPr lang="nl-BE" sz="1200" b="0" i="0">
                <a:solidFill>
                  <a:srgbClr val="F2F8FC"/>
                </a:solidFill>
                <a:latin typeface="DM Sans"/>
              </a:rPr>
              <a:t>A + B</a:t>
            </a:r>
          </a:p>
        </p:txBody>
      </p:sp>
      <p:sp>
        <p:nvSpPr>
          <p:cNvPr id="66" name="Rectangle 65"/>
          <p:cNvSpPr/>
          <p:nvPr/>
        </p:nvSpPr>
        <p:spPr>
          <a:xfrm>
            <a:off x="627628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18691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718691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9" name="TextBox 68"/>
          <p:cNvSpPr txBox="1"/>
          <p:nvPr/>
        </p:nvSpPr>
        <p:spPr>
          <a:xfrm>
            <a:off x="7186910" y="2923480"/>
            <a:ext cx="847030" cy="198120"/>
          </a:xfrm>
          <a:prstGeom prst="rect">
            <a:avLst/>
          </a:prstGeom>
          <a:noFill/>
        </p:spPr>
        <p:txBody>
          <a:bodyPr wrap="none" lIns="0" tIns="0" rIns="0" bIns="0" anchor="t">
            <a:noAutofit/>
          </a:bodyPr>
          <a:lstStyle/>
          <a:p>
            <a:pPr algn="ctr"/>
            <a:r>
              <a:rPr sz="1200" b="0" i="0">
                <a:solidFill>
                  <a:srgbClr val="F2F8FC"/>
                </a:solidFill>
                <a:latin typeface="DM Sans"/>
              </a:rPr>
              <a:t>A + B</a:t>
            </a:r>
          </a:p>
        </p:txBody>
      </p:sp>
      <p:sp>
        <p:nvSpPr>
          <p:cNvPr id="70" name="Rectangle 69"/>
          <p:cNvSpPr>
            <a:spLocks/>
          </p:cNvSpPr>
          <p:nvPr/>
        </p:nvSpPr>
        <p:spPr>
          <a:xfrm>
            <a:off x="809744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71" name="Rectangle 70"/>
          <p:cNvSpPr>
            <a:spLocks/>
          </p:cNvSpPr>
          <p:nvPr/>
        </p:nvSpPr>
        <p:spPr>
          <a:xfrm>
            <a:off x="900807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72" name="Rounded Rectangle 71"/>
          <p:cNvSpPr/>
          <p:nvPr/>
        </p:nvSpPr>
        <p:spPr>
          <a:xfrm>
            <a:off x="9008070" y="287268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73" name="TextBox 72"/>
          <p:cNvSpPr txBox="1">
            <a:spLocks/>
          </p:cNvSpPr>
          <p:nvPr/>
        </p:nvSpPr>
        <p:spPr>
          <a:xfrm>
            <a:off x="9008070" y="2923480"/>
            <a:ext cx="847030" cy="198120"/>
          </a:xfrm>
          <a:prstGeom prst="rect">
            <a:avLst/>
          </a:prstGeom>
          <a:noFill/>
        </p:spPr>
        <p:txBody>
          <a:bodyPr wrap="none" lIns="0" tIns="0" rIns="0" bIns="0" anchor="t">
            <a:noAutofit/>
          </a:bodyPr>
          <a:lstStyle/>
          <a:p>
            <a:pPr algn="ctr"/>
            <a:r>
              <a:rPr lang="nl-BE" sz="1200" b="0" i="0">
                <a:solidFill>
                  <a:srgbClr val="F2F8FC"/>
                </a:solidFill>
                <a:latin typeface="DM Sans"/>
              </a:rPr>
              <a:t>A + B</a:t>
            </a:r>
          </a:p>
        </p:txBody>
      </p:sp>
      <p:sp>
        <p:nvSpPr>
          <p:cNvPr id="74" name="Rectangle 73"/>
          <p:cNvSpPr/>
          <p:nvPr/>
        </p:nvSpPr>
        <p:spPr>
          <a:xfrm>
            <a:off x="9918601" y="273040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7006ea103c3e8fa9006c500fec1a0272.png"/>
          <p:cNvPicPr>
            <a:picLocks noChangeAspect="1"/>
          </p:cNvPicPr>
          <p:nvPr/>
        </p:nvPicPr>
        <p:blipFill>
          <a:blip r:embed="rId3"/>
          <a:stretch>
            <a:fillRect/>
          </a:stretch>
        </p:blipFill>
        <p:spPr>
          <a:xfrm>
            <a:off x="9994801" y="2913955"/>
            <a:ext cx="292100" cy="215900"/>
          </a:xfrm>
          <a:prstGeom prst="rect">
            <a:avLst/>
          </a:prstGeom>
        </p:spPr>
      </p:pic>
      <p:sp>
        <p:nvSpPr>
          <p:cNvPr id="76" name="TextBox 75"/>
          <p:cNvSpPr txBox="1"/>
          <p:nvPr/>
        </p:nvSpPr>
        <p:spPr>
          <a:xfrm>
            <a:off x="10350401" y="2840633"/>
            <a:ext cx="1002804"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Drukmeting</a:t>
            </a:r>
          </a:p>
        </p:txBody>
      </p:sp>
      <p:sp>
        <p:nvSpPr>
          <p:cNvPr id="77" name="TextBox 76"/>
          <p:cNvSpPr txBox="1">
            <a:spLocks/>
          </p:cNvSpPr>
          <p:nvPr/>
        </p:nvSpPr>
        <p:spPr>
          <a:xfrm>
            <a:off x="10350401" y="3043138"/>
            <a:ext cx="1002804" cy="160020"/>
          </a:xfrm>
          <a:prstGeom prst="rect">
            <a:avLst/>
          </a:prstGeom>
          <a:noFill/>
        </p:spPr>
        <p:txBody>
          <a:bodyPr wrap="none" lIns="0" tIns="0" rIns="0" bIns="0" anchor="t">
            <a:noAutofit/>
          </a:bodyPr>
          <a:lstStyle/>
          <a:p>
            <a:pPr algn="l">
              <a:lnSpc>
                <a:spcPts val="1260"/>
              </a:lnSpc>
            </a:pPr>
            <a:r>
              <a:rPr lang="nl-BE" sz="1050" b="0" i="0">
                <a:solidFill>
                  <a:srgbClr val="5A6E80"/>
                </a:solidFill>
                <a:latin typeface="DM Sans"/>
              </a:rPr>
              <a:t>Novel pedar</a:t>
            </a:r>
          </a:p>
        </p:txBody>
      </p:sp>
      <p:sp>
        <p:nvSpPr>
          <p:cNvPr id="78" name="Rectangle 77"/>
          <p:cNvSpPr/>
          <p:nvPr/>
        </p:nvSpPr>
        <p:spPr>
          <a:xfrm>
            <a:off x="81280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172333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263396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2633960" y="351274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82" name="TextBox 81"/>
          <p:cNvSpPr txBox="1">
            <a:spLocks/>
          </p:cNvSpPr>
          <p:nvPr/>
        </p:nvSpPr>
        <p:spPr>
          <a:xfrm>
            <a:off x="2633960" y="3563541"/>
            <a:ext cx="847030" cy="198120"/>
          </a:xfrm>
          <a:prstGeom prst="rect">
            <a:avLst/>
          </a:prstGeom>
          <a:noFill/>
        </p:spPr>
        <p:txBody>
          <a:bodyPr wrap="none" lIns="0" tIns="0" rIns="0" bIns="0" anchor="t">
            <a:noAutofit/>
          </a:bodyPr>
          <a:lstStyle/>
          <a:p>
            <a:pPr algn="ctr"/>
            <a:r>
              <a:rPr lang="nl-BE" sz="1200" b="0" i="0">
                <a:solidFill>
                  <a:srgbClr val="F2F8FC"/>
                </a:solidFill>
                <a:latin typeface="DM Sans"/>
              </a:rPr>
              <a:t>1 week</a:t>
            </a:r>
          </a:p>
        </p:txBody>
      </p:sp>
      <p:sp>
        <p:nvSpPr>
          <p:cNvPr id="83" name="Rectangle 82"/>
          <p:cNvSpPr/>
          <p:nvPr/>
        </p:nvSpPr>
        <p:spPr>
          <a:xfrm>
            <a:off x="354449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45512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536565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a:spLocks/>
          </p:cNvSpPr>
          <p:nvPr/>
        </p:nvSpPr>
        <p:spPr>
          <a:xfrm>
            <a:off x="627628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7" name="Rectangle 86"/>
          <p:cNvSpPr>
            <a:spLocks/>
          </p:cNvSpPr>
          <p:nvPr/>
        </p:nvSpPr>
        <p:spPr>
          <a:xfrm>
            <a:off x="718691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8" name="Rectangle 87"/>
          <p:cNvSpPr/>
          <p:nvPr/>
        </p:nvSpPr>
        <p:spPr>
          <a:xfrm>
            <a:off x="809744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00807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918601" y="337056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1" name="Picture 90" descr="c3433b372cfc1d99d6ab11119954a595.png"/>
          <p:cNvPicPr>
            <a:picLocks noChangeAspect="1"/>
          </p:cNvPicPr>
          <p:nvPr/>
        </p:nvPicPr>
        <p:blipFill>
          <a:blip r:embed="rId4"/>
          <a:stretch>
            <a:fillRect/>
          </a:stretch>
        </p:blipFill>
        <p:spPr>
          <a:xfrm>
            <a:off x="9994801" y="3554016"/>
            <a:ext cx="292100" cy="215900"/>
          </a:xfrm>
          <a:prstGeom prst="rect">
            <a:avLst/>
          </a:prstGeom>
        </p:spPr>
      </p:pic>
      <p:sp>
        <p:nvSpPr>
          <p:cNvPr id="92" name="TextBox 91"/>
          <p:cNvSpPr txBox="1">
            <a:spLocks/>
          </p:cNvSpPr>
          <p:nvPr/>
        </p:nvSpPr>
        <p:spPr>
          <a:xfrm>
            <a:off x="10350401" y="3480792"/>
            <a:ext cx="860028"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Waaktijd</a:t>
            </a:r>
          </a:p>
        </p:txBody>
      </p:sp>
      <p:sp>
        <p:nvSpPr>
          <p:cNvPr id="93" name="TextBox 92"/>
          <p:cNvSpPr txBox="1"/>
          <p:nvPr/>
        </p:nvSpPr>
        <p:spPr>
          <a:xfrm>
            <a:off x="10350401" y="3683298"/>
            <a:ext cx="860028" cy="160020"/>
          </a:xfrm>
          <a:prstGeom prst="rect">
            <a:avLst/>
          </a:prstGeom>
          <a:noFill/>
        </p:spPr>
        <p:txBody>
          <a:bodyPr wrap="none" lIns="0" tIns="0" rIns="0" bIns="0" anchor="t">
            <a:noAutofit/>
          </a:bodyPr>
          <a:lstStyle/>
          <a:p>
            <a:pPr algn="l">
              <a:lnSpc>
                <a:spcPts val="1260"/>
              </a:lnSpc>
            </a:pPr>
            <a:r>
              <a:rPr lang="nl-BE" sz="1050" b="0" i="0">
                <a:solidFill>
                  <a:srgbClr val="5A6E80"/>
                </a:solidFill>
                <a:latin typeface="DM Sans"/>
              </a:rPr>
              <a:t>MoveMonitor</a:t>
            </a:r>
          </a:p>
        </p:txBody>
      </p:sp>
      <p:sp>
        <p:nvSpPr>
          <p:cNvPr id="94" name="Rectangle 93"/>
          <p:cNvSpPr/>
          <p:nvPr/>
        </p:nvSpPr>
        <p:spPr>
          <a:xfrm>
            <a:off x="81280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72333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96" name="Rectangle 95"/>
          <p:cNvSpPr>
            <a:spLocks/>
          </p:cNvSpPr>
          <p:nvPr/>
        </p:nvSpPr>
        <p:spPr>
          <a:xfrm>
            <a:off x="263396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97" name="Rectangle 96"/>
          <p:cNvSpPr/>
          <p:nvPr/>
        </p:nvSpPr>
        <p:spPr>
          <a:xfrm>
            <a:off x="354449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354449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3544491" y="4203700"/>
            <a:ext cx="847130" cy="198120"/>
          </a:xfrm>
          <a:prstGeom prst="rect">
            <a:avLst/>
          </a:prstGeom>
          <a:noFill/>
        </p:spPr>
        <p:txBody>
          <a:bodyPr wrap="none" lIns="0" tIns="0" rIns="0" bIns="0" anchor="t">
            <a:noAutofit/>
          </a:bodyPr>
          <a:lstStyle/>
          <a:p>
            <a:pPr algn="ctr"/>
            <a:r>
              <a:rPr lang="nl-BE" sz="1200" b="0" i="0">
                <a:solidFill>
                  <a:srgbClr val="F2F8FC"/>
                </a:solidFill>
                <a:latin typeface="DM Sans"/>
              </a:rPr>
              <a:t>start</a:t>
            </a:r>
            <a:endParaRPr sz="1200" b="0" i="0">
              <a:solidFill>
                <a:srgbClr val="F2F8FC"/>
              </a:solidFill>
              <a:latin typeface="DM Sans"/>
            </a:endParaRPr>
          </a:p>
        </p:txBody>
      </p:sp>
      <p:sp>
        <p:nvSpPr>
          <p:cNvPr id="100" name="Rectangle 99"/>
          <p:cNvSpPr/>
          <p:nvPr/>
        </p:nvSpPr>
        <p:spPr>
          <a:xfrm>
            <a:off x="445512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445512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445512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3" name="Rectangle 102"/>
          <p:cNvSpPr/>
          <p:nvPr/>
        </p:nvSpPr>
        <p:spPr>
          <a:xfrm>
            <a:off x="536565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536565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536565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6" name="Rectangle 105"/>
          <p:cNvSpPr/>
          <p:nvPr/>
        </p:nvSpPr>
        <p:spPr>
          <a:xfrm>
            <a:off x="627628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6276280"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Box 107"/>
          <p:cNvSpPr txBox="1"/>
          <p:nvPr/>
        </p:nvSpPr>
        <p:spPr>
          <a:xfrm>
            <a:off x="6276280"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9" name="Rectangle 108"/>
          <p:cNvSpPr/>
          <p:nvPr/>
        </p:nvSpPr>
        <p:spPr>
          <a:xfrm>
            <a:off x="718691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718691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718691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2" name="Rectangle 111"/>
          <p:cNvSpPr/>
          <p:nvPr/>
        </p:nvSpPr>
        <p:spPr>
          <a:xfrm>
            <a:off x="809744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112"/>
          <p:cNvSpPr/>
          <p:nvPr/>
        </p:nvSpPr>
        <p:spPr>
          <a:xfrm>
            <a:off x="809744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TextBox 113"/>
          <p:cNvSpPr txBox="1"/>
          <p:nvPr/>
        </p:nvSpPr>
        <p:spPr>
          <a:xfrm>
            <a:off x="8097441" y="4203700"/>
            <a:ext cx="847130" cy="198120"/>
          </a:xfrm>
          <a:prstGeom prst="rect">
            <a:avLst/>
          </a:prstGeom>
          <a:noFill/>
        </p:spPr>
        <p:txBody>
          <a:bodyPr wrap="none" lIns="0" tIns="0" rIns="0" bIns="0" anchor="t">
            <a:noAutofit/>
          </a:bodyPr>
          <a:lstStyle/>
          <a:p>
            <a:pPr algn="ctr"/>
            <a:r>
              <a:rPr lang="nl-BE" sz="1200" b="0" i="0">
                <a:solidFill>
                  <a:srgbClr val="F2F8FC"/>
                </a:solidFill>
                <a:latin typeface="DM Sans"/>
              </a:rPr>
              <a:t>uitlezen</a:t>
            </a:r>
          </a:p>
        </p:txBody>
      </p:sp>
      <p:sp>
        <p:nvSpPr>
          <p:cNvPr id="115" name="Rectangle 114"/>
          <p:cNvSpPr>
            <a:spLocks/>
          </p:cNvSpPr>
          <p:nvPr/>
        </p:nvSpPr>
        <p:spPr>
          <a:xfrm>
            <a:off x="900807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16" name="Rounded Rectangle 115"/>
          <p:cNvSpPr/>
          <p:nvPr/>
        </p:nvSpPr>
        <p:spPr>
          <a:xfrm>
            <a:off x="900807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17" name="TextBox 116"/>
          <p:cNvSpPr txBox="1">
            <a:spLocks/>
          </p:cNvSpPr>
          <p:nvPr/>
        </p:nvSpPr>
        <p:spPr>
          <a:xfrm>
            <a:off x="9008070" y="4203700"/>
            <a:ext cx="847030" cy="198120"/>
          </a:xfrm>
          <a:prstGeom prst="rect">
            <a:avLst/>
          </a:prstGeom>
          <a:noFill/>
        </p:spPr>
        <p:txBody>
          <a:bodyPr wrap="none" lIns="0" tIns="0" rIns="0" bIns="0" anchor="t">
            <a:noAutofit/>
          </a:bodyPr>
          <a:lstStyle/>
          <a:p>
            <a:pPr algn="ctr"/>
            <a:r>
              <a:rPr lang="nl-BE" sz="1200" b="0" i="0">
                <a:solidFill>
                  <a:srgbClr val="F2F8FC"/>
                </a:solidFill>
                <a:latin typeface="DM Sans"/>
              </a:rPr>
              <a:t>uitlezen</a:t>
            </a:r>
          </a:p>
        </p:txBody>
      </p:sp>
      <p:sp>
        <p:nvSpPr>
          <p:cNvPr id="118" name="Rectangle 117"/>
          <p:cNvSpPr/>
          <p:nvPr/>
        </p:nvSpPr>
        <p:spPr>
          <a:xfrm>
            <a:off x="9918601" y="401062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9" name="Picture 118" descr="08f3416e444e7f76df034ad715d9910f.png"/>
          <p:cNvPicPr>
            <a:picLocks noChangeAspect="1"/>
          </p:cNvPicPr>
          <p:nvPr/>
        </p:nvPicPr>
        <p:blipFill>
          <a:blip r:embed="rId5"/>
          <a:stretch>
            <a:fillRect/>
          </a:stretch>
        </p:blipFill>
        <p:spPr>
          <a:xfrm>
            <a:off x="9994801" y="4194175"/>
            <a:ext cx="292100" cy="215900"/>
          </a:xfrm>
          <a:prstGeom prst="rect">
            <a:avLst/>
          </a:prstGeom>
        </p:spPr>
      </p:pic>
      <p:sp>
        <p:nvSpPr>
          <p:cNvPr id="120" name="TextBox 119"/>
          <p:cNvSpPr txBox="1"/>
          <p:nvPr/>
        </p:nvSpPr>
        <p:spPr>
          <a:xfrm>
            <a:off x="10350401" y="4120852"/>
            <a:ext cx="797223"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Draagtijd</a:t>
            </a:r>
          </a:p>
        </p:txBody>
      </p:sp>
      <p:sp>
        <p:nvSpPr>
          <p:cNvPr id="121" name="TextBox 120"/>
          <p:cNvSpPr txBox="1">
            <a:spLocks/>
          </p:cNvSpPr>
          <p:nvPr/>
        </p:nvSpPr>
        <p:spPr>
          <a:xfrm>
            <a:off x="10350401" y="4323358"/>
            <a:ext cx="797223" cy="160020"/>
          </a:xfrm>
          <a:prstGeom prst="rect">
            <a:avLst/>
          </a:prstGeom>
          <a:noFill/>
        </p:spPr>
        <p:txBody>
          <a:bodyPr wrap="none" lIns="0" tIns="0" rIns="0" bIns="0" anchor="t">
            <a:noAutofit/>
          </a:bodyPr>
          <a:lstStyle/>
          <a:p>
            <a:pPr algn="l">
              <a:lnSpc>
                <a:spcPts val="1260"/>
              </a:lnSpc>
            </a:pPr>
            <a:r>
              <a:rPr lang="nl-BE" sz="1050" b="0" i="0">
                <a:solidFill>
                  <a:srgbClr val="5A6E80"/>
                </a:solidFill>
                <a:latin typeface="DM Sans"/>
              </a:rPr>
              <a:t>Orthotimer</a:t>
            </a:r>
          </a:p>
        </p:txBody>
      </p:sp>
      <p:sp>
        <p:nvSpPr>
          <p:cNvPr id="122" name="Rectangle 121"/>
          <p:cNvSpPr>
            <a:spLocks/>
          </p:cNvSpPr>
          <p:nvPr/>
        </p:nvSpPr>
        <p:spPr>
          <a:xfrm>
            <a:off x="812800" y="465078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3" name="Rectangle 122"/>
          <p:cNvSpPr>
            <a:spLocks/>
          </p:cNvSpPr>
          <p:nvPr/>
        </p:nvSpPr>
        <p:spPr>
          <a:xfrm>
            <a:off x="1723330" y="465078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4" name="Rectangle 123"/>
          <p:cNvSpPr>
            <a:spLocks/>
          </p:cNvSpPr>
          <p:nvPr/>
        </p:nvSpPr>
        <p:spPr>
          <a:xfrm>
            <a:off x="2633960" y="4650780"/>
            <a:ext cx="722114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5" name="Rounded Rectangle 124"/>
          <p:cNvSpPr/>
          <p:nvPr/>
        </p:nvSpPr>
        <p:spPr>
          <a:xfrm>
            <a:off x="2633960" y="4793059"/>
            <a:ext cx="7221141"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6" name="TextBox 125"/>
          <p:cNvSpPr txBox="1"/>
          <p:nvPr/>
        </p:nvSpPr>
        <p:spPr>
          <a:xfrm>
            <a:off x="2633960" y="4843859"/>
            <a:ext cx="7221141" cy="198120"/>
          </a:xfrm>
          <a:prstGeom prst="rect">
            <a:avLst/>
          </a:prstGeom>
          <a:noFill/>
        </p:spPr>
        <p:txBody>
          <a:bodyPr wrap="none" lIns="0" tIns="0" rIns="0" bIns="0" anchor="t">
            <a:noAutofit/>
          </a:bodyPr>
          <a:lstStyle/>
          <a:p>
            <a:pPr algn="ctr"/>
            <a:r>
              <a:rPr lang="nl-NL" sz="1200" b="0" i="0">
                <a:solidFill>
                  <a:srgbClr val="F2F8FC"/>
                </a:solidFill>
                <a:latin typeface="DM Sans"/>
              </a:rPr>
              <a:t>een gesprek op elke visite, telkens met een eigen doel</a:t>
            </a:r>
          </a:p>
        </p:txBody>
      </p:sp>
      <p:sp>
        <p:nvSpPr>
          <p:cNvPr id="127" name="Rectangle 126"/>
          <p:cNvSpPr>
            <a:spLocks/>
          </p:cNvSpPr>
          <p:nvPr/>
        </p:nvSpPr>
        <p:spPr>
          <a:xfrm>
            <a:off x="9918601" y="465078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8" name="TextBox 127"/>
          <p:cNvSpPr txBox="1"/>
          <p:nvPr/>
        </p:nvSpPr>
        <p:spPr>
          <a:xfrm>
            <a:off x="10020201" y="4761012"/>
            <a:ext cx="14097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SEBIA-gesprek</a:t>
            </a:r>
          </a:p>
        </p:txBody>
      </p:sp>
      <p:sp>
        <p:nvSpPr>
          <p:cNvPr id="129" name="TextBox 128"/>
          <p:cNvSpPr txBox="1"/>
          <p:nvPr/>
        </p:nvSpPr>
        <p:spPr>
          <a:xfrm>
            <a:off x="10020201" y="4963517"/>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alleen Optimal Care</a:t>
            </a:r>
          </a:p>
        </p:txBody>
      </p:sp>
      <p:sp>
        <p:nvSpPr>
          <p:cNvPr id="130" name="TextBox 129"/>
          <p:cNvSpPr txBox="1"/>
          <p:nvPr/>
        </p:nvSpPr>
        <p:spPr>
          <a:xfrm>
            <a:off x="812800" y="5430639"/>
            <a:ext cx="10777728" cy="411361"/>
          </a:xfrm>
          <a:prstGeom prst="rect">
            <a:avLst/>
          </a:prstGeom>
          <a:noFill/>
        </p:spPr>
        <p:txBody>
          <a:bodyPr wrap="square" lIns="0" tIns="0" rIns="0" bIns="0" anchor="t">
            <a:noAutofit/>
          </a:bodyPr>
          <a:lstStyle/>
          <a:p>
            <a:pPr algn="l">
              <a:lnSpc>
                <a:spcPts val="1620"/>
              </a:lnSpc>
            </a:pPr>
            <a:r>
              <a:rPr sz="1200" b="0" i="0">
                <a:solidFill>
                  <a:srgbClr val="5A6E80"/>
                </a:solidFill>
                <a:latin typeface="DM Sans"/>
              </a:rPr>
              <a:t>A = in de schoen, zónder de CMFO · B = mét de CMFO, telkens vergeleken met A van dezelfde sessie</a:t>
            </a:r>
          </a:p>
          <a:p>
            <a:pPr algn="l">
              <a:lnSpc>
                <a:spcPts val="1620"/>
              </a:lnSpc>
            </a:pPr>
            <a:r>
              <a:rPr sz="1200" b="0" i="0">
                <a:solidFill>
                  <a:srgbClr val="5A6E80"/>
                </a:solidFill>
                <a:latin typeface="DM Sans"/>
              </a:rPr>
              <a:t>Voet- en schoeiselscreening op V1 en vanaf V3 · vragenlijsten op papier in de wachtzaal · kostendagboek telefonisch</a:t>
            </a:r>
          </a:p>
        </p:txBody>
      </p:sp>
      <p:pic>
        <p:nvPicPr>
          <p:cNvPr id="131" name="Picture 130"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132" name="TextBox 131"/>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133" name="TextBox 132"/>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 SEBIA-script (eCRF 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3_traject-uc.png"/>
          <p:cNvPicPr>
            <a:picLocks noChangeAspect="1"/>
          </p:cNvPicPr>
          <p:nvPr/>
        </p:nvPicPr>
        <p:blipFill>
          <a:blip r:embed="rId3"/>
          <a:stretch>
            <a:fillRect/>
          </a:stretch>
        </p:blipFill>
        <p:spPr>
          <a:xfrm>
            <a:off x="0" y="0"/>
            <a:ext cx="12192000" cy="6858000"/>
          </a:xfrm>
          <a:prstGeom prst="rect">
            <a:avLst/>
          </a:prstGeom>
        </p:spPr>
      </p:pic>
      <p:sp>
        <p:nvSpPr>
          <p:cNvPr id="3" name="Rounded Rectangle 2"/>
          <p:cNvSpPr>
            <a:spLocks/>
          </p:cNvSpPr>
          <p:nvPr/>
        </p:nvSpPr>
        <p:spPr>
          <a:xfrm>
            <a:off x="9220200" y="889000"/>
            <a:ext cx="2159000" cy="4127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4" name="TextBox 3"/>
          <p:cNvSpPr txBox="1"/>
          <p:nvPr/>
        </p:nvSpPr>
        <p:spPr>
          <a:xfrm>
            <a:off x="9194800" y="952500"/>
            <a:ext cx="2209800" cy="285750"/>
          </a:xfrm>
          <a:prstGeom prst="rect">
            <a:avLst/>
          </a:prstGeom>
          <a:noFill/>
        </p:spPr>
        <p:txBody>
          <a:bodyPr wrap="none" lIns="0" tIns="0" rIns="0" bIns="0" anchor="t">
            <a:noAutofit/>
          </a:bodyPr>
          <a:lstStyle/>
          <a:p>
            <a:pPr algn="ctr"/>
            <a:r>
              <a:rPr lang="nl-BE" sz="1700" b="1" i="0">
                <a:solidFill>
                  <a:srgbClr val="F2F8FC"/>
                </a:solidFill>
                <a:latin typeface="DM Sans"/>
              </a:rPr>
              <a:t>Usual Care</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Screening plus negen visites</a:t>
            </a:r>
          </a:p>
        </p:txBody>
      </p:sp>
      <p:sp>
        <p:nvSpPr>
          <p:cNvPr id="6" name="Rectangle 5"/>
          <p:cNvSpPr/>
          <p:nvPr/>
        </p:nvSpPr>
        <p:spPr>
          <a:xfrm>
            <a:off x="81280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Scr</a:t>
            </a:r>
          </a:p>
        </p:txBody>
      </p:sp>
      <p:sp>
        <p:nvSpPr>
          <p:cNvPr id="8" name="TextBox 7"/>
          <p:cNvSpPr txBox="1"/>
          <p:nvPr/>
        </p:nvSpPr>
        <p:spPr>
          <a:xfrm>
            <a:off x="812800" y="1741091"/>
            <a:ext cx="897830" cy="198120"/>
          </a:xfrm>
          <a:prstGeom prst="rect">
            <a:avLst/>
          </a:prstGeom>
          <a:noFill/>
        </p:spPr>
        <p:txBody>
          <a:bodyPr wrap="none" lIns="0" tIns="0" rIns="0" bIns="0" anchor="t">
            <a:noAutofit/>
          </a:bodyPr>
          <a:lstStyle/>
          <a:p>
            <a:pPr algn="l"/>
            <a:r>
              <a:rPr lang="nl-BE" sz="1200" b="0" i="0">
                <a:solidFill>
                  <a:srgbClr val="5A6E80"/>
                </a:solidFill>
                <a:latin typeface="DM Sans"/>
              </a:rPr>
              <a:t>screening</a:t>
            </a:r>
          </a:p>
        </p:txBody>
      </p:sp>
      <p:sp>
        <p:nvSpPr>
          <p:cNvPr id="9" name="Rectangle 8"/>
          <p:cNvSpPr>
            <a:spLocks/>
          </p:cNvSpPr>
          <p:nvPr/>
        </p:nvSpPr>
        <p:spPr>
          <a:xfrm>
            <a:off x="172333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1723330" y="1518841"/>
            <a:ext cx="897930" cy="198120"/>
          </a:xfrm>
          <a:prstGeom prst="rect">
            <a:avLst/>
          </a:prstGeom>
          <a:noFill/>
        </p:spPr>
        <p:txBody>
          <a:bodyPr wrap="none" lIns="0" tIns="0" rIns="0" bIns="0" anchor="t">
            <a:noAutofit/>
          </a:bodyPr>
          <a:lstStyle/>
          <a:p>
            <a:pPr algn="l"/>
            <a:r>
              <a:rPr lang="nl-BE" sz="1200" b="1" i="0">
                <a:solidFill>
                  <a:srgbClr val="0A2540"/>
                </a:solidFill>
                <a:latin typeface="DM Sans"/>
              </a:rPr>
              <a:t>V0</a:t>
            </a:r>
          </a:p>
        </p:txBody>
      </p:sp>
      <p:sp>
        <p:nvSpPr>
          <p:cNvPr id="11" name="TextBox 10"/>
          <p:cNvSpPr txBox="1"/>
          <p:nvPr/>
        </p:nvSpPr>
        <p:spPr>
          <a:xfrm>
            <a:off x="1723330" y="1741091"/>
            <a:ext cx="897930" cy="198120"/>
          </a:xfrm>
          <a:prstGeom prst="rect">
            <a:avLst/>
          </a:prstGeom>
          <a:noFill/>
        </p:spPr>
        <p:txBody>
          <a:bodyPr wrap="none" lIns="0" tIns="0" rIns="0" bIns="0" anchor="t">
            <a:noAutofit/>
          </a:bodyPr>
          <a:lstStyle/>
          <a:p>
            <a:pPr algn="l"/>
            <a:r>
              <a:rPr lang="nl-BE" sz="1200" b="0" i="0">
                <a:solidFill>
                  <a:srgbClr val="5A6E80"/>
                </a:solidFill>
                <a:latin typeface="DM Sans"/>
              </a:rPr>
              <a:t>geschikt</a:t>
            </a:r>
          </a:p>
        </p:txBody>
      </p:sp>
      <p:sp>
        <p:nvSpPr>
          <p:cNvPr id="12" name="Rectangle 11"/>
          <p:cNvSpPr>
            <a:spLocks/>
          </p:cNvSpPr>
          <p:nvPr/>
        </p:nvSpPr>
        <p:spPr>
          <a:xfrm>
            <a:off x="263396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3" name="TextBox 12"/>
          <p:cNvSpPr txBox="1"/>
          <p:nvPr/>
        </p:nvSpPr>
        <p:spPr>
          <a:xfrm>
            <a:off x="2633960" y="1518841"/>
            <a:ext cx="897830" cy="198120"/>
          </a:xfrm>
          <a:prstGeom prst="rect">
            <a:avLst/>
          </a:prstGeom>
          <a:noFill/>
        </p:spPr>
        <p:txBody>
          <a:bodyPr wrap="none" lIns="0" tIns="0" rIns="0" bIns="0" anchor="t">
            <a:noAutofit/>
          </a:bodyPr>
          <a:lstStyle/>
          <a:p>
            <a:pPr algn="l"/>
            <a:r>
              <a:rPr lang="nl-BE" sz="1200" b="1" i="0">
                <a:solidFill>
                  <a:srgbClr val="0A2540"/>
                </a:solidFill>
                <a:latin typeface="DM Sans"/>
              </a:rPr>
              <a:t>V1</a:t>
            </a:r>
          </a:p>
        </p:txBody>
      </p:sp>
      <p:sp>
        <p:nvSpPr>
          <p:cNvPr id="14" name="TextBox 13"/>
          <p:cNvSpPr txBox="1"/>
          <p:nvPr/>
        </p:nvSpPr>
        <p:spPr>
          <a:xfrm>
            <a:off x="2633960" y="1741091"/>
            <a:ext cx="897830" cy="198120"/>
          </a:xfrm>
          <a:prstGeom prst="rect">
            <a:avLst/>
          </a:prstGeom>
          <a:noFill/>
        </p:spPr>
        <p:txBody>
          <a:bodyPr wrap="none" lIns="0" tIns="0" rIns="0" bIns="0" anchor="t">
            <a:noAutofit/>
          </a:bodyPr>
          <a:lstStyle/>
          <a:p>
            <a:pPr algn="l"/>
            <a:r>
              <a:rPr lang="nl-BE" sz="1200" b="0" i="0">
                <a:solidFill>
                  <a:srgbClr val="5A6E80"/>
                </a:solidFill>
                <a:latin typeface="DM Sans"/>
              </a:rPr>
              <a:t>baseline</a:t>
            </a:r>
          </a:p>
        </p:txBody>
      </p:sp>
      <p:sp>
        <p:nvSpPr>
          <p:cNvPr id="15" name="Rectangle 14"/>
          <p:cNvSpPr>
            <a:spLocks/>
          </p:cNvSpPr>
          <p:nvPr/>
        </p:nvSpPr>
        <p:spPr>
          <a:xfrm>
            <a:off x="354449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6" name="TextBox 15"/>
          <p:cNvSpPr txBox="1"/>
          <p:nvPr/>
        </p:nvSpPr>
        <p:spPr>
          <a:xfrm>
            <a:off x="3544491" y="1518841"/>
            <a:ext cx="897930" cy="198120"/>
          </a:xfrm>
          <a:prstGeom prst="rect">
            <a:avLst/>
          </a:prstGeom>
          <a:noFill/>
        </p:spPr>
        <p:txBody>
          <a:bodyPr wrap="none" lIns="0" tIns="0" rIns="0" bIns="0" anchor="t">
            <a:noAutofit/>
          </a:bodyPr>
          <a:lstStyle/>
          <a:p>
            <a:pPr algn="l"/>
            <a:r>
              <a:rPr lang="nl-BE" sz="1200" b="1" i="0">
                <a:solidFill>
                  <a:srgbClr val="0A2540"/>
                </a:solidFill>
                <a:latin typeface="DM Sans"/>
              </a:rPr>
              <a:t>V2</a:t>
            </a:r>
          </a:p>
        </p:txBody>
      </p:sp>
      <p:sp>
        <p:nvSpPr>
          <p:cNvPr id="17" name="TextBox 16"/>
          <p:cNvSpPr txBox="1"/>
          <p:nvPr/>
        </p:nvSpPr>
        <p:spPr>
          <a:xfrm>
            <a:off x="3544491" y="1741091"/>
            <a:ext cx="897930" cy="198120"/>
          </a:xfrm>
          <a:prstGeom prst="rect">
            <a:avLst/>
          </a:prstGeom>
          <a:noFill/>
        </p:spPr>
        <p:txBody>
          <a:bodyPr wrap="none" lIns="0" tIns="0" rIns="0" bIns="0" anchor="t">
            <a:noAutofit/>
          </a:bodyPr>
          <a:lstStyle/>
          <a:p>
            <a:pPr algn="l"/>
            <a:r>
              <a:rPr lang="nl-BE" sz="1200" b="0" i="0">
                <a:solidFill>
                  <a:srgbClr val="5A6E80"/>
                </a:solidFill>
                <a:latin typeface="DM Sans"/>
              </a:rPr>
              <a:t>14 d–1 m</a:t>
            </a:r>
          </a:p>
        </p:txBody>
      </p:sp>
      <p:sp>
        <p:nvSpPr>
          <p:cNvPr id="18" name="Rectangle 17"/>
          <p:cNvSpPr/>
          <p:nvPr/>
        </p:nvSpPr>
        <p:spPr>
          <a:xfrm>
            <a:off x="445512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55120" y="1518841"/>
            <a:ext cx="897830" cy="198120"/>
          </a:xfrm>
          <a:prstGeom prst="rect">
            <a:avLst/>
          </a:prstGeom>
          <a:noFill/>
        </p:spPr>
        <p:txBody>
          <a:bodyPr wrap="none" lIns="0" tIns="0" rIns="0" bIns="0" anchor="t">
            <a:noAutofit/>
          </a:bodyPr>
          <a:lstStyle/>
          <a:p>
            <a:pPr algn="l"/>
            <a:r>
              <a:rPr lang="nl-BE" sz="1200" b="1" i="0">
                <a:solidFill>
                  <a:srgbClr val="0A2540"/>
                </a:solidFill>
                <a:latin typeface="DM Sans"/>
              </a:rPr>
              <a:t>V3</a:t>
            </a:r>
          </a:p>
        </p:txBody>
      </p:sp>
      <p:sp>
        <p:nvSpPr>
          <p:cNvPr id="20" name="TextBox 19"/>
          <p:cNvSpPr txBox="1"/>
          <p:nvPr/>
        </p:nvSpPr>
        <p:spPr>
          <a:xfrm>
            <a:off x="4455120" y="1741091"/>
            <a:ext cx="897830" cy="198120"/>
          </a:xfrm>
          <a:prstGeom prst="rect">
            <a:avLst/>
          </a:prstGeom>
          <a:noFill/>
        </p:spPr>
        <p:txBody>
          <a:bodyPr wrap="none" lIns="0" tIns="0" rIns="0" bIns="0" anchor="t">
            <a:noAutofit/>
          </a:bodyPr>
          <a:lstStyle/>
          <a:p>
            <a:pPr algn="l"/>
            <a:r>
              <a:rPr lang="nl-BE" sz="1200" b="0" i="0">
                <a:solidFill>
                  <a:srgbClr val="5A6E80"/>
                </a:solidFill>
                <a:latin typeface="DM Sans"/>
              </a:rPr>
              <a:t>m 3</a:t>
            </a:r>
          </a:p>
        </p:txBody>
      </p:sp>
      <p:sp>
        <p:nvSpPr>
          <p:cNvPr id="21" name="Rectangle 20"/>
          <p:cNvSpPr/>
          <p:nvPr/>
        </p:nvSpPr>
        <p:spPr>
          <a:xfrm>
            <a:off x="536565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6565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V4</a:t>
            </a:r>
          </a:p>
        </p:txBody>
      </p:sp>
      <p:sp>
        <p:nvSpPr>
          <p:cNvPr id="23" name="TextBox 22"/>
          <p:cNvSpPr txBox="1"/>
          <p:nvPr/>
        </p:nvSpPr>
        <p:spPr>
          <a:xfrm>
            <a:off x="536565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6</a:t>
            </a:r>
          </a:p>
        </p:txBody>
      </p:sp>
      <p:sp>
        <p:nvSpPr>
          <p:cNvPr id="24" name="Rectangle 23"/>
          <p:cNvSpPr/>
          <p:nvPr/>
        </p:nvSpPr>
        <p:spPr>
          <a:xfrm>
            <a:off x="6276280"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76280"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V5</a:t>
            </a:r>
          </a:p>
        </p:txBody>
      </p:sp>
      <p:sp>
        <p:nvSpPr>
          <p:cNvPr id="26" name="TextBox 25"/>
          <p:cNvSpPr txBox="1"/>
          <p:nvPr/>
        </p:nvSpPr>
        <p:spPr>
          <a:xfrm>
            <a:off x="6276280"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9</a:t>
            </a:r>
          </a:p>
        </p:txBody>
      </p:sp>
      <p:sp>
        <p:nvSpPr>
          <p:cNvPr id="27" name="Rectangle 26"/>
          <p:cNvSpPr/>
          <p:nvPr/>
        </p:nvSpPr>
        <p:spPr>
          <a:xfrm>
            <a:off x="718691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691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V6</a:t>
            </a:r>
          </a:p>
        </p:txBody>
      </p:sp>
      <p:sp>
        <p:nvSpPr>
          <p:cNvPr id="29" name="TextBox 28"/>
          <p:cNvSpPr txBox="1"/>
          <p:nvPr/>
        </p:nvSpPr>
        <p:spPr>
          <a:xfrm>
            <a:off x="718691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12</a:t>
            </a:r>
          </a:p>
        </p:txBody>
      </p:sp>
      <p:sp>
        <p:nvSpPr>
          <p:cNvPr id="30" name="Rectangle 29"/>
          <p:cNvSpPr/>
          <p:nvPr/>
        </p:nvSpPr>
        <p:spPr>
          <a:xfrm>
            <a:off x="8097441" y="201414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97441" y="1518841"/>
            <a:ext cx="897930" cy="198120"/>
          </a:xfrm>
          <a:prstGeom prst="rect">
            <a:avLst/>
          </a:prstGeom>
          <a:noFill/>
        </p:spPr>
        <p:txBody>
          <a:bodyPr wrap="none" lIns="0" tIns="0" rIns="0" bIns="0" anchor="t">
            <a:noAutofit/>
          </a:bodyPr>
          <a:lstStyle/>
          <a:p>
            <a:pPr algn="l"/>
            <a:r>
              <a:rPr sz="1200" b="1" i="0">
                <a:solidFill>
                  <a:srgbClr val="0A2540"/>
                </a:solidFill>
                <a:latin typeface="DM Sans"/>
              </a:rPr>
              <a:t>V7</a:t>
            </a:r>
          </a:p>
        </p:txBody>
      </p:sp>
      <p:sp>
        <p:nvSpPr>
          <p:cNvPr id="32" name="TextBox 31"/>
          <p:cNvSpPr txBox="1"/>
          <p:nvPr/>
        </p:nvSpPr>
        <p:spPr>
          <a:xfrm>
            <a:off x="8097441" y="1741091"/>
            <a:ext cx="897930" cy="198120"/>
          </a:xfrm>
          <a:prstGeom prst="rect">
            <a:avLst/>
          </a:prstGeom>
          <a:noFill/>
        </p:spPr>
        <p:txBody>
          <a:bodyPr wrap="none" lIns="0" tIns="0" rIns="0" bIns="0" anchor="t">
            <a:noAutofit/>
          </a:bodyPr>
          <a:lstStyle/>
          <a:p>
            <a:pPr algn="l"/>
            <a:r>
              <a:rPr sz="1200" b="0" i="0">
                <a:solidFill>
                  <a:srgbClr val="5A6E80"/>
                </a:solidFill>
                <a:latin typeface="DM Sans"/>
              </a:rPr>
              <a:t>m 15</a:t>
            </a:r>
          </a:p>
        </p:txBody>
      </p:sp>
      <p:sp>
        <p:nvSpPr>
          <p:cNvPr id="33" name="Rectangle 32"/>
          <p:cNvSpPr/>
          <p:nvPr/>
        </p:nvSpPr>
        <p:spPr>
          <a:xfrm>
            <a:off x="9008070" y="201414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08070" y="1518841"/>
            <a:ext cx="897830" cy="198120"/>
          </a:xfrm>
          <a:prstGeom prst="rect">
            <a:avLst/>
          </a:prstGeom>
          <a:noFill/>
        </p:spPr>
        <p:txBody>
          <a:bodyPr wrap="none" lIns="0" tIns="0" rIns="0" bIns="0" anchor="t">
            <a:noAutofit/>
          </a:bodyPr>
          <a:lstStyle/>
          <a:p>
            <a:pPr algn="l"/>
            <a:r>
              <a:rPr sz="1200" b="1" i="0">
                <a:solidFill>
                  <a:srgbClr val="0A2540"/>
                </a:solidFill>
                <a:latin typeface="DM Sans"/>
              </a:rPr>
              <a:t>V8</a:t>
            </a:r>
          </a:p>
        </p:txBody>
      </p:sp>
      <p:sp>
        <p:nvSpPr>
          <p:cNvPr id="35" name="TextBox 34"/>
          <p:cNvSpPr txBox="1"/>
          <p:nvPr/>
        </p:nvSpPr>
        <p:spPr>
          <a:xfrm>
            <a:off x="9008070" y="1741091"/>
            <a:ext cx="897830" cy="198120"/>
          </a:xfrm>
          <a:prstGeom prst="rect">
            <a:avLst/>
          </a:prstGeom>
          <a:noFill/>
        </p:spPr>
        <p:txBody>
          <a:bodyPr wrap="none" lIns="0" tIns="0" rIns="0" bIns="0" anchor="t">
            <a:noAutofit/>
          </a:bodyPr>
          <a:lstStyle/>
          <a:p>
            <a:pPr algn="l"/>
            <a:r>
              <a:rPr sz="1200" b="0" i="0">
                <a:solidFill>
                  <a:srgbClr val="5A6E80"/>
                </a:solidFill>
                <a:latin typeface="DM Sans"/>
              </a:rPr>
              <a:t>m 18</a:t>
            </a:r>
          </a:p>
        </p:txBody>
      </p:sp>
      <p:sp>
        <p:nvSpPr>
          <p:cNvPr id="36" name="TextBox 35"/>
          <p:cNvSpPr txBox="1"/>
          <p:nvPr/>
        </p:nvSpPr>
        <p:spPr>
          <a:xfrm>
            <a:off x="10020201" y="1785541"/>
            <a:ext cx="1409700" cy="165100"/>
          </a:xfrm>
          <a:prstGeom prst="rect">
            <a:avLst/>
          </a:prstGeom>
          <a:noFill/>
        </p:spPr>
        <p:txBody>
          <a:bodyPr wrap="none" lIns="0" tIns="0" rIns="0" bIns="0" anchor="t">
            <a:noAutofit/>
          </a:bodyPr>
          <a:lstStyle/>
          <a:p>
            <a:pPr algn="l"/>
            <a:r>
              <a:rPr sz="1000" b="1" i="0">
                <a:solidFill>
                  <a:srgbClr val="5A6E80"/>
                </a:solidFill>
                <a:latin typeface="DM Sans"/>
              </a:rPr>
              <a:t>Wat · toestel</a:t>
            </a:r>
          </a:p>
        </p:txBody>
      </p:sp>
      <p:sp>
        <p:nvSpPr>
          <p:cNvPr id="37" name="Rectangle 36"/>
          <p:cNvSpPr/>
          <p:nvPr/>
        </p:nvSpPr>
        <p:spPr>
          <a:xfrm>
            <a:off x="81280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812800" y="223252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2283321"/>
            <a:ext cx="847030" cy="198120"/>
          </a:xfrm>
          <a:prstGeom prst="rect">
            <a:avLst/>
          </a:prstGeom>
          <a:noFill/>
        </p:spPr>
        <p:txBody>
          <a:bodyPr wrap="none" lIns="0" tIns="0" rIns="0" bIns="0" anchor="t">
            <a:noAutofit/>
          </a:bodyPr>
          <a:lstStyle/>
          <a:p>
            <a:pPr algn="ctr"/>
            <a:r>
              <a:rPr sz="1200" b="0" i="0">
                <a:solidFill>
                  <a:srgbClr val="F2F8FC"/>
                </a:solidFill>
                <a:latin typeface="DM Sans"/>
              </a:rPr>
              <a:t>arts</a:t>
            </a:r>
          </a:p>
        </p:txBody>
      </p:sp>
      <p:sp>
        <p:nvSpPr>
          <p:cNvPr id="40" name="Rectangle 39"/>
          <p:cNvSpPr/>
          <p:nvPr/>
        </p:nvSpPr>
        <p:spPr>
          <a:xfrm>
            <a:off x="172333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723330" y="2232521"/>
            <a:ext cx="8471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723330" y="2283321"/>
            <a:ext cx="847130" cy="198120"/>
          </a:xfrm>
          <a:prstGeom prst="rect">
            <a:avLst/>
          </a:prstGeom>
          <a:noFill/>
        </p:spPr>
        <p:txBody>
          <a:bodyPr wrap="none" lIns="0" tIns="0" rIns="0" bIns="0" anchor="t">
            <a:noAutofit/>
          </a:bodyPr>
          <a:lstStyle/>
          <a:p>
            <a:pPr algn="ctr"/>
            <a:r>
              <a:rPr sz="1200" b="0" i="0">
                <a:solidFill>
                  <a:srgbClr val="F2F8FC"/>
                </a:solidFill>
                <a:latin typeface="DM Sans"/>
              </a:rPr>
              <a:t>PI</a:t>
            </a:r>
          </a:p>
        </p:txBody>
      </p:sp>
      <p:sp>
        <p:nvSpPr>
          <p:cNvPr id="43" name="Rectangle 42"/>
          <p:cNvSpPr/>
          <p:nvPr/>
        </p:nvSpPr>
        <p:spPr>
          <a:xfrm>
            <a:off x="263396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54449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45512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36565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76280"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18691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8097441" y="209034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008070" y="209034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918601" y="209034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020201" y="2105620"/>
            <a:ext cx="1409700" cy="379611"/>
          </a:xfrm>
          <a:prstGeom prst="rect">
            <a:avLst/>
          </a:prstGeom>
          <a:noFill/>
        </p:spPr>
        <p:txBody>
          <a:bodyPr wrap="square" lIns="0" tIns="0" rIns="0" bIns="0" anchor="t">
            <a:noAutofit/>
          </a:bodyPr>
          <a:lstStyle/>
          <a:p>
            <a:pPr algn="l">
              <a:lnSpc>
                <a:spcPts val="1495"/>
              </a:lnSpc>
            </a:pPr>
            <a:r>
              <a:rPr sz="1300" b="1" i="0">
                <a:solidFill>
                  <a:srgbClr val="0A2540"/>
                </a:solidFill>
                <a:latin typeface="DM Sans"/>
              </a:rPr>
              <a:t>Toestemming en loting</a:t>
            </a:r>
          </a:p>
        </p:txBody>
      </p:sp>
      <p:sp>
        <p:nvSpPr>
          <p:cNvPr id="53" name="TextBox 52"/>
          <p:cNvSpPr txBox="1"/>
          <p:nvPr/>
        </p:nvSpPr>
        <p:spPr>
          <a:xfrm>
            <a:off x="10020201" y="2497931"/>
            <a:ext cx="1409700"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arts, dan PI</a:t>
            </a:r>
          </a:p>
        </p:txBody>
      </p:sp>
      <p:sp>
        <p:nvSpPr>
          <p:cNvPr id="54" name="Rectangle 53"/>
          <p:cNvSpPr/>
          <p:nvPr/>
        </p:nvSpPr>
        <p:spPr>
          <a:xfrm>
            <a:off x="81280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72333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63396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2633960" y="2891730"/>
            <a:ext cx="847030" cy="2603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121124" y="2923480"/>
            <a:ext cx="152003" cy="198120"/>
          </a:xfrm>
          <a:prstGeom prst="rect">
            <a:avLst/>
          </a:prstGeom>
          <a:noFill/>
        </p:spPr>
        <p:txBody>
          <a:bodyPr wrap="none" lIns="0" tIns="0" rIns="0" bIns="0" anchor="t">
            <a:noAutofit/>
          </a:bodyPr>
          <a:lstStyle/>
          <a:p>
            <a:pPr algn="l"/>
            <a:r>
              <a:rPr sz="1200" b="0" i="0">
                <a:solidFill>
                  <a:srgbClr val="0A2540"/>
                </a:solidFill>
                <a:latin typeface="DM Sans"/>
              </a:rPr>
              <a:t>A</a:t>
            </a:r>
          </a:p>
        </p:txBody>
      </p:sp>
      <p:sp>
        <p:nvSpPr>
          <p:cNvPr id="59" name="Rectangle 58"/>
          <p:cNvSpPr/>
          <p:nvPr/>
        </p:nvSpPr>
        <p:spPr>
          <a:xfrm>
            <a:off x="354449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45512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36565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5365651" y="2891730"/>
            <a:ext cx="847130" cy="2603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5724426" y="2923480"/>
            <a:ext cx="408880" cy="198120"/>
          </a:xfrm>
          <a:prstGeom prst="rect">
            <a:avLst/>
          </a:prstGeom>
          <a:noFill/>
        </p:spPr>
        <p:txBody>
          <a:bodyPr wrap="none" lIns="0" tIns="0" rIns="0" bIns="0" anchor="t">
            <a:noAutofit/>
          </a:bodyPr>
          <a:lstStyle/>
          <a:p>
            <a:pPr algn="l"/>
            <a:r>
              <a:rPr sz="1200" b="0" i="0">
                <a:solidFill>
                  <a:srgbClr val="0A2540"/>
                </a:solidFill>
                <a:latin typeface="DM Sans"/>
              </a:rPr>
              <a:t>A + B</a:t>
            </a:r>
          </a:p>
        </p:txBody>
      </p:sp>
      <p:sp>
        <p:nvSpPr>
          <p:cNvPr id="64" name="Rectangle 63"/>
          <p:cNvSpPr/>
          <p:nvPr/>
        </p:nvSpPr>
        <p:spPr>
          <a:xfrm>
            <a:off x="6276280"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718691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8097441" y="273040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008070" y="273040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918601" y="2730401"/>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9" name="Picture 68" descr="7006ea103c3e8fa9006c500fec1a0272.png"/>
          <p:cNvPicPr>
            <a:picLocks noChangeAspect="1"/>
          </p:cNvPicPr>
          <p:nvPr/>
        </p:nvPicPr>
        <p:blipFill>
          <a:blip r:embed="rId4"/>
          <a:stretch>
            <a:fillRect/>
          </a:stretch>
        </p:blipFill>
        <p:spPr>
          <a:xfrm>
            <a:off x="9994801" y="2913955"/>
            <a:ext cx="292100" cy="215900"/>
          </a:xfrm>
          <a:prstGeom prst="rect">
            <a:avLst/>
          </a:prstGeom>
        </p:spPr>
      </p:pic>
      <p:sp>
        <p:nvSpPr>
          <p:cNvPr id="70" name="TextBox 69"/>
          <p:cNvSpPr txBox="1"/>
          <p:nvPr/>
        </p:nvSpPr>
        <p:spPr>
          <a:xfrm>
            <a:off x="10350401" y="2840633"/>
            <a:ext cx="1002804"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Drukmeting</a:t>
            </a:r>
          </a:p>
        </p:txBody>
      </p:sp>
      <p:sp>
        <p:nvSpPr>
          <p:cNvPr id="71" name="TextBox 70"/>
          <p:cNvSpPr txBox="1"/>
          <p:nvPr/>
        </p:nvSpPr>
        <p:spPr>
          <a:xfrm>
            <a:off x="10350401" y="3043138"/>
            <a:ext cx="1002804" cy="160020"/>
          </a:xfrm>
          <a:prstGeom prst="rect">
            <a:avLst/>
          </a:prstGeom>
          <a:noFill/>
        </p:spPr>
        <p:txBody>
          <a:bodyPr wrap="none" lIns="0" tIns="0" rIns="0" bIns="0" anchor="t">
            <a:noAutofit/>
          </a:bodyPr>
          <a:lstStyle/>
          <a:p>
            <a:pPr algn="l">
              <a:lnSpc>
                <a:spcPts val="1260"/>
              </a:lnSpc>
            </a:pPr>
            <a:r>
              <a:rPr sz="1050" b="1" i="0">
                <a:solidFill>
                  <a:srgbClr val="A34A00"/>
                </a:solidFill>
                <a:latin typeface="DM Sans"/>
              </a:rPr>
              <a:t>geblindeerd</a:t>
            </a:r>
          </a:p>
        </p:txBody>
      </p:sp>
      <p:sp>
        <p:nvSpPr>
          <p:cNvPr id="72" name="Rectangle 71"/>
          <p:cNvSpPr/>
          <p:nvPr/>
        </p:nvSpPr>
        <p:spPr>
          <a:xfrm>
            <a:off x="81280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72333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263396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2633960" y="3512741"/>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2633960" y="3563541"/>
            <a:ext cx="847030" cy="198120"/>
          </a:xfrm>
          <a:prstGeom prst="rect">
            <a:avLst/>
          </a:prstGeom>
          <a:noFill/>
        </p:spPr>
        <p:txBody>
          <a:bodyPr wrap="none" lIns="0" tIns="0" rIns="0" bIns="0" anchor="t">
            <a:noAutofit/>
          </a:bodyPr>
          <a:lstStyle/>
          <a:p>
            <a:pPr algn="ctr"/>
            <a:r>
              <a:rPr sz="1200" b="0" i="0">
                <a:solidFill>
                  <a:srgbClr val="F2F8FC"/>
                </a:solidFill>
                <a:latin typeface="DM Sans"/>
              </a:rPr>
              <a:t>1 week</a:t>
            </a:r>
          </a:p>
        </p:txBody>
      </p:sp>
      <p:sp>
        <p:nvSpPr>
          <p:cNvPr id="77" name="Rectangle 76"/>
          <p:cNvSpPr/>
          <p:nvPr/>
        </p:nvSpPr>
        <p:spPr>
          <a:xfrm>
            <a:off x="354449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445512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536565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6276280"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718691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8097441" y="337056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008070" y="337056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918601" y="337056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Picture 84" descr="c3433b372cfc1d99d6ab11119954a595.png"/>
          <p:cNvPicPr>
            <a:picLocks noChangeAspect="1"/>
          </p:cNvPicPr>
          <p:nvPr/>
        </p:nvPicPr>
        <p:blipFill>
          <a:blip r:embed="rId5"/>
          <a:stretch>
            <a:fillRect/>
          </a:stretch>
        </p:blipFill>
        <p:spPr>
          <a:xfrm>
            <a:off x="9994801" y="3554016"/>
            <a:ext cx="292100" cy="215900"/>
          </a:xfrm>
          <a:prstGeom prst="rect">
            <a:avLst/>
          </a:prstGeom>
        </p:spPr>
      </p:pic>
      <p:sp>
        <p:nvSpPr>
          <p:cNvPr id="86" name="TextBox 85"/>
          <p:cNvSpPr txBox="1"/>
          <p:nvPr/>
        </p:nvSpPr>
        <p:spPr>
          <a:xfrm>
            <a:off x="10350401" y="3480792"/>
            <a:ext cx="860028"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Waaktijd</a:t>
            </a:r>
          </a:p>
        </p:txBody>
      </p:sp>
      <p:sp>
        <p:nvSpPr>
          <p:cNvPr id="87" name="TextBox 86"/>
          <p:cNvSpPr txBox="1"/>
          <p:nvPr/>
        </p:nvSpPr>
        <p:spPr>
          <a:xfrm>
            <a:off x="10350401" y="3683298"/>
            <a:ext cx="860028" cy="160020"/>
          </a:xfrm>
          <a:prstGeom prst="rect">
            <a:avLst/>
          </a:prstGeom>
          <a:noFill/>
        </p:spPr>
        <p:txBody>
          <a:bodyPr wrap="none" lIns="0" tIns="0" rIns="0" bIns="0" anchor="t">
            <a:noAutofit/>
          </a:bodyPr>
          <a:lstStyle/>
          <a:p>
            <a:pPr algn="l">
              <a:lnSpc>
                <a:spcPts val="1260"/>
              </a:lnSpc>
            </a:pPr>
            <a:r>
              <a:rPr sz="1050" b="0" i="0">
                <a:solidFill>
                  <a:srgbClr val="5A6E80"/>
                </a:solidFill>
                <a:latin typeface="DM Sans"/>
              </a:rPr>
              <a:t>MoveMonitor</a:t>
            </a:r>
          </a:p>
        </p:txBody>
      </p:sp>
      <p:sp>
        <p:nvSpPr>
          <p:cNvPr id="88" name="Rectangle 87"/>
          <p:cNvSpPr/>
          <p:nvPr/>
        </p:nvSpPr>
        <p:spPr>
          <a:xfrm>
            <a:off x="81280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172333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263396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354449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ounded Rectangle 91"/>
          <p:cNvSpPr/>
          <p:nvPr/>
        </p:nvSpPr>
        <p:spPr>
          <a:xfrm>
            <a:off x="354449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TextBox 92"/>
          <p:cNvSpPr txBox="1"/>
          <p:nvPr/>
        </p:nvSpPr>
        <p:spPr>
          <a:xfrm>
            <a:off x="354449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start</a:t>
            </a:r>
          </a:p>
        </p:txBody>
      </p:sp>
      <p:sp>
        <p:nvSpPr>
          <p:cNvPr id="94" name="Rectangle 93"/>
          <p:cNvSpPr/>
          <p:nvPr/>
        </p:nvSpPr>
        <p:spPr>
          <a:xfrm>
            <a:off x="445512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445512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445512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97" name="Rectangle 96"/>
          <p:cNvSpPr/>
          <p:nvPr/>
        </p:nvSpPr>
        <p:spPr>
          <a:xfrm>
            <a:off x="536565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ounded Rectangle 97"/>
          <p:cNvSpPr/>
          <p:nvPr/>
        </p:nvSpPr>
        <p:spPr>
          <a:xfrm>
            <a:off x="536565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9" name="TextBox 98"/>
          <p:cNvSpPr txBox="1"/>
          <p:nvPr/>
        </p:nvSpPr>
        <p:spPr>
          <a:xfrm>
            <a:off x="536565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0" name="Rectangle 99"/>
          <p:cNvSpPr/>
          <p:nvPr/>
        </p:nvSpPr>
        <p:spPr>
          <a:xfrm>
            <a:off x="6276280"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ounded Rectangle 100"/>
          <p:cNvSpPr/>
          <p:nvPr/>
        </p:nvSpPr>
        <p:spPr>
          <a:xfrm>
            <a:off x="6276280"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6276280"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3" name="Rectangle 102"/>
          <p:cNvSpPr/>
          <p:nvPr/>
        </p:nvSpPr>
        <p:spPr>
          <a:xfrm>
            <a:off x="718691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718691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5" name="TextBox 104"/>
          <p:cNvSpPr txBox="1"/>
          <p:nvPr/>
        </p:nvSpPr>
        <p:spPr>
          <a:xfrm>
            <a:off x="718691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6" name="Rectangle 105"/>
          <p:cNvSpPr/>
          <p:nvPr/>
        </p:nvSpPr>
        <p:spPr>
          <a:xfrm>
            <a:off x="8097441" y="401062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ounded Rectangle 106"/>
          <p:cNvSpPr/>
          <p:nvPr/>
        </p:nvSpPr>
        <p:spPr>
          <a:xfrm>
            <a:off x="8097441" y="4152900"/>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TextBox 107"/>
          <p:cNvSpPr txBox="1"/>
          <p:nvPr/>
        </p:nvSpPr>
        <p:spPr>
          <a:xfrm>
            <a:off x="8097441" y="4203700"/>
            <a:ext cx="8471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09" name="Rectangle 108"/>
          <p:cNvSpPr/>
          <p:nvPr/>
        </p:nvSpPr>
        <p:spPr>
          <a:xfrm>
            <a:off x="9008070" y="401062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9008070" y="4152900"/>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TextBox 110"/>
          <p:cNvSpPr txBox="1"/>
          <p:nvPr/>
        </p:nvSpPr>
        <p:spPr>
          <a:xfrm>
            <a:off x="9008070" y="4203700"/>
            <a:ext cx="847030" cy="198120"/>
          </a:xfrm>
          <a:prstGeom prst="rect">
            <a:avLst/>
          </a:prstGeom>
          <a:noFill/>
        </p:spPr>
        <p:txBody>
          <a:bodyPr wrap="none" lIns="0" tIns="0" rIns="0" bIns="0" anchor="t">
            <a:noAutofit/>
          </a:bodyPr>
          <a:lstStyle/>
          <a:p>
            <a:pPr algn="ctr"/>
            <a:r>
              <a:rPr sz="1200" b="0" i="0">
                <a:solidFill>
                  <a:srgbClr val="F2F8FC"/>
                </a:solidFill>
                <a:latin typeface="DM Sans"/>
              </a:rPr>
              <a:t>uitlezen</a:t>
            </a:r>
          </a:p>
        </p:txBody>
      </p:sp>
      <p:sp>
        <p:nvSpPr>
          <p:cNvPr id="112" name="Rectangle 111"/>
          <p:cNvSpPr/>
          <p:nvPr/>
        </p:nvSpPr>
        <p:spPr>
          <a:xfrm>
            <a:off x="9918601" y="401062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3" name="Picture 112" descr="08f3416e444e7f76df034ad715d9910f.png"/>
          <p:cNvPicPr>
            <a:picLocks noChangeAspect="1"/>
          </p:cNvPicPr>
          <p:nvPr/>
        </p:nvPicPr>
        <p:blipFill>
          <a:blip r:embed="rId6"/>
          <a:stretch>
            <a:fillRect/>
          </a:stretch>
        </p:blipFill>
        <p:spPr>
          <a:xfrm>
            <a:off x="9994801" y="4194175"/>
            <a:ext cx="292100" cy="215900"/>
          </a:xfrm>
          <a:prstGeom prst="rect">
            <a:avLst/>
          </a:prstGeom>
        </p:spPr>
      </p:pic>
      <p:sp>
        <p:nvSpPr>
          <p:cNvPr id="114" name="TextBox 113"/>
          <p:cNvSpPr txBox="1"/>
          <p:nvPr/>
        </p:nvSpPr>
        <p:spPr>
          <a:xfrm>
            <a:off x="10350401" y="4040882"/>
            <a:ext cx="10795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Draagtijd</a:t>
            </a:r>
          </a:p>
        </p:txBody>
      </p:sp>
      <p:sp>
        <p:nvSpPr>
          <p:cNvPr id="115" name="TextBox 114"/>
          <p:cNvSpPr txBox="1"/>
          <p:nvPr/>
        </p:nvSpPr>
        <p:spPr>
          <a:xfrm>
            <a:off x="10350401" y="4243388"/>
            <a:ext cx="1079500" cy="319881"/>
          </a:xfrm>
          <a:prstGeom prst="rect">
            <a:avLst/>
          </a:prstGeom>
          <a:noFill/>
        </p:spPr>
        <p:txBody>
          <a:bodyPr wrap="square" lIns="0" tIns="0" rIns="0" bIns="0" anchor="t">
            <a:noAutofit/>
          </a:bodyPr>
          <a:lstStyle/>
          <a:p>
            <a:pPr algn="l">
              <a:lnSpc>
                <a:spcPts val="1260"/>
              </a:lnSpc>
            </a:pPr>
            <a:r>
              <a:rPr sz="1050" b="1" i="0">
                <a:solidFill>
                  <a:srgbClr val="A34A00"/>
                </a:solidFill>
                <a:latin typeface="DM Sans"/>
              </a:rPr>
              <a:t>zonder feedback</a:t>
            </a:r>
          </a:p>
        </p:txBody>
      </p:sp>
      <p:sp>
        <p:nvSpPr>
          <p:cNvPr id="116" name="Rectangle 115"/>
          <p:cNvSpPr/>
          <p:nvPr/>
        </p:nvSpPr>
        <p:spPr>
          <a:xfrm>
            <a:off x="812800" y="4650780"/>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1723330" y="4650780"/>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2633960" y="4650780"/>
            <a:ext cx="722114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ounded Rectangle 118"/>
          <p:cNvSpPr/>
          <p:nvPr/>
        </p:nvSpPr>
        <p:spPr>
          <a:xfrm>
            <a:off x="2633960" y="4793059"/>
            <a:ext cx="7221141" cy="29845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TextBox 119"/>
          <p:cNvSpPr txBox="1"/>
          <p:nvPr/>
        </p:nvSpPr>
        <p:spPr>
          <a:xfrm>
            <a:off x="2633960" y="4843859"/>
            <a:ext cx="7221141" cy="198120"/>
          </a:xfrm>
          <a:prstGeom prst="rect">
            <a:avLst/>
          </a:prstGeom>
          <a:noFill/>
        </p:spPr>
        <p:txBody>
          <a:bodyPr wrap="none" lIns="0" tIns="0" rIns="0" bIns="0" anchor="t">
            <a:noAutofit/>
          </a:bodyPr>
          <a:lstStyle/>
          <a:p>
            <a:pPr algn="ctr"/>
            <a:r>
              <a:rPr sz="1200" b="0" i="0">
                <a:solidFill>
                  <a:srgbClr val="0A2540"/>
                </a:solidFill>
                <a:latin typeface="DM Sans"/>
              </a:rPr>
              <a:t>geen SEBIA: voetzorg en educatie zoals vandaag</a:t>
            </a:r>
          </a:p>
        </p:txBody>
      </p:sp>
      <p:sp>
        <p:nvSpPr>
          <p:cNvPr id="121" name="Rectangle 120"/>
          <p:cNvSpPr/>
          <p:nvPr/>
        </p:nvSpPr>
        <p:spPr>
          <a:xfrm>
            <a:off x="9918601" y="4650780"/>
            <a:ext cx="14605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10020201" y="4761012"/>
            <a:ext cx="14097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Educatie</a:t>
            </a:r>
          </a:p>
        </p:txBody>
      </p:sp>
      <p:sp>
        <p:nvSpPr>
          <p:cNvPr id="123" name="TextBox 122"/>
          <p:cNvSpPr txBox="1"/>
          <p:nvPr/>
        </p:nvSpPr>
        <p:spPr>
          <a:xfrm>
            <a:off x="10020201" y="4963517"/>
            <a:ext cx="1409700" cy="160020"/>
          </a:xfrm>
          <a:prstGeom prst="rect">
            <a:avLst/>
          </a:prstGeom>
          <a:noFill/>
        </p:spPr>
        <p:txBody>
          <a:bodyPr wrap="none" lIns="0" tIns="0" rIns="0" bIns="0" anchor="t">
            <a:noAutofit/>
          </a:bodyPr>
          <a:lstStyle/>
          <a:p>
            <a:pPr algn="l">
              <a:lnSpc>
                <a:spcPts val="1260"/>
              </a:lnSpc>
            </a:pPr>
            <a:r>
              <a:rPr sz="1050" b="1" i="0">
                <a:solidFill>
                  <a:srgbClr val="A34A00"/>
                </a:solidFill>
                <a:latin typeface="DM Sans"/>
              </a:rPr>
              <a:t>zoals vandaag</a:t>
            </a:r>
          </a:p>
        </p:txBody>
      </p:sp>
      <p:sp>
        <p:nvSpPr>
          <p:cNvPr id="124" name="TextBox 123"/>
          <p:cNvSpPr txBox="1"/>
          <p:nvPr/>
        </p:nvSpPr>
        <p:spPr>
          <a:xfrm>
            <a:off x="812800" y="5430639"/>
            <a:ext cx="10777728" cy="411361"/>
          </a:xfrm>
          <a:prstGeom prst="rect">
            <a:avLst/>
          </a:prstGeom>
          <a:noFill/>
        </p:spPr>
        <p:txBody>
          <a:bodyPr wrap="square" lIns="0" tIns="0" rIns="0" bIns="0" anchor="t">
            <a:noAutofit/>
          </a:bodyPr>
          <a:lstStyle/>
          <a:p>
            <a:pPr algn="l">
              <a:lnSpc>
                <a:spcPts val="1620"/>
              </a:lnSpc>
            </a:pPr>
            <a:r>
              <a:rPr sz="1200" b="0" i="0">
                <a:solidFill>
                  <a:srgbClr val="5A6E80"/>
                </a:solidFill>
                <a:latin typeface="DM Sans"/>
              </a:rPr>
              <a:t>In oranje wat anders is dan in Optimal Care · de drukmeting met het slot is geblindeerd: drempel 50 kPa, waarden uit, niet getoond of besproken</a:t>
            </a:r>
          </a:p>
          <a:p>
            <a:pPr algn="l">
              <a:lnSpc>
                <a:spcPts val="1620"/>
              </a:lnSpc>
            </a:pPr>
            <a:r>
              <a:rPr sz="1200" b="0" i="0">
                <a:solidFill>
                  <a:srgbClr val="5A6E80"/>
                </a:solidFill>
                <a:latin typeface="DM Sans"/>
              </a:rPr>
              <a:t>Voet- en schoeiselscreening op V1 en vanaf V3 · vragenlijsten op papier in de wachtzaal · kostendagboek telefonisch</a:t>
            </a:r>
          </a:p>
        </p:txBody>
      </p:sp>
      <p:pic>
        <p:nvPicPr>
          <p:cNvPr id="125" name="Picture 124" descr="ec5c93e6f83f209b4e97ddfdecd480c8.png"/>
          <p:cNvPicPr>
            <a:picLocks noChangeAspect="1"/>
          </p:cNvPicPr>
          <p:nvPr/>
        </p:nvPicPr>
        <p:blipFill>
          <a:blip r:embed="rId7"/>
          <a:stretch>
            <a:fillRect/>
          </a:stretch>
        </p:blipFill>
        <p:spPr>
          <a:xfrm>
            <a:off x="812967" y="6261100"/>
            <a:ext cx="171116" cy="203200"/>
          </a:xfrm>
          <a:prstGeom prst="rect">
            <a:avLst/>
          </a:prstGeom>
        </p:spPr>
      </p:pic>
      <p:sp>
        <p:nvSpPr>
          <p:cNvPr id="126" name="TextBox 125"/>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127" name="TextBox 126"/>
          <p:cNvSpPr txBox="1"/>
          <p:nvPr/>
        </p:nvSpPr>
        <p:spPr>
          <a:xfrm>
            <a:off x="6502400" y="6254750"/>
            <a:ext cx="4876800" cy="198120"/>
          </a:xfrm>
          <a:prstGeom prst="rect">
            <a:avLst/>
          </a:prstGeom>
          <a:noFill/>
        </p:spPr>
        <p:txBody>
          <a:bodyPr wrap="none" lIns="0" tIns="0" rIns="0" bIns="0" anchor="t">
            <a:noAutofit/>
          </a:bodyPr>
          <a:lstStyle/>
          <a:p>
            <a:pPr algn="r"/>
            <a:r>
              <a:rPr lang="nl-NL" sz="1200" b="0" i="0">
                <a:solidFill>
                  <a:srgbClr val="5A6E80"/>
                </a:solidFill>
                <a:latin typeface="DM Sans"/>
              </a:rPr>
              <a:t>Bron: studieprotocol §5.5 · beslissing 8 oktober 2026</a:t>
            </a:r>
            <a:endParaRPr sz="1200" b="0" i="0">
              <a:solidFill>
                <a:srgbClr val="5A6E80"/>
              </a:solidFill>
              <a:latin typeface="DM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ounded Rectangle 1"/>
          <p:cNvSpPr/>
          <p:nvPr/>
        </p:nvSpPr>
        <p:spPr>
          <a:xfrm>
            <a:off x="9220200" y="889000"/>
            <a:ext cx="2159000" cy="412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194800" y="952500"/>
            <a:ext cx="2209800" cy="285750"/>
          </a:xfrm>
          <a:prstGeom prst="rect">
            <a:avLst/>
          </a:prstGeom>
          <a:noFill/>
        </p:spPr>
        <p:txBody>
          <a:bodyPr wrap="none" lIns="0" tIns="0" rIns="0" bIns="0" anchor="t">
            <a:noAutofit/>
          </a:bodyPr>
          <a:lstStyle/>
          <a:p>
            <a:pPr algn="ctr"/>
            <a:r>
              <a:rPr lang="nl-BE" sz="1700" b="1" i="0">
                <a:solidFill>
                  <a:srgbClr val="F2F8FC"/>
                </a:solidFill>
                <a:latin typeface="DM Sans"/>
              </a:rPr>
              <a:t>Optimal Care</a:t>
            </a:r>
          </a:p>
        </p:txBody>
      </p:sp>
      <p:sp>
        <p:nvSpPr>
          <p:cNvPr id="4" name="TextBox 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SEBIA-interventie: componenten</a:t>
            </a:r>
          </a:p>
        </p:txBody>
      </p:sp>
      <p:sp>
        <p:nvSpPr>
          <p:cNvPr id="5" name="TextBox 4"/>
          <p:cNvSpPr txBox="1">
            <a:spLocks/>
          </p:cNvSpPr>
          <p:nvPr/>
        </p:nvSpPr>
        <p:spPr>
          <a:xfrm>
            <a:off x="812800" y="1391841"/>
            <a:ext cx="10617200" cy="234950"/>
          </a:xfrm>
          <a:prstGeom prst="rect">
            <a:avLst/>
          </a:prstGeom>
          <a:noFill/>
        </p:spPr>
        <p:txBody>
          <a:bodyPr wrap="none" lIns="0" tIns="0" rIns="0" bIns="0" anchor="t">
            <a:noAutofit/>
          </a:bodyPr>
          <a:lstStyle/>
          <a:p>
            <a:pPr algn="l"/>
            <a:r>
              <a:rPr lang="en-US" sz="1400" b="0" i="0">
                <a:solidFill>
                  <a:srgbClr val="5A6E80"/>
                </a:solidFill>
                <a:latin typeface="DM Sans"/>
              </a:rPr>
              <a:t>Structured Education and Behavioural Intervention Approach</a:t>
            </a:r>
          </a:p>
        </p:txBody>
      </p:sp>
      <p:pic>
        <p:nvPicPr>
          <p:cNvPr id="6" name="Picture 5" descr="6de44dba357a7686ab4958f527799b90.png"/>
          <p:cNvPicPr>
            <a:picLocks noChangeAspect="1"/>
          </p:cNvPicPr>
          <p:nvPr/>
        </p:nvPicPr>
        <p:blipFill>
          <a:blip r:embed="rId3"/>
          <a:stretch>
            <a:fillRect/>
          </a:stretch>
        </p:blipFill>
        <p:spPr>
          <a:xfrm>
            <a:off x="812800" y="1879600"/>
            <a:ext cx="5130800" cy="1905000"/>
          </a:xfrm>
          <a:prstGeom prst="rect">
            <a:avLst/>
          </a:prstGeom>
        </p:spPr>
      </p:pic>
      <p:pic>
        <p:nvPicPr>
          <p:cNvPr id="7" name="Picture 6" descr="fd222c2b5b39e2cb237c513a9738b5ab.png"/>
          <p:cNvPicPr>
            <a:picLocks noChangeAspect="1"/>
          </p:cNvPicPr>
          <p:nvPr/>
        </p:nvPicPr>
        <p:blipFill>
          <a:blip r:embed="rId4"/>
          <a:stretch>
            <a:fillRect/>
          </a:stretch>
        </p:blipFill>
        <p:spPr>
          <a:xfrm>
            <a:off x="6248400" y="1879600"/>
            <a:ext cx="5130800" cy="1905000"/>
          </a:xfrm>
          <a:prstGeom prst="rect">
            <a:avLst/>
          </a:prstGeom>
        </p:spPr>
      </p:pic>
      <p:sp>
        <p:nvSpPr>
          <p:cNvPr id="8" name="TextBox 7"/>
          <p:cNvSpPr txBox="1"/>
          <p:nvPr/>
        </p:nvSpPr>
        <p:spPr>
          <a:xfrm>
            <a:off x="812800" y="3937000"/>
            <a:ext cx="5181600" cy="330200"/>
          </a:xfrm>
          <a:prstGeom prst="rect">
            <a:avLst/>
          </a:prstGeom>
          <a:noFill/>
        </p:spPr>
        <p:txBody>
          <a:bodyPr wrap="none" lIns="0" tIns="0" rIns="0" bIns="0" anchor="t">
            <a:noAutofit/>
          </a:bodyPr>
          <a:lstStyle/>
          <a:p>
            <a:pPr algn="l">
              <a:lnSpc>
                <a:spcPts val="2600"/>
              </a:lnSpc>
            </a:pPr>
            <a:r>
              <a:rPr lang="nl-BE" sz="2600" b="0" i="0">
                <a:solidFill>
                  <a:srgbClr val="00407A"/>
                </a:solidFill>
                <a:latin typeface="DM Serif Display"/>
              </a:rPr>
              <a:t>Diabetesvoetzorg</a:t>
            </a:r>
          </a:p>
        </p:txBody>
      </p:sp>
      <p:sp>
        <p:nvSpPr>
          <p:cNvPr id="9" name="TextBox 8"/>
          <p:cNvSpPr txBox="1">
            <a:spLocks/>
          </p:cNvSpPr>
          <p:nvPr/>
        </p:nvSpPr>
        <p:spPr>
          <a:xfrm>
            <a:off x="812800" y="4381500"/>
            <a:ext cx="5181600" cy="234950"/>
          </a:xfrm>
          <a:prstGeom prst="rect">
            <a:avLst/>
          </a:prstGeom>
          <a:noFill/>
        </p:spPr>
        <p:txBody>
          <a:bodyPr wrap="none" lIns="0" tIns="0" rIns="0" bIns="0" anchor="t">
            <a:noAutofit/>
          </a:bodyPr>
          <a:lstStyle/>
          <a:p>
            <a:pPr algn="l"/>
            <a:r>
              <a:rPr lang="nl-BE" sz="1400" b="1" i="0">
                <a:solidFill>
                  <a:srgbClr val="00407A"/>
                </a:solidFill>
                <a:latin typeface="DM Sans"/>
              </a:rPr>
              <a:t>Educatie en skills training</a:t>
            </a:r>
          </a:p>
        </p:txBody>
      </p:sp>
      <p:sp>
        <p:nvSpPr>
          <p:cNvPr id="10" name="TextBox 9"/>
          <p:cNvSpPr txBox="1"/>
          <p:nvPr/>
        </p:nvSpPr>
        <p:spPr>
          <a:xfrm>
            <a:off x="812800" y="4679950"/>
            <a:ext cx="5181600" cy="231140"/>
          </a:xfrm>
          <a:prstGeom prst="rect">
            <a:avLst/>
          </a:prstGeom>
          <a:noFill/>
        </p:spPr>
        <p:txBody>
          <a:bodyPr wrap="none" lIns="0" tIns="0" rIns="0" bIns="0" anchor="t">
            <a:noAutofit/>
          </a:bodyPr>
          <a:lstStyle/>
          <a:p>
            <a:pPr algn="l">
              <a:lnSpc>
                <a:spcPts val="1820"/>
              </a:lnSpc>
            </a:pPr>
            <a:r>
              <a:rPr lang="nl-BE" sz="1400" b="0" i="0">
                <a:solidFill>
                  <a:srgbClr val="3A4F63"/>
                </a:solidFill>
                <a:latin typeface="DM Sans"/>
              </a:rPr>
              <a:t>kennis goede voetzorg</a:t>
            </a:r>
          </a:p>
        </p:txBody>
      </p:sp>
      <p:sp>
        <p:nvSpPr>
          <p:cNvPr id="11" name="TextBox 10"/>
          <p:cNvSpPr txBox="1">
            <a:spLocks/>
          </p:cNvSpPr>
          <p:nvPr/>
        </p:nvSpPr>
        <p:spPr>
          <a:xfrm>
            <a:off x="812800" y="4974530"/>
            <a:ext cx="5181600" cy="231140"/>
          </a:xfrm>
          <a:prstGeom prst="rect">
            <a:avLst/>
          </a:prstGeom>
          <a:noFill/>
        </p:spPr>
        <p:txBody>
          <a:bodyPr wrap="none" lIns="0" tIns="0" rIns="0" bIns="0" anchor="t">
            <a:noAutofit/>
          </a:bodyPr>
          <a:lstStyle/>
          <a:p>
            <a:pPr algn="l">
              <a:lnSpc>
                <a:spcPts val="1820"/>
              </a:lnSpc>
            </a:pPr>
            <a:r>
              <a:rPr lang="nl-BE" sz="1400" b="0" i="0">
                <a:solidFill>
                  <a:srgbClr val="3A4F63"/>
                </a:solidFill>
                <a:latin typeface="DM Sans"/>
              </a:rPr>
              <a:t>uitvoeren van goede voetzorg</a:t>
            </a:r>
          </a:p>
        </p:txBody>
      </p:sp>
      <p:sp>
        <p:nvSpPr>
          <p:cNvPr id="12" name="TextBox 11"/>
          <p:cNvSpPr txBox="1"/>
          <p:nvPr/>
        </p:nvSpPr>
        <p:spPr>
          <a:xfrm>
            <a:off x="812800" y="5269111"/>
            <a:ext cx="5181600" cy="231140"/>
          </a:xfrm>
          <a:prstGeom prst="rect">
            <a:avLst/>
          </a:prstGeom>
          <a:noFill/>
        </p:spPr>
        <p:txBody>
          <a:bodyPr wrap="none" lIns="0" tIns="0" rIns="0" bIns="0" anchor="t">
            <a:noAutofit/>
          </a:bodyPr>
          <a:lstStyle/>
          <a:p>
            <a:pPr algn="l">
              <a:lnSpc>
                <a:spcPts val="1820"/>
              </a:lnSpc>
            </a:pPr>
            <a:r>
              <a:rPr lang="nl-NL" sz="1400" b="0" i="0">
                <a:solidFill>
                  <a:srgbClr val="3A4F63"/>
                </a:solidFill>
                <a:latin typeface="DM Sans"/>
              </a:rPr>
              <a:t>kennis belang aangepast schoeisel en zolen</a:t>
            </a:r>
          </a:p>
        </p:txBody>
      </p:sp>
      <p:sp>
        <p:nvSpPr>
          <p:cNvPr id="13" name="TextBox 12"/>
          <p:cNvSpPr txBox="1">
            <a:spLocks/>
          </p:cNvSpPr>
          <p:nvPr/>
        </p:nvSpPr>
        <p:spPr>
          <a:xfrm>
            <a:off x="6248400" y="3937000"/>
            <a:ext cx="5181600" cy="330200"/>
          </a:xfrm>
          <a:prstGeom prst="rect">
            <a:avLst/>
          </a:prstGeom>
          <a:noFill/>
        </p:spPr>
        <p:txBody>
          <a:bodyPr wrap="none" lIns="0" tIns="0" rIns="0" bIns="0" anchor="t">
            <a:noAutofit/>
          </a:bodyPr>
          <a:lstStyle/>
          <a:p>
            <a:pPr algn="l">
              <a:lnSpc>
                <a:spcPts val="2600"/>
              </a:lnSpc>
            </a:pPr>
            <a:r>
              <a:rPr lang="nl-BE" sz="2600" b="0" i="0">
                <a:solidFill>
                  <a:srgbClr val="0B6E8F"/>
                </a:solidFill>
                <a:latin typeface="DM Serif Display"/>
              </a:rPr>
              <a:t>Therapietrouw</a:t>
            </a:r>
          </a:p>
        </p:txBody>
      </p:sp>
      <p:sp>
        <p:nvSpPr>
          <p:cNvPr id="14" name="TextBox 13"/>
          <p:cNvSpPr txBox="1"/>
          <p:nvPr/>
        </p:nvSpPr>
        <p:spPr>
          <a:xfrm>
            <a:off x="6248400" y="4330700"/>
            <a:ext cx="5181600" cy="214630"/>
          </a:xfrm>
          <a:prstGeom prst="rect">
            <a:avLst/>
          </a:prstGeom>
          <a:noFill/>
        </p:spPr>
        <p:txBody>
          <a:bodyPr wrap="none" lIns="0" tIns="0" rIns="0" bIns="0" anchor="t">
            <a:noAutofit/>
          </a:bodyPr>
          <a:lstStyle/>
          <a:p>
            <a:pPr algn="l">
              <a:lnSpc>
                <a:spcPts val="1689"/>
              </a:lnSpc>
            </a:pPr>
            <a:r>
              <a:rPr lang="nl-NL" sz="1300" b="0" i="0">
                <a:solidFill>
                  <a:srgbClr val="5A6E80"/>
                </a:solidFill>
                <a:latin typeface="DM Sans"/>
              </a:rPr>
              <a:t>met het dragen van aangepast schoeisel en zolen</a:t>
            </a:r>
          </a:p>
        </p:txBody>
      </p:sp>
      <p:sp>
        <p:nvSpPr>
          <p:cNvPr id="15" name="TextBox 14"/>
          <p:cNvSpPr txBox="1">
            <a:spLocks/>
          </p:cNvSpPr>
          <p:nvPr/>
        </p:nvSpPr>
        <p:spPr>
          <a:xfrm>
            <a:off x="6248400" y="4608810"/>
            <a:ext cx="5181600" cy="234950"/>
          </a:xfrm>
          <a:prstGeom prst="rect">
            <a:avLst/>
          </a:prstGeom>
          <a:noFill/>
        </p:spPr>
        <p:txBody>
          <a:bodyPr wrap="none" lIns="0" tIns="0" rIns="0" bIns="0" anchor="t">
            <a:noAutofit/>
          </a:bodyPr>
          <a:lstStyle/>
          <a:p>
            <a:pPr algn="l"/>
            <a:r>
              <a:rPr lang="nl-BE" sz="1400" b="1" i="0">
                <a:solidFill>
                  <a:srgbClr val="0B6E8F"/>
                </a:solidFill>
                <a:latin typeface="DM Sans"/>
              </a:rPr>
              <a:t>Monitoring therapietrouw </a:t>
            </a:r>
            <a:r>
              <a:rPr lang="nl-BE" sz="1400" b="1" i="0">
                <a:solidFill>
                  <a:srgbClr val="9FB3C6"/>
                </a:solidFill>
                <a:latin typeface="DM Sans"/>
              </a:rPr>
              <a:t>→</a:t>
            </a:r>
            <a:r>
              <a:rPr lang="nl-BE" sz="1400" b="1" i="0">
                <a:solidFill>
                  <a:srgbClr val="0B6E8F"/>
                </a:solidFill>
                <a:latin typeface="DM Sans"/>
              </a:rPr>
              <a:t> Verbeteren therapietrouw</a:t>
            </a:r>
          </a:p>
        </p:txBody>
      </p:sp>
      <p:sp>
        <p:nvSpPr>
          <p:cNvPr id="16" name="TextBox 15"/>
          <p:cNvSpPr txBox="1"/>
          <p:nvPr/>
        </p:nvSpPr>
        <p:spPr>
          <a:xfrm>
            <a:off x="6248400" y="4907260"/>
            <a:ext cx="5181600" cy="231140"/>
          </a:xfrm>
          <a:prstGeom prst="rect">
            <a:avLst/>
          </a:prstGeom>
          <a:noFill/>
        </p:spPr>
        <p:txBody>
          <a:bodyPr wrap="none" lIns="0" tIns="0" rIns="0" bIns="0" anchor="t">
            <a:noAutofit/>
          </a:bodyPr>
          <a:lstStyle/>
          <a:p>
            <a:pPr algn="l">
              <a:lnSpc>
                <a:spcPts val="1820"/>
              </a:lnSpc>
            </a:pPr>
            <a:r>
              <a:rPr lang="nl-BE" sz="1400" b="0" i="0">
                <a:solidFill>
                  <a:srgbClr val="3A4F63"/>
                </a:solidFill>
                <a:latin typeface="DM Sans"/>
              </a:rPr>
              <a:t>verhogen belang/motivatie therapietrouw</a:t>
            </a:r>
          </a:p>
        </p:txBody>
      </p:sp>
      <p:sp>
        <p:nvSpPr>
          <p:cNvPr id="17" name="TextBox 16"/>
          <p:cNvSpPr txBox="1">
            <a:spLocks/>
          </p:cNvSpPr>
          <p:nvPr/>
        </p:nvSpPr>
        <p:spPr>
          <a:xfrm>
            <a:off x="6248400" y="5201841"/>
            <a:ext cx="5181600" cy="231140"/>
          </a:xfrm>
          <a:prstGeom prst="rect">
            <a:avLst/>
          </a:prstGeom>
          <a:noFill/>
        </p:spPr>
        <p:txBody>
          <a:bodyPr wrap="none" lIns="0" tIns="0" rIns="0" bIns="0" anchor="t">
            <a:noAutofit/>
          </a:bodyPr>
          <a:lstStyle/>
          <a:p>
            <a:pPr algn="l">
              <a:lnSpc>
                <a:spcPts val="1820"/>
              </a:lnSpc>
            </a:pPr>
            <a:r>
              <a:rPr lang="nl-BE" sz="1400" b="0" i="0">
                <a:solidFill>
                  <a:srgbClr val="3A4F63"/>
                </a:solidFill>
                <a:latin typeface="DM Sans"/>
              </a:rPr>
              <a:t>aanpakken barrières voor therapietrouw</a:t>
            </a:r>
          </a:p>
        </p:txBody>
      </p:sp>
      <p:pic>
        <p:nvPicPr>
          <p:cNvPr id="18" name="Picture 17"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19" name="TextBox 18"/>
          <p:cNvSpPr txBox="1">
            <a:spLocks/>
          </p:cNvSpPr>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Werkpakketten</a:t>
            </a:r>
          </a:p>
        </p:txBody>
      </p:sp>
      <p:sp>
        <p:nvSpPr>
          <p:cNvPr id="20" name="TextBox 19"/>
          <p:cNvSpPr txBox="1">
            <a:spLocks/>
          </p:cNvSpPr>
          <p:nvPr/>
        </p:nvSpPr>
        <p:spPr>
          <a:xfrm>
            <a:off x="4978400" y="6254750"/>
            <a:ext cx="6400800" cy="198120"/>
          </a:xfrm>
          <a:prstGeom prst="rect">
            <a:avLst/>
          </a:prstGeom>
          <a:noFill/>
        </p:spPr>
        <p:txBody>
          <a:bodyPr wrap="none" lIns="0" tIns="0" rIns="0" bIns="0" anchor="t">
            <a:noAutofit/>
          </a:bodyPr>
          <a:lstStyle/>
          <a:p>
            <a:pPr algn="r"/>
            <a:r>
              <a:rPr lang="nl-NL"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Overzicht inhoud studievisites</a:t>
            </a:r>
          </a:p>
        </p:txBody>
      </p:sp>
      <p:sp>
        <p:nvSpPr>
          <p:cNvPr id="4" name="TextBox 3"/>
          <p:cNvSpPr txBox="1">
            <a:spLocks/>
          </p:cNvSpPr>
          <p:nvPr/>
        </p:nvSpPr>
        <p:spPr>
          <a:xfrm>
            <a:off x="812800"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V1</a:t>
            </a:r>
            <a:r>
              <a:rPr lang="nl-BE" sz="1200" b="0" i="0">
                <a:solidFill>
                  <a:srgbClr val="0A2540"/>
                </a:solidFill>
                <a:latin typeface="DM Sans"/>
              </a:rPr>
              <a:t> </a:t>
            </a:r>
            <a:r>
              <a:rPr lang="nl-BE" sz="1200" b="0" i="0">
                <a:solidFill>
                  <a:srgbClr val="5A6E80"/>
                </a:solidFill>
                <a:latin typeface="DM Sans"/>
              </a:rPr>
              <a:t>baseline</a:t>
            </a:r>
          </a:p>
        </p:txBody>
      </p:sp>
      <p:sp>
        <p:nvSpPr>
          <p:cNvPr id="5" name="Rounded Rectangle 4"/>
          <p:cNvSpPr>
            <a:spLocks/>
          </p:cNvSpPr>
          <p:nvPr/>
        </p:nvSpPr>
        <p:spPr>
          <a:xfrm>
            <a:off x="812800"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a:spLocks/>
          </p:cNvSpPr>
          <p:nvPr/>
        </p:nvSpPr>
        <p:spPr>
          <a:xfrm>
            <a:off x="2143125"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V2</a:t>
            </a:r>
            <a:r>
              <a:rPr lang="nl-BE" sz="1200" b="0" i="0">
                <a:solidFill>
                  <a:srgbClr val="0A2540"/>
                </a:solidFill>
                <a:latin typeface="DM Sans"/>
              </a:rPr>
              <a:t> </a:t>
            </a:r>
            <a:r>
              <a:rPr lang="nl-BE" sz="1200" b="0" i="0">
                <a:solidFill>
                  <a:srgbClr val="5A6E80"/>
                </a:solidFill>
                <a:latin typeface="DM Sans"/>
              </a:rPr>
              <a:t>d14–m1</a:t>
            </a:r>
          </a:p>
        </p:txBody>
      </p:sp>
      <p:sp>
        <p:nvSpPr>
          <p:cNvPr id="7" name="Rounded Rectangle 6"/>
          <p:cNvSpPr>
            <a:spLocks/>
          </p:cNvSpPr>
          <p:nvPr/>
        </p:nvSpPr>
        <p:spPr>
          <a:xfrm>
            <a:off x="2143125"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8" name="TextBox 7"/>
          <p:cNvSpPr txBox="1"/>
          <p:nvPr/>
        </p:nvSpPr>
        <p:spPr>
          <a:xfrm>
            <a:off x="3473450"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V3</a:t>
            </a:r>
            <a:r>
              <a:rPr lang="nl-BE" sz="1200" b="0" i="0">
                <a:solidFill>
                  <a:srgbClr val="0A2540"/>
                </a:solidFill>
                <a:latin typeface="DM Sans"/>
              </a:rPr>
              <a:t> </a:t>
            </a:r>
            <a:r>
              <a:rPr lang="nl-BE" sz="1200" b="0" i="0">
                <a:solidFill>
                  <a:srgbClr val="5A6E80"/>
                </a:solidFill>
                <a:latin typeface="DM Sans"/>
              </a:rPr>
              <a:t>m 3</a:t>
            </a:r>
          </a:p>
        </p:txBody>
      </p:sp>
      <p:sp>
        <p:nvSpPr>
          <p:cNvPr id="9" name="Rounded Rectangle 8"/>
          <p:cNvSpPr>
            <a:spLocks/>
          </p:cNvSpPr>
          <p:nvPr/>
        </p:nvSpPr>
        <p:spPr>
          <a:xfrm>
            <a:off x="34734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4803775"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V4</a:t>
            </a:r>
            <a:r>
              <a:rPr lang="nl-BE" sz="1200" b="0" i="0">
                <a:solidFill>
                  <a:srgbClr val="0A2540"/>
                </a:solidFill>
                <a:latin typeface="DM Sans"/>
              </a:rPr>
              <a:t> </a:t>
            </a:r>
            <a:r>
              <a:rPr lang="nl-BE" sz="1200" b="0" i="0">
                <a:solidFill>
                  <a:srgbClr val="5A6E80"/>
                </a:solidFill>
                <a:latin typeface="DM Sans"/>
              </a:rPr>
              <a:t>m 6</a:t>
            </a:r>
          </a:p>
        </p:txBody>
      </p:sp>
      <p:sp>
        <p:nvSpPr>
          <p:cNvPr id="11" name="Rounded Rectangle 10"/>
          <p:cNvSpPr/>
          <p:nvPr/>
        </p:nvSpPr>
        <p:spPr>
          <a:xfrm>
            <a:off x="480377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a:spLocks/>
          </p:cNvSpPr>
          <p:nvPr/>
        </p:nvSpPr>
        <p:spPr>
          <a:xfrm>
            <a:off x="6134100"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V5</a:t>
            </a:r>
            <a:r>
              <a:rPr lang="nl-BE" sz="1200" b="0" i="0">
                <a:solidFill>
                  <a:srgbClr val="0A2540"/>
                </a:solidFill>
                <a:latin typeface="DM Sans"/>
              </a:rPr>
              <a:t> </a:t>
            </a:r>
            <a:r>
              <a:rPr lang="nl-BE" sz="1200" b="0" i="0">
                <a:solidFill>
                  <a:srgbClr val="5A6E80"/>
                </a:solidFill>
                <a:latin typeface="DM Sans"/>
              </a:rPr>
              <a:t>m 9</a:t>
            </a:r>
          </a:p>
        </p:txBody>
      </p:sp>
      <p:sp>
        <p:nvSpPr>
          <p:cNvPr id="13" name="Rounded Rectangle 12"/>
          <p:cNvSpPr/>
          <p:nvPr/>
        </p:nvSpPr>
        <p:spPr>
          <a:xfrm>
            <a:off x="613410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a:spLocks/>
          </p:cNvSpPr>
          <p:nvPr/>
        </p:nvSpPr>
        <p:spPr>
          <a:xfrm>
            <a:off x="7464425"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V6</a:t>
            </a:r>
            <a:r>
              <a:rPr lang="nl-BE" sz="1200" b="0" i="0">
                <a:solidFill>
                  <a:srgbClr val="0A2540"/>
                </a:solidFill>
                <a:latin typeface="DM Sans"/>
              </a:rPr>
              <a:t> </a:t>
            </a:r>
            <a:r>
              <a:rPr lang="nl-BE" sz="1200" b="0" i="0">
                <a:solidFill>
                  <a:srgbClr val="5A6E80"/>
                </a:solidFill>
                <a:latin typeface="DM Sans"/>
              </a:rPr>
              <a:t>m 12</a:t>
            </a:r>
          </a:p>
        </p:txBody>
      </p:sp>
      <p:sp>
        <p:nvSpPr>
          <p:cNvPr id="15" name="Rounded Rectangle 14"/>
          <p:cNvSpPr/>
          <p:nvPr/>
        </p:nvSpPr>
        <p:spPr>
          <a:xfrm>
            <a:off x="746442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4750"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V7</a:t>
            </a:r>
            <a:r>
              <a:rPr lang="nl-BE" sz="1200" b="0" i="0">
                <a:solidFill>
                  <a:srgbClr val="0A2540"/>
                </a:solidFill>
                <a:latin typeface="DM Sans"/>
              </a:rPr>
              <a:t> </a:t>
            </a:r>
            <a:r>
              <a:rPr lang="nl-BE" sz="1200" b="0" i="0">
                <a:solidFill>
                  <a:srgbClr val="5A6E80"/>
                </a:solidFill>
                <a:latin typeface="DM Sans"/>
              </a:rPr>
              <a:t>m 15</a:t>
            </a:r>
          </a:p>
        </p:txBody>
      </p:sp>
      <p:sp>
        <p:nvSpPr>
          <p:cNvPr id="17" name="Rounded Rectangle 16"/>
          <p:cNvSpPr>
            <a:spLocks/>
          </p:cNvSpPr>
          <p:nvPr/>
        </p:nvSpPr>
        <p:spPr>
          <a:xfrm>
            <a:off x="87947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8" name="TextBox 17"/>
          <p:cNvSpPr txBox="1"/>
          <p:nvPr/>
        </p:nvSpPr>
        <p:spPr>
          <a:xfrm>
            <a:off x="10125075" y="1569641"/>
            <a:ext cx="1304925" cy="198120"/>
          </a:xfrm>
          <a:prstGeom prst="rect">
            <a:avLst/>
          </a:prstGeom>
          <a:noFill/>
        </p:spPr>
        <p:txBody>
          <a:bodyPr wrap="none" lIns="0" tIns="0" rIns="0" bIns="0" anchor="t">
            <a:noAutofit/>
          </a:bodyPr>
          <a:lstStyle/>
          <a:p>
            <a:pPr algn="l"/>
            <a:r>
              <a:rPr lang="nl-BE" sz="1200" b="1" i="0">
                <a:solidFill>
                  <a:srgbClr val="0A2540"/>
                </a:solidFill>
                <a:latin typeface="DM Sans"/>
              </a:rPr>
              <a:t>V8</a:t>
            </a:r>
            <a:r>
              <a:rPr lang="nl-BE" sz="1200" b="0" i="0">
                <a:solidFill>
                  <a:srgbClr val="0A2540"/>
                </a:solidFill>
                <a:latin typeface="DM Sans"/>
              </a:rPr>
              <a:t> </a:t>
            </a:r>
            <a:r>
              <a:rPr lang="nl-BE" sz="1200" b="0" i="0">
                <a:solidFill>
                  <a:srgbClr val="5A6E80"/>
                </a:solidFill>
                <a:latin typeface="DM Sans"/>
              </a:rPr>
              <a:t>m 18</a:t>
            </a:r>
          </a:p>
        </p:txBody>
      </p:sp>
      <p:sp>
        <p:nvSpPr>
          <p:cNvPr id="19" name="Rounded Rectangle 18"/>
          <p:cNvSpPr>
            <a:spLocks/>
          </p:cNvSpPr>
          <p:nvPr/>
        </p:nvSpPr>
        <p:spPr>
          <a:xfrm>
            <a:off x="10125075" y="1829991"/>
            <a:ext cx="1254125" cy="88900"/>
          </a:xfrm>
          <a:prstGeom prst="roundRect">
            <a:avLst>
              <a:gd name="adj" fmla="val 50000"/>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0" name="Rounded Rectangle 19"/>
          <p:cNvSpPr>
            <a:spLocks/>
          </p:cNvSpPr>
          <p:nvPr/>
        </p:nvSpPr>
        <p:spPr>
          <a:xfrm>
            <a:off x="812800" y="2087166"/>
            <a:ext cx="177800"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1" name="TextBox 20"/>
          <p:cNvSpPr txBox="1"/>
          <p:nvPr/>
        </p:nvSpPr>
        <p:spPr>
          <a:xfrm>
            <a:off x="1054100" y="2033191"/>
            <a:ext cx="1328142" cy="198120"/>
          </a:xfrm>
          <a:prstGeom prst="rect">
            <a:avLst/>
          </a:prstGeom>
          <a:noFill/>
        </p:spPr>
        <p:txBody>
          <a:bodyPr wrap="none" lIns="0" tIns="0" rIns="0" bIns="0" anchor="t">
            <a:noAutofit/>
          </a:bodyPr>
          <a:lstStyle/>
          <a:p>
            <a:pPr algn="l"/>
            <a:r>
              <a:rPr lang="nl-BE" sz="1200" b="0" i="0">
                <a:solidFill>
                  <a:srgbClr val="3A4F63"/>
                </a:solidFill>
                <a:latin typeface="DM Sans"/>
              </a:rPr>
              <a:t>focus op educatie</a:t>
            </a:r>
          </a:p>
        </p:txBody>
      </p:sp>
      <p:sp>
        <p:nvSpPr>
          <p:cNvPr id="22" name="Rounded Rectangle 21"/>
          <p:cNvSpPr>
            <a:spLocks/>
          </p:cNvSpPr>
          <p:nvPr/>
        </p:nvSpPr>
        <p:spPr>
          <a:xfrm>
            <a:off x="2585442" y="2087166"/>
            <a:ext cx="177800"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3" name="TextBox 22"/>
          <p:cNvSpPr txBox="1"/>
          <p:nvPr/>
        </p:nvSpPr>
        <p:spPr>
          <a:xfrm>
            <a:off x="2826742" y="2033191"/>
            <a:ext cx="1704280" cy="198120"/>
          </a:xfrm>
          <a:prstGeom prst="rect">
            <a:avLst/>
          </a:prstGeom>
          <a:noFill/>
        </p:spPr>
        <p:txBody>
          <a:bodyPr wrap="none" lIns="0" tIns="0" rIns="0" bIns="0" anchor="t">
            <a:noAutofit/>
          </a:bodyPr>
          <a:lstStyle/>
          <a:p>
            <a:pPr algn="l"/>
            <a:r>
              <a:rPr lang="nl-BE" sz="1200" b="0" i="0">
                <a:solidFill>
                  <a:srgbClr val="3A4F63"/>
                </a:solidFill>
                <a:latin typeface="DM Sans"/>
              </a:rPr>
              <a:t>focus op therapietrouw</a:t>
            </a:r>
          </a:p>
        </p:txBody>
      </p:sp>
      <p:sp>
        <p:nvSpPr>
          <p:cNvPr id="24" name="Rounded Rectangle 23"/>
          <p:cNvSpPr>
            <a:spLocks/>
          </p:cNvSpPr>
          <p:nvPr/>
        </p:nvSpPr>
        <p:spPr>
          <a:xfrm>
            <a:off x="4734223" y="2087166"/>
            <a:ext cx="177800"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5" name="TextBox 24"/>
          <p:cNvSpPr txBox="1"/>
          <p:nvPr/>
        </p:nvSpPr>
        <p:spPr>
          <a:xfrm>
            <a:off x="4975523" y="2033191"/>
            <a:ext cx="2489398" cy="198120"/>
          </a:xfrm>
          <a:prstGeom prst="rect">
            <a:avLst/>
          </a:prstGeom>
          <a:noFill/>
        </p:spPr>
        <p:txBody>
          <a:bodyPr wrap="none" lIns="0" tIns="0" rIns="0" bIns="0" anchor="t">
            <a:noAutofit/>
          </a:bodyPr>
          <a:lstStyle/>
          <a:p>
            <a:pPr algn="l"/>
            <a:r>
              <a:rPr lang="nl-BE" sz="1200" b="0" i="0">
                <a:solidFill>
                  <a:srgbClr val="3A4F63"/>
                </a:solidFill>
                <a:latin typeface="DM Sans"/>
              </a:rPr>
              <a:t>focus op educatie + therapietrouw</a:t>
            </a:r>
          </a:p>
        </p:txBody>
      </p:sp>
      <p:sp>
        <p:nvSpPr>
          <p:cNvPr id="26" name="Rectangle 25"/>
          <p:cNvSpPr>
            <a:spLocks/>
          </p:cNvSpPr>
          <p:nvPr/>
        </p:nvSpPr>
        <p:spPr>
          <a:xfrm>
            <a:off x="81280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7" name="TextBox 26"/>
          <p:cNvSpPr txBox="1"/>
          <p:nvPr/>
        </p:nvSpPr>
        <p:spPr>
          <a:xfrm>
            <a:off x="812800" y="2611041"/>
            <a:ext cx="1960860" cy="215900"/>
          </a:xfrm>
          <a:prstGeom prst="rect">
            <a:avLst/>
          </a:prstGeom>
          <a:noFill/>
        </p:spPr>
        <p:txBody>
          <a:bodyPr wrap="none" lIns="0" tIns="0" rIns="0" bIns="0" anchor="t">
            <a:noAutofit/>
          </a:bodyPr>
          <a:lstStyle/>
          <a:p>
            <a:pPr algn="l"/>
            <a:r>
              <a:rPr lang="nl-BE" sz="1300" b="1" i="0">
                <a:solidFill>
                  <a:srgbClr val="00407A"/>
                </a:solidFill>
                <a:latin typeface="DM Sans"/>
              </a:rPr>
              <a:t>V1 · baseline</a:t>
            </a:r>
          </a:p>
        </p:txBody>
      </p:sp>
      <p:sp>
        <p:nvSpPr>
          <p:cNvPr id="28" name="TextBox 27"/>
          <p:cNvSpPr txBox="1"/>
          <p:nvPr/>
        </p:nvSpPr>
        <p:spPr>
          <a:xfrm>
            <a:off x="812800" y="2890441"/>
            <a:ext cx="1960860" cy="396081"/>
          </a:xfrm>
          <a:prstGeom prst="rect">
            <a:avLst/>
          </a:prstGeom>
          <a:noFill/>
        </p:spPr>
        <p:txBody>
          <a:bodyPr wrap="square" lIns="0" tIns="0" rIns="0" bIns="0" anchor="t">
            <a:noAutofit/>
          </a:bodyPr>
          <a:lstStyle/>
          <a:p>
            <a:pPr algn="l">
              <a:lnSpc>
                <a:spcPts val="1560"/>
              </a:lnSpc>
            </a:pPr>
            <a:r>
              <a:rPr lang="nl-BE" sz="1200" b="0" i="0">
                <a:solidFill>
                  <a:srgbClr val="0A2540"/>
                </a:solidFill>
                <a:latin typeface="DM Sans"/>
              </a:rPr>
              <a:t>Mondelinge educatie voetzorg</a:t>
            </a:r>
          </a:p>
        </p:txBody>
      </p:sp>
      <p:sp>
        <p:nvSpPr>
          <p:cNvPr id="29" name="TextBox 28"/>
          <p:cNvSpPr txBox="1"/>
          <p:nvPr/>
        </p:nvSpPr>
        <p:spPr>
          <a:xfrm>
            <a:off x="812800" y="3350022"/>
            <a:ext cx="1960860" cy="396081"/>
          </a:xfrm>
          <a:prstGeom prst="rect">
            <a:avLst/>
          </a:prstGeom>
          <a:noFill/>
        </p:spPr>
        <p:txBody>
          <a:bodyPr wrap="square" lIns="0" tIns="0" rIns="0" bIns="0" anchor="t">
            <a:noAutofit/>
          </a:bodyPr>
          <a:lstStyle/>
          <a:p>
            <a:pPr algn="l">
              <a:lnSpc>
                <a:spcPts val="1560"/>
              </a:lnSpc>
            </a:pPr>
            <a:r>
              <a:rPr lang="nl-BE" sz="1200" b="0" i="0">
                <a:solidFill>
                  <a:srgbClr val="0A2540"/>
                </a:solidFill>
                <a:latin typeface="DM Sans"/>
              </a:rPr>
              <a:t>Demonstratie goede voetzorg</a:t>
            </a:r>
          </a:p>
        </p:txBody>
      </p:sp>
      <p:sp>
        <p:nvSpPr>
          <p:cNvPr id="30" name="TextBox 29"/>
          <p:cNvSpPr txBox="1"/>
          <p:nvPr/>
        </p:nvSpPr>
        <p:spPr>
          <a:xfrm>
            <a:off x="812800" y="3809603"/>
            <a:ext cx="1960860" cy="198120"/>
          </a:xfrm>
          <a:prstGeom prst="rect">
            <a:avLst/>
          </a:prstGeom>
          <a:noFill/>
        </p:spPr>
        <p:txBody>
          <a:bodyPr wrap="none" lIns="0" tIns="0" rIns="0" bIns="0" anchor="t">
            <a:noAutofit/>
          </a:bodyPr>
          <a:lstStyle/>
          <a:p>
            <a:pPr algn="l">
              <a:lnSpc>
                <a:spcPts val="1560"/>
              </a:lnSpc>
            </a:pPr>
            <a:r>
              <a:rPr lang="nl-BE" sz="1200" b="0" i="0">
                <a:solidFill>
                  <a:srgbClr val="0A2540"/>
                </a:solidFill>
                <a:latin typeface="DM Sans"/>
              </a:rPr>
              <a:t>Uitleg over activity monitor</a:t>
            </a:r>
          </a:p>
        </p:txBody>
      </p:sp>
      <p:sp>
        <p:nvSpPr>
          <p:cNvPr id="31" name="Rectangle 30"/>
          <p:cNvSpPr>
            <a:spLocks/>
          </p:cNvSpPr>
          <p:nvPr/>
        </p:nvSpPr>
        <p:spPr>
          <a:xfrm>
            <a:off x="297686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2" name="TextBox 31"/>
          <p:cNvSpPr txBox="1"/>
          <p:nvPr/>
        </p:nvSpPr>
        <p:spPr>
          <a:xfrm>
            <a:off x="2976860" y="2611041"/>
            <a:ext cx="1960860" cy="215900"/>
          </a:xfrm>
          <a:prstGeom prst="rect">
            <a:avLst/>
          </a:prstGeom>
          <a:noFill/>
        </p:spPr>
        <p:txBody>
          <a:bodyPr wrap="none" lIns="0" tIns="0" rIns="0" bIns="0" anchor="t">
            <a:noAutofit/>
          </a:bodyPr>
          <a:lstStyle/>
          <a:p>
            <a:pPr algn="l"/>
            <a:r>
              <a:rPr lang="nl-NL" sz="1300" b="1" i="0">
                <a:solidFill>
                  <a:srgbClr val="00407A"/>
                </a:solidFill>
                <a:latin typeface="DM Sans"/>
              </a:rPr>
              <a:t>V2 · dag 14 tot maand 1</a:t>
            </a:r>
          </a:p>
        </p:txBody>
      </p:sp>
      <p:sp>
        <p:nvSpPr>
          <p:cNvPr id="33" name="TextBox 32"/>
          <p:cNvSpPr txBox="1"/>
          <p:nvPr/>
        </p:nvSpPr>
        <p:spPr>
          <a:xfrm>
            <a:off x="2976860" y="2890441"/>
            <a:ext cx="1960860" cy="594122"/>
          </a:xfrm>
          <a:prstGeom prst="rect">
            <a:avLst/>
          </a:prstGeom>
          <a:noFill/>
        </p:spPr>
        <p:txBody>
          <a:bodyPr wrap="square" lIns="0" tIns="0" rIns="0" bIns="0" anchor="t">
            <a:noAutofit/>
          </a:bodyPr>
          <a:lstStyle/>
          <a:p>
            <a:pPr algn="l">
              <a:lnSpc>
                <a:spcPts val="1560"/>
              </a:lnSpc>
            </a:pPr>
            <a:r>
              <a:rPr lang="nl-NL" sz="1200" b="0" i="0">
                <a:solidFill>
                  <a:srgbClr val="0A2540"/>
                </a:solidFill>
                <a:latin typeface="DM Sans"/>
              </a:rPr>
              <a:t>Evaluatie kennis voetzorg (op basis van NAFF) + re-educatie</a:t>
            </a:r>
          </a:p>
        </p:txBody>
      </p:sp>
      <p:sp>
        <p:nvSpPr>
          <p:cNvPr id="34" name="TextBox 33"/>
          <p:cNvSpPr txBox="1"/>
          <p:nvPr/>
        </p:nvSpPr>
        <p:spPr>
          <a:xfrm>
            <a:off x="2976860" y="3548062"/>
            <a:ext cx="1960860" cy="594122"/>
          </a:xfrm>
          <a:prstGeom prst="rect">
            <a:avLst/>
          </a:prstGeom>
          <a:noFill/>
        </p:spPr>
        <p:txBody>
          <a:bodyPr wrap="square" lIns="0" tIns="0" rIns="0" bIns="0" anchor="t">
            <a:noAutofit/>
          </a:bodyPr>
          <a:lstStyle/>
          <a:p>
            <a:pPr algn="l">
              <a:lnSpc>
                <a:spcPts val="1560"/>
              </a:lnSpc>
            </a:pPr>
            <a:r>
              <a:rPr lang="nl-NL" sz="1200" b="0" i="0">
                <a:solidFill>
                  <a:srgbClr val="0A2540"/>
                </a:solidFill>
                <a:latin typeface="DM Sans"/>
              </a:rPr>
              <a:t>Educatie belang dragen zolen en gepaste schoenen</a:t>
            </a:r>
          </a:p>
        </p:txBody>
      </p:sp>
      <p:sp>
        <p:nvSpPr>
          <p:cNvPr id="35" name="TextBox 34"/>
          <p:cNvSpPr txBox="1"/>
          <p:nvPr/>
        </p:nvSpPr>
        <p:spPr>
          <a:xfrm>
            <a:off x="2976860" y="4205684"/>
            <a:ext cx="1960860" cy="396081"/>
          </a:xfrm>
          <a:prstGeom prst="rect">
            <a:avLst/>
          </a:prstGeom>
          <a:noFill/>
        </p:spPr>
        <p:txBody>
          <a:bodyPr wrap="square" lIns="0" tIns="0" rIns="0" bIns="0" anchor="t">
            <a:noAutofit/>
          </a:bodyPr>
          <a:lstStyle/>
          <a:p>
            <a:pPr algn="l">
              <a:lnSpc>
                <a:spcPts val="1560"/>
              </a:lnSpc>
            </a:pPr>
            <a:r>
              <a:rPr lang="nl-NL" sz="1200" b="0" i="0">
                <a:solidFill>
                  <a:srgbClr val="0A2540"/>
                </a:solidFill>
                <a:latin typeface="DM Sans"/>
              </a:rPr>
              <a:t>Uitleg over doel van de sensor in de zolen</a:t>
            </a:r>
          </a:p>
        </p:txBody>
      </p:sp>
      <p:sp>
        <p:nvSpPr>
          <p:cNvPr id="36" name="Rectangle 35"/>
          <p:cNvSpPr/>
          <p:nvPr/>
        </p:nvSpPr>
        <p:spPr>
          <a:xfrm>
            <a:off x="5140920" y="2484041"/>
            <a:ext cx="1910060" cy="127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40920" y="2611041"/>
            <a:ext cx="1960860" cy="215900"/>
          </a:xfrm>
          <a:prstGeom prst="rect">
            <a:avLst/>
          </a:prstGeom>
          <a:noFill/>
        </p:spPr>
        <p:txBody>
          <a:bodyPr wrap="none" lIns="0" tIns="0" rIns="0" bIns="0" anchor="t">
            <a:noAutofit/>
          </a:bodyPr>
          <a:lstStyle/>
          <a:p>
            <a:pPr algn="l"/>
            <a:r>
              <a:rPr lang="nl-BE" sz="1300" b="1" i="0">
                <a:solidFill>
                  <a:srgbClr val="0B6E8F"/>
                </a:solidFill>
                <a:latin typeface="DM Sans"/>
              </a:rPr>
              <a:t>V3 · V5 · V7</a:t>
            </a:r>
          </a:p>
        </p:txBody>
      </p:sp>
      <p:sp>
        <p:nvSpPr>
          <p:cNvPr id="38" name="TextBox 37"/>
          <p:cNvSpPr txBox="1"/>
          <p:nvPr/>
        </p:nvSpPr>
        <p:spPr>
          <a:xfrm>
            <a:off x="5140920" y="2890441"/>
            <a:ext cx="1960860" cy="594122"/>
          </a:xfrm>
          <a:prstGeom prst="rect">
            <a:avLst/>
          </a:prstGeom>
          <a:noFill/>
        </p:spPr>
        <p:txBody>
          <a:bodyPr wrap="square" lIns="0" tIns="0" rIns="0" bIns="0" anchor="t">
            <a:noAutofit/>
          </a:bodyPr>
          <a:lstStyle/>
          <a:p>
            <a:pPr algn="l">
              <a:lnSpc>
                <a:spcPts val="1560"/>
              </a:lnSpc>
            </a:pPr>
            <a:r>
              <a:rPr lang="nl-NL" sz="1200" b="0" i="0">
                <a:solidFill>
                  <a:srgbClr val="0A2540"/>
                </a:solidFill>
                <a:latin typeface="DM Sans"/>
              </a:rPr>
              <a:t>Feedback therapietrouw op basis van sensor-output</a:t>
            </a:r>
          </a:p>
        </p:txBody>
      </p:sp>
      <p:sp>
        <p:nvSpPr>
          <p:cNvPr id="39" name="TextBox 38"/>
          <p:cNvSpPr txBox="1"/>
          <p:nvPr/>
        </p:nvSpPr>
        <p:spPr>
          <a:xfrm>
            <a:off x="5140920" y="354806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0" name="Rectangle 39"/>
          <p:cNvSpPr/>
          <p:nvPr/>
        </p:nvSpPr>
        <p:spPr>
          <a:xfrm>
            <a:off x="7304980" y="2484041"/>
            <a:ext cx="1910060" cy="12700"/>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04980" y="2611041"/>
            <a:ext cx="1960860" cy="215900"/>
          </a:xfrm>
          <a:prstGeom prst="rect">
            <a:avLst/>
          </a:prstGeom>
          <a:noFill/>
        </p:spPr>
        <p:txBody>
          <a:bodyPr wrap="none" lIns="0" tIns="0" rIns="0" bIns="0" anchor="t">
            <a:noAutofit/>
          </a:bodyPr>
          <a:lstStyle/>
          <a:p>
            <a:pPr algn="l"/>
            <a:r>
              <a:rPr sz="1300" b="1" i="0">
                <a:solidFill>
                  <a:srgbClr val="0B6E8F"/>
                </a:solidFill>
                <a:latin typeface="DM Sans"/>
              </a:rPr>
              <a:t>V4 · V6</a:t>
            </a:r>
          </a:p>
        </p:txBody>
      </p:sp>
      <p:sp>
        <p:nvSpPr>
          <p:cNvPr id="42" name="TextBox 41"/>
          <p:cNvSpPr txBox="1"/>
          <p:nvPr/>
        </p:nvSpPr>
        <p:spPr>
          <a:xfrm>
            <a:off x="7304980" y="2890441"/>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vaardigheden goede voetzorg</a:t>
            </a:r>
          </a:p>
        </p:txBody>
      </p:sp>
      <p:sp>
        <p:nvSpPr>
          <p:cNvPr id="43" name="TextBox 42"/>
          <p:cNvSpPr txBox="1"/>
          <p:nvPr/>
        </p:nvSpPr>
        <p:spPr>
          <a:xfrm>
            <a:off x="7304980" y="335002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nood aan bijkomende kennis voetzorg (obv NAFF)</a:t>
            </a:r>
          </a:p>
        </p:txBody>
      </p:sp>
      <p:sp>
        <p:nvSpPr>
          <p:cNvPr id="44" name="TextBox 43"/>
          <p:cNvSpPr txBox="1"/>
          <p:nvPr/>
        </p:nvSpPr>
        <p:spPr>
          <a:xfrm>
            <a:off x="7304980" y="4007644"/>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Feedback therapietrouw op basis van sensor-output</a:t>
            </a:r>
          </a:p>
        </p:txBody>
      </p:sp>
      <p:sp>
        <p:nvSpPr>
          <p:cNvPr id="45" name="TextBox 44"/>
          <p:cNvSpPr txBox="1"/>
          <p:nvPr/>
        </p:nvSpPr>
        <p:spPr>
          <a:xfrm>
            <a:off x="7304980" y="4665266"/>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6" name="Rectangle 45"/>
          <p:cNvSpPr/>
          <p:nvPr/>
        </p:nvSpPr>
        <p:spPr>
          <a:xfrm>
            <a:off x="9469041" y="2484041"/>
            <a:ext cx="191006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469041" y="2611041"/>
            <a:ext cx="1960860" cy="215900"/>
          </a:xfrm>
          <a:prstGeom prst="rect">
            <a:avLst/>
          </a:prstGeom>
          <a:noFill/>
        </p:spPr>
        <p:txBody>
          <a:bodyPr wrap="none" lIns="0" tIns="0" rIns="0" bIns="0" anchor="t">
            <a:noAutofit/>
          </a:bodyPr>
          <a:lstStyle/>
          <a:p>
            <a:pPr algn="l"/>
            <a:r>
              <a:rPr sz="1300" b="1" i="0">
                <a:solidFill>
                  <a:srgbClr val="5A6E80"/>
                </a:solidFill>
                <a:latin typeface="DM Sans"/>
              </a:rPr>
              <a:t>V8 · maand 18</a:t>
            </a:r>
          </a:p>
        </p:txBody>
      </p:sp>
      <p:sp>
        <p:nvSpPr>
          <p:cNvPr id="48" name="TextBox 47"/>
          <p:cNvSpPr txBox="1"/>
          <p:nvPr/>
        </p:nvSpPr>
        <p:spPr>
          <a:xfrm>
            <a:off x="9469041"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Afrondend gesprek (geen feedback of nieuwe interventies)</a:t>
            </a:r>
          </a:p>
        </p:txBody>
      </p:sp>
      <p:pic>
        <p:nvPicPr>
          <p:cNvPr id="49" name="Picture 4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50" name="TextBox 4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51" name="TextBox 5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Overzicht trainingssessies</a:t>
            </a:r>
          </a:p>
        </p:txBody>
      </p:sp>
      <p:sp>
        <p:nvSpPr>
          <p:cNvPr id="3" name="TextBox 2"/>
          <p:cNvSpPr txBox="1"/>
          <p:nvPr/>
        </p:nvSpPr>
        <p:spPr>
          <a:xfrm>
            <a:off x="812800" y="1663700"/>
            <a:ext cx="6146800" cy="198120"/>
          </a:xfrm>
          <a:prstGeom prst="rect">
            <a:avLst/>
          </a:prstGeom>
          <a:noFill/>
        </p:spPr>
        <p:txBody>
          <a:bodyPr wrap="none" lIns="0" tIns="0" rIns="0" bIns="0" anchor="t">
            <a:noAutofit/>
          </a:bodyPr>
          <a:lstStyle/>
          <a:p>
            <a:pPr algn="l"/>
            <a:r>
              <a:rPr sz="1200" b="1" i="0">
                <a:solidFill>
                  <a:srgbClr val="5A6E80"/>
                </a:solidFill>
                <a:latin typeface="DM Sans"/>
              </a:rPr>
              <a:t>in groep · 4 uur per blok</a:t>
            </a:r>
          </a:p>
        </p:txBody>
      </p:sp>
      <p:sp>
        <p:nvSpPr>
          <p:cNvPr id="4" name="Rectangle 3"/>
          <p:cNvSpPr/>
          <p:nvPr/>
        </p:nvSpPr>
        <p:spPr>
          <a:xfrm>
            <a:off x="812800" y="1917700"/>
            <a:ext cx="6096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a:spLocks/>
          </p:cNvSpPr>
          <p:nvPr/>
        </p:nvSpPr>
        <p:spPr>
          <a:xfrm>
            <a:off x="7315200" y="1663700"/>
            <a:ext cx="4114800" cy="198120"/>
          </a:xfrm>
          <a:prstGeom prst="rect">
            <a:avLst/>
          </a:prstGeom>
          <a:noFill/>
        </p:spPr>
        <p:txBody>
          <a:bodyPr wrap="none" lIns="0" tIns="0" rIns="0" bIns="0" anchor="t">
            <a:noAutofit/>
          </a:bodyPr>
          <a:lstStyle/>
          <a:p>
            <a:pPr algn="l"/>
            <a:r>
              <a:rPr lang="nl-BE" sz="1200" b="1" i="0">
                <a:solidFill>
                  <a:srgbClr val="5A6E80"/>
                </a:solidFill>
                <a:latin typeface="DM Sans"/>
              </a:rPr>
              <a:t>individueel</a:t>
            </a:r>
          </a:p>
        </p:txBody>
      </p:sp>
      <p:sp>
        <p:nvSpPr>
          <p:cNvPr id="6" name="Rectangle 5"/>
          <p:cNvSpPr>
            <a:spLocks/>
          </p:cNvSpPr>
          <p:nvPr/>
        </p:nvSpPr>
        <p:spPr>
          <a:xfrm>
            <a:off x="7315200" y="1917700"/>
            <a:ext cx="4064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7" name="TextBox 6"/>
          <p:cNvSpPr txBox="1">
            <a:spLocks/>
          </p:cNvSpPr>
          <p:nvPr/>
        </p:nvSpPr>
        <p:spPr>
          <a:xfrm>
            <a:off x="812800" y="2070100"/>
            <a:ext cx="2844800" cy="533400"/>
          </a:xfrm>
          <a:prstGeom prst="rect">
            <a:avLst/>
          </a:prstGeom>
          <a:noFill/>
        </p:spPr>
        <p:txBody>
          <a:bodyPr wrap="none" lIns="0" tIns="0" rIns="0" bIns="0" anchor="t">
            <a:noAutofit/>
          </a:bodyPr>
          <a:lstStyle/>
          <a:p>
            <a:pPr algn="l">
              <a:lnSpc>
                <a:spcPts val="4200"/>
              </a:lnSpc>
            </a:pPr>
            <a:r>
              <a:rPr lang="nl-BE" sz="4200" b="0" i="0">
                <a:solidFill>
                  <a:srgbClr val="00407A"/>
                </a:solidFill>
                <a:latin typeface="DM Serif Display"/>
              </a:rPr>
              <a:t>1–2</a:t>
            </a:r>
          </a:p>
        </p:txBody>
      </p:sp>
      <p:sp>
        <p:nvSpPr>
          <p:cNvPr id="8" name="TextBox 7"/>
          <p:cNvSpPr txBox="1"/>
          <p:nvPr/>
        </p:nvSpPr>
        <p:spPr>
          <a:xfrm>
            <a:off x="4064000" y="2070100"/>
            <a:ext cx="2844800" cy="533400"/>
          </a:xfrm>
          <a:prstGeom prst="rect">
            <a:avLst/>
          </a:prstGeom>
          <a:noFill/>
        </p:spPr>
        <p:txBody>
          <a:bodyPr wrap="none" lIns="0" tIns="0" rIns="0" bIns="0" anchor="t">
            <a:noAutofit/>
          </a:bodyPr>
          <a:lstStyle/>
          <a:p>
            <a:pPr algn="l">
              <a:lnSpc>
                <a:spcPts val="4200"/>
              </a:lnSpc>
            </a:pPr>
            <a:r>
              <a:rPr sz="4200" b="0" i="0">
                <a:solidFill>
                  <a:srgbClr val="0B6E8F"/>
                </a:solidFill>
                <a:latin typeface="DM Serif Display"/>
              </a:rPr>
              <a:t>3–4</a:t>
            </a:r>
          </a:p>
        </p:txBody>
      </p:sp>
      <p:sp>
        <p:nvSpPr>
          <p:cNvPr id="9" name="TextBox 8"/>
          <p:cNvSpPr txBox="1"/>
          <p:nvPr/>
        </p:nvSpPr>
        <p:spPr>
          <a:xfrm>
            <a:off x="7315200" y="2070100"/>
            <a:ext cx="1955800" cy="533400"/>
          </a:xfrm>
          <a:prstGeom prst="rect">
            <a:avLst/>
          </a:prstGeom>
          <a:noFill/>
        </p:spPr>
        <p:txBody>
          <a:bodyPr wrap="none" lIns="0" tIns="0" rIns="0" bIns="0" anchor="t">
            <a:noAutofit/>
          </a:bodyPr>
          <a:lstStyle/>
          <a:p>
            <a:pPr algn="l">
              <a:lnSpc>
                <a:spcPts val="4200"/>
              </a:lnSpc>
            </a:pPr>
            <a:r>
              <a:rPr lang="nl-BE" sz="4200" b="0" i="0">
                <a:solidFill>
                  <a:srgbClr val="1D8DB0"/>
                </a:solidFill>
                <a:latin typeface="DM Serif Display"/>
              </a:rPr>
              <a:t>5</a:t>
            </a:r>
          </a:p>
        </p:txBody>
      </p:sp>
      <p:sp>
        <p:nvSpPr>
          <p:cNvPr id="10" name="TextBox 9"/>
          <p:cNvSpPr txBox="1"/>
          <p:nvPr/>
        </p:nvSpPr>
        <p:spPr>
          <a:xfrm>
            <a:off x="9448800" y="2070100"/>
            <a:ext cx="1955800" cy="533400"/>
          </a:xfrm>
          <a:prstGeom prst="rect">
            <a:avLst/>
          </a:prstGeom>
          <a:noFill/>
        </p:spPr>
        <p:txBody>
          <a:bodyPr wrap="none" lIns="0" tIns="0" rIns="0" bIns="0" anchor="t">
            <a:noAutofit/>
          </a:bodyPr>
          <a:lstStyle/>
          <a:p>
            <a:pPr algn="l">
              <a:lnSpc>
                <a:spcPts val="4200"/>
              </a:lnSpc>
            </a:pPr>
            <a:r>
              <a:rPr lang="nl-BE" sz="4200" b="0" i="0">
                <a:solidFill>
                  <a:srgbClr val="1D8DB0"/>
                </a:solidFill>
                <a:latin typeface="DM Serif Display"/>
              </a:rPr>
              <a:t>6</a:t>
            </a:r>
          </a:p>
        </p:txBody>
      </p:sp>
      <p:sp>
        <p:nvSpPr>
          <p:cNvPr id="11" name="Rectangle 10"/>
          <p:cNvSpPr>
            <a:spLocks/>
          </p:cNvSpPr>
          <p:nvPr/>
        </p:nvSpPr>
        <p:spPr>
          <a:xfrm>
            <a:off x="812800" y="286385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2" name="Rounded Rectangle 11"/>
          <p:cNvSpPr/>
          <p:nvPr/>
        </p:nvSpPr>
        <p:spPr>
          <a:xfrm>
            <a:off x="812800" y="2794000"/>
            <a:ext cx="152400" cy="152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3" name="Rounded Rectangle 12"/>
          <p:cNvSpPr>
            <a:spLocks/>
          </p:cNvSpPr>
          <p:nvPr/>
        </p:nvSpPr>
        <p:spPr>
          <a:xfrm>
            <a:off x="4064000" y="2794000"/>
            <a:ext cx="152400" cy="1524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4" name="Rounded Rectangle 13"/>
          <p:cNvSpPr/>
          <p:nvPr/>
        </p:nvSpPr>
        <p:spPr>
          <a:xfrm>
            <a:off x="7315200" y="2794000"/>
            <a:ext cx="152400" cy="1524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5" name="Rounded Rectangle 14"/>
          <p:cNvSpPr>
            <a:spLocks/>
          </p:cNvSpPr>
          <p:nvPr/>
        </p:nvSpPr>
        <p:spPr>
          <a:xfrm>
            <a:off x="9448800" y="2794000"/>
            <a:ext cx="152400" cy="1524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6" name="TextBox 15"/>
          <p:cNvSpPr txBox="1">
            <a:spLocks/>
          </p:cNvSpPr>
          <p:nvPr/>
        </p:nvSpPr>
        <p:spPr>
          <a:xfrm>
            <a:off x="812800" y="3098800"/>
            <a:ext cx="3035300" cy="198120"/>
          </a:xfrm>
          <a:prstGeom prst="rect">
            <a:avLst/>
          </a:prstGeom>
          <a:noFill/>
        </p:spPr>
        <p:txBody>
          <a:bodyPr wrap="none" lIns="0" tIns="0" rIns="0" bIns="0" anchor="t">
            <a:noAutofit/>
          </a:bodyPr>
          <a:lstStyle/>
          <a:p>
            <a:pPr algn="l"/>
            <a:r>
              <a:rPr lang="nl-BE" sz="1200" b="1" i="0">
                <a:solidFill>
                  <a:srgbClr val="00407A"/>
                </a:solidFill>
                <a:latin typeface="DM Sans"/>
              </a:rPr>
              <a:t>januari</a:t>
            </a:r>
          </a:p>
        </p:txBody>
      </p:sp>
      <p:sp>
        <p:nvSpPr>
          <p:cNvPr id="17" name="TextBox 16"/>
          <p:cNvSpPr txBox="1"/>
          <p:nvPr/>
        </p:nvSpPr>
        <p:spPr>
          <a:xfrm>
            <a:off x="812800" y="3346450"/>
            <a:ext cx="3035300"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Kennis en vaardigheden</a:t>
            </a:r>
          </a:p>
        </p:txBody>
      </p:sp>
      <p:sp>
        <p:nvSpPr>
          <p:cNvPr id="18" name="TextBox 17"/>
          <p:cNvSpPr txBox="1">
            <a:spLocks/>
          </p:cNvSpPr>
          <p:nvPr/>
        </p:nvSpPr>
        <p:spPr>
          <a:xfrm>
            <a:off x="812800" y="3679130"/>
            <a:ext cx="3035300" cy="214630"/>
          </a:xfrm>
          <a:prstGeom prst="rect">
            <a:avLst/>
          </a:prstGeom>
          <a:noFill/>
        </p:spPr>
        <p:txBody>
          <a:bodyPr wrap="none" lIns="0" tIns="0" rIns="0" bIns="0" anchor="t">
            <a:noAutofit/>
          </a:bodyPr>
          <a:lstStyle/>
          <a:p>
            <a:pPr algn="l">
              <a:lnSpc>
                <a:spcPts val="1689"/>
              </a:lnSpc>
            </a:pPr>
            <a:r>
              <a:rPr lang="nl-BE" sz="1300" b="0" i="0">
                <a:solidFill>
                  <a:srgbClr val="3A4F63"/>
                </a:solidFill>
                <a:latin typeface="DM Sans"/>
              </a:rPr>
              <a:t>Inhoud educatie</a:t>
            </a:r>
          </a:p>
        </p:txBody>
      </p:sp>
      <p:sp>
        <p:nvSpPr>
          <p:cNvPr id="19" name="TextBox 18"/>
          <p:cNvSpPr txBox="1"/>
          <p:nvPr/>
        </p:nvSpPr>
        <p:spPr>
          <a:xfrm>
            <a:off x="812800" y="3944541"/>
            <a:ext cx="3035300" cy="214630"/>
          </a:xfrm>
          <a:prstGeom prst="rect">
            <a:avLst/>
          </a:prstGeom>
          <a:noFill/>
        </p:spPr>
        <p:txBody>
          <a:bodyPr wrap="none" lIns="0" tIns="0" rIns="0" bIns="0" anchor="t">
            <a:noAutofit/>
          </a:bodyPr>
          <a:lstStyle/>
          <a:p>
            <a:pPr algn="l">
              <a:lnSpc>
                <a:spcPts val="1689"/>
              </a:lnSpc>
            </a:pPr>
            <a:r>
              <a:rPr lang="nl-BE" sz="1300" b="0" i="0">
                <a:solidFill>
                  <a:srgbClr val="3A4F63"/>
                </a:solidFill>
                <a:latin typeface="DM Sans"/>
              </a:rPr>
              <a:t>Principes van goede educatie</a:t>
            </a:r>
          </a:p>
        </p:txBody>
      </p:sp>
      <p:sp>
        <p:nvSpPr>
          <p:cNvPr id="20" name="TextBox 19"/>
          <p:cNvSpPr txBox="1"/>
          <p:nvPr/>
        </p:nvSpPr>
        <p:spPr>
          <a:xfrm>
            <a:off x="812800" y="420995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Aanpak demonstratie goede voetzorg</a:t>
            </a:r>
          </a:p>
        </p:txBody>
      </p:sp>
      <p:sp>
        <p:nvSpPr>
          <p:cNvPr id="21" name="TextBox 20"/>
          <p:cNvSpPr txBox="1"/>
          <p:nvPr/>
        </p:nvSpPr>
        <p:spPr>
          <a:xfrm>
            <a:off x="812800" y="4475361"/>
            <a:ext cx="3044190" cy="429220"/>
          </a:xfrm>
          <a:prstGeom prst="rect">
            <a:avLst/>
          </a:prstGeom>
          <a:noFill/>
        </p:spPr>
        <p:txBody>
          <a:bodyPr wrap="square" lIns="0" tIns="0" rIns="0" bIns="0" anchor="t">
            <a:noAutofit/>
          </a:bodyPr>
          <a:lstStyle/>
          <a:p>
            <a:pPr algn="l">
              <a:lnSpc>
                <a:spcPts val="1689"/>
              </a:lnSpc>
            </a:pPr>
            <a:r>
              <a:rPr lang="nl-NL" sz="1300" b="0" i="0">
                <a:solidFill>
                  <a:srgbClr val="3A4F63"/>
                </a:solidFill>
                <a:latin typeface="DM Sans"/>
              </a:rPr>
              <a:t>Het gebruik van de vragenlijsten bij educatie</a:t>
            </a:r>
          </a:p>
        </p:txBody>
      </p:sp>
      <p:sp>
        <p:nvSpPr>
          <p:cNvPr id="22" name="TextBox 21"/>
          <p:cNvSpPr txBox="1"/>
          <p:nvPr/>
        </p:nvSpPr>
        <p:spPr>
          <a:xfrm>
            <a:off x="812800" y="4955381"/>
            <a:ext cx="3035300" cy="214630"/>
          </a:xfrm>
          <a:prstGeom prst="rect">
            <a:avLst/>
          </a:prstGeom>
          <a:noFill/>
        </p:spPr>
        <p:txBody>
          <a:bodyPr wrap="none" lIns="0" tIns="0" rIns="0" bIns="0" anchor="t">
            <a:noAutofit/>
          </a:bodyPr>
          <a:lstStyle/>
          <a:p>
            <a:pPr algn="l">
              <a:lnSpc>
                <a:spcPts val="1689"/>
              </a:lnSpc>
            </a:pPr>
            <a:r>
              <a:rPr lang="nl-BE" sz="1300" b="0" i="0">
                <a:solidFill>
                  <a:srgbClr val="3A4F63"/>
                </a:solidFill>
                <a:latin typeface="DM Sans"/>
              </a:rPr>
              <a:t>Oefeningen</a:t>
            </a:r>
          </a:p>
        </p:txBody>
      </p:sp>
      <p:sp>
        <p:nvSpPr>
          <p:cNvPr id="23" name="TextBox 22"/>
          <p:cNvSpPr txBox="1"/>
          <p:nvPr/>
        </p:nvSpPr>
        <p:spPr>
          <a:xfrm>
            <a:off x="4064000" y="3098800"/>
            <a:ext cx="3035300" cy="198120"/>
          </a:xfrm>
          <a:prstGeom prst="rect">
            <a:avLst/>
          </a:prstGeom>
          <a:noFill/>
        </p:spPr>
        <p:txBody>
          <a:bodyPr wrap="none" lIns="0" tIns="0" rIns="0" bIns="0" anchor="t">
            <a:noAutofit/>
          </a:bodyPr>
          <a:lstStyle/>
          <a:p>
            <a:pPr algn="l"/>
            <a:r>
              <a:rPr sz="1200" b="1" i="0">
                <a:solidFill>
                  <a:srgbClr val="0B6E8F"/>
                </a:solidFill>
                <a:latin typeface="DM Sans"/>
              </a:rPr>
              <a:t>maart</a:t>
            </a:r>
          </a:p>
        </p:txBody>
      </p:sp>
      <p:sp>
        <p:nvSpPr>
          <p:cNvPr id="24" name="TextBox 23"/>
          <p:cNvSpPr txBox="1"/>
          <p:nvPr/>
        </p:nvSpPr>
        <p:spPr>
          <a:xfrm>
            <a:off x="4064000" y="3346450"/>
            <a:ext cx="30353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Bevorderen therapietrouw</a:t>
            </a:r>
          </a:p>
        </p:txBody>
      </p:sp>
      <p:sp>
        <p:nvSpPr>
          <p:cNvPr id="25" name="TextBox 24"/>
          <p:cNvSpPr txBox="1"/>
          <p:nvPr/>
        </p:nvSpPr>
        <p:spPr>
          <a:xfrm>
            <a:off x="4064000" y="3679130"/>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Feedback therapietrouw obv sensor</a:t>
            </a:r>
          </a:p>
        </p:txBody>
      </p:sp>
      <p:sp>
        <p:nvSpPr>
          <p:cNvPr id="26" name="TextBox 25"/>
          <p:cNvSpPr txBox="1"/>
          <p:nvPr/>
        </p:nvSpPr>
        <p:spPr>
          <a:xfrm>
            <a:off x="4064000" y="394454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Communicatieprincipes</a:t>
            </a:r>
          </a:p>
        </p:txBody>
      </p:sp>
      <p:sp>
        <p:nvSpPr>
          <p:cNvPr id="27" name="TextBox 26"/>
          <p:cNvSpPr txBox="1"/>
          <p:nvPr/>
        </p:nvSpPr>
        <p:spPr>
          <a:xfrm>
            <a:off x="4064000" y="420995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Inschatten en bespreken van motivatie</a:t>
            </a:r>
          </a:p>
        </p:txBody>
      </p:sp>
      <p:sp>
        <p:nvSpPr>
          <p:cNvPr id="28" name="TextBox 27"/>
          <p:cNvSpPr txBox="1"/>
          <p:nvPr/>
        </p:nvSpPr>
        <p:spPr>
          <a:xfrm>
            <a:off x="4064000" y="4475361"/>
            <a:ext cx="3044190"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Kiezen van de correcte therapietrouwinterventies</a:t>
            </a:r>
          </a:p>
        </p:txBody>
      </p:sp>
      <p:sp>
        <p:nvSpPr>
          <p:cNvPr id="29" name="TextBox 28"/>
          <p:cNvSpPr txBox="1"/>
          <p:nvPr/>
        </p:nvSpPr>
        <p:spPr>
          <a:xfrm>
            <a:off x="4064000" y="4955381"/>
            <a:ext cx="30353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Oefeningen</a:t>
            </a:r>
          </a:p>
        </p:txBody>
      </p:sp>
      <p:sp>
        <p:nvSpPr>
          <p:cNvPr id="30" name="TextBox 29"/>
          <p:cNvSpPr txBox="1"/>
          <p:nvPr/>
        </p:nvSpPr>
        <p:spPr>
          <a:xfrm>
            <a:off x="7315200" y="3098800"/>
            <a:ext cx="1955800" cy="198120"/>
          </a:xfrm>
          <a:prstGeom prst="rect">
            <a:avLst/>
          </a:prstGeom>
          <a:noFill/>
        </p:spPr>
        <p:txBody>
          <a:bodyPr wrap="none" lIns="0" tIns="0" rIns="0" bIns="0" anchor="t">
            <a:noAutofit/>
          </a:bodyPr>
          <a:lstStyle/>
          <a:p>
            <a:pPr algn="l"/>
            <a:r>
              <a:rPr sz="1200" b="1" i="0">
                <a:solidFill>
                  <a:srgbClr val="1D8DB0"/>
                </a:solidFill>
                <a:latin typeface="DM Sans"/>
              </a:rPr>
              <a:t>april</a:t>
            </a:r>
          </a:p>
        </p:txBody>
      </p:sp>
      <p:sp>
        <p:nvSpPr>
          <p:cNvPr id="31" name="TextBox 30"/>
          <p:cNvSpPr txBox="1"/>
          <p:nvPr/>
        </p:nvSpPr>
        <p:spPr>
          <a:xfrm>
            <a:off x="7315200" y="3346450"/>
            <a:ext cx="1955800" cy="487561"/>
          </a:xfrm>
          <a:prstGeom prst="rect">
            <a:avLst/>
          </a:prstGeom>
          <a:noFill/>
        </p:spPr>
        <p:txBody>
          <a:bodyPr wrap="square" lIns="0" tIns="0" rIns="0" bIns="0" anchor="t">
            <a:noAutofit/>
          </a:bodyPr>
          <a:lstStyle/>
          <a:p>
            <a:pPr algn="l">
              <a:lnSpc>
                <a:spcPts val="1920"/>
              </a:lnSpc>
            </a:pPr>
            <a:r>
              <a:rPr sz="1600" b="1" i="0">
                <a:solidFill>
                  <a:srgbClr val="0A2540"/>
                </a:solidFill>
                <a:latin typeface="DM Sans"/>
              </a:rPr>
              <a:t>Inoefenen SEBIA a.h.v. script</a:t>
            </a:r>
          </a:p>
        </p:txBody>
      </p:sp>
      <p:sp>
        <p:nvSpPr>
          <p:cNvPr id="32" name="TextBox 31"/>
          <p:cNvSpPr txBox="1"/>
          <p:nvPr/>
        </p:nvSpPr>
        <p:spPr>
          <a:xfrm>
            <a:off x="7315200" y="3922911"/>
            <a:ext cx="19558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 uw centrum, 1,5 u</a:t>
            </a:r>
          </a:p>
        </p:txBody>
      </p:sp>
      <p:sp>
        <p:nvSpPr>
          <p:cNvPr id="33" name="TextBox 32"/>
          <p:cNvSpPr txBox="1"/>
          <p:nvPr/>
        </p:nvSpPr>
        <p:spPr>
          <a:xfrm>
            <a:off x="9448800" y="3098800"/>
            <a:ext cx="1955800" cy="198120"/>
          </a:xfrm>
          <a:prstGeom prst="rect">
            <a:avLst/>
          </a:prstGeom>
          <a:noFill/>
        </p:spPr>
        <p:txBody>
          <a:bodyPr wrap="none" lIns="0" tIns="0" rIns="0" bIns="0" anchor="t">
            <a:noAutofit/>
          </a:bodyPr>
          <a:lstStyle/>
          <a:p>
            <a:pPr algn="l"/>
            <a:r>
              <a:rPr sz="1200" b="1" i="0">
                <a:solidFill>
                  <a:srgbClr val="1D8DB0"/>
                </a:solidFill>
                <a:latin typeface="DM Sans"/>
              </a:rPr>
              <a:t>najaar 2027</a:t>
            </a:r>
          </a:p>
        </p:txBody>
      </p:sp>
      <p:sp>
        <p:nvSpPr>
          <p:cNvPr id="34" name="TextBox 33"/>
          <p:cNvSpPr txBox="1"/>
          <p:nvPr/>
        </p:nvSpPr>
        <p:spPr>
          <a:xfrm>
            <a:off x="9448800" y="3346450"/>
            <a:ext cx="19558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Intervisie</a:t>
            </a:r>
          </a:p>
        </p:txBody>
      </p:sp>
      <p:sp>
        <p:nvSpPr>
          <p:cNvPr id="35" name="TextBox 34"/>
          <p:cNvSpPr txBox="1"/>
          <p:nvPr/>
        </p:nvSpPr>
        <p:spPr>
          <a:xfrm>
            <a:off x="9448800" y="3679130"/>
            <a:ext cx="195580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online, 1 u</a:t>
            </a:r>
          </a:p>
        </p:txBody>
      </p:sp>
      <p:pic>
        <p:nvPicPr>
          <p:cNvPr id="36" name="Picture 35"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7" name="TextBox 36"/>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38" name="TextBox 3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7_procesevaluatie.png"/>
          <p:cNvPicPr>
            <a:picLocks noChangeAspect="1"/>
          </p:cNvPicPr>
          <p:nvPr/>
        </p:nvPicPr>
        <p:blipFill>
          <a:blip r:embed="rId3"/>
          <a:stretch>
            <a:fillRect/>
          </a:stretch>
        </p:blipFill>
        <p:spPr>
          <a:xfrm>
            <a:off x="0" y="0"/>
            <a:ext cx="12192000" cy="6858000"/>
          </a:xfrm>
          <a:prstGeom prst="rect">
            <a:avLst/>
          </a:prstGeom>
        </p:spPr>
      </p:pic>
      <p:pic>
        <p:nvPicPr>
          <p:cNvPr id="3" name="Picture 2" descr="bca0e7442a2bdffe745679463c941007.png"/>
          <p:cNvPicPr>
            <a:picLocks noChangeAspect="1"/>
          </p:cNvPicPr>
          <p:nvPr/>
        </p:nvPicPr>
        <p:blipFill>
          <a:blip r:embed="rId4"/>
          <a:stretch>
            <a:fillRect/>
          </a:stretch>
        </p:blipFill>
        <p:spPr>
          <a:xfrm>
            <a:off x="5282605" y="1693072"/>
            <a:ext cx="6420545" cy="3611556"/>
          </a:xfrm>
          <a:prstGeom prst="rect">
            <a:avLst/>
          </a:prstGeom>
        </p:spPr>
      </p:pic>
      <p:sp>
        <p:nvSpPr>
          <p:cNvPr id="4" name="Rounded Rectangle 3"/>
          <p:cNvSpPr/>
          <p:nvPr/>
        </p:nvSpPr>
        <p:spPr>
          <a:xfrm>
            <a:off x="5797550" y="2743200"/>
            <a:ext cx="1295400" cy="1181100"/>
          </a:xfrm>
          <a:prstGeom prst="roundRect">
            <a:avLst>
              <a:gd name="adj" fmla="val 7526"/>
            </a:avLst>
          </a:prstGeom>
          <a:no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5" name="Rounded Rectangle 4"/>
          <p:cNvSpPr>
            <a:spLocks/>
          </p:cNvSpPr>
          <p:nvPr/>
        </p:nvSpPr>
        <p:spPr>
          <a:xfrm>
            <a:off x="5499100" y="5410200"/>
            <a:ext cx="355600" cy="355600"/>
          </a:xfrm>
          <a:prstGeom prst="roundRect">
            <a:avLst>
              <a:gd name="adj" fmla="val 50000"/>
            </a:avLst>
          </a:prstGeom>
          <a:solidFill>
            <a:srgbClr val="FFFFFF"/>
          </a:solidFill>
          <a:ln w="1905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5943600" y="5492750"/>
            <a:ext cx="2146300" cy="182880"/>
          </a:xfrm>
          <a:prstGeom prst="rect">
            <a:avLst/>
          </a:prstGeom>
          <a:noFill/>
        </p:spPr>
        <p:txBody>
          <a:bodyPr wrap="none" lIns="0" tIns="0" rIns="0" bIns="0" anchor="t">
            <a:noAutofit/>
          </a:bodyPr>
          <a:lstStyle/>
          <a:p>
            <a:pPr algn="l">
              <a:lnSpc>
                <a:spcPts val="1440"/>
              </a:lnSpc>
            </a:pPr>
            <a:r>
              <a:rPr lang="nl-BE" sz="1200" b="1" i="0">
                <a:solidFill>
                  <a:srgbClr val="A34A00"/>
                </a:solidFill>
                <a:latin typeface="DM Sans"/>
              </a:rPr>
              <a:t>evalueert: PhD B</a:t>
            </a:r>
          </a:p>
        </p:txBody>
      </p:sp>
      <p:sp>
        <p:nvSpPr>
          <p:cNvPr id="7" name="Rounded Rectangle 6"/>
          <p:cNvSpPr>
            <a:spLocks/>
          </p:cNvSpPr>
          <p:nvPr/>
        </p:nvSpPr>
        <p:spPr>
          <a:xfrm>
            <a:off x="10096500" y="2508250"/>
            <a:ext cx="1308100" cy="1358900"/>
          </a:xfrm>
          <a:prstGeom prst="roundRect">
            <a:avLst>
              <a:gd name="adj" fmla="val 6796"/>
            </a:avLst>
          </a:prstGeom>
          <a:noFill/>
          <a:ln w="1905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6c090e5bb20bd65f24d045ad3a5b4b9.png"/>
          <p:cNvPicPr>
            <a:picLocks noChangeAspect="1"/>
          </p:cNvPicPr>
          <p:nvPr/>
        </p:nvPicPr>
        <p:blipFill>
          <a:blip r:embed="rId5"/>
          <a:stretch>
            <a:fillRect/>
          </a:stretch>
        </p:blipFill>
        <p:spPr>
          <a:xfrm>
            <a:off x="8191500" y="5410200"/>
            <a:ext cx="355600" cy="355600"/>
          </a:xfrm>
          <a:prstGeom prst="rect">
            <a:avLst/>
          </a:prstGeom>
        </p:spPr>
      </p:pic>
      <p:sp>
        <p:nvSpPr>
          <p:cNvPr id="9" name="TextBox 8"/>
          <p:cNvSpPr txBox="1"/>
          <p:nvPr/>
        </p:nvSpPr>
        <p:spPr>
          <a:xfrm>
            <a:off x="8636000" y="5492750"/>
            <a:ext cx="2908300" cy="182880"/>
          </a:xfrm>
          <a:prstGeom prst="rect">
            <a:avLst/>
          </a:prstGeom>
          <a:noFill/>
        </p:spPr>
        <p:txBody>
          <a:bodyPr wrap="none" lIns="0" tIns="0" rIns="0" bIns="0" anchor="t">
            <a:noAutofit/>
          </a:bodyPr>
          <a:lstStyle/>
          <a:p>
            <a:pPr algn="l">
              <a:lnSpc>
                <a:spcPts val="1440"/>
              </a:lnSpc>
            </a:pPr>
            <a:r>
              <a:rPr lang="fr-FR" sz="1200" b="1" i="0">
                <a:solidFill>
                  <a:srgbClr val="0B6E8F"/>
                </a:solidFill>
                <a:latin typeface="DM Sans"/>
              </a:rPr>
              <a:t>evalueert: PhD A</a:t>
            </a:r>
            <a:r>
              <a:rPr lang="fr-FR" sz="1200" b="0" i="0">
                <a:solidFill>
                  <a:srgbClr val="0B6E8F"/>
                </a:solidFill>
                <a:latin typeface="DM Sans"/>
              </a:rPr>
              <a:t> · Janou De Buyser</a:t>
            </a:r>
          </a:p>
        </p:txBody>
      </p:sp>
      <p:sp>
        <p:nvSpPr>
          <p:cNvPr id="10" name="TextBox 9"/>
          <p:cNvSpPr txBox="1"/>
          <p:nvPr/>
        </p:nvSpPr>
        <p:spPr>
          <a:xfrm>
            <a:off x="812800" y="812800"/>
            <a:ext cx="4274820" cy="1005681"/>
          </a:xfrm>
          <a:prstGeom prst="rect">
            <a:avLst/>
          </a:prstGeom>
          <a:noFill/>
        </p:spPr>
        <p:txBody>
          <a:bodyPr wrap="square" lIns="0" tIns="0" rIns="0" bIns="0" anchor="t">
            <a:noAutofit/>
          </a:bodyPr>
          <a:lstStyle/>
          <a:p>
            <a:pPr algn="l">
              <a:lnSpc>
                <a:spcPts val="3960"/>
              </a:lnSpc>
            </a:pPr>
            <a:r>
              <a:rPr lang="nl-BE" sz="3600" b="0" i="0" spc="-50">
                <a:solidFill>
                  <a:srgbClr val="0A2540"/>
                </a:solidFill>
                <a:latin typeface="DM Serif Display"/>
              </a:rPr>
              <a:t>Procesevaluatie: de rollen wisselen</a:t>
            </a:r>
          </a:p>
        </p:txBody>
      </p:sp>
      <p:sp>
        <p:nvSpPr>
          <p:cNvPr id="11" name="TextBox 10"/>
          <p:cNvSpPr txBox="1"/>
          <p:nvPr/>
        </p:nvSpPr>
        <p:spPr>
          <a:xfrm>
            <a:off x="812800" y="2540000"/>
            <a:ext cx="4114800" cy="215900"/>
          </a:xfrm>
          <a:prstGeom prst="rect">
            <a:avLst/>
          </a:prstGeom>
          <a:noFill/>
        </p:spPr>
        <p:txBody>
          <a:bodyPr wrap="none" lIns="0" tIns="0" rIns="0" bIns="0" anchor="t">
            <a:noAutofit/>
          </a:bodyPr>
          <a:lstStyle/>
          <a:p>
            <a:pPr algn="l"/>
            <a:r>
              <a:rPr lang="nl-BE" sz="1300" b="1" i="0">
                <a:solidFill>
                  <a:srgbClr val="0B6E8F"/>
                </a:solidFill>
                <a:latin typeface="DM Sans"/>
              </a:rPr>
              <a:t>WP2 · Maaike Fobelets, VUB</a:t>
            </a:r>
          </a:p>
        </p:txBody>
      </p:sp>
      <p:sp>
        <p:nvSpPr>
          <p:cNvPr id="12" name="Rectangle 11"/>
          <p:cNvSpPr>
            <a:spLocks/>
          </p:cNvSpPr>
          <p:nvPr/>
        </p:nvSpPr>
        <p:spPr>
          <a:xfrm>
            <a:off x="812800" y="2819400"/>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3" name="TextBox 12"/>
          <p:cNvSpPr txBox="1"/>
          <p:nvPr/>
        </p:nvSpPr>
        <p:spPr>
          <a:xfrm>
            <a:off x="1193800" y="2926060"/>
            <a:ext cx="3733800" cy="231140"/>
          </a:xfrm>
          <a:prstGeom prst="rect">
            <a:avLst/>
          </a:prstGeom>
          <a:noFill/>
        </p:spPr>
        <p:txBody>
          <a:bodyPr wrap="none" lIns="0" tIns="0" rIns="0" bIns="0" anchor="t">
            <a:noAutofit/>
          </a:bodyPr>
          <a:lstStyle/>
          <a:p>
            <a:pPr algn="l">
              <a:lnSpc>
                <a:spcPts val="1820"/>
              </a:lnSpc>
            </a:pPr>
            <a:r>
              <a:rPr lang="nl-NL" sz="1400" b="0" i="0">
                <a:solidFill>
                  <a:srgbClr val="0A2540"/>
                </a:solidFill>
                <a:latin typeface="DM Sans"/>
              </a:rPr>
              <a:t>Bevraging van managers en therapeuten</a:t>
            </a:r>
          </a:p>
        </p:txBody>
      </p:sp>
      <p:sp>
        <p:nvSpPr>
          <p:cNvPr id="14" name="Rectangle 13"/>
          <p:cNvSpPr>
            <a:spLocks/>
          </p:cNvSpPr>
          <p:nvPr/>
        </p:nvSpPr>
        <p:spPr>
          <a:xfrm>
            <a:off x="812800" y="3257550"/>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5" name="TextBox 14"/>
          <p:cNvSpPr txBox="1"/>
          <p:nvPr/>
        </p:nvSpPr>
        <p:spPr>
          <a:xfrm>
            <a:off x="1193800" y="3352800"/>
            <a:ext cx="3756660" cy="462161"/>
          </a:xfrm>
          <a:prstGeom prst="rect">
            <a:avLst/>
          </a:prstGeom>
          <a:noFill/>
        </p:spPr>
        <p:txBody>
          <a:bodyPr wrap="square" lIns="0" tIns="0" rIns="0" bIns="0" anchor="t">
            <a:noAutofit/>
          </a:bodyPr>
          <a:lstStyle/>
          <a:p>
            <a:pPr algn="l">
              <a:lnSpc>
                <a:spcPts val="1820"/>
              </a:lnSpc>
            </a:pPr>
            <a:r>
              <a:rPr lang="nl-BE" sz="1400" b="0" i="0">
                <a:solidFill>
                  <a:srgbClr val="0A2540"/>
                </a:solidFill>
                <a:latin typeface="DM Sans"/>
              </a:rPr>
              <a:t>Opnames en observaties van PARADISE-sessies</a:t>
            </a:r>
          </a:p>
        </p:txBody>
      </p:sp>
      <p:sp>
        <p:nvSpPr>
          <p:cNvPr id="16" name="Rectangle 15"/>
          <p:cNvSpPr>
            <a:spLocks/>
          </p:cNvSpPr>
          <p:nvPr/>
        </p:nvSpPr>
        <p:spPr>
          <a:xfrm>
            <a:off x="812800" y="3903861"/>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7" name="TextBox 16"/>
          <p:cNvSpPr txBox="1"/>
          <p:nvPr/>
        </p:nvSpPr>
        <p:spPr>
          <a:xfrm>
            <a:off x="1193800" y="3999111"/>
            <a:ext cx="3756660" cy="462161"/>
          </a:xfrm>
          <a:prstGeom prst="rect">
            <a:avLst/>
          </a:prstGeom>
          <a:noFill/>
        </p:spPr>
        <p:txBody>
          <a:bodyPr wrap="square" lIns="0" tIns="0" rIns="0" bIns="0" anchor="t">
            <a:noAutofit/>
          </a:bodyPr>
          <a:lstStyle/>
          <a:p>
            <a:pPr algn="l">
              <a:lnSpc>
                <a:spcPts val="1820"/>
              </a:lnSpc>
            </a:pPr>
            <a:r>
              <a:rPr lang="nl-NL" sz="1400" b="0" i="0">
                <a:solidFill>
                  <a:srgbClr val="0A2540"/>
                </a:solidFill>
                <a:latin typeface="DM Sans"/>
              </a:rPr>
              <a:t>Het dagboek van de therapeut, alleen in Optimal Care (eCRF 40)</a:t>
            </a:r>
          </a:p>
        </p:txBody>
      </p:sp>
      <p:sp>
        <p:nvSpPr>
          <p:cNvPr id="18" name="Rectangle 17"/>
          <p:cNvSpPr>
            <a:spLocks/>
          </p:cNvSpPr>
          <p:nvPr/>
        </p:nvSpPr>
        <p:spPr>
          <a:xfrm>
            <a:off x="812800" y="4550172"/>
            <a:ext cx="4064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9" name="TextBox 18"/>
          <p:cNvSpPr txBox="1"/>
          <p:nvPr/>
        </p:nvSpPr>
        <p:spPr>
          <a:xfrm>
            <a:off x="1193800" y="4656832"/>
            <a:ext cx="37338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De fidelity van SEBIA</a:t>
            </a:r>
          </a:p>
        </p:txBody>
      </p:sp>
      <p:pic>
        <p:nvPicPr>
          <p:cNvPr id="20" name="Picture 19"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21" name="TextBox 20"/>
          <p:cNvSpPr txBox="1"/>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Werkpakketten</a:t>
            </a:r>
            <a:endParaRPr sz="1200" b="0" i="0">
              <a:solidFill>
                <a:srgbClr val="5A6E80"/>
              </a:solidFill>
              <a:latin typeface="DM Sans"/>
            </a:endParaRPr>
          </a:p>
        </p:txBody>
      </p:sp>
      <p:sp>
        <p:nvSpPr>
          <p:cNvPr id="22" name="TextBox 21"/>
          <p:cNvSpPr txBox="1">
            <a:spLocks/>
          </p:cNvSpPr>
          <p:nvPr/>
        </p:nvSpPr>
        <p:spPr>
          <a:xfrm>
            <a:off x="4978400" y="6254750"/>
            <a:ext cx="6400800" cy="198120"/>
          </a:xfrm>
          <a:prstGeom prst="rect">
            <a:avLst/>
          </a:prstGeom>
          <a:noFill/>
        </p:spPr>
        <p:txBody>
          <a:bodyPr wrap="none" lIns="0" tIns="0" rIns="0" bIns="0" anchor="t">
            <a:noAutofit/>
          </a:bodyPr>
          <a:lstStyle/>
          <a:p>
            <a:pPr algn="r"/>
            <a:r>
              <a:rPr lang="nl-BE" sz="1200" b="0" i="0">
                <a:solidFill>
                  <a:srgbClr val="5A6E80"/>
                </a:solidFill>
                <a:latin typeface="DM Sans"/>
              </a:rPr>
              <a:t>Bron: consortiummeeting 1 april 2026 · eCRF 40 · studieteam,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8_gezondheidseconomi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Gezondheidseconomie en de dagboeken</a:t>
            </a:r>
            <a:endParaRPr sz="3600" b="0" i="0" spc="-50">
              <a:solidFill>
                <a:srgbClr val="0A2540"/>
              </a:solidFill>
              <a:latin typeface="DM Serif Display"/>
            </a:endParaRPr>
          </a:p>
        </p:txBody>
      </p:sp>
      <p:sp>
        <p:nvSpPr>
          <p:cNvPr id="4" name="Rectangle 3"/>
          <p:cNvSpPr>
            <a:spLocks/>
          </p:cNvSpPr>
          <p:nvPr/>
        </p:nvSpPr>
        <p:spPr>
          <a:xfrm>
            <a:off x="812800" y="1950641"/>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5" name="TextBox 4"/>
          <p:cNvSpPr txBox="1">
            <a:spLocks/>
          </p:cNvSpPr>
          <p:nvPr/>
        </p:nvSpPr>
        <p:spPr>
          <a:xfrm>
            <a:off x="812800" y="1544241"/>
            <a:ext cx="2082800" cy="198120"/>
          </a:xfrm>
          <a:prstGeom prst="rect">
            <a:avLst/>
          </a:prstGeom>
          <a:noFill/>
        </p:spPr>
        <p:txBody>
          <a:bodyPr wrap="none" lIns="0" tIns="0" rIns="0" bIns="0" anchor="t">
            <a:noAutofit/>
          </a:bodyPr>
          <a:lstStyle/>
          <a:p>
            <a:pPr algn="l"/>
            <a:r>
              <a:rPr lang="nl-BE" sz="1200" b="0" i="0">
                <a:solidFill>
                  <a:srgbClr val="5A6E80"/>
                </a:solidFill>
                <a:latin typeface="DM Sans"/>
              </a:rPr>
              <a:t>WP3 · Koen Putman, VUB</a:t>
            </a:r>
          </a:p>
        </p:txBody>
      </p:sp>
      <p:sp>
        <p:nvSpPr>
          <p:cNvPr id="6" name="TextBox 5"/>
          <p:cNvSpPr txBox="1"/>
          <p:nvPr/>
        </p:nvSpPr>
        <p:spPr>
          <a:xfrm>
            <a:off x="3296543" y="1544241"/>
            <a:ext cx="214114" cy="198120"/>
          </a:xfrm>
          <a:prstGeom prst="rect">
            <a:avLst/>
          </a:prstGeom>
          <a:noFill/>
        </p:spPr>
        <p:txBody>
          <a:bodyPr wrap="none" lIns="0" tIns="0" rIns="0" bIns="0" anchor="t">
            <a:noAutofit/>
          </a:bodyPr>
          <a:lstStyle/>
          <a:p>
            <a:pPr algn="l"/>
            <a:r>
              <a:rPr lang="nl-BE" sz="1200" b="1" i="0">
                <a:solidFill>
                  <a:srgbClr val="0A2540"/>
                </a:solidFill>
                <a:latin typeface="DM Sans"/>
              </a:rPr>
              <a:t>V1</a:t>
            </a:r>
          </a:p>
        </p:txBody>
      </p:sp>
      <p:sp>
        <p:nvSpPr>
          <p:cNvPr id="7" name="TextBox 6"/>
          <p:cNvSpPr txBox="1"/>
          <p:nvPr/>
        </p:nvSpPr>
        <p:spPr>
          <a:xfrm>
            <a:off x="3085207" y="1753791"/>
            <a:ext cx="636786" cy="198120"/>
          </a:xfrm>
          <a:prstGeom prst="rect">
            <a:avLst/>
          </a:prstGeom>
          <a:noFill/>
        </p:spPr>
        <p:txBody>
          <a:bodyPr wrap="none" lIns="0" tIns="0" rIns="0" bIns="0" anchor="t">
            <a:noAutofit/>
          </a:bodyPr>
          <a:lstStyle/>
          <a:p>
            <a:pPr algn="l"/>
            <a:r>
              <a:rPr lang="nl-BE" sz="1200" b="0" i="0">
                <a:solidFill>
                  <a:srgbClr val="5A6E80"/>
                </a:solidFill>
                <a:latin typeface="DM Sans"/>
              </a:rPr>
              <a:t>baseline</a:t>
            </a:r>
          </a:p>
        </p:txBody>
      </p:sp>
      <p:sp>
        <p:nvSpPr>
          <p:cNvPr id="8" name="TextBox 7"/>
          <p:cNvSpPr txBox="1"/>
          <p:nvPr/>
        </p:nvSpPr>
        <p:spPr>
          <a:xfrm>
            <a:off x="4347964" y="1544241"/>
            <a:ext cx="244872" cy="198120"/>
          </a:xfrm>
          <a:prstGeom prst="rect">
            <a:avLst/>
          </a:prstGeom>
          <a:noFill/>
        </p:spPr>
        <p:txBody>
          <a:bodyPr wrap="none" lIns="0" tIns="0" rIns="0" bIns="0" anchor="t">
            <a:noAutofit/>
          </a:bodyPr>
          <a:lstStyle/>
          <a:p>
            <a:pPr algn="l"/>
            <a:r>
              <a:rPr lang="nl-BE" sz="1200" b="1" i="0">
                <a:solidFill>
                  <a:srgbClr val="0A2540"/>
                </a:solidFill>
                <a:latin typeface="DM Sans"/>
              </a:rPr>
              <a:t>V2</a:t>
            </a:r>
          </a:p>
        </p:txBody>
      </p:sp>
      <p:sp>
        <p:nvSpPr>
          <p:cNvPr id="9" name="TextBox 8"/>
          <p:cNvSpPr txBox="1">
            <a:spLocks/>
          </p:cNvSpPr>
          <p:nvPr/>
        </p:nvSpPr>
        <p:spPr>
          <a:xfrm>
            <a:off x="4143970" y="1753791"/>
            <a:ext cx="652859" cy="198120"/>
          </a:xfrm>
          <a:prstGeom prst="rect">
            <a:avLst/>
          </a:prstGeom>
          <a:noFill/>
        </p:spPr>
        <p:txBody>
          <a:bodyPr wrap="none" lIns="0" tIns="0" rIns="0" bIns="0" anchor="t">
            <a:noAutofit/>
          </a:bodyPr>
          <a:lstStyle/>
          <a:p>
            <a:pPr algn="l"/>
            <a:r>
              <a:rPr lang="nl-BE" sz="1200" b="0" i="0">
                <a:solidFill>
                  <a:srgbClr val="5A6E80"/>
                </a:solidFill>
                <a:latin typeface="DM Sans"/>
              </a:rPr>
              <a:t>14 d–1 m</a:t>
            </a:r>
          </a:p>
        </p:txBody>
      </p:sp>
      <p:sp>
        <p:nvSpPr>
          <p:cNvPr id="10" name="TextBox 9"/>
          <p:cNvSpPr txBox="1"/>
          <p:nvPr/>
        </p:nvSpPr>
        <p:spPr>
          <a:xfrm>
            <a:off x="5412482" y="1544241"/>
            <a:ext cx="249436" cy="198120"/>
          </a:xfrm>
          <a:prstGeom prst="rect">
            <a:avLst/>
          </a:prstGeom>
          <a:noFill/>
        </p:spPr>
        <p:txBody>
          <a:bodyPr wrap="none" lIns="0" tIns="0" rIns="0" bIns="0" anchor="t">
            <a:noAutofit/>
          </a:bodyPr>
          <a:lstStyle/>
          <a:p>
            <a:pPr algn="l"/>
            <a:r>
              <a:rPr lang="nl-BE" sz="1200" b="1" i="0">
                <a:solidFill>
                  <a:srgbClr val="0A2540"/>
                </a:solidFill>
                <a:latin typeface="DM Sans"/>
              </a:rPr>
              <a:t>V3</a:t>
            </a:r>
          </a:p>
        </p:txBody>
      </p:sp>
      <p:sp>
        <p:nvSpPr>
          <p:cNvPr id="11" name="TextBox 10"/>
          <p:cNvSpPr txBox="1"/>
          <p:nvPr/>
        </p:nvSpPr>
        <p:spPr>
          <a:xfrm>
            <a:off x="5378549" y="1753791"/>
            <a:ext cx="317202" cy="198120"/>
          </a:xfrm>
          <a:prstGeom prst="rect">
            <a:avLst/>
          </a:prstGeom>
          <a:noFill/>
        </p:spPr>
        <p:txBody>
          <a:bodyPr wrap="none" lIns="0" tIns="0" rIns="0" bIns="0" anchor="t">
            <a:noAutofit/>
          </a:bodyPr>
          <a:lstStyle/>
          <a:p>
            <a:pPr algn="l"/>
            <a:r>
              <a:rPr lang="nl-BE" sz="1200" b="0" i="0">
                <a:solidFill>
                  <a:srgbClr val="5A6E80"/>
                </a:solidFill>
                <a:latin typeface="DM Sans"/>
              </a:rPr>
              <a:t>m 3</a:t>
            </a:r>
          </a:p>
        </p:txBody>
      </p:sp>
      <p:sp>
        <p:nvSpPr>
          <p:cNvPr id="12" name="TextBox 11"/>
          <p:cNvSpPr txBox="1"/>
          <p:nvPr/>
        </p:nvSpPr>
        <p:spPr>
          <a:xfrm>
            <a:off x="6480572" y="1544241"/>
            <a:ext cx="246856" cy="198120"/>
          </a:xfrm>
          <a:prstGeom prst="rect">
            <a:avLst/>
          </a:prstGeom>
          <a:noFill/>
        </p:spPr>
        <p:txBody>
          <a:bodyPr wrap="none" lIns="0" tIns="0" rIns="0" bIns="0" anchor="t">
            <a:noAutofit/>
          </a:bodyPr>
          <a:lstStyle/>
          <a:p>
            <a:pPr algn="l"/>
            <a:r>
              <a:rPr lang="nl-BE" sz="1200" b="1" i="0">
                <a:solidFill>
                  <a:srgbClr val="0A2540"/>
                </a:solidFill>
                <a:latin typeface="DM Sans"/>
              </a:rPr>
              <a:t>V4</a:t>
            </a:r>
          </a:p>
        </p:txBody>
      </p:sp>
      <p:sp>
        <p:nvSpPr>
          <p:cNvPr id="13" name="TextBox 12"/>
          <p:cNvSpPr txBox="1">
            <a:spLocks/>
          </p:cNvSpPr>
          <p:nvPr/>
        </p:nvSpPr>
        <p:spPr>
          <a:xfrm>
            <a:off x="6442571" y="1753791"/>
            <a:ext cx="322858" cy="198120"/>
          </a:xfrm>
          <a:prstGeom prst="rect">
            <a:avLst/>
          </a:prstGeom>
          <a:noFill/>
        </p:spPr>
        <p:txBody>
          <a:bodyPr wrap="none" lIns="0" tIns="0" rIns="0" bIns="0" anchor="t">
            <a:noAutofit/>
          </a:bodyPr>
          <a:lstStyle/>
          <a:p>
            <a:pPr algn="l"/>
            <a:r>
              <a:rPr lang="nl-BE" sz="1200" b="0" i="0">
                <a:solidFill>
                  <a:srgbClr val="5A6E80"/>
                </a:solidFill>
                <a:latin typeface="DM Sans"/>
              </a:rPr>
              <a:t>m 6</a:t>
            </a:r>
          </a:p>
        </p:txBody>
      </p:sp>
      <p:sp>
        <p:nvSpPr>
          <p:cNvPr id="14" name="TextBox 13"/>
          <p:cNvSpPr txBox="1"/>
          <p:nvPr/>
        </p:nvSpPr>
        <p:spPr>
          <a:xfrm>
            <a:off x="7544991" y="1544241"/>
            <a:ext cx="251619" cy="198120"/>
          </a:xfrm>
          <a:prstGeom prst="rect">
            <a:avLst/>
          </a:prstGeom>
          <a:noFill/>
        </p:spPr>
        <p:txBody>
          <a:bodyPr wrap="none" lIns="0" tIns="0" rIns="0" bIns="0" anchor="t">
            <a:noAutofit/>
          </a:bodyPr>
          <a:lstStyle/>
          <a:p>
            <a:pPr algn="l"/>
            <a:r>
              <a:rPr lang="nl-BE" sz="1200" b="1" i="0">
                <a:solidFill>
                  <a:srgbClr val="0A2540"/>
                </a:solidFill>
                <a:latin typeface="DM Sans"/>
              </a:rPr>
              <a:t>V5</a:t>
            </a:r>
          </a:p>
        </p:txBody>
      </p:sp>
      <p:sp>
        <p:nvSpPr>
          <p:cNvPr id="15" name="TextBox 14"/>
          <p:cNvSpPr txBox="1"/>
          <p:nvPr/>
        </p:nvSpPr>
        <p:spPr>
          <a:xfrm>
            <a:off x="7509371" y="1753791"/>
            <a:ext cx="322858" cy="198120"/>
          </a:xfrm>
          <a:prstGeom prst="rect">
            <a:avLst/>
          </a:prstGeom>
          <a:noFill/>
        </p:spPr>
        <p:txBody>
          <a:bodyPr wrap="none" lIns="0" tIns="0" rIns="0" bIns="0" anchor="t">
            <a:noAutofit/>
          </a:bodyPr>
          <a:lstStyle/>
          <a:p>
            <a:pPr algn="l"/>
            <a:r>
              <a:rPr lang="nl-BE" sz="1200" b="0" i="0">
                <a:solidFill>
                  <a:srgbClr val="5A6E80"/>
                </a:solidFill>
                <a:latin typeface="DM Sans"/>
              </a:rPr>
              <a:t>m 9</a:t>
            </a:r>
          </a:p>
        </p:txBody>
      </p:sp>
      <p:sp>
        <p:nvSpPr>
          <p:cNvPr id="16" name="TextBox 15"/>
          <p:cNvSpPr txBox="1"/>
          <p:nvPr/>
        </p:nvSpPr>
        <p:spPr>
          <a:xfrm>
            <a:off x="8610997" y="1544241"/>
            <a:ext cx="253107" cy="198120"/>
          </a:xfrm>
          <a:prstGeom prst="rect">
            <a:avLst/>
          </a:prstGeom>
          <a:noFill/>
        </p:spPr>
        <p:txBody>
          <a:bodyPr wrap="none" lIns="0" tIns="0" rIns="0" bIns="0" anchor="t">
            <a:noAutofit/>
          </a:bodyPr>
          <a:lstStyle/>
          <a:p>
            <a:pPr algn="l"/>
            <a:r>
              <a:rPr lang="nl-BE" sz="1200" b="1" i="0">
                <a:solidFill>
                  <a:srgbClr val="0A2540"/>
                </a:solidFill>
                <a:latin typeface="DM Sans"/>
              </a:rPr>
              <a:t>V6</a:t>
            </a:r>
          </a:p>
        </p:txBody>
      </p:sp>
      <p:sp>
        <p:nvSpPr>
          <p:cNvPr id="17" name="TextBox 16"/>
          <p:cNvSpPr txBox="1">
            <a:spLocks/>
          </p:cNvSpPr>
          <p:nvPr/>
        </p:nvSpPr>
        <p:spPr>
          <a:xfrm>
            <a:off x="8556327" y="1753791"/>
            <a:ext cx="362545" cy="198120"/>
          </a:xfrm>
          <a:prstGeom prst="rect">
            <a:avLst/>
          </a:prstGeom>
          <a:noFill/>
        </p:spPr>
        <p:txBody>
          <a:bodyPr wrap="none" lIns="0" tIns="0" rIns="0" bIns="0" anchor="t">
            <a:noAutofit/>
          </a:bodyPr>
          <a:lstStyle/>
          <a:p>
            <a:pPr algn="l"/>
            <a:r>
              <a:rPr lang="nl-BE" sz="1200" b="0" i="0">
                <a:solidFill>
                  <a:srgbClr val="5A6E80"/>
                </a:solidFill>
                <a:latin typeface="DM Sans"/>
              </a:rPr>
              <a:t>m 12</a:t>
            </a:r>
          </a:p>
        </p:txBody>
      </p:sp>
      <p:sp>
        <p:nvSpPr>
          <p:cNvPr id="18" name="TextBox 17"/>
          <p:cNvSpPr txBox="1"/>
          <p:nvPr/>
        </p:nvSpPr>
        <p:spPr>
          <a:xfrm>
            <a:off x="9682758" y="1544241"/>
            <a:ext cx="243284" cy="198120"/>
          </a:xfrm>
          <a:prstGeom prst="rect">
            <a:avLst/>
          </a:prstGeom>
          <a:noFill/>
        </p:spPr>
        <p:txBody>
          <a:bodyPr wrap="none" lIns="0" tIns="0" rIns="0" bIns="0" anchor="t">
            <a:noAutofit/>
          </a:bodyPr>
          <a:lstStyle/>
          <a:p>
            <a:pPr algn="l"/>
            <a:r>
              <a:rPr lang="nl-BE" sz="1200" b="1" i="0">
                <a:solidFill>
                  <a:srgbClr val="0A2540"/>
                </a:solidFill>
                <a:latin typeface="DM Sans"/>
              </a:rPr>
              <a:t>V7</a:t>
            </a:r>
          </a:p>
        </p:txBody>
      </p:sp>
      <p:sp>
        <p:nvSpPr>
          <p:cNvPr id="19" name="TextBox 18"/>
          <p:cNvSpPr txBox="1"/>
          <p:nvPr/>
        </p:nvSpPr>
        <p:spPr>
          <a:xfrm>
            <a:off x="9620548" y="1753791"/>
            <a:ext cx="367705" cy="198120"/>
          </a:xfrm>
          <a:prstGeom prst="rect">
            <a:avLst/>
          </a:prstGeom>
          <a:noFill/>
        </p:spPr>
        <p:txBody>
          <a:bodyPr wrap="none" lIns="0" tIns="0" rIns="0" bIns="0" anchor="t">
            <a:noAutofit/>
          </a:bodyPr>
          <a:lstStyle/>
          <a:p>
            <a:pPr algn="l"/>
            <a:r>
              <a:rPr lang="nl-BE" sz="1200" b="0" i="0">
                <a:solidFill>
                  <a:srgbClr val="5A6E80"/>
                </a:solidFill>
                <a:latin typeface="DM Sans"/>
              </a:rPr>
              <a:t>m 15</a:t>
            </a:r>
          </a:p>
        </p:txBody>
      </p:sp>
      <p:sp>
        <p:nvSpPr>
          <p:cNvPr id="20" name="TextBox 19"/>
          <p:cNvSpPr txBox="1">
            <a:spLocks/>
          </p:cNvSpPr>
          <p:nvPr/>
        </p:nvSpPr>
        <p:spPr>
          <a:xfrm>
            <a:off x="10746184" y="1544241"/>
            <a:ext cx="250031" cy="198120"/>
          </a:xfrm>
          <a:prstGeom prst="rect">
            <a:avLst/>
          </a:prstGeom>
          <a:noFill/>
        </p:spPr>
        <p:txBody>
          <a:bodyPr wrap="none" lIns="0" tIns="0" rIns="0" bIns="0" anchor="t">
            <a:noAutofit/>
          </a:bodyPr>
          <a:lstStyle/>
          <a:p>
            <a:pPr algn="l"/>
            <a:r>
              <a:rPr lang="nl-BE" sz="1200" b="1" i="0">
                <a:solidFill>
                  <a:srgbClr val="0A2540"/>
                </a:solidFill>
                <a:latin typeface="DM Sans"/>
              </a:rPr>
              <a:t>V8</a:t>
            </a:r>
          </a:p>
        </p:txBody>
      </p:sp>
      <p:sp>
        <p:nvSpPr>
          <p:cNvPr id="21" name="TextBox 20"/>
          <p:cNvSpPr txBox="1"/>
          <p:nvPr/>
        </p:nvSpPr>
        <p:spPr>
          <a:xfrm>
            <a:off x="10687447" y="1753791"/>
            <a:ext cx="367407" cy="198120"/>
          </a:xfrm>
          <a:prstGeom prst="rect">
            <a:avLst/>
          </a:prstGeom>
          <a:noFill/>
        </p:spPr>
        <p:txBody>
          <a:bodyPr wrap="none" lIns="0" tIns="0" rIns="0" bIns="0" anchor="t">
            <a:noAutofit/>
          </a:bodyPr>
          <a:lstStyle/>
          <a:p>
            <a:pPr algn="l"/>
            <a:r>
              <a:rPr lang="nl-BE" sz="1200" b="0" i="0">
                <a:solidFill>
                  <a:srgbClr val="5A6E80"/>
                </a:solidFill>
                <a:latin typeface="DM Sans"/>
              </a:rPr>
              <a:t>m 18</a:t>
            </a:r>
          </a:p>
        </p:txBody>
      </p:sp>
      <p:sp>
        <p:nvSpPr>
          <p:cNvPr id="22" name="Rectangle 21"/>
          <p:cNvSpPr>
            <a:spLocks/>
          </p:cNvSpPr>
          <p:nvPr/>
        </p:nvSpPr>
        <p:spPr>
          <a:xfrm>
            <a:off x="812800" y="1963341"/>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3" name="TextBox 22"/>
          <p:cNvSpPr txBox="1"/>
          <p:nvPr/>
        </p:nvSpPr>
        <p:spPr>
          <a:xfrm>
            <a:off x="812800" y="2071291"/>
            <a:ext cx="2082800" cy="204470"/>
          </a:xfrm>
          <a:prstGeom prst="rect">
            <a:avLst/>
          </a:prstGeom>
          <a:noFill/>
        </p:spPr>
        <p:txBody>
          <a:bodyPr wrap="none" lIns="0" tIns="0" rIns="0" bIns="0" anchor="t">
            <a:noAutofit/>
          </a:bodyPr>
          <a:lstStyle/>
          <a:p>
            <a:pPr algn="l">
              <a:lnSpc>
                <a:spcPts val="1610"/>
              </a:lnSpc>
            </a:pPr>
            <a:r>
              <a:rPr lang="nl-BE" sz="1400" b="1" i="0">
                <a:solidFill>
                  <a:srgbClr val="0A2540"/>
                </a:solidFill>
                <a:latin typeface="DM Sans"/>
              </a:rPr>
              <a:t>Levenskwaliteit</a:t>
            </a:r>
          </a:p>
        </p:txBody>
      </p:sp>
      <p:sp>
        <p:nvSpPr>
          <p:cNvPr id="24" name="TextBox 23"/>
          <p:cNvSpPr txBox="1">
            <a:spLocks/>
          </p:cNvSpPr>
          <p:nvPr/>
        </p:nvSpPr>
        <p:spPr>
          <a:xfrm>
            <a:off x="812800" y="2288381"/>
            <a:ext cx="2082800" cy="182880"/>
          </a:xfrm>
          <a:prstGeom prst="rect">
            <a:avLst/>
          </a:prstGeom>
          <a:noFill/>
        </p:spPr>
        <p:txBody>
          <a:bodyPr wrap="none" lIns="0" tIns="0" rIns="0" bIns="0" anchor="t">
            <a:noAutofit/>
          </a:bodyPr>
          <a:lstStyle/>
          <a:p>
            <a:pPr algn="l">
              <a:lnSpc>
                <a:spcPts val="1440"/>
              </a:lnSpc>
            </a:pPr>
            <a:r>
              <a:rPr lang="nl-BE" sz="1200" b="0" i="0">
                <a:solidFill>
                  <a:srgbClr val="5A6E80"/>
                </a:solidFill>
                <a:latin typeface="DM Sans"/>
              </a:rPr>
              <a:t>EQ-5D-5L</a:t>
            </a:r>
          </a:p>
        </p:txBody>
      </p:sp>
      <p:sp>
        <p:nvSpPr>
          <p:cNvPr id="25" name="Rectangle 24"/>
          <p:cNvSpPr>
            <a:spLocks/>
          </p:cNvSpPr>
          <p:nvPr/>
        </p:nvSpPr>
        <p:spPr>
          <a:xfrm>
            <a:off x="812800" y="2572841"/>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6" name="TextBox 25"/>
          <p:cNvSpPr txBox="1"/>
          <p:nvPr/>
        </p:nvSpPr>
        <p:spPr>
          <a:xfrm>
            <a:off x="812800" y="2680791"/>
            <a:ext cx="2082800" cy="204470"/>
          </a:xfrm>
          <a:prstGeom prst="rect">
            <a:avLst/>
          </a:prstGeom>
          <a:noFill/>
        </p:spPr>
        <p:txBody>
          <a:bodyPr wrap="none" lIns="0" tIns="0" rIns="0" bIns="0" anchor="t">
            <a:noAutofit/>
          </a:bodyPr>
          <a:lstStyle/>
          <a:p>
            <a:pPr algn="l">
              <a:lnSpc>
                <a:spcPts val="1610"/>
              </a:lnSpc>
            </a:pPr>
            <a:r>
              <a:rPr lang="nl-BE" sz="1400" b="1" i="0">
                <a:solidFill>
                  <a:srgbClr val="0A2540"/>
                </a:solidFill>
                <a:latin typeface="DM Sans"/>
              </a:rPr>
              <a:t>Zorggebruik</a:t>
            </a:r>
          </a:p>
        </p:txBody>
      </p:sp>
      <p:sp>
        <p:nvSpPr>
          <p:cNvPr id="27" name="TextBox 26"/>
          <p:cNvSpPr txBox="1"/>
          <p:nvPr/>
        </p:nvSpPr>
        <p:spPr>
          <a:xfrm>
            <a:off x="812800" y="2897882"/>
            <a:ext cx="2082800" cy="182880"/>
          </a:xfrm>
          <a:prstGeom prst="rect">
            <a:avLst/>
          </a:prstGeom>
          <a:noFill/>
        </p:spPr>
        <p:txBody>
          <a:bodyPr wrap="none" lIns="0" tIns="0" rIns="0" bIns="0" anchor="t">
            <a:noAutofit/>
          </a:bodyPr>
          <a:lstStyle/>
          <a:p>
            <a:pPr algn="l">
              <a:lnSpc>
                <a:spcPts val="1440"/>
              </a:lnSpc>
            </a:pPr>
            <a:r>
              <a:rPr lang="nl-BE" sz="1200" b="0" i="0">
                <a:solidFill>
                  <a:srgbClr val="5A6E80"/>
                </a:solidFill>
                <a:latin typeface="DM Sans"/>
              </a:rPr>
              <a:t>iMTA iMCQ</a:t>
            </a:r>
          </a:p>
        </p:txBody>
      </p:sp>
      <p:sp>
        <p:nvSpPr>
          <p:cNvPr id="28" name="Rectangle 27"/>
          <p:cNvSpPr>
            <a:spLocks/>
          </p:cNvSpPr>
          <p:nvPr/>
        </p:nvSpPr>
        <p:spPr>
          <a:xfrm>
            <a:off x="812800" y="3182342"/>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9" name="TextBox 28"/>
          <p:cNvSpPr txBox="1"/>
          <p:nvPr/>
        </p:nvSpPr>
        <p:spPr>
          <a:xfrm>
            <a:off x="812800" y="3290292"/>
            <a:ext cx="2082800" cy="204470"/>
          </a:xfrm>
          <a:prstGeom prst="rect">
            <a:avLst/>
          </a:prstGeom>
          <a:noFill/>
        </p:spPr>
        <p:txBody>
          <a:bodyPr wrap="none" lIns="0" tIns="0" rIns="0" bIns="0" anchor="t">
            <a:noAutofit/>
          </a:bodyPr>
          <a:lstStyle/>
          <a:p>
            <a:pPr algn="l">
              <a:lnSpc>
                <a:spcPts val="1610"/>
              </a:lnSpc>
            </a:pPr>
            <a:r>
              <a:rPr lang="nl-BE" sz="1400" b="1" i="0">
                <a:solidFill>
                  <a:srgbClr val="0A2540"/>
                </a:solidFill>
                <a:latin typeface="DM Sans"/>
              </a:rPr>
              <a:t>Productiviteit</a:t>
            </a:r>
          </a:p>
        </p:txBody>
      </p:sp>
      <p:sp>
        <p:nvSpPr>
          <p:cNvPr id="30" name="TextBox 29"/>
          <p:cNvSpPr txBox="1"/>
          <p:nvPr/>
        </p:nvSpPr>
        <p:spPr>
          <a:xfrm>
            <a:off x="812800" y="3507383"/>
            <a:ext cx="2082800" cy="182880"/>
          </a:xfrm>
          <a:prstGeom prst="rect">
            <a:avLst/>
          </a:prstGeom>
          <a:noFill/>
        </p:spPr>
        <p:txBody>
          <a:bodyPr wrap="none" lIns="0" tIns="0" rIns="0" bIns="0" anchor="t">
            <a:noAutofit/>
          </a:bodyPr>
          <a:lstStyle/>
          <a:p>
            <a:pPr algn="l">
              <a:lnSpc>
                <a:spcPts val="1440"/>
              </a:lnSpc>
            </a:pPr>
            <a:r>
              <a:rPr lang="nl-BE" sz="1200" b="0" i="0">
                <a:solidFill>
                  <a:srgbClr val="5A6E80"/>
                </a:solidFill>
                <a:latin typeface="DM Sans"/>
              </a:rPr>
              <a:t>iMTA iPCQ</a:t>
            </a:r>
          </a:p>
        </p:txBody>
      </p:sp>
      <p:sp>
        <p:nvSpPr>
          <p:cNvPr id="31" name="Rectangle 30"/>
          <p:cNvSpPr>
            <a:spLocks/>
          </p:cNvSpPr>
          <p:nvPr/>
        </p:nvSpPr>
        <p:spPr>
          <a:xfrm>
            <a:off x="812800" y="3791843"/>
            <a:ext cx="88519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2" name="TextBox 31"/>
          <p:cNvSpPr txBox="1"/>
          <p:nvPr/>
        </p:nvSpPr>
        <p:spPr>
          <a:xfrm>
            <a:off x="812800" y="3937298"/>
            <a:ext cx="2082800" cy="204470"/>
          </a:xfrm>
          <a:prstGeom prst="rect">
            <a:avLst/>
          </a:prstGeom>
          <a:noFill/>
        </p:spPr>
        <p:txBody>
          <a:bodyPr wrap="none" lIns="0" tIns="0" rIns="0" bIns="0" anchor="t">
            <a:noAutofit/>
          </a:bodyPr>
          <a:lstStyle/>
          <a:p>
            <a:pPr algn="l">
              <a:lnSpc>
                <a:spcPts val="1610"/>
              </a:lnSpc>
            </a:pPr>
            <a:r>
              <a:rPr lang="nl-BE" sz="1400" b="1" i="0">
                <a:solidFill>
                  <a:srgbClr val="0A2540"/>
                </a:solidFill>
                <a:latin typeface="DM Sans"/>
              </a:rPr>
              <a:t>Kostendagboek</a:t>
            </a:r>
          </a:p>
        </p:txBody>
      </p:sp>
      <p:sp>
        <p:nvSpPr>
          <p:cNvPr id="33" name="TextBox 32"/>
          <p:cNvSpPr txBox="1"/>
          <p:nvPr/>
        </p:nvSpPr>
        <p:spPr>
          <a:xfrm>
            <a:off x="812800" y="4154388"/>
            <a:ext cx="2082800" cy="182880"/>
          </a:xfrm>
          <a:prstGeom prst="rect">
            <a:avLst/>
          </a:prstGeom>
          <a:noFill/>
        </p:spPr>
        <p:txBody>
          <a:bodyPr wrap="none" lIns="0" tIns="0" rIns="0" bIns="0" anchor="t">
            <a:noAutofit/>
          </a:bodyPr>
          <a:lstStyle/>
          <a:p>
            <a:pPr algn="l">
              <a:lnSpc>
                <a:spcPts val="1440"/>
              </a:lnSpc>
            </a:pPr>
            <a:r>
              <a:rPr lang="nl-BE" sz="1200" b="0" i="0">
                <a:solidFill>
                  <a:srgbClr val="5A6E80"/>
                </a:solidFill>
                <a:latin typeface="DM Sans"/>
              </a:rPr>
              <a:t>eCRF 45, 45a, 45b</a:t>
            </a:r>
          </a:p>
        </p:txBody>
      </p:sp>
      <p:sp>
        <p:nvSpPr>
          <p:cNvPr id="34" name="TextBox 33"/>
          <p:cNvSpPr txBox="1"/>
          <p:nvPr/>
        </p:nvSpPr>
        <p:spPr>
          <a:xfrm>
            <a:off x="2819400" y="4191893"/>
            <a:ext cx="1755775" cy="182880"/>
          </a:xfrm>
          <a:prstGeom prst="rect">
            <a:avLst/>
          </a:prstGeom>
          <a:noFill/>
        </p:spPr>
        <p:txBody>
          <a:bodyPr wrap="none" lIns="0" tIns="0" rIns="0" bIns="0" anchor="t">
            <a:noAutofit/>
          </a:bodyPr>
          <a:lstStyle/>
          <a:p>
            <a:pPr algn="ctr">
              <a:lnSpc>
                <a:spcPts val="1440"/>
              </a:lnSpc>
            </a:pPr>
            <a:r>
              <a:rPr lang="nl-BE" sz="1200" b="0" i="0">
                <a:solidFill>
                  <a:srgbClr val="A34A00"/>
                </a:solidFill>
                <a:latin typeface="DM Sans"/>
              </a:rPr>
              <a:t>start · elke 2 weken</a:t>
            </a:r>
          </a:p>
        </p:txBody>
      </p:sp>
      <p:sp>
        <p:nvSpPr>
          <p:cNvPr id="35" name="TextBox 34"/>
          <p:cNvSpPr txBox="1"/>
          <p:nvPr/>
        </p:nvSpPr>
        <p:spPr>
          <a:xfrm>
            <a:off x="4524375" y="4191893"/>
            <a:ext cx="5165725" cy="182880"/>
          </a:xfrm>
          <a:prstGeom prst="rect">
            <a:avLst/>
          </a:prstGeom>
          <a:noFill/>
        </p:spPr>
        <p:txBody>
          <a:bodyPr wrap="none" lIns="0" tIns="0" rIns="0" bIns="0" anchor="t">
            <a:noAutofit/>
          </a:bodyPr>
          <a:lstStyle/>
          <a:p>
            <a:pPr algn="ctr">
              <a:lnSpc>
                <a:spcPts val="1440"/>
              </a:lnSpc>
            </a:pPr>
            <a:r>
              <a:rPr lang="nl-BE" sz="1200" b="0" i="0">
                <a:solidFill>
                  <a:srgbClr val="A34A00"/>
                </a:solidFill>
                <a:latin typeface="DM Sans"/>
              </a:rPr>
              <a:t>per visite: wat veranderde</a:t>
            </a:r>
          </a:p>
        </p:txBody>
      </p:sp>
      <p:sp>
        <p:nvSpPr>
          <p:cNvPr id="36" name="Rectangle 35"/>
          <p:cNvSpPr>
            <a:spLocks/>
          </p:cNvSpPr>
          <p:nvPr/>
        </p:nvSpPr>
        <p:spPr>
          <a:xfrm>
            <a:off x="9817100" y="1963341"/>
            <a:ext cx="11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7" name="Rectangle 36"/>
          <p:cNvSpPr>
            <a:spLocks/>
          </p:cNvSpPr>
          <p:nvPr/>
        </p:nvSpPr>
        <p:spPr>
          <a:xfrm>
            <a:off x="9918700" y="1963341"/>
            <a:ext cx="12700" cy="2513012"/>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8" name="Rectangle 37"/>
          <p:cNvSpPr>
            <a:spLocks/>
          </p:cNvSpPr>
          <p:nvPr/>
        </p:nvSpPr>
        <p:spPr>
          <a:xfrm>
            <a:off x="9817100" y="4463653"/>
            <a:ext cx="1143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9" name="TextBox 38"/>
          <p:cNvSpPr txBox="1"/>
          <p:nvPr/>
        </p:nvSpPr>
        <p:spPr>
          <a:xfrm>
            <a:off x="10045700" y="3015456"/>
            <a:ext cx="1384300" cy="408781"/>
          </a:xfrm>
          <a:prstGeom prst="rect">
            <a:avLst/>
          </a:prstGeom>
          <a:noFill/>
        </p:spPr>
        <p:txBody>
          <a:bodyPr wrap="square" lIns="0" tIns="0" rIns="0" bIns="0" anchor="t">
            <a:noAutofit/>
          </a:bodyPr>
          <a:lstStyle/>
          <a:p>
            <a:pPr algn="l">
              <a:lnSpc>
                <a:spcPts val="1610"/>
              </a:lnSpc>
            </a:pPr>
            <a:r>
              <a:rPr lang="nl-BE" sz="1400" b="1" i="0">
                <a:solidFill>
                  <a:srgbClr val="0A2540"/>
                </a:solidFill>
                <a:latin typeface="DM Sans"/>
              </a:rPr>
              <a:t>kosten-</a:t>
            </a:r>
          </a:p>
          <a:p>
            <a:pPr algn="l">
              <a:lnSpc>
                <a:spcPts val="1610"/>
              </a:lnSpc>
            </a:pPr>
            <a:r>
              <a:rPr lang="nl-BE" sz="1400" b="1" i="0">
                <a:solidFill>
                  <a:srgbClr val="0A2540"/>
                </a:solidFill>
                <a:latin typeface="DM Sans"/>
              </a:rPr>
              <a:t>effectiviteit</a:t>
            </a:r>
          </a:p>
        </p:txBody>
      </p:sp>
      <p:sp>
        <p:nvSpPr>
          <p:cNvPr id="40" name="TextBox 39"/>
          <p:cNvSpPr txBox="1"/>
          <p:nvPr/>
        </p:nvSpPr>
        <p:spPr>
          <a:xfrm>
            <a:off x="1104900" y="4704953"/>
            <a:ext cx="4350544" cy="214630"/>
          </a:xfrm>
          <a:prstGeom prst="rect">
            <a:avLst/>
          </a:prstGeom>
          <a:noFill/>
        </p:spPr>
        <p:txBody>
          <a:bodyPr wrap="none" lIns="0" tIns="0" rIns="0" bIns="0" anchor="t">
            <a:noAutofit/>
          </a:bodyPr>
          <a:lstStyle/>
          <a:p>
            <a:pPr algn="l">
              <a:lnSpc>
                <a:spcPts val="1689"/>
              </a:lnSpc>
            </a:pPr>
            <a:r>
              <a:rPr lang="nl-BE" sz="1300" b="0" i="0">
                <a:solidFill>
                  <a:srgbClr val="3A4F63"/>
                </a:solidFill>
                <a:latin typeface="DM Sans"/>
              </a:rPr>
              <a:t>op papier in </a:t>
            </a:r>
            <a:r>
              <a:rPr sz="1300" b="0" i="0">
                <a:solidFill>
                  <a:srgbClr val="3A4F63"/>
                </a:solidFill>
                <a:latin typeface="DM Sans"/>
              </a:rPr>
              <a:t>de </a:t>
            </a:r>
            <a:r>
              <a:rPr lang="nl-NL" sz="1300" b="0" i="0">
                <a:solidFill>
                  <a:srgbClr val="3A4F63"/>
                </a:solidFill>
                <a:latin typeface="DM Sans"/>
              </a:rPr>
              <a:t>wachtzaal: uw team kijkt na, wij voeren in</a:t>
            </a:r>
            <a:endParaRPr sz="1300" b="0" i="0">
              <a:solidFill>
                <a:srgbClr val="3A4F63"/>
              </a:solidFill>
              <a:latin typeface="DM Sans"/>
            </a:endParaRPr>
          </a:p>
        </p:txBody>
      </p:sp>
      <p:sp>
        <p:nvSpPr>
          <p:cNvPr id="41" name="TextBox 40"/>
          <p:cNvSpPr txBox="1"/>
          <p:nvPr/>
        </p:nvSpPr>
        <p:spPr>
          <a:xfrm>
            <a:off x="1104900" y="4995763"/>
            <a:ext cx="3886002" cy="214630"/>
          </a:xfrm>
          <a:prstGeom prst="rect">
            <a:avLst/>
          </a:prstGeom>
          <a:noFill/>
        </p:spPr>
        <p:txBody>
          <a:bodyPr wrap="none" lIns="0" tIns="0" rIns="0" bIns="0" anchor="t">
            <a:noAutofit/>
          </a:bodyPr>
          <a:lstStyle/>
          <a:p>
            <a:pPr algn="l">
              <a:lnSpc>
                <a:spcPts val="1689"/>
              </a:lnSpc>
            </a:pPr>
            <a:r>
              <a:rPr lang="nl-NL" sz="1300" b="0" i="0">
                <a:solidFill>
                  <a:srgbClr val="3A4F63"/>
                </a:solidFill>
                <a:latin typeface="DM Sans"/>
              </a:rPr>
              <a:t>telefonisch, door ons: uw team hoeft niets te doen</a:t>
            </a:r>
          </a:p>
        </p:txBody>
      </p:sp>
      <p:pic>
        <p:nvPicPr>
          <p:cNvPr id="42" name="Picture 41"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43" name="TextBox 42"/>
          <p:cNvSpPr txBox="1"/>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Werkpakketten</a:t>
            </a:r>
          </a:p>
        </p:txBody>
      </p:sp>
      <p:sp>
        <p:nvSpPr>
          <p:cNvPr id="44" name="TextBox 43"/>
          <p:cNvSpPr txBox="1"/>
          <p:nvPr/>
        </p:nvSpPr>
        <p:spPr>
          <a:xfrm>
            <a:off x="3073400" y="6254750"/>
            <a:ext cx="8305800" cy="198120"/>
          </a:xfrm>
          <a:prstGeom prst="rect">
            <a:avLst/>
          </a:prstGeom>
          <a:noFill/>
        </p:spPr>
        <p:txBody>
          <a:bodyPr wrap="none" lIns="0" tIns="0" rIns="0" bIns="0" anchor="t">
            <a:noAutofit/>
          </a:bodyPr>
          <a:lstStyle/>
          <a:p>
            <a:pPr algn="r"/>
            <a:r>
              <a:rPr lang="nl-NL" sz="1200" b="0" i="0">
                <a:solidFill>
                  <a:srgbClr val="5A6E80"/>
                </a:solidFill>
                <a:latin typeface="DM Sans"/>
              </a:rPr>
              <a:t>Bron: REDCap-mapping · eCRF 21, 34, 35, 45, 45a en 45b · studieprotocol (secundaire uitkomsten)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Wie komt in aanmerking</a:t>
            </a:r>
            <a:endParaRPr sz="3600" b="0" i="0" spc="-50">
              <a:solidFill>
                <a:srgbClr val="0A2540"/>
              </a:solidFill>
              <a:latin typeface="DM Serif Display"/>
            </a:endParaRPr>
          </a:p>
        </p:txBody>
      </p:sp>
      <p:sp>
        <p:nvSpPr>
          <p:cNvPr id="4" name="TextBox 3"/>
          <p:cNvSpPr txBox="1">
            <a:spLocks/>
          </p:cNvSpPr>
          <p:nvPr/>
        </p:nvSpPr>
        <p:spPr>
          <a:xfrm>
            <a:off x="812800" y="1544241"/>
            <a:ext cx="5130800" cy="228600"/>
          </a:xfrm>
          <a:prstGeom prst="rect">
            <a:avLst/>
          </a:prstGeom>
          <a:noFill/>
        </p:spPr>
        <p:txBody>
          <a:bodyPr wrap="none" lIns="0" tIns="0" rIns="0" bIns="0" anchor="t">
            <a:noAutofit/>
          </a:bodyPr>
          <a:lstStyle/>
          <a:p>
            <a:pPr algn="l">
              <a:lnSpc>
                <a:spcPts val="1800"/>
              </a:lnSpc>
            </a:pPr>
            <a:r>
              <a:rPr lang="nl-BE" sz="1500" b="1" i="0">
                <a:solidFill>
                  <a:srgbClr val="0B6E8F"/>
                </a:solidFill>
                <a:latin typeface="DM Sans"/>
              </a:rPr>
              <a:t>Wel</a:t>
            </a:r>
            <a:r>
              <a:rPr lang="nl-BE" sz="1200" b="0" i="0">
                <a:solidFill>
                  <a:srgbClr val="5A6E80"/>
                </a:solidFill>
                <a:latin typeface="DM Sans"/>
              </a:rPr>
              <a:t> · onthoud VOETEN</a:t>
            </a:r>
          </a:p>
        </p:txBody>
      </p:sp>
      <p:sp>
        <p:nvSpPr>
          <p:cNvPr id="5" name="Rounded Rectangle 4"/>
          <p:cNvSpPr>
            <a:spLocks/>
          </p:cNvSpPr>
          <p:nvPr/>
        </p:nvSpPr>
        <p:spPr>
          <a:xfrm>
            <a:off x="812800" y="1874441"/>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917674" y="1944291"/>
            <a:ext cx="171252"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V</a:t>
            </a:r>
          </a:p>
        </p:txBody>
      </p:sp>
      <p:sp>
        <p:nvSpPr>
          <p:cNvPr id="7" name="TextBox 6"/>
          <p:cNvSpPr txBox="1">
            <a:spLocks/>
          </p:cNvSpPr>
          <p:nvPr/>
        </p:nvSpPr>
        <p:spPr>
          <a:xfrm>
            <a:off x="1282700" y="1874441"/>
            <a:ext cx="2876054"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V</a:t>
            </a:r>
            <a:r>
              <a:rPr lang="nl-BE" sz="1350" b="1" i="0">
                <a:solidFill>
                  <a:srgbClr val="0A2540"/>
                </a:solidFill>
                <a:latin typeface="DM Sans"/>
              </a:rPr>
              <a:t>aten stabiel</a:t>
            </a:r>
          </a:p>
        </p:txBody>
      </p:sp>
      <p:sp>
        <p:nvSpPr>
          <p:cNvPr id="8" name="TextBox 7"/>
          <p:cNvSpPr txBox="1"/>
          <p:nvPr/>
        </p:nvSpPr>
        <p:spPr>
          <a:xfrm>
            <a:off x="1282700" y="2101453"/>
            <a:ext cx="2876054" cy="189865"/>
          </a:xfrm>
          <a:prstGeom prst="rect">
            <a:avLst/>
          </a:prstGeom>
          <a:noFill/>
        </p:spPr>
        <p:txBody>
          <a:bodyPr wrap="none" lIns="0" tIns="0" rIns="0" bIns="0" anchor="t">
            <a:noAutofit/>
          </a:bodyPr>
          <a:lstStyle/>
          <a:p>
            <a:pPr algn="l">
              <a:lnSpc>
                <a:spcPts val="1495"/>
              </a:lnSpc>
            </a:pPr>
            <a:r>
              <a:rPr lang="nl-NL" sz="1150" b="0" i="0">
                <a:solidFill>
                  <a:srgbClr val="3A4F63"/>
                </a:solidFill>
                <a:latin typeface="DM Sans"/>
              </a:rPr>
              <a:t>PEDIS-graad 1–2, naar oordeel van de arts</a:t>
            </a:r>
          </a:p>
        </p:txBody>
      </p:sp>
      <p:sp>
        <p:nvSpPr>
          <p:cNvPr id="9" name="Rounded Rectangle 8"/>
          <p:cNvSpPr/>
          <p:nvPr/>
        </p:nvSpPr>
        <p:spPr>
          <a:xfrm>
            <a:off x="812800" y="2392859"/>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914003" y="2462709"/>
            <a:ext cx="178495"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O</a:t>
            </a:r>
          </a:p>
        </p:txBody>
      </p:sp>
      <p:sp>
        <p:nvSpPr>
          <p:cNvPr id="11" name="TextBox 10"/>
          <p:cNvSpPr txBox="1"/>
          <p:nvPr/>
        </p:nvSpPr>
        <p:spPr>
          <a:xfrm>
            <a:off x="1282700" y="2392859"/>
            <a:ext cx="4660900"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O</a:t>
            </a:r>
            <a:r>
              <a:rPr lang="nl-BE" sz="1350" b="1" i="0">
                <a:solidFill>
                  <a:srgbClr val="0A2540"/>
                </a:solidFill>
                <a:latin typeface="DM Sans"/>
              </a:rPr>
              <a:t>nlangs een voetwonde</a:t>
            </a:r>
          </a:p>
        </p:txBody>
      </p:sp>
      <p:sp>
        <p:nvSpPr>
          <p:cNvPr id="12" name="TextBox 11"/>
          <p:cNvSpPr txBox="1"/>
          <p:nvPr/>
        </p:nvSpPr>
        <p:spPr>
          <a:xfrm>
            <a:off x="1282700" y="2619871"/>
            <a:ext cx="4702302" cy="569416"/>
          </a:xfrm>
          <a:prstGeom prst="rect">
            <a:avLst/>
          </a:prstGeom>
          <a:noFill/>
        </p:spPr>
        <p:txBody>
          <a:bodyPr wrap="square" lIns="0" tIns="0" rIns="0" bIns="0" anchor="t">
            <a:noAutofit/>
          </a:bodyPr>
          <a:lstStyle/>
          <a:p>
            <a:pPr algn="l">
              <a:lnSpc>
                <a:spcPts val="1495"/>
              </a:lnSpc>
            </a:pPr>
            <a:r>
              <a:rPr lang="nl-NL" sz="1150" b="0" i="0">
                <a:solidFill>
                  <a:srgbClr val="3A4F63"/>
                </a:solidFill>
                <a:latin typeface="DM Sans"/>
              </a:rPr>
              <a:t>IWGDF-risico 3: genezen plantair ulcus, teen- of halluxamputatie, of resectie van één of meer metatarsaalkopjes (ook de eerste), 2 weken tot 18 maanden geleden</a:t>
            </a:r>
          </a:p>
        </p:txBody>
      </p:sp>
      <p:sp>
        <p:nvSpPr>
          <p:cNvPr id="13" name="Rounded Rectangle 12"/>
          <p:cNvSpPr>
            <a:spLocks/>
          </p:cNvSpPr>
          <p:nvPr/>
        </p:nvSpPr>
        <p:spPr>
          <a:xfrm>
            <a:off x="812800" y="3290888"/>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4" name="TextBox 13"/>
          <p:cNvSpPr txBox="1"/>
          <p:nvPr/>
        </p:nvSpPr>
        <p:spPr>
          <a:xfrm>
            <a:off x="925016" y="3360738"/>
            <a:ext cx="156567"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E</a:t>
            </a:r>
          </a:p>
        </p:txBody>
      </p:sp>
      <p:sp>
        <p:nvSpPr>
          <p:cNvPr id="15" name="TextBox 14"/>
          <p:cNvSpPr txBox="1">
            <a:spLocks/>
          </p:cNvSpPr>
          <p:nvPr/>
        </p:nvSpPr>
        <p:spPr>
          <a:xfrm>
            <a:off x="1282700" y="3290888"/>
            <a:ext cx="3341390"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E</a:t>
            </a:r>
            <a:r>
              <a:rPr lang="nl-BE" sz="1350" b="1" i="0">
                <a:solidFill>
                  <a:srgbClr val="0A2540"/>
                </a:solidFill>
                <a:latin typeface="DM Sans"/>
              </a:rPr>
              <a:t>igen stappen</a:t>
            </a:r>
          </a:p>
        </p:txBody>
      </p:sp>
      <p:sp>
        <p:nvSpPr>
          <p:cNvPr id="16" name="TextBox 15"/>
          <p:cNvSpPr txBox="1"/>
          <p:nvPr/>
        </p:nvSpPr>
        <p:spPr>
          <a:xfrm>
            <a:off x="1282700" y="3517900"/>
            <a:ext cx="3341390" cy="189865"/>
          </a:xfrm>
          <a:prstGeom prst="rect">
            <a:avLst/>
          </a:prstGeom>
          <a:noFill/>
        </p:spPr>
        <p:txBody>
          <a:bodyPr wrap="none" lIns="0" tIns="0" rIns="0" bIns="0" anchor="t">
            <a:noAutofit/>
          </a:bodyPr>
          <a:lstStyle/>
          <a:p>
            <a:pPr algn="l">
              <a:lnSpc>
                <a:spcPts val="1495"/>
              </a:lnSpc>
            </a:pPr>
            <a:r>
              <a:rPr lang="nl-NL" sz="1150" b="0" i="0">
                <a:solidFill>
                  <a:srgbClr val="3A4F63"/>
                </a:solidFill>
                <a:latin typeface="DM Sans"/>
              </a:rPr>
              <a:t>Stapt zelfstandig blootsvoets, zonder hulpmiddel</a:t>
            </a:r>
          </a:p>
        </p:txBody>
      </p:sp>
      <p:sp>
        <p:nvSpPr>
          <p:cNvPr id="17" name="Rounded Rectangle 16"/>
          <p:cNvSpPr>
            <a:spLocks/>
          </p:cNvSpPr>
          <p:nvPr/>
        </p:nvSpPr>
        <p:spPr>
          <a:xfrm>
            <a:off x="812800" y="38093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8" name="TextBox 17"/>
          <p:cNvSpPr txBox="1"/>
          <p:nvPr/>
        </p:nvSpPr>
        <p:spPr>
          <a:xfrm>
            <a:off x="918170" y="3879155"/>
            <a:ext cx="170259"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T</a:t>
            </a:r>
          </a:p>
        </p:txBody>
      </p:sp>
      <p:sp>
        <p:nvSpPr>
          <p:cNvPr id="19" name="TextBox 18"/>
          <p:cNvSpPr txBox="1">
            <a:spLocks/>
          </p:cNvSpPr>
          <p:nvPr/>
        </p:nvSpPr>
        <p:spPr>
          <a:xfrm>
            <a:off x="1282700" y="3809305"/>
            <a:ext cx="914499"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T</a:t>
            </a:r>
            <a:r>
              <a:rPr lang="nl-BE" sz="1350" b="1" i="0">
                <a:solidFill>
                  <a:srgbClr val="0A2540"/>
                </a:solidFill>
                <a:latin typeface="DM Sans"/>
              </a:rPr>
              <a:t>ype 1 of 2</a:t>
            </a:r>
          </a:p>
        </p:txBody>
      </p:sp>
      <p:sp>
        <p:nvSpPr>
          <p:cNvPr id="20" name="Rounded Rectangle 19"/>
          <p:cNvSpPr>
            <a:spLocks/>
          </p:cNvSpPr>
          <p:nvPr/>
        </p:nvSpPr>
        <p:spPr>
          <a:xfrm>
            <a:off x="812800" y="42411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1" name="TextBox 20"/>
          <p:cNvSpPr txBox="1"/>
          <p:nvPr/>
        </p:nvSpPr>
        <p:spPr>
          <a:xfrm>
            <a:off x="925016" y="4310955"/>
            <a:ext cx="156567"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E</a:t>
            </a:r>
          </a:p>
        </p:txBody>
      </p:sp>
      <p:sp>
        <p:nvSpPr>
          <p:cNvPr id="22" name="TextBox 21"/>
          <p:cNvSpPr txBox="1"/>
          <p:nvPr/>
        </p:nvSpPr>
        <p:spPr>
          <a:xfrm>
            <a:off x="1282700" y="4241105"/>
            <a:ext cx="2484338"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E</a:t>
            </a:r>
            <a:r>
              <a:rPr lang="nl-BE" sz="1350" b="1" i="0">
                <a:solidFill>
                  <a:srgbClr val="0A2540"/>
                </a:solidFill>
                <a:latin typeface="DM Sans"/>
              </a:rPr>
              <a:t>cht beschermend schoeisel</a:t>
            </a:r>
          </a:p>
        </p:txBody>
      </p:sp>
      <p:sp>
        <p:nvSpPr>
          <p:cNvPr id="23" name="TextBox 22"/>
          <p:cNvSpPr txBox="1">
            <a:spLocks/>
          </p:cNvSpPr>
          <p:nvPr/>
        </p:nvSpPr>
        <p:spPr>
          <a:xfrm>
            <a:off x="1282700" y="4468118"/>
            <a:ext cx="2484338" cy="189865"/>
          </a:xfrm>
          <a:prstGeom prst="rect">
            <a:avLst/>
          </a:prstGeom>
          <a:noFill/>
        </p:spPr>
        <p:txBody>
          <a:bodyPr wrap="none" lIns="0" tIns="0" rIns="0" bIns="0" anchor="t">
            <a:noAutofit/>
          </a:bodyPr>
          <a:lstStyle/>
          <a:p>
            <a:pPr algn="l">
              <a:lnSpc>
                <a:spcPts val="1495"/>
              </a:lnSpc>
            </a:pPr>
            <a:r>
              <a:rPr lang="nl-NL" sz="1150" b="0" i="0">
                <a:solidFill>
                  <a:srgbClr val="3A4F63"/>
                </a:solidFill>
                <a:latin typeface="DM Sans"/>
              </a:rPr>
              <a:t>of bereid om over te schakelen</a:t>
            </a:r>
          </a:p>
        </p:txBody>
      </p:sp>
      <p:sp>
        <p:nvSpPr>
          <p:cNvPr id="24" name="Rounded Rectangle 23"/>
          <p:cNvSpPr>
            <a:spLocks/>
          </p:cNvSpPr>
          <p:nvPr/>
        </p:nvSpPr>
        <p:spPr>
          <a:xfrm>
            <a:off x="812800" y="4759523"/>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5" name="TextBox 24"/>
          <p:cNvSpPr txBox="1"/>
          <p:nvPr/>
        </p:nvSpPr>
        <p:spPr>
          <a:xfrm>
            <a:off x="915690" y="4829373"/>
            <a:ext cx="175220" cy="190500"/>
          </a:xfrm>
          <a:prstGeom prst="rect">
            <a:avLst/>
          </a:prstGeom>
          <a:noFill/>
        </p:spPr>
        <p:txBody>
          <a:bodyPr wrap="none" lIns="0" tIns="0" rIns="0" bIns="0" anchor="t">
            <a:noAutofit/>
          </a:bodyPr>
          <a:lstStyle/>
          <a:p>
            <a:pPr algn="l">
              <a:lnSpc>
                <a:spcPts val="1500"/>
              </a:lnSpc>
            </a:pPr>
            <a:r>
              <a:rPr lang="nl-BE" sz="1500" b="0" i="0">
                <a:solidFill>
                  <a:srgbClr val="0A2540"/>
                </a:solidFill>
                <a:latin typeface="DM Serif Display"/>
              </a:rPr>
              <a:t>N</a:t>
            </a:r>
          </a:p>
        </p:txBody>
      </p:sp>
      <p:sp>
        <p:nvSpPr>
          <p:cNvPr id="26" name="TextBox 25"/>
          <p:cNvSpPr txBox="1"/>
          <p:nvPr/>
        </p:nvSpPr>
        <p:spPr>
          <a:xfrm>
            <a:off x="1282700" y="4759523"/>
            <a:ext cx="2484041" cy="214312"/>
          </a:xfrm>
          <a:prstGeom prst="rect">
            <a:avLst/>
          </a:prstGeom>
          <a:noFill/>
        </p:spPr>
        <p:txBody>
          <a:bodyPr wrap="none" lIns="0" tIns="0" rIns="0" bIns="0" anchor="t">
            <a:noAutofit/>
          </a:bodyPr>
          <a:lstStyle/>
          <a:p>
            <a:pPr algn="l">
              <a:lnSpc>
                <a:spcPts val="1687"/>
              </a:lnSpc>
            </a:pPr>
            <a:r>
              <a:rPr lang="nl-BE" sz="1350" b="1" i="0">
                <a:solidFill>
                  <a:srgbClr val="0B6E8F"/>
                </a:solidFill>
                <a:latin typeface="DM Sans"/>
              </a:rPr>
              <a:t>N</a:t>
            </a:r>
            <a:r>
              <a:rPr lang="nl-BE" sz="1350" b="1" i="0">
                <a:solidFill>
                  <a:srgbClr val="0A2540"/>
                </a:solidFill>
                <a:latin typeface="DM Sans"/>
              </a:rPr>
              <a:t>ederlands en volwassen</a:t>
            </a:r>
          </a:p>
        </p:txBody>
      </p:sp>
      <p:sp>
        <p:nvSpPr>
          <p:cNvPr id="27" name="TextBox 26"/>
          <p:cNvSpPr txBox="1">
            <a:spLocks/>
          </p:cNvSpPr>
          <p:nvPr/>
        </p:nvSpPr>
        <p:spPr>
          <a:xfrm>
            <a:off x="1282700" y="4986536"/>
            <a:ext cx="2484041" cy="189865"/>
          </a:xfrm>
          <a:prstGeom prst="rect">
            <a:avLst/>
          </a:prstGeom>
          <a:noFill/>
        </p:spPr>
        <p:txBody>
          <a:bodyPr wrap="none" lIns="0" tIns="0" rIns="0" bIns="0" anchor="t">
            <a:noAutofit/>
          </a:bodyPr>
          <a:lstStyle/>
          <a:p>
            <a:pPr algn="l">
              <a:lnSpc>
                <a:spcPts val="1495"/>
              </a:lnSpc>
            </a:pPr>
            <a:r>
              <a:rPr lang="nl-NL" sz="1150" b="0" i="0">
                <a:solidFill>
                  <a:srgbClr val="3A4F63"/>
                </a:solidFill>
                <a:latin typeface="DM Sans"/>
              </a:rPr>
              <a:t>18 jaar of ouder, begrijpt Nederlands</a:t>
            </a:r>
          </a:p>
        </p:txBody>
      </p:sp>
      <p:sp>
        <p:nvSpPr>
          <p:cNvPr id="28" name="TextBox 27"/>
          <p:cNvSpPr txBox="1"/>
          <p:nvPr/>
        </p:nvSpPr>
        <p:spPr>
          <a:xfrm>
            <a:off x="6299200" y="1544241"/>
            <a:ext cx="5130800" cy="228600"/>
          </a:xfrm>
          <a:prstGeom prst="rect">
            <a:avLst/>
          </a:prstGeom>
          <a:noFill/>
        </p:spPr>
        <p:txBody>
          <a:bodyPr wrap="none" lIns="0" tIns="0" rIns="0" bIns="0" anchor="t">
            <a:noAutofit/>
          </a:bodyPr>
          <a:lstStyle/>
          <a:p>
            <a:pPr algn="l">
              <a:lnSpc>
                <a:spcPts val="1800"/>
              </a:lnSpc>
            </a:pPr>
            <a:r>
              <a:rPr lang="nl-BE" sz="1500" b="1" i="0">
                <a:solidFill>
                  <a:srgbClr val="A34A00"/>
                </a:solidFill>
                <a:latin typeface="DM Sans"/>
              </a:rPr>
              <a:t>Niet</a:t>
            </a:r>
          </a:p>
        </p:txBody>
      </p:sp>
      <p:sp>
        <p:nvSpPr>
          <p:cNvPr id="29" name="TextBox 28"/>
          <p:cNvSpPr txBox="1"/>
          <p:nvPr/>
        </p:nvSpPr>
        <p:spPr>
          <a:xfrm>
            <a:off x="6299200" y="1849041"/>
            <a:ext cx="146447" cy="214630"/>
          </a:xfrm>
          <a:prstGeom prst="rect">
            <a:avLst/>
          </a:prstGeom>
          <a:noFill/>
        </p:spPr>
        <p:txBody>
          <a:bodyPr wrap="none" lIns="0" tIns="0" rIns="0" bIns="0" anchor="t">
            <a:noAutofit/>
          </a:bodyPr>
          <a:lstStyle/>
          <a:p>
            <a:pPr algn="l">
              <a:lnSpc>
                <a:spcPts val="1689"/>
              </a:lnSpc>
            </a:pPr>
            <a:r>
              <a:rPr lang="nl-BE" sz="1300" b="1" i="0">
                <a:solidFill>
                  <a:srgbClr val="A34A00"/>
                </a:solidFill>
                <a:latin typeface="DM Sans"/>
              </a:rPr>
              <a:t>×</a:t>
            </a:r>
          </a:p>
        </p:txBody>
      </p:sp>
      <p:sp>
        <p:nvSpPr>
          <p:cNvPr id="30" name="TextBox 29"/>
          <p:cNvSpPr txBox="1"/>
          <p:nvPr/>
        </p:nvSpPr>
        <p:spPr>
          <a:xfrm>
            <a:off x="6483747" y="1849041"/>
            <a:ext cx="3499941" cy="214630"/>
          </a:xfrm>
          <a:prstGeom prst="rect">
            <a:avLst/>
          </a:prstGeom>
          <a:noFill/>
        </p:spPr>
        <p:txBody>
          <a:bodyPr wrap="none" lIns="0" tIns="0" rIns="0" bIns="0" anchor="t">
            <a:noAutofit/>
          </a:bodyPr>
          <a:lstStyle/>
          <a:p>
            <a:pPr algn="l">
              <a:lnSpc>
                <a:spcPts val="1689"/>
              </a:lnSpc>
            </a:pPr>
            <a:r>
              <a:rPr lang="nl-NL" sz="1300" b="0" i="0">
                <a:solidFill>
                  <a:srgbClr val="3A4F63"/>
                </a:solidFill>
                <a:latin typeface="DM Sans"/>
              </a:rPr>
              <a:t>Amputatie proximaal van de MTP-gewrichten</a:t>
            </a:r>
          </a:p>
        </p:txBody>
      </p:sp>
      <p:sp>
        <p:nvSpPr>
          <p:cNvPr id="31" name="TextBox 30"/>
          <p:cNvSpPr txBox="1">
            <a:spLocks/>
          </p:cNvSpPr>
          <p:nvPr/>
        </p:nvSpPr>
        <p:spPr>
          <a:xfrm>
            <a:off x="6299200" y="2139851"/>
            <a:ext cx="146447" cy="214630"/>
          </a:xfrm>
          <a:prstGeom prst="rect">
            <a:avLst/>
          </a:prstGeom>
          <a:noFill/>
        </p:spPr>
        <p:txBody>
          <a:bodyPr wrap="none" lIns="0" tIns="0" rIns="0" bIns="0" anchor="t">
            <a:noAutofit/>
          </a:bodyPr>
          <a:lstStyle/>
          <a:p>
            <a:pPr algn="l">
              <a:lnSpc>
                <a:spcPts val="1689"/>
              </a:lnSpc>
            </a:pPr>
            <a:r>
              <a:rPr lang="nl-BE" sz="1300" b="1" i="0">
                <a:solidFill>
                  <a:srgbClr val="A34A00"/>
                </a:solidFill>
                <a:latin typeface="DM Sans"/>
              </a:rPr>
              <a:t>×</a:t>
            </a:r>
          </a:p>
        </p:txBody>
      </p:sp>
      <p:sp>
        <p:nvSpPr>
          <p:cNvPr id="32" name="TextBox 31"/>
          <p:cNvSpPr txBox="1"/>
          <p:nvPr/>
        </p:nvSpPr>
        <p:spPr>
          <a:xfrm>
            <a:off x="6483747" y="2139851"/>
            <a:ext cx="3088481" cy="214630"/>
          </a:xfrm>
          <a:prstGeom prst="rect">
            <a:avLst/>
          </a:prstGeom>
          <a:noFill/>
        </p:spPr>
        <p:txBody>
          <a:bodyPr wrap="none" lIns="0" tIns="0" rIns="0" bIns="0" anchor="t">
            <a:noAutofit/>
          </a:bodyPr>
          <a:lstStyle/>
          <a:p>
            <a:pPr algn="l">
              <a:lnSpc>
                <a:spcPts val="1689"/>
              </a:lnSpc>
            </a:pPr>
            <a:r>
              <a:rPr lang="nl-BE" sz="1300" b="0" i="0">
                <a:solidFill>
                  <a:srgbClr val="3A4F63"/>
                </a:solidFill>
                <a:latin typeface="DM Sans"/>
              </a:rPr>
              <a:t>Actief voetulcus of Charcot-deformiteit</a:t>
            </a:r>
          </a:p>
        </p:txBody>
      </p:sp>
      <p:sp>
        <p:nvSpPr>
          <p:cNvPr id="33" name="TextBox 32"/>
          <p:cNvSpPr txBox="1"/>
          <p:nvPr/>
        </p:nvSpPr>
        <p:spPr>
          <a:xfrm>
            <a:off x="6299200" y="243066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4" name="TextBox 33"/>
          <p:cNvSpPr txBox="1"/>
          <p:nvPr/>
        </p:nvSpPr>
        <p:spPr>
          <a:xfrm>
            <a:off x="6483747" y="2430661"/>
            <a:ext cx="4993362" cy="429220"/>
          </a:xfrm>
          <a:prstGeom prst="rect">
            <a:avLst/>
          </a:prstGeom>
          <a:noFill/>
        </p:spPr>
        <p:txBody>
          <a:bodyPr wrap="square" lIns="0" tIns="0" rIns="0" bIns="0" anchor="t">
            <a:noAutofit/>
          </a:bodyPr>
          <a:lstStyle/>
          <a:p>
            <a:pPr algn="l">
              <a:lnSpc>
                <a:spcPts val="1689"/>
              </a:lnSpc>
            </a:pPr>
            <a:r>
              <a:rPr lang="nl-NL" sz="1300" b="0" i="0">
                <a:solidFill>
                  <a:srgbClr val="3A4F63"/>
                </a:solidFill>
                <a:latin typeface="DM Sans"/>
              </a:rPr>
              <a:t>Kritische ischemie (PEDIS 3: enkeldruk &lt; 50, teendruk &lt; 30 of TcpO₂ &lt; 30 mmHg)</a:t>
            </a:r>
          </a:p>
        </p:txBody>
      </p:sp>
      <p:sp>
        <p:nvSpPr>
          <p:cNvPr id="35" name="TextBox 34"/>
          <p:cNvSpPr txBox="1"/>
          <p:nvPr/>
        </p:nvSpPr>
        <p:spPr>
          <a:xfrm>
            <a:off x="6299200" y="2936081"/>
            <a:ext cx="146447" cy="214630"/>
          </a:xfrm>
          <a:prstGeom prst="rect">
            <a:avLst/>
          </a:prstGeom>
          <a:noFill/>
        </p:spPr>
        <p:txBody>
          <a:bodyPr wrap="none" lIns="0" tIns="0" rIns="0" bIns="0" anchor="t">
            <a:noAutofit/>
          </a:bodyPr>
          <a:lstStyle/>
          <a:p>
            <a:pPr algn="l">
              <a:lnSpc>
                <a:spcPts val="1689"/>
              </a:lnSpc>
            </a:pPr>
            <a:r>
              <a:rPr lang="nl-BE" sz="1300" b="1" i="0">
                <a:solidFill>
                  <a:srgbClr val="A34A00"/>
                </a:solidFill>
                <a:latin typeface="DM Sans"/>
              </a:rPr>
              <a:t>×</a:t>
            </a:r>
          </a:p>
        </p:txBody>
      </p:sp>
      <p:sp>
        <p:nvSpPr>
          <p:cNvPr id="36" name="TextBox 35"/>
          <p:cNvSpPr txBox="1"/>
          <p:nvPr/>
        </p:nvSpPr>
        <p:spPr>
          <a:xfrm>
            <a:off x="6483747" y="2936081"/>
            <a:ext cx="4428133"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Nierfunctievervangende of immunosuppressieve therapie</a:t>
            </a:r>
          </a:p>
        </p:txBody>
      </p:sp>
      <p:sp>
        <p:nvSpPr>
          <p:cNvPr id="37" name="TextBox 36"/>
          <p:cNvSpPr txBox="1"/>
          <p:nvPr/>
        </p:nvSpPr>
        <p:spPr>
          <a:xfrm>
            <a:off x="6299200" y="322689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8" name="TextBox 37"/>
          <p:cNvSpPr txBox="1"/>
          <p:nvPr/>
        </p:nvSpPr>
        <p:spPr>
          <a:xfrm>
            <a:off x="6483747" y="3226891"/>
            <a:ext cx="276810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Verwachte overleving &lt; 18 maanden</a:t>
            </a:r>
          </a:p>
        </p:txBody>
      </p:sp>
      <p:sp>
        <p:nvSpPr>
          <p:cNvPr id="39" name="TextBox 38"/>
          <p:cNvSpPr txBox="1"/>
          <p:nvPr/>
        </p:nvSpPr>
        <p:spPr>
          <a:xfrm>
            <a:off x="6299200" y="351770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0" name="TextBox 39"/>
          <p:cNvSpPr txBox="1"/>
          <p:nvPr/>
        </p:nvSpPr>
        <p:spPr>
          <a:xfrm>
            <a:off x="6483747" y="3517702"/>
            <a:ext cx="3841552"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Kan niet toestemmen of de instructies niet volgen</a:t>
            </a:r>
          </a:p>
        </p:txBody>
      </p:sp>
      <p:sp>
        <p:nvSpPr>
          <p:cNvPr id="41" name="TextBox 40"/>
          <p:cNvSpPr txBox="1"/>
          <p:nvPr/>
        </p:nvSpPr>
        <p:spPr>
          <a:xfrm>
            <a:off x="6299200" y="380851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2" name="TextBox 41"/>
          <p:cNvSpPr txBox="1"/>
          <p:nvPr/>
        </p:nvSpPr>
        <p:spPr>
          <a:xfrm>
            <a:off x="6483747" y="3808512"/>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Enkel-voetorthese of ander hulpmiddel dat de sensoren belemmert</a:t>
            </a:r>
          </a:p>
        </p:txBody>
      </p:sp>
      <p:sp>
        <p:nvSpPr>
          <p:cNvPr id="43" name="TextBox 42"/>
          <p:cNvSpPr txBox="1"/>
          <p:nvPr/>
        </p:nvSpPr>
        <p:spPr>
          <a:xfrm>
            <a:off x="6299200" y="431393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4" name="TextBox 43"/>
          <p:cNvSpPr txBox="1"/>
          <p:nvPr/>
        </p:nvSpPr>
        <p:spPr>
          <a:xfrm>
            <a:off x="6483747" y="4313932"/>
            <a:ext cx="3132237"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Weigert het schoeisel of de draagsensor</a:t>
            </a:r>
          </a:p>
        </p:txBody>
      </p:sp>
      <p:pic>
        <p:nvPicPr>
          <p:cNvPr id="45" name="Picture 4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6" name="TextBox 45"/>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47" name="TextBox 46"/>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§4.1 · IWGDF 2023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Bij een nieuwe wonde</a:t>
            </a:r>
          </a:p>
        </p:txBody>
      </p:sp>
      <p:sp>
        <p:nvSpPr>
          <p:cNvPr id="4" name="Rectangle 3"/>
          <p:cNvSpPr/>
          <p:nvPr/>
        </p:nvSpPr>
        <p:spPr>
          <a:xfrm>
            <a:off x="812800" y="1493441"/>
            <a:ext cx="33020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a:spLocks/>
          </p:cNvSpPr>
          <p:nvPr/>
        </p:nvSpPr>
        <p:spPr>
          <a:xfrm>
            <a:off x="812800" y="1633141"/>
            <a:ext cx="3352800" cy="198120"/>
          </a:xfrm>
          <a:prstGeom prst="rect">
            <a:avLst/>
          </a:prstGeom>
          <a:noFill/>
        </p:spPr>
        <p:txBody>
          <a:bodyPr wrap="none" lIns="0" tIns="0" rIns="0" bIns="0" anchor="t">
            <a:noAutofit/>
          </a:bodyPr>
          <a:lstStyle/>
          <a:p>
            <a:pPr algn="l"/>
            <a:r>
              <a:rPr lang="nl-BE" sz="1200" b="1" i="0">
                <a:solidFill>
                  <a:srgbClr val="0B6E8F"/>
                </a:solidFill>
                <a:latin typeface="DM Sans"/>
              </a:rPr>
              <a:t>Wat telt</a:t>
            </a:r>
          </a:p>
        </p:txBody>
      </p:sp>
      <p:sp>
        <p:nvSpPr>
          <p:cNvPr id="6" name="TextBox 5"/>
          <p:cNvSpPr txBox="1"/>
          <p:nvPr/>
        </p:nvSpPr>
        <p:spPr>
          <a:xfrm>
            <a:off x="812800" y="1931591"/>
            <a:ext cx="3368040" cy="584200"/>
          </a:xfrm>
          <a:prstGeom prst="rect">
            <a:avLst/>
          </a:prstGeom>
          <a:noFill/>
        </p:spPr>
        <p:txBody>
          <a:bodyPr wrap="square" lIns="0" tIns="0" rIns="0" bIns="0" anchor="t">
            <a:noAutofit/>
          </a:bodyPr>
          <a:lstStyle/>
          <a:p>
            <a:pPr algn="l">
              <a:lnSpc>
                <a:spcPts val="2300"/>
              </a:lnSpc>
            </a:pPr>
            <a:r>
              <a:rPr lang="nl-NL" sz="2000" b="0" i="0">
                <a:solidFill>
                  <a:srgbClr val="0A2540"/>
                </a:solidFill>
                <a:latin typeface="DM Serif Display"/>
              </a:rPr>
              <a:t>Een nieuw ulcus, op dezelfde of een andere plek</a:t>
            </a:r>
          </a:p>
        </p:txBody>
      </p:sp>
      <p:sp>
        <p:nvSpPr>
          <p:cNvPr id="7" name="Rectangle 6"/>
          <p:cNvSpPr/>
          <p:nvPr/>
        </p:nvSpPr>
        <p:spPr>
          <a:xfrm>
            <a:off x="812800" y="261739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p:nvPr/>
        </p:nvSpPr>
        <p:spPr>
          <a:xfrm>
            <a:off x="812800" y="2725341"/>
            <a:ext cx="336804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Beide voeten, plantair én dorsaal, op elke visite gescreend</a:t>
            </a:r>
          </a:p>
        </p:txBody>
      </p:sp>
      <p:sp>
        <p:nvSpPr>
          <p:cNvPr id="9" name="Rectangle 8"/>
          <p:cNvSpPr/>
          <p:nvPr/>
        </p:nvSpPr>
        <p:spPr>
          <a:xfrm>
            <a:off x="812800" y="3272631"/>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812800" y="3380581"/>
            <a:ext cx="3368040" cy="445691"/>
          </a:xfrm>
          <a:prstGeom prst="rect">
            <a:avLst/>
          </a:prstGeom>
          <a:noFill/>
        </p:spPr>
        <p:txBody>
          <a:bodyPr wrap="square" lIns="0" tIns="0" rIns="0" bIns="0" anchor="t">
            <a:noAutofit/>
          </a:bodyPr>
          <a:lstStyle/>
          <a:p>
            <a:pPr algn="l">
              <a:lnSpc>
                <a:spcPts val="1755"/>
              </a:lnSpc>
            </a:pPr>
            <a:r>
              <a:rPr lang="nl-NL" sz="1300" b="0" i="0">
                <a:solidFill>
                  <a:srgbClr val="3A4F63"/>
                </a:solidFill>
                <a:latin typeface="DM Sans"/>
              </a:rPr>
              <a:t>Vastgesteld door het team, met foto's, op dezelfde manier in beide armen</a:t>
            </a:r>
          </a:p>
        </p:txBody>
      </p:sp>
      <p:sp>
        <p:nvSpPr>
          <p:cNvPr id="11" name="TextBox 10"/>
          <p:cNvSpPr txBox="1">
            <a:spLocks/>
          </p:cNvSpPr>
          <p:nvPr/>
        </p:nvSpPr>
        <p:spPr>
          <a:xfrm>
            <a:off x="4470400" y="1493441"/>
            <a:ext cx="6959600" cy="198120"/>
          </a:xfrm>
          <a:prstGeom prst="rect">
            <a:avLst/>
          </a:prstGeom>
          <a:noFill/>
        </p:spPr>
        <p:txBody>
          <a:bodyPr wrap="none" lIns="0" tIns="0" rIns="0" bIns="0" anchor="t">
            <a:noAutofit/>
          </a:bodyPr>
          <a:lstStyle/>
          <a:p>
            <a:pPr algn="l"/>
            <a:r>
              <a:rPr lang="nl-BE" sz="1200" b="1" i="0">
                <a:solidFill>
                  <a:srgbClr val="0B6E8F"/>
                </a:solidFill>
                <a:latin typeface="DM Sans"/>
              </a:rPr>
              <a:t>Wat u doet</a:t>
            </a:r>
          </a:p>
        </p:txBody>
      </p:sp>
      <p:sp>
        <p:nvSpPr>
          <p:cNvPr id="12" name="TextBox 11"/>
          <p:cNvSpPr txBox="1"/>
          <p:nvPr/>
        </p:nvSpPr>
        <p:spPr>
          <a:xfrm>
            <a:off x="4470400" y="1836341"/>
            <a:ext cx="330200" cy="215900"/>
          </a:xfrm>
          <a:prstGeom prst="rect">
            <a:avLst/>
          </a:prstGeom>
          <a:noFill/>
        </p:spPr>
        <p:txBody>
          <a:bodyPr wrap="none" lIns="0" tIns="0" rIns="0" bIns="0" anchor="t">
            <a:noAutofit/>
          </a:bodyPr>
          <a:lstStyle/>
          <a:p>
            <a:pPr algn="l"/>
            <a:r>
              <a:rPr sz="1300" b="0" i="0">
                <a:solidFill>
                  <a:srgbClr val="0B6E8F"/>
                </a:solidFill>
                <a:latin typeface="DM Sans"/>
              </a:rPr>
              <a:t>01</a:t>
            </a:r>
          </a:p>
        </p:txBody>
      </p:sp>
      <p:sp>
        <p:nvSpPr>
          <p:cNvPr id="13" name="TextBox 12"/>
          <p:cNvSpPr txBox="1">
            <a:spLocks/>
          </p:cNvSpPr>
          <p:nvPr/>
        </p:nvSpPr>
        <p:spPr>
          <a:xfrm>
            <a:off x="4902200" y="1829991"/>
            <a:ext cx="46609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De investigator meteen verwittigen</a:t>
            </a:r>
          </a:p>
        </p:txBody>
      </p:sp>
      <p:sp>
        <p:nvSpPr>
          <p:cNvPr id="14" name="TextBox 13"/>
          <p:cNvSpPr txBox="1"/>
          <p:nvPr/>
        </p:nvSpPr>
        <p:spPr>
          <a:xfrm>
            <a:off x="9613900" y="1849041"/>
            <a:ext cx="1765300" cy="198120"/>
          </a:xfrm>
          <a:prstGeom prst="rect">
            <a:avLst/>
          </a:prstGeom>
          <a:noFill/>
        </p:spPr>
        <p:txBody>
          <a:bodyPr wrap="none" lIns="0" tIns="0" rIns="0" bIns="0" anchor="t">
            <a:noAutofit/>
          </a:bodyPr>
          <a:lstStyle/>
          <a:p>
            <a:pPr algn="r"/>
            <a:r>
              <a:rPr lang="nl-BE" sz="1200" b="0" i="0">
                <a:solidFill>
                  <a:srgbClr val="A34A00"/>
                </a:solidFill>
                <a:latin typeface="DM Sans"/>
              </a:rPr>
              <a:t>onmiddellijk</a:t>
            </a:r>
          </a:p>
        </p:txBody>
      </p:sp>
      <p:sp>
        <p:nvSpPr>
          <p:cNvPr id="15" name="Rectangle 14"/>
          <p:cNvSpPr/>
          <p:nvPr/>
        </p:nvSpPr>
        <p:spPr>
          <a:xfrm>
            <a:off x="4470400" y="2149971"/>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6" name="TextBox 15"/>
          <p:cNvSpPr txBox="1"/>
          <p:nvPr/>
        </p:nvSpPr>
        <p:spPr>
          <a:xfrm>
            <a:off x="4470400" y="2251571"/>
            <a:ext cx="330200" cy="215900"/>
          </a:xfrm>
          <a:prstGeom prst="rect">
            <a:avLst/>
          </a:prstGeom>
          <a:noFill/>
        </p:spPr>
        <p:txBody>
          <a:bodyPr wrap="none" lIns="0" tIns="0" rIns="0" bIns="0" anchor="t">
            <a:noAutofit/>
          </a:bodyPr>
          <a:lstStyle/>
          <a:p>
            <a:pPr algn="l"/>
            <a:r>
              <a:rPr sz="1300" b="0" i="0">
                <a:solidFill>
                  <a:srgbClr val="0B6E8F"/>
                </a:solidFill>
                <a:latin typeface="DM Sans"/>
              </a:rPr>
              <a:t>02</a:t>
            </a:r>
          </a:p>
        </p:txBody>
      </p:sp>
      <p:sp>
        <p:nvSpPr>
          <p:cNvPr id="17" name="TextBox 16"/>
          <p:cNvSpPr txBox="1"/>
          <p:nvPr/>
        </p:nvSpPr>
        <p:spPr>
          <a:xfrm>
            <a:off x="4902200" y="2245221"/>
            <a:ext cx="4660900" cy="231140"/>
          </a:xfrm>
          <a:prstGeom prst="rect">
            <a:avLst/>
          </a:prstGeom>
          <a:noFill/>
        </p:spPr>
        <p:txBody>
          <a:bodyPr wrap="none" lIns="0" tIns="0" rIns="0" bIns="0" anchor="t">
            <a:noAutofit/>
          </a:bodyPr>
          <a:lstStyle/>
          <a:p>
            <a:pPr algn="l">
              <a:lnSpc>
                <a:spcPts val="1820"/>
              </a:lnSpc>
            </a:pPr>
            <a:r>
              <a:rPr lang="nl-NL" sz="1400" b="0" i="0">
                <a:solidFill>
                  <a:srgbClr val="0A2540"/>
                </a:solidFill>
                <a:latin typeface="DM Sans"/>
              </a:rPr>
              <a:t>Foto's, klasseren met PEDIS en WIfI, verzorgen</a:t>
            </a:r>
          </a:p>
        </p:txBody>
      </p:sp>
      <p:sp>
        <p:nvSpPr>
          <p:cNvPr id="18" name="TextBox 17"/>
          <p:cNvSpPr txBox="1"/>
          <p:nvPr/>
        </p:nvSpPr>
        <p:spPr>
          <a:xfrm>
            <a:off x="9613900" y="2264271"/>
            <a:ext cx="1765300" cy="198120"/>
          </a:xfrm>
          <a:prstGeom prst="rect">
            <a:avLst/>
          </a:prstGeom>
          <a:noFill/>
        </p:spPr>
        <p:txBody>
          <a:bodyPr wrap="none" lIns="0" tIns="0" rIns="0" bIns="0" anchor="t">
            <a:noAutofit/>
          </a:bodyPr>
          <a:lstStyle/>
          <a:p>
            <a:pPr algn="r"/>
            <a:r>
              <a:rPr sz="1200" b="0" i="0">
                <a:solidFill>
                  <a:srgbClr val="A34A00"/>
                </a:solidFill>
                <a:latin typeface="DM Sans"/>
              </a:rPr>
              <a:t>eCRF 36 · 38</a:t>
            </a:r>
          </a:p>
        </p:txBody>
      </p:sp>
      <p:sp>
        <p:nvSpPr>
          <p:cNvPr id="19" name="Rectangle 18"/>
          <p:cNvSpPr/>
          <p:nvPr/>
        </p:nvSpPr>
        <p:spPr>
          <a:xfrm>
            <a:off x="4470400" y="2565202"/>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a:spLocks/>
          </p:cNvSpPr>
          <p:nvPr/>
        </p:nvSpPr>
        <p:spPr>
          <a:xfrm>
            <a:off x="4470400" y="2666802"/>
            <a:ext cx="330200" cy="215900"/>
          </a:xfrm>
          <a:prstGeom prst="rect">
            <a:avLst/>
          </a:prstGeom>
          <a:noFill/>
        </p:spPr>
        <p:txBody>
          <a:bodyPr wrap="none" lIns="0" tIns="0" rIns="0" bIns="0" anchor="t">
            <a:noAutofit/>
          </a:bodyPr>
          <a:lstStyle/>
          <a:p>
            <a:pPr algn="l"/>
            <a:r>
              <a:rPr lang="nl-BE" sz="1300" b="0" i="0">
                <a:solidFill>
                  <a:srgbClr val="0B6E8F"/>
                </a:solidFill>
                <a:latin typeface="DM Sans"/>
              </a:rPr>
              <a:t>03</a:t>
            </a:r>
          </a:p>
        </p:txBody>
      </p:sp>
      <p:sp>
        <p:nvSpPr>
          <p:cNvPr id="21" name="TextBox 20"/>
          <p:cNvSpPr txBox="1"/>
          <p:nvPr/>
        </p:nvSpPr>
        <p:spPr>
          <a:xfrm>
            <a:off x="4902200" y="2660452"/>
            <a:ext cx="46609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Foto's geanonimiseerd opladen.</a:t>
            </a:r>
          </a:p>
        </p:txBody>
      </p:sp>
      <p:sp>
        <p:nvSpPr>
          <p:cNvPr id="22" name="TextBox 21"/>
          <p:cNvSpPr txBox="1"/>
          <p:nvPr/>
        </p:nvSpPr>
        <p:spPr>
          <a:xfrm>
            <a:off x="9613900" y="2679502"/>
            <a:ext cx="1765300" cy="198120"/>
          </a:xfrm>
          <a:prstGeom prst="rect">
            <a:avLst/>
          </a:prstGeom>
          <a:noFill/>
        </p:spPr>
        <p:txBody>
          <a:bodyPr wrap="none" lIns="0" tIns="0" rIns="0" bIns="0" anchor="t">
            <a:noAutofit/>
          </a:bodyPr>
          <a:lstStyle/>
          <a:p>
            <a:pPr algn="r"/>
            <a:r>
              <a:rPr lang="nl-BE" sz="1200" b="0" i="0">
                <a:solidFill>
                  <a:srgbClr val="A34A00"/>
                </a:solidFill>
                <a:latin typeface="DM Sans"/>
              </a:rPr>
              <a:t>ManGO</a:t>
            </a:r>
          </a:p>
        </p:txBody>
      </p:sp>
      <p:sp>
        <p:nvSpPr>
          <p:cNvPr id="23" name="Rectangle 22"/>
          <p:cNvSpPr/>
          <p:nvPr/>
        </p:nvSpPr>
        <p:spPr>
          <a:xfrm>
            <a:off x="4470400" y="2980432"/>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a:spLocks/>
          </p:cNvSpPr>
          <p:nvPr/>
        </p:nvSpPr>
        <p:spPr>
          <a:xfrm>
            <a:off x="4470400" y="3082032"/>
            <a:ext cx="330200" cy="215900"/>
          </a:xfrm>
          <a:prstGeom prst="rect">
            <a:avLst/>
          </a:prstGeom>
          <a:noFill/>
        </p:spPr>
        <p:txBody>
          <a:bodyPr wrap="none" lIns="0" tIns="0" rIns="0" bIns="0" anchor="t">
            <a:noAutofit/>
          </a:bodyPr>
          <a:lstStyle/>
          <a:p>
            <a:pPr algn="l"/>
            <a:r>
              <a:rPr lang="nl-BE" sz="1300" b="0" i="0">
                <a:solidFill>
                  <a:srgbClr val="0B6E8F"/>
                </a:solidFill>
                <a:latin typeface="DM Sans"/>
              </a:rPr>
              <a:t>04</a:t>
            </a:r>
          </a:p>
        </p:txBody>
      </p:sp>
      <p:sp>
        <p:nvSpPr>
          <p:cNvPr id="25" name="TextBox 24"/>
          <p:cNvSpPr txBox="1"/>
          <p:nvPr/>
        </p:nvSpPr>
        <p:spPr>
          <a:xfrm>
            <a:off x="4902200" y="3075682"/>
            <a:ext cx="4702302"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Bij elk vervolgcontact de genezing noteren, tot genezing, amputatie of overlijden</a:t>
            </a:r>
          </a:p>
        </p:txBody>
      </p:sp>
      <p:sp>
        <p:nvSpPr>
          <p:cNvPr id="26" name="TextBox 25"/>
          <p:cNvSpPr txBox="1"/>
          <p:nvPr/>
        </p:nvSpPr>
        <p:spPr>
          <a:xfrm>
            <a:off x="9613900" y="3094732"/>
            <a:ext cx="1765300" cy="198120"/>
          </a:xfrm>
          <a:prstGeom prst="rect">
            <a:avLst/>
          </a:prstGeom>
          <a:noFill/>
        </p:spPr>
        <p:txBody>
          <a:bodyPr wrap="none" lIns="0" tIns="0" rIns="0" bIns="0" anchor="t">
            <a:noAutofit/>
          </a:bodyPr>
          <a:lstStyle/>
          <a:p>
            <a:pPr algn="r"/>
            <a:r>
              <a:rPr lang="nl-BE" sz="1200" b="0" i="0">
                <a:solidFill>
                  <a:srgbClr val="A34A00"/>
                </a:solidFill>
                <a:latin typeface="DM Sans"/>
              </a:rPr>
              <a:t>eCRF 47</a:t>
            </a:r>
          </a:p>
        </p:txBody>
      </p:sp>
      <p:sp>
        <p:nvSpPr>
          <p:cNvPr id="27" name="Rectangle 26"/>
          <p:cNvSpPr/>
          <p:nvPr/>
        </p:nvSpPr>
        <p:spPr>
          <a:xfrm>
            <a:off x="4470400" y="3626743"/>
            <a:ext cx="6908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a:spLocks/>
          </p:cNvSpPr>
          <p:nvPr/>
        </p:nvSpPr>
        <p:spPr>
          <a:xfrm>
            <a:off x="4470400" y="3728343"/>
            <a:ext cx="330200" cy="215900"/>
          </a:xfrm>
          <a:prstGeom prst="rect">
            <a:avLst/>
          </a:prstGeom>
          <a:noFill/>
        </p:spPr>
        <p:txBody>
          <a:bodyPr wrap="none" lIns="0" tIns="0" rIns="0" bIns="0" anchor="t">
            <a:noAutofit/>
          </a:bodyPr>
          <a:lstStyle/>
          <a:p>
            <a:pPr algn="l"/>
            <a:r>
              <a:rPr lang="nl-BE" sz="1300" b="0" i="0">
                <a:solidFill>
                  <a:srgbClr val="0B6E8F"/>
                </a:solidFill>
                <a:latin typeface="DM Sans"/>
              </a:rPr>
              <a:t>05</a:t>
            </a:r>
          </a:p>
        </p:txBody>
      </p:sp>
      <p:sp>
        <p:nvSpPr>
          <p:cNvPr id="29" name="TextBox 28"/>
          <p:cNvSpPr txBox="1"/>
          <p:nvPr/>
        </p:nvSpPr>
        <p:spPr>
          <a:xfrm>
            <a:off x="4902200" y="3721993"/>
            <a:ext cx="4702302" cy="462161"/>
          </a:xfrm>
          <a:prstGeom prst="rect">
            <a:avLst/>
          </a:prstGeom>
          <a:noFill/>
        </p:spPr>
        <p:txBody>
          <a:bodyPr wrap="square" lIns="0" tIns="0" rIns="0" bIns="0" anchor="t">
            <a:noAutofit/>
          </a:bodyPr>
          <a:lstStyle/>
          <a:p>
            <a:pPr algn="l">
              <a:lnSpc>
                <a:spcPts val="1820"/>
              </a:lnSpc>
            </a:pPr>
            <a:r>
              <a:rPr sz="1400" b="0" i="0">
                <a:solidFill>
                  <a:srgbClr val="0A2540"/>
                </a:solidFill>
                <a:latin typeface="DM Sans"/>
              </a:rPr>
              <a:t>Ernstig voorval, zoals een opname: melden aan de studieverantwoordelijke</a:t>
            </a:r>
          </a:p>
        </p:txBody>
      </p:sp>
      <p:sp>
        <p:nvSpPr>
          <p:cNvPr id="30" name="TextBox 29"/>
          <p:cNvSpPr txBox="1"/>
          <p:nvPr/>
        </p:nvSpPr>
        <p:spPr>
          <a:xfrm>
            <a:off x="9613900" y="3741043"/>
            <a:ext cx="1765300" cy="198120"/>
          </a:xfrm>
          <a:prstGeom prst="rect">
            <a:avLst/>
          </a:prstGeom>
          <a:noFill/>
        </p:spPr>
        <p:txBody>
          <a:bodyPr wrap="none" lIns="0" tIns="0" rIns="0" bIns="0" anchor="t">
            <a:noAutofit/>
          </a:bodyPr>
          <a:lstStyle/>
          <a:p>
            <a:pPr algn="r"/>
            <a:r>
              <a:rPr lang="nl-BE" sz="1200" b="0" i="0">
                <a:solidFill>
                  <a:srgbClr val="A34A00"/>
                </a:solidFill>
                <a:latin typeface="DM Sans"/>
              </a:rPr>
              <a:t>72 uur · eCRF 46</a:t>
            </a:r>
          </a:p>
        </p:txBody>
      </p:sp>
      <p:sp>
        <p:nvSpPr>
          <p:cNvPr id="31" name="Rectangle 30"/>
          <p:cNvSpPr>
            <a:spLocks/>
          </p:cNvSpPr>
          <p:nvPr/>
        </p:nvSpPr>
        <p:spPr>
          <a:xfrm>
            <a:off x="812800" y="4450854"/>
            <a:ext cx="105664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2" name="TextBox 31"/>
          <p:cNvSpPr txBox="1"/>
          <p:nvPr/>
        </p:nvSpPr>
        <p:spPr>
          <a:xfrm>
            <a:off x="812800" y="4590554"/>
            <a:ext cx="10617200" cy="257175"/>
          </a:xfrm>
          <a:prstGeom prst="rect">
            <a:avLst/>
          </a:prstGeom>
          <a:noFill/>
        </p:spPr>
        <p:txBody>
          <a:bodyPr wrap="none" lIns="0" tIns="0" rIns="0" bIns="0" anchor="t">
            <a:noAutofit/>
          </a:bodyPr>
          <a:lstStyle/>
          <a:p>
            <a:pPr algn="l">
              <a:lnSpc>
                <a:spcPts val="2025"/>
              </a:lnSpc>
            </a:pPr>
            <a:r>
              <a:rPr sz="1500" b="1" i="0">
                <a:solidFill>
                  <a:srgbClr val="0A2540"/>
                </a:solidFill>
                <a:latin typeface="DM Sans"/>
              </a:rPr>
              <a:t>Het eindpunt is geen einde:</a:t>
            </a:r>
            <a:r>
              <a:rPr sz="1500" b="0" i="0">
                <a:solidFill>
                  <a:srgbClr val="0A2540"/>
                </a:solidFill>
                <a:latin typeface="DM Sans"/>
              </a:rPr>
              <a:t> de deelnemer blijft tot maand 18 in opvolging.</a:t>
            </a:r>
          </a:p>
        </p:txBody>
      </p:sp>
      <p:pic>
        <p:nvPicPr>
          <p:cNvPr id="33" name="Picture 3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4" name="TextBox 3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Werkpakketten</a:t>
            </a:r>
          </a:p>
        </p:txBody>
      </p:sp>
      <p:sp>
        <p:nvSpPr>
          <p:cNvPr id="35" name="TextBox 3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(ongepland bezoek), §6 · eCRF 36, 38, 46, 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a:spLocks/>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a:spLocks/>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lang="nl-NL"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909050" y="1860550"/>
            <a:ext cx="2451100" cy="1378744"/>
          </a:xfrm>
          <a:prstGeom prst="rect">
            <a:avLst/>
          </a:prstGeom>
        </p:spPr>
      </p:pic>
      <p:sp>
        <p:nvSpPr>
          <p:cNvPr id="17" name="TextBox 16"/>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4 Aandachtspunten</a:t>
            </a:r>
          </a:p>
        </p:txBody>
      </p:sp>
      <p:pic>
        <p:nvPicPr>
          <p:cNvPr id="18" name="Picture 17" descr="0a62dff855207c43a1c6690d0e4c697a.png"/>
          <p:cNvPicPr>
            <a:picLocks noChangeAspect="1"/>
          </p:cNvPicPr>
          <p:nvPr/>
        </p:nvPicPr>
        <p:blipFill>
          <a:blip r:embed="rId8"/>
          <a:stretch>
            <a:fillRect/>
          </a:stretch>
        </p:blipFill>
        <p:spPr>
          <a:xfrm>
            <a:off x="2336800" y="3937000"/>
            <a:ext cx="2133600" cy="1200150"/>
          </a:xfrm>
          <a:prstGeom prst="rect">
            <a:avLst/>
          </a:prstGeom>
        </p:spPr>
      </p:pic>
      <p:pic>
        <p:nvPicPr>
          <p:cNvPr id="19" name="Picture 18" descr="993f9ef2261edfc6639be1e2fe47b272.png"/>
          <p:cNvPicPr>
            <a:picLocks noChangeAspect="1"/>
          </p:cNvPicPr>
          <p:nvPr/>
        </p:nvPicPr>
        <p:blipFill>
          <a:blip r:embed="rId9"/>
          <a:stretch>
            <a:fillRect/>
          </a:stretch>
        </p:blipFill>
        <p:spPr>
          <a:xfrm>
            <a:off x="2247900" y="4025900"/>
            <a:ext cx="2311400" cy="1301750"/>
          </a:xfrm>
          <a:prstGeom prst="rect">
            <a:avLst/>
          </a:prstGeom>
        </p:spPr>
      </p:pic>
      <p:sp>
        <p:nvSpPr>
          <p:cNvPr id="20" name="Rounded Rectangle 19"/>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c828e07bbef239086018a2f6a17a466c.png"/>
          <p:cNvPicPr>
            <a:picLocks noChangeAspect="1"/>
          </p:cNvPicPr>
          <p:nvPr/>
        </p:nvPicPr>
        <p:blipFill>
          <a:blip r:embed="rId10"/>
          <a:stretch>
            <a:fillRect/>
          </a:stretch>
        </p:blipFill>
        <p:spPr>
          <a:xfrm>
            <a:off x="2165350" y="4121150"/>
            <a:ext cx="2476500" cy="1393031"/>
          </a:xfrm>
          <a:prstGeom prst="rect">
            <a:avLst/>
          </a:prstGeom>
        </p:spPr>
      </p:pic>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5 Mijlpalen en planning</a:t>
            </a:r>
          </a:p>
        </p:txBody>
      </p:sp>
      <p:pic>
        <p:nvPicPr>
          <p:cNvPr id="23" name="Picture 22" descr="dad1d5849a0f54ecab7e2a87be32dc30.png"/>
          <p:cNvPicPr>
            <a:picLocks noChangeAspect="1"/>
          </p:cNvPicPr>
          <p:nvPr/>
        </p:nvPicPr>
        <p:blipFill>
          <a:blip r:embed="rId11"/>
          <a:stretch>
            <a:fillRect/>
          </a:stretch>
        </p:blipFill>
        <p:spPr>
          <a:xfrm>
            <a:off x="4940300" y="4025900"/>
            <a:ext cx="2311400" cy="1301750"/>
          </a:xfrm>
          <a:prstGeom prst="rect">
            <a:avLst/>
          </a:prstGeom>
        </p:spPr>
      </p:pic>
      <p:sp>
        <p:nvSpPr>
          <p:cNvPr id="24" name="Rounded Rectangle 23"/>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a218f23a9d1aeae7790db2aa9d8f48a7.png"/>
          <p:cNvPicPr>
            <a:picLocks noChangeAspect="1"/>
          </p:cNvPicPr>
          <p:nvPr/>
        </p:nvPicPr>
        <p:blipFill>
          <a:blip r:embed="rId12"/>
          <a:stretch>
            <a:fillRect/>
          </a:stretch>
        </p:blipFill>
        <p:spPr>
          <a:xfrm>
            <a:off x="4857750" y="4121150"/>
            <a:ext cx="2476500" cy="1393031"/>
          </a:xfrm>
          <a:prstGeom prst="rect">
            <a:avLst/>
          </a:prstGeom>
        </p:spPr>
      </p:pic>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7" name="Picture 26" descr="e49a2c4874452277a94494e99280aaa0.png"/>
          <p:cNvPicPr>
            <a:picLocks noChangeAspect="1"/>
          </p:cNvPicPr>
          <p:nvPr/>
        </p:nvPicPr>
        <p:blipFill>
          <a:blip r:embed="rId13"/>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4"/>
          <a:stretch>
            <a:fillRect/>
          </a:stretch>
        </p:blipFill>
        <p:spPr>
          <a:xfrm>
            <a:off x="7550150" y="4121150"/>
            <a:ext cx="2476500" cy="1393031"/>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5"/>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sz="18000" b="0" i="0">
                <a:solidFill>
                  <a:srgbClr val="FF9A3D"/>
                </a:solidFill>
                <a:latin typeface="DM Serif Display"/>
              </a:rPr>
              <a:t>4</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lang="nl-BE" sz="1300" b="1" i="0">
                <a:solidFill>
                  <a:srgbClr val="52BDEC"/>
                </a:solidFill>
                <a:latin typeface="DM Sans"/>
              </a:rPr>
              <a:t>Deel 4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lang="nl-BE" sz="4400" b="0" i="0" spc="-50">
                <a:solidFill>
                  <a:srgbClr val="F2F8FC"/>
                </a:solidFill>
                <a:latin typeface="DM Serif Display"/>
              </a:rPr>
              <a:t>Aandachtspunten</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lang="nl-NL" sz="2200" b="0" i="1">
                <a:solidFill>
                  <a:srgbClr val="52BDEC"/>
                </a:solidFill>
                <a:latin typeface="DM Serif Display"/>
              </a:rPr>
              <a:t>Wat moet er nog gebeuren?</a:t>
            </a:r>
          </a:p>
        </p:txBody>
      </p:sp>
      <p:sp>
        <p:nvSpPr>
          <p:cNvPr id="7" name="Rectangle 6"/>
          <p:cNvSpPr>
            <a:spLocks/>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vijf openstaande punten, in de volgorde waarin ze klaar moeten zijn</a:t>
            </a:r>
          </a:p>
        </p:txBody>
      </p:sp>
      <p:pic>
        <p:nvPicPr>
          <p:cNvPr id="9" name="Picture 8"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0" name="TextBox 9"/>
          <p:cNvSpPr txBox="1">
            <a:spLocks/>
          </p:cNvSpPr>
          <p:nvPr/>
        </p:nvSpPr>
        <p:spPr>
          <a:xfrm>
            <a:off x="1066800" y="6254750"/>
            <a:ext cx="5765800" cy="198120"/>
          </a:xfrm>
          <a:prstGeom prst="rect">
            <a:avLst/>
          </a:prstGeom>
          <a:noFill/>
        </p:spPr>
        <p:txBody>
          <a:bodyPr wrap="none" lIns="0" tIns="0" rIns="0" bIns="0" anchor="t">
            <a:noAutofit/>
          </a:bodyPr>
          <a:lstStyle/>
          <a:p>
            <a:pPr algn="l"/>
            <a:r>
              <a:rPr lang="nl-BE" sz="1200" b="0" i="0">
                <a:solidFill>
                  <a:srgbClr val="6F8FAA"/>
                </a:solidFill>
                <a:latin typeface="DM Sans"/>
              </a:rPr>
              <a:t>PARADISE · Aandachtspunten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 name="Picture 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 name="TextBox 3"/>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Aandachtspunten</a:t>
            </a:r>
          </a:p>
        </p:txBody>
      </p:sp>
      <p:sp>
        <p:nvSpPr>
          <p:cNvPr id="5" name="TextBox 4"/>
          <p:cNvSpPr txBox="1">
            <a:spLocks/>
          </p:cNvSpPr>
          <p:nvPr/>
        </p:nvSpPr>
        <p:spPr>
          <a:xfrm>
            <a:off x="4978400" y="6254750"/>
            <a:ext cx="6400800" cy="198120"/>
          </a:xfrm>
          <a:prstGeom prst="rect">
            <a:avLst/>
          </a:prstGeom>
          <a:noFill/>
        </p:spPr>
        <p:txBody>
          <a:bodyPr wrap="none" lIns="0" tIns="0" rIns="0" bIns="0" anchor="t">
            <a:noAutofit/>
          </a:bodyPr>
          <a:lstStyle/>
          <a:p>
            <a:pPr algn="r"/>
            <a:r>
              <a:rPr lang="nl-NL" sz="1200" b="0" i="0">
                <a:solidFill>
                  <a:srgbClr val="5A6E80"/>
                </a:solidFill>
                <a:latin typeface="DM Sans"/>
              </a:rPr>
              <a:t>Bron: opleidingsplanning §4, §7 · protocol · simulatie</a:t>
            </a:r>
          </a:p>
        </p:txBody>
      </p:sp>
      <p:sp>
        <p:nvSpPr>
          <p:cNvPr id="6" name="TextBox 5"/>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Wat nog moet gebeuren</a:t>
            </a:r>
          </a:p>
        </p:txBody>
      </p:sp>
      <p:sp>
        <p:nvSpPr>
          <p:cNvPr id="7" name="TextBox 6"/>
          <p:cNvSpPr txBox="1">
            <a:spLocks/>
          </p:cNvSpPr>
          <p:nvPr/>
        </p:nvSpPr>
        <p:spPr>
          <a:xfrm>
            <a:off x="812800" y="1733550"/>
            <a:ext cx="660400" cy="215900"/>
          </a:xfrm>
          <a:prstGeom prst="rect">
            <a:avLst/>
          </a:prstGeom>
          <a:noFill/>
        </p:spPr>
        <p:txBody>
          <a:bodyPr wrap="none" lIns="0" tIns="0" rIns="0" bIns="0" anchor="t">
            <a:noAutofit/>
          </a:bodyPr>
          <a:lstStyle/>
          <a:p>
            <a:pPr algn="l"/>
            <a:r>
              <a:rPr lang="nl-BE" sz="1300" b="0" i="0">
                <a:solidFill>
                  <a:srgbClr val="9FB3C6"/>
                </a:solidFill>
                <a:latin typeface="DM Sans"/>
              </a:rPr>
              <a:t>01–04</a:t>
            </a:r>
          </a:p>
        </p:txBody>
      </p:sp>
      <p:sp>
        <p:nvSpPr>
          <p:cNvPr id="8" name="TextBox 7"/>
          <p:cNvSpPr txBox="1"/>
          <p:nvPr/>
        </p:nvSpPr>
        <p:spPr>
          <a:xfrm>
            <a:off x="1625600" y="1695450"/>
            <a:ext cx="6680200" cy="269875"/>
          </a:xfrm>
          <a:prstGeom prst="rect">
            <a:avLst/>
          </a:prstGeom>
          <a:noFill/>
        </p:spPr>
        <p:txBody>
          <a:bodyPr wrap="none" lIns="0" tIns="0" rIns="0" bIns="0" anchor="t">
            <a:noAutofit/>
          </a:bodyPr>
          <a:lstStyle/>
          <a:p>
            <a:pPr algn="l">
              <a:lnSpc>
                <a:spcPts val="2125"/>
              </a:lnSpc>
            </a:pPr>
            <a:r>
              <a:rPr sz="1700" b="0" i="0">
                <a:solidFill>
                  <a:srgbClr val="5A6E80"/>
                </a:solidFill>
                <a:latin typeface="DM Sans"/>
              </a:rPr>
              <a:t>Goedkeuring, toestellen, opleiding, droogloop en piloot</a:t>
            </a:r>
          </a:p>
        </p:txBody>
      </p:sp>
      <p:sp>
        <p:nvSpPr>
          <p:cNvPr id="9" name="TextBox 8"/>
          <p:cNvSpPr txBox="1">
            <a:spLocks/>
          </p:cNvSpPr>
          <p:nvPr/>
        </p:nvSpPr>
        <p:spPr>
          <a:xfrm>
            <a:off x="8407400" y="1733550"/>
            <a:ext cx="2971800" cy="215900"/>
          </a:xfrm>
          <a:prstGeom prst="rect">
            <a:avLst/>
          </a:prstGeom>
          <a:noFill/>
        </p:spPr>
        <p:txBody>
          <a:bodyPr wrap="none" lIns="0" tIns="0" rIns="0" bIns="0" anchor="t">
            <a:noAutofit/>
          </a:bodyPr>
          <a:lstStyle/>
          <a:p>
            <a:pPr algn="r"/>
            <a:r>
              <a:rPr lang="nl-NL" sz="1300" b="0" i="0">
                <a:solidFill>
                  <a:srgbClr val="5A6E80"/>
                </a:solidFill>
                <a:latin typeface="DM Sans"/>
              </a:rPr>
              <a:t>zie deel 1 en 5</a:t>
            </a:r>
          </a:p>
        </p:txBody>
      </p:sp>
      <p:sp>
        <p:nvSpPr>
          <p:cNvPr id="10" name="Rectangle 9"/>
          <p:cNvSpPr>
            <a:spLocks/>
          </p:cNvSpPr>
          <p:nvPr/>
        </p:nvSpPr>
        <p:spPr>
          <a:xfrm>
            <a:off x="812800" y="2117725"/>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5" name="TextBox 14"/>
          <p:cNvSpPr txBox="1">
            <a:spLocks/>
          </p:cNvSpPr>
          <p:nvPr/>
        </p:nvSpPr>
        <p:spPr>
          <a:xfrm>
            <a:off x="812800" y="2314575"/>
            <a:ext cx="660400" cy="215900"/>
          </a:xfrm>
          <a:prstGeom prst="rect">
            <a:avLst/>
          </a:prstGeom>
          <a:noFill/>
        </p:spPr>
        <p:txBody>
          <a:bodyPr wrap="none" lIns="0" tIns="0" rIns="0" bIns="0" anchor="t">
            <a:noAutofit/>
          </a:bodyPr>
          <a:lstStyle/>
          <a:p>
            <a:pPr algn="l"/>
            <a:r>
              <a:rPr lang="nl-BE" sz="1300" b="0" i="0">
                <a:solidFill>
                  <a:srgbClr val="0B6E8F"/>
                </a:solidFill>
                <a:latin typeface="DM Sans"/>
              </a:rPr>
              <a:t>05</a:t>
            </a:r>
          </a:p>
        </p:txBody>
      </p:sp>
      <p:sp>
        <p:nvSpPr>
          <p:cNvPr id="16" name="TextBox 15"/>
          <p:cNvSpPr txBox="1"/>
          <p:nvPr/>
        </p:nvSpPr>
        <p:spPr>
          <a:xfrm>
            <a:off x="1625600" y="2276475"/>
            <a:ext cx="6680200" cy="269875"/>
          </a:xfrm>
          <a:prstGeom prst="rect">
            <a:avLst/>
          </a:prstGeom>
          <a:noFill/>
        </p:spPr>
        <p:txBody>
          <a:bodyPr wrap="none" lIns="0" tIns="0" rIns="0" bIns="0" anchor="t">
            <a:noAutofit/>
          </a:bodyPr>
          <a:lstStyle/>
          <a:p>
            <a:pPr algn="l">
              <a:lnSpc>
                <a:spcPts val="2125"/>
              </a:lnSpc>
            </a:pPr>
            <a:r>
              <a:rPr sz="1700" b="0" i="0">
                <a:solidFill>
                  <a:srgbClr val="0A2540"/>
                </a:solidFill>
                <a:latin typeface="DM Sans"/>
              </a:rPr>
              <a:t>Aparte toestemming voor opnames (eCRF 02)</a:t>
            </a:r>
          </a:p>
        </p:txBody>
      </p:sp>
      <p:sp>
        <p:nvSpPr>
          <p:cNvPr id="17" name="TextBox 16"/>
          <p:cNvSpPr txBox="1">
            <a:spLocks/>
          </p:cNvSpPr>
          <p:nvPr/>
        </p:nvSpPr>
        <p:spPr>
          <a:xfrm>
            <a:off x="8407400" y="2314575"/>
            <a:ext cx="2971800" cy="215900"/>
          </a:xfrm>
          <a:prstGeom prst="rect">
            <a:avLst/>
          </a:prstGeom>
          <a:noFill/>
        </p:spPr>
        <p:txBody>
          <a:bodyPr wrap="none" lIns="0" tIns="0" rIns="0" bIns="0" anchor="t">
            <a:noAutofit/>
          </a:bodyPr>
          <a:lstStyle/>
          <a:p>
            <a:pPr algn="r"/>
            <a:r>
              <a:rPr lang="nl-BE" sz="1300" b="0" i="0">
                <a:solidFill>
                  <a:srgbClr val="A34A00"/>
                </a:solidFill>
                <a:latin typeface="DM Sans"/>
              </a:rPr>
              <a:t>vóór de EC-indiening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a:spLocks/>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a:spLocks/>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lang="nl-NL"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pic>
        <p:nvPicPr>
          <p:cNvPr id="19" name="Picture 18" descr="0a62dff855207c43a1c6690d0e4c697a.png"/>
          <p:cNvPicPr>
            <a:picLocks noChangeAspect="1"/>
          </p:cNvPicPr>
          <p:nvPr/>
        </p:nvPicPr>
        <p:blipFill>
          <a:blip r:embed="rId8"/>
          <a:stretch>
            <a:fillRect/>
          </a:stretch>
        </p:blipFill>
        <p:spPr>
          <a:xfrm>
            <a:off x="2336800" y="3937000"/>
            <a:ext cx="2133600" cy="1200150"/>
          </a:xfrm>
          <a:prstGeom prst="rect">
            <a:avLst/>
          </a:prstGeom>
        </p:spPr>
      </p:pic>
      <p:pic>
        <p:nvPicPr>
          <p:cNvPr id="20" name="Picture 19" descr="993f9ef2261edfc6639be1e2fe47b272.png"/>
          <p:cNvPicPr>
            <a:picLocks noChangeAspect="1"/>
          </p:cNvPicPr>
          <p:nvPr/>
        </p:nvPicPr>
        <p:blipFill>
          <a:blip r:embed="rId9"/>
          <a:stretch>
            <a:fillRect/>
          </a:stretch>
        </p:blipFill>
        <p:spPr>
          <a:xfrm>
            <a:off x="2247900" y="4025900"/>
            <a:ext cx="2311400" cy="1301750"/>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c828e07bbef239086018a2f6a17a466c.png"/>
          <p:cNvPicPr>
            <a:picLocks noChangeAspect="1"/>
          </p:cNvPicPr>
          <p:nvPr/>
        </p:nvPicPr>
        <p:blipFill>
          <a:blip r:embed="rId10"/>
          <a:stretch>
            <a:fillRect/>
          </a:stretch>
        </p:blipFill>
        <p:spPr>
          <a:xfrm>
            <a:off x="2178050" y="4133850"/>
            <a:ext cx="2451100" cy="1378744"/>
          </a:xfrm>
          <a:prstGeom prst="rect">
            <a:avLst/>
          </a:prstGeom>
        </p:spPr>
      </p:pic>
      <p:sp>
        <p:nvSpPr>
          <p:cNvPr id="23" name="TextBox 22"/>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5 Mijlpalen en planning</a:t>
            </a:r>
          </a:p>
        </p:txBody>
      </p:sp>
      <p:pic>
        <p:nvPicPr>
          <p:cNvPr id="24" name="Picture 23" descr="dad1d5849a0f54ecab7e2a87be32dc30.png"/>
          <p:cNvPicPr>
            <a:picLocks noChangeAspect="1"/>
          </p:cNvPicPr>
          <p:nvPr/>
        </p:nvPicPr>
        <p:blipFill>
          <a:blip r:embed="rId11"/>
          <a:stretch>
            <a:fillRect/>
          </a:stretch>
        </p:blipFill>
        <p:spPr>
          <a:xfrm>
            <a:off x="4940300" y="4025900"/>
            <a:ext cx="2311400" cy="1301750"/>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a218f23a9d1aeae7790db2aa9d8f48a7.png"/>
          <p:cNvPicPr>
            <a:picLocks noChangeAspect="1"/>
          </p:cNvPicPr>
          <p:nvPr/>
        </p:nvPicPr>
        <p:blipFill>
          <a:blip r:embed="rId12"/>
          <a:stretch>
            <a:fillRect/>
          </a:stretch>
        </p:blipFill>
        <p:spPr>
          <a:xfrm>
            <a:off x="4857750" y="4121150"/>
            <a:ext cx="2476500" cy="1393031"/>
          </a:xfrm>
          <a:prstGeom prst="rect">
            <a:avLst/>
          </a:prstGeom>
        </p:spPr>
      </p:pic>
      <p:sp>
        <p:nvSpPr>
          <p:cNvPr id="27" name="TextBox 26"/>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6 Bespreking</a:t>
            </a:r>
          </a:p>
        </p:txBody>
      </p:sp>
      <p:pic>
        <p:nvPicPr>
          <p:cNvPr id="28" name="Picture 27" descr="e49a2c4874452277a94494e99280aaa0.png"/>
          <p:cNvPicPr>
            <a:picLocks noChangeAspect="1"/>
          </p:cNvPicPr>
          <p:nvPr/>
        </p:nvPicPr>
        <p:blipFill>
          <a:blip r:embed="rId13"/>
          <a:stretch>
            <a:fillRect/>
          </a:stretch>
        </p:blipFill>
        <p:spPr>
          <a:xfrm>
            <a:off x="7632700" y="4025900"/>
            <a:ext cx="2311400" cy="1301750"/>
          </a:xfrm>
          <a:prstGeom prst="rect">
            <a:avLst/>
          </a:prstGeom>
        </p:spPr>
      </p:pic>
      <p:sp>
        <p:nvSpPr>
          <p:cNvPr id="29" name="Rounded Rectangle 28"/>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0b3315c9a761b9fd4dfcb184751fa8ea.png"/>
          <p:cNvPicPr>
            <a:picLocks noChangeAspect="1"/>
          </p:cNvPicPr>
          <p:nvPr/>
        </p:nvPicPr>
        <p:blipFill>
          <a:blip r:embed="rId14"/>
          <a:stretch>
            <a:fillRect/>
          </a:stretch>
        </p:blipFill>
        <p:spPr>
          <a:xfrm>
            <a:off x="7550150" y="4121150"/>
            <a:ext cx="2476500" cy="1393031"/>
          </a:xfrm>
          <a:prstGeom prst="rect">
            <a:avLst/>
          </a:prstGeom>
        </p:spPr>
      </p:pic>
      <p:sp>
        <p:nvSpPr>
          <p:cNvPr id="31" name="TextBox 30"/>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2" name="TextBox 3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3" name="Picture 32" descr="ec5c93e6f83f209b4e97ddfdecd480c8.png"/>
          <p:cNvPicPr>
            <a:picLocks noChangeAspect="1"/>
          </p:cNvPicPr>
          <p:nvPr/>
        </p:nvPicPr>
        <p:blipFill>
          <a:blip r:embed="rId15"/>
          <a:stretch>
            <a:fillRect/>
          </a:stretch>
        </p:blipFill>
        <p:spPr>
          <a:xfrm>
            <a:off x="812967" y="6261100"/>
            <a:ext cx="171116" cy="203200"/>
          </a:xfrm>
          <a:prstGeom prst="rect">
            <a:avLst/>
          </a:prstGeom>
        </p:spPr>
      </p:pic>
      <p:sp>
        <p:nvSpPr>
          <p:cNvPr id="34" name="TextBox 33"/>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a:spLocks/>
          </p:cNvSpPr>
          <p:nvPr/>
        </p:nvSpPr>
        <p:spPr>
          <a:xfrm>
            <a:off x="812800" y="812800"/>
            <a:ext cx="1955800" cy="5029200"/>
          </a:xfrm>
          <a:prstGeom prst="rect">
            <a:avLst/>
          </a:prstGeom>
          <a:noFill/>
        </p:spPr>
        <p:txBody>
          <a:bodyPr wrap="square" lIns="0" tIns="0" rIns="0" bIns="0" anchor="t">
            <a:noAutofit/>
          </a:bodyPr>
          <a:lstStyle/>
          <a:p>
            <a:pPr algn="l">
              <a:lnSpc>
                <a:spcPts val="16200"/>
              </a:lnSpc>
            </a:pPr>
            <a:r>
              <a:rPr lang="nl-BE" sz="18000" b="0" i="0">
                <a:solidFill>
                  <a:srgbClr val="FF9A3D"/>
                </a:solidFill>
                <a:latin typeface="DM Serif Display"/>
              </a:rPr>
              <a:t>5</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lang="nl-BE" sz="1300" b="1" i="0">
                <a:solidFill>
                  <a:srgbClr val="52BDEC"/>
                </a:solidFill>
                <a:latin typeface="DM Sans"/>
              </a:rPr>
              <a:t>Deel 5 van 7</a:t>
            </a:r>
          </a:p>
        </p:txBody>
      </p:sp>
      <p:sp>
        <p:nvSpPr>
          <p:cNvPr id="5" name="TextBox 4"/>
          <p:cNvSpPr txBox="1">
            <a:spLocks/>
          </p:cNvSpPr>
          <p:nvPr/>
        </p:nvSpPr>
        <p:spPr>
          <a:xfrm>
            <a:off x="3327400" y="1206500"/>
            <a:ext cx="8102600" cy="586740"/>
          </a:xfrm>
          <a:prstGeom prst="rect">
            <a:avLst/>
          </a:prstGeom>
          <a:noFill/>
        </p:spPr>
        <p:txBody>
          <a:bodyPr wrap="none" lIns="0" tIns="0" rIns="0" bIns="0" anchor="t">
            <a:noAutofit/>
          </a:bodyPr>
          <a:lstStyle/>
          <a:p>
            <a:pPr algn="l">
              <a:lnSpc>
                <a:spcPts val="4620"/>
              </a:lnSpc>
            </a:pPr>
            <a:r>
              <a:rPr lang="nl-BE" sz="4400" b="0" i="0" spc="-50">
                <a:solidFill>
                  <a:srgbClr val="F2F8FC"/>
                </a:solidFill>
                <a:latin typeface="DM Serif Display"/>
              </a:rPr>
              <a:t>Mijlpalen en planning</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lang="nl-NL" sz="2200" b="0" i="1">
                <a:solidFill>
                  <a:srgbClr val="52BDEC"/>
                </a:solidFill>
                <a:latin typeface="DM Serif Display"/>
              </a:rPr>
              <a:t>Hoe geraken we tot de eerste patiënt?</a:t>
            </a:r>
          </a:p>
        </p:txBody>
      </p:sp>
      <p:sp>
        <p:nvSpPr>
          <p:cNvPr id="7" name="Rectangle 6"/>
          <p:cNvSpPr/>
          <p:nvPr/>
        </p:nvSpPr>
        <p:spPr>
          <a:xfrm>
            <a:off x="3327400" y="404891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p:nvPr/>
        </p:nvSpPr>
        <p:spPr>
          <a:xfrm>
            <a:off x="3327400" y="4144169"/>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van opleiding tot de laatste visite</a:t>
            </a:r>
          </a:p>
        </p:txBody>
      </p:sp>
      <p:sp>
        <p:nvSpPr>
          <p:cNvPr id="9" name="Rectangle 8"/>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de opleiding, van november tot april</a:t>
            </a:r>
          </a:p>
        </p:txBody>
      </p:sp>
      <p:sp>
        <p:nvSpPr>
          <p:cNvPr id="11" name="Rectangle 10"/>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 name="TextBox 11"/>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uw data</a:t>
            </a:r>
          </a:p>
        </p:txBody>
      </p:sp>
      <p:sp>
        <p:nvSpPr>
          <p:cNvPr id="13" name="Rectangle 12"/>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4" name="TextBox 13"/>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het tempo van de inclusie</a:t>
            </a:r>
          </a:p>
        </p:txBody>
      </p:sp>
      <p:pic>
        <p:nvPicPr>
          <p:cNvPr id="15" name="Picture 1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6" name="TextBox 15"/>
          <p:cNvSpPr txBox="1">
            <a:spLocks/>
          </p:cNvSpPr>
          <p:nvPr/>
        </p:nvSpPr>
        <p:spPr>
          <a:xfrm>
            <a:off x="1066800" y="6254750"/>
            <a:ext cx="5765800" cy="198120"/>
          </a:xfrm>
          <a:prstGeom prst="rect">
            <a:avLst/>
          </a:prstGeom>
          <a:noFill/>
        </p:spPr>
        <p:txBody>
          <a:bodyPr wrap="none" lIns="0" tIns="0" rIns="0" bIns="0" anchor="t">
            <a:noAutofit/>
          </a:bodyPr>
          <a:lstStyle/>
          <a:p>
            <a:pPr algn="l"/>
            <a:r>
              <a:rPr lang="nl-BE" sz="1200" b="0" i="0">
                <a:solidFill>
                  <a:srgbClr val="6F8FAA"/>
                </a:solidFill>
                <a:latin typeface="DM Sans"/>
              </a:rPr>
              <a:t>PARADISE · Mijlpalen en planning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NL" sz="3600" b="0" i="0" spc="-50">
                <a:solidFill>
                  <a:srgbClr val="0A2540"/>
                </a:solidFill>
                <a:latin typeface="DM Serif Display"/>
              </a:rPr>
              <a:t>Van opleiding tot de laatste visite</a:t>
            </a:r>
          </a:p>
        </p:txBody>
      </p:sp>
      <p:sp>
        <p:nvSpPr>
          <p:cNvPr id="3" name="Rectangle 2"/>
          <p:cNvSpPr/>
          <p:nvPr/>
        </p:nvSpPr>
        <p:spPr>
          <a:xfrm>
            <a:off x="167640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739900" y="2019300"/>
            <a:ext cx="812800" cy="198120"/>
          </a:xfrm>
          <a:prstGeom prst="rect">
            <a:avLst/>
          </a:prstGeom>
          <a:noFill/>
        </p:spPr>
        <p:txBody>
          <a:bodyPr wrap="none" lIns="0" tIns="0" rIns="0" bIns="0" anchor="t">
            <a:noAutofit/>
          </a:bodyPr>
          <a:lstStyle/>
          <a:p>
            <a:pPr algn="l"/>
            <a:r>
              <a:rPr lang="nl-BE" sz="1200" b="0" i="0">
                <a:solidFill>
                  <a:srgbClr val="5A6E80"/>
                </a:solidFill>
                <a:latin typeface="DM Sans"/>
              </a:rPr>
              <a:t>2027</a:t>
            </a:r>
          </a:p>
        </p:txBody>
      </p:sp>
      <p:sp>
        <p:nvSpPr>
          <p:cNvPr id="5" name="Rectangle 4"/>
          <p:cNvSpPr/>
          <p:nvPr/>
        </p:nvSpPr>
        <p:spPr>
          <a:xfrm>
            <a:off x="5099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162550" y="2019300"/>
            <a:ext cx="812800" cy="198120"/>
          </a:xfrm>
          <a:prstGeom prst="rect">
            <a:avLst/>
          </a:prstGeom>
          <a:noFill/>
        </p:spPr>
        <p:txBody>
          <a:bodyPr wrap="none" lIns="0" tIns="0" rIns="0" bIns="0" anchor="t">
            <a:noAutofit/>
          </a:bodyPr>
          <a:lstStyle/>
          <a:p>
            <a:pPr algn="l"/>
            <a:r>
              <a:rPr lang="nl-BE" sz="1200" b="0" i="0">
                <a:solidFill>
                  <a:srgbClr val="5A6E80"/>
                </a:solidFill>
                <a:latin typeface="DM Sans"/>
              </a:rPr>
              <a:t>2028</a:t>
            </a:r>
          </a:p>
        </p:txBody>
      </p:sp>
      <p:sp>
        <p:nvSpPr>
          <p:cNvPr id="7" name="Rectangle 6"/>
          <p:cNvSpPr/>
          <p:nvPr/>
        </p:nvSpPr>
        <p:spPr>
          <a:xfrm>
            <a:off x="8528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91550" y="2019300"/>
            <a:ext cx="812800" cy="198120"/>
          </a:xfrm>
          <a:prstGeom prst="rect">
            <a:avLst/>
          </a:prstGeom>
          <a:noFill/>
        </p:spPr>
        <p:txBody>
          <a:bodyPr wrap="none" lIns="0" tIns="0" rIns="0" bIns="0" anchor="t">
            <a:noAutofit/>
          </a:bodyPr>
          <a:lstStyle/>
          <a:p>
            <a:pPr algn="l"/>
            <a:r>
              <a:rPr lang="nl-BE" sz="1200" b="0" i="0">
                <a:solidFill>
                  <a:srgbClr val="5A6E80"/>
                </a:solidFill>
                <a:latin typeface="DM Sans"/>
              </a:rPr>
              <a:t>2029</a:t>
            </a:r>
          </a:p>
        </p:txBody>
      </p:sp>
      <p:sp>
        <p:nvSpPr>
          <p:cNvPr id="9" name="Rounded Rectangle 8"/>
          <p:cNvSpPr/>
          <p:nvPr/>
        </p:nvSpPr>
        <p:spPr>
          <a:xfrm>
            <a:off x="1187450" y="2349500"/>
            <a:ext cx="1631950" cy="2794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301750" y="2387600"/>
            <a:ext cx="5765800" cy="198120"/>
          </a:xfrm>
          <a:prstGeom prst="rect">
            <a:avLst/>
          </a:prstGeom>
          <a:noFill/>
        </p:spPr>
        <p:txBody>
          <a:bodyPr wrap="none" lIns="0" tIns="0" rIns="0" bIns="0" anchor="t">
            <a:noAutofit/>
          </a:bodyPr>
          <a:lstStyle/>
          <a:p>
            <a:pPr algn="l"/>
            <a:r>
              <a:rPr lang="nl-BE" sz="1200" b="1" i="0">
                <a:solidFill>
                  <a:srgbClr val="F2F8FC"/>
                </a:solidFill>
                <a:latin typeface="DM Sans"/>
              </a:rPr>
              <a:t>Opleidingen</a:t>
            </a:r>
          </a:p>
        </p:txBody>
      </p:sp>
      <p:sp>
        <p:nvSpPr>
          <p:cNvPr id="11" name="Rounded Rectangle 10"/>
          <p:cNvSpPr/>
          <p:nvPr/>
        </p:nvSpPr>
        <p:spPr>
          <a:xfrm>
            <a:off x="2184400" y="2768600"/>
            <a:ext cx="3422650" cy="279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98700" y="2806700"/>
            <a:ext cx="5765800" cy="198120"/>
          </a:xfrm>
          <a:prstGeom prst="rect">
            <a:avLst/>
          </a:prstGeom>
          <a:noFill/>
        </p:spPr>
        <p:txBody>
          <a:bodyPr wrap="none" lIns="0" tIns="0" rIns="0" bIns="0" anchor="t">
            <a:noAutofit/>
          </a:bodyPr>
          <a:lstStyle/>
          <a:p>
            <a:pPr algn="l"/>
            <a:r>
              <a:rPr lang="nl-NL" sz="1200" b="1" i="0">
                <a:solidFill>
                  <a:srgbClr val="F2F8FC"/>
                </a:solidFill>
                <a:latin typeface="DM Sans"/>
              </a:rPr>
              <a:t>Inclusie, 144 in 12 maanden</a:t>
            </a:r>
          </a:p>
        </p:txBody>
      </p:sp>
      <p:sp>
        <p:nvSpPr>
          <p:cNvPr id="13" name="Rounded Rectangle 12"/>
          <p:cNvSpPr/>
          <p:nvPr/>
        </p:nvSpPr>
        <p:spPr>
          <a:xfrm>
            <a:off x="2184400" y="3187700"/>
            <a:ext cx="8553450" cy="2794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a:spLocks/>
          </p:cNvSpPr>
          <p:nvPr/>
        </p:nvSpPr>
        <p:spPr>
          <a:xfrm>
            <a:off x="2298700" y="3225800"/>
            <a:ext cx="5765800" cy="198120"/>
          </a:xfrm>
          <a:prstGeom prst="rect">
            <a:avLst/>
          </a:prstGeom>
          <a:noFill/>
        </p:spPr>
        <p:txBody>
          <a:bodyPr wrap="none" lIns="0" tIns="0" rIns="0" bIns="0" anchor="t">
            <a:noAutofit/>
          </a:bodyPr>
          <a:lstStyle/>
          <a:p>
            <a:pPr algn="l"/>
            <a:r>
              <a:rPr lang="nl-NL" sz="1200" b="1" i="0">
                <a:solidFill>
                  <a:srgbClr val="F2F8FC"/>
                </a:solidFill>
                <a:latin typeface="DM Sans"/>
              </a:rPr>
              <a:t>Opvolging, 18 maanden per deelnemer</a:t>
            </a:r>
          </a:p>
        </p:txBody>
      </p:sp>
      <p:sp>
        <p:nvSpPr>
          <p:cNvPr id="15" name="Rectangle 14"/>
          <p:cNvSpPr/>
          <p:nvPr/>
        </p:nvSpPr>
        <p:spPr>
          <a:xfrm rot="2700000">
            <a:off x="175260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rot="2700000">
            <a:off x="2114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rot="2700000">
            <a:off x="5543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a:spLocks/>
          </p:cNvSpPr>
          <p:nvPr/>
        </p:nvSpPr>
        <p:spPr>
          <a:xfrm rot="2700000">
            <a:off x="58864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9" name="Rectangle 18"/>
          <p:cNvSpPr/>
          <p:nvPr/>
        </p:nvSpPr>
        <p:spPr>
          <a:xfrm rot="2700000">
            <a:off x="106743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a:spLocks/>
          </p:cNvSpPr>
          <p:nvPr/>
        </p:nvSpPr>
        <p:spPr>
          <a:xfrm>
            <a:off x="812800" y="368935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1" name="TextBox 20"/>
          <p:cNvSpPr txBox="1">
            <a:spLocks/>
          </p:cNvSpPr>
          <p:nvPr/>
        </p:nvSpPr>
        <p:spPr>
          <a:xfrm>
            <a:off x="812800" y="4083050"/>
            <a:ext cx="1447800" cy="198120"/>
          </a:xfrm>
          <a:prstGeom prst="rect">
            <a:avLst/>
          </a:prstGeom>
          <a:noFill/>
        </p:spPr>
        <p:txBody>
          <a:bodyPr wrap="none" lIns="0" tIns="0" rIns="0" bIns="0" anchor="t">
            <a:noAutofit/>
          </a:bodyPr>
          <a:lstStyle/>
          <a:p>
            <a:pPr algn="l"/>
            <a:r>
              <a:rPr lang="nl-BE" sz="1200" b="0" i="0">
                <a:solidFill>
                  <a:srgbClr val="A34A00"/>
                </a:solidFill>
                <a:latin typeface="DM Sans"/>
              </a:rPr>
              <a:t>januari 2027</a:t>
            </a:r>
          </a:p>
        </p:txBody>
      </p:sp>
      <p:sp>
        <p:nvSpPr>
          <p:cNvPr id="22" name="TextBox 21"/>
          <p:cNvSpPr txBox="1"/>
          <p:nvPr/>
        </p:nvSpPr>
        <p:spPr>
          <a:xfrm>
            <a:off x="2362200" y="4064000"/>
            <a:ext cx="35814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Lokale ethische goedkeuringen</a:t>
            </a:r>
          </a:p>
        </p:txBody>
      </p:sp>
      <p:sp>
        <p:nvSpPr>
          <p:cNvPr id="23" name="Rectangle 22"/>
          <p:cNvSpPr/>
          <p:nvPr/>
        </p:nvSpPr>
        <p:spPr>
          <a:xfrm>
            <a:off x="8128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4" name="TextBox 23"/>
          <p:cNvSpPr txBox="1"/>
          <p:nvPr/>
        </p:nvSpPr>
        <p:spPr>
          <a:xfrm>
            <a:off x="812800" y="4447480"/>
            <a:ext cx="1447800" cy="198120"/>
          </a:xfrm>
          <a:prstGeom prst="rect">
            <a:avLst/>
          </a:prstGeom>
          <a:noFill/>
        </p:spPr>
        <p:txBody>
          <a:bodyPr wrap="none" lIns="0" tIns="0" rIns="0" bIns="0" anchor="t">
            <a:noAutofit/>
          </a:bodyPr>
          <a:lstStyle/>
          <a:p>
            <a:pPr algn="l"/>
            <a:r>
              <a:rPr lang="nl-BE" sz="1200" b="0" i="0">
                <a:solidFill>
                  <a:srgbClr val="A34A00"/>
                </a:solidFill>
                <a:latin typeface="DM Sans"/>
              </a:rPr>
              <a:t>23 feb 2027</a:t>
            </a:r>
          </a:p>
        </p:txBody>
      </p:sp>
      <p:sp>
        <p:nvSpPr>
          <p:cNvPr id="25" name="TextBox 24"/>
          <p:cNvSpPr txBox="1">
            <a:spLocks/>
          </p:cNvSpPr>
          <p:nvPr/>
        </p:nvSpPr>
        <p:spPr>
          <a:xfrm>
            <a:off x="2362200" y="4428430"/>
            <a:ext cx="35814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Go/No-Go; start inclusie</a:t>
            </a:r>
          </a:p>
        </p:txBody>
      </p:sp>
      <p:sp>
        <p:nvSpPr>
          <p:cNvPr id="26" name="Rectangle 25"/>
          <p:cNvSpPr>
            <a:spLocks/>
          </p:cNvSpPr>
          <p:nvPr/>
        </p:nvSpPr>
        <p:spPr>
          <a:xfrm>
            <a:off x="812800" y="4723011"/>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7" name="TextBox 26"/>
          <p:cNvSpPr txBox="1">
            <a:spLocks/>
          </p:cNvSpPr>
          <p:nvPr/>
        </p:nvSpPr>
        <p:spPr>
          <a:xfrm>
            <a:off x="812800" y="4811911"/>
            <a:ext cx="1447800" cy="198120"/>
          </a:xfrm>
          <a:prstGeom prst="rect">
            <a:avLst/>
          </a:prstGeom>
          <a:noFill/>
        </p:spPr>
        <p:txBody>
          <a:bodyPr wrap="none" lIns="0" tIns="0" rIns="0" bIns="0" anchor="t">
            <a:noAutofit/>
          </a:bodyPr>
          <a:lstStyle/>
          <a:p>
            <a:pPr algn="l"/>
            <a:r>
              <a:rPr lang="nl-BE" sz="1200" b="0" i="0">
                <a:solidFill>
                  <a:srgbClr val="A34A00"/>
                </a:solidFill>
                <a:latin typeface="DM Sans"/>
              </a:rPr>
              <a:t>eind feb 2028</a:t>
            </a:r>
          </a:p>
        </p:txBody>
      </p:sp>
      <p:sp>
        <p:nvSpPr>
          <p:cNvPr id="28" name="TextBox 27"/>
          <p:cNvSpPr txBox="1"/>
          <p:nvPr/>
        </p:nvSpPr>
        <p:spPr>
          <a:xfrm>
            <a:off x="2362200" y="4792861"/>
            <a:ext cx="35814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144 gerandomiseerd</a:t>
            </a:r>
          </a:p>
        </p:txBody>
      </p:sp>
      <p:sp>
        <p:nvSpPr>
          <p:cNvPr id="29" name="TextBox 28"/>
          <p:cNvSpPr txBox="1">
            <a:spLocks/>
          </p:cNvSpPr>
          <p:nvPr/>
        </p:nvSpPr>
        <p:spPr>
          <a:xfrm>
            <a:off x="6299200" y="4083050"/>
            <a:ext cx="1447800" cy="198120"/>
          </a:xfrm>
          <a:prstGeom prst="rect">
            <a:avLst/>
          </a:prstGeom>
          <a:noFill/>
        </p:spPr>
        <p:txBody>
          <a:bodyPr wrap="none" lIns="0" tIns="0" rIns="0" bIns="0" anchor="t">
            <a:noAutofit/>
          </a:bodyPr>
          <a:lstStyle/>
          <a:p>
            <a:pPr algn="l"/>
            <a:r>
              <a:rPr lang="nl-BE" sz="1200" b="0" i="0">
                <a:solidFill>
                  <a:srgbClr val="A34A00"/>
                </a:solidFill>
                <a:latin typeface="DM Sans"/>
              </a:rPr>
              <a:t>eind mrt 2028</a:t>
            </a:r>
          </a:p>
        </p:txBody>
      </p:sp>
      <p:sp>
        <p:nvSpPr>
          <p:cNvPr id="30" name="TextBox 29"/>
          <p:cNvSpPr txBox="1"/>
          <p:nvPr/>
        </p:nvSpPr>
        <p:spPr>
          <a:xfrm>
            <a:off x="7848600" y="4064000"/>
            <a:ext cx="35814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Uiterste laatste inclusie</a:t>
            </a:r>
          </a:p>
        </p:txBody>
      </p:sp>
      <p:sp>
        <p:nvSpPr>
          <p:cNvPr id="31" name="Rectangle 30"/>
          <p:cNvSpPr/>
          <p:nvPr/>
        </p:nvSpPr>
        <p:spPr>
          <a:xfrm>
            <a:off x="62992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2" name="TextBox 31"/>
          <p:cNvSpPr txBox="1">
            <a:spLocks/>
          </p:cNvSpPr>
          <p:nvPr/>
        </p:nvSpPr>
        <p:spPr>
          <a:xfrm>
            <a:off x="6299200" y="4447480"/>
            <a:ext cx="1447800" cy="198120"/>
          </a:xfrm>
          <a:prstGeom prst="rect">
            <a:avLst/>
          </a:prstGeom>
          <a:noFill/>
        </p:spPr>
        <p:txBody>
          <a:bodyPr wrap="none" lIns="0" tIns="0" rIns="0" bIns="0" anchor="t">
            <a:noAutofit/>
          </a:bodyPr>
          <a:lstStyle/>
          <a:p>
            <a:pPr algn="l"/>
            <a:r>
              <a:rPr lang="nl-BE" sz="1200" b="0" i="0">
                <a:solidFill>
                  <a:srgbClr val="A34A00"/>
                </a:solidFill>
                <a:latin typeface="DM Sans"/>
              </a:rPr>
              <a:t>eind aug 2029</a:t>
            </a:r>
          </a:p>
        </p:txBody>
      </p:sp>
      <p:sp>
        <p:nvSpPr>
          <p:cNvPr id="33" name="TextBox 32"/>
          <p:cNvSpPr txBox="1"/>
          <p:nvPr/>
        </p:nvSpPr>
        <p:spPr>
          <a:xfrm>
            <a:off x="7848600" y="4428430"/>
            <a:ext cx="3581400" cy="231140"/>
          </a:xfrm>
          <a:prstGeom prst="rect">
            <a:avLst/>
          </a:prstGeom>
          <a:noFill/>
        </p:spPr>
        <p:txBody>
          <a:bodyPr wrap="none" lIns="0" tIns="0" rIns="0" bIns="0" anchor="t">
            <a:noAutofit/>
          </a:bodyPr>
          <a:lstStyle/>
          <a:p>
            <a:pPr algn="l">
              <a:lnSpc>
                <a:spcPts val="1820"/>
              </a:lnSpc>
            </a:pPr>
            <a:r>
              <a:rPr lang="nl-BE" sz="1400" b="0" i="0">
                <a:solidFill>
                  <a:srgbClr val="0A2540"/>
                </a:solidFill>
                <a:latin typeface="DM Sans"/>
              </a:rPr>
              <a:t>Laatste visite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Mijlpalen en planning</a:t>
            </a:r>
          </a:p>
        </p:txBody>
      </p:sp>
      <p:sp>
        <p:nvSpPr>
          <p:cNvPr id="36" name="TextBox 35"/>
          <p:cNvSpPr txBox="1">
            <a:spLocks/>
          </p:cNvSpPr>
          <p:nvPr/>
        </p:nvSpPr>
        <p:spPr>
          <a:xfrm>
            <a:off x="4978400" y="6254750"/>
            <a:ext cx="6400800" cy="198120"/>
          </a:xfrm>
          <a:prstGeom prst="rect">
            <a:avLst/>
          </a:prstGeom>
          <a:noFill/>
        </p:spPr>
        <p:txBody>
          <a:bodyPr wrap="none" lIns="0" tIns="0" rIns="0" bIns="0" anchor="t">
            <a:noAutofit/>
          </a:bodyPr>
          <a:lstStyle/>
          <a:p>
            <a:pPr algn="r"/>
            <a:r>
              <a:rPr lang="nl-NL" sz="1200" b="0" i="0">
                <a:solidFill>
                  <a:srgbClr val="5A6E80"/>
                </a:solidFill>
                <a:latin typeface="DM Sans"/>
              </a:rPr>
              <a:t>Bron: protocol · opleidingsplanning,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812800" y="4686300"/>
            <a:ext cx="10566400" cy="65405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a:spLocks/>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4" name="TextBox 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november tot april</a:t>
            </a:r>
          </a:p>
        </p:txBody>
      </p:sp>
      <p:sp>
        <p:nvSpPr>
          <p:cNvPr id="5" name="Rounded Rectangle 4"/>
          <p:cNvSpPr>
            <a:spLocks/>
          </p:cNvSpPr>
          <p:nvPr/>
        </p:nvSpPr>
        <p:spPr>
          <a:xfrm>
            <a:off x="6704012" y="1533525"/>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6894512" y="1498600"/>
            <a:ext cx="1380430" cy="198120"/>
          </a:xfrm>
          <a:prstGeom prst="rect">
            <a:avLst/>
          </a:prstGeom>
          <a:noFill/>
        </p:spPr>
        <p:txBody>
          <a:bodyPr wrap="none" lIns="0" tIns="0" rIns="0" bIns="0" anchor="t">
            <a:noAutofit/>
          </a:bodyPr>
          <a:lstStyle/>
          <a:p>
            <a:pPr algn="l"/>
            <a:r>
              <a:rPr sz="1200" b="0" i="0">
                <a:solidFill>
                  <a:srgbClr val="3A4F63"/>
                </a:solidFill>
                <a:latin typeface="DM Sans"/>
              </a:rPr>
              <a:t>online, opgenomen</a:t>
            </a:r>
          </a:p>
        </p:txBody>
      </p:sp>
      <p:sp>
        <p:nvSpPr>
          <p:cNvPr id="7" name="Rounded Rectangle 6"/>
          <p:cNvSpPr>
            <a:spLocks/>
          </p:cNvSpPr>
          <p:nvPr/>
        </p:nvSpPr>
        <p:spPr>
          <a:xfrm>
            <a:off x="8427343" y="1533525"/>
            <a:ext cx="127000" cy="1270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8" name="TextBox 7"/>
          <p:cNvSpPr txBox="1"/>
          <p:nvPr/>
        </p:nvSpPr>
        <p:spPr>
          <a:xfrm>
            <a:off x="8617843" y="1498600"/>
            <a:ext cx="807839" cy="198120"/>
          </a:xfrm>
          <a:prstGeom prst="rect">
            <a:avLst/>
          </a:prstGeom>
          <a:noFill/>
        </p:spPr>
        <p:txBody>
          <a:bodyPr wrap="none" lIns="0" tIns="0" rIns="0" bIns="0" anchor="t">
            <a:noAutofit/>
          </a:bodyPr>
          <a:lstStyle/>
          <a:p>
            <a:pPr algn="l"/>
            <a:r>
              <a:rPr lang="nl-BE" sz="1200" b="0" i="0">
                <a:solidFill>
                  <a:srgbClr val="3A4F63"/>
                </a:solidFill>
                <a:latin typeface="DM Sans"/>
              </a:rPr>
              <a:t>ter plaatse</a:t>
            </a:r>
          </a:p>
        </p:txBody>
      </p:sp>
      <p:sp>
        <p:nvSpPr>
          <p:cNvPr id="9" name="Rounded Rectangle 8"/>
          <p:cNvSpPr/>
          <p:nvPr/>
        </p:nvSpPr>
        <p:spPr>
          <a:xfrm>
            <a:off x="9578082" y="1533525"/>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768582" y="1498600"/>
            <a:ext cx="627955" cy="198120"/>
          </a:xfrm>
          <a:prstGeom prst="rect">
            <a:avLst/>
          </a:prstGeom>
          <a:noFill/>
        </p:spPr>
        <p:txBody>
          <a:bodyPr wrap="none" lIns="0" tIns="0" rIns="0" bIns="0" anchor="t">
            <a:noAutofit/>
          </a:bodyPr>
          <a:lstStyle/>
          <a:p>
            <a:pPr algn="l"/>
            <a:r>
              <a:rPr sz="1200" b="0" i="0">
                <a:solidFill>
                  <a:srgbClr val="3A4F63"/>
                </a:solidFill>
                <a:latin typeface="DM Sans"/>
              </a:rPr>
              <a:t>centraal</a:t>
            </a:r>
          </a:p>
        </p:txBody>
      </p:sp>
      <p:sp>
        <p:nvSpPr>
          <p:cNvPr id="11" name="Rectangle 10"/>
          <p:cNvSpPr/>
          <p:nvPr/>
        </p:nvSpPr>
        <p:spPr>
          <a:xfrm>
            <a:off x="10548938" y="1508125"/>
            <a:ext cx="177800" cy="177800"/>
          </a:xfrm>
          <a:prstGeom prst="rect">
            <a:avLst/>
          </a:prstGeom>
          <a:solidFill>
            <a:srgbClr val="E2EBF2"/>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90238" y="1498600"/>
            <a:ext cx="639762" cy="198120"/>
          </a:xfrm>
          <a:prstGeom prst="rect">
            <a:avLst/>
          </a:prstGeom>
          <a:noFill/>
        </p:spPr>
        <p:txBody>
          <a:bodyPr wrap="none" lIns="0" tIns="0" rIns="0" bIns="0" anchor="t">
            <a:noAutofit/>
          </a:bodyPr>
          <a:lstStyle/>
          <a:p>
            <a:pPr algn="l"/>
            <a:r>
              <a:rPr sz="1200" b="0" i="0">
                <a:solidFill>
                  <a:srgbClr val="3A4F63"/>
                </a:solidFill>
                <a:latin typeface="DM Sans"/>
              </a:rPr>
              <a:t>vakantie</a:t>
            </a:r>
          </a:p>
        </p:txBody>
      </p:sp>
      <p:sp>
        <p:nvSpPr>
          <p:cNvPr id="13" name="Rectangle 12"/>
          <p:cNvSpPr/>
          <p:nvPr/>
        </p:nvSpPr>
        <p:spPr>
          <a:xfrm>
            <a:off x="4279900" y="2374900"/>
            <a:ext cx="2730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210300" y="2374900"/>
            <a:ext cx="5524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147050" y="2374900"/>
            <a:ext cx="2730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10077450" y="2374900"/>
            <a:ext cx="552450" cy="297180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2418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3053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november</a:t>
            </a:r>
          </a:p>
        </p:txBody>
      </p:sp>
      <p:sp>
        <p:nvSpPr>
          <p:cNvPr id="19" name="Rectangle 18"/>
          <p:cNvSpPr/>
          <p:nvPr/>
        </p:nvSpPr>
        <p:spPr>
          <a:xfrm>
            <a:off x="54229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december</a:t>
            </a:r>
          </a:p>
        </p:txBody>
      </p:sp>
      <p:sp>
        <p:nvSpPr>
          <p:cNvPr id="21" name="Rectangle 20"/>
          <p:cNvSpPr/>
          <p:nvPr/>
        </p:nvSpPr>
        <p:spPr>
          <a:xfrm>
            <a:off x="66484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119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januari</a:t>
            </a:r>
          </a:p>
        </p:txBody>
      </p:sp>
      <p:sp>
        <p:nvSpPr>
          <p:cNvPr id="23" name="Rectangle 22"/>
          <p:cNvSpPr/>
          <p:nvPr/>
        </p:nvSpPr>
        <p:spPr>
          <a:xfrm>
            <a:off x="78676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311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februari</a:t>
            </a:r>
          </a:p>
        </p:txBody>
      </p:sp>
      <p:sp>
        <p:nvSpPr>
          <p:cNvPr id="25" name="Rectangle 24"/>
          <p:cNvSpPr/>
          <p:nvPr/>
        </p:nvSpPr>
        <p:spPr>
          <a:xfrm>
            <a:off x="897255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03605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maart</a:t>
            </a:r>
          </a:p>
        </p:txBody>
      </p:sp>
      <p:sp>
        <p:nvSpPr>
          <p:cNvPr id="27" name="Rectangle 26"/>
          <p:cNvSpPr/>
          <p:nvPr/>
        </p:nvSpPr>
        <p:spPr>
          <a:xfrm>
            <a:off x="10198100" y="2095500"/>
            <a:ext cx="6350" cy="32512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261600" y="2120900"/>
            <a:ext cx="1193800" cy="198120"/>
          </a:xfrm>
          <a:prstGeom prst="rect">
            <a:avLst/>
          </a:prstGeom>
          <a:noFill/>
        </p:spPr>
        <p:txBody>
          <a:bodyPr wrap="none" lIns="0" tIns="0" rIns="0" bIns="0" anchor="t">
            <a:noAutofit/>
          </a:bodyPr>
          <a:lstStyle/>
          <a:p>
            <a:pPr algn="l"/>
            <a:r>
              <a:rPr sz="1200" b="0" i="0">
                <a:solidFill>
                  <a:srgbClr val="5A6E80"/>
                </a:solidFill>
                <a:latin typeface="DM Sans"/>
              </a:rPr>
              <a:t>april</a:t>
            </a:r>
          </a:p>
        </p:txBody>
      </p:sp>
      <p:sp>
        <p:nvSpPr>
          <p:cNvPr id="29" name="Rectangle 28"/>
          <p:cNvSpPr/>
          <p:nvPr/>
        </p:nvSpPr>
        <p:spPr>
          <a:xfrm>
            <a:off x="812800" y="23685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812800" y="24257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Info draaiboek</a:t>
            </a:r>
          </a:p>
        </p:txBody>
      </p:sp>
      <p:sp>
        <p:nvSpPr>
          <p:cNvPr id="31" name="Rounded Rectangle 30"/>
          <p:cNvSpPr/>
          <p:nvPr/>
        </p:nvSpPr>
        <p:spPr>
          <a:xfrm>
            <a:off x="455295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510540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359400" y="2432050"/>
            <a:ext cx="2336800" cy="198120"/>
          </a:xfrm>
          <a:prstGeom prst="rect">
            <a:avLst/>
          </a:prstGeom>
          <a:noFill/>
        </p:spPr>
        <p:txBody>
          <a:bodyPr wrap="none" lIns="0" tIns="0" rIns="0" bIns="0" anchor="t">
            <a:noAutofit/>
          </a:bodyPr>
          <a:lstStyle/>
          <a:p>
            <a:pPr algn="l"/>
            <a:r>
              <a:rPr sz="1200" b="0" i="0">
                <a:solidFill>
                  <a:srgbClr val="3A4F63"/>
                </a:solidFill>
                <a:latin typeface="DM Sans"/>
              </a:rPr>
              <a:t>10 en 24 nov · Janou</a:t>
            </a:r>
          </a:p>
        </p:txBody>
      </p:sp>
      <p:sp>
        <p:nvSpPr>
          <p:cNvPr id="34" name="Rectangle 33"/>
          <p:cNvSpPr/>
          <p:nvPr/>
        </p:nvSpPr>
        <p:spPr>
          <a:xfrm>
            <a:off x="812800" y="27051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2800" y="27559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Gezondheidseconomie en procesevaluatie</a:t>
            </a:r>
          </a:p>
        </p:txBody>
      </p:sp>
      <p:sp>
        <p:nvSpPr>
          <p:cNvPr id="36" name="Rounded Rectangle 35"/>
          <p:cNvSpPr/>
          <p:nvPr/>
        </p:nvSpPr>
        <p:spPr>
          <a:xfrm>
            <a:off x="5657850" y="28067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911850" y="2762250"/>
            <a:ext cx="2336800" cy="198120"/>
          </a:xfrm>
          <a:prstGeom prst="rect">
            <a:avLst/>
          </a:prstGeom>
          <a:noFill/>
        </p:spPr>
        <p:txBody>
          <a:bodyPr wrap="none" lIns="0" tIns="0" rIns="0" bIns="0" anchor="t">
            <a:noAutofit/>
          </a:bodyPr>
          <a:lstStyle/>
          <a:p>
            <a:pPr algn="l"/>
            <a:r>
              <a:rPr sz="1200" b="0" i="0">
                <a:solidFill>
                  <a:srgbClr val="3A4F63"/>
                </a:solidFill>
                <a:latin typeface="DM Sans"/>
              </a:rPr>
              <a:t>8 dec · doctorandi WP2 en WP3</a:t>
            </a:r>
          </a:p>
        </p:txBody>
      </p:sp>
      <p:sp>
        <p:nvSpPr>
          <p:cNvPr id="38" name="Rectangle 37"/>
          <p:cNvSpPr/>
          <p:nvPr/>
        </p:nvSpPr>
        <p:spPr>
          <a:xfrm>
            <a:off x="812800" y="30353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12800" y="30861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Technologie</a:t>
            </a:r>
          </a:p>
        </p:txBody>
      </p:sp>
      <p:sp>
        <p:nvSpPr>
          <p:cNvPr id="40" name="Rounded Rectangle 39"/>
          <p:cNvSpPr/>
          <p:nvPr/>
        </p:nvSpPr>
        <p:spPr>
          <a:xfrm>
            <a:off x="5467350" y="3143250"/>
            <a:ext cx="55245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146800" y="3092450"/>
            <a:ext cx="2336800" cy="198120"/>
          </a:xfrm>
          <a:prstGeom prst="rect">
            <a:avLst/>
          </a:prstGeom>
          <a:noFill/>
        </p:spPr>
        <p:txBody>
          <a:bodyPr wrap="none" lIns="0" tIns="0" rIns="0" bIns="0" anchor="t">
            <a:noAutofit/>
          </a:bodyPr>
          <a:lstStyle/>
          <a:p>
            <a:pPr algn="l"/>
            <a:r>
              <a:rPr sz="1200" b="0" i="0">
                <a:solidFill>
                  <a:srgbClr val="3A4F63"/>
                </a:solidFill>
                <a:latin typeface="DM Sans"/>
              </a:rPr>
              <a:t>2 tot 15 dec · Janou</a:t>
            </a:r>
          </a:p>
        </p:txBody>
      </p:sp>
      <p:sp>
        <p:nvSpPr>
          <p:cNvPr id="42" name="Rectangle 41"/>
          <p:cNvSpPr/>
          <p:nvPr/>
        </p:nvSpPr>
        <p:spPr>
          <a:xfrm>
            <a:off x="812800" y="33655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12800" y="34163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Datacollectie en vragenlijsten</a:t>
            </a:r>
          </a:p>
        </p:txBody>
      </p:sp>
      <p:sp>
        <p:nvSpPr>
          <p:cNvPr id="44" name="Rounded Rectangle 43"/>
          <p:cNvSpPr/>
          <p:nvPr/>
        </p:nvSpPr>
        <p:spPr>
          <a:xfrm>
            <a:off x="7035800" y="34671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7289800" y="3422650"/>
            <a:ext cx="2336800" cy="198120"/>
          </a:xfrm>
          <a:prstGeom prst="rect">
            <a:avLst/>
          </a:prstGeom>
          <a:noFill/>
        </p:spPr>
        <p:txBody>
          <a:bodyPr wrap="none" lIns="0" tIns="0" rIns="0" bIns="0" anchor="t">
            <a:noAutofit/>
          </a:bodyPr>
          <a:lstStyle/>
          <a:p>
            <a:pPr algn="l"/>
            <a:r>
              <a:rPr sz="1200" b="0" i="0">
                <a:solidFill>
                  <a:srgbClr val="3A4F63"/>
                </a:solidFill>
                <a:latin typeface="DM Sans"/>
              </a:rPr>
              <a:t>12 jan · Janou</a:t>
            </a:r>
          </a:p>
        </p:txBody>
      </p:sp>
      <p:sp>
        <p:nvSpPr>
          <p:cNvPr id="46" name="Rectangle 45"/>
          <p:cNvSpPr/>
          <p:nvPr/>
        </p:nvSpPr>
        <p:spPr>
          <a:xfrm>
            <a:off x="812800" y="36957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12800" y="37465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1–2: kennis en vaardigheden</a:t>
            </a:r>
          </a:p>
        </p:txBody>
      </p:sp>
      <p:sp>
        <p:nvSpPr>
          <p:cNvPr id="48" name="Rounded Rectangle 47"/>
          <p:cNvSpPr/>
          <p:nvPr/>
        </p:nvSpPr>
        <p:spPr>
          <a:xfrm>
            <a:off x="680085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ounded Rectangle 48"/>
          <p:cNvSpPr/>
          <p:nvPr/>
        </p:nvSpPr>
        <p:spPr>
          <a:xfrm>
            <a:off x="703580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ounded Rectangle 49"/>
          <p:cNvSpPr/>
          <p:nvPr/>
        </p:nvSpPr>
        <p:spPr>
          <a:xfrm>
            <a:off x="7156450" y="3797300"/>
            <a:ext cx="127000" cy="1270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7410450" y="3752850"/>
            <a:ext cx="2336800" cy="198120"/>
          </a:xfrm>
          <a:prstGeom prst="rect">
            <a:avLst/>
          </a:prstGeom>
          <a:noFill/>
        </p:spPr>
        <p:txBody>
          <a:bodyPr wrap="none" lIns="0" tIns="0" rIns="0" bIns="0" anchor="t">
            <a:noAutofit/>
          </a:bodyPr>
          <a:lstStyle/>
          <a:p>
            <a:pPr algn="l"/>
            <a:r>
              <a:rPr sz="1200" b="0" i="0">
                <a:solidFill>
                  <a:srgbClr val="3A4F63"/>
                </a:solidFill>
                <a:latin typeface="DM Sans"/>
              </a:rPr>
              <a:t>6, 12 en 15 jan · Dobbels</a:t>
            </a:r>
          </a:p>
        </p:txBody>
      </p:sp>
      <p:sp>
        <p:nvSpPr>
          <p:cNvPr id="52" name="Rectangle 51"/>
          <p:cNvSpPr/>
          <p:nvPr/>
        </p:nvSpPr>
        <p:spPr>
          <a:xfrm>
            <a:off x="812800" y="40259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12800" y="40767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Droogloop, vier visites</a:t>
            </a:r>
          </a:p>
        </p:txBody>
      </p:sp>
      <p:sp>
        <p:nvSpPr>
          <p:cNvPr id="54" name="Rounded Rectangle 53"/>
          <p:cNvSpPr/>
          <p:nvPr/>
        </p:nvSpPr>
        <p:spPr>
          <a:xfrm>
            <a:off x="7118350" y="4133850"/>
            <a:ext cx="59055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7835900" y="4083050"/>
            <a:ext cx="2336800" cy="198120"/>
          </a:xfrm>
          <a:prstGeom prst="rect">
            <a:avLst/>
          </a:prstGeom>
          <a:noFill/>
        </p:spPr>
        <p:txBody>
          <a:bodyPr wrap="none" lIns="0" tIns="0" rIns="0" bIns="0" anchor="t">
            <a:noAutofit/>
          </a:bodyPr>
          <a:lstStyle/>
          <a:p>
            <a:pPr algn="l"/>
            <a:r>
              <a:rPr sz="1200" b="0" i="0">
                <a:solidFill>
                  <a:srgbClr val="3A4F63"/>
                </a:solidFill>
                <a:latin typeface="DM Sans"/>
              </a:rPr>
              <a:t>13 tot 27 jan · Janou</a:t>
            </a:r>
          </a:p>
        </p:txBody>
      </p:sp>
      <p:sp>
        <p:nvSpPr>
          <p:cNvPr id="56" name="Rectangle 55"/>
          <p:cNvSpPr/>
          <p:nvPr/>
        </p:nvSpPr>
        <p:spPr>
          <a:xfrm>
            <a:off x="812800" y="43561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12800" y="44069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Piloot en Go/No-Go</a:t>
            </a:r>
          </a:p>
        </p:txBody>
      </p:sp>
      <p:sp>
        <p:nvSpPr>
          <p:cNvPr id="58" name="Rounded Rectangle 57"/>
          <p:cNvSpPr/>
          <p:nvPr/>
        </p:nvSpPr>
        <p:spPr>
          <a:xfrm>
            <a:off x="7867650" y="4464050"/>
            <a:ext cx="1968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Rounded Rectangle 58"/>
          <p:cNvSpPr/>
          <p:nvPr/>
        </p:nvSpPr>
        <p:spPr>
          <a:xfrm>
            <a:off x="8420100" y="4464050"/>
            <a:ext cx="1968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Rounded Rectangle 59"/>
          <p:cNvSpPr/>
          <p:nvPr/>
        </p:nvSpPr>
        <p:spPr>
          <a:xfrm>
            <a:off x="8693150" y="4457700"/>
            <a:ext cx="127000" cy="1270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8947150" y="4413250"/>
            <a:ext cx="2336800" cy="198120"/>
          </a:xfrm>
          <a:prstGeom prst="rect">
            <a:avLst/>
          </a:prstGeom>
          <a:noFill/>
        </p:spPr>
        <p:txBody>
          <a:bodyPr wrap="none" lIns="0" tIns="0" rIns="0" bIns="0" anchor="t">
            <a:noAutofit/>
          </a:bodyPr>
          <a:lstStyle/>
          <a:p>
            <a:pPr algn="l"/>
            <a:r>
              <a:rPr sz="1200" b="0" i="0">
                <a:solidFill>
                  <a:srgbClr val="3A4F63"/>
                </a:solidFill>
                <a:latin typeface="DM Sans"/>
              </a:rPr>
              <a:t>Go/No-Go 23 feb</a:t>
            </a:r>
          </a:p>
        </p:txBody>
      </p:sp>
      <p:sp>
        <p:nvSpPr>
          <p:cNvPr id="62" name="Rectangle 61"/>
          <p:cNvSpPr/>
          <p:nvPr/>
        </p:nvSpPr>
        <p:spPr>
          <a:xfrm>
            <a:off x="812800" y="46863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812800" y="47371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3–4: therapietrouw bevorderen</a:t>
            </a:r>
          </a:p>
        </p:txBody>
      </p:sp>
      <p:sp>
        <p:nvSpPr>
          <p:cNvPr id="64" name="Rounded Rectangle 63"/>
          <p:cNvSpPr/>
          <p:nvPr/>
        </p:nvSpPr>
        <p:spPr>
          <a:xfrm>
            <a:off x="8972550" y="4794250"/>
            <a:ext cx="196850" cy="114300"/>
          </a:xfrm>
          <a:prstGeom prst="roundRect">
            <a:avLst>
              <a:gd name="adj" fmla="val 50000"/>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Rounded Rectangle 64"/>
          <p:cNvSpPr/>
          <p:nvPr/>
        </p:nvSpPr>
        <p:spPr>
          <a:xfrm>
            <a:off x="9207500" y="4787900"/>
            <a:ext cx="101600" cy="101600"/>
          </a:xfrm>
          <a:prstGeom prst="roundRect">
            <a:avLst>
              <a:gd name="adj" fmla="val 50000"/>
            </a:avLst>
          </a:prstGeom>
          <a:solidFill>
            <a:srgbClr val="F2F6F9"/>
          </a:solidFill>
          <a:ln w="12700">
            <a:solidFill>
              <a:srgbClr val="F2F8F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4984750" y="4743450"/>
            <a:ext cx="3860800" cy="198120"/>
          </a:xfrm>
          <a:prstGeom prst="rect">
            <a:avLst/>
          </a:prstGeom>
          <a:noFill/>
        </p:spPr>
        <p:txBody>
          <a:bodyPr wrap="none" lIns="0" tIns="0" rIns="0" bIns="0" anchor="t">
            <a:noAutofit/>
          </a:bodyPr>
          <a:lstStyle/>
          <a:p>
            <a:pPr algn="r"/>
            <a:r>
              <a:rPr sz="1200" b="0" i="0">
                <a:solidFill>
                  <a:srgbClr val="3A4F63"/>
                </a:solidFill>
                <a:latin typeface="DM Sans"/>
              </a:rPr>
              <a:t>1, 2 en 5 mrt, inhaal 8 mrt · Dobbels</a:t>
            </a:r>
          </a:p>
        </p:txBody>
      </p:sp>
      <p:sp>
        <p:nvSpPr>
          <p:cNvPr id="67" name="Rectangle 66"/>
          <p:cNvSpPr/>
          <p:nvPr/>
        </p:nvSpPr>
        <p:spPr>
          <a:xfrm>
            <a:off x="812800" y="5016500"/>
            <a:ext cx="3302000" cy="6350"/>
          </a:xfrm>
          <a:prstGeom prst="rect">
            <a:avLst/>
          </a:prstGeom>
          <a:solidFill>
            <a:srgbClr val="E2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812800" y="5067300"/>
            <a:ext cx="33401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SEBIA 5: inoefenen in uw centrum</a:t>
            </a:r>
          </a:p>
        </p:txBody>
      </p:sp>
      <p:sp>
        <p:nvSpPr>
          <p:cNvPr id="69" name="Rounded Rectangle 68"/>
          <p:cNvSpPr/>
          <p:nvPr/>
        </p:nvSpPr>
        <p:spPr>
          <a:xfrm>
            <a:off x="10947400" y="5124450"/>
            <a:ext cx="431800" cy="1143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6959600" y="5073650"/>
            <a:ext cx="3860800" cy="198120"/>
          </a:xfrm>
          <a:prstGeom prst="rect">
            <a:avLst/>
          </a:prstGeom>
          <a:noFill/>
        </p:spPr>
        <p:txBody>
          <a:bodyPr wrap="none" lIns="0" tIns="0" rIns="0" bIns="0" anchor="t">
            <a:noAutofit/>
          </a:bodyPr>
          <a:lstStyle/>
          <a:p>
            <a:pPr algn="r"/>
            <a:r>
              <a:rPr sz="1200" b="0" i="0">
                <a:solidFill>
                  <a:srgbClr val="3A4F63"/>
                </a:solidFill>
                <a:latin typeface="DM Sans"/>
              </a:rPr>
              <a:t>20 tot 30 apr, per centrum · Dobbels</a:t>
            </a:r>
          </a:p>
        </p:txBody>
      </p:sp>
      <p:sp>
        <p:nvSpPr>
          <p:cNvPr id="71" name="TextBox 70"/>
          <p:cNvSpPr txBox="1"/>
          <p:nvPr/>
        </p:nvSpPr>
        <p:spPr>
          <a:xfrm>
            <a:off x="812800" y="5524500"/>
            <a:ext cx="106172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Artsen: alleen de theorie · online sessies worden opgenomen · SEBIA 6: online intervisie, sep–nov 2027</a:t>
            </a:r>
          </a:p>
        </p:txBody>
      </p:sp>
      <p:pic>
        <p:nvPicPr>
          <p:cNvPr id="72" name="Picture 7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73" name="TextBox 7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74" name="TextBox 73"/>
          <p:cNvSpPr txBox="1"/>
          <p:nvPr/>
        </p:nvSpPr>
        <p:spPr>
          <a:xfrm>
            <a:off x="6502400" y="6254750"/>
            <a:ext cx="4876800" cy="198120"/>
          </a:xfrm>
          <a:prstGeom prst="rect">
            <a:avLst/>
          </a:prstGeom>
          <a:noFill/>
        </p:spPr>
        <p:txBody>
          <a:bodyPr wrap="none" lIns="0" tIns="0" rIns="0" bIns="0" anchor="t">
            <a:noAutofit/>
          </a:bodyPr>
          <a:lstStyle/>
          <a:p>
            <a:pPr algn="r"/>
            <a:r>
              <a:rPr sz="1200" b="0" i="0">
                <a:solidFill>
                  <a:srgbClr val="5A6E80"/>
                </a:solidFill>
                <a:latin typeface="DM Sans"/>
              </a:rPr>
              <a:t>Bron: opleidingsplanning,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Uw data, zoals voorgesteld</a:t>
            </a:r>
          </a:p>
        </p:txBody>
      </p:sp>
      <p:graphicFrame>
        <p:nvGraphicFramePr>
          <p:cNvPr id="4" name="Table 3"/>
          <p:cNvGraphicFramePr>
            <a:graphicFrameLocks noGrp="1"/>
          </p:cNvGraphicFramePr>
          <p:nvPr/>
        </p:nvGraphicFramePr>
        <p:xfrm>
          <a:off x="812800" y="1569641"/>
          <a:ext cx="10560051" cy="2758877"/>
        </p:xfrm>
        <a:graphic>
          <a:graphicData uri="http://schemas.openxmlformats.org/drawingml/2006/table">
            <a:tbl>
              <a:tblPr>
                <a:tableStyleId>{2D5ABB26-0587-4C30-8999-92F81FD0307C}</a:tableStyleId>
              </a:tblPr>
              <a:tblGrid>
                <a:gridCol w="1795165">
                  <a:extLst>
                    <a:ext uri="{9D8B030D-6E8A-4147-A177-3AD203B41FA5}">
                      <a16:colId xmlns:a16="http://schemas.microsoft.com/office/drawing/2014/main" val="20000"/>
                    </a:ext>
                  </a:extLst>
                </a:gridCol>
                <a:gridCol w="1267123">
                  <a:extLst>
                    <a:ext uri="{9D8B030D-6E8A-4147-A177-3AD203B41FA5}">
                      <a16:colId xmlns:a16="http://schemas.microsoft.com/office/drawing/2014/main" val="20001"/>
                    </a:ext>
                  </a:extLst>
                </a:gridCol>
                <a:gridCol w="1795165">
                  <a:extLst>
                    <a:ext uri="{9D8B030D-6E8A-4147-A177-3AD203B41FA5}">
                      <a16:colId xmlns:a16="http://schemas.microsoft.com/office/drawing/2014/main" val="20002"/>
                    </a:ext>
                  </a:extLst>
                </a:gridCol>
                <a:gridCol w="1689596">
                  <a:extLst>
                    <a:ext uri="{9D8B030D-6E8A-4147-A177-3AD203B41FA5}">
                      <a16:colId xmlns:a16="http://schemas.microsoft.com/office/drawing/2014/main" val="20003"/>
                    </a:ext>
                  </a:extLst>
                </a:gridCol>
                <a:gridCol w="1267123">
                  <a:extLst>
                    <a:ext uri="{9D8B030D-6E8A-4147-A177-3AD203B41FA5}">
                      <a16:colId xmlns:a16="http://schemas.microsoft.com/office/drawing/2014/main" val="20004"/>
                    </a:ext>
                  </a:extLst>
                </a:gridCol>
                <a:gridCol w="2745879">
                  <a:extLst>
                    <a:ext uri="{9D8B030D-6E8A-4147-A177-3AD203B41FA5}">
                      <a16:colId xmlns:a16="http://schemas.microsoft.com/office/drawing/2014/main" val="20005"/>
                    </a:ext>
                  </a:extLst>
                </a:gridCol>
              </a:tblGrid>
              <a:tr h="506611">
                <a:tc>
                  <a:txBody>
                    <a:bodyPr/>
                    <a:lstStyle/>
                    <a:p>
                      <a:pPr algn="ctr"/>
                      <a:r>
                        <a:rPr sz="1200" b="1" i="0">
                          <a:solidFill>
                            <a:srgbClr val="3A4F63"/>
                          </a:solidFill>
                          <a:latin typeface="DM Sans"/>
                        </a:rPr>
                        <a:t>Centrum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Technologie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1–2 · 13–17u</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3–4 · NM, voorstel</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SEBIA 5</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tc>
                  <a:txBody>
                    <a:bodyPr/>
                    <a:lstStyle/>
                    <a:p>
                      <a:pPr algn="ctr"/>
                      <a:r>
                        <a:rPr sz="1200" b="1" i="0">
                          <a:solidFill>
                            <a:srgbClr val="3A4F63"/>
                          </a:solidFill>
                          <a:latin typeface="DM Sans"/>
                        </a:rPr>
                        <a:t>Droogloop · inhaal</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FFFFFF"/>
                    </a:solidFill>
                  </a:tcPr>
                </a:tc>
                <a:extLst>
                  <a:ext uri="{0D108BD9-81ED-4DB2-BD59-A6C34878D82A}">
                    <a16:rowId xmlns:a16="http://schemas.microsoft.com/office/drawing/2014/main" val="10000"/>
                  </a:ext>
                </a:extLst>
              </a:tr>
              <a:tr h="309761">
                <a:tc>
                  <a:txBody>
                    <a:bodyPr/>
                    <a:lstStyle/>
                    <a:p>
                      <a:pPr algn="l"/>
                      <a:r>
                        <a:rPr sz="1200" b="0" i="0">
                          <a:solidFill>
                            <a:srgbClr val="3A4F63"/>
                          </a:solidFill>
                          <a:latin typeface="DM Sans"/>
                        </a:rPr>
                        <a:t>AZ Groeninge Kortrijk</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6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ma 1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20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20 jan · inhaal ma 25 jan,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1"/>
                  </a:ext>
                </a:extLst>
              </a:tr>
              <a:tr h="506611">
                <a:tc>
                  <a:txBody>
                    <a:bodyPr/>
                    <a:lstStyle/>
                    <a:p>
                      <a:pPr algn="l"/>
                      <a:r>
                        <a:rPr sz="1200" b="0" i="0">
                          <a:solidFill>
                            <a:srgbClr val="3A4F63"/>
                          </a:solidFill>
                          <a:latin typeface="DM Sans"/>
                        </a:rPr>
                        <a:t>AZ Sint-Jan Brugge</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 dec,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1e wo 6 jan · 2e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1e ma 1 mrt · 2e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ma 26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13 jan, NM · inhaal ma 18 jan,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2"/>
                  </a:ext>
                </a:extLst>
              </a:tr>
              <a:tr h="506611">
                <a:tc>
                  <a:txBody>
                    <a:bodyPr/>
                    <a:lstStyle/>
                    <a:p>
                      <a:pPr algn="l"/>
                      <a:r>
                        <a:rPr sz="1200" b="0" i="0">
                          <a:solidFill>
                            <a:srgbClr val="3A4F63"/>
                          </a:solidFill>
                          <a:latin typeface="DM Sans"/>
                        </a:rPr>
                        <a:t>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10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15 jan, in UZ Gent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5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23 apr,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21 jan, 8u–12u30 · inhaal vr 22 of do 28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3"/>
                  </a:ext>
                </a:extLst>
              </a:tr>
              <a:tr h="309761">
                <a:tc>
                  <a:txBody>
                    <a:bodyPr/>
                    <a:lstStyle/>
                    <a:p>
                      <a:pPr algn="l"/>
                      <a:r>
                        <a:rPr sz="1200" b="0" i="0">
                          <a:solidFill>
                            <a:srgbClr val="3A4F63"/>
                          </a:solidFill>
                          <a:latin typeface="DM Sans"/>
                        </a:rPr>
                        <a:t>AZORG Aalst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do 10 dec,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20 apr,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19 jan · inhaal do 21 jan, NM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4"/>
                  </a:ext>
                </a:extLst>
              </a:tr>
              <a:tr h="309761">
                <a:tc>
                  <a:txBody>
                    <a:bodyPr/>
                    <a:lstStyle/>
                    <a:p>
                      <a:pPr algn="l"/>
                      <a:r>
                        <a:rPr sz="1200" b="0" i="0">
                          <a:solidFill>
                            <a:srgbClr val="3A4F63"/>
                          </a:solidFill>
                          <a:latin typeface="DM Sans"/>
                        </a:rPr>
                        <a:t>UZ Leuven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15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vr 30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26 jan · inhaal vr 22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5"/>
                  </a:ext>
                </a:extLst>
              </a:tr>
              <a:tr h="309761">
                <a:tc>
                  <a:txBody>
                    <a:bodyPr/>
                    <a:lstStyle/>
                    <a:p>
                      <a:pPr algn="l"/>
                      <a:r>
                        <a:rPr sz="1200" b="0" i="0">
                          <a:solidFill>
                            <a:srgbClr val="3A4F63"/>
                          </a:solidFill>
                          <a:latin typeface="DM Sans"/>
                        </a:rPr>
                        <a:t>UZ Antwerpen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9 dec,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12 jan</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Oost · di 2 mrt</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di 27 apr,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a:lstStyle/>
                    <a:p>
                      <a:pPr algn="l"/>
                      <a:r>
                        <a:rPr sz="1200" b="0" i="0">
                          <a:solidFill>
                            <a:srgbClr val="3A4F63"/>
                          </a:solidFill>
                          <a:latin typeface="DM Sans"/>
                        </a:rPr>
                        <a:t>wo 27 jan, VM · inhaal do 28 jan, VM</a:t>
                      </a:r>
                    </a:p>
                  </a:txBody>
                  <a:tcPr marT="53340" marB="533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extLst>
                  <a:ext uri="{0D108BD9-81ED-4DB2-BD59-A6C34878D82A}">
                    <a16:rowId xmlns:a16="http://schemas.microsoft.com/office/drawing/2014/main" val="10006"/>
                  </a:ext>
                </a:extLst>
              </a:tr>
            </a:tbl>
          </a:graphicData>
        </a:graphic>
      </p:graphicFrame>
      <p:sp>
        <p:nvSpPr>
          <p:cNvPr id="5" name="TextBox 4"/>
          <p:cNvSpPr txBox="1">
            <a:spLocks/>
          </p:cNvSpPr>
          <p:nvPr/>
        </p:nvSpPr>
        <p:spPr>
          <a:xfrm>
            <a:off x="812800" y="4588867"/>
            <a:ext cx="10777728" cy="960041"/>
          </a:xfrm>
          <a:prstGeom prst="rect">
            <a:avLst/>
          </a:prstGeom>
          <a:noFill/>
        </p:spPr>
        <p:txBody>
          <a:bodyPr wrap="square" lIns="0" tIns="0" rIns="0" bIns="0" anchor="t">
            <a:noAutofit/>
          </a:bodyPr>
          <a:lstStyle/>
          <a:p>
            <a:pPr algn="l">
              <a:lnSpc>
                <a:spcPts val="1889"/>
              </a:lnSpc>
            </a:pPr>
            <a:r>
              <a:rPr lang="nl-NL" sz="1400" b="0" i="0">
                <a:solidFill>
                  <a:srgbClr val="0A2540"/>
                </a:solidFill>
                <a:latin typeface="DM Sans"/>
              </a:rPr>
              <a:t>SEBIA 3–4 krijgt één inhaalmoment: ma 8 maart.</a:t>
            </a:r>
          </a:p>
          <a:p>
            <a:pPr algn="l">
              <a:lnSpc>
                <a:spcPts val="1889"/>
              </a:lnSpc>
            </a:pPr>
            <a:r>
              <a:rPr lang="nl-NL" sz="1400" b="0" i="0">
                <a:solidFill>
                  <a:srgbClr val="0A2540"/>
                </a:solidFill>
                <a:latin typeface="DM Sans"/>
              </a:rPr>
              <a:t>Optie B staat op de fiche van uw centrum; antwoord graag tegen vrijdag 16 oktober.</a:t>
            </a:r>
          </a:p>
          <a:p>
            <a:pPr algn="l">
              <a:lnSpc>
                <a:spcPts val="1889"/>
              </a:lnSpc>
            </a:pPr>
            <a:r>
              <a:rPr lang="nl-NL" sz="1400" b="0" i="0">
                <a:solidFill>
                  <a:srgbClr val="0A2540"/>
                </a:solidFill>
                <a:latin typeface="DM Sans"/>
              </a:rPr>
              <a:t>Vragen of opmerkingen over uw data: janou.debuyser@kuleuven.be</a:t>
            </a:r>
          </a:p>
        </p:txBody>
      </p:sp>
      <p:pic>
        <p:nvPicPr>
          <p:cNvPr id="6" name="Picture 5"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7" name="TextBox 6"/>
          <p:cNvSpPr txBox="1">
            <a:spLocks/>
          </p:cNvSpPr>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Mijlpalen en planning</a:t>
            </a:r>
          </a:p>
        </p:txBody>
      </p:sp>
      <p:sp>
        <p:nvSpPr>
          <p:cNvPr id="8" name="TextBox 7"/>
          <p:cNvSpPr txBox="1"/>
          <p:nvPr/>
        </p:nvSpPr>
        <p:spPr>
          <a:xfrm>
            <a:off x="4978400" y="6254750"/>
            <a:ext cx="6400800" cy="198120"/>
          </a:xfrm>
          <a:prstGeom prst="rect">
            <a:avLst/>
          </a:prstGeom>
          <a:noFill/>
        </p:spPr>
        <p:txBody>
          <a:bodyPr wrap="none" lIns="0" tIns="0" rIns="0" bIns="0" anchor="t">
            <a:noAutofit/>
          </a:bodyPr>
          <a:lstStyle/>
          <a:p>
            <a:pPr algn="r"/>
            <a:r>
              <a:rPr lang="nl-BE" sz="1200" b="0" i="0">
                <a:solidFill>
                  <a:srgbClr val="5A6E80"/>
                </a:solidFill>
                <a:latin typeface="DM Sans"/>
              </a:rPr>
              <a:t>Bron: opleidingsplanning, 8 oktober 2026 · data F. Dobbels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opleiding tot de laatste visite</a:t>
            </a:r>
          </a:p>
        </p:txBody>
      </p:sp>
      <p:sp>
        <p:nvSpPr>
          <p:cNvPr id="3" name="Rectangle 2"/>
          <p:cNvSpPr/>
          <p:nvPr/>
        </p:nvSpPr>
        <p:spPr>
          <a:xfrm>
            <a:off x="167640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73990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2027</a:t>
            </a:r>
          </a:p>
        </p:txBody>
      </p:sp>
      <p:sp>
        <p:nvSpPr>
          <p:cNvPr id="5" name="Rectangle 4"/>
          <p:cNvSpPr/>
          <p:nvPr/>
        </p:nvSpPr>
        <p:spPr>
          <a:xfrm>
            <a:off x="5099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162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2028</a:t>
            </a:r>
          </a:p>
        </p:txBody>
      </p:sp>
      <p:sp>
        <p:nvSpPr>
          <p:cNvPr id="7" name="Rectangle 6"/>
          <p:cNvSpPr/>
          <p:nvPr/>
        </p:nvSpPr>
        <p:spPr>
          <a:xfrm>
            <a:off x="8528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91550" y="2019300"/>
            <a:ext cx="812800" cy="198120"/>
          </a:xfrm>
          <a:prstGeom prst="rect">
            <a:avLst/>
          </a:prstGeom>
          <a:noFill/>
        </p:spPr>
        <p:txBody>
          <a:bodyPr wrap="none" lIns="0" tIns="0" rIns="0" bIns="0" anchor="t">
            <a:noAutofit/>
          </a:bodyPr>
          <a:lstStyle/>
          <a:p>
            <a:pPr algn="l"/>
            <a:r>
              <a:rPr sz="1200" b="0" i="0">
                <a:solidFill>
                  <a:srgbClr val="5A6E80"/>
                </a:solidFill>
                <a:latin typeface="DM Sans"/>
              </a:rPr>
              <a:t>2029</a:t>
            </a:r>
          </a:p>
        </p:txBody>
      </p:sp>
      <p:sp>
        <p:nvSpPr>
          <p:cNvPr id="9" name="Rounded Rectangle 8"/>
          <p:cNvSpPr/>
          <p:nvPr/>
        </p:nvSpPr>
        <p:spPr>
          <a:xfrm>
            <a:off x="1187450" y="2349500"/>
            <a:ext cx="1631950" cy="279400"/>
          </a:xfrm>
          <a:prstGeom prst="roundRect">
            <a:avLst>
              <a:gd name="adj" fmla="val 50000"/>
            </a:avLst>
          </a:prstGeom>
          <a:solidFill>
            <a:srgbClr val="0B6E8F">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301750" y="2387600"/>
            <a:ext cx="5765800" cy="198120"/>
          </a:xfrm>
          <a:prstGeom prst="rect">
            <a:avLst/>
          </a:prstGeom>
          <a:noFill/>
        </p:spPr>
        <p:txBody>
          <a:bodyPr wrap="none" lIns="0" tIns="0" rIns="0" bIns="0" anchor="t">
            <a:noAutofit/>
          </a:bodyPr>
          <a:lstStyle/>
          <a:p>
            <a:pPr algn="l"/>
            <a:r>
              <a:rPr sz="1200" b="1" i="0">
                <a:solidFill>
                  <a:srgbClr val="F2F8FC"/>
                </a:solidFill>
                <a:latin typeface="DM Sans"/>
              </a:rPr>
              <a:t>Opleidingen</a:t>
            </a:r>
          </a:p>
        </p:txBody>
      </p:sp>
      <p:sp>
        <p:nvSpPr>
          <p:cNvPr id="11" name="Rounded Rectangle 10"/>
          <p:cNvSpPr/>
          <p:nvPr/>
        </p:nvSpPr>
        <p:spPr>
          <a:xfrm>
            <a:off x="2184400" y="2768600"/>
            <a:ext cx="3422650" cy="279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98700" y="2806700"/>
            <a:ext cx="5765800" cy="198120"/>
          </a:xfrm>
          <a:prstGeom prst="rect">
            <a:avLst/>
          </a:prstGeom>
          <a:noFill/>
        </p:spPr>
        <p:txBody>
          <a:bodyPr wrap="none" lIns="0" tIns="0" rIns="0" bIns="0" anchor="t">
            <a:noAutofit/>
          </a:bodyPr>
          <a:lstStyle/>
          <a:p>
            <a:pPr algn="l"/>
            <a:r>
              <a:rPr sz="1200" b="1" i="0">
                <a:solidFill>
                  <a:srgbClr val="F2F8FC"/>
                </a:solidFill>
                <a:latin typeface="DM Sans"/>
              </a:rPr>
              <a:t>Inclusie, 144 in 12 maanden</a:t>
            </a:r>
          </a:p>
        </p:txBody>
      </p:sp>
      <p:sp>
        <p:nvSpPr>
          <p:cNvPr id="13" name="Rounded Rectangle 12"/>
          <p:cNvSpPr/>
          <p:nvPr/>
        </p:nvSpPr>
        <p:spPr>
          <a:xfrm>
            <a:off x="2184400" y="3187700"/>
            <a:ext cx="8553450" cy="2794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298700" y="3225800"/>
            <a:ext cx="5765800" cy="198120"/>
          </a:xfrm>
          <a:prstGeom prst="rect">
            <a:avLst/>
          </a:prstGeom>
          <a:noFill/>
        </p:spPr>
        <p:txBody>
          <a:bodyPr wrap="none" lIns="0" tIns="0" rIns="0" bIns="0" anchor="t">
            <a:noAutofit/>
          </a:bodyPr>
          <a:lstStyle/>
          <a:p>
            <a:pPr algn="l"/>
            <a:r>
              <a:rPr sz="1200" b="1" i="0">
                <a:solidFill>
                  <a:srgbClr val="F2F8FC"/>
                </a:solidFill>
                <a:latin typeface="DM Sans"/>
              </a:rPr>
              <a:t>Opvolging, 18 maanden per deelnemer</a:t>
            </a:r>
          </a:p>
        </p:txBody>
      </p:sp>
      <p:sp>
        <p:nvSpPr>
          <p:cNvPr id="15" name="Rectangle 14"/>
          <p:cNvSpPr/>
          <p:nvPr/>
        </p:nvSpPr>
        <p:spPr>
          <a:xfrm rot="2700000">
            <a:off x="175260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rot="2700000">
            <a:off x="2114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rot="2700000">
            <a:off x="5543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rot="2700000">
            <a:off x="58864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rot="2700000">
            <a:off x="106743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12800" y="368935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28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januari 2027</a:t>
            </a:r>
          </a:p>
        </p:txBody>
      </p:sp>
      <p:sp>
        <p:nvSpPr>
          <p:cNvPr id="22" name="TextBox 21"/>
          <p:cNvSpPr txBox="1"/>
          <p:nvPr/>
        </p:nvSpPr>
        <p:spPr>
          <a:xfrm>
            <a:off x="23622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Lokale ethische goedkeuringen</a:t>
            </a:r>
          </a:p>
        </p:txBody>
      </p:sp>
      <p:sp>
        <p:nvSpPr>
          <p:cNvPr id="23" name="Rectangle 22"/>
          <p:cNvSpPr/>
          <p:nvPr/>
        </p:nvSpPr>
        <p:spPr>
          <a:xfrm>
            <a:off x="8128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28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23 feb 2027</a:t>
            </a:r>
          </a:p>
        </p:txBody>
      </p:sp>
      <p:sp>
        <p:nvSpPr>
          <p:cNvPr id="25" name="TextBox 24"/>
          <p:cNvSpPr txBox="1"/>
          <p:nvPr/>
        </p:nvSpPr>
        <p:spPr>
          <a:xfrm>
            <a:off x="23622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Go/No-Go; start inclusie</a:t>
            </a:r>
          </a:p>
        </p:txBody>
      </p:sp>
      <p:sp>
        <p:nvSpPr>
          <p:cNvPr id="26" name="Rectangle 25"/>
          <p:cNvSpPr/>
          <p:nvPr/>
        </p:nvSpPr>
        <p:spPr>
          <a:xfrm>
            <a:off x="812800" y="4723011"/>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4811911"/>
            <a:ext cx="1447800" cy="198120"/>
          </a:xfrm>
          <a:prstGeom prst="rect">
            <a:avLst/>
          </a:prstGeom>
          <a:noFill/>
        </p:spPr>
        <p:txBody>
          <a:bodyPr wrap="none" lIns="0" tIns="0" rIns="0" bIns="0" anchor="t">
            <a:noAutofit/>
          </a:bodyPr>
          <a:lstStyle/>
          <a:p>
            <a:pPr algn="l"/>
            <a:r>
              <a:rPr sz="1200" b="0" i="0">
                <a:solidFill>
                  <a:srgbClr val="A34A00"/>
                </a:solidFill>
                <a:latin typeface="DM Sans"/>
              </a:rPr>
              <a:t>eind feb 2028</a:t>
            </a:r>
          </a:p>
        </p:txBody>
      </p:sp>
      <p:sp>
        <p:nvSpPr>
          <p:cNvPr id="28" name="TextBox 27"/>
          <p:cNvSpPr txBox="1"/>
          <p:nvPr/>
        </p:nvSpPr>
        <p:spPr>
          <a:xfrm>
            <a:off x="2362200" y="4792861"/>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144 gerandomiseerd</a:t>
            </a:r>
          </a:p>
        </p:txBody>
      </p:sp>
      <p:sp>
        <p:nvSpPr>
          <p:cNvPr id="29" name="TextBox 28"/>
          <p:cNvSpPr txBox="1"/>
          <p:nvPr/>
        </p:nvSpPr>
        <p:spPr>
          <a:xfrm>
            <a:off x="6299200" y="4083050"/>
            <a:ext cx="1447800" cy="198120"/>
          </a:xfrm>
          <a:prstGeom prst="rect">
            <a:avLst/>
          </a:prstGeom>
          <a:noFill/>
        </p:spPr>
        <p:txBody>
          <a:bodyPr wrap="none" lIns="0" tIns="0" rIns="0" bIns="0" anchor="t">
            <a:noAutofit/>
          </a:bodyPr>
          <a:lstStyle/>
          <a:p>
            <a:pPr algn="l"/>
            <a:r>
              <a:rPr sz="1200" b="0" i="0">
                <a:solidFill>
                  <a:srgbClr val="A34A00"/>
                </a:solidFill>
                <a:latin typeface="DM Sans"/>
              </a:rPr>
              <a:t>eind mrt 2028</a:t>
            </a:r>
          </a:p>
        </p:txBody>
      </p:sp>
      <p:sp>
        <p:nvSpPr>
          <p:cNvPr id="30" name="TextBox 29"/>
          <p:cNvSpPr txBox="1"/>
          <p:nvPr/>
        </p:nvSpPr>
        <p:spPr>
          <a:xfrm>
            <a:off x="7848600" y="406400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Uiterste laatste inclusie</a:t>
            </a:r>
          </a:p>
        </p:txBody>
      </p:sp>
      <p:sp>
        <p:nvSpPr>
          <p:cNvPr id="31" name="Rectangle 30"/>
          <p:cNvSpPr/>
          <p:nvPr/>
        </p:nvSpPr>
        <p:spPr>
          <a:xfrm>
            <a:off x="62992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99200" y="4447480"/>
            <a:ext cx="1447800" cy="198120"/>
          </a:xfrm>
          <a:prstGeom prst="rect">
            <a:avLst/>
          </a:prstGeom>
          <a:noFill/>
        </p:spPr>
        <p:txBody>
          <a:bodyPr wrap="none" lIns="0" tIns="0" rIns="0" bIns="0" anchor="t">
            <a:noAutofit/>
          </a:bodyPr>
          <a:lstStyle/>
          <a:p>
            <a:pPr algn="l"/>
            <a:r>
              <a:rPr sz="1200" b="0" i="0">
                <a:solidFill>
                  <a:srgbClr val="A34A00"/>
                </a:solidFill>
                <a:latin typeface="DM Sans"/>
              </a:rPr>
              <a:t>eind aug 2029</a:t>
            </a:r>
          </a:p>
        </p:txBody>
      </p:sp>
      <p:sp>
        <p:nvSpPr>
          <p:cNvPr id="33" name="TextBox 32"/>
          <p:cNvSpPr txBox="1"/>
          <p:nvPr/>
        </p:nvSpPr>
        <p:spPr>
          <a:xfrm>
            <a:off x="7848600" y="4428430"/>
            <a:ext cx="3581400"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Laatste visite</a:t>
            </a:r>
          </a:p>
        </p:txBody>
      </p:sp>
      <p:pic>
        <p:nvPicPr>
          <p:cNvPr id="34" name="Picture 3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36" name="TextBox 35"/>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protocol · opleidingsplanning,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Twee per maand is een muntworp</a:t>
            </a:r>
          </a:p>
        </p:txBody>
      </p:sp>
      <p:graphicFrame>
        <p:nvGraphicFramePr>
          <p:cNvPr id="4" name="Chart 3"/>
          <p:cNvGraphicFramePr>
            <a:graphicFrameLocks noGrp="1"/>
          </p:cNvGraphicFramePr>
          <p:nvPr/>
        </p:nvGraphicFramePr>
        <p:xfrm>
          <a:off x="812800" y="2095500"/>
          <a:ext cx="54610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2463800" y="3543642"/>
            <a:ext cx="2286000" cy="248920"/>
          </a:xfrm>
          <a:prstGeom prst="rect">
            <a:avLst/>
          </a:prstGeom>
          <a:noFill/>
        </p:spPr>
        <p:txBody>
          <a:bodyPr wrap="none" lIns="0" tIns="0" rIns="0" bIns="0">
            <a:spAutoFit/>
          </a:bodyPr>
          <a:lstStyle/>
          <a:p>
            <a:pPr algn="l"/>
            <a:r>
              <a:rPr sz="1400" b="1">
                <a:solidFill>
                  <a:srgbClr val="0A2540"/>
                </a:solidFill>
                <a:latin typeface="Segoe UI"/>
              </a:rPr>
              <a:t>2 per maand → 53%</a:t>
            </a:r>
          </a:p>
        </p:txBody>
      </p:sp>
      <p:sp>
        <p:nvSpPr>
          <p:cNvPr id="6" name="TextBox 5"/>
          <p:cNvSpPr txBox="1"/>
          <p:nvPr/>
        </p:nvSpPr>
        <p:spPr>
          <a:xfrm>
            <a:off x="4343400" y="2490362"/>
            <a:ext cx="2286000" cy="248920"/>
          </a:xfrm>
          <a:prstGeom prst="rect">
            <a:avLst/>
          </a:prstGeom>
          <a:noFill/>
        </p:spPr>
        <p:txBody>
          <a:bodyPr wrap="none" lIns="0" tIns="0" rIns="0" bIns="0">
            <a:spAutoFit/>
          </a:bodyPr>
          <a:lstStyle/>
          <a:p>
            <a:pPr algn="l"/>
            <a:r>
              <a:rPr sz="1400" b="1">
                <a:solidFill>
                  <a:srgbClr val="0A2540"/>
                </a:solidFill>
                <a:latin typeface="Segoe UI"/>
              </a:rPr>
              <a:t>3 per maand → 99%</a:t>
            </a:r>
          </a:p>
        </p:txBody>
      </p:sp>
      <p:sp>
        <p:nvSpPr>
          <p:cNvPr id="7" name="TextBox 6"/>
          <p:cNvSpPr txBox="1"/>
          <p:nvPr/>
        </p:nvSpPr>
        <p:spPr>
          <a:xfrm>
            <a:off x="1384300" y="2108200"/>
            <a:ext cx="4826000" cy="213360"/>
          </a:xfrm>
          <a:prstGeom prst="rect">
            <a:avLst/>
          </a:prstGeom>
          <a:noFill/>
        </p:spPr>
        <p:txBody>
          <a:bodyPr wrap="none" lIns="0" tIns="0" rIns="0" bIns="0">
            <a:spAutoFit/>
          </a:bodyPr>
          <a:lstStyle/>
          <a:p>
            <a:pPr algn="l"/>
            <a:r>
              <a:rPr sz="1200" b="0">
                <a:solidFill>
                  <a:srgbClr val="5A6E80"/>
                </a:solidFill>
                <a:latin typeface="Segoe UI"/>
              </a:rPr>
              <a:t>kans dat een centrum 24 haalt binnen 12 maanden</a:t>
            </a:r>
          </a:p>
        </p:txBody>
      </p:sp>
      <p:sp>
        <p:nvSpPr>
          <p:cNvPr id="8" name="TextBox 7"/>
          <p:cNvSpPr txBox="1"/>
          <p:nvPr/>
        </p:nvSpPr>
        <p:spPr>
          <a:xfrm>
            <a:off x="1384300" y="5461000"/>
            <a:ext cx="4699000" cy="213360"/>
          </a:xfrm>
          <a:prstGeom prst="rect">
            <a:avLst/>
          </a:prstGeom>
          <a:noFill/>
        </p:spPr>
        <p:txBody>
          <a:bodyPr wrap="none" lIns="0" tIns="0" rIns="0" bIns="0">
            <a:spAutoFit/>
          </a:bodyPr>
          <a:lstStyle/>
          <a:p>
            <a:pPr algn="ctr"/>
            <a:r>
              <a:rPr sz="1200" b="0">
                <a:solidFill>
                  <a:srgbClr val="5A6E80"/>
                </a:solidFill>
                <a:latin typeface="Segoe UI"/>
              </a:rPr>
              <a:t>gemiddeld aantal inclusies per maand, per centrum</a:t>
            </a:r>
          </a:p>
        </p:txBody>
      </p:sp>
      <p:sp>
        <p:nvSpPr>
          <p:cNvPr id="9" name="TextBox 8"/>
          <p:cNvSpPr txBox="1"/>
          <p:nvPr/>
        </p:nvSpPr>
        <p:spPr>
          <a:xfrm>
            <a:off x="6731000" y="2095500"/>
            <a:ext cx="4699000" cy="198120"/>
          </a:xfrm>
          <a:prstGeom prst="rect">
            <a:avLst/>
          </a:prstGeom>
          <a:noFill/>
        </p:spPr>
        <p:txBody>
          <a:bodyPr wrap="none" lIns="0" tIns="0" rIns="0" bIns="0" anchor="t">
            <a:noAutofit/>
          </a:bodyPr>
          <a:lstStyle/>
          <a:p>
            <a:pPr algn="l"/>
            <a:r>
              <a:rPr sz="1200" b="1" i="0">
                <a:solidFill>
                  <a:srgbClr val="0B6E8F"/>
                </a:solidFill>
                <a:latin typeface="DM Sans"/>
              </a:rPr>
              <a:t>Aan drie per maand</a:t>
            </a:r>
          </a:p>
        </p:txBody>
      </p:sp>
      <p:sp>
        <p:nvSpPr>
          <p:cNvPr id="10" name="TextBox 9"/>
          <p:cNvSpPr txBox="1"/>
          <p:nvPr/>
        </p:nvSpPr>
        <p:spPr>
          <a:xfrm>
            <a:off x="6731000" y="2406650"/>
            <a:ext cx="1257300" cy="457200"/>
          </a:xfrm>
          <a:prstGeom prst="rect">
            <a:avLst/>
          </a:prstGeom>
          <a:noFill/>
        </p:spPr>
        <p:txBody>
          <a:bodyPr wrap="none" lIns="0" tIns="0" rIns="0" bIns="0" anchor="t">
            <a:noAutofit/>
          </a:bodyPr>
          <a:lstStyle/>
          <a:p>
            <a:pPr algn="l">
              <a:lnSpc>
                <a:spcPts val="3600"/>
              </a:lnSpc>
            </a:pPr>
            <a:r>
              <a:rPr sz="3600" b="0" i="0">
                <a:solidFill>
                  <a:srgbClr val="0B6E8F"/>
                </a:solidFill>
                <a:latin typeface="DM Serif Display"/>
              </a:rPr>
              <a:t>99%</a:t>
            </a:r>
          </a:p>
        </p:txBody>
      </p:sp>
      <p:sp>
        <p:nvSpPr>
          <p:cNvPr id="11" name="TextBox 10"/>
          <p:cNvSpPr txBox="1"/>
          <p:nvPr/>
        </p:nvSpPr>
        <p:spPr>
          <a:xfrm>
            <a:off x="8115300" y="2616200"/>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kans dat een centrum zijn 24 haalt binnen 12 maanden</a:t>
            </a:r>
          </a:p>
        </p:txBody>
      </p:sp>
      <p:sp>
        <p:nvSpPr>
          <p:cNvPr id="12" name="Rectangle 11"/>
          <p:cNvSpPr/>
          <p:nvPr/>
        </p:nvSpPr>
        <p:spPr>
          <a:xfrm>
            <a:off x="6731000" y="3235920"/>
            <a:ext cx="4648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31000" y="3381970"/>
            <a:ext cx="1257300" cy="457200"/>
          </a:xfrm>
          <a:prstGeom prst="rect">
            <a:avLst/>
          </a:prstGeom>
          <a:noFill/>
        </p:spPr>
        <p:txBody>
          <a:bodyPr wrap="none" lIns="0" tIns="0" rIns="0" bIns="0" anchor="t">
            <a:noAutofit/>
          </a:bodyPr>
          <a:lstStyle/>
          <a:p>
            <a:pPr algn="l">
              <a:lnSpc>
                <a:spcPts val="3600"/>
              </a:lnSpc>
            </a:pPr>
            <a:r>
              <a:rPr sz="3600" b="0" i="0">
                <a:solidFill>
                  <a:srgbClr val="0B6E8F"/>
                </a:solidFill>
                <a:latin typeface="DM Serif Display"/>
              </a:rPr>
              <a:t>92%</a:t>
            </a:r>
          </a:p>
        </p:txBody>
      </p:sp>
      <p:sp>
        <p:nvSpPr>
          <p:cNvPr id="14" name="TextBox 13"/>
          <p:cNvSpPr txBox="1"/>
          <p:nvPr/>
        </p:nvSpPr>
        <p:spPr>
          <a:xfrm>
            <a:off x="8115300" y="3591520"/>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kans dat alle zes het halen binnen 12 maanden</a:t>
            </a:r>
          </a:p>
        </p:txBody>
      </p:sp>
      <p:sp>
        <p:nvSpPr>
          <p:cNvPr id="15" name="Rectangle 14"/>
          <p:cNvSpPr/>
          <p:nvPr/>
        </p:nvSpPr>
        <p:spPr>
          <a:xfrm>
            <a:off x="6731000" y="4211241"/>
            <a:ext cx="4648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1000" y="4357291"/>
            <a:ext cx="1257300" cy="457200"/>
          </a:xfrm>
          <a:prstGeom prst="rect">
            <a:avLst/>
          </a:prstGeom>
          <a:noFill/>
        </p:spPr>
        <p:txBody>
          <a:bodyPr wrap="none" lIns="0" tIns="0" rIns="0" bIns="0" anchor="t">
            <a:noAutofit/>
          </a:bodyPr>
          <a:lstStyle/>
          <a:p>
            <a:pPr algn="l">
              <a:lnSpc>
                <a:spcPts val="3600"/>
              </a:lnSpc>
            </a:pPr>
            <a:r>
              <a:rPr sz="3600" b="0" i="0">
                <a:solidFill>
                  <a:srgbClr val="0A2540"/>
                </a:solidFill>
                <a:latin typeface="DM Serif Display"/>
              </a:rPr>
              <a:t>7,9</a:t>
            </a:r>
          </a:p>
        </p:txBody>
      </p:sp>
      <p:sp>
        <p:nvSpPr>
          <p:cNvPr id="17" name="TextBox 16"/>
          <p:cNvSpPr txBox="1"/>
          <p:nvPr/>
        </p:nvSpPr>
        <p:spPr>
          <a:xfrm>
            <a:off x="8115300" y="4566841"/>
            <a:ext cx="332917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maanden tot 24 inclusies, mediaan per centrum</a:t>
            </a:r>
          </a:p>
        </p:txBody>
      </p:sp>
      <p:sp>
        <p:nvSpPr>
          <p:cNvPr id="18" name="TextBox 17"/>
          <p:cNvSpPr txBox="1"/>
          <p:nvPr/>
        </p:nvSpPr>
        <p:spPr>
          <a:xfrm>
            <a:off x="6731000" y="5029200"/>
            <a:ext cx="4741164" cy="480020"/>
          </a:xfrm>
          <a:prstGeom prst="rect">
            <a:avLst/>
          </a:prstGeom>
          <a:noFill/>
        </p:spPr>
        <p:txBody>
          <a:bodyPr wrap="square" lIns="0" tIns="0" rIns="0" bIns="0" anchor="t">
            <a:noAutofit/>
          </a:bodyPr>
          <a:lstStyle/>
          <a:p>
            <a:pPr algn="l">
              <a:lnSpc>
                <a:spcPts val="1889"/>
              </a:lnSpc>
            </a:pPr>
            <a:r>
              <a:rPr sz="1400" b="0" i="0">
                <a:solidFill>
                  <a:srgbClr val="0A2540"/>
                </a:solidFill>
                <a:latin typeface="DM Sans"/>
              </a:rPr>
              <a:t>Gerekend met een vast tempo vanaf de eerste maand. Een trage start of een zomerdip vraagt die marge.</a:t>
            </a:r>
          </a:p>
        </p:txBody>
      </p:sp>
      <p:pic>
        <p:nvPicPr>
          <p:cNvPr id="19" name="Picture 18"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20" name="TextBox 1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21" name="TextBox 20"/>
          <p:cNvSpPr txBox="1"/>
          <p:nvPr/>
        </p:nvSpPr>
        <p:spPr>
          <a:xfrm>
            <a:off x="5613400" y="6254750"/>
            <a:ext cx="5765800" cy="198120"/>
          </a:xfrm>
          <a:prstGeom prst="rect">
            <a:avLst/>
          </a:prstGeom>
          <a:noFill/>
        </p:spPr>
        <p:txBody>
          <a:bodyPr wrap="none" lIns="0" tIns="0" rIns="0" bIns="0" anchor="t">
            <a:noAutofit/>
          </a:bodyPr>
          <a:lstStyle/>
          <a:p>
            <a:pPr algn="r"/>
            <a:r>
              <a:rPr sz="1200" b="0" i="0">
                <a:solidFill>
                  <a:srgbClr val="5A6E80"/>
                </a:solidFill>
                <a:latin typeface="DM Sans"/>
              </a:rPr>
              <a:t>Bron: Poisson-instroom, exact en in 200.000 runs · protocol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1400"/>
                                        <p:tgtEl>
                                          <p:spTgt spid="4"/>
                                        </p:tgtEl>
                                      </p:cBhvr>
                                    </p:animEffect>
                                  </p:childTnLst>
                                </p:cTn>
                              </p:par>
                            </p:childTnLst>
                          </p:cTn>
                        </p:par>
                        <p:par>
                          <p:cTn id="8" fill="hold">
                            <p:stCondLst>
                              <p:cond delay="1400"/>
                            </p:stCondLst>
                            <p:childTnLst>
                              <p:par>
                                <p:cTn id="9" presetID="10" presetClass="entr" presetSubtype="0" fill="hold" grpId="0" nodeType="afterEffect">
                                  <p:stCondLst>
                                    <p:cond delay="2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2100"/>
                            </p:stCondLst>
                            <p:childTnLst>
                              <p:par>
                                <p:cTn id="13" presetID="10" presetClass="entr" presetSubtype="0"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Evenveel uren, sneller klaar</a:t>
            </a:r>
          </a:p>
        </p:txBody>
      </p:sp>
      <p:sp>
        <p:nvSpPr>
          <p:cNvPr id="4" name="TextBox 3"/>
          <p:cNvSpPr txBox="1"/>
          <p:nvPr/>
        </p:nvSpPr>
        <p:spPr>
          <a:xfrm>
            <a:off x="1003300" y="1930400"/>
            <a:ext cx="1905000" cy="266700"/>
          </a:xfrm>
          <a:prstGeom prst="rect">
            <a:avLst/>
          </a:prstGeom>
          <a:noFill/>
        </p:spPr>
        <p:txBody>
          <a:bodyPr wrap="none" lIns="0" tIns="0" rIns="0" bIns="0">
            <a:spAutoFit/>
          </a:bodyPr>
          <a:lstStyle/>
          <a:p>
            <a:pPr algn="l"/>
            <a:r>
              <a:rPr sz="1500" b="1">
                <a:solidFill>
                  <a:srgbClr val="0A2540"/>
                </a:solidFill>
                <a:latin typeface="Segoe UI"/>
              </a:rPr>
              <a:t>3 per maand</a:t>
            </a:r>
          </a:p>
        </p:txBody>
      </p:sp>
      <p:sp>
        <p:nvSpPr>
          <p:cNvPr id="5" name="TextBox 4"/>
          <p:cNvSpPr txBox="1"/>
          <p:nvPr/>
        </p:nvSpPr>
        <p:spPr>
          <a:xfrm>
            <a:off x="2222500" y="1968500"/>
            <a:ext cx="2032000" cy="213360"/>
          </a:xfrm>
          <a:prstGeom prst="rect">
            <a:avLst/>
          </a:prstGeom>
          <a:noFill/>
        </p:spPr>
        <p:txBody>
          <a:bodyPr wrap="none" lIns="0" tIns="0" rIns="0" bIns="0">
            <a:spAutoFit/>
          </a:bodyPr>
          <a:lstStyle/>
          <a:p>
            <a:pPr algn="l"/>
            <a:r>
              <a:rPr sz="1200" b="0">
                <a:solidFill>
                  <a:srgbClr val="5A6E80"/>
                </a:solidFill>
                <a:latin typeface="Segoe UI"/>
              </a:rPr>
              <a:t>12 maanden inclusie</a:t>
            </a:r>
          </a:p>
        </p:txBody>
      </p:sp>
      <p:sp>
        <p:nvSpPr>
          <p:cNvPr id="6" name="TextBox 5"/>
          <p:cNvSpPr txBox="1"/>
          <p:nvPr/>
        </p:nvSpPr>
        <p:spPr>
          <a:xfrm>
            <a:off x="1003300" y="2222500"/>
            <a:ext cx="3302000" cy="213360"/>
          </a:xfrm>
          <a:prstGeom prst="rect">
            <a:avLst/>
          </a:prstGeom>
          <a:noFill/>
        </p:spPr>
        <p:txBody>
          <a:bodyPr wrap="none" lIns="0" tIns="0" rIns="0" bIns="0">
            <a:spAutoFit/>
          </a:bodyPr>
          <a:lstStyle/>
          <a:p>
            <a:pPr algn="l"/>
            <a:r>
              <a:rPr sz="1200" b="0">
                <a:solidFill>
                  <a:srgbClr val="3A4F63"/>
                </a:solidFill>
                <a:latin typeface="Segoe UI"/>
              </a:rPr>
              <a:t>14,0 u/maand tijdens de inclusie</a:t>
            </a:r>
          </a:p>
        </p:txBody>
      </p:sp>
      <p:sp>
        <p:nvSpPr>
          <p:cNvPr id="7" name="TextBox 6"/>
          <p:cNvSpPr txBox="1"/>
          <p:nvPr/>
        </p:nvSpPr>
        <p:spPr>
          <a:xfrm>
            <a:off x="10033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jun 2029 (mediaan)</a:t>
            </a:r>
          </a:p>
        </p:txBody>
      </p:sp>
      <p:graphicFrame>
        <p:nvGraphicFramePr>
          <p:cNvPr id="8" name="Chart 7"/>
          <p:cNvGraphicFramePr>
            <a:graphicFrameLocks noGrp="1"/>
          </p:cNvGraphicFramePr>
          <p:nvPr/>
        </p:nvGraphicFramePr>
        <p:xfrm>
          <a:off x="812800" y="2616200"/>
          <a:ext cx="3581400" cy="24130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4724400" y="1930400"/>
            <a:ext cx="1905000" cy="266700"/>
          </a:xfrm>
          <a:prstGeom prst="rect">
            <a:avLst/>
          </a:prstGeom>
          <a:noFill/>
        </p:spPr>
        <p:txBody>
          <a:bodyPr wrap="none" lIns="0" tIns="0" rIns="0" bIns="0">
            <a:spAutoFit/>
          </a:bodyPr>
          <a:lstStyle/>
          <a:p>
            <a:pPr algn="l"/>
            <a:r>
              <a:rPr sz="1500" b="1">
                <a:solidFill>
                  <a:srgbClr val="0A2540"/>
                </a:solidFill>
                <a:latin typeface="Segoe UI"/>
              </a:rPr>
              <a:t>2 per maand</a:t>
            </a:r>
          </a:p>
        </p:txBody>
      </p:sp>
      <p:sp>
        <p:nvSpPr>
          <p:cNvPr id="10" name="TextBox 9"/>
          <p:cNvSpPr txBox="1"/>
          <p:nvPr/>
        </p:nvSpPr>
        <p:spPr>
          <a:xfrm>
            <a:off x="5943600" y="1968500"/>
            <a:ext cx="2032000" cy="213360"/>
          </a:xfrm>
          <a:prstGeom prst="rect">
            <a:avLst/>
          </a:prstGeom>
          <a:noFill/>
        </p:spPr>
        <p:txBody>
          <a:bodyPr wrap="none" lIns="0" tIns="0" rIns="0" bIns="0">
            <a:spAutoFit/>
          </a:bodyPr>
          <a:lstStyle/>
          <a:p>
            <a:pPr algn="l"/>
            <a:r>
              <a:rPr sz="1200" b="0">
                <a:solidFill>
                  <a:srgbClr val="5A6E80"/>
                </a:solidFill>
                <a:latin typeface="Segoe UI"/>
              </a:rPr>
              <a:t>18 maanden inclusie</a:t>
            </a:r>
          </a:p>
        </p:txBody>
      </p:sp>
      <p:sp>
        <p:nvSpPr>
          <p:cNvPr id="11" name="TextBox 10"/>
          <p:cNvSpPr txBox="1"/>
          <p:nvPr/>
        </p:nvSpPr>
        <p:spPr>
          <a:xfrm>
            <a:off x="4724400" y="2222500"/>
            <a:ext cx="3302000" cy="213360"/>
          </a:xfrm>
          <a:prstGeom prst="rect">
            <a:avLst/>
          </a:prstGeom>
          <a:noFill/>
        </p:spPr>
        <p:txBody>
          <a:bodyPr wrap="none" lIns="0" tIns="0" rIns="0" bIns="0">
            <a:spAutoFit/>
          </a:bodyPr>
          <a:lstStyle/>
          <a:p>
            <a:pPr algn="l"/>
            <a:r>
              <a:rPr sz="1200" b="0">
                <a:solidFill>
                  <a:srgbClr val="3A4F63"/>
                </a:solidFill>
                <a:latin typeface="Segoe UI"/>
              </a:rPr>
              <a:t>11,4 u/maand tijdens de inclusie</a:t>
            </a:r>
          </a:p>
        </p:txBody>
      </p:sp>
      <p:sp>
        <p:nvSpPr>
          <p:cNvPr id="12" name="TextBox 11"/>
          <p:cNvSpPr txBox="1"/>
          <p:nvPr/>
        </p:nvSpPr>
        <p:spPr>
          <a:xfrm>
            <a:off x="47244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nov 2029 (mediaan)</a:t>
            </a:r>
          </a:p>
        </p:txBody>
      </p:sp>
      <p:graphicFrame>
        <p:nvGraphicFramePr>
          <p:cNvPr id="13" name="Chart 12"/>
          <p:cNvGraphicFramePr>
            <a:graphicFrameLocks noGrp="1"/>
          </p:cNvGraphicFramePr>
          <p:nvPr/>
        </p:nvGraphicFramePr>
        <p:xfrm>
          <a:off x="4533900" y="2616200"/>
          <a:ext cx="3492500" cy="241300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8356600" y="1930400"/>
            <a:ext cx="1905000" cy="266700"/>
          </a:xfrm>
          <a:prstGeom prst="rect">
            <a:avLst/>
          </a:prstGeom>
          <a:noFill/>
        </p:spPr>
        <p:txBody>
          <a:bodyPr wrap="none" lIns="0" tIns="0" rIns="0" bIns="0">
            <a:spAutoFit/>
          </a:bodyPr>
          <a:lstStyle/>
          <a:p>
            <a:pPr algn="l"/>
            <a:r>
              <a:rPr sz="1500" b="1">
                <a:solidFill>
                  <a:srgbClr val="0A2540"/>
                </a:solidFill>
                <a:latin typeface="Segoe UI"/>
              </a:rPr>
              <a:t>1,5 per maand</a:t>
            </a:r>
          </a:p>
        </p:txBody>
      </p:sp>
      <p:sp>
        <p:nvSpPr>
          <p:cNvPr id="15" name="TextBox 14"/>
          <p:cNvSpPr txBox="1"/>
          <p:nvPr/>
        </p:nvSpPr>
        <p:spPr>
          <a:xfrm>
            <a:off x="9734550" y="1968500"/>
            <a:ext cx="2032000" cy="213360"/>
          </a:xfrm>
          <a:prstGeom prst="rect">
            <a:avLst/>
          </a:prstGeom>
          <a:noFill/>
        </p:spPr>
        <p:txBody>
          <a:bodyPr wrap="none" lIns="0" tIns="0" rIns="0" bIns="0">
            <a:spAutoFit/>
          </a:bodyPr>
          <a:lstStyle/>
          <a:p>
            <a:pPr algn="l"/>
            <a:r>
              <a:rPr sz="1200" b="0">
                <a:solidFill>
                  <a:srgbClr val="5A6E80"/>
                </a:solidFill>
                <a:latin typeface="Segoe UI"/>
              </a:rPr>
              <a:t>18 maanden inclusie</a:t>
            </a:r>
          </a:p>
        </p:txBody>
      </p:sp>
      <p:sp>
        <p:nvSpPr>
          <p:cNvPr id="16" name="TextBox 15"/>
          <p:cNvSpPr txBox="1"/>
          <p:nvPr/>
        </p:nvSpPr>
        <p:spPr>
          <a:xfrm>
            <a:off x="8356600" y="2222500"/>
            <a:ext cx="3302000" cy="213360"/>
          </a:xfrm>
          <a:prstGeom prst="rect">
            <a:avLst/>
          </a:prstGeom>
          <a:noFill/>
        </p:spPr>
        <p:txBody>
          <a:bodyPr wrap="none" lIns="0" tIns="0" rIns="0" bIns="0">
            <a:spAutoFit/>
          </a:bodyPr>
          <a:lstStyle/>
          <a:p>
            <a:pPr algn="l"/>
            <a:r>
              <a:rPr sz="1200" b="0">
                <a:solidFill>
                  <a:srgbClr val="3A4F63"/>
                </a:solidFill>
                <a:latin typeface="Segoe UI"/>
              </a:rPr>
              <a:t>10,0 u/maand tijdens de inclusie</a:t>
            </a:r>
          </a:p>
        </p:txBody>
      </p:sp>
      <p:sp>
        <p:nvSpPr>
          <p:cNvPr id="17" name="TextBox 16"/>
          <p:cNvSpPr txBox="1"/>
          <p:nvPr/>
        </p:nvSpPr>
        <p:spPr>
          <a:xfrm>
            <a:off x="8356600" y="2425700"/>
            <a:ext cx="3302000" cy="213360"/>
          </a:xfrm>
          <a:prstGeom prst="rect">
            <a:avLst/>
          </a:prstGeom>
          <a:noFill/>
        </p:spPr>
        <p:txBody>
          <a:bodyPr wrap="none" lIns="0" tIns="0" rIns="0" bIns="0">
            <a:spAutoFit/>
          </a:bodyPr>
          <a:lstStyle/>
          <a:p>
            <a:pPr algn="l"/>
            <a:r>
              <a:rPr sz="1200" b="0">
                <a:solidFill>
                  <a:srgbClr val="3A4F63"/>
                </a:solidFill>
                <a:latin typeface="Segoe UI"/>
              </a:rPr>
              <a:t>laatste visite apr 2030 (mediaan)</a:t>
            </a:r>
          </a:p>
        </p:txBody>
      </p:sp>
      <p:graphicFrame>
        <p:nvGraphicFramePr>
          <p:cNvPr id="18" name="Chart 17"/>
          <p:cNvGraphicFramePr>
            <a:graphicFrameLocks noGrp="1"/>
          </p:cNvGraphicFramePr>
          <p:nvPr/>
        </p:nvGraphicFramePr>
        <p:xfrm>
          <a:off x="8166100" y="2616200"/>
          <a:ext cx="3492500" cy="2413000"/>
        </p:xfrm>
        <a:graphic>
          <a:graphicData uri="http://schemas.openxmlformats.org/drawingml/2006/chart">
            <c:chart xmlns:c="http://schemas.openxmlformats.org/drawingml/2006/chart" xmlns:r="http://schemas.openxmlformats.org/officeDocument/2006/relationships" r:id="rId5"/>
          </a:graphicData>
        </a:graphic>
      </p:graphicFrame>
      <p:sp>
        <p:nvSpPr>
          <p:cNvPr id="19" name="Rectangle 18"/>
          <p:cNvSpPr/>
          <p:nvPr/>
        </p:nvSpPr>
        <p:spPr>
          <a:xfrm>
            <a:off x="1092200" y="5245100"/>
            <a:ext cx="139700" cy="1397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82700" y="5207000"/>
            <a:ext cx="1270000" cy="213360"/>
          </a:xfrm>
          <a:prstGeom prst="rect">
            <a:avLst/>
          </a:prstGeom>
          <a:noFill/>
        </p:spPr>
        <p:txBody>
          <a:bodyPr wrap="none" lIns="0" tIns="0" rIns="0" bIns="0">
            <a:spAutoFit/>
          </a:bodyPr>
          <a:lstStyle/>
          <a:p>
            <a:pPr algn="l"/>
            <a:r>
              <a:rPr sz="1200" b="0">
                <a:solidFill>
                  <a:srgbClr val="3A4F63"/>
                </a:solidFill>
                <a:latin typeface="Segoe UI"/>
              </a:rPr>
              <a:t>Visite 1</a:t>
            </a:r>
          </a:p>
        </p:txBody>
      </p:sp>
      <p:sp>
        <p:nvSpPr>
          <p:cNvPr id="21" name="Rectangle 20"/>
          <p:cNvSpPr/>
          <p:nvPr/>
        </p:nvSpPr>
        <p:spPr>
          <a:xfrm>
            <a:off x="1993900" y="5245100"/>
            <a:ext cx="139700" cy="139700"/>
          </a:xfrm>
          <a:prstGeom prst="rect">
            <a:avLst/>
          </a:prstGeom>
          <a:solidFill>
            <a:srgbClr val="FFB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84400" y="5207000"/>
            <a:ext cx="1270000" cy="213360"/>
          </a:xfrm>
          <a:prstGeom prst="rect">
            <a:avLst/>
          </a:prstGeom>
          <a:noFill/>
        </p:spPr>
        <p:txBody>
          <a:bodyPr wrap="none" lIns="0" tIns="0" rIns="0" bIns="0">
            <a:spAutoFit/>
          </a:bodyPr>
          <a:lstStyle/>
          <a:p>
            <a:pPr algn="l"/>
            <a:r>
              <a:rPr sz="1200" b="0">
                <a:solidFill>
                  <a:srgbClr val="3A4F63"/>
                </a:solidFill>
                <a:latin typeface="Segoe UI"/>
              </a:rPr>
              <a:t>Visite 2</a:t>
            </a:r>
          </a:p>
        </p:txBody>
      </p:sp>
      <p:sp>
        <p:nvSpPr>
          <p:cNvPr id="23" name="Rectangle 22"/>
          <p:cNvSpPr/>
          <p:nvPr/>
        </p:nvSpPr>
        <p:spPr>
          <a:xfrm>
            <a:off x="2895600" y="5245100"/>
            <a:ext cx="139700" cy="139700"/>
          </a:xfrm>
          <a:prstGeom prst="rect">
            <a:avLst/>
          </a:prstGeom>
          <a:solidFill>
            <a:srgbClr val="1F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861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3</a:t>
            </a:r>
          </a:p>
        </p:txBody>
      </p:sp>
      <p:sp>
        <p:nvSpPr>
          <p:cNvPr id="25" name="Rectangle 24"/>
          <p:cNvSpPr/>
          <p:nvPr/>
        </p:nvSpPr>
        <p:spPr>
          <a:xfrm>
            <a:off x="3898900" y="5245100"/>
            <a:ext cx="139700" cy="139700"/>
          </a:xfrm>
          <a:prstGeom prst="rect">
            <a:avLst/>
          </a:prstGeom>
          <a:solidFill>
            <a:srgbClr val="2A8C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894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6</a:t>
            </a:r>
          </a:p>
        </p:txBody>
      </p:sp>
      <p:sp>
        <p:nvSpPr>
          <p:cNvPr id="27" name="Rectangle 26"/>
          <p:cNvSpPr/>
          <p:nvPr/>
        </p:nvSpPr>
        <p:spPr>
          <a:xfrm>
            <a:off x="4902200" y="5245100"/>
            <a:ext cx="139700" cy="139700"/>
          </a:xfrm>
          <a:prstGeom prst="rect">
            <a:avLst/>
          </a:prstGeom>
          <a:solidFill>
            <a:srgbClr val="45A9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927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9</a:t>
            </a:r>
          </a:p>
        </p:txBody>
      </p:sp>
      <p:sp>
        <p:nvSpPr>
          <p:cNvPr id="29" name="Rectangle 28"/>
          <p:cNvSpPr/>
          <p:nvPr/>
        </p:nvSpPr>
        <p:spPr>
          <a:xfrm>
            <a:off x="5905500" y="5245100"/>
            <a:ext cx="139700" cy="139700"/>
          </a:xfrm>
          <a:prstGeom prst="rect">
            <a:avLst/>
          </a:prstGeom>
          <a:solidFill>
            <a:srgbClr val="6CC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960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12</a:t>
            </a:r>
          </a:p>
        </p:txBody>
      </p:sp>
      <p:sp>
        <p:nvSpPr>
          <p:cNvPr id="31" name="Rectangle 30"/>
          <p:cNvSpPr/>
          <p:nvPr/>
        </p:nvSpPr>
        <p:spPr>
          <a:xfrm>
            <a:off x="6991350" y="5245100"/>
            <a:ext cx="139700" cy="139700"/>
          </a:xfrm>
          <a:prstGeom prst="rect">
            <a:avLst/>
          </a:prstGeom>
          <a:solidFill>
            <a:srgbClr val="97D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8185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15</a:t>
            </a:r>
          </a:p>
        </p:txBody>
      </p:sp>
      <p:sp>
        <p:nvSpPr>
          <p:cNvPr id="33" name="Rectangle 32"/>
          <p:cNvSpPr/>
          <p:nvPr/>
        </p:nvSpPr>
        <p:spPr>
          <a:xfrm>
            <a:off x="8077200" y="5245100"/>
            <a:ext cx="139700" cy="139700"/>
          </a:xfrm>
          <a:prstGeom prst="rect">
            <a:avLst/>
          </a:prstGeom>
          <a:solidFill>
            <a:srgbClr val="C4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67700" y="5207000"/>
            <a:ext cx="1270000" cy="213360"/>
          </a:xfrm>
          <a:prstGeom prst="rect">
            <a:avLst/>
          </a:prstGeom>
          <a:noFill/>
        </p:spPr>
        <p:txBody>
          <a:bodyPr wrap="none" lIns="0" tIns="0" rIns="0" bIns="0">
            <a:spAutoFit/>
          </a:bodyPr>
          <a:lstStyle/>
          <a:p>
            <a:pPr algn="l"/>
            <a:r>
              <a:rPr sz="1200" b="0">
                <a:solidFill>
                  <a:srgbClr val="3A4F63"/>
                </a:solidFill>
                <a:latin typeface="Segoe UI"/>
              </a:rPr>
              <a:t>Maand 18</a:t>
            </a:r>
          </a:p>
        </p:txBody>
      </p:sp>
      <p:sp>
        <p:nvSpPr>
          <p:cNvPr id="35" name="TextBox 34"/>
          <p:cNvSpPr txBox="1"/>
          <p:nvPr/>
        </p:nvSpPr>
        <p:spPr>
          <a:xfrm>
            <a:off x="8839200" y="5207000"/>
            <a:ext cx="2540000" cy="213360"/>
          </a:xfrm>
          <a:prstGeom prst="rect">
            <a:avLst/>
          </a:prstGeom>
          <a:noFill/>
        </p:spPr>
        <p:txBody>
          <a:bodyPr wrap="none" lIns="0" tIns="0" rIns="0" bIns="0">
            <a:spAutoFit/>
          </a:bodyPr>
          <a:lstStyle/>
          <a:p>
            <a:pPr algn="r"/>
            <a:r>
              <a:rPr sz="1200" b="0">
                <a:solidFill>
                  <a:srgbClr val="5A6E80"/>
                </a:solidFill>
                <a:latin typeface="Segoe UI"/>
              </a:rPr>
              <a:t>maand na de start</a:t>
            </a:r>
          </a:p>
        </p:txBody>
      </p:sp>
      <p:sp>
        <p:nvSpPr>
          <p:cNvPr id="36" name="TextBox 35"/>
          <p:cNvSpPr txBox="1"/>
          <p:nvPr/>
        </p:nvSpPr>
        <p:spPr>
          <a:xfrm>
            <a:off x="812800" y="5613400"/>
            <a:ext cx="106172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Elk tempo vraagt 300 uur per centrum. Trager includeren spreidt ze, maar schuift de laatste visite naar 2030.</a:t>
            </a:r>
          </a:p>
        </p:txBody>
      </p:sp>
      <p:pic>
        <p:nvPicPr>
          <p:cNvPr id="37" name="Picture 36"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38" name="TextBox 3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Mijlpalen en planning</a:t>
            </a:r>
          </a:p>
        </p:txBody>
      </p:sp>
      <p:sp>
        <p:nvSpPr>
          <p:cNvPr id="39" name="TextBox 38"/>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simulatie, 4.000 runs · 16 u OC, 9 u UC · start 24 feb 2027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1400"/>
                                        <p:tgtEl>
                                          <p:spTgt spid="8"/>
                                        </p:tgtEl>
                                      </p:cBhvr>
                                    </p:animEffect>
                                  </p:childTnLst>
                                </p:cTn>
                              </p:par>
                            </p:childTnLst>
                          </p:cTn>
                        </p:par>
                        <p:par>
                          <p:cTn id="8" fill="hold">
                            <p:stCondLst>
                              <p:cond delay="1400"/>
                            </p:stCondLst>
                            <p:childTnLst>
                              <p:par>
                                <p:cTn id="9" presetID="22" presetClass="entr" presetSubtype="4" fill="hold" grpId="0" nodeType="afterEffect">
                                  <p:stCondLst>
                                    <p:cond delay="20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1400"/>
                                        <p:tgtEl>
                                          <p:spTgt spid="13"/>
                                        </p:tgtEl>
                                      </p:cBhvr>
                                    </p:animEffect>
                                  </p:childTnLst>
                                </p:cTn>
                              </p:par>
                            </p:childTnLst>
                          </p:cTn>
                        </p:par>
                        <p:par>
                          <p:cTn id="12" fill="hold">
                            <p:stCondLst>
                              <p:cond delay="3000"/>
                            </p:stCondLst>
                            <p:childTnLst>
                              <p:par>
                                <p:cTn id="13" presetID="22" presetClass="entr" presetSubtype="4" fill="hold" grpId="0" nodeType="afterEffect">
                                  <p:stCondLst>
                                    <p:cond delay="20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1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13" grpId="0">
        <p:bldAsOne/>
      </p:bldGraphic>
      <p:bldGraphic spid="18"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a:spLocks/>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a:spLocks/>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lang="nl-NL"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sp>
        <p:nvSpPr>
          <p:cNvPr id="19" name="Rounded Rectangle 18"/>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828e07bbef239086018a2f6a17a466c.png"/>
          <p:cNvPicPr>
            <a:picLocks noChangeAspect="1"/>
          </p:cNvPicPr>
          <p:nvPr/>
        </p:nvPicPr>
        <p:blipFill>
          <a:blip r:embed="rId8"/>
          <a:stretch>
            <a:fillRect/>
          </a:stretch>
        </p:blipFill>
        <p:spPr>
          <a:xfrm>
            <a:off x="2165350" y="4121150"/>
            <a:ext cx="2476500" cy="1393031"/>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5 Mijlpalen en planning</a:t>
            </a:r>
          </a:p>
        </p:txBody>
      </p:sp>
      <p:pic>
        <p:nvPicPr>
          <p:cNvPr id="23" name="Picture 22" descr="dad1d5849a0f54ecab7e2a87be32dc30.png"/>
          <p:cNvPicPr>
            <a:picLocks noChangeAspect="1"/>
          </p:cNvPicPr>
          <p:nvPr/>
        </p:nvPicPr>
        <p:blipFill>
          <a:blip r:embed="rId9"/>
          <a:stretch>
            <a:fillRect/>
          </a:stretch>
        </p:blipFill>
        <p:spPr>
          <a:xfrm>
            <a:off x="4940300" y="4025900"/>
            <a:ext cx="2311400" cy="1301750"/>
          </a:xfrm>
          <a:prstGeom prst="rect">
            <a:avLst/>
          </a:prstGeom>
        </p:spPr>
      </p:pic>
      <p:sp>
        <p:nvSpPr>
          <p:cNvPr id="24" name="Rounded Rectangle 23"/>
          <p:cNvSpPr/>
          <p:nvPr/>
        </p:nvSpPr>
        <p:spPr>
          <a:xfrm>
            <a:off x="48514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a218f23a9d1aeae7790db2aa9d8f48a7.png"/>
          <p:cNvPicPr>
            <a:picLocks noChangeAspect="1"/>
          </p:cNvPicPr>
          <p:nvPr/>
        </p:nvPicPr>
        <p:blipFill>
          <a:blip r:embed="rId10"/>
          <a:stretch>
            <a:fillRect/>
          </a:stretch>
        </p:blipFill>
        <p:spPr>
          <a:xfrm>
            <a:off x="4870450" y="4133850"/>
            <a:ext cx="2451100" cy="1378744"/>
          </a:xfrm>
          <a:prstGeom prst="rect">
            <a:avLst/>
          </a:prstGeom>
        </p:spPr>
      </p:pic>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6 Bespreking</a:t>
            </a:r>
          </a:p>
        </p:txBody>
      </p:sp>
      <p:pic>
        <p:nvPicPr>
          <p:cNvPr id="27" name="Picture 26" descr="e49a2c4874452277a94494e99280aaa0.png"/>
          <p:cNvPicPr>
            <a:picLocks noChangeAspect="1"/>
          </p:cNvPicPr>
          <p:nvPr/>
        </p:nvPicPr>
        <p:blipFill>
          <a:blip r:embed="rId11"/>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2"/>
          <a:stretch>
            <a:fillRect/>
          </a:stretch>
        </p:blipFill>
        <p:spPr>
          <a:xfrm>
            <a:off x="7550150" y="4121150"/>
            <a:ext cx="2476500" cy="1393031"/>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0A254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3"/>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955800" cy="5029200"/>
          </a:xfrm>
          <a:prstGeom prst="rect">
            <a:avLst/>
          </a:prstGeom>
          <a:noFill/>
        </p:spPr>
        <p:txBody>
          <a:bodyPr wrap="square" lIns="0" tIns="0" rIns="0" bIns="0" anchor="t">
            <a:noAutofit/>
          </a:bodyPr>
          <a:lstStyle/>
          <a:p>
            <a:pPr algn="l">
              <a:lnSpc>
                <a:spcPts val="16200"/>
              </a:lnSpc>
            </a:pPr>
            <a:r>
              <a:rPr lang="nl-BE" sz="18000" b="0" i="0">
                <a:solidFill>
                  <a:srgbClr val="FF9A3D"/>
                </a:solidFill>
                <a:latin typeface="DM Serif Display"/>
              </a:rPr>
              <a:t>6</a:t>
            </a:r>
          </a:p>
        </p:txBody>
      </p:sp>
      <p:sp>
        <p:nvSpPr>
          <p:cNvPr id="4" name="TextBox 3"/>
          <p:cNvSpPr txBox="1">
            <a:spLocks/>
          </p:cNvSpPr>
          <p:nvPr/>
        </p:nvSpPr>
        <p:spPr>
          <a:xfrm>
            <a:off x="3327400" y="812800"/>
            <a:ext cx="8102600" cy="215900"/>
          </a:xfrm>
          <a:prstGeom prst="rect">
            <a:avLst/>
          </a:prstGeom>
          <a:noFill/>
        </p:spPr>
        <p:txBody>
          <a:bodyPr wrap="none" lIns="0" tIns="0" rIns="0" bIns="0" anchor="t">
            <a:noAutofit/>
          </a:bodyPr>
          <a:lstStyle/>
          <a:p>
            <a:pPr algn="l"/>
            <a:r>
              <a:rPr lang="nl-BE" sz="1300" b="1" i="0">
                <a:solidFill>
                  <a:srgbClr val="52BDEC"/>
                </a:solidFill>
                <a:latin typeface="DM Sans"/>
              </a:rPr>
              <a:t>Deel 6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sz="4400" b="0" i="0" spc="-50">
                <a:solidFill>
                  <a:srgbClr val="F2F8FC"/>
                </a:solidFill>
                <a:latin typeface="DM Serif Display"/>
              </a:rPr>
              <a:t>Bespreking</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lang="nl-NL" sz="2200" b="0" i="1">
                <a:solidFill>
                  <a:srgbClr val="52BDEC"/>
                </a:solidFill>
                <a:latin typeface="DM Serif Display"/>
              </a:rPr>
              <a:t>Wat vragen we van u?</a:t>
            </a:r>
          </a:p>
        </p:txBody>
      </p:sp>
      <p:sp>
        <p:nvSpPr>
          <p:cNvPr id="7" name="Rectangle 6"/>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sz="1600" b="0" i="0">
                <a:solidFill>
                  <a:srgbClr val="C5D8E8"/>
                </a:solidFill>
                <a:latin typeface="DM Sans"/>
              </a:rPr>
              <a:t>wat we vragen, en wat we voorleggen</a:t>
            </a:r>
          </a:p>
        </p:txBody>
      </p:sp>
      <p:sp>
        <p:nvSpPr>
          <p:cNvPr id="9" name="Rectangle 8"/>
          <p:cNvSpPr>
            <a:spLocks/>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a:spLocks/>
          </p:cNvSpPr>
          <p:nvPr/>
        </p:nvSpPr>
        <p:spPr>
          <a:xfrm>
            <a:off x="3327400" y="5488980"/>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het logo, ter goedkeuring</a:t>
            </a:r>
          </a:p>
        </p:txBody>
      </p:sp>
      <p:pic>
        <p:nvPicPr>
          <p:cNvPr id="11" name="Picture 10"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2" name="TextBox 11"/>
          <p:cNvSpPr txBox="1"/>
          <p:nvPr/>
        </p:nvSpPr>
        <p:spPr>
          <a:xfrm>
            <a:off x="1066800" y="6254750"/>
            <a:ext cx="5765800" cy="198120"/>
          </a:xfrm>
          <a:prstGeom prst="rect">
            <a:avLst/>
          </a:prstGeom>
          <a:noFill/>
        </p:spPr>
        <p:txBody>
          <a:bodyPr wrap="none" lIns="0" tIns="0" rIns="0" bIns="0" anchor="t">
            <a:noAutofit/>
          </a:bodyPr>
          <a:lstStyle/>
          <a:p>
            <a:pPr algn="l"/>
            <a:r>
              <a:rPr lang="nl-BE" sz="1200" b="0" i="0">
                <a:solidFill>
                  <a:srgbClr val="6F8FAA"/>
                </a:solidFill>
                <a:latin typeface="DM Sans"/>
              </a:rPr>
              <a:t>PARADISE · Bespreking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Het logo, ter goedkeuring</a:t>
            </a:r>
          </a:p>
        </p:txBody>
      </p:sp>
      <p:sp>
        <p:nvSpPr>
          <p:cNvPr id="4" name="Rounded Rectangle 3"/>
          <p:cNvSpPr>
            <a:spLocks/>
          </p:cNvSpPr>
          <p:nvPr/>
        </p:nvSpPr>
        <p:spPr>
          <a:xfrm>
            <a:off x="8128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5" name="Picture 4" descr="14abb052316bca6838ae130b0aff4182.png"/>
          <p:cNvPicPr>
            <a:picLocks noChangeAspect="1"/>
          </p:cNvPicPr>
          <p:nvPr/>
        </p:nvPicPr>
        <p:blipFill>
          <a:blip r:embed="rId3"/>
          <a:stretch>
            <a:fillRect/>
          </a:stretch>
        </p:blipFill>
        <p:spPr>
          <a:xfrm>
            <a:off x="1054100" y="2148183"/>
            <a:ext cx="2921000" cy="1078115"/>
          </a:xfrm>
          <a:prstGeom prst="rect">
            <a:avLst/>
          </a:prstGeom>
        </p:spPr>
      </p:pic>
      <p:sp>
        <p:nvSpPr>
          <p:cNvPr id="6" name="TextBox 5"/>
          <p:cNvSpPr txBox="1">
            <a:spLocks/>
          </p:cNvSpPr>
          <p:nvPr/>
        </p:nvSpPr>
        <p:spPr>
          <a:xfrm>
            <a:off x="812800" y="3931841"/>
            <a:ext cx="3454400" cy="222885"/>
          </a:xfrm>
          <a:prstGeom prst="rect">
            <a:avLst/>
          </a:prstGeom>
          <a:noFill/>
        </p:spPr>
        <p:txBody>
          <a:bodyPr wrap="none" lIns="0" tIns="0" rIns="0" bIns="0" anchor="t">
            <a:noAutofit/>
          </a:bodyPr>
          <a:lstStyle/>
          <a:p>
            <a:pPr algn="l">
              <a:lnSpc>
                <a:spcPts val="1755"/>
              </a:lnSpc>
            </a:pPr>
            <a:r>
              <a:rPr lang="nl-BE" sz="1300" b="0" i="0">
                <a:solidFill>
                  <a:srgbClr val="3A4F63"/>
                </a:solidFill>
                <a:latin typeface="DM Sans"/>
              </a:rPr>
              <a:t>Licht: formulieren en patiëntenmateriaal</a:t>
            </a:r>
          </a:p>
        </p:txBody>
      </p:sp>
      <p:sp>
        <p:nvSpPr>
          <p:cNvPr id="7" name="Rounded Rectangle 6"/>
          <p:cNvSpPr>
            <a:spLocks/>
          </p:cNvSpPr>
          <p:nvPr/>
        </p:nvSpPr>
        <p:spPr>
          <a:xfrm>
            <a:off x="43942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26a7dee763c7c6bdb630f5266dca120c.png"/>
          <p:cNvPicPr>
            <a:picLocks noChangeAspect="1"/>
          </p:cNvPicPr>
          <p:nvPr/>
        </p:nvPicPr>
        <p:blipFill>
          <a:blip r:embed="rId4"/>
          <a:stretch>
            <a:fillRect/>
          </a:stretch>
        </p:blipFill>
        <p:spPr>
          <a:xfrm>
            <a:off x="5270500" y="1956991"/>
            <a:ext cx="1651000" cy="1460500"/>
          </a:xfrm>
          <a:prstGeom prst="rect">
            <a:avLst/>
          </a:prstGeom>
        </p:spPr>
      </p:pic>
      <p:sp>
        <p:nvSpPr>
          <p:cNvPr id="9" name="TextBox 8"/>
          <p:cNvSpPr txBox="1">
            <a:spLocks/>
          </p:cNvSpPr>
          <p:nvPr/>
        </p:nvSpPr>
        <p:spPr>
          <a:xfrm>
            <a:off x="4368800" y="3931841"/>
            <a:ext cx="3454400" cy="222885"/>
          </a:xfrm>
          <a:prstGeom prst="rect">
            <a:avLst/>
          </a:prstGeom>
          <a:noFill/>
        </p:spPr>
        <p:txBody>
          <a:bodyPr wrap="none" lIns="0" tIns="0" rIns="0" bIns="0" anchor="t">
            <a:noAutofit/>
          </a:bodyPr>
          <a:lstStyle/>
          <a:p>
            <a:pPr algn="ctr">
              <a:lnSpc>
                <a:spcPts val="1755"/>
              </a:lnSpc>
            </a:pPr>
            <a:r>
              <a:rPr lang="nl-BE" sz="1300" b="0" i="0">
                <a:solidFill>
                  <a:srgbClr val="3A4F63"/>
                </a:solidFill>
                <a:latin typeface="DM Sans"/>
              </a:rPr>
              <a:t>Nieuw idee uitwerken</a:t>
            </a:r>
          </a:p>
        </p:txBody>
      </p:sp>
      <p:sp>
        <p:nvSpPr>
          <p:cNvPr id="10" name="Rounded Rectangle 9"/>
          <p:cNvSpPr>
            <a:spLocks/>
          </p:cNvSpPr>
          <p:nvPr/>
        </p:nvSpPr>
        <p:spPr>
          <a:xfrm>
            <a:off x="7975600" y="1544241"/>
            <a:ext cx="3403600" cy="2286000"/>
          </a:xfrm>
          <a:prstGeom prst="roundRect">
            <a:avLst>
              <a:gd name="adj" fmla="val 5555"/>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11" name="Picture 10" descr="27f39b7b096b67629011c49f0e7b794e.png"/>
          <p:cNvPicPr>
            <a:picLocks noChangeAspect="1"/>
          </p:cNvPicPr>
          <p:nvPr/>
        </p:nvPicPr>
        <p:blipFill>
          <a:blip r:embed="rId5"/>
          <a:stretch>
            <a:fillRect/>
          </a:stretch>
        </p:blipFill>
        <p:spPr>
          <a:xfrm>
            <a:off x="8978900" y="1888955"/>
            <a:ext cx="1397000" cy="1596571"/>
          </a:xfrm>
          <a:prstGeom prst="rect">
            <a:avLst/>
          </a:prstGeom>
        </p:spPr>
      </p:pic>
      <p:sp>
        <p:nvSpPr>
          <p:cNvPr id="12" name="TextBox 11"/>
          <p:cNvSpPr txBox="1">
            <a:spLocks/>
          </p:cNvSpPr>
          <p:nvPr/>
        </p:nvSpPr>
        <p:spPr>
          <a:xfrm>
            <a:off x="7975600" y="3931841"/>
            <a:ext cx="3454400" cy="222885"/>
          </a:xfrm>
          <a:prstGeom prst="rect">
            <a:avLst/>
          </a:prstGeom>
          <a:noFill/>
        </p:spPr>
        <p:txBody>
          <a:bodyPr wrap="none" lIns="0" tIns="0" rIns="0" bIns="0" anchor="t">
            <a:noAutofit/>
          </a:bodyPr>
          <a:lstStyle/>
          <a:p>
            <a:pPr algn="l">
              <a:lnSpc>
                <a:spcPts val="1755"/>
              </a:lnSpc>
            </a:pPr>
            <a:r>
              <a:rPr lang="nl-BE" sz="1300" b="0" i="0">
                <a:solidFill>
                  <a:srgbClr val="3A4F63"/>
                </a:solidFill>
                <a:latin typeface="DM Sans"/>
              </a:rPr>
              <a:t>Symbool: klein formaat</a:t>
            </a:r>
          </a:p>
        </p:txBody>
      </p:sp>
      <p:sp>
        <p:nvSpPr>
          <p:cNvPr id="13" name="TextBox 12"/>
          <p:cNvSpPr txBox="1"/>
          <p:nvPr/>
        </p:nvSpPr>
        <p:spPr>
          <a:xfrm>
            <a:off x="812800" y="4383286"/>
            <a:ext cx="10617200" cy="257175"/>
          </a:xfrm>
          <a:prstGeom prst="rect">
            <a:avLst/>
          </a:prstGeom>
          <a:noFill/>
        </p:spPr>
        <p:txBody>
          <a:bodyPr wrap="none" lIns="0" tIns="0" rIns="0" bIns="0" anchor="t">
            <a:noAutofit/>
          </a:bodyPr>
          <a:lstStyle/>
          <a:p>
            <a:pPr algn="l">
              <a:lnSpc>
                <a:spcPts val="2025"/>
              </a:lnSpc>
            </a:pPr>
            <a:r>
              <a:rPr lang="nl-NL" sz="1500" b="0" i="0">
                <a:solidFill>
                  <a:srgbClr val="0A2540"/>
                </a:solidFill>
                <a:latin typeface="DM Sans"/>
              </a:rPr>
              <a:t>Akkoord om dit logo overal te gebruiken, of zijn er aanpassingen?</a:t>
            </a:r>
          </a:p>
        </p:txBody>
      </p:sp>
      <p:pic>
        <p:nvPicPr>
          <p:cNvPr id="14" name="Picture 13"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15" name="TextBox 14"/>
          <p:cNvSpPr txBox="1">
            <a:spLocks/>
          </p:cNvSpPr>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Bespreking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vragen, en wat we voorleggen</a:t>
            </a:r>
          </a:p>
        </p:txBody>
      </p:sp>
      <p:sp>
        <p:nvSpPr>
          <p:cNvPr id="3" name="TextBox 2"/>
          <p:cNvSpPr txBox="1">
            <a:spLocks/>
          </p:cNvSpPr>
          <p:nvPr/>
        </p:nvSpPr>
        <p:spPr>
          <a:xfrm>
            <a:off x="812800" y="1544241"/>
            <a:ext cx="5887442" cy="198120"/>
          </a:xfrm>
          <a:prstGeom prst="rect">
            <a:avLst/>
          </a:prstGeom>
          <a:noFill/>
        </p:spPr>
        <p:txBody>
          <a:bodyPr wrap="none" lIns="0" tIns="0" rIns="0" bIns="0" anchor="t">
            <a:noAutofit/>
          </a:bodyPr>
          <a:lstStyle/>
          <a:p>
            <a:pPr algn="l"/>
            <a:r>
              <a:rPr lang="nl-BE" sz="1200" b="1" i="0">
                <a:solidFill>
                  <a:srgbClr val="0B6E8F"/>
                </a:solidFill>
                <a:latin typeface="DM Sans"/>
              </a:rPr>
              <a:t>Wat we vragen</a:t>
            </a:r>
          </a:p>
        </p:txBody>
      </p:sp>
      <p:sp>
        <p:nvSpPr>
          <p:cNvPr id="4" name="TextBox 3"/>
          <p:cNvSpPr txBox="1"/>
          <p:nvPr/>
        </p:nvSpPr>
        <p:spPr>
          <a:xfrm>
            <a:off x="812800" y="1937941"/>
            <a:ext cx="202605" cy="198120"/>
          </a:xfrm>
          <a:prstGeom prst="rect">
            <a:avLst/>
          </a:prstGeom>
          <a:noFill/>
        </p:spPr>
        <p:txBody>
          <a:bodyPr wrap="none" lIns="0" tIns="0" rIns="0" bIns="0" anchor="t">
            <a:noAutofit/>
          </a:bodyPr>
          <a:lstStyle/>
          <a:p>
            <a:pPr algn="l"/>
            <a:r>
              <a:rPr sz="1200" b="0" i="0">
                <a:solidFill>
                  <a:srgbClr val="0B6E8F"/>
                </a:solidFill>
                <a:latin typeface="DM Sans"/>
              </a:rPr>
              <a:t>01</a:t>
            </a:r>
          </a:p>
        </p:txBody>
      </p:sp>
      <p:sp>
        <p:nvSpPr>
          <p:cNvPr id="5" name="TextBox 4"/>
          <p:cNvSpPr txBox="1">
            <a:spLocks/>
          </p:cNvSpPr>
          <p:nvPr/>
        </p:nvSpPr>
        <p:spPr>
          <a:xfrm>
            <a:off x="1117005" y="1893491"/>
            <a:ext cx="2503289" cy="264160"/>
          </a:xfrm>
          <a:prstGeom prst="rect">
            <a:avLst/>
          </a:prstGeom>
          <a:noFill/>
        </p:spPr>
        <p:txBody>
          <a:bodyPr wrap="none" lIns="0" tIns="0" rIns="0" bIns="0" anchor="t">
            <a:noAutofit/>
          </a:bodyPr>
          <a:lstStyle/>
          <a:p>
            <a:pPr algn="l">
              <a:lnSpc>
                <a:spcPts val="2080"/>
              </a:lnSpc>
            </a:pPr>
            <a:r>
              <a:rPr lang="nl-BE" sz="1600" b="1" i="0">
                <a:solidFill>
                  <a:srgbClr val="0A2540"/>
                </a:solidFill>
                <a:latin typeface="DM Sans"/>
              </a:rPr>
              <a:t>Drie inclusies per maand</a:t>
            </a:r>
          </a:p>
        </p:txBody>
      </p:sp>
      <p:sp>
        <p:nvSpPr>
          <p:cNvPr id="6" name="Rectangle 5"/>
          <p:cNvSpPr>
            <a:spLocks/>
          </p:cNvSpPr>
          <p:nvPr/>
        </p:nvSpPr>
        <p:spPr>
          <a:xfrm>
            <a:off x="812800" y="225921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7" name="TextBox 6"/>
          <p:cNvSpPr txBox="1">
            <a:spLocks/>
          </p:cNvSpPr>
          <p:nvPr/>
        </p:nvSpPr>
        <p:spPr>
          <a:xfrm>
            <a:off x="812800" y="2411611"/>
            <a:ext cx="241300" cy="198120"/>
          </a:xfrm>
          <a:prstGeom prst="rect">
            <a:avLst/>
          </a:prstGeom>
          <a:noFill/>
        </p:spPr>
        <p:txBody>
          <a:bodyPr wrap="none" lIns="0" tIns="0" rIns="0" bIns="0" anchor="t">
            <a:noAutofit/>
          </a:bodyPr>
          <a:lstStyle/>
          <a:p>
            <a:pPr algn="l"/>
            <a:r>
              <a:rPr lang="nl-BE" sz="1200" b="0" i="0">
                <a:solidFill>
                  <a:srgbClr val="0B6E8F"/>
                </a:solidFill>
                <a:latin typeface="DM Sans"/>
              </a:rPr>
              <a:t>02</a:t>
            </a:r>
          </a:p>
        </p:txBody>
      </p:sp>
      <p:sp>
        <p:nvSpPr>
          <p:cNvPr id="8" name="TextBox 7"/>
          <p:cNvSpPr txBox="1"/>
          <p:nvPr/>
        </p:nvSpPr>
        <p:spPr>
          <a:xfrm>
            <a:off x="1155700" y="2367161"/>
            <a:ext cx="3755033" cy="264160"/>
          </a:xfrm>
          <a:prstGeom prst="rect">
            <a:avLst/>
          </a:prstGeom>
          <a:noFill/>
        </p:spPr>
        <p:txBody>
          <a:bodyPr wrap="none" lIns="0" tIns="0" rIns="0" bIns="0" anchor="t">
            <a:noAutofit/>
          </a:bodyPr>
          <a:lstStyle/>
          <a:p>
            <a:pPr algn="l">
              <a:lnSpc>
                <a:spcPts val="2080"/>
              </a:lnSpc>
            </a:pPr>
            <a:r>
              <a:rPr sz="1600" b="1" i="0">
                <a:solidFill>
                  <a:srgbClr val="0A2540"/>
                </a:solidFill>
                <a:latin typeface="DM Sans"/>
              </a:rPr>
              <a:t>De fiche terug</a:t>
            </a:r>
            <a:r>
              <a:rPr sz="1600" b="0" i="0">
                <a:solidFill>
                  <a:srgbClr val="0A2540"/>
                </a:solidFill>
                <a:latin typeface="DM Sans"/>
              </a:rPr>
              <a:t> </a:t>
            </a:r>
            <a:r>
              <a:rPr sz="1600" b="0" i="0">
                <a:solidFill>
                  <a:srgbClr val="5A6E80"/>
                </a:solidFill>
                <a:latin typeface="DM Sans"/>
              </a:rPr>
              <a:t>tegen vrijdag 16 oktober</a:t>
            </a:r>
          </a:p>
        </p:txBody>
      </p:sp>
      <p:sp>
        <p:nvSpPr>
          <p:cNvPr id="9" name="Rectangle 8"/>
          <p:cNvSpPr/>
          <p:nvPr/>
        </p:nvSpPr>
        <p:spPr>
          <a:xfrm>
            <a:off x="812800" y="273288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812800" y="2885281"/>
            <a:ext cx="245170" cy="198120"/>
          </a:xfrm>
          <a:prstGeom prst="rect">
            <a:avLst/>
          </a:prstGeom>
          <a:noFill/>
        </p:spPr>
        <p:txBody>
          <a:bodyPr wrap="none" lIns="0" tIns="0" rIns="0" bIns="0" anchor="t">
            <a:noAutofit/>
          </a:bodyPr>
          <a:lstStyle/>
          <a:p>
            <a:pPr algn="l"/>
            <a:r>
              <a:rPr lang="nl-BE" sz="1200" b="0" i="0">
                <a:solidFill>
                  <a:srgbClr val="0B6E8F"/>
                </a:solidFill>
                <a:latin typeface="DM Sans"/>
              </a:rPr>
              <a:t>03</a:t>
            </a:r>
          </a:p>
        </p:txBody>
      </p:sp>
      <p:sp>
        <p:nvSpPr>
          <p:cNvPr id="11" name="TextBox 10"/>
          <p:cNvSpPr txBox="1">
            <a:spLocks/>
          </p:cNvSpPr>
          <p:nvPr/>
        </p:nvSpPr>
        <p:spPr>
          <a:xfrm>
            <a:off x="1159570" y="2840831"/>
            <a:ext cx="5309890" cy="264160"/>
          </a:xfrm>
          <a:prstGeom prst="rect">
            <a:avLst/>
          </a:prstGeom>
          <a:noFill/>
        </p:spPr>
        <p:txBody>
          <a:bodyPr wrap="none" lIns="0" tIns="0" rIns="0" bIns="0" anchor="t">
            <a:noAutofit/>
          </a:bodyPr>
          <a:lstStyle/>
          <a:p>
            <a:pPr algn="l">
              <a:lnSpc>
                <a:spcPts val="2080"/>
              </a:lnSpc>
            </a:pPr>
            <a:r>
              <a:rPr lang="nl-NL" sz="1600" b="1" i="0">
                <a:solidFill>
                  <a:srgbClr val="0A2540"/>
                </a:solidFill>
                <a:latin typeface="DM Sans"/>
              </a:rPr>
              <a:t>Wie deelneemt</a:t>
            </a:r>
            <a:r>
              <a:rPr lang="nl-NL" sz="1600" b="0" i="0">
                <a:solidFill>
                  <a:srgbClr val="0A2540"/>
                </a:solidFill>
                <a:latin typeface="DM Sans"/>
              </a:rPr>
              <a:t> </a:t>
            </a:r>
            <a:r>
              <a:rPr lang="nl-NL" sz="1600" b="0" i="0">
                <a:solidFill>
                  <a:srgbClr val="5A6E80"/>
                </a:solidFill>
                <a:latin typeface="DM Sans"/>
              </a:rPr>
              <a:t>podologen, verpleegkundigen en artsen</a:t>
            </a:r>
          </a:p>
        </p:txBody>
      </p:sp>
      <p:sp>
        <p:nvSpPr>
          <p:cNvPr id="12" name="Rectangle 11"/>
          <p:cNvSpPr/>
          <p:nvPr/>
        </p:nvSpPr>
        <p:spPr>
          <a:xfrm>
            <a:off x="812800" y="320655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a:spLocks/>
          </p:cNvSpPr>
          <p:nvPr/>
        </p:nvSpPr>
        <p:spPr>
          <a:xfrm>
            <a:off x="812800" y="3358952"/>
            <a:ext cx="247551" cy="198120"/>
          </a:xfrm>
          <a:prstGeom prst="rect">
            <a:avLst/>
          </a:prstGeom>
          <a:noFill/>
        </p:spPr>
        <p:txBody>
          <a:bodyPr wrap="none" lIns="0" tIns="0" rIns="0" bIns="0" anchor="t">
            <a:noAutofit/>
          </a:bodyPr>
          <a:lstStyle/>
          <a:p>
            <a:pPr algn="l"/>
            <a:r>
              <a:rPr lang="nl-BE" sz="1200" b="0" i="0">
                <a:solidFill>
                  <a:srgbClr val="0B6E8F"/>
                </a:solidFill>
                <a:latin typeface="DM Sans"/>
              </a:rPr>
              <a:t>04</a:t>
            </a:r>
          </a:p>
        </p:txBody>
      </p:sp>
      <p:sp>
        <p:nvSpPr>
          <p:cNvPr id="14" name="TextBox 13"/>
          <p:cNvSpPr txBox="1"/>
          <p:nvPr/>
        </p:nvSpPr>
        <p:spPr>
          <a:xfrm>
            <a:off x="1161951" y="3314502"/>
            <a:ext cx="5411490" cy="264160"/>
          </a:xfrm>
          <a:prstGeom prst="rect">
            <a:avLst/>
          </a:prstGeom>
          <a:noFill/>
        </p:spPr>
        <p:txBody>
          <a:bodyPr wrap="none" lIns="0" tIns="0" rIns="0" bIns="0" anchor="t">
            <a:noAutofit/>
          </a:bodyPr>
          <a:lstStyle/>
          <a:p>
            <a:pPr algn="l">
              <a:lnSpc>
                <a:spcPts val="2080"/>
              </a:lnSpc>
            </a:pPr>
            <a:r>
              <a:rPr lang="nl-NL" sz="1600" b="1" i="0">
                <a:solidFill>
                  <a:srgbClr val="0A2540"/>
                </a:solidFill>
                <a:latin typeface="DM Sans"/>
              </a:rPr>
              <a:t>De drukmeting geïnstalleerd</a:t>
            </a:r>
            <a:r>
              <a:rPr lang="nl-NL" sz="1600" b="0" i="0">
                <a:solidFill>
                  <a:srgbClr val="0A2540"/>
                </a:solidFill>
                <a:latin typeface="DM Sans"/>
              </a:rPr>
              <a:t> </a:t>
            </a:r>
            <a:r>
              <a:rPr lang="nl-NL" sz="1600" b="0" i="0">
                <a:solidFill>
                  <a:srgbClr val="5A6E80"/>
                </a:solidFill>
                <a:latin typeface="DM Sans"/>
              </a:rPr>
              <a:t>vóór uw technologiesessie</a:t>
            </a:r>
          </a:p>
        </p:txBody>
      </p:sp>
      <p:sp>
        <p:nvSpPr>
          <p:cNvPr id="15" name="Rectangle 14"/>
          <p:cNvSpPr/>
          <p:nvPr/>
        </p:nvSpPr>
        <p:spPr>
          <a:xfrm>
            <a:off x="812800" y="368022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6" name="TextBox 15"/>
          <p:cNvSpPr txBox="1"/>
          <p:nvPr/>
        </p:nvSpPr>
        <p:spPr>
          <a:xfrm>
            <a:off x="812800" y="3832622"/>
            <a:ext cx="248047" cy="198120"/>
          </a:xfrm>
          <a:prstGeom prst="rect">
            <a:avLst/>
          </a:prstGeom>
          <a:noFill/>
        </p:spPr>
        <p:txBody>
          <a:bodyPr wrap="none" lIns="0" tIns="0" rIns="0" bIns="0" anchor="t">
            <a:noAutofit/>
          </a:bodyPr>
          <a:lstStyle/>
          <a:p>
            <a:pPr algn="l"/>
            <a:r>
              <a:rPr sz="1200" b="0" i="0">
                <a:solidFill>
                  <a:srgbClr val="0B6E8F"/>
                </a:solidFill>
                <a:latin typeface="DM Sans"/>
              </a:rPr>
              <a:t>05</a:t>
            </a:r>
          </a:p>
        </p:txBody>
      </p:sp>
      <p:sp>
        <p:nvSpPr>
          <p:cNvPr id="17" name="TextBox 16"/>
          <p:cNvSpPr txBox="1">
            <a:spLocks/>
          </p:cNvSpPr>
          <p:nvPr/>
        </p:nvSpPr>
        <p:spPr>
          <a:xfrm>
            <a:off x="1162447" y="3788172"/>
            <a:ext cx="5596735" cy="528241"/>
          </a:xfrm>
          <a:prstGeom prst="rect">
            <a:avLst/>
          </a:prstGeom>
          <a:noFill/>
        </p:spPr>
        <p:txBody>
          <a:bodyPr wrap="square" lIns="0" tIns="0" rIns="0" bIns="0" anchor="t">
            <a:noAutofit/>
          </a:bodyPr>
          <a:lstStyle/>
          <a:p>
            <a:pPr algn="l">
              <a:lnSpc>
                <a:spcPts val="2080"/>
              </a:lnSpc>
            </a:pPr>
            <a:r>
              <a:rPr lang="nl-BE" sz="1600" b="1" i="0">
                <a:solidFill>
                  <a:srgbClr val="0A2540"/>
                </a:solidFill>
                <a:latin typeface="DM Sans"/>
              </a:rPr>
              <a:t>paradise-tbm@kuleuven.be</a:t>
            </a:r>
            <a:r>
              <a:rPr lang="nl-BE" sz="1600" b="0" i="0">
                <a:solidFill>
                  <a:srgbClr val="0A2540"/>
                </a:solidFill>
                <a:latin typeface="DM Sans"/>
              </a:rPr>
              <a:t> </a:t>
            </a:r>
            <a:r>
              <a:rPr lang="nl-BE" sz="1600" b="0" i="0">
                <a:solidFill>
                  <a:srgbClr val="5A6E80"/>
                </a:solidFill>
                <a:latin typeface="DM Sans"/>
              </a:rPr>
              <a:t>voor alle mails over PARADISE</a:t>
            </a:r>
          </a:p>
        </p:txBody>
      </p:sp>
      <p:sp>
        <p:nvSpPr>
          <p:cNvPr id="18" name="TextBox 17"/>
          <p:cNvSpPr txBox="1"/>
          <p:nvPr/>
        </p:nvSpPr>
        <p:spPr>
          <a:xfrm>
            <a:off x="7055842" y="1544241"/>
            <a:ext cx="4374158" cy="198120"/>
          </a:xfrm>
          <a:prstGeom prst="rect">
            <a:avLst/>
          </a:prstGeom>
          <a:noFill/>
        </p:spPr>
        <p:txBody>
          <a:bodyPr wrap="none" lIns="0" tIns="0" rIns="0" bIns="0" anchor="t">
            <a:noAutofit/>
          </a:bodyPr>
          <a:lstStyle/>
          <a:p>
            <a:pPr algn="l"/>
            <a:r>
              <a:rPr lang="nl-BE" sz="1200" b="1" i="0">
                <a:solidFill>
                  <a:srgbClr val="A34A00"/>
                </a:solidFill>
                <a:latin typeface="DM Sans"/>
              </a:rPr>
              <a:t>Ter bespreking</a:t>
            </a:r>
          </a:p>
        </p:txBody>
      </p:sp>
      <p:sp>
        <p:nvSpPr>
          <p:cNvPr id="19" name="Rectangle 18"/>
          <p:cNvSpPr/>
          <p:nvPr/>
        </p:nvSpPr>
        <p:spPr>
          <a:xfrm>
            <a:off x="7055842" y="1868091"/>
            <a:ext cx="4323358"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0" name="TextBox 19"/>
          <p:cNvSpPr txBox="1"/>
          <p:nvPr/>
        </p:nvSpPr>
        <p:spPr>
          <a:xfrm>
            <a:off x="7055842" y="2007791"/>
            <a:ext cx="4374158" cy="238125"/>
          </a:xfrm>
          <a:prstGeom prst="rect">
            <a:avLst/>
          </a:prstGeom>
          <a:noFill/>
        </p:spPr>
        <p:txBody>
          <a:bodyPr wrap="none" lIns="0" tIns="0" rIns="0" bIns="0" anchor="t">
            <a:noAutofit/>
          </a:bodyPr>
          <a:lstStyle/>
          <a:p>
            <a:pPr algn="l">
              <a:lnSpc>
                <a:spcPts val="1875"/>
              </a:lnSpc>
            </a:pPr>
            <a:r>
              <a:rPr sz="1500" b="1" i="0">
                <a:solidFill>
                  <a:srgbClr val="0A2540"/>
                </a:solidFill>
                <a:latin typeface="DM Sans"/>
              </a:rPr>
              <a:t>Twaalf maanden inclusie, geen achttien</a:t>
            </a:r>
          </a:p>
        </p:txBody>
      </p:sp>
      <p:sp>
        <p:nvSpPr>
          <p:cNvPr id="21" name="TextBox 20"/>
          <p:cNvSpPr txBox="1">
            <a:spLocks/>
          </p:cNvSpPr>
          <p:nvPr/>
        </p:nvSpPr>
        <p:spPr>
          <a:xfrm>
            <a:off x="7055842" y="2309416"/>
            <a:ext cx="4374158" cy="240030"/>
          </a:xfrm>
          <a:prstGeom prst="rect">
            <a:avLst/>
          </a:prstGeom>
          <a:noFill/>
        </p:spPr>
        <p:txBody>
          <a:bodyPr wrap="none" lIns="0" tIns="0" rIns="0" bIns="0" anchor="t">
            <a:noAutofit/>
          </a:bodyPr>
          <a:lstStyle/>
          <a:p>
            <a:pPr algn="l">
              <a:lnSpc>
                <a:spcPts val="1889"/>
              </a:lnSpc>
            </a:pPr>
            <a:r>
              <a:rPr lang="nl-NL" sz="1400" b="0" i="0">
                <a:solidFill>
                  <a:srgbClr val="3A4F63"/>
                </a:solidFill>
                <a:latin typeface="DM Sans"/>
              </a:rPr>
              <a:t>Evenveel uren, meer tijd voor de verwerking.</a:t>
            </a:r>
          </a:p>
        </p:txBody>
      </p:sp>
      <p:pic>
        <p:nvPicPr>
          <p:cNvPr id="22" name="Picture 2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3" name="TextBox 22"/>
          <p:cNvSpPr txBox="1">
            <a:spLocks/>
          </p:cNvSpPr>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Bespreking</a:t>
            </a:r>
          </a:p>
        </p:txBody>
      </p:sp>
      <p:sp>
        <p:nvSpPr>
          <p:cNvPr id="24" name="TextBox 2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paradise-tbm@kuleuven.be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4e287ae005ab9f8997461f000820af22.png"/>
          <p:cNvPicPr>
            <a:picLocks noChangeAspect="1"/>
          </p:cNvPicPr>
          <p:nvPr/>
        </p:nvPicPr>
        <p:blipFill>
          <a:blip r:embed="rId3"/>
          <a:stretch>
            <a:fillRect/>
          </a:stretch>
        </p:blipFill>
        <p:spPr>
          <a:xfrm>
            <a:off x="7874000" y="0"/>
            <a:ext cx="6388100" cy="7302500"/>
          </a:xfrm>
          <a:prstGeom prst="rect">
            <a:avLst/>
          </a:prstGeom>
        </p:spPr>
      </p:pic>
      <p:sp>
        <p:nvSpPr>
          <p:cNvPr id="3" name="Rounded Rectangle 2"/>
          <p:cNvSpPr>
            <a:spLocks/>
          </p:cNvSpPr>
          <p:nvPr/>
        </p:nvSpPr>
        <p:spPr>
          <a:xfrm>
            <a:off x="8128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4" name="Picture 3" descr="4fe31fe826e2a686c44b2a9df6f4ec34.png"/>
          <p:cNvPicPr>
            <a:picLocks noChangeAspect="1"/>
          </p:cNvPicPr>
          <p:nvPr/>
        </p:nvPicPr>
        <p:blipFill>
          <a:blip r:embed="rId4"/>
          <a:stretch>
            <a:fillRect/>
          </a:stretch>
        </p:blipFill>
        <p:spPr>
          <a:xfrm>
            <a:off x="819150" y="1847850"/>
            <a:ext cx="2476500" cy="1393031"/>
          </a:xfrm>
          <a:prstGeom prst="rect">
            <a:avLst/>
          </a:prstGeom>
        </p:spPr>
      </p:pic>
      <p:sp>
        <p:nvSpPr>
          <p:cNvPr id="5" name="Rounded Rectangle 4"/>
          <p:cNvSpPr>
            <a:spLocks/>
          </p:cNvSpPr>
          <p:nvPr/>
        </p:nvSpPr>
        <p:spPr>
          <a:xfrm>
            <a:off x="8128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6" name="TextBox 5"/>
          <p:cNvSpPr txBox="1"/>
          <p:nvPr/>
        </p:nvSpPr>
        <p:spPr>
          <a:xfrm>
            <a:off x="8128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1 Stand van zaken</a:t>
            </a:r>
          </a:p>
        </p:txBody>
      </p:sp>
      <p:sp>
        <p:nvSpPr>
          <p:cNvPr id="7" name="Rounded Rectangle 6"/>
          <p:cNvSpPr/>
          <p:nvPr/>
        </p:nvSpPr>
        <p:spPr>
          <a:xfrm>
            <a:off x="35052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8" name="Picture 7" descr="af6c315e3b6c8da4983f797f076543ae.png"/>
          <p:cNvPicPr>
            <a:picLocks noChangeAspect="1"/>
          </p:cNvPicPr>
          <p:nvPr/>
        </p:nvPicPr>
        <p:blipFill>
          <a:blip r:embed="rId5"/>
          <a:stretch>
            <a:fillRect/>
          </a:stretch>
        </p:blipFill>
        <p:spPr>
          <a:xfrm>
            <a:off x="3511550" y="1847850"/>
            <a:ext cx="2476500" cy="1393031"/>
          </a:xfrm>
          <a:prstGeom prst="rect">
            <a:avLst/>
          </a:prstGeom>
        </p:spPr>
      </p:pic>
      <p:sp>
        <p:nvSpPr>
          <p:cNvPr id="9" name="Rounded Rectangle 8"/>
          <p:cNvSpPr/>
          <p:nvPr/>
        </p:nvSpPr>
        <p:spPr>
          <a:xfrm>
            <a:off x="35052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3505200" y="3327400"/>
            <a:ext cx="2540000" cy="213360"/>
          </a:xfrm>
          <a:prstGeom prst="rect">
            <a:avLst/>
          </a:prstGeom>
          <a:noFill/>
        </p:spPr>
        <p:txBody>
          <a:bodyPr wrap="none" lIns="0" tIns="0" rIns="0" bIns="0" anchor="t">
            <a:noAutofit/>
          </a:bodyPr>
          <a:lstStyle/>
          <a:p>
            <a:pPr algn="l">
              <a:lnSpc>
                <a:spcPts val="1680"/>
              </a:lnSpc>
            </a:pPr>
            <a:r>
              <a:rPr lang="nl-NL" sz="1400" b="0" i="0">
                <a:solidFill>
                  <a:srgbClr val="9FB3C6"/>
                </a:solidFill>
                <a:latin typeface="DM Sans"/>
              </a:rPr>
              <a:t>2 Ontwikkelingen sinds 1 april</a:t>
            </a:r>
          </a:p>
        </p:txBody>
      </p:sp>
      <p:sp>
        <p:nvSpPr>
          <p:cNvPr id="11" name="Rounded Rectangle 10"/>
          <p:cNvSpPr/>
          <p:nvPr/>
        </p:nvSpPr>
        <p:spPr>
          <a:xfrm>
            <a:off x="61976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pic>
        <p:nvPicPr>
          <p:cNvPr id="12" name="Picture 11" descr="b3575449de919ba8ba77497cf770d56b.png"/>
          <p:cNvPicPr>
            <a:picLocks noChangeAspect="1"/>
          </p:cNvPicPr>
          <p:nvPr/>
        </p:nvPicPr>
        <p:blipFill>
          <a:blip r:embed="rId6"/>
          <a:stretch>
            <a:fillRect/>
          </a:stretch>
        </p:blipFill>
        <p:spPr>
          <a:xfrm>
            <a:off x="6203950" y="1847850"/>
            <a:ext cx="2476500" cy="1393031"/>
          </a:xfrm>
          <a:prstGeom prst="rect">
            <a:avLst/>
          </a:prstGeom>
        </p:spPr>
      </p:pic>
      <p:sp>
        <p:nvSpPr>
          <p:cNvPr id="13" name="Rounded Rectangle 12"/>
          <p:cNvSpPr/>
          <p:nvPr/>
        </p:nvSpPr>
        <p:spPr>
          <a:xfrm>
            <a:off x="61976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97600" y="3327400"/>
            <a:ext cx="2540000" cy="213360"/>
          </a:xfrm>
          <a:prstGeom prst="rect">
            <a:avLst/>
          </a:prstGeom>
          <a:noFill/>
        </p:spPr>
        <p:txBody>
          <a:bodyPr wrap="none" lIns="0" tIns="0" rIns="0" bIns="0" anchor="t">
            <a:noAutofit/>
          </a:bodyPr>
          <a:lstStyle/>
          <a:p>
            <a:pPr algn="l">
              <a:lnSpc>
                <a:spcPts val="1680"/>
              </a:lnSpc>
            </a:pPr>
            <a:r>
              <a:rPr lang="nl-BE" sz="1400" b="0" i="0">
                <a:solidFill>
                  <a:srgbClr val="9FB3C6"/>
                </a:solidFill>
                <a:latin typeface="DM Sans"/>
              </a:rPr>
              <a:t>3 Werkpakketten</a:t>
            </a:r>
          </a:p>
        </p:txBody>
      </p:sp>
      <p:sp>
        <p:nvSpPr>
          <p:cNvPr id="15" name="Rounded Rectangle 14"/>
          <p:cNvSpPr/>
          <p:nvPr/>
        </p:nvSpPr>
        <p:spPr>
          <a:xfrm>
            <a:off x="8890000" y="18415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76718c0faffa53b3e96d91bd5d17d843.png"/>
          <p:cNvPicPr>
            <a:picLocks noChangeAspect="1"/>
          </p:cNvPicPr>
          <p:nvPr/>
        </p:nvPicPr>
        <p:blipFill>
          <a:blip r:embed="rId7"/>
          <a:stretch>
            <a:fillRect/>
          </a:stretch>
        </p:blipFill>
        <p:spPr>
          <a:xfrm>
            <a:off x="8896350" y="1847850"/>
            <a:ext cx="2476500" cy="1393031"/>
          </a:xfrm>
          <a:prstGeom prst="rect">
            <a:avLst/>
          </a:prstGeom>
        </p:spPr>
      </p:pic>
      <p:sp>
        <p:nvSpPr>
          <p:cNvPr id="17" name="Rounded Rectangle 16"/>
          <p:cNvSpPr/>
          <p:nvPr/>
        </p:nvSpPr>
        <p:spPr>
          <a:xfrm>
            <a:off x="8890000" y="18415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890000" y="33274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4 Aandachtspunten</a:t>
            </a:r>
          </a:p>
        </p:txBody>
      </p:sp>
      <p:sp>
        <p:nvSpPr>
          <p:cNvPr id="19" name="Rounded Rectangle 18"/>
          <p:cNvSpPr/>
          <p:nvPr/>
        </p:nvSpPr>
        <p:spPr>
          <a:xfrm>
            <a:off x="21590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c828e07bbef239086018a2f6a17a466c.png"/>
          <p:cNvPicPr>
            <a:picLocks noChangeAspect="1"/>
          </p:cNvPicPr>
          <p:nvPr/>
        </p:nvPicPr>
        <p:blipFill>
          <a:blip r:embed="rId8"/>
          <a:stretch>
            <a:fillRect/>
          </a:stretch>
        </p:blipFill>
        <p:spPr>
          <a:xfrm>
            <a:off x="2165350" y="4121150"/>
            <a:ext cx="2476500" cy="1393031"/>
          </a:xfrm>
          <a:prstGeom prst="rect">
            <a:avLst/>
          </a:prstGeom>
        </p:spPr>
      </p:pic>
      <p:sp>
        <p:nvSpPr>
          <p:cNvPr id="21" name="Rounded Rectangle 20"/>
          <p:cNvSpPr/>
          <p:nvPr/>
        </p:nvSpPr>
        <p:spPr>
          <a:xfrm>
            <a:off x="21590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1590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5 Mijlpalen en planning</a:t>
            </a:r>
          </a:p>
        </p:txBody>
      </p:sp>
      <p:sp>
        <p:nvSpPr>
          <p:cNvPr id="23" name="Rounded Rectangle 22"/>
          <p:cNvSpPr/>
          <p:nvPr/>
        </p:nvSpPr>
        <p:spPr>
          <a:xfrm>
            <a:off x="4851400" y="4114800"/>
            <a:ext cx="2489200" cy="1397000"/>
          </a:xfrm>
          <a:prstGeom prst="roundRect">
            <a:avLst>
              <a:gd name="adj" fmla="val 1363"/>
            </a:avLst>
          </a:prstGeom>
          <a:solidFill>
            <a:srgbClr val="FFFFFF"/>
          </a:solidFill>
          <a:ln w="6350">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a218f23a9d1aeae7790db2aa9d8f48a7.png"/>
          <p:cNvPicPr>
            <a:picLocks noChangeAspect="1"/>
          </p:cNvPicPr>
          <p:nvPr/>
        </p:nvPicPr>
        <p:blipFill>
          <a:blip r:embed="rId9"/>
          <a:stretch>
            <a:fillRect/>
          </a:stretch>
        </p:blipFill>
        <p:spPr>
          <a:xfrm>
            <a:off x="4857750" y="4121150"/>
            <a:ext cx="2476500" cy="1393031"/>
          </a:xfrm>
          <a:prstGeom prst="rect">
            <a:avLst/>
          </a:prstGeom>
        </p:spPr>
      </p:pic>
      <p:sp>
        <p:nvSpPr>
          <p:cNvPr id="25" name="Rounded Rectangle 24"/>
          <p:cNvSpPr/>
          <p:nvPr/>
        </p:nvSpPr>
        <p:spPr>
          <a:xfrm>
            <a:off x="4851400" y="4114800"/>
            <a:ext cx="2489200" cy="1397000"/>
          </a:xfrm>
          <a:prstGeom prst="roundRect">
            <a:avLst>
              <a:gd name="adj" fmla="val 1363"/>
            </a:avLst>
          </a:prstGeom>
          <a:solidFill>
            <a:srgbClr val="F2F6F9">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851400" y="5600700"/>
            <a:ext cx="2540000" cy="213360"/>
          </a:xfrm>
          <a:prstGeom prst="rect">
            <a:avLst/>
          </a:prstGeom>
          <a:noFill/>
        </p:spPr>
        <p:txBody>
          <a:bodyPr wrap="none" lIns="0" tIns="0" rIns="0" bIns="0" anchor="t">
            <a:noAutofit/>
          </a:bodyPr>
          <a:lstStyle/>
          <a:p>
            <a:pPr algn="l">
              <a:lnSpc>
                <a:spcPts val="1680"/>
              </a:lnSpc>
            </a:pPr>
            <a:r>
              <a:rPr sz="1400" b="0" i="0">
                <a:solidFill>
                  <a:srgbClr val="9FB3C6"/>
                </a:solidFill>
                <a:latin typeface="DM Sans"/>
              </a:rPr>
              <a:t>6 Bespreking</a:t>
            </a:r>
          </a:p>
        </p:txBody>
      </p:sp>
      <p:pic>
        <p:nvPicPr>
          <p:cNvPr id="27" name="Picture 26" descr="e49a2c4874452277a94494e99280aaa0.png"/>
          <p:cNvPicPr>
            <a:picLocks noChangeAspect="1"/>
          </p:cNvPicPr>
          <p:nvPr/>
        </p:nvPicPr>
        <p:blipFill>
          <a:blip r:embed="rId10"/>
          <a:stretch>
            <a:fillRect/>
          </a:stretch>
        </p:blipFill>
        <p:spPr>
          <a:xfrm>
            <a:off x="7632700" y="4025900"/>
            <a:ext cx="2311400" cy="1301750"/>
          </a:xfrm>
          <a:prstGeom prst="rect">
            <a:avLst/>
          </a:prstGeom>
        </p:spPr>
      </p:pic>
      <p:sp>
        <p:nvSpPr>
          <p:cNvPr id="28" name="Rounded Rectangle 27"/>
          <p:cNvSpPr/>
          <p:nvPr/>
        </p:nvSpPr>
        <p:spPr>
          <a:xfrm>
            <a:off x="7543800" y="4114800"/>
            <a:ext cx="2489200" cy="1397000"/>
          </a:xfrm>
          <a:prstGeom prst="roundRect">
            <a:avLst>
              <a:gd name="adj" fmla="val 1363"/>
            </a:avLst>
          </a:prstGeom>
          <a:solidFill>
            <a:srgbClr val="FFFFFF"/>
          </a:solidFill>
          <a:ln w="1905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0b3315c9a761b9fd4dfcb184751fa8ea.png"/>
          <p:cNvPicPr>
            <a:picLocks noChangeAspect="1"/>
          </p:cNvPicPr>
          <p:nvPr/>
        </p:nvPicPr>
        <p:blipFill>
          <a:blip r:embed="rId11"/>
          <a:stretch>
            <a:fillRect/>
          </a:stretch>
        </p:blipFill>
        <p:spPr>
          <a:xfrm>
            <a:off x="7562850" y="4133850"/>
            <a:ext cx="2451100" cy="1378744"/>
          </a:xfrm>
          <a:prstGeom prst="rect">
            <a:avLst/>
          </a:prstGeom>
        </p:spPr>
      </p:pic>
      <p:sp>
        <p:nvSpPr>
          <p:cNvPr id="30" name="TextBox 29"/>
          <p:cNvSpPr txBox="1"/>
          <p:nvPr/>
        </p:nvSpPr>
        <p:spPr>
          <a:xfrm>
            <a:off x="7543800" y="5600700"/>
            <a:ext cx="2540000" cy="213360"/>
          </a:xfrm>
          <a:prstGeom prst="rect">
            <a:avLst/>
          </a:prstGeom>
          <a:noFill/>
        </p:spPr>
        <p:txBody>
          <a:bodyPr wrap="none" lIns="0" tIns="0" rIns="0" bIns="0" anchor="t">
            <a:noAutofit/>
          </a:bodyPr>
          <a:lstStyle/>
          <a:p>
            <a:pPr algn="l">
              <a:lnSpc>
                <a:spcPts val="1680"/>
              </a:lnSpc>
            </a:pPr>
            <a:r>
              <a:rPr sz="1400" b="0" i="0">
                <a:solidFill>
                  <a:srgbClr val="A34A00"/>
                </a:solidFill>
                <a:latin typeface="DM Sans"/>
              </a:rPr>
              <a:t>7 Tour de table</a:t>
            </a:r>
          </a:p>
        </p:txBody>
      </p:sp>
      <p:sp>
        <p:nvSpPr>
          <p:cNvPr id="31" name="TextBox 30"/>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vandaag overlopen</a:t>
            </a:r>
          </a:p>
        </p:txBody>
      </p:sp>
      <p:pic>
        <p:nvPicPr>
          <p:cNvPr id="32" name="Picture 31" descr="ec5c93e6f83f209b4e97ddfdecd480c8.png"/>
          <p:cNvPicPr>
            <a:picLocks noChangeAspect="1"/>
          </p:cNvPicPr>
          <p:nvPr/>
        </p:nvPicPr>
        <p:blipFill>
          <a:blip r:embed="rId12"/>
          <a:stretch>
            <a:fillRect/>
          </a:stretch>
        </p:blipFill>
        <p:spPr>
          <a:xfrm>
            <a:off x="812967" y="6261100"/>
            <a:ext cx="171116" cy="203200"/>
          </a:xfrm>
          <a:prstGeom prst="rect">
            <a:avLst/>
          </a:prstGeom>
        </p:spPr>
      </p:pic>
      <p:sp>
        <p:nvSpPr>
          <p:cNvPr id="33" name="TextBox 32"/>
          <p:cNvSpPr txBox="1"/>
          <p:nvPr/>
        </p:nvSpPr>
        <p:spPr>
          <a:xfrm>
            <a:off x="1066800" y="6254750"/>
            <a:ext cx="5765800" cy="198120"/>
          </a:xfrm>
          <a:prstGeom prst="rect">
            <a:avLst/>
          </a:prstGeom>
          <a:noFill/>
        </p:spPr>
        <p:txBody>
          <a:bodyPr wrap="none" lIns="0" tIns="0" rIns="0" bIns="0" anchor="t">
            <a:noAutofit/>
          </a:bodyPr>
          <a:lstStyle/>
          <a:p>
            <a:pPr algn="l"/>
            <a:r>
              <a:rPr sz="1200" b="0" i="0">
                <a:solidFill>
                  <a:srgbClr val="5A6E80"/>
                </a:solidFill>
                <a:latin typeface="DM Sans"/>
              </a:rPr>
              <a:t>PARADISE · kick-off 12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a:spLocks/>
          </p:cNvSpPr>
          <p:nvPr/>
        </p:nvSpPr>
        <p:spPr>
          <a:xfrm>
            <a:off x="812800" y="812800"/>
            <a:ext cx="1955800" cy="5029200"/>
          </a:xfrm>
          <a:prstGeom prst="rect">
            <a:avLst/>
          </a:prstGeom>
          <a:noFill/>
        </p:spPr>
        <p:txBody>
          <a:bodyPr wrap="square" lIns="0" tIns="0" rIns="0" bIns="0" anchor="t">
            <a:noAutofit/>
          </a:bodyPr>
          <a:lstStyle/>
          <a:p>
            <a:pPr algn="l">
              <a:lnSpc>
                <a:spcPts val="16200"/>
              </a:lnSpc>
            </a:pPr>
            <a:r>
              <a:rPr lang="nl-BE" sz="18000" b="0" i="0">
                <a:solidFill>
                  <a:srgbClr val="FF9A3D"/>
                </a:solidFill>
                <a:latin typeface="DM Serif Display"/>
              </a:rPr>
              <a:t>7</a:t>
            </a:r>
          </a:p>
        </p:txBody>
      </p:sp>
      <p:sp>
        <p:nvSpPr>
          <p:cNvPr id="4" name="TextBox 3"/>
          <p:cNvSpPr txBox="1"/>
          <p:nvPr/>
        </p:nvSpPr>
        <p:spPr>
          <a:xfrm>
            <a:off x="3327400" y="812800"/>
            <a:ext cx="8102600" cy="215900"/>
          </a:xfrm>
          <a:prstGeom prst="rect">
            <a:avLst/>
          </a:prstGeom>
          <a:noFill/>
        </p:spPr>
        <p:txBody>
          <a:bodyPr wrap="none" lIns="0" tIns="0" rIns="0" bIns="0" anchor="t">
            <a:noAutofit/>
          </a:bodyPr>
          <a:lstStyle/>
          <a:p>
            <a:pPr algn="l"/>
            <a:r>
              <a:rPr lang="nl-BE" sz="1300" b="1" i="0">
                <a:solidFill>
                  <a:srgbClr val="52BDEC"/>
                </a:solidFill>
                <a:latin typeface="DM Sans"/>
              </a:rPr>
              <a:t>Deel 7 van 7</a:t>
            </a:r>
          </a:p>
        </p:txBody>
      </p:sp>
      <p:sp>
        <p:nvSpPr>
          <p:cNvPr id="5" name="TextBox 4"/>
          <p:cNvSpPr txBox="1"/>
          <p:nvPr/>
        </p:nvSpPr>
        <p:spPr>
          <a:xfrm>
            <a:off x="3327400" y="1206500"/>
            <a:ext cx="8102600" cy="586740"/>
          </a:xfrm>
          <a:prstGeom prst="rect">
            <a:avLst/>
          </a:prstGeom>
          <a:noFill/>
        </p:spPr>
        <p:txBody>
          <a:bodyPr wrap="none" lIns="0" tIns="0" rIns="0" bIns="0" anchor="t">
            <a:noAutofit/>
          </a:bodyPr>
          <a:lstStyle/>
          <a:p>
            <a:pPr algn="l">
              <a:lnSpc>
                <a:spcPts val="4620"/>
              </a:lnSpc>
            </a:pPr>
            <a:r>
              <a:rPr lang="nl-BE" sz="4400" b="0" i="0" spc="-50">
                <a:solidFill>
                  <a:srgbClr val="F2F8FC"/>
                </a:solidFill>
                <a:latin typeface="DM Serif Display"/>
              </a:rPr>
              <a:t>Tour de table</a:t>
            </a:r>
          </a:p>
        </p:txBody>
      </p:sp>
      <p:sp>
        <p:nvSpPr>
          <p:cNvPr id="6" name="TextBox 5"/>
          <p:cNvSpPr txBox="1"/>
          <p:nvPr/>
        </p:nvSpPr>
        <p:spPr>
          <a:xfrm>
            <a:off x="3327400" y="1970980"/>
            <a:ext cx="8102600" cy="335280"/>
          </a:xfrm>
          <a:prstGeom prst="rect">
            <a:avLst/>
          </a:prstGeom>
          <a:noFill/>
        </p:spPr>
        <p:txBody>
          <a:bodyPr wrap="none" lIns="0" tIns="0" rIns="0" bIns="0" anchor="t">
            <a:noAutofit/>
          </a:bodyPr>
          <a:lstStyle/>
          <a:p>
            <a:pPr algn="l">
              <a:lnSpc>
                <a:spcPts val="2640"/>
              </a:lnSpc>
            </a:pPr>
            <a:r>
              <a:rPr lang="nl-NL" sz="2200" b="0" i="1">
                <a:solidFill>
                  <a:srgbClr val="52BDEC"/>
                </a:solidFill>
                <a:latin typeface="DM Serif Display"/>
              </a:rPr>
              <a:t>Wat leeft er in uw centrum?</a:t>
            </a:r>
          </a:p>
        </p:txBody>
      </p:sp>
      <p:sp>
        <p:nvSpPr>
          <p:cNvPr id="7" name="Rectangle 6"/>
          <p:cNvSpPr/>
          <p:nvPr/>
        </p:nvSpPr>
        <p:spPr>
          <a:xfrm>
            <a:off x="3327400" y="449718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27400" y="4592439"/>
            <a:ext cx="8102600" cy="264160"/>
          </a:xfrm>
          <a:prstGeom prst="rect">
            <a:avLst/>
          </a:prstGeom>
          <a:noFill/>
        </p:spPr>
        <p:txBody>
          <a:bodyPr wrap="none" lIns="0" tIns="0" rIns="0" bIns="0" anchor="t">
            <a:noAutofit/>
          </a:bodyPr>
          <a:lstStyle/>
          <a:p>
            <a:pPr algn="l">
              <a:lnSpc>
                <a:spcPts val="2080"/>
              </a:lnSpc>
            </a:pPr>
            <a:r>
              <a:rPr lang="nl-NL" sz="1600" b="0" i="0">
                <a:solidFill>
                  <a:srgbClr val="C5D8E8"/>
                </a:solidFill>
                <a:latin typeface="DM Sans"/>
              </a:rPr>
              <a:t>vijf vragen aan elk centrum</a:t>
            </a:r>
          </a:p>
        </p:txBody>
      </p:sp>
      <p:sp>
        <p:nvSpPr>
          <p:cNvPr id="9" name="Rectangle 8"/>
          <p:cNvSpPr>
            <a:spLocks/>
          </p:cNvSpPr>
          <p:nvPr/>
        </p:nvSpPr>
        <p:spPr>
          <a:xfrm>
            <a:off x="3327400" y="4945459"/>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3327400" y="5040709"/>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Kortrijk Kerngezond, 16 oktober</a:t>
            </a:r>
          </a:p>
        </p:txBody>
      </p:sp>
      <p:sp>
        <p:nvSpPr>
          <p:cNvPr id="11" name="Rectangle 10"/>
          <p:cNvSpPr/>
          <p:nvPr/>
        </p:nvSpPr>
        <p:spPr>
          <a:xfrm>
            <a:off x="3327400" y="5393730"/>
            <a:ext cx="80518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7400" y="5488980"/>
            <a:ext cx="8102600" cy="264160"/>
          </a:xfrm>
          <a:prstGeom prst="rect">
            <a:avLst/>
          </a:prstGeom>
          <a:noFill/>
        </p:spPr>
        <p:txBody>
          <a:bodyPr wrap="none" lIns="0" tIns="0" rIns="0" bIns="0" anchor="t">
            <a:noAutofit/>
          </a:bodyPr>
          <a:lstStyle/>
          <a:p>
            <a:pPr algn="l">
              <a:lnSpc>
                <a:spcPts val="2080"/>
              </a:lnSpc>
            </a:pPr>
            <a:r>
              <a:rPr lang="nl-BE" sz="1600" b="0" i="0">
                <a:solidFill>
                  <a:srgbClr val="C5D8E8"/>
                </a:solidFill>
                <a:latin typeface="DM Sans"/>
              </a:rPr>
              <a:t>wat nu volgt</a:t>
            </a:r>
          </a:p>
        </p:txBody>
      </p:sp>
      <p:pic>
        <p:nvPicPr>
          <p:cNvPr id="13" name="Picture 12"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4" name="TextBox 13"/>
          <p:cNvSpPr txBox="1"/>
          <p:nvPr/>
        </p:nvSpPr>
        <p:spPr>
          <a:xfrm>
            <a:off x="1066800" y="6254750"/>
            <a:ext cx="5765800" cy="198120"/>
          </a:xfrm>
          <a:prstGeom prst="rect">
            <a:avLst/>
          </a:prstGeom>
          <a:noFill/>
        </p:spPr>
        <p:txBody>
          <a:bodyPr wrap="none" lIns="0" tIns="0" rIns="0" bIns="0" anchor="t">
            <a:noAutofit/>
          </a:bodyPr>
          <a:lstStyle/>
          <a:p>
            <a:pPr algn="l"/>
            <a:r>
              <a:rPr lang="nl-BE" sz="1200" b="0" i="0">
                <a:solidFill>
                  <a:srgbClr val="6F8FAA"/>
                </a:solidFill>
                <a:latin typeface="DM Sans"/>
              </a:rPr>
              <a:t>PARADISE · Tour de table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Per centrum, kort</a:t>
            </a:r>
            <a:endParaRPr sz="3600" b="0" i="0" spc="-50">
              <a:solidFill>
                <a:srgbClr val="0A2540"/>
              </a:solidFill>
              <a:latin typeface="DM Serif Display"/>
            </a:endParaRPr>
          </a:p>
        </p:txBody>
      </p:sp>
      <p:sp>
        <p:nvSpPr>
          <p:cNvPr id="3" name="Rectangle 2"/>
          <p:cNvSpPr/>
          <p:nvPr/>
        </p:nvSpPr>
        <p:spPr>
          <a:xfrm>
            <a:off x="8128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833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01</a:t>
            </a:r>
          </a:p>
        </p:txBody>
      </p:sp>
      <p:sp>
        <p:nvSpPr>
          <p:cNvPr id="5" name="TextBox 4"/>
          <p:cNvSpPr txBox="1">
            <a:spLocks/>
          </p:cNvSpPr>
          <p:nvPr/>
        </p:nvSpPr>
        <p:spPr>
          <a:xfrm>
            <a:off x="812800" y="2018308"/>
            <a:ext cx="3454400" cy="360045"/>
          </a:xfrm>
          <a:prstGeom prst="rect">
            <a:avLst/>
          </a:prstGeom>
          <a:noFill/>
        </p:spPr>
        <p:txBody>
          <a:bodyPr wrap="none" lIns="0" tIns="0" rIns="0" bIns="0" anchor="t">
            <a:noAutofit/>
          </a:bodyPr>
          <a:lstStyle/>
          <a:p>
            <a:pPr algn="l">
              <a:lnSpc>
                <a:spcPts val="2835"/>
              </a:lnSpc>
            </a:pPr>
            <a:r>
              <a:rPr lang="nl-BE" sz="2700" b="0" i="0">
                <a:solidFill>
                  <a:srgbClr val="0A2540"/>
                </a:solidFill>
                <a:latin typeface="DM Serif Display"/>
              </a:rPr>
              <a:t>AZ Groeninge</a:t>
            </a:r>
          </a:p>
        </p:txBody>
      </p:sp>
      <p:sp>
        <p:nvSpPr>
          <p:cNvPr id="6" name="TextBox 5"/>
          <p:cNvSpPr txBox="1"/>
          <p:nvPr/>
        </p:nvSpPr>
        <p:spPr>
          <a:xfrm>
            <a:off x="812800" y="2429073"/>
            <a:ext cx="3454400" cy="234950"/>
          </a:xfrm>
          <a:prstGeom prst="rect">
            <a:avLst/>
          </a:prstGeom>
          <a:noFill/>
        </p:spPr>
        <p:txBody>
          <a:bodyPr wrap="none" lIns="0" tIns="0" rIns="0" bIns="0" anchor="t">
            <a:noAutofit/>
          </a:bodyPr>
          <a:lstStyle/>
          <a:p>
            <a:pPr algn="l"/>
            <a:r>
              <a:rPr lang="nl-BE" sz="1400" b="0" i="0">
                <a:solidFill>
                  <a:srgbClr val="5A6E80"/>
                </a:solidFill>
                <a:latin typeface="DM Sans"/>
              </a:rPr>
              <a:t>Kortrijk</a:t>
            </a:r>
          </a:p>
        </p:txBody>
      </p:sp>
      <p:sp>
        <p:nvSpPr>
          <p:cNvPr id="7" name="Rectangle 6"/>
          <p:cNvSpPr>
            <a:spLocks/>
          </p:cNvSpPr>
          <p:nvPr/>
        </p:nvSpPr>
        <p:spPr>
          <a:xfrm>
            <a:off x="43942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p:nvPr/>
        </p:nvSpPr>
        <p:spPr>
          <a:xfrm>
            <a:off x="4394200" y="17833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02</a:t>
            </a:r>
          </a:p>
        </p:txBody>
      </p:sp>
      <p:sp>
        <p:nvSpPr>
          <p:cNvPr id="9" name="TextBox 8"/>
          <p:cNvSpPr txBox="1">
            <a:spLocks/>
          </p:cNvSpPr>
          <p:nvPr/>
        </p:nvSpPr>
        <p:spPr>
          <a:xfrm>
            <a:off x="4394200" y="2018308"/>
            <a:ext cx="3454400" cy="360045"/>
          </a:xfrm>
          <a:prstGeom prst="rect">
            <a:avLst/>
          </a:prstGeom>
          <a:noFill/>
        </p:spPr>
        <p:txBody>
          <a:bodyPr wrap="none" lIns="0" tIns="0" rIns="0" bIns="0" anchor="t">
            <a:noAutofit/>
          </a:bodyPr>
          <a:lstStyle/>
          <a:p>
            <a:pPr algn="l">
              <a:lnSpc>
                <a:spcPts val="2835"/>
              </a:lnSpc>
            </a:pPr>
            <a:r>
              <a:rPr lang="nl-BE" sz="2700" b="0" i="0">
                <a:solidFill>
                  <a:srgbClr val="0A2540"/>
                </a:solidFill>
                <a:latin typeface="DM Serif Display"/>
              </a:rPr>
              <a:t>AZ Sint-Jan</a:t>
            </a:r>
          </a:p>
        </p:txBody>
      </p:sp>
      <p:sp>
        <p:nvSpPr>
          <p:cNvPr id="10" name="TextBox 9"/>
          <p:cNvSpPr txBox="1"/>
          <p:nvPr/>
        </p:nvSpPr>
        <p:spPr>
          <a:xfrm>
            <a:off x="4394200" y="2429073"/>
            <a:ext cx="3454400" cy="234950"/>
          </a:xfrm>
          <a:prstGeom prst="rect">
            <a:avLst/>
          </a:prstGeom>
          <a:noFill/>
        </p:spPr>
        <p:txBody>
          <a:bodyPr wrap="none" lIns="0" tIns="0" rIns="0" bIns="0" anchor="t">
            <a:noAutofit/>
          </a:bodyPr>
          <a:lstStyle/>
          <a:p>
            <a:pPr algn="l"/>
            <a:r>
              <a:rPr lang="nl-BE" sz="1400" b="0" i="0">
                <a:solidFill>
                  <a:srgbClr val="5A6E80"/>
                </a:solidFill>
                <a:latin typeface="DM Sans"/>
              </a:rPr>
              <a:t>Brugge</a:t>
            </a:r>
          </a:p>
        </p:txBody>
      </p:sp>
      <p:sp>
        <p:nvSpPr>
          <p:cNvPr id="11" name="Rectangle 10"/>
          <p:cNvSpPr>
            <a:spLocks/>
          </p:cNvSpPr>
          <p:nvPr/>
        </p:nvSpPr>
        <p:spPr>
          <a:xfrm>
            <a:off x="7975600" y="15188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2" name="TextBox 11"/>
          <p:cNvSpPr txBox="1"/>
          <p:nvPr/>
        </p:nvSpPr>
        <p:spPr>
          <a:xfrm>
            <a:off x="7975600" y="17833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03</a:t>
            </a:r>
          </a:p>
        </p:txBody>
      </p:sp>
      <p:sp>
        <p:nvSpPr>
          <p:cNvPr id="13" name="TextBox 12"/>
          <p:cNvSpPr txBox="1">
            <a:spLocks/>
          </p:cNvSpPr>
          <p:nvPr/>
        </p:nvSpPr>
        <p:spPr>
          <a:xfrm>
            <a:off x="7975600" y="2018308"/>
            <a:ext cx="3454400" cy="360045"/>
          </a:xfrm>
          <a:prstGeom prst="rect">
            <a:avLst/>
          </a:prstGeom>
          <a:noFill/>
        </p:spPr>
        <p:txBody>
          <a:bodyPr wrap="none" lIns="0" tIns="0" rIns="0" bIns="0" anchor="t">
            <a:noAutofit/>
          </a:bodyPr>
          <a:lstStyle/>
          <a:p>
            <a:pPr algn="l">
              <a:lnSpc>
                <a:spcPts val="2835"/>
              </a:lnSpc>
            </a:pPr>
            <a:r>
              <a:rPr lang="nl-BE" sz="2700" b="0" i="0">
                <a:solidFill>
                  <a:srgbClr val="0A2540"/>
                </a:solidFill>
                <a:latin typeface="DM Serif Display"/>
              </a:rPr>
              <a:t>UZ Gent</a:t>
            </a:r>
          </a:p>
        </p:txBody>
      </p:sp>
      <p:sp>
        <p:nvSpPr>
          <p:cNvPr id="14" name="TextBox 13"/>
          <p:cNvSpPr txBox="1"/>
          <p:nvPr/>
        </p:nvSpPr>
        <p:spPr>
          <a:xfrm>
            <a:off x="7975600" y="2429073"/>
            <a:ext cx="3454400" cy="234950"/>
          </a:xfrm>
          <a:prstGeom prst="rect">
            <a:avLst/>
          </a:prstGeom>
          <a:noFill/>
        </p:spPr>
        <p:txBody>
          <a:bodyPr wrap="none" lIns="0" tIns="0" rIns="0" bIns="0" anchor="t">
            <a:noAutofit/>
          </a:bodyPr>
          <a:lstStyle/>
          <a:p>
            <a:pPr algn="l"/>
            <a:r>
              <a:rPr lang="nl-BE" sz="1400" b="0" i="0">
                <a:solidFill>
                  <a:srgbClr val="5A6E80"/>
                </a:solidFill>
                <a:latin typeface="DM Sans"/>
              </a:rPr>
              <a:t>Gent</a:t>
            </a:r>
          </a:p>
        </p:txBody>
      </p:sp>
      <p:sp>
        <p:nvSpPr>
          <p:cNvPr id="15" name="Rectangle 14"/>
          <p:cNvSpPr>
            <a:spLocks/>
          </p:cNvSpPr>
          <p:nvPr/>
        </p:nvSpPr>
        <p:spPr>
          <a:xfrm>
            <a:off x="8128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6" name="TextBox 15"/>
          <p:cNvSpPr txBox="1"/>
          <p:nvPr/>
        </p:nvSpPr>
        <p:spPr>
          <a:xfrm>
            <a:off x="812800" y="32311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04</a:t>
            </a:r>
          </a:p>
        </p:txBody>
      </p:sp>
      <p:sp>
        <p:nvSpPr>
          <p:cNvPr id="17" name="TextBox 16"/>
          <p:cNvSpPr txBox="1">
            <a:spLocks/>
          </p:cNvSpPr>
          <p:nvPr/>
        </p:nvSpPr>
        <p:spPr>
          <a:xfrm>
            <a:off x="812800" y="3466108"/>
            <a:ext cx="3454400" cy="360045"/>
          </a:xfrm>
          <a:prstGeom prst="rect">
            <a:avLst/>
          </a:prstGeom>
          <a:noFill/>
        </p:spPr>
        <p:txBody>
          <a:bodyPr wrap="none" lIns="0" tIns="0" rIns="0" bIns="0" anchor="t">
            <a:noAutofit/>
          </a:bodyPr>
          <a:lstStyle/>
          <a:p>
            <a:pPr algn="l">
              <a:lnSpc>
                <a:spcPts val="2835"/>
              </a:lnSpc>
            </a:pPr>
            <a:r>
              <a:rPr lang="nl-BE" sz="2700" b="0" i="0">
                <a:solidFill>
                  <a:srgbClr val="0A2540"/>
                </a:solidFill>
                <a:latin typeface="DM Serif Display"/>
              </a:rPr>
              <a:t>AZORG</a:t>
            </a:r>
          </a:p>
        </p:txBody>
      </p:sp>
      <p:sp>
        <p:nvSpPr>
          <p:cNvPr id="18" name="TextBox 17"/>
          <p:cNvSpPr txBox="1"/>
          <p:nvPr/>
        </p:nvSpPr>
        <p:spPr>
          <a:xfrm>
            <a:off x="812800" y="3876873"/>
            <a:ext cx="3454400" cy="234950"/>
          </a:xfrm>
          <a:prstGeom prst="rect">
            <a:avLst/>
          </a:prstGeom>
          <a:noFill/>
        </p:spPr>
        <p:txBody>
          <a:bodyPr wrap="none" lIns="0" tIns="0" rIns="0" bIns="0" anchor="t">
            <a:noAutofit/>
          </a:bodyPr>
          <a:lstStyle/>
          <a:p>
            <a:pPr algn="l"/>
            <a:r>
              <a:rPr lang="nl-BE" sz="1400" b="0" i="0">
                <a:solidFill>
                  <a:srgbClr val="5A6E80"/>
                </a:solidFill>
                <a:latin typeface="DM Sans"/>
              </a:rPr>
              <a:t>Aalst</a:t>
            </a:r>
          </a:p>
        </p:txBody>
      </p:sp>
      <p:sp>
        <p:nvSpPr>
          <p:cNvPr id="19" name="Rectangle 18"/>
          <p:cNvSpPr>
            <a:spLocks/>
          </p:cNvSpPr>
          <p:nvPr/>
        </p:nvSpPr>
        <p:spPr>
          <a:xfrm>
            <a:off x="43942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0" name="TextBox 19"/>
          <p:cNvSpPr txBox="1"/>
          <p:nvPr/>
        </p:nvSpPr>
        <p:spPr>
          <a:xfrm>
            <a:off x="4394200" y="32311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05</a:t>
            </a:r>
          </a:p>
        </p:txBody>
      </p:sp>
      <p:sp>
        <p:nvSpPr>
          <p:cNvPr id="21" name="TextBox 20"/>
          <p:cNvSpPr txBox="1"/>
          <p:nvPr/>
        </p:nvSpPr>
        <p:spPr>
          <a:xfrm>
            <a:off x="4394200" y="3466108"/>
            <a:ext cx="3454400" cy="360045"/>
          </a:xfrm>
          <a:prstGeom prst="rect">
            <a:avLst/>
          </a:prstGeom>
          <a:noFill/>
        </p:spPr>
        <p:txBody>
          <a:bodyPr wrap="none" lIns="0" tIns="0" rIns="0" bIns="0" anchor="t">
            <a:noAutofit/>
          </a:bodyPr>
          <a:lstStyle/>
          <a:p>
            <a:pPr algn="l">
              <a:lnSpc>
                <a:spcPts val="2835"/>
              </a:lnSpc>
            </a:pPr>
            <a:r>
              <a:rPr lang="nl-BE" sz="2700" b="0" i="0">
                <a:solidFill>
                  <a:srgbClr val="0A2540"/>
                </a:solidFill>
                <a:latin typeface="DM Serif Display"/>
              </a:rPr>
              <a:t>UZ Leuven</a:t>
            </a:r>
          </a:p>
        </p:txBody>
      </p:sp>
      <p:sp>
        <p:nvSpPr>
          <p:cNvPr id="22" name="TextBox 21"/>
          <p:cNvSpPr txBox="1"/>
          <p:nvPr/>
        </p:nvSpPr>
        <p:spPr>
          <a:xfrm>
            <a:off x="4394200" y="3876873"/>
            <a:ext cx="3454400" cy="234950"/>
          </a:xfrm>
          <a:prstGeom prst="rect">
            <a:avLst/>
          </a:prstGeom>
          <a:noFill/>
        </p:spPr>
        <p:txBody>
          <a:bodyPr wrap="none" lIns="0" tIns="0" rIns="0" bIns="0" anchor="t">
            <a:noAutofit/>
          </a:bodyPr>
          <a:lstStyle/>
          <a:p>
            <a:pPr algn="l"/>
            <a:r>
              <a:rPr sz="1400" b="0" i="0">
                <a:solidFill>
                  <a:srgbClr val="5A6E80"/>
                </a:solidFill>
                <a:latin typeface="DM Sans"/>
              </a:rPr>
              <a:t>Leuven</a:t>
            </a:r>
          </a:p>
        </p:txBody>
      </p:sp>
      <p:sp>
        <p:nvSpPr>
          <p:cNvPr id="23" name="Rectangle 22"/>
          <p:cNvSpPr>
            <a:spLocks/>
          </p:cNvSpPr>
          <p:nvPr/>
        </p:nvSpPr>
        <p:spPr>
          <a:xfrm>
            <a:off x="7975600" y="2966641"/>
            <a:ext cx="34036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4" name="TextBox 23"/>
          <p:cNvSpPr txBox="1"/>
          <p:nvPr/>
        </p:nvSpPr>
        <p:spPr>
          <a:xfrm>
            <a:off x="7975600" y="3231158"/>
            <a:ext cx="3454400" cy="184150"/>
          </a:xfrm>
          <a:prstGeom prst="rect">
            <a:avLst/>
          </a:prstGeom>
          <a:noFill/>
        </p:spPr>
        <p:txBody>
          <a:bodyPr wrap="none" lIns="0" tIns="0" rIns="0" bIns="0" anchor="t">
            <a:noAutofit/>
          </a:bodyPr>
          <a:lstStyle/>
          <a:p>
            <a:pPr algn="l"/>
            <a:r>
              <a:rPr lang="nl-BE" sz="1100" b="0" i="0">
                <a:solidFill>
                  <a:srgbClr val="0B6E8F"/>
                </a:solidFill>
                <a:latin typeface="DM Sans"/>
              </a:rPr>
              <a:t>06</a:t>
            </a:r>
          </a:p>
        </p:txBody>
      </p:sp>
      <p:sp>
        <p:nvSpPr>
          <p:cNvPr id="25" name="TextBox 24"/>
          <p:cNvSpPr txBox="1"/>
          <p:nvPr/>
        </p:nvSpPr>
        <p:spPr>
          <a:xfrm>
            <a:off x="7975600" y="3466108"/>
            <a:ext cx="3454400" cy="360045"/>
          </a:xfrm>
          <a:prstGeom prst="rect">
            <a:avLst/>
          </a:prstGeom>
          <a:noFill/>
        </p:spPr>
        <p:txBody>
          <a:bodyPr wrap="none" lIns="0" tIns="0" rIns="0" bIns="0" anchor="t">
            <a:noAutofit/>
          </a:bodyPr>
          <a:lstStyle/>
          <a:p>
            <a:pPr algn="l">
              <a:lnSpc>
                <a:spcPts val="2835"/>
              </a:lnSpc>
            </a:pPr>
            <a:r>
              <a:rPr sz="2700" b="0" i="0">
                <a:solidFill>
                  <a:srgbClr val="0A2540"/>
                </a:solidFill>
                <a:latin typeface="DM Serif Display"/>
              </a:rPr>
              <a:t>UZ Antwerpen</a:t>
            </a:r>
          </a:p>
        </p:txBody>
      </p:sp>
      <p:sp>
        <p:nvSpPr>
          <p:cNvPr id="26" name="TextBox 25"/>
          <p:cNvSpPr txBox="1"/>
          <p:nvPr/>
        </p:nvSpPr>
        <p:spPr>
          <a:xfrm>
            <a:off x="7975600" y="3876873"/>
            <a:ext cx="3454400" cy="234950"/>
          </a:xfrm>
          <a:prstGeom prst="rect">
            <a:avLst/>
          </a:prstGeom>
          <a:noFill/>
        </p:spPr>
        <p:txBody>
          <a:bodyPr wrap="none" lIns="0" tIns="0" rIns="0" bIns="0" anchor="t">
            <a:noAutofit/>
          </a:bodyPr>
          <a:lstStyle/>
          <a:p>
            <a:pPr algn="l"/>
            <a:r>
              <a:rPr sz="1400" b="0" i="0">
                <a:solidFill>
                  <a:srgbClr val="5A6E80"/>
                </a:solidFill>
                <a:latin typeface="DM Sans"/>
              </a:rPr>
              <a:t>Edegem</a:t>
            </a:r>
          </a:p>
        </p:txBody>
      </p:sp>
      <p:pic>
        <p:nvPicPr>
          <p:cNvPr id="27" name="Picture 26"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8" name="TextBox 27"/>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Tour de table</a:t>
            </a:r>
          </a:p>
        </p:txBody>
      </p:sp>
      <p:sp>
        <p:nvSpPr>
          <p:cNvPr id="29" name="TextBox 28"/>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consortiummeeting 1 april 2026, actiepunten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PARADISE op Kortrijk Kerngezond</a:t>
            </a:r>
          </a:p>
        </p:txBody>
      </p:sp>
      <p:pic>
        <p:nvPicPr>
          <p:cNvPr id="3" name="Picture 2" descr="d924adc31ae5aabfd58ad4bd4b0201cb.png"/>
          <p:cNvPicPr>
            <a:picLocks noChangeAspect="1"/>
          </p:cNvPicPr>
          <p:nvPr/>
        </p:nvPicPr>
        <p:blipFill>
          <a:blip r:embed="rId3"/>
          <a:stretch>
            <a:fillRect/>
          </a:stretch>
        </p:blipFill>
        <p:spPr>
          <a:xfrm>
            <a:off x="812800" y="1544241"/>
            <a:ext cx="2774950" cy="3937000"/>
          </a:xfrm>
          <a:prstGeom prst="rect">
            <a:avLst/>
          </a:prstGeom>
        </p:spPr>
      </p:pic>
      <p:sp>
        <p:nvSpPr>
          <p:cNvPr id="4" name="TextBox 3"/>
          <p:cNvSpPr txBox="1"/>
          <p:nvPr/>
        </p:nvSpPr>
        <p:spPr>
          <a:xfrm>
            <a:off x="3994150" y="1544241"/>
            <a:ext cx="7435850" cy="257175"/>
          </a:xfrm>
          <a:prstGeom prst="rect">
            <a:avLst/>
          </a:prstGeom>
          <a:noFill/>
        </p:spPr>
        <p:txBody>
          <a:bodyPr wrap="none" lIns="0" tIns="0" rIns="0" bIns="0" anchor="t">
            <a:noAutofit/>
          </a:bodyPr>
          <a:lstStyle/>
          <a:p>
            <a:pPr algn="l">
              <a:lnSpc>
                <a:spcPts val="2025"/>
              </a:lnSpc>
            </a:pPr>
            <a:r>
              <a:rPr lang="nl-NL" sz="1500" b="0" i="0">
                <a:solidFill>
                  <a:srgbClr val="3A4F63"/>
                </a:solidFill>
                <a:latin typeface="DM Sans"/>
              </a:rPr>
              <a:t>Zes dagen zorginnovatie in Kortrijk. PARADISE toont er hoe we meten.</a:t>
            </a:r>
          </a:p>
        </p:txBody>
      </p:sp>
      <p:sp>
        <p:nvSpPr>
          <p:cNvPr id="5" name="Rectangle 4"/>
          <p:cNvSpPr>
            <a:spLocks/>
          </p:cNvSpPr>
          <p:nvPr/>
        </p:nvSpPr>
        <p:spPr>
          <a:xfrm>
            <a:off x="3994150" y="1915716"/>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6" name="TextBox 5"/>
          <p:cNvSpPr txBox="1">
            <a:spLocks/>
          </p:cNvSpPr>
          <p:nvPr/>
        </p:nvSpPr>
        <p:spPr>
          <a:xfrm>
            <a:off x="3994150" y="2049066"/>
            <a:ext cx="215305" cy="215900"/>
          </a:xfrm>
          <a:prstGeom prst="rect">
            <a:avLst/>
          </a:prstGeom>
          <a:noFill/>
        </p:spPr>
        <p:txBody>
          <a:bodyPr wrap="none" lIns="0" tIns="0" rIns="0" bIns="0" anchor="t">
            <a:noAutofit/>
          </a:bodyPr>
          <a:lstStyle/>
          <a:p>
            <a:pPr algn="l"/>
            <a:r>
              <a:rPr lang="nl-BE" sz="1300" b="0" i="0">
                <a:solidFill>
                  <a:srgbClr val="0B6E8F"/>
                </a:solidFill>
                <a:latin typeface="DM Sans"/>
              </a:rPr>
              <a:t>01</a:t>
            </a:r>
          </a:p>
        </p:txBody>
      </p:sp>
      <p:sp>
        <p:nvSpPr>
          <p:cNvPr id="7" name="TextBox 6"/>
          <p:cNvSpPr txBox="1"/>
          <p:nvPr/>
        </p:nvSpPr>
        <p:spPr>
          <a:xfrm>
            <a:off x="4323755" y="2049066"/>
            <a:ext cx="2888952"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Een korte demonstratie</a:t>
            </a:r>
          </a:p>
        </p:txBody>
      </p:sp>
      <p:sp>
        <p:nvSpPr>
          <p:cNvPr id="8" name="TextBox 7"/>
          <p:cNvSpPr txBox="1"/>
          <p:nvPr/>
        </p:nvSpPr>
        <p:spPr>
          <a:xfrm>
            <a:off x="4323755" y="2330946"/>
            <a:ext cx="2888952" cy="222885"/>
          </a:xfrm>
          <a:prstGeom prst="rect">
            <a:avLst/>
          </a:prstGeom>
          <a:noFill/>
        </p:spPr>
        <p:txBody>
          <a:bodyPr wrap="none" lIns="0" tIns="0" rIns="0" bIns="0" anchor="t">
            <a:noAutofit/>
          </a:bodyPr>
          <a:lstStyle/>
          <a:p>
            <a:pPr algn="l">
              <a:lnSpc>
                <a:spcPts val="1755"/>
              </a:lnSpc>
            </a:pPr>
            <a:r>
              <a:rPr lang="nl-NL" sz="1300" b="0" i="0">
                <a:solidFill>
                  <a:srgbClr val="3A4F63"/>
                </a:solidFill>
                <a:latin typeface="DM Sans"/>
              </a:rPr>
              <a:t>Hoe meet je de druk onder een voet?</a:t>
            </a:r>
          </a:p>
        </p:txBody>
      </p:sp>
      <p:sp>
        <p:nvSpPr>
          <p:cNvPr id="9" name="Rectangle 8"/>
          <p:cNvSpPr/>
          <p:nvPr/>
        </p:nvSpPr>
        <p:spPr>
          <a:xfrm>
            <a:off x="3994150" y="2680791"/>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0" name="TextBox 9"/>
          <p:cNvSpPr txBox="1"/>
          <p:nvPr/>
        </p:nvSpPr>
        <p:spPr>
          <a:xfrm>
            <a:off x="3994150" y="2814141"/>
            <a:ext cx="257175" cy="215900"/>
          </a:xfrm>
          <a:prstGeom prst="rect">
            <a:avLst/>
          </a:prstGeom>
          <a:noFill/>
        </p:spPr>
        <p:txBody>
          <a:bodyPr wrap="none" lIns="0" tIns="0" rIns="0" bIns="0" anchor="t">
            <a:noAutofit/>
          </a:bodyPr>
          <a:lstStyle/>
          <a:p>
            <a:pPr algn="l"/>
            <a:r>
              <a:rPr lang="nl-BE" sz="1300" b="0" i="0">
                <a:solidFill>
                  <a:srgbClr val="0B6E8F"/>
                </a:solidFill>
                <a:latin typeface="DM Sans"/>
              </a:rPr>
              <a:t>02</a:t>
            </a:r>
          </a:p>
        </p:txBody>
      </p:sp>
      <p:sp>
        <p:nvSpPr>
          <p:cNvPr id="11" name="TextBox 10"/>
          <p:cNvSpPr txBox="1"/>
          <p:nvPr/>
        </p:nvSpPr>
        <p:spPr>
          <a:xfrm>
            <a:off x="4365625" y="2814141"/>
            <a:ext cx="1464766"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Een stand</a:t>
            </a:r>
          </a:p>
        </p:txBody>
      </p:sp>
      <p:sp>
        <p:nvSpPr>
          <p:cNvPr id="12" name="TextBox 11"/>
          <p:cNvSpPr txBox="1">
            <a:spLocks/>
          </p:cNvSpPr>
          <p:nvPr/>
        </p:nvSpPr>
        <p:spPr>
          <a:xfrm>
            <a:off x="4365625" y="3096022"/>
            <a:ext cx="1464766" cy="222885"/>
          </a:xfrm>
          <a:prstGeom prst="rect">
            <a:avLst/>
          </a:prstGeom>
          <a:noFill/>
        </p:spPr>
        <p:txBody>
          <a:bodyPr wrap="none" lIns="0" tIns="0" rIns="0" bIns="0" anchor="t">
            <a:noAutofit/>
          </a:bodyPr>
          <a:lstStyle/>
          <a:p>
            <a:pPr algn="l">
              <a:lnSpc>
                <a:spcPts val="1755"/>
              </a:lnSpc>
            </a:pPr>
            <a:r>
              <a:rPr lang="nl-BE" sz="1300" b="0" i="0">
                <a:solidFill>
                  <a:srgbClr val="3A4F63"/>
                </a:solidFill>
                <a:latin typeface="DM Sans"/>
              </a:rPr>
              <a:t>Met animatievideo</a:t>
            </a:r>
          </a:p>
        </p:txBody>
      </p:sp>
      <p:sp>
        <p:nvSpPr>
          <p:cNvPr id="13" name="Rectangle 12"/>
          <p:cNvSpPr>
            <a:spLocks/>
          </p:cNvSpPr>
          <p:nvPr/>
        </p:nvSpPr>
        <p:spPr>
          <a:xfrm>
            <a:off x="3994150" y="3445867"/>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4" name="TextBox 13"/>
          <p:cNvSpPr txBox="1"/>
          <p:nvPr/>
        </p:nvSpPr>
        <p:spPr>
          <a:xfrm>
            <a:off x="3994150" y="3579217"/>
            <a:ext cx="261342" cy="215900"/>
          </a:xfrm>
          <a:prstGeom prst="rect">
            <a:avLst/>
          </a:prstGeom>
          <a:noFill/>
        </p:spPr>
        <p:txBody>
          <a:bodyPr wrap="none" lIns="0" tIns="0" rIns="0" bIns="0" anchor="t">
            <a:noAutofit/>
          </a:bodyPr>
          <a:lstStyle/>
          <a:p>
            <a:pPr algn="l"/>
            <a:r>
              <a:rPr lang="nl-BE" sz="1300" b="0" i="0">
                <a:solidFill>
                  <a:srgbClr val="0B6E8F"/>
                </a:solidFill>
                <a:latin typeface="DM Sans"/>
              </a:rPr>
              <a:t>03</a:t>
            </a:r>
          </a:p>
        </p:txBody>
      </p:sp>
      <p:sp>
        <p:nvSpPr>
          <p:cNvPr id="15" name="TextBox 14"/>
          <p:cNvSpPr txBox="1">
            <a:spLocks/>
          </p:cNvSpPr>
          <p:nvPr/>
        </p:nvSpPr>
        <p:spPr>
          <a:xfrm>
            <a:off x="4369792" y="3579217"/>
            <a:ext cx="2568476"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Samen met AZ Groeninge</a:t>
            </a:r>
          </a:p>
        </p:txBody>
      </p:sp>
      <p:sp>
        <p:nvSpPr>
          <p:cNvPr id="16" name="TextBox 15"/>
          <p:cNvSpPr txBox="1"/>
          <p:nvPr/>
        </p:nvSpPr>
        <p:spPr>
          <a:xfrm>
            <a:off x="4369792" y="3861098"/>
            <a:ext cx="2568476" cy="222885"/>
          </a:xfrm>
          <a:prstGeom prst="rect">
            <a:avLst/>
          </a:prstGeom>
          <a:noFill/>
        </p:spPr>
        <p:txBody>
          <a:bodyPr wrap="none" lIns="0" tIns="0" rIns="0" bIns="0" anchor="t">
            <a:noAutofit/>
          </a:bodyPr>
          <a:lstStyle/>
          <a:p>
            <a:pPr algn="l">
              <a:lnSpc>
                <a:spcPts val="1755"/>
              </a:lnSpc>
            </a:pPr>
            <a:r>
              <a:rPr lang="nl-BE" sz="1300" b="0" i="0">
                <a:solidFill>
                  <a:srgbClr val="3A4F63"/>
                </a:solidFill>
                <a:latin typeface="DM Sans"/>
              </a:rPr>
              <a:t>KU Leuven Campus Brugge</a:t>
            </a:r>
          </a:p>
        </p:txBody>
      </p:sp>
      <p:sp>
        <p:nvSpPr>
          <p:cNvPr id="17" name="Rectangle 16"/>
          <p:cNvSpPr>
            <a:spLocks/>
          </p:cNvSpPr>
          <p:nvPr/>
        </p:nvSpPr>
        <p:spPr>
          <a:xfrm>
            <a:off x="3994150" y="4210943"/>
            <a:ext cx="7385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8" name="TextBox 17"/>
          <p:cNvSpPr txBox="1">
            <a:spLocks/>
          </p:cNvSpPr>
          <p:nvPr/>
        </p:nvSpPr>
        <p:spPr>
          <a:xfrm>
            <a:off x="3994150" y="4388743"/>
            <a:ext cx="1257300" cy="184150"/>
          </a:xfrm>
          <a:prstGeom prst="rect">
            <a:avLst/>
          </a:prstGeom>
          <a:noFill/>
        </p:spPr>
        <p:txBody>
          <a:bodyPr wrap="none" lIns="0" tIns="0" rIns="0" bIns="0" anchor="t">
            <a:noAutofit/>
          </a:bodyPr>
          <a:lstStyle/>
          <a:p>
            <a:pPr algn="l"/>
            <a:r>
              <a:rPr lang="nl-BE" sz="1100" b="1" i="0">
                <a:solidFill>
                  <a:srgbClr val="0B6E8F"/>
                </a:solidFill>
                <a:latin typeface="DM Sans"/>
              </a:rPr>
              <a:t>Kerngezond</a:t>
            </a:r>
          </a:p>
        </p:txBody>
      </p:sp>
      <p:sp>
        <p:nvSpPr>
          <p:cNvPr id="19" name="TextBox 18"/>
          <p:cNvSpPr txBox="1"/>
          <p:nvPr/>
        </p:nvSpPr>
        <p:spPr>
          <a:xfrm>
            <a:off x="5327650" y="4356993"/>
            <a:ext cx="5123160" cy="231140"/>
          </a:xfrm>
          <a:prstGeom prst="rect">
            <a:avLst/>
          </a:prstGeom>
          <a:noFill/>
        </p:spPr>
        <p:txBody>
          <a:bodyPr wrap="none" lIns="0" tIns="0" rIns="0" bIns="0" anchor="t">
            <a:noAutofit/>
          </a:bodyPr>
          <a:lstStyle/>
          <a:p>
            <a:pPr algn="l">
              <a:lnSpc>
                <a:spcPts val="1820"/>
              </a:lnSpc>
            </a:pPr>
            <a:r>
              <a:rPr lang="nl-NL" sz="1400" b="0" i="0">
                <a:solidFill>
                  <a:srgbClr val="0A2540"/>
                </a:solidFill>
                <a:latin typeface="DM Sans"/>
              </a:rPr>
              <a:t>16 tot 24 oktober 2026 · K in Kortrijk, tegenover het Rode Kruis</a:t>
            </a:r>
          </a:p>
        </p:txBody>
      </p:sp>
      <p:sp>
        <p:nvSpPr>
          <p:cNvPr id="20" name="TextBox 19"/>
          <p:cNvSpPr txBox="1"/>
          <p:nvPr/>
        </p:nvSpPr>
        <p:spPr>
          <a:xfrm>
            <a:off x="3994150" y="4696023"/>
            <a:ext cx="1257300" cy="184150"/>
          </a:xfrm>
          <a:prstGeom prst="rect">
            <a:avLst/>
          </a:prstGeom>
          <a:noFill/>
        </p:spPr>
        <p:txBody>
          <a:bodyPr wrap="none" lIns="0" tIns="0" rIns="0" bIns="0" anchor="t">
            <a:noAutofit/>
          </a:bodyPr>
          <a:lstStyle/>
          <a:p>
            <a:pPr algn="l"/>
            <a:r>
              <a:rPr lang="nl-BE" sz="1100" b="1" i="0">
                <a:solidFill>
                  <a:srgbClr val="A34A00"/>
                </a:solidFill>
                <a:latin typeface="DM Sans"/>
              </a:rPr>
              <a:t>PARADISE</a:t>
            </a:r>
          </a:p>
        </p:txBody>
      </p:sp>
      <p:sp>
        <p:nvSpPr>
          <p:cNvPr id="21" name="TextBox 20"/>
          <p:cNvSpPr txBox="1"/>
          <p:nvPr/>
        </p:nvSpPr>
        <p:spPr>
          <a:xfrm>
            <a:off x="5327650" y="4664273"/>
            <a:ext cx="911027" cy="231140"/>
          </a:xfrm>
          <a:prstGeom prst="rect">
            <a:avLst/>
          </a:prstGeom>
          <a:noFill/>
        </p:spPr>
        <p:txBody>
          <a:bodyPr wrap="none" lIns="0" tIns="0" rIns="0" bIns="0" anchor="t">
            <a:noAutofit/>
          </a:bodyPr>
          <a:lstStyle/>
          <a:p>
            <a:pPr algn="l">
              <a:lnSpc>
                <a:spcPts val="1820"/>
              </a:lnSpc>
            </a:pPr>
            <a:r>
              <a:rPr sz="1400" b="0" i="0">
                <a:solidFill>
                  <a:srgbClr val="0A2540"/>
                </a:solidFill>
                <a:latin typeface="DM Sans"/>
              </a:rPr>
              <a:t>16 oktober</a:t>
            </a:r>
          </a:p>
        </p:txBody>
      </p:sp>
      <p:pic>
        <p:nvPicPr>
          <p:cNvPr id="22" name="Picture 21"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23" name="TextBox 22"/>
          <p:cNvSpPr txBox="1"/>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Tour de table</a:t>
            </a:r>
          </a:p>
        </p:txBody>
      </p:sp>
      <p:sp>
        <p:nvSpPr>
          <p:cNvPr id="24" name="TextBox 2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affiche Kortrijk Kerngezond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Rectangle 1"/>
          <p:cNvSpPr>
            <a:spLocks/>
          </p:cNvSpPr>
          <p:nvPr/>
        </p:nvSpPr>
        <p:spPr>
          <a:xfrm>
            <a:off x="812800" y="2978150"/>
            <a:ext cx="10566400" cy="127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Rounded Rectangle 2"/>
          <p:cNvSpPr/>
          <p:nvPr/>
        </p:nvSpPr>
        <p:spPr>
          <a:xfrm>
            <a:off x="8128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4" name="TextBox 3"/>
          <p:cNvSpPr txBox="1"/>
          <p:nvPr/>
        </p:nvSpPr>
        <p:spPr>
          <a:xfrm>
            <a:off x="812800" y="2463800"/>
            <a:ext cx="2012950" cy="234950"/>
          </a:xfrm>
          <a:prstGeom prst="rect">
            <a:avLst/>
          </a:prstGeom>
          <a:noFill/>
        </p:spPr>
        <p:txBody>
          <a:bodyPr wrap="none" lIns="0" tIns="0" rIns="0" bIns="0" anchor="t">
            <a:noAutofit/>
          </a:bodyPr>
          <a:lstStyle/>
          <a:p>
            <a:pPr algn="l"/>
            <a:r>
              <a:rPr lang="nl-BE" sz="1400" b="1" i="0">
                <a:solidFill>
                  <a:srgbClr val="52BDEC"/>
                </a:solidFill>
                <a:latin typeface="DM Sans"/>
              </a:rPr>
              <a:t>vr 16 oktober</a:t>
            </a:r>
          </a:p>
        </p:txBody>
      </p:sp>
      <p:sp>
        <p:nvSpPr>
          <p:cNvPr id="5" name="TextBox 4"/>
          <p:cNvSpPr txBox="1"/>
          <p:nvPr/>
        </p:nvSpPr>
        <p:spPr>
          <a:xfrm>
            <a:off x="812800" y="3263900"/>
            <a:ext cx="1962150" cy="247650"/>
          </a:xfrm>
          <a:prstGeom prst="rect">
            <a:avLst/>
          </a:prstGeom>
          <a:noFill/>
        </p:spPr>
        <p:txBody>
          <a:bodyPr wrap="none" lIns="0" tIns="0" rIns="0" bIns="0" anchor="t">
            <a:noAutofit/>
          </a:bodyPr>
          <a:lstStyle/>
          <a:p>
            <a:pPr algn="l">
              <a:lnSpc>
                <a:spcPts val="1950"/>
              </a:lnSpc>
            </a:pPr>
            <a:r>
              <a:rPr sz="1500" b="0" i="0">
                <a:solidFill>
                  <a:srgbClr val="F2F8FC"/>
                </a:solidFill>
                <a:latin typeface="DM Sans"/>
              </a:rPr>
              <a:t>Uw fiche terug</a:t>
            </a:r>
          </a:p>
        </p:txBody>
      </p:sp>
      <p:sp>
        <p:nvSpPr>
          <p:cNvPr id="6" name="Rounded Rectangle 5"/>
          <p:cNvSpPr>
            <a:spLocks/>
          </p:cNvSpPr>
          <p:nvPr/>
        </p:nvSpPr>
        <p:spPr>
          <a:xfrm>
            <a:off x="292735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7" name="TextBox 6"/>
          <p:cNvSpPr txBox="1">
            <a:spLocks/>
          </p:cNvSpPr>
          <p:nvPr/>
        </p:nvSpPr>
        <p:spPr>
          <a:xfrm>
            <a:off x="2927350" y="2463800"/>
            <a:ext cx="2012950" cy="234950"/>
          </a:xfrm>
          <a:prstGeom prst="rect">
            <a:avLst/>
          </a:prstGeom>
          <a:noFill/>
        </p:spPr>
        <p:txBody>
          <a:bodyPr wrap="none" lIns="0" tIns="0" rIns="0" bIns="0" anchor="t">
            <a:noAutofit/>
          </a:bodyPr>
          <a:lstStyle/>
          <a:p>
            <a:pPr algn="l"/>
            <a:r>
              <a:rPr lang="nl-BE" sz="1400" b="1" i="0">
                <a:solidFill>
                  <a:srgbClr val="52BDEC"/>
                </a:solidFill>
                <a:latin typeface="DM Sans"/>
              </a:rPr>
              <a:t>di 10 november</a:t>
            </a:r>
          </a:p>
        </p:txBody>
      </p:sp>
      <p:sp>
        <p:nvSpPr>
          <p:cNvPr id="8" name="TextBox 7"/>
          <p:cNvSpPr txBox="1"/>
          <p:nvPr/>
        </p:nvSpPr>
        <p:spPr>
          <a:xfrm>
            <a:off x="2927350" y="3263900"/>
            <a:ext cx="1962150" cy="247650"/>
          </a:xfrm>
          <a:prstGeom prst="rect">
            <a:avLst/>
          </a:prstGeom>
          <a:noFill/>
        </p:spPr>
        <p:txBody>
          <a:bodyPr wrap="none" lIns="0" tIns="0" rIns="0" bIns="0" anchor="t">
            <a:noAutofit/>
          </a:bodyPr>
          <a:lstStyle/>
          <a:p>
            <a:pPr algn="l">
              <a:lnSpc>
                <a:spcPts val="1950"/>
              </a:lnSpc>
            </a:pPr>
            <a:r>
              <a:rPr lang="nl-BE" sz="1500" b="0" i="0">
                <a:solidFill>
                  <a:srgbClr val="F2F8FC"/>
                </a:solidFill>
                <a:latin typeface="DM Sans"/>
              </a:rPr>
              <a:t>Info draaiboek, online</a:t>
            </a:r>
          </a:p>
        </p:txBody>
      </p:sp>
      <p:sp>
        <p:nvSpPr>
          <p:cNvPr id="9" name="Rounded Rectangle 8"/>
          <p:cNvSpPr>
            <a:spLocks/>
          </p:cNvSpPr>
          <p:nvPr/>
        </p:nvSpPr>
        <p:spPr>
          <a:xfrm>
            <a:off x="50419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a:spLocks/>
          </p:cNvSpPr>
          <p:nvPr/>
        </p:nvSpPr>
        <p:spPr>
          <a:xfrm>
            <a:off x="5041900" y="2463800"/>
            <a:ext cx="2012950" cy="234950"/>
          </a:xfrm>
          <a:prstGeom prst="rect">
            <a:avLst/>
          </a:prstGeom>
          <a:noFill/>
        </p:spPr>
        <p:txBody>
          <a:bodyPr wrap="none" lIns="0" tIns="0" rIns="0" bIns="0" anchor="t">
            <a:noAutofit/>
          </a:bodyPr>
          <a:lstStyle/>
          <a:p>
            <a:pPr algn="l"/>
            <a:r>
              <a:rPr lang="nl-BE" sz="1400" b="1" i="0">
                <a:solidFill>
                  <a:srgbClr val="52BDEC"/>
                </a:solidFill>
                <a:latin typeface="DM Sans"/>
              </a:rPr>
              <a:t>2 tot 15 december</a:t>
            </a:r>
          </a:p>
        </p:txBody>
      </p:sp>
      <p:sp>
        <p:nvSpPr>
          <p:cNvPr id="11" name="TextBox 10"/>
          <p:cNvSpPr txBox="1"/>
          <p:nvPr/>
        </p:nvSpPr>
        <p:spPr>
          <a:xfrm>
            <a:off x="5041900" y="3263900"/>
            <a:ext cx="1962150" cy="495300"/>
          </a:xfrm>
          <a:prstGeom prst="rect">
            <a:avLst/>
          </a:prstGeom>
          <a:noFill/>
        </p:spPr>
        <p:txBody>
          <a:bodyPr wrap="square" lIns="0" tIns="0" rIns="0" bIns="0" anchor="t">
            <a:noAutofit/>
          </a:bodyPr>
          <a:lstStyle/>
          <a:p>
            <a:pPr algn="l">
              <a:lnSpc>
                <a:spcPts val="1950"/>
              </a:lnSpc>
            </a:pPr>
            <a:r>
              <a:rPr lang="nl-BE" sz="1500" b="0" i="0">
                <a:solidFill>
                  <a:srgbClr val="F2F8FC"/>
                </a:solidFill>
                <a:latin typeface="DM Sans"/>
              </a:rPr>
              <a:t>Technologie, in uw centrum</a:t>
            </a:r>
          </a:p>
        </p:txBody>
      </p:sp>
      <p:sp>
        <p:nvSpPr>
          <p:cNvPr id="12" name="Rounded Rectangle 11"/>
          <p:cNvSpPr>
            <a:spLocks/>
          </p:cNvSpPr>
          <p:nvPr/>
        </p:nvSpPr>
        <p:spPr>
          <a:xfrm>
            <a:off x="7150100" y="2914650"/>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3" name="TextBox 12"/>
          <p:cNvSpPr txBox="1">
            <a:spLocks/>
          </p:cNvSpPr>
          <p:nvPr/>
        </p:nvSpPr>
        <p:spPr>
          <a:xfrm>
            <a:off x="7150100" y="2463800"/>
            <a:ext cx="2012950" cy="234950"/>
          </a:xfrm>
          <a:prstGeom prst="rect">
            <a:avLst/>
          </a:prstGeom>
          <a:noFill/>
        </p:spPr>
        <p:txBody>
          <a:bodyPr wrap="none" lIns="0" tIns="0" rIns="0" bIns="0" anchor="t">
            <a:noAutofit/>
          </a:bodyPr>
          <a:lstStyle/>
          <a:p>
            <a:pPr algn="l"/>
            <a:r>
              <a:rPr lang="nl-BE" sz="1400" b="1" i="0">
                <a:solidFill>
                  <a:srgbClr val="52BDEC"/>
                </a:solidFill>
                <a:latin typeface="DM Sans"/>
              </a:rPr>
              <a:t>13 tot 27 januari</a:t>
            </a:r>
          </a:p>
        </p:txBody>
      </p:sp>
      <p:sp>
        <p:nvSpPr>
          <p:cNvPr id="14" name="TextBox 13"/>
          <p:cNvSpPr txBox="1"/>
          <p:nvPr/>
        </p:nvSpPr>
        <p:spPr>
          <a:xfrm>
            <a:off x="7150100" y="3263900"/>
            <a:ext cx="1962150" cy="495300"/>
          </a:xfrm>
          <a:prstGeom prst="rect">
            <a:avLst/>
          </a:prstGeom>
          <a:noFill/>
        </p:spPr>
        <p:txBody>
          <a:bodyPr wrap="square" lIns="0" tIns="0" rIns="0" bIns="0" anchor="t">
            <a:noAutofit/>
          </a:bodyPr>
          <a:lstStyle/>
          <a:p>
            <a:pPr algn="l">
              <a:lnSpc>
                <a:spcPts val="1950"/>
              </a:lnSpc>
            </a:pPr>
            <a:r>
              <a:rPr lang="nl-BE" sz="1500" b="0" i="0">
                <a:solidFill>
                  <a:srgbClr val="F2F8FC"/>
                </a:solidFill>
                <a:latin typeface="DM Sans"/>
              </a:rPr>
              <a:t>Droogloop, vier visites</a:t>
            </a:r>
          </a:p>
        </p:txBody>
      </p:sp>
      <p:sp>
        <p:nvSpPr>
          <p:cNvPr id="15" name="Rounded Rectangle 14"/>
          <p:cNvSpPr>
            <a:spLocks/>
          </p:cNvSpPr>
          <p:nvPr/>
        </p:nvSpPr>
        <p:spPr>
          <a:xfrm>
            <a:off x="9264650" y="2882900"/>
            <a:ext cx="203200" cy="2032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6" name="TextBox 15"/>
          <p:cNvSpPr txBox="1"/>
          <p:nvPr/>
        </p:nvSpPr>
        <p:spPr>
          <a:xfrm>
            <a:off x="9264650" y="2463800"/>
            <a:ext cx="2012950" cy="234950"/>
          </a:xfrm>
          <a:prstGeom prst="rect">
            <a:avLst/>
          </a:prstGeom>
          <a:noFill/>
        </p:spPr>
        <p:txBody>
          <a:bodyPr wrap="none" lIns="0" tIns="0" rIns="0" bIns="0" anchor="t">
            <a:noAutofit/>
          </a:bodyPr>
          <a:lstStyle/>
          <a:p>
            <a:pPr algn="l"/>
            <a:r>
              <a:rPr sz="1400" b="1" i="0">
                <a:solidFill>
                  <a:srgbClr val="FF9A3D"/>
                </a:solidFill>
                <a:latin typeface="DM Sans"/>
              </a:rPr>
              <a:t>23 februari 2027</a:t>
            </a:r>
          </a:p>
        </p:txBody>
      </p:sp>
      <p:sp>
        <p:nvSpPr>
          <p:cNvPr id="17" name="TextBox 16"/>
          <p:cNvSpPr txBox="1"/>
          <p:nvPr/>
        </p:nvSpPr>
        <p:spPr>
          <a:xfrm>
            <a:off x="9264650" y="3263900"/>
            <a:ext cx="1962150" cy="495300"/>
          </a:xfrm>
          <a:prstGeom prst="rect">
            <a:avLst/>
          </a:prstGeom>
          <a:noFill/>
        </p:spPr>
        <p:txBody>
          <a:bodyPr wrap="square" lIns="0" tIns="0" rIns="0" bIns="0" anchor="t">
            <a:noAutofit/>
          </a:bodyPr>
          <a:lstStyle/>
          <a:p>
            <a:pPr algn="l">
              <a:lnSpc>
                <a:spcPts val="1950"/>
              </a:lnSpc>
            </a:pPr>
            <a:r>
              <a:rPr lang="nl-NL" sz="1500" b="0" i="0">
                <a:solidFill>
                  <a:srgbClr val="F2F8FC"/>
                </a:solidFill>
                <a:latin typeface="DM Sans"/>
              </a:rPr>
              <a:t>Go/No-Go, dan de eerste patiënt</a:t>
            </a:r>
          </a:p>
        </p:txBody>
      </p:sp>
      <p:sp>
        <p:nvSpPr>
          <p:cNvPr id="18" name="Rectangle 17"/>
          <p:cNvSpPr>
            <a:spLocks/>
          </p:cNvSpPr>
          <p:nvPr/>
        </p:nvSpPr>
        <p:spPr>
          <a:xfrm>
            <a:off x="812800" y="4927600"/>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9" name="TextBox 18"/>
          <p:cNvSpPr txBox="1"/>
          <p:nvPr/>
        </p:nvSpPr>
        <p:spPr>
          <a:xfrm>
            <a:off x="812800" y="5137150"/>
            <a:ext cx="10617200" cy="333375"/>
          </a:xfrm>
          <a:prstGeom prst="rect">
            <a:avLst/>
          </a:prstGeom>
          <a:noFill/>
        </p:spPr>
        <p:txBody>
          <a:bodyPr wrap="none" lIns="0" tIns="0" rIns="0" bIns="0" anchor="t">
            <a:noAutofit/>
          </a:bodyPr>
          <a:lstStyle/>
          <a:p>
            <a:pPr algn="l">
              <a:lnSpc>
                <a:spcPts val="2625"/>
              </a:lnSpc>
            </a:pPr>
            <a:r>
              <a:rPr sz="2100" b="0" i="1">
                <a:solidFill>
                  <a:srgbClr val="F2F8FC"/>
                </a:solidFill>
                <a:latin typeface="DM Serif Display"/>
              </a:rPr>
              <a:t>Daarna drie inclusies per maand, in elk centrum: dan is de inclusie binnen het jaar rond.</a:t>
            </a:r>
          </a:p>
        </p:txBody>
      </p:sp>
      <p:sp>
        <p:nvSpPr>
          <p:cNvPr id="20" name="TextBox 19"/>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F2F8FC"/>
                </a:solidFill>
                <a:latin typeface="DM Serif Display"/>
              </a:rPr>
              <a:t>Wat nu volgt</a:t>
            </a:r>
          </a:p>
        </p:txBody>
      </p:sp>
      <p:pic>
        <p:nvPicPr>
          <p:cNvPr id="21" name="Picture 20"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22" name="TextBox 21"/>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6F8FAA"/>
                </a:solidFill>
                <a:latin typeface="DM Sans"/>
              </a:rPr>
              <a:t>PARADISE · kick-off 12 oktober 2026</a:t>
            </a:r>
          </a:p>
        </p:txBody>
      </p:sp>
      <p:sp>
        <p:nvSpPr>
          <p:cNvPr id="23" name="TextBox 2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6F8FAA"/>
                </a:solidFill>
                <a:latin typeface="DM Sans"/>
              </a:rPr>
              <a:t>Bron: opleidingsplanning, 8 oktober 2026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a:spLocks/>
          </p:cNvSpPr>
          <p:nvPr/>
        </p:nvSpPr>
        <p:spPr>
          <a:xfrm>
            <a:off x="812800" y="812800"/>
            <a:ext cx="10617200" cy="502920"/>
          </a:xfrm>
          <a:prstGeom prst="rect">
            <a:avLst/>
          </a:prstGeom>
          <a:noFill/>
        </p:spPr>
        <p:txBody>
          <a:bodyPr wrap="none" lIns="0" tIns="0" rIns="0" bIns="0" anchor="t">
            <a:noAutofit/>
          </a:bodyPr>
          <a:lstStyle/>
          <a:p>
            <a:pPr algn="l">
              <a:lnSpc>
                <a:spcPts val="3960"/>
              </a:lnSpc>
            </a:pPr>
            <a:r>
              <a:rPr lang="nl-BE" sz="3600" b="0" i="0" spc="-50">
                <a:solidFill>
                  <a:srgbClr val="0A2540"/>
                </a:solidFill>
                <a:latin typeface="DM Serif Display"/>
              </a:rPr>
              <a:t>Waar we vandaag staan</a:t>
            </a:r>
          </a:p>
        </p:txBody>
      </p:sp>
      <p:sp>
        <p:nvSpPr>
          <p:cNvPr id="3" name="Rectangle 2"/>
          <p:cNvSpPr>
            <a:spLocks/>
          </p:cNvSpPr>
          <p:nvPr/>
        </p:nvSpPr>
        <p:spPr>
          <a:xfrm>
            <a:off x="812800" y="1620441"/>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4" name="TextBox 3"/>
          <p:cNvSpPr txBox="1">
            <a:spLocks/>
          </p:cNvSpPr>
          <p:nvPr/>
        </p:nvSpPr>
        <p:spPr>
          <a:xfrm>
            <a:off x="812800" y="1760141"/>
            <a:ext cx="5245100"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Drukmeting</a:t>
            </a:r>
          </a:p>
        </p:txBody>
      </p:sp>
      <p:pic>
        <p:nvPicPr>
          <p:cNvPr id="5" name="Picture 4" descr="7006ea103c3e8fa9006c500fec1a0272.png"/>
          <p:cNvPicPr>
            <a:picLocks noChangeAspect="1"/>
          </p:cNvPicPr>
          <p:nvPr/>
        </p:nvPicPr>
        <p:blipFill>
          <a:blip r:embed="rId3"/>
          <a:stretch>
            <a:fillRect/>
          </a:stretch>
        </p:blipFill>
        <p:spPr>
          <a:xfrm>
            <a:off x="812800" y="2087066"/>
            <a:ext cx="355600" cy="260350"/>
          </a:xfrm>
          <a:prstGeom prst="rect">
            <a:avLst/>
          </a:prstGeom>
        </p:spPr>
      </p:pic>
      <p:sp>
        <p:nvSpPr>
          <p:cNvPr id="6" name="TextBox 5"/>
          <p:cNvSpPr txBox="1">
            <a:spLocks/>
          </p:cNvSpPr>
          <p:nvPr/>
        </p:nvSpPr>
        <p:spPr>
          <a:xfrm>
            <a:off x="1257300" y="2080121"/>
            <a:ext cx="3569494" cy="274320"/>
          </a:xfrm>
          <a:prstGeom prst="rect">
            <a:avLst/>
          </a:prstGeom>
          <a:noFill/>
        </p:spPr>
        <p:txBody>
          <a:bodyPr wrap="none" lIns="0" tIns="0" rIns="0" bIns="0" anchor="t">
            <a:noAutofit/>
          </a:bodyPr>
          <a:lstStyle/>
          <a:p>
            <a:pPr algn="l">
              <a:lnSpc>
                <a:spcPts val="2160"/>
              </a:lnSpc>
            </a:pPr>
            <a:r>
              <a:rPr lang="nl-NL" sz="1600" b="0" i="0">
                <a:solidFill>
                  <a:srgbClr val="3A4F63"/>
                </a:solidFill>
                <a:latin typeface="DM Sans"/>
              </a:rPr>
              <a:t>Novel pedar geleverd; installatie loopt</a:t>
            </a:r>
          </a:p>
        </p:txBody>
      </p:sp>
      <p:sp>
        <p:nvSpPr>
          <p:cNvPr id="7" name="Rectangle 6"/>
          <p:cNvSpPr>
            <a:spLocks/>
          </p:cNvSpPr>
          <p:nvPr/>
        </p:nvSpPr>
        <p:spPr>
          <a:xfrm>
            <a:off x="6184900" y="1620441"/>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8" name="TextBox 7"/>
          <p:cNvSpPr txBox="1">
            <a:spLocks/>
          </p:cNvSpPr>
          <p:nvPr/>
        </p:nvSpPr>
        <p:spPr>
          <a:xfrm>
            <a:off x="6184900" y="1760141"/>
            <a:ext cx="5245100"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Databank</a:t>
            </a:r>
          </a:p>
        </p:txBody>
      </p:sp>
      <p:sp>
        <p:nvSpPr>
          <p:cNvPr id="9" name="TextBox 8"/>
          <p:cNvSpPr txBox="1">
            <a:spLocks/>
          </p:cNvSpPr>
          <p:nvPr/>
        </p:nvSpPr>
        <p:spPr>
          <a:xfrm>
            <a:off x="6184900" y="2080121"/>
            <a:ext cx="5245100" cy="274320"/>
          </a:xfrm>
          <a:prstGeom prst="rect">
            <a:avLst/>
          </a:prstGeom>
          <a:noFill/>
        </p:spPr>
        <p:txBody>
          <a:bodyPr wrap="none" lIns="0" tIns="0" rIns="0" bIns="0" anchor="t">
            <a:noAutofit/>
          </a:bodyPr>
          <a:lstStyle/>
          <a:p>
            <a:pPr algn="l">
              <a:lnSpc>
                <a:spcPts val="2160"/>
              </a:lnSpc>
            </a:pPr>
            <a:r>
              <a:rPr lang="nl-NL" sz="1600" b="0" i="0">
                <a:solidFill>
                  <a:srgbClr val="3A4F63"/>
                </a:solidFill>
                <a:latin typeface="DM Sans"/>
              </a:rPr>
              <a:t>REDCap klaar; u werkt op papier</a:t>
            </a:r>
          </a:p>
        </p:txBody>
      </p:sp>
      <p:sp>
        <p:nvSpPr>
          <p:cNvPr id="10" name="Rectangle 9"/>
          <p:cNvSpPr>
            <a:spLocks/>
          </p:cNvSpPr>
          <p:nvPr/>
        </p:nvSpPr>
        <p:spPr>
          <a:xfrm>
            <a:off x="812800" y="2532162"/>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1" name="TextBox 10"/>
          <p:cNvSpPr txBox="1"/>
          <p:nvPr/>
        </p:nvSpPr>
        <p:spPr>
          <a:xfrm>
            <a:off x="812800" y="2671862"/>
            <a:ext cx="5245100"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Opleidingen</a:t>
            </a:r>
          </a:p>
        </p:txBody>
      </p:sp>
      <p:sp>
        <p:nvSpPr>
          <p:cNvPr id="12" name="TextBox 11"/>
          <p:cNvSpPr txBox="1">
            <a:spLocks/>
          </p:cNvSpPr>
          <p:nvPr/>
        </p:nvSpPr>
        <p:spPr>
          <a:xfrm>
            <a:off x="812800" y="2991842"/>
            <a:ext cx="5245100" cy="274320"/>
          </a:xfrm>
          <a:prstGeom prst="rect">
            <a:avLst/>
          </a:prstGeom>
          <a:noFill/>
        </p:spPr>
        <p:txBody>
          <a:bodyPr wrap="none" lIns="0" tIns="0" rIns="0" bIns="0" anchor="t">
            <a:noAutofit/>
          </a:bodyPr>
          <a:lstStyle/>
          <a:p>
            <a:pPr algn="l">
              <a:lnSpc>
                <a:spcPts val="2160"/>
              </a:lnSpc>
            </a:pPr>
            <a:r>
              <a:rPr lang="nl-BE" sz="1600" b="0" i="0">
                <a:solidFill>
                  <a:srgbClr val="3A4F63"/>
                </a:solidFill>
                <a:latin typeface="DM Sans"/>
              </a:rPr>
              <a:t>10 november tot april</a:t>
            </a:r>
          </a:p>
        </p:txBody>
      </p:sp>
      <p:sp>
        <p:nvSpPr>
          <p:cNvPr id="13" name="Rectangle 12"/>
          <p:cNvSpPr/>
          <p:nvPr/>
        </p:nvSpPr>
        <p:spPr>
          <a:xfrm>
            <a:off x="6184900" y="2532162"/>
            <a:ext cx="51943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14" name="TextBox 13"/>
          <p:cNvSpPr txBox="1"/>
          <p:nvPr/>
        </p:nvSpPr>
        <p:spPr>
          <a:xfrm>
            <a:off x="6184900" y="2671862"/>
            <a:ext cx="5245100" cy="243840"/>
          </a:xfrm>
          <a:prstGeom prst="rect">
            <a:avLst/>
          </a:prstGeom>
          <a:noFill/>
        </p:spPr>
        <p:txBody>
          <a:bodyPr wrap="none" lIns="0" tIns="0" rIns="0" bIns="0" anchor="t">
            <a:noAutofit/>
          </a:bodyPr>
          <a:lstStyle/>
          <a:p>
            <a:pPr algn="l">
              <a:lnSpc>
                <a:spcPts val="1920"/>
              </a:lnSpc>
            </a:pPr>
            <a:r>
              <a:rPr lang="nl-BE" sz="1600" b="1" i="0">
                <a:solidFill>
                  <a:srgbClr val="0A2540"/>
                </a:solidFill>
                <a:latin typeface="DM Sans"/>
              </a:rPr>
              <a:t>Start</a:t>
            </a:r>
          </a:p>
        </p:txBody>
      </p:sp>
      <p:sp>
        <p:nvSpPr>
          <p:cNvPr id="15" name="TextBox 14"/>
          <p:cNvSpPr txBox="1"/>
          <p:nvPr/>
        </p:nvSpPr>
        <p:spPr>
          <a:xfrm>
            <a:off x="6184900" y="2991842"/>
            <a:ext cx="5245100" cy="274320"/>
          </a:xfrm>
          <a:prstGeom prst="rect">
            <a:avLst/>
          </a:prstGeom>
          <a:noFill/>
        </p:spPr>
        <p:txBody>
          <a:bodyPr wrap="none" lIns="0" tIns="0" rIns="0" bIns="0" anchor="t">
            <a:noAutofit/>
          </a:bodyPr>
          <a:lstStyle/>
          <a:p>
            <a:pPr algn="l">
              <a:lnSpc>
                <a:spcPts val="2160"/>
              </a:lnSpc>
            </a:pPr>
            <a:r>
              <a:rPr lang="nl-NL" sz="1600" b="0" i="0">
                <a:solidFill>
                  <a:srgbClr val="3A4F63"/>
                </a:solidFill>
                <a:latin typeface="DM Sans"/>
              </a:rPr>
              <a:t>Februari 2027: piloot, Go/No-Go, eerste patiënt</a:t>
            </a:r>
          </a:p>
        </p:txBody>
      </p:sp>
      <p:pic>
        <p:nvPicPr>
          <p:cNvPr id="16" name="Picture 15"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17" name="TextBox 16"/>
          <p:cNvSpPr txBox="1">
            <a:spLocks/>
          </p:cNvSpPr>
          <p:nvPr/>
        </p:nvSpPr>
        <p:spPr>
          <a:xfrm>
            <a:off x="1066800" y="6254750"/>
            <a:ext cx="4495800" cy="198120"/>
          </a:xfrm>
          <a:prstGeom prst="rect">
            <a:avLst/>
          </a:prstGeom>
          <a:noFill/>
        </p:spPr>
        <p:txBody>
          <a:bodyPr wrap="none" lIns="0" tIns="0" rIns="0" bIns="0" anchor="t">
            <a:noAutofit/>
          </a:bodyPr>
          <a:lstStyle/>
          <a:p>
            <a:pPr algn="l"/>
            <a:r>
              <a:rPr lang="nl-BE" sz="1200" b="0" i="0">
                <a:solidFill>
                  <a:srgbClr val="5A6E80"/>
                </a:solidFill>
                <a:latin typeface="DM Sans"/>
              </a:rPr>
              <a:t>PARADISE · Achtergrond</a:t>
            </a:r>
          </a:p>
        </p:txBody>
      </p:sp>
      <p:sp>
        <p:nvSpPr>
          <p:cNvPr id="18" name="TextBox 17"/>
          <p:cNvSpPr txBox="1">
            <a:spLocks/>
          </p:cNvSpPr>
          <p:nvPr/>
        </p:nvSpPr>
        <p:spPr>
          <a:xfrm>
            <a:off x="5613400" y="6254750"/>
            <a:ext cx="5765800" cy="198120"/>
          </a:xfrm>
          <a:prstGeom prst="rect">
            <a:avLst/>
          </a:prstGeom>
          <a:noFill/>
        </p:spPr>
        <p:txBody>
          <a:bodyPr wrap="none" lIns="0" tIns="0" rIns="0" bIns="0" anchor="t">
            <a:noAutofit/>
          </a:bodyPr>
          <a:lstStyle/>
          <a:p>
            <a:pPr algn="r"/>
            <a:r>
              <a:rPr lang="nl-NL" sz="1200" b="0" i="0">
                <a:solidFill>
                  <a:srgbClr val="5A6E80"/>
                </a:solidFill>
                <a:latin typeface="DM Sans"/>
              </a:rPr>
              <a:t>Bron: opleidingsplanning, 8 oktober 2026 · REDCap-opzet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Rectangle 1"/>
          <p:cNvSpPr>
            <a:spLocks/>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 name="TextBox 2"/>
          <p:cNvSpPr txBox="1"/>
          <p:nvPr/>
        </p:nvSpPr>
        <p:spPr>
          <a:xfrm>
            <a:off x="812800" y="1663700"/>
            <a:ext cx="3860800" cy="254000"/>
          </a:xfrm>
          <a:prstGeom prst="rect">
            <a:avLst/>
          </a:prstGeom>
          <a:noFill/>
        </p:spPr>
        <p:txBody>
          <a:bodyPr wrap="none" lIns="0" tIns="0" rIns="0" bIns="0" anchor="t">
            <a:noAutofit/>
          </a:bodyPr>
          <a:lstStyle/>
          <a:p>
            <a:pPr algn="l">
              <a:lnSpc>
                <a:spcPts val="2000"/>
              </a:lnSpc>
            </a:pPr>
            <a:r>
              <a:rPr lang="nl-BE" sz="1600" b="1" i="0">
                <a:solidFill>
                  <a:srgbClr val="0A2540"/>
                </a:solidFill>
                <a:latin typeface="DM Sans"/>
              </a:rPr>
              <a:t>Visite 2</a:t>
            </a:r>
          </a:p>
        </p:txBody>
      </p:sp>
      <p:sp>
        <p:nvSpPr>
          <p:cNvPr id="4" name="Rectangle 3"/>
          <p:cNvSpPr>
            <a:spLocks/>
          </p:cNvSpPr>
          <p:nvPr/>
        </p:nvSpPr>
        <p:spPr>
          <a:xfrm>
            <a:off x="812800" y="3619500"/>
            <a:ext cx="4064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5" name="TextBox 4"/>
          <p:cNvSpPr txBox="1"/>
          <p:nvPr/>
        </p:nvSpPr>
        <p:spPr>
          <a:xfrm>
            <a:off x="4953000" y="3517900"/>
            <a:ext cx="1511300" cy="190500"/>
          </a:xfrm>
          <a:prstGeom prst="rect">
            <a:avLst/>
          </a:prstGeom>
          <a:noFill/>
        </p:spPr>
        <p:txBody>
          <a:bodyPr wrap="none" lIns="0" tIns="0" rIns="0" bIns="0" anchor="t">
            <a:noAutofit/>
          </a:bodyPr>
          <a:lstStyle/>
          <a:p>
            <a:pPr algn="l">
              <a:lnSpc>
                <a:spcPts val="1500"/>
              </a:lnSpc>
            </a:pPr>
            <a:r>
              <a:rPr lang="nl-BE" sz="1200" b="0" i="0">
                <a:solidFill>
                  <a:srgbClr val="5A6E80"/>
                </a:solidFill>
                <a:latin typeface="DM Sans"/>
              </a:rPr>
              <a:t>200 kPa</a:t>
            </a:r>
          </a:p>
        </p:txBody>
      </p:sp>
      <p:sp>
        <p:nvSpPr>
          <p:cNvPr id="6" name="Rectangle 5"/>
          <p:cNvSpPr>
            <a:spLocks/>
          </p:cNvSpPr>
          <p:nvPr/>
        </p:nvSpPr>
        <p:spPr>
          <a:xfrm>
            <a:off x="812800" y="3113088"/>
            <a:ext cx="40640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7" name="TextBox 6"/>
          <p:cNvSpPr txBox="1"/>
          <p:nvPr/>
        </p:nvSpPr>
        <p:spPr>
          <a:xfrm>
            <a:off x="4953000" y="3011488"/>
            <a:ext cx="1511300" cy="190500"/>
          </a:xfrm>
          <a:prstGeom prst="rect">
            <a:avLst/>
          </a:prstGeom>
          <a:noFill/>
        </p:spPr>
        <p:txBody>
          <a:bodyPr wrap="none" lIns="0" tIns="0" rIns="0" bIns="0" anchor="t">
            <a:noAutofit/>
          </a:bodyPr>
          <a:lstStyle/>
          <a:p>
            <a:pPr algn="l">
              <a:lnSpc>
                <a:spcPts val="1500"/>
              </a:lnSpc>
            </a:pPr>
            <a:r>
              <a:rPr lang="nl-BE" sz="1200" b="0" i="0">
                <a:solidFill>
                  <a:srgbClr val="A34A00"/>
                </a:solidFill>
                <a:latin typeface="DM Sans"/>
              </a:rPr>
              <a:t>25% lager: 255</a:t>
            </a:r>
          </a:p>
        </p:txBody>
      </p:sp>
      <p:sp>
        <p:nvSpPr>
          <p:cNvPr id="8" name="Rectangle 7"/>
          <p:cNvSpPr>
            <a:spLocks/>
          </p:cNvSpPr>
          <p:nvPr/>
        </p:nvSpPr>
        <p:spPr>
          <a:xfrm>
            <a:off x="939800" y="2330450"/>
            <a:ext cx="952500" cy="3130550"/>
          </a:xfrm>
          <a:prstGeom prst="rect">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9" name="Rectangle 8"/>
          <p:cNvSpPr>
            <a:spLocks/>
          </p:cNvSpPr>
          <p:nvPr/>
        </p:nvSpPr>
        <p:spPr>
          <a:xfrm>
            <a:off x="844550" y="2101850"/>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0" name="TextBox 9"/>
          <p:cNvSpPr txBox="1"/>
          <p:nvPr/>
        </p:nvSpPr>
        <p:spPr>
          <a:xfrm>
            <a:off x="819150" y="2101850"/>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340</a:t>
            </a:r>
          </a:p>
        </p:txBody>
      </p:sp>
      <p:sp>
        <p:nvSpPr>
          <p:cNvPr id="11" name="TextBox 10"/>
          <p:cNvSpPr txBox="1"/>
          <p:nvPr/>
        </p:nvSpPr>
        <p:spPr>
          <a:xfrm>
            <a:off x="819150" y="5524500"/>
            <a:ext cx="1193800" cy="190500"/>
          </a:xfrm>
          <a:prstGeom prst="rect">
            <a:avLst/>
          </a:prstGeom>
          <a:noFill/>
        </p:spPr>
        <p:txBody>
          <a:bodyPr wrap="none" lIns="0" tIns="0" rIns="0" bIns="0" anchor="t">
            <a:noAutofit/>
          </a:bodyPr>
          <a:lstStyle/>
          <a:p>
            <a:pPr algn="ctr">
              <a:lnSpc>
                <a:spcPts val="1500"/>
              </a:lnSpc>
            </a:pPr>
            <a:r>
              <a:rPr lang="nl-BE" sz="1200" b="0" i="0">
                <a:solidFill>
                  <a:srgbClr val="3A4F63"/>
                </a:solidFill>
                <a:latin typeface="DM Sans"/>
              </a:rPr>
              <a:t>zonder</a:t>
            </a:r>
          </a:p>
        </p:txBody>
      </p:sp>
      <p:sp>
        <p:nvSpPr>
          <p:cNvPr id="12" name="Rectangle 11"/>
          <p:cNvSpPr>
            <a:spLocks/>
          </p:cNvSpPr>
          <p:nvPr/>
        </p:nvSpPr>
        <p:spPr>
          <a:xfrm>
            <a:off x="2336800" y="2882900"/>
            <a:ext cx="952500" cy="2578100"/>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3" name="Rectangle 12"/>
          <p:cNvSpPr>
            <a:spLocks/>
          </p:cNvSpPr>
          <p:nvPr/>
        </p:nvSpPr>
        <p:spPr>
          <a:xfrm>
            <a:off x="2241550" y="2654300"/>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4" name="TextBox 13"/>
          <p:cNvSpPr txBox="1"/>
          <p:nvPr/>
        </p:nvSpPr>
        <p:spPr>
          <a:xfrm>
            <a:off x="2216150" y="2654300"/>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280</a:t>
            </a:r>
            <a:r>
              <a:rPr lang="nl-BE" sz="1200" b="0" i="0">
                <a:solidFill>
                  <a:srgbClr val="0A2540"/>
                </a:solidFill>
                <a:latin typeface="DM Sans"/>
              </a:rPr>
              <a:t> · −18%</a:t>
            </a:r>
          </a:p>
        </p:txBody>
      </p:sp>
      <p:sp>
        <p:nvSpPr>
          <p:cNvPr id="15" name="TextBox 14"/>
          <p:cNvSpPr txBox="1"/>
          <p:nvPr/>
        </p:nvSpPr>
        <p:spPr>
          <a:xfrm>
            <a:off x="2216150" y="5524500"/>
            <a:ext cx="1193800" cy="190500"/>
          </a:xfrm>
          <a:prstGeom prst="rect">
            <a:avLst/>
          </a:prstGeom>
          <a:noFill/>
        </p:spPr>
        <p:txBody>
          <a:bodyPr wrap="none" lIns="0" tIns="0" rIns="0" bIns="0" anchor="t">
            <a:noAutofit/>
          </a:bodyPr>
          <a:lstStyle/>
          <a:p>
            <a:pPr algn="ctr">
              <a:lnSpc>
                <a:spcPts val="1500"/>
              </a:lnSpc>
            </a:pPr>
            <a:r>
              <a:rPr lang="nl-BE" sz="1200" b="0" i="0">
                <a:solidFill>
                  <a:srgbClr val="3A4F63"/>
                </a:solidFill>
                <a:latin typeface="DM Sans"/>
              </a:rPr>
              <a:t>mét</a:t>
            </a:r>
          </a:p>
        </p:txBody>
      </p:sp>
      <p:sp>
        <p:nvSpPr>
          <p:cNvPr id="16" name="TextBox 15"/>
          <p:cNvSpPr txBox="1">
            <a:spLocks/>
          </p:cNvSpPr>
          <p:nvPr/>
        </p:nvSpPr>
        <p:spPr>
          <a:xfrm>
            <a:off x="2216150" y="5740400"/>
            <a:ext cx="1193800" cy="190500"/>
          </a:xfrm>
          <a:prstGeom prst="rect">
            <a:avLst/>
          </a:prstGeom>
          <a:noFill/>
        </p:spPr>
        <p:txBody>
          <a:bodyPr wrap="none" lIns="0" tIns="0" rIns="0" bIns="0" anchor="t">
            <a:noAutofit/>
          </a:bodyPr>
          <a:lstStyle/>
          <a:p>
            <a:pPr algn="ctr">
              <a:lnSpc>
                <a:spcPts val="1500"/>
              </a:lnSpc>
            </a:pPr>
            <a:r>
              <a:rPr lang="nl-BE" sz="1200" b="1" i="0">
                <a:solidFill>
                  <a:srgbClr val="A34A00"/>
                </a:solidFill>
                <a:latin typeface="DM Sans"/>
              </a:rPr>
              <a:t>niet gehaald</a:t>
            </a:r>
          </a:p>
        </p:txBody>
      </p:sp>
      <p:sp>
        <p:nvSpPr>
          <p:cNvPr id="17" name="Rectangle 16"/>
          <p:cNvSpPr>
            <a:spLocks/>
          </p:cNvSpPr>
          <p:nvPr/>
        </p:nvSpPr>
        <p:spPr>
          <a:xfrm>
            <a:off x="3733800" y="3205162"/>
            <a:ext cx="952500" cy="2255838"/>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8" name="Rectangle 17"/>
          <p:cNvSpPr>
            <a:spLocks/>
          </p:cNvSpPr>
          <p:nvPr/>
        </p:nvSpPr>
        <p:spPr>
          <a:xfrm>
            <a:off x="3638550" y="2976562"/>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9" name="TextBox 18"/>
          <p:cNvSpPr txBox="1"/>
          <p:nvPr/>
        </p:nvSpPr>
        <p:spPr>
          <a:xfrm>
            <a:off x="3613150" y="2976562"/>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245</a:t>
            </a:r>
            <a:r>
              <a:rPr lang="nl-BE" sz="1200" b="0" i="0">
                <a:solidFill>
                  <a:srgbClr val="0A2540"/>
                </a:solidFill>
                <a:latin typeface="DM Sans"/>
              </a:rPr>
              <a:t> · −28%</a:t>
            </a:r>
          </a:p>
        </p:txBody>
      </p:sp>
      <p:sp>
        <p:nvSpPr>
          <p:cNvPr id="20" name="TextBox 19"/>
          <p:cNvSpPr txBox="1"/>
          <p:nvPr/>
        </p:nvSpPr>
        <p:spPr>
          <a:xfrm>
            <a:off x="3613150" y="5524500"/>
            <a:ext cx="1193800" cy="190500"/>
          </a:xfrm>
          <a:prstGeom prst="rect">
            <a:avLst/>
          </a:prstGeom>
          <a:noFill/>
        </p:spPr>
        <p:txBody>
          <a:bodyPr wrap="none" lIns="0" tIns="0" rIns="0" bIns="0" anchor="t">
            <a:noAutofit/>
          </a:bodyPr>
          <a:lstStyle/>
          <a:p>
            <a:pPr algn="ctr">
              <a:lnSpc>
                <a:spcPts val="1500"/>
              </a:lnSpc>
            </a:pPr>
            <a:r>
              <a:rPr lang="nl-BE" sz="1200" b="0" i="0">
                <a:solidFill>
                  <a:srgbClr val="3A4F63"/>
                </a:solidFill>
                <a:latin typeface="DM Sans"/>
              </a:rPr>
              <a:t>na aanpassing 1</a:t>
            </a:r>
          </a:p>
        </p:txBody>
      </p:sp>
      <p:sp>
        <p:nvSpPr>
          <p:cNvPr id="21" name="TextBox 20"/>
          <p:cNvSpPr txBox="1">
            <a:spLocks/>
          </p:cNvSpPr>
          <p:nvPr/>
        </p:nvSpPr>
        <p:spPr>
          <a:xfrm>
            <a:off x="3613150" y="5740400"/>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gehaald</a:t>
            </a:r>
          </a:p>
        </p:txBody>
      </p:sp>
      <p:sp>
        <p:nvSpPr>
          <p:cNvPr id="22" name="Rectangle 21"/>
          <p:cNvSpPr>
            <a:spLocks/>
          </p:cNvSpPr>
          <p:nvPr/>
        </p:nvSpPr>
        <p:spPr>
          <a:xfrm>
            <a:off x="812800" y="5461000"/>
            <a:ext cx="4064000" cy="12700"/>
          </a:xfrm>
          <a:prstGeom prst="rect">
            <a:avLst/>
          </a:prstGeom>
          <a:solidFill>
            <a:srgbClr val="C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3" name="TextBox 22"/>
          <p:cNvSpPr txBox="1">
            <a:spLocks/>
          </p:cNvSpPr>
          <p:nvPr/>
        </p:nvSpPr>
        <p:spPr>
          <a:xfrm>
            <a:off x="6731000" y="1663700"/>
            <a:ext cx="3860800" cy="254000"/>
          </a:xfrm>
          <a:prstGeom prst="rect">
            <a:avLst/>
          </a:prstGeom>
          <a:noFill/>
        </p:spPr>
        <p:txBody>
          <a:bodyPr wrap="none" lIns="0" tIns="0" rIns="0" bIns="0" anchor="t">
            <a:noAutofit/>
          </a:bodyPr>
          <a:lstStyle/>
          <a:p>
            <a:pPr algn="l">
              <a:lnSpc>
                <a:spcPts val="2000"/>
              </a:lnSpc>
            </a:pPr>
            <a:r>
              <a:rPr lang="nl-BE" sz="1600" b="1" i="0">
                <a:solidFill>
                  <a:srgbClr val="0A2540"/>
                </a:solidFill>
                <a:latin typeface="DM Sans"/>
              </a:rPr>
              <a:t>Maand 6</a:t>
            </a:r>
          </a:p>
        </p:txBody>
      </p:sp>
      <p:sp>
        <p:nvSpPr>
          <p:cNvPr id="24" name="Rectangle 23"/>
          <p:cNvSpPr>
            <a:spLocks/>
          </p:cNvSpPr>
          <p:nvPr/>
        </p:nvSpPr>
        <p:spPr>
          <a:xfrm>
            <a:off x="6731000" y="3619500"/>
            <a:ext cx="26670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5" name="TextBox 24"/>
          <p:cNvSpPr txBox="1"/>
          <p:nvPr/>
        </p:nvSpPr>
        <p:spPr>
          <a:xfrm>
            <a:off x="9474200" y="3517900"/>
            <a:ext cx="1511300" cy="190500"/>
          </a:xfrm>
          <a:prstGeom prst="rect">
            <a:avLst/>
          </a:prstGeom>
          <a:noFill/>
        </p:spPr>
        <p:txBody>
          <a:bodyPr wrap="none" lIns="0" tIns="0" rIns="0" bIns="0" anchor="t">
            <a:noAutofit/>
          </a:bodyPr>
          <a:lstStyle/>
          <a:p>
            <a:pPr algn="l">
              <a:lnSpc>
                <a:spcPts val="1500"/>
              </a:lnSpc>
            </a:pPr>
            <a:r>
              <a:rPr lang="nl-BE" sz="1200" b="0" i="0">
                <a:solidFill>
                  <a:srgbClr val="5A6E80"/>
                </a:solidFill>
                <a:latin typeface="DM Sans"/>
              </a:rPr>
              <a:t>200 kPa</a:t>
            </a:r>
          </a:p>
        </p:txBody>
      </p:sp>
      <p:sp>
        <p:nvSpPr>
          <p:cNvPr id="26" name="Rectangle 25"/>
          <p:cNvSpPr/>
          <p:nvPr/>
        </p:nvSpPr>
        <p:spPr>
          <a:xfrm>
            <a:off x="6731000" y="3868043"/>
            <a:ext cx="26670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7" name="TextBox 26"/>
          <p:cNvSpPr txBox="1"/>
          <p:nvPr/>
        </p:nvSpPr>
        <p:spPr>
          <a:xfrm>
            <a:off x="9474200" y="3766443"/>
            <a:ext cx="1511300" cy="190500"/>
          </a:xfrm>
          <a:prstGeom prst="rect">
            <a:avLst/>
          </a:prstGeom>
          <a:noFill/>
        </p:spPr>
        <p:txBody>
          <a:bodyPr wrap="none" lIns="0" tIns="0" rIns="0" bIns="0" anchor="t">
            <a:noAutofit/>
          </a:bodyPr>
          <a:lstStyle/>
          <a:p>
            <a:pPr algn="l">
              <a:lnSpc>
                <a:spcPts val="1500"/>
              </a:lnSpc>
            </a:pPr>
            <a:r>
              <a:rPr lang="nl-BE" sz="1200" b="0" i="0">
                <a:solidFill>
                  <a:srgbClr val="A34A00"/>
                </a:solidFill>
                <a:latin typeface="DM Sans"/>
              </a:rPr>
              <a:t>25% lager: 173</a:t>
            </a:r>
          </a:p>
        </p:txBody>
      </p:sp>
      <p:sp>
        <p:nvSpPr>
          <p:cNvPr id="28" name="Rectangle 27"/>
          <p:cNvSpPr>
            <a:spLocks/>
          </p:cNvSpPr>
          <p:nvPr/>
        </p:nvSpPr>
        <p:spPr>
          <a:xfrm>
            <a:off x="6858000" y="3343275"/>
            <a:ext cx="952500" cy="2117725"/>
          </a:xfrm>
          <a:prstGeom prst="rect">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9" name="Rectangle 28"/>
          <p:cNvSpPr>
            <a:spLocks/>
          </p:cNvSpPr>
          <p:nvPr/>
        </p:nvSpPr>
        <p:spPr>
          <a:xfrm>
            <a:off x="6762750" y="3114675"/>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0" name="TextBox 29"/>
          <p:cNvSpPr txBox="1"/>
          <p:nvPr/>
        </p:nvSpPr>
        <p:spPr>
          <a:xfrm>
            <a:off x="6737350" y="3114675"/>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230</a:t>
            </a:r>
          </a:p>
        </p:txBody>
      </p:sp>
      <p:sp>
        <p:nvSpPr>
          <p:cNvPr id="31" name="TextBox 30"/>
          <p:cNvSpPr txBox="1">
            <a:spLocks/>
          </p:cNvSpPr>
          <p:nvPr/>
        </p:nvSpPr>
        <p:spPr>
          <a:xfrm>
            <a:off x="6737350" y="5524500"/>
            <a:ext cx="1193800" cy="190500"/>
          </a:xfrm>
          <a:prstGeom prst="rect">
            <a:avLst/>
          </a:prstGeom>
          <a:noFill/>
        </p:spPr>
        <p:txBody>
          <a:bodyPr wrap="none" lIns="0" tIns="0" rIns="0" bIns="0" anchor="t">
            <a:noAutofit/>
          </a:bodyPr>
          <a:lstStyle/>
          <a:p>
            <a:pPr algn="ctr">
              <a:lnSpc>
                <a:spcPts val="1500"/>
              </a:lnSpc>
            </a:pPr>
            <a:r>
              <a:rPr lang="nl-BE" sz="1200" b="0" i="0">
                <a:solidFill>
                  <a:srgbClr val="3A4F63"/>
                </a:solidFill>
                <a:latin typeface="DM Sans"/>
              </a:rPr>
              <a:t>zonder</a:t>
            </a:r>
          </a:p>
        </p:txBody>
      </p:sp>
      <p:sp>
        <p:nvSpPr>
          <p:cNvPr id="32" name="Rectangle 31"/>
          <p:cNvSpPr>
            <a:spLocks/>
          </p:cNvSpPr>
          <p:nvPr/>
        </p:nvSpPr>
        <p:spPr>
          <a:xfrm>
            <a:off x="8255000" y="3711575"/>
            <a:ext cx="952500" cy="1749425"/>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3" name="Rectangle 32"/>
          <p:cNvSpPr/>
          <p:nvPr/>
        </p:nvSpPr>
        <p:spPr>
          <a:xfrm>
            <a:off x="8159750" y="3482975"/>
            <a:ext cx="1143000" cy="1905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4" name="TextBox 33"/>
          <p:cNvSpPr txBox="1"/>
          <p:nvPr/>
        </p:nvSpPr>
        <p:spPr>
          <a:xfrm>
            <a:off x="8134350" y="3482975"/>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190</a:t>
            </a:r>
            <a:r>
              <a:rPr lang="nl-BE" sz="1200" b="0" i="0">
                <a:solidFill>
                  <a:srgbClr val="0A2540"/>
                </a:solidFill>
                <a:latin typeface="DM Sans"/>
              </a:rPr>
              <a:t> · −17%</a:t>
            </a:r>
          </a:p>
        </p:txBody>
      </p:sp>
      <p:sp>
        <p:nvSpPr>
          <p:cNvPr id="35" name="TextBox 34"/>
          <p:cNvSpPr txBox="1"/>
          <p:nvPr/>
        </p:nvSpPr>
        <p:spPr>
          <a:xfrm>
            <a:off x="8134350" y="5524500"/>
            <a:ext cx="1193800" cy="190500"/>
          </a:xfrm>
          <a:prstGeom prst="rect">
            <a:avLst/>
          </a:prstGeom>
          <a:noFill/>
        </p:spPr>
        <p:txBody>
          <a:bodyPr wrap="none" lIns="0" tIns="0" rIns="0" bIns="0" anchor="t">
            <a:noAutofit/>
          </a:bodyPr>
          <a:lstStyle/>
          <a:p>
            <a:pPr algn="ctr">
              <a:lnSpc>
                <a:spcPts val="1500"/>
              </a:lnSpc>
            </a:pPr>
            <a:r>
              <a:rPr lang="nl-BE" sz="1200" b="0" i="0">
                <a:solidFill>
                  <a:srgbClr val="3A4F63"/>
                </a:solidFill>
                <a:latin typeface="DM Sans"/>
              </a:rPr>
              <a:t>mét</a:t>
            </a:r>
          </a:p>
        </p:txBody>
      </p:sp>
      <p:sp>
        <p:nvSpPr>
          <p:cNvPr id="36" name="TextBox 35"/>
          <p:cNvSpPr txBox="1"/>
          <p:nvPr/>
        </p:nvSpPr>
        <p:spPr>
          <a:xfrm>
            <a:off x="8134350" y="5740400"/>
            <a:ext cx="1193800" cy="190500"/>
          </a:xfrm>
          <a:prstGeom prst="rect">
            <a:avLst/>
          </a:prstGeom>
          <a:noFill/>
        </p:spPr>
        <p:txBody>
          <a:bodyPr wrap="none" lIns="0" tIns="0" rIns="0" bIns="0" anchor="t">
            <a:noAutofit/>
          </a:bodyPr>
          <a:lstStyle/>
          <a:p>
            <a:pPr algn="ctr">
              <a:lnSpc>
                <a:spcPts val="1500"/>
              </a:lnSpc>
            </a:pPr>
            <a:r>
              <a:rPr lang="nl-BE" sz="1200" b="1" i="0">
                <a:solidFill>
                  <a:srgbClr val="0A2540"/>
                </a:solidFill>
                <a:latin typeface="DM Sans"/>
              </a:rPr>
              <a:t>gehaald</a:t>
            </a:r>
          </a:p>
        </p:txBody>
      </p:sp>
      <p:sp>
        <p:nvSpPr>
          <p:cNvPr id="37" name="Rectangle 36"/>
          <p:cNvSpPr/>
          <p:nvPr/>
        </p:nvSpPr>
        <p:spPr>
          <a:xfrm>
            <a:off x="6731000" y="5461000"/>
            <a:ext cx="2667000" cy="12700"/>
          </a:xfrm>
          <a:prstGeom prst="rect">
            <a:avLst/>
          </a:prstGeom>
          <a:solidFill>
            <a:srgbClr val="C5D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38" name="TextBox 37"/>
          <p:cNvSpPr txBox="1"/>
          <p:nvPr/>
        </p:nvSpPr>
        <p:spPr>
          <a:xfrm>
            <a:off x="812800" y="1409700"/>
            <a:ext cx="10617200" cy="190500"/>
          </a:xfrm>
          <a:prstGeom prst="rect">
            <a:avLst/>
          </a:prstGeom>
          <a:noFill/>
        </p:spPr>
        <p:txBody>
          <a:bodyPr wrap="none" lIns="0" tIns="0" rIns="0" bIns="0" anchor="t">
            <a:noAutofit/>
          </a:bodyPr>
          <a:lstStyle/>
          <a:p>
            <a:pPr algn="l">
              <a:lnSpc>
                <a:spcPts val="1500"/>
              </a:lnSpc>
            </a:pPr>
            <a:r>
              <a:rPr lang="nl-NL" sz="1200" b="0" i="0">
                <a:solidFill>
                  <a:srgbClr val="5A6E80"/>
                </a:solidFill>
                <a:latin typeface="DM Sans"/>
              </a:rPr>
              <a:t>Rekenvoorbeeld, één doelregio · piekdruk in kPa, in de schoen</a:t>
            </a:r>
          </a:p>
        </p:txBody>
      </p:sp>
      <p:sp>
        <p:nvSpPr>
          <p:cNvPr id="39" name="TextBox 38"/>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NL" sz="3600" b="0" i="0" spc="-50">
                <a:solidFill>
                  <a:srgbClr val="0A2540"/>
                </a:solidFill>
                <a:latin typeface="DM Serif Display"/>
              </a:rPr>
              <a:t>Elke sessie is haar eigen referentie</a:t>
            </a:r>
          </a:p>
        </p:txBody>
      </p:sp>
      <p:pic>
        <p:nvPicPr>
          <p:cNvPr id="40" name="Picture 39"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41" name="TextBox 40"/>
          <p:cNvSpPr txBox="1">
            <a:spLocks/>
          </p:cNvSpPr>
          <p:nvPr/>
        </p:nvSpPr>
        <p:spPr>
          <a:xfrm>
            <a:off x="1066800" y="6254750"/>
            <a:ext cx="4495800" cy="198120"/>
          </a:xfrm>
          <a:prstGeom prst="rect">
            <a:avLst/>
          </a:prstGeom>
          <a:noFill/>
        </p:spPr>
        <p:txBody>
          <a:bodyPr wrap="none" lIns="0" tIns="0" rIns="0" bIns="0" anchor="t">
            <a:noAutofit/>
          </a:bodyPr>
          <a:lstStyle/>
          <a:p>
            <a:pPr algn="l"/>
            <a:r>
              <a:rPr lang="nl-NL" sz="1200" b="0" i="0">
                <a:solidFill>
                  <a:srgbClr val="5A6E80"/>
                </a:solidFill>
                <a:latin typeface="DM Sans"/>
              </a:rPr>
              <a:t>PARADISE · Ontwikkelingen sinds 1 april</a:t>
            </a:r>
          </a:p>
        </p:txBody>
      </p:sp>
      <p:sp>
        <p:nvSpPr>
          <p:cNvPr id="42" name="TextBox 41"/>
          <p:cNvSpPr txBox="1"/>
          <p:nvPr/>
        </p:nvSpPr>
        <p:spPr>
          <a:xfrm>
            <a:off x="4978400" y="6254750"/>
            <a:ext cx="6400800" cy="198120"/>
          </a:xfrm>
          <a:prstGeom prst="rect">
            <a:avLst/>
          </a:prstGeom>
          <a:noFill/>
        </p:spPr>
        <p:txBody>
          <a:bodyPr wrap="none" lIns="0" tIns="0" rIns="0" bIns="0" anchor="t">
            <a:noAutofit/>
          </a:bodyPr>
          <a:lstStyle/>
          <a:p>
            <a:pPr algn="r"/>
            <a:r>
              <a:rPr lang="nl-NL" sz="1200" b="0" i="0">
                <a:solidFill>
                  <a:srgbClr val="5A6E80"/>
                </a:solidFill>
                <a:latin typeface="DM Sans"/>
              </a:rPr>
              <a:t>Bron: beslissing 6 oktober 2026 · eCRF 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lang="nl-NL" sz="3600" b="0" i="0" spc="-50">
                <a:solidFill>
                  <a:srgbClr val="0A2540"/>
                </a:solidFill>
                <a:latin typeface="DM Serif Display"/>
              </a:rPr>
              <a:t>Iedereen koos een andere noemer</a:t>
            </a:r>
            <a:endParaRPr sz="3600" b="0" i="0" spc="-50">
              <a:solidFill>
                <a:srgbClr val="0A2540"/>
              </a:solidFill>
              <a:latin typeface="DM Serif Display"/>
            </a:endParaRPr>
          </a:p>
        </p:txBody>
      </p:sp>
      <p:sp>
        <p:nvSpPr>
          <p:cNvPr id="3" name="TextBox 2"/>
          <p:cNvSpPr txBox="1">
            <a:spLocks/>
          </p:cNvSpPr>
          <p:nvPr/>
        </p:nvSpPr>
        <p:spPr>
          <a:xfrm>
            <a:off x="812800" y="1660723"/>
            <a:ext cx="2463800" cy="158750"/>
          </a:xfrm>
          <a:prstGeom prst="rect">
            <a:avLst/>
          </a:prstGeom>
          <a:noFill/>
        </p:spPr>
        <p:txBody>
          <a:bodyPr wrap="none" lIns="0" tIns="0" rIns="0" bIns="0" anchor="t">
            <a:noAutofit/>
          </a:bodyPr>
          <a:lstStyle/>
          <a:p>
            <a:pPr algn="l"/>
            <a:r>
              <a:rPr lang="nl-BE" sz="950" b="1" i="0">
                <a:solidFill>
                  <a:srgbClr val="5A6E80"/>
                </a:solidFill>
                <a:latin typeface="DM Sans"/>
              </a:rPr>
              <a:t>Gedeeld door</a:t>
            </a:r>
          </a:p>
        </p:txBody>
      </p:sp>
      <p:sp>
        <p:nvSpPr>
          <p:cNvPr id="4" name="TextBox 3"/>
          <p:cNvSpPr txBox="1"/>
          <p:nvPr/>
        </p:nvSpPr>
        <p:spPr>
          <a:xfrm>
            <a:off x="3238500" y="1506141"/>
            <a:ext cx="1605260" cy="150812"/>
          </a:xfrm>
          <a:prstGeom prst="rect">
            <a:avLst/>
          </a:prstGeom>
          <a:noFill/>
        </p:spPr>
        <p:txBody>
          <a:bodyPr wrap="none" lIns="0" tIns="0" rIns="0" bIns="0" anchor="t">
            <a:noAutofit/>
          </a:bodyPr>
          <a:lstStyle/>
          <a:p>
            <a:pPr algn="ctr">
              <a:lnSpc>
                <a:spcPts val="1187"/>
              </a:lnSpc>
            </a:pPr>
            <a:r>
              <a:rPr lang="nl-BE" sz="950" b="1" i="0">
                <a:solidFill>
                  <a:srgbClr val="0B6E8F"/>
                </a:solidFill>
                <a:latin typeface="DM Sans"/>
              </a:rPr>
              <a:t>Dag</a:t>
            </a:r>
          </a:p>
        </p:txBody>
      </p:sp>
      <p:sp>
        <p:nvSpPr>
          <p:cNvPr id="5" name="TextBox 4"/>
          <p:cNvSpPr txBox="1">
            <a:spLocks/>
          </p:cNvSpPr>
          <p:nvPr/>
        </p:nvSpPr>
        <p:spPr>
          <a:xfrm>
            <a:off x="3238500" y="1682353"/>
            <a:ext cx="1605260" cy="137160"/>
          </a:xfrm>
          <a:prstGeom prst="rect">
            <a:avLst/>
          </a:prstGeom>
          <a:noFill/>
        </p:spPr>
        <p:txBody>
          <a:bodyPr wrap="none" lIns="0" tIns="0" rIns="0" bIns="0" anchor="t">
            <a:noAutofit/>
          </a:bodyPr>
          <a:lstStyle/>
          <a:p>
            <a:pPr algn="ctr">
              <a:lnSpc>
                <a:spcPts val="1080"/>
              </a:lnSpc>
            </a:pPr>
            <a:r>
              <a:rPr lang="nl-NL" sz="900" b="0" i="0">
                <a:solidFill>
                  <a:srgbClr val="5A6E80"/>
                </a:solidFill>
                <a:latin typeface="DM Sans"/>
              </a:rPr>
              <a:t>niet gemeten, meestal 16 u</a:t>
            </a:r>
          </a:p>
        </p:txBody>
      </p:sp>
      <p:sp>
        <p:nvSpPr>
          <p:cNvPr id="6" name="TextBox 5"/>
          <p:cNvSpPr txBox="1"/>
          <p:nvPr/>
        </p:nvSpPr>
        <p:spPr>
          <a:xfrm>
            <a:off x="4869160" y="1506141"/>
            <a:ext cx="1605260" cy="150812"/>
          </a:xfrm>
          <a:prstGeom prst="rect">
            <a:avLst/>
          </a:prstGeom>
          <a:noFill/>
        </p:spPr>
        <p:txBody>
          <a:bodyPr wrap="none" lIns="0" tIns="0" rIns="0" bIns="0" anchor="t">
            <a:noAutofit/>
          </a:bodyPr>
          <a:lstStyle/>
          <a:p>
            <a:pPr algn="ctr">
              <a:lnSpc>
                <a:spcPts val="1187"/>
              </a:lnSpc>
            </a:pPr>
            <a:r>
              <a:rPr lang="nl-BE" sz="950" b="1" i="0">
                <a:solidFill>
                  <a:srgbClr val="0B6E8F"/>
                </a:solidFill>
                <a:latin typeface="DM Sans"/>
              </a:rPr>
              <a:t>Stappen</a:t>
            </a:r>
          </a:p>
        </p:txBody>
      </p:sp>
      <p:sp>
        <p:nvSpPr>
          <p:cNvPr id="7" name="TextBox 6"/>
          <p:cNvSpPr txBox="1"/>
          <p:nvPr/>
        </p:nvSpPr>
        <p:spPr>
          <a:xfrm>
            <a:off x="4869160" y="1682353"/>
            <a:ext cx="1605260" cy="137160"/>
          </a:xfrm>
          <a:prstGeom prst="rect">
            <a:avLst/>
          </a:prstGeom>
          <a:noFill/>
        </p:spPr>
        <p:txBody>
          <a:bodyPr wrap="none" lIns="0" tIns="0" rIns="0" bIns="0" anchor="t">
            <a:noAutofit/>
          </a:bodyPr>
          <a:lstStyle/>
          <a:p>
            <a:pPr algn="ctr">
              <a:lnSpc>
                <a:spcPts val="1080"/>
              </a:lnSpc>
            </a:pPr>
            <a:r>
              <a:rPr lang="nl-BE" sz="900" b="0" i="0">
                <a:solidFill>
                  <a:srgbClr val="5A6E80"/>
                </a:solidFill>
                <a:latin typeface="DM Sans"/>
              </a:rPr>
              <a:t>geen daglengte nodig</a:t>
            </a:r>
          </a:p>
        </p:txBody>
      </p:sp>
      <p:sp>
        <p:nvSpPr>
          <p:cNvPr id="8" name="TextBox 7"/>
          <p:cNvSpPr txBox="1">
            <a:spLocks/>
          </p:cNvSpPr>
          <p:nvPr/>
        </p:nvSpPr>
        <p:spPr>
          <a:xfrm>
            <a:off x="6499820" y="1506141"/>
            <a:ext cx="1605260" cy="150812"/>
          </a:xfrm>
          <a:prstGeom prst="rect">
            <a:avLst/>
          </a:prstGeom>
          <a:noFill/>
        </p:spPr>
        <p:txBody>
          <a:bodyPr wrap="none" lIns="0" tIns="0" rIns="0" bIns="0" anchor="t">
            <a:noAutofit/>
          </a:bodyPr>
          <a:lstStyle/>
          <a:p>
            <a:pPr algn="ctr">
              <a:lnSpc>
                <a:spcPts val="1187"/>
              </a:lnSpc>
            </a:pPr>
            <a:r>
              <a:rPr lang="nl-BE" sz="950" b="1" i="0">
                <a:solidFill>
                  <a:srgbClr val="0B6E8F"/>
                </a:solidFill>
                <a:latin typeface="DM Sans"/>
              </a:rPr>
              <a:t>Uren per dag</a:t>
            </a:r>
          </a:p>
        </p:txBody>
      </p:sp>
      <p:sp>
        <p:nvSpPr>
          <p:cNvPr id="9" name="TextBox 8"/>
          <p:cNvSpPr txBox="1"/>
          <p:nvPr/>
        </p:nvSpPr>
        <p:spPr>
          <a:xfrm>
            <a:off x="6499820" y="1682353"/>
            <a:ext cx="1605260" cy="137160"/>
          </a:xfrm>
          <a:prstGeom prst="rect">
            <a:avLst/>
          </a:prstGeom>
          <a:noFill/>
        </p:spPr>
        <p:txBody>
          <a:bodyPr wrap="none" lIns="0" tIns="0" rIns="0" bIns="0" anchor="t">
            <a:noAutofit/>
          </a:bodyPr>
          <a:lstStyle/>
          <a:p>
            <a:pPr algn="ctr">
              <a:lnSpc>
                <a:spcPts val="1080"/>
              </a:lnSpc>
            </a:pPr>
            <a:r>
              <a:rPr lang="nl-BE" sz="900" b="0" i="0">
                <a:solidFill>
                  <a:srgbClr val="5A6E80"/>
                </a:solidFill>
                <a:latin typeface="DM Sans"/>
              </a:rPr>
              <a:t>zonder noemer</a:t>
            </a:r>
          </a:p>
        </p:txBody>
      </p:sp>
      <p:sp>
        <p:nvSpPr>
          <p:cNvPr id="10" name="TextBox 9"/>
          <p:cNvSpPr txBox="1"/>
          <p:nvPr/>
        </p:nvSpPr>
        <p:spPr>
          <a:xfrm>
            <a:off x="8130480" y="1506141"/>
            <a:ext cx="1605260" cy="150812"/>
          </a:xfrm>
          <a:prstGeom prst="rect">
            <a:avLst/>
          </a:prstGeom>
          <a:noFill/>
        </p:spPr>
        <p:txBody>
          <a:bodyPr wrap="none" lIns="0" tIns="0" rIns="0" bIns="0" anchor="t">
            <a:noAutofit/>
          </a:bodyPr>
          <a:lstStyle/>
          <a:p>
            <a:pPr algn="ctr">
              <a:lnSpc>
                <a:spcPts val="1187"/>
              </a:lnSpc>
            </a:pPr>
            <a:r>
              <a:rPr sz="950" b="1" i="0">
                <a:solidFill>
                  <a:srgbClr val="0B6E8F"/>
                </a:solidFill>
                <a:latin typeface="DM Sans"/>
              </a:rPr>
              <a:t>Gewichtdragende tijd</a:t>
            </a:r>
          </a:p>
        </p:txBody>
      </p:sp>
      <p:sp>
        <p:nvSpPr>
          <p:cNvPr id="11" name="TextBox 10"/>
          <p:cNvSpPr txBox="1"/>
          <p:nvPr/>
        </p:nvSpPr>
        <p:spPr>
          <a:xfrm>
            <a:off x="8130480" y="1682353"/>
            <a:ext cx="1605260" cy="137160"/>
          </a:xfrm>
          <a:prstGeom prst="rect">
            <a:avLst/>
          </a:prstGeom>
          <a:noFill/>
        </p:spPr>
        <p:txBody>
          <a:bodyPr wrap="none" lIns="0" tIns="0" rIns="0" bIns="0" anchor="t">
            <a:noAutofit/>
          </a:bodyPr>
          <a:lstStyle/>
          <a:p>
            <a:pPr algn="ctr">
              <a:lnSpc>
                <a:spcPts val="1080"/>
              </a:lnSpc>
            </a:pPr>
            <a:r>
              <a:rPr sz="900" b="0" i="0">
                <a:solidFill>
                  <a:srgbClr val="5A6E80"/>
                </a:solidFill>
                <a:latin typeface="DM Sans"/>
              </a:rPr>
              <a:t>staan en stappen, gemeten</a:t>
            </a:r>
          </a:p>
        </p:txBody>
      </p:sp>
      <p:sp>
        <p:nvSpPr>
          <p:cNvPr id="12" name="TextBox 11"/>
          <p:cNvSpPr txBox="1"/>
          <p:nvPr/>
        </p:nvSpPr>
        <p:spPr>
          <a:xfrm>
            <a:off x="9761141" y="1506141"/>
            <a:ext cx="1605260" cy="150812"/>
          </a:xfrm>
          <a:prstGeom prst="rect">
            <a:avLst/>
          </a:prstGeom>
          <a:noFill/>
        </p:spPr>
        <p:txBody>
          <a:bodyPr wrap="none" lIns="0" tIns="0" rIns="0" bIns="0" anchor="t">
            <a:noAutofit/>
          </a:bodyPr>
          <a:lstStyle/>
          <a:p>
            <a:pPr algn="ctr">
              <a:lnSpc>
                <a:spcPts val="1187"/>
              </a:lnSpc>
            </a:pPr>
            <a:r>
              <a:rPr lang="nl-BE" sz="950" b="1" i="0">
                <a:solidFill>
                  <a:srgbClr val="A34A00"/>
                </a:solidFill>
                <a:latin typeface="DM Sans"/>
              </a:rPr>
              <a:t>Gemeten waaktijd</a:t>
            </a:r>
          </a:p>
        </p:txBody>
      </p:sp>
      <p:sp>
        <p:nvSpPr>
          <p:cNvPr id="13" name="TextBox 12"/>
          <p:cNvSpPr txBox="1">
            <a:spLocks/>
          </p:cNvSpPr>
          <p:nvPr/>
        </p:nvSpPr>
        <p:spPr>
          <a:xfrm>
            <a:off x="9761141" y="1682353"/>
            <a:ext cx="1605260" cy="137160"/>
          </a:xfrm>
          <a:prstGeom prst="rect">
            <a:avLst/>
          </a:prstGeom>
          <a:noFill/>
        </p:spPr>
        <p:txBody>
          <a:bodyPr wrap="none" lIns="0" tIns="0" rIns="0" bIns="0" anchor="t">
            <a:noAutofit/>
          </a:bodyPr>
          <a:lstStyle/>
          <a:p>
            <a:pPr algn="ctr">
              <a:lnSpc>
                <a:spcPts val="1080"/>
              </a:lnSpc>
            </a:pPr>
            <a:r>
              <a:rPr lang="nl-BE" sz="900" b="0" i="0">
                <a:solidFill>
                  <a:srgbClr val="5A6E80"/>
                </a:solidFill>
                <a:latin typeface="DM Sans"/>
              </a:rPr>
              <a:t>per patiënt</a:t>
            </a:r>
          </a:p>
        </p:txBody>
      </p:sp>
      <p:sp>
        <p:nvSpPr>
          <p:cNvPr id="14" name="TextBox 13"/>
          <p:cNvSpPr txBox="1"/>
          <p:nvPr/>
        </p:nvSpPr>
        <p:spPr>
          <a:xfrm>
            <a:off x="812800" y="1918891"/>
            <a:ext cx="2463800"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Chantelau 1994</a:t>
            </a:r>
          </a:p>
        </p:txBody>
      </p:sp>
      <p:sp>
        <p:nvSpPr>
          <p:cNvPr id="15" name="TextBox 14"/>
          <p:cNvSpPr txBox="1"/>
          <p:nvPr/>
        </p:nvSpPr>
        <p:spPr>
          <a:xfrm>
            <a:off x="812800" y="2121396"/>
            <a:ext cx="2463800" cy="144780"/>
          </a:xfrm>
          <a:prstGeom prst="rect">
            <a:avLst/>
          </a:prstGeom>
          <a:noFill/>
        </p:spPr>
        <p:txBody>
          <a:bodyPr wrap="none" lIns="0" tIns="0" rIns="0" bIns="0" anchor="t">
            <a:noAutofit/>
          </a:bodyPr>
          <a:lstStyle/>
          <a:p>
            <a:pPr algn="l">
              <a:lnSpc>
                <a:spcPts val="1140"/>
              </a:lnSpc>
            </a:pPr>
            <a:r>
              <a:rPr lang="nl-BE" sz="950" b="0" i="0">
                <a:solidFill>
                  <a:srgbClr val="5A6E80"/>
                </a:solidFill>
                <a:latin typeface="DM Sans"/>
              </a:rPr>
              <a:t>geen sensor</a:t>
            </a:r>
          </a:p>
        </p:txBody>
      </p:sp>
      <p:sp>
        <p:nvSpPr>
          <p:cNvPr id="16" name="Rounded Rectangle 15"/>
          <p:cNvSpPr>
            <a:spLocks/>
          </p:cNvSpPr>
          <p:nvPr/>
        </p:nvSpPr>
        <p:spPr>
          <a:xfrm>
            <a:off x="3713361" y="1970584"/>
            <a:ext cx="655439"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17" name="TextBox 16"/>
          <p:cNvSpPr txBox="1">
            <a:spLocks/>
          </p:cNvSpPr>
          <p:nvPr/>
        </p:nvSpPr>
        <p:spPr>
          <a:xfrm>
            <a:off x="3827661" y="2008684"/>
            <a:ext cx="477639" cy="167640"/>
          </a:xfrm>
          <a:prstGeom prst="rect">
            <a:avLst/>
          </a:prstGeom>
          <a:noFill/>
        </p:spPr>
        <p:txBody>
          <a:bodyPr wrap="none" lIns="0" tIns="0" rIns="0" bIns="0" anchor="t">
            <a:noAutofit/>
          </a:bodyPr>
          <a:lstStyle/>
          <a:p>
            <a:pPr algn="l">
              <a:lnSpc>
                <a:spcPts val="1320"/>
              </a:lnSpc>
            </a:pPr>
            <a:r>
              <a:rPr lang="nl-BE" sz="1100" b="1" i="0">
                <a:solidFill>
                  <a:srgbClr val="FFFFFF"/>
                </a:solidFill>
                <a:latin typeface="DM Sans"/>
              </a:rPr>
              <a:t>&gt; 60%</a:t>
            </a:r>
          </a:p>
        </p:txBody>
      </p:sp>
      <p:sp>
        <p:nvSpPr>
          <p:cNvPr id="18" name="TextBox 17"/>
          <p:cNvSpPr txBox="1"/>
          <p:nvPr/>
        </p:nvSpPr>
        <p:spPr>
          <a:xfrm>
            <a:off x="5625009" y="2000448"/>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19" name="TextBox 18"/>
          <p:cNvSpPr txBox="1"/>
          <p:nvPr/>
        </p:nvSpPr>
        <p:spPr>
          <a:xfrm>
            <a:off x="7255669" y="2000448"/>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20" name="TextBox 19"/>
          <p:cNvSpPr txBox="1">
            <a:spLocks/>
          </p:cNvSpPr>
          <p:nvPr/>
        </p:nvSpPr>
        <p:spPr>
          <a:xfrm>
            <a:off x="8886329" y="2000448"/>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21" name="Rectangle 20"/>
          <p:cNvSpPr>
            <a:spLocks/>
          </p:cNvSpPr>
          <p:nvPr/>
        </p:nvSpPr>
        <p:spPr>
          <a:xfrm>
            <a:off x="9748441" y="1895673"/>
            <a:ext cx="1630660" cy="39370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2" name="TextBox 21"/>
          <p:cNvSpPr txBox="1"/>
          <p:nvPr/>
        </p:nvSpPr>
        <p:spPr>
          <a:xfrm>
            <a:off x="10516989" y="2000448"/>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23" name="Rectangle 22"/>
          <p:cNvSpPr/>
          <p:nvPr/>
        </p:nvSpPr>
        <p:spPr>
          <a:xfrm>
            <a:off x="812800" y="22893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24" name="TextBox 23"/>
          <p:cNvSpPr txBox="1"/>
          <p:nvPr/>
        </p:nvSpPr>
        <p:spPr>
          <a:xfrm>
            <a:off x="812800" y="2315766"/>
            <a:ext cx="2463800"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Arts 2014</a:t>
            </a:r>
          </a:p>
        </p:txBody>
      </p:sp>
      <p:sp>
        <p:nvSpPr>
          <p:cNvPr id="25" name="TextBox 24"/>
          <p:cNvSpPr txBox="1">
            <a:spLocks/>
          </p:cNvSpPr>
          <p:nvPr/>
        </p:nvSpPr>
        <p:spPr>
          <a:xfrm>
            <a:off x="812800" y="2518271"/>
            <a:ext cx="2463800" cy="144780"/>
          </a:xfrm>
          <a:prstGeom prst="rect">
            <a:avLst/>
          </a:prstGeom>
          <a:noFill/>
        </p:spPr>
        <p:txBody>
          <a:bodyPr wrap="none" lIns="0" tIns="0" rIns="0" bIns="0" anchor="t">
            <a:noAutofit/>
          </a:bodyPr>
          <a:lstStyle/>
          <a:p>
            <a:pPr algn="l">
              <a:lnSpc>
                <a:spcPts val="1140"/>
              </a:lnSpc>
            </a:pPr>
            <a:r>
              <a:rPr lang="nl-BE" sz="950" b="0" i="0">
                <a:solidFill>
                  <a:srgbClr val="5A6E80"/>
                </a:solidFill>
                <a:latin typeface="DM Sans"/>
              </a:rPr>
              <a:t>zelfrapportage</a:t>
            </a:r>
          </a:p>
        </p:txBody>
      </p:sp>
      <p:sp>
        <p:nvSpPr>
          <p:cNvPr id="26" name="Rounded Rectangle 25"/>
          <p:cNvSpPr>
            <a:spLocks/>
          </p:cNvSpPr>
          <p:nvPr/>
        </p:nvSpPr>
        <p:spPr>
          <a:xfrm>
            <a:off x="3770312" y="2367459"/>
            <a:ext cx="54153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27" name="TextBox 26"/>
          <p:cNvSpPr txBox="1"/>
          <p:nvPr/>
        </p:nvSpPr>
        <p:spPr>
          <a:xfrm>
            <a:off x="3884612" y="2405559"/>
            <a:ext cx="363736" cy="167640"/>
          </a:xfrm>
          <a:prstGeom prst="rect">
            <a:avLst/>
          </a:prstGeom>
          <a:noFill/>
        </p:spPr>
        <p:txBody>
          <a:bodyPr wrap="none" lIns="0" tIns="0" rIns="0" bIns="0" anchor="t">
            <a:noAutofit/>
          </a:bodyPr>
          <a:lstStyle/>
          <a:p>
            <a:pPr algn="l">
              <a:lnSpc>
                <a:spcPts val="1320"/>
              </a:lnSpc>
            </a:pPr>
            <a:r>
              <a:rPr lang="nl-BE" sz="1100" b="1" i="0">
                <a:solidFill>
                  <a:srgbClr val="FFFFFF"/>
                </a:solidFill>
                <a:latin typeface="DM Sans"/>
              </a:rPr>
              <a:t>60%</a:t>
            </a:r>
          </a:p>
        </p:txBody>
      </p:sp>
      <p:sp>
        <p:nvSpPr>
          <p:cNvPr id="28" name="TextBox 27"/>
          <p:cNvSpPr txBox="1">
            <a:spLocks/>
          </p:cNvSpPr>
          <p:nvPr/>
        </p:nvSpPr>
        <p:spPr>
          <a:xfrm>
            <a:off x="5625009" y="23973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29" name="TextBox 28"/>
          <p:cNvSpPr txBox="1"/>
          <p:nvPr/>
        </p:nvSpPr>
        <p:spPr>
          <a:xfrm>
            <a:off x="7255669" y="23973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30" name="TextBox 29"/>
          <p:cNvSpPr txBox="1">
            <a:spLocks/>
          </p:cNvSpPr>
          <p:nvPr/>
        </p:nvSpPr>
        <p:spPr>
          <a:xfrm>
            <a:off x="8886329" y="23973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31" name="Rectangle 30"/>
          <p:cNvSpPr>
            <a:spLocks/>
          </p:cNvSpPr>
          <p:nvPr/>
        </p:nvSpPr>
        <p:spPr>
          <a:xfrm>
            <a:off x="9748441" y="22957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2" name="TextBox 31"/>
          <p:cNvSpPr txBox="1"/>
          <p:nvPr/>
        </p:nvSpPr>
        <p:spPr>
          <a:xfrm>
            <a:off x="10516989" y="23973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33" name="Rectangle 32"/>
          <p:cNvSpPr/>
          <p:nvPr/>
        </p:nvSpPr>
        <p:spPr>
          <a:xfrm>
            <a:off x="812800" y="26830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2800" y="2709466"/>
            <a:ext cx="2463800"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Waaijman · Bus 2013</a:t>
            </a:r>
          </a:p>
        </p:txBody>
      </p:sp>
      <p:sp>
        <p:nvSpPr>
          <p:cNvPr id="35" name="TextBox 34"/>
          <p:cNvSpPr txBox="1"/>
          <p:nvPr/>
        </p:nvSpPr>
        <p:spPr>
          <a:xfrm>
            <a:off x="812800" y="2911971"/>
            <a:ext cx="2463800" cy="144780"/>
          </a:xfrm>
          <a:prstGeom prst="rect">
            <a:avLst/>
          </a:prstGeom>
          <a:noFill/>
        </p:spPr>
        <p:txBody>
          <a:bodyPr wrap="none" lIns="0" tIns="0" rIns="0" bIns="0" anchor="t">
            <a:noAutofit/>
          </a:bodyPr>
          <a:lstStyle/>
          <a:p>
            <a:pPr algn="l">
              <a:lnSpc>
                <a:spcPts val="1140"/>
              </a:lnSpc>
            </a:pPr>
            <a:r>
              <a:rPr lang="nl-BE" sz="950" b="0" i="0">
                <a:solidFill>
                  <a:srgbClr val="5A6E80"/>
                </a:solidFill>
                <a:latin typeface="DM Sans"/>
              </a:rPr>
              <a:t>@monitor + StepWatch</a:t>
            </a:r>
          </a:p>
        </p:txBody>
      </p:sp>
      <p:sp>
        <p:nvSpPr>
          <p:cNvPr id="36" name="TextBox 35"/>
          <p:cNvSpPr txBox="1">
            <a:spLocks/>
          </p:cNvSpPr>
          <p:nvPr/>
        </p:nvSpPr>
        <p:spPr>
          <a:xfrm>
            <a:off x="3994348" y="27910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37" name="Rounded Rectangle 36"/>
          <p:cNvSpPr>
            <a:spLocks/>
          </p:cNvSpPr>
          <p:nvPr/>
        </p:nvSpPr>
        <p:spPr>
          <a:xfrm>
            <a:off x="5401072" y="2761159"/>
            <a:ext cx="541338"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38" name="TextBox 37"/>
          <p:cNvSpPr txBox="1"/>
          <p:nvPr/>
        </p:nvSpPr>
        <p:spPr>
          <a:xfrm>
            <a:off x="5515372" y="2799259"/>
            <a:ext cx="363538" cy="167640"/>
          </a:xfrm>
          <a:prstGeom prst="rect">
            <a:avLst/>
          </a:prstGeom>
          <a:noFill/>
        </p:spPr>
        <p:txBody>
          <a:bodyPr wrap="none" lIns="0" tIns="0" rIns="0" bIns="0" anchor="t">
            <a:noAutofit/>
          </a:bodyPr>
          <a:lstStyle/>
          <a:p>
            <a:pPr algn="l">
              <a:lnSpc>
                <a:spcPts val="1320"/>
              </a:lnSpc>
            </a:pPr>
            <a:r>
              <a:rPr lang="nl-BE" sz="1100" b="1" i="0">
                <a:solidFill>
                  <a:srgbClr val="FFFFFF"/>
                </a:solidFill>
                <a:latin typeface="DM Sans"/>
              </a:rPr>
              <a:t>80%</a:t>
            </a:r>
          </a:p>
        </p:txBody>
      </p:sp>
      <p:sp>
        <p:nvSpPr>
          <p:cNvPr id="39" name="TextBox 38"/>
          <p:cNvSpPr txBox="1">
            <a:spLocks/>
          </p:cNvSpPr>
          <p:nvPr/>
        </p:nvSpPr>
        <p:spPr>
          <a:xfrm>
            <a:off x="7255669" y="27910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40" name="TextBox 39"/>
          <p:cNvSpPr txBox="1"/>
          <p:nvPr/>
        </p:nvSpPr>
        <p:spPr>
          <a:xfrm>
            <a:off x="8886329" y="2791023"/>
            <a:ext cx="144264" cy="184150"/>
          </a:xfrm>
          <a:prstGeom prst="rect">
            <a:avLst/>
          </a:prstGeom>
          <a:noFill/>
        </p:spPr>
        <p:txBody>
          <a:bodyPr wrap="none" lIns="0" tIns="0" rIns="0" bIns="0" anchor="t">
            <a:noAutofit/>
          </a:bodyPr>
          <a:lstStyle/>
          <a:p>
            <a:pPr algn="l"/>
            <a:r>
              <a:rPr lang="nl-BE" sz="1100" b="0" i="0">
                <a:solidFill>
                  <a:srgbClr val="9FB3C6"/>
                </a:solidFill>
                <a:latin typeface="DM Sans"/>
              </a:rPr>
              <a:t>–</a:t>
            </a:r>
          </a:p>
        </p:txBody>
      </p:sp>
      <p:sp>
        <p:nvSpPr>
          <p:cNvPr id="41" name="Rectangle 40"/>
          <p:cNvSpPr>
            <a:spLocks/>
          </p:cNvSpPr>
          <p:nvPr/>
        </p:nvSpPr>
        <p:spPr>
          <a:xfrm>
            <a:off x="9748441" y="26894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nl-BE"/>
          </a:p>
        </p:txBody>
      </p:sp>
      <p:sp>
        <p:nvSpPr>
          <p:cNvPr id="42" name="TextBox 41"/>
          <p:cNvSpPr txBox="1"/>
          <p:nvPr/>
        </p:nvSpPr>
        <p:spPr>
          <a:xfrm>
            <a:off x="10516989" y="27910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3" name="Rectangle 42"/>
          <p:cNvSpPr>
            <a:spLocks/>
          </p:cNvSpPr>
          <p:nvPr/>
        </p:nvSpPr>
        <p:spPr>
          <a:xfrm>
            <a:off x="812800" y="30767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BE"/>
          </a:p>
        </p:txBody>
      </p:sp>
      <p:sp>
        <p:nvSpPr>
          <p:cNvPr id="44" name="TextBox 43"/>
          <p:cNvSpPr txBox="1"/>
          <p:nvPr/>
        </p:nvSpPr>
        <p:spPr>
          <a:xfrm>
            <a:off x="812800" y="3103166"/>
            <a:ext cx="2463800" cy="189865"/>
          </a:xfrm>
          <a:prstGeom prst="rect">
            <a:avLst/>
          </a:prstGeom>
          <a:noFill/>
        </p:spPr>
        <p:txBody>
          <a:bodyPr wrap="none" lIns="0" tIns="0" rIns="0" bIns="0" anchor="t">
            <a:noAutofit/>
          </a:bodyPr>
          <a:lstStyle/>
          <a:p>
            <a:pPr algn="l">
              <a:lnSpc>
                <a:spcPts val="1495"/>
              </a:lnSpc>
            </a:pPr>
            <a:r>
              <a:rPr lang="nl-BE" sz="1300" b="1" i="0">
                <a:solidFill>
                  <a:srgbClr val="0A2540"/>
                </a:solidFill>
                <a:latin typeface="DM Sans"/>
              </a:rPr>
              <a:t>DIASSIST 2023 · 2026</a:t>
            </a:r>
          </a:p>
        </p:txBody>
      </p:sp>
      <p:sp>
        <p:nvSpPr>
          <p:cNvPr id="45" name="TextBox 44"/>
          <p:cNvSpPr txBox="1"/>
          <p:nvPr/>
        </p:nvSpPr>
        <p:spPr>
          <a:xfrm>
            <a:off x="812800" y="33056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46" name="TextBox 45"/>
          <p:cNvSpPr txBox="1"/>
          <p:nvPr/>
        </p:nvSpPr>
        <p:spPr>
          <a:xfrm>
            <a:off x="3994348"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47" name="Rounded Rectangle 46"/>
          <p:cNvSpPr/>
          <p:nvPr/>
        </p:nvSpPr>
        <p:spPr>
          <a:xfrm>
            <a:off x="5252938" y="3154859"/>
            <a:ext cx="837605"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367238" y="3192959"/>
            <a:ext cx="659805"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uitkomst</a:t>
            </a:r>
          </a:p>
        </p:txBody>
      </p:sp>
      <p:sp>
        <p:nvSpPr>
          <p:cNvPr id="49" name="Rounded Rectangle 48"/>
          <p:cNvSpPr/>
          <p:nvPr/>
        </p:nvSpPr>
        <p:spPr>
          <a:xfrm>
            <a:off x="7027565" y="3154859"/>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141865" y="3192959"/>
            <a:ext cx="37197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 u</a:t>
            </a:r>
          </a:p>
        </p:txBody>
      </p:sp>
      <p:sp>
        <p:nvSpPr>
          <p:cNvPr id="51" name="TextBox 50"/>
          <p:cNvSpPr txBox="1"/>
          <p:nvPr/>
        </p:nvSpPr>
        <p:spPr>
          <a:xfrm>
            <a:off x="8886329"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52" name="Rectangle 51"/>
          <p:cNvSpPr/>
          <p:nvPr/>
        </p:nvSpPr>
        <p:spPr>
          <a:xfrm>
            <a:off x="9748441" y="30831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10516989" y="31847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54" name="Rectangle 53"/>
          <p:cNvSpPr/>
          <p:nvPr/>
        </p:nvSpPr>
        <p:spPr>
          <a:xfrm>
            <a:off x="812800" y="34704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2800" y="34968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Exterkate 2023</a:t>
            </a:r>
          </a:p>
        </p:txBody>
      </p:sp>
      <p:sp>
        <p:nvSpPr>
          <p:cNvPr id="56" name="TextBox 55"/>
          <p:cNvSpPr txBox="1"/>
          <p:nvPr/>
        </p:nvSpPr>
        <p:spPr>
          <a:xfrm>
            <a:off x="812800" y="36993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a:t>
            </a:r>
          </a:p>
        </p:txBody>
      </p:sp>
      <p:sp>
        <p:nvSpPr>
          <p:cNvPr id="57" name="Rounded Rectangle 56"/>
          <p:cNvSpPr/>
          <p:nvPr/>
        </p:nvSpPr>
        <p:spPr>
          <a:xfrm>
            <a:off x="3495873" y="3548559"/>
            <a:ext cx="1090414"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610173" y="3586659"/>
            <a:ext cx="912614"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60% en 80%</a:t>
            </a:r>
          </a:p>
        </p:txBody>
      </p:sp>
      <p:sp>
        <p:nvSpPr>
          <p:cNvPr id="59" name="TextBox 58"/>
          <p:cNvSpPr txBox="1"/>
          <p:nvPr/>
        </p:nvSpPr>
        <p:spPr>
          <a:xfrm>
            <a:off x="562500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0" name="TextBox 59"/>
          <p:cNvSpPr txBox="1"/>
          <p:nvPr/>
        </p:nvSpPr>
        <p:spPr>
          <a:xfrm>
            <a:off x="725566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1" name="TextBox 60"/>
          <p:cNvSpPr txBox="1"/>
          <p:nvPr/>
        </p:nvSpPr>
        <p:spPr>
          <a:xfrm>
            <a:off x="888632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2" name="Rectangle 61"/>
          <p:cNvSpPr/>
          <p:nvPr/>
        </p:nvSpPr>
        <p:spPr>
          <a:xfrm>
            <a:off x="9748441" y="34768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10516989" y="35784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4" name="Rectangle 63"/>
          <p:cNvSpPr/>
          <p:nvPr/>
        </p:nvSpPr>
        <p:spPr>
          <a:xfrm>
            <a:off x="812800" y="38641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12800" y="38905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van Netten 2025</a:t>
            </a:r>
          </a:p>
        </p:txBody>
      </p:sp>
      <p:sp>
        <p:nvSpPr>
          <p:cNvPr id="66" name="TextBox 65"/>
          <p:cNvSpPr txBox="1"/>
          <p:nvPr/>
        </p:nvSpPr>
        <p:spPr>
          <a:xfrm>
            <a:off x="812800" y="40930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67" name="TextBox 66"/>
          <p:cNvSpPr txBox="1"/>
          <p:nvPr/>
        </p:nvSpPr>
        <p:spPr>
          <a:xfrm>
            <a:off x="3994348"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68" name="Rounded Rectangle 67"/>
          <p:cNvSpPr/>
          <p:nvPr/>
        </p:nvSpPr>
        <p:spPr>
          <a:xfrm>
            <a:off x="5344220" y="3942259"/>
            <a:ext cx="65514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p:cNvSpPr txBox="1"/>
          <p:nvPr/>
        </p:nvSpPr>
        <p:spPr>
          <a:xfrm>
            <a:off x="5458520" y="3980359"/>
            <a:ext cx="47734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80%</a:t>
            </a:r>
          </a:p>
        </p:txBody>
      </p:sp>
      <p:sp>
        <p:nvSpPr>
          <p:cNvPr id="70" name="Rounded Rectangle 69"/>
          <p:cNvSpPr/>
          <p:nvPr/>
        </p:nvSpPr>
        <p:spPr>
          <a:xfrm>
            <a:off x="7027565" y="3942259"/>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7141865" y="3980359"/>
            <a:ext cx="371971"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&lt; 8 u</a:t>
            </a:r>
          </a:p>
        </p:txBody>
      </p:sp>
      <p:sp>
        <p:nvSpPr>
          <p:cNvPr id="72" name="TextBox 71"/>
          <p:cNvSpPr txBox="1"/>
          <p:nvPr/>
        </p:nvSpPr>
        <p:spPr>
          <a:xfrm>
            <a:off x="8886329"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3" name="Rectangle 72"/>
          <p:cNvSpPr/>
          <p:nvPr/>
        </p:nvSpPr>
        <p:spPr>
          <a:xfrm>
            <a:off x="9748441" y="38705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10516989" y="39721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5" name="Rectangle 74"/>
          <p:cNvSpPr/>
          <p:nvPr/>
        </p:nvSpPr>
        <p:spPr>
          <a:xfrm>
            <a:off x="812800" y="4257873"/>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12800" y="4284266"/>
            <a:ext cx="2463800" cy="189865"/>
          </a:xfrm>
          <a:prstGeom prst="rect">
            <a:avLst/>
          </a:prstGeom>
          <a:noFill/>
        </p:spPr>
        <p:txBody>
          <a:bodyPr wrap="none" lIns="0" tIns="0" rIns="0" bIns="0" anchor="t">
            <a:noAutofit/>
          </a:bodyPr>
          <a:lstStyle/>
          <a:p>
            <a:pPr algn="l">
              <a:lnSpc>
                <a:spcPts val="1495"/>
              </a:lnSpc>
            </a:pPr>
            <a:r>
              <a:rPr sz="1300" b="1" i="0">
                <a:solidFill>
                  <a:srgbClr val="0A2540"/>
                </a:solidFill>
                <a:latin typeface="DM Sans"/>
              </a:rPr>
              <a:t>Jarl 2023</a:t>
            </a:r>
          </a:p>
        </p:txBody>
      </p:sp>
      <p:sp>
        <p:nvSpPr>
          <p:cNvPr id="77" name="TextBox 76"/>
          <p:cNvSpPr txBox="1"/>
          <p:nvPr/>
        </p:nvSpPr>
        <p:spPr>
          <a:xfrm>
            <a:off x="812800" y="44867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a:t>
            </a:r>
          </a:p>
        </p:txBody>
      </p:sp>
      <p:sp>
        <p:nvSpPr>
          <p:cNvPr id="78" name="TextBox 77"/>
          <p:cNvSpPr txBox="1"/>
          <p:nvPr/>
        </p:nvSpPr>
        <p:spPr>
          <a:xfrm>
            <a:off x="3994348" y="43658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79" name="Rounded Rectangle 78"/>
          <p:cNvSpPr/>
          <p:nvPr/>
        </p:nvSpPr>
        <p:spPr>
          <a:xfrm>
            <a:off x="5361781" y="4335959"/>
            <a:ext cx="619919"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Box 79"/>
          <p:cNvSpPr txBox="1"/>
          <p:nvPr/>
        </p:nvSpPr>
        <p:spPr>
          <a:xfrm>
            <a:off x="5476081" y="4374059"/>
            <a:ext cx="442119"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77,4%</a:t>
            </a:r>
          </a:p>
        </p:txBody>
      </p:sp>
      <p:sp>
        <p:nvSpPr>
          <p:cNvPr id="81" name="Rounded Rectangle 80"/>
          <p:cNvSpPr/>
          <p:nvPr/>
        </p:nvSpPr>
        <p:spPr>
          <a:xfrm>
            <a:off x="7005340" y="4335959"/>
            <a:ext cx="594122"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7119640" y="4374059"/>
            <a:ext cx="416322"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12,2 u</a:t>
            </a:r>
          </a:p>
        </p:txBody>
      </p:sp>
      <p:sp>
        <p:nvSpPr>
          <p:cNvPr id="83" name="Rounded Rectangle 82"/>
          <p:cNvSpPr/>
          <p:nvPr/>
        </p:nvSpPr>
        <p:spPr>
          <a:xfrm>
            <a:off x="8500368" y="4335959"/>
            <a:ext cx="86538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TextBox 83"/>
          <p:cNvSpPr txBox="1"/>
          <p:nvPr/>
        </p:nvSpPr>
        <p:spPr>
          <a:xfrm>
            <a:off x="8614668" y="4374059"/>
            <a:ext cx="687586"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80% · ref.</a:t>
            </a:r>
          </a:p>
        </p:txBody>
      </p:sp>
      <p:sp>
        <p:nvSpPr>
          <p:cNvPr id="85" name="Rectangle 84"/>
          <p:cNvSpPr/>
          <p:nvPr/>
        </p:nvSpPr>
        <p:spPr>
          <a:xfrm>
            <a:off x="9748441" y="42642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p:cNvSpPr txBox="1"/>
          <p:nvPr/>
        </p:nvSpPr>
        <p:spPr>
          <a:xfrm>
            <a:off x="10516989" y="43658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87" name="Rectangle 86"/>
          <p:cNvSpPr/>
          <p:nvPr/>
        </p:nvSpPr>
        <p:spPr>
          <a:xfrm>
            <a:off x="812800" y="4651573"/>
            <a:ext cx="10566400" cy="63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12800" y="4677966"/>
            <a:ext cx="2463800" cy="189865"/>
          </a:xfrm>
          <a:prstGeom prst="rect">
            <a:avLst/>
          </a:prstGeom>
          <a:noFill/>
        </p:spPr>
        <p:txBody>
          <a:bodyPr wrap="none" lIns="0" tIns="0" rIns="0" bIns="0" anchor="t">
            <a:noAutofit/>
          </a:bodyPr>
          <a:lstStyle/>
          <a:p>
            <a:pPr algn="l">
              <a:lnSpc>
                <a:spcPts val="1495"/>
              </a:lnSpc>
            </a:pPr>
            <a:r>
              <a:rPr sz="1300" b="1" i="0">
                <a:solidFill>
                  <a:srgbClr val="A34A00"/>
                </a:solidFill>
                <a:latin typeface="DM Sans"/>
              </a:rPr>
              <a:t>PARADISE</a:t>
            </a:r>
          </a:p>
        </p:txBody>
      </p:sp>
      <p:sp>
        <p:nvSpPr>
          <p:cNvPr id="89" name="TextBox 88"/>
          <p:cNvSpPr txBox="1"/>
          <p:nvPr/>
        </p:nvSpPr>
        <p:spPr>
          <a:xfrm>
            <a:off x="812800" y="4880471"/>
            <a:ext cx="2463800" cy="144780"/>
          </a:xfrm>
          <a:prstGeom prst="rect">
            <a:avLst/>
          </a:prstGeom>
          <a:noFill/>
        </p:spPr>
        <p:txBody>
          <a:bodyPr wrap="none" lIns="0" tIns="0" rIns="0" bIns="0" anchor="t">
            <a:noAutofit/>
          </a:bodyPr>
          <a:lstStyle/>
          <a:p>
            <a:pPr algn="l">
              <a:lnSpc>
                <a:spcPts val="1140"/>
              </a:lnSpc>
            </a:pPr>
            <a:r>
              <a:rPr sz="950" b="0" i="0">
                <a:solidFill>
                  <a:srgbClr val="5A6E80"/>
                </a:solidFill>
                <a:latin typeface="DM Sans"/>
              </a:rPr>
              <a:t>Orthotimer + MoveMonitor bij de start</a:t>
            </a:r>
          </a:p>
        </p:txBody>
      </p:sp>
      <p:sp>
        <p:nvSpPr>
          <p:cNvPr id="90" name="TextBox 89"/>
          <p:cNvSpPr txBox="1"/>
          <p:nvPr/>
        </p:nvSpPr>
        <p:spPr>
          <a:xfrm>
            <a:off x="3994348"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1" name="TextBox 90"/>
          <p:cNvSpPr txBox="1"/>
          <p:nvPr/>
        </p:nvSpPr>
        <p:spPr>
          <a:xfrm>
            <a:off x="562500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2" name="TextBox 91"/>
          <p:cNvSpPr txBox="1"/>
          <p:nvPr/>
        </p:nvSpPr>
        <p:spPr>
          <a:xfrm>
            <a:off x="725566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3" name="TextBox 92"/>
          <p:cNvSpPr txBox="1"/>
          <p:nvPr/>
        </p:nvSpPr>
        <p:spPr>
          <a:xfrm>
            <a:off x="8886329" y="4759523"/>
            <a:ext cx="144264" cy="184150"/>
          </a:xfrm>
          <a:prstGeom prst="rect">
            <a:avLst/>
          </a:prstGeom>
          <a:noFill/>
        </p:spPr>
        <p:txBody>
          <a:bodyPr wrap="none" lIns="0" tIns="0" rIns="0" bIns="0" anchor="t">
            <a:noAutofit/>
          </a:bodyPr>
          <a:lstStyle/>
          <a:p>
            <a:pPr algn="l"/>
            <a:r>
              <a:rPr sz="1100" b="0" i="0">
                <a:solidFill>
                  <a:srgbClr val="9FB3C6"/>
                </a:solidFill>
                <a:latin typeface="DM Sans"/>
              </a:rPr>
              <a:t>–</a:t>
            </a:r>
          </a:p>
        </p:txBody>
      </p:sp>
      <p:sp>
        <p:nvSpPr>
          <p:cNvPr id="94" name="Rectangle 93"/>
          <p:cNvSpPr/>
          <p:nvPr/>
        </p:nvSpPr>
        <p:spPr>
          <a:xfrm>
            <a:off x="9748441" y="4657923"/>
            <a:ext cx="1630660" cy="3873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5" name="Rounded Rectangle 94"/>
          <p:cNvSpPr/>
          <p:nvPr/>
        </p:nvSpPr>
        <p:spPr>
          <a:xfrm>
            <a:off x="10293052" y="4729659"/>
            <a:ext cx="541338" cy="24378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6" name="TextBox 95"/>
          <p:cNvSpPr txBox="1"/>
          <p:nvPr/>
        </p:nvSpPr>
        <p:spPr>
          <a:xfrm>
            <a:off x="10407352" y="4767759"/>
            <a:ext cx="363538" cy="167640"/>
          </a:xfrm>
          <a:prstGeom prst="rect">
            <a:avLst/>
          </a:prstGeom>
          <a:noFill/>
        </p:spPr>
        <p:txBody>
          <a:bodyPr wrap="none" lIns="0" tIns="0" rIns="0" bIns="0" anchor="t">
            <a:noAutofit/>
          </a:bodyPr>
          <a:lstStyle/>
          <a:p>
            <a:pPr algn="l">
              <a:lnSpc>
                <a:spcPts val="1320"/>
              </a:lnSpc>
            </a:pPr>
            <a:r>
              <a:rPr sz="1100" b="1" i="0">
                <a:solidFill>
                  <a:srgbClr val="FFFFFF"/>
                </a:solidFill>
                <a:latin typeface="DM Sans"/>
              </a:rPr>
              <a:t>80%</a:t>
            </a:r>
          </a:p>
        </p:txBody>
      </p:sp>
      <p:sp>
        <p:nvSpPr>
          <p:cNvPr id="97" name="TextBox 96"/>
          <p:cNvSpPr txBox="1"/>
          <p:nvPr/>
        </p:nvSpPr>
        <p:spPr>
          <a:xfrm>
            <a:off x="812800" y="5235773"/>
            <a:ext cx="106172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Drie studies gebruiken dezelfde toestellen als PARADISE; geen enkele deelt door een gemeten waaktijd.</a:t>
            </a:r>
          </a:p>
        </p:txBody>
      </p:sp>
      <p:pic>
        <p:nvPicPr>
          <p:cNvPr id="98" name="Picture 97"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99" name="TextBox 98"/>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100" name="TextBox 99"/>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referenties in de notities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we overnemen, en wat niet</a:t>
            </a:r>
          </a:p>
        </p:txBody>
      </p:sp>
      <p:sp>
        <p:nvSpPr>
          <p:cNvPr id="3" name="Rounded Rectangle 2"/>
          <p:cNvSpPr/>
          <p:nvPr/>
        </p:nvSpPr>
        <p:spPr>
          <a:xfrm>
            <a:off x="812800" y="1518841"/>
            <a:ext cx="1052512" cy="285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39800" y="1569641"/>
            <a:ext cx="849312" cy="184150"/>
          </a:xfrm>
          <a:prstGeom prst="rect">
            <a:avLst/>
          </a:prstGeom>
          <a:noFill/>
        </p:spPr>
        <p:txBody>
          <a:bodyPr wrap="none" lIns="0" tIns="0" rIns="0" bIns="0" anchor="t">
            <a:noAutofit/>
          </a:bodyPr>
          <a:lstStyle/>
          <a:p>
            <a:pPr algn="l"/>
            <a:r>
              <a:rPr sz="1100" b="1" i="0">
                <a:solidFill>
                  <a:srgbClr val="FFFFFF"/>
                </a:solidFill>
                <a:latin typeface="DM Sans"/>
              </a:rPr>
              <a:t>Overnemen</a:t>
            </a:r>
          </a:p>
        </p:txBody>
      </p:sp>
      <p:sp>
        <p:nvSpPr>
          <p:cNvPr id="5" name="Rectangle 4"/>
          <p:cNvSpPr/>
          <p:nvPr/>
        </p:nvSpPr>
        <p:spPr>
          <a:xfrm>
            <a:off x="812800" y="188079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2800" y="1988741"/>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De 80% als lat</a:t>
            </a:r>
          </a:p>
        </p:txBody>
      </p:sp>
      <p:sp>
        <p:nvSpPr>
          <p:cNvPr id="7" name="TextBox 6"/>
          <p:cNvSpPr txBox="1"/>
          <p:nvPr/>
        </p:nvSpPr>
        <p:spPr>
          <a:xfrm>
            <a:off x="812800" y="2249091"/>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uit DIAFOS: bij wie ze haalde, werkte het drukverlagend schoeisel</a:t>
            </a:r>
          </a:p>
        </p:txBody>
      </p:sp>
      <p:sp>
        <p:nvSpPr>
          <p:cNvPr id="8" name="Rectangle 7"/>
          <p:cNvSpPr/>
          <p:nvPr/>
        </p:nvSpPr>
        <p:spPr>
          <a:xfrm>
            <a:off x="812800" y="254783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2655788"/>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Dezelfde toestellen</a:t>
            </a:r>
          </a:p>
        </p:txBody>
      </p:sp>
      <p:pic>
        <p:nvPicPr>
          <p:cNvPr id="10" name="Picture 9" descr="08f3416e444e7f76df034ad715d9910f.png"/>
          <p:cNvPicPr>
            <a:picLocks noChangeAspect="1"/>
          </p:cNvPicPr>
          <p:nvPr/>
        </p:nvPicPr>
        <p:blipFill>
          <a:blip r:embed="rId3"/>
          <a:stretch>
            <a:fillRect/>
          </a:stretch>
        </p:blipFill>
        <p:spPr>
          <a:xfrm>
            <a:off x="812800" y="2932112"/>
            <a:ext cx="228600" cy="165100"/>
          </a:xfrm>
          <a:prstGeom prst="rect">
            <a:avLst/>
          </a:prstGeom>
        </p:spPr>
      </p:pic>
      <p:pic>
        <p:nvPicPr>
          <p:cNvPr id="11" name="Picture 10" descr="c3433b372cfc1d99d6ab11119954a595.png"/>
          <p:cNvPicPr>
            <a:picLocks noChangeAspect="1"/>
          </p:cNvPicPr>
          <p:nvPr/>
        </p:nvPicPr>
        <p:blipFill>
          <a:blip r:embed="rId4"/>
          <a:stretch>
            <a:fillRect/>
          </a:stretch>
        </p:blipFill>
        <p:spPr>
          <a:xfrm>
            <a:off x="1092200" y="2932112"/>
            <a:ext cx="228600" cy="165100"/>
          </a:xfrm>
          <a:prstGeom prst="rect">
            <a:avLst/>
          </a:prstGeom>
        </p:spPr>
      </p:pic>
      <p:sp>
        <p:nvSpPr>
          <p:cNvPr id="12" name="TextBox 11"/>
          <p:cNvSpPr txBox="1"/>
          <p:nvPr/>
        </p:nvSpPr>
        <p:spPr>
          <a:xfrm>
            <a:off x="1371600" y="2916138"/>
            <a:ext cx="4244479"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Orthotimer en MoveMonitor, zoals DIASSIST, van Netten en Jarl</a:t>
            </a:r>
          </a:p>
        </p:txBody>
      </p:sp>
      <p:sp>
        <p:nvSpPr>
          <p:cNvPr id="13" name="Rectangle 12"/>
          <p:cNvSpPr/>
          <p:nvPr/>
        </p:nvSpPr>
        <p:spPr>
          <a:xfrm>
            <a:off x="812800" y="321488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800" y="3322836"/>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Draaguren als maat</a:t>
            </a:r>
          </a:p>
        </p:txBody>
      </p:sp>
      <p:sp>
        <p:nvSpPr>
          <p:cNvPr id="15" name="TextBox 14"/>
          <p:cNvSpPr txBox="1"/>
          <p:nvPr/>
        </p:nvSpPr>
        <p:spPr>
          <a:xfrm>
            <a:off x="812800" y="3583186"/>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volgen de referentie bijna even goed als de stappen (Jarl)</a:t>
            </a:r>
          </a:p>
        </p:txBody>
      </p:sp>
      <p:sp>
        <p:nvSpPr>
          <p:cNvPr id="16" name="TextBox 15"/>
          <p:cNvSpPr txBox="1"/>
          <p:nvPr/>
        </p:nvSpPr>
        <p:spPr>
          <a:xfrm>
            <a:off x="812800" y="3856534"/>
            <a:ext cx="1257300" cy="177800"/>
          </a:xfrm>
          <a:prstGeom prst="rect">
            <a:avLst/>
          </a:prstGeom>
          <a:noFill/>
        </p:spPr>
        <p:txBody>
          <a:bodyPr wrap="none" lIns="0" tIns="0" rIns="0" bIns="0" anchor="t">
            <a:noAutofit/>
          </a:bodyPr>
          <a:lstStyle/>
          <a:p>
            <a:pPr algn="l"/>
            <a:r>
              <a:rPr sz="1050" b="0" i="0">
                <a:solidFill>
                  <a:srgbClr val="3A4F63"/>
                </a:solidFill>
                <a:latin typeface="DM Sans"/>
              </a:rPr>
              <a:t>% van de stappen</a:t>
            </a:r>
          </a:p>
        </p:txBody>
      </p:sp>
      <p:sp>
        <p:nvSpPr>
          <p:cNvPr id="17" name="Rounded Rectangle 16"/>
          <p:cNvSpPr/>
          <p:nvPr/>
        </p:nvSpPr>
        <p:spPr>
          <a:xfrm>
            <a:off x="2095500" y="3894634"/>
            <a:ext cx="158750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759200" y="3856534"/>
            <a:ext cx="523478" cy="177800"/>
          </a:xfrm>
          <a:prstGeom prst="rect">
            <a:avLst/>
          </a:prstGeom>
          <a:noFill/>
        </p:spPr>
        <p:txBody>
          <a:bodyPr wrap="none" lIns="0" tIns="0" rIns="0" bIns="0" anchor="t">
            <a:noAutofit/>
          </a:bodyPr>
          <a:lstStyle/>
          <a:p>
            <a:pPr algn="l"/>
            <a:r>
              <a:rPr sz="1050" b="0" i="0">
                <a:solidFill>
                  <a:srgbClr val="0A2540"/>
                </a:solidFill>
                <a:latin typeface="DM Sans"/>
              </a:rPr>
              <a:t>r = 0,96</a:t>
            </a:r>
          </a:p>
        </p:txBody>
      </p:sp>
      <p:sp>
        <p:nvSpPr>
          <p:cNvPr id="19" name="TextBox 18"/>
          <p:cNvSpPr txBox="1"/>
          <p:nvPr/>
        </p:nvSpPr>
        <p:spPr>
          <a:xfrm>
            <a:off x="812800" y="4072434"/>
            <a:ext cx="1257300" cy="177800"/>
          </a:xfrm>
          <a:prstGeom prst="rect">
            <a:avLst/>
          </a:prstGeom>
          <a:noFill/>
        </p:spPr>
        <p:txBody>
          <a:bodyPr wrap="none" lIns="0" tIns="0" rIns="0" bIns="0" anchor="t">
            <a:noAutofit/>
          </a:bodyPr>
          <a:lstStyle/>
          <a:p>
            <a:pPr algn="l"/>
            <a:r>
              <a:rPr sz="1050" b="0" i="0">
                <a:solidFill>
                  <a:srgbClr val="3A4F63"/>
                </a:solidFill>
                <a:latin typeface="DM Sans"/>
              </a:rPr>
              <a:t>uren per dag</a:t>
            </a:r>
          </a:p>
        </p:txBody>
      </p:sp>
      <p:sp>
        <p:nvSpPr>
          <p:cNvPr id="20" name="Rounded Rectangle 19"/>
          <p:cNvSpPr/>
          <p:nvPr/>
        </p:nvSpPr>
        <p:spPr>
          <a:xfrm>
            <a:off x="2095500" y="4110534"/>
            <a:ext cx="150495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676650" y="4072434"/>
            <a:ext cx="479028" cy="177800"/>
          </a:xfrm>
          <a:prstGeom prst="rect">
            <a:avLst/>
          </a:prstGeom>
          <a:noFill/>
        </p:spPr>
        <p:txBody>
          <a:bodyPr wrap="none" lIns="0" tIns="0" rIns="0" bIns="0" anchor="t">
            <a:noAutofit/>
          </a:bodyPr>
          <a:lstStyle/>
          <a:p>
            <a:pPr algn="l"/>
            <a:r>
              <a:rPr sz="1050" b="0" i="0">
                <a:solidFill>
                  <a:srgbClr val="0A2540"/>
                </a:solidFill>
                <a:latin typeface="DM Sans"/>
              </a:rPr>
              <a:t>r = 0,91</a:t>
            </a:r>
          </a:p>
        </p:txBody>
      </p:sp>
      <p:sp>
        <p:nvSpPr>
          <p:cNvPr id="22" name="TextBox 21"/>
          <p:cNvSpPr txBox="1"/>
          <p:nvPr/>
        </p:nvSpPr>
        <p:spPr>
          <a:xfrm>
            <a:off x="812800" y="4288334"/>
            <a:ext cx="1257300" cy="177800"/>
          </a:xfrm>
          <a:prstGeom prst="rect">
            <a:avLst/>
          </a:prstGeom>
          <a:noFill/>
        </p:spPr>
        <p:txBody>
          <a:bodyPr wrap="none" lIns="0" tIns="0" rIns="0" bIns="0" anchor="t">
            <a:noAutofit/>
          </a:bodyPr>
          <a:lstStyle/>
          <a:p>
            <a:pPr algn="l"/>
            <a:r>
              <a:rPr sz="1050" b="0" i="0">
                <a:solidFill>
                  <a:srgbClr val="3A4F63"/>
                </a:solidFill>
                <a:latin typeface="DM Sans"/>
              </a:rPr>
              <a:t>zelfrapportage</a:t>
            </a:r>
          </a:p>
        </p:txBody>
      </p:sp>
      <p:sp>
        <p:nvSpPr>
          <p:cNvPr id="23" name="Rounded Rectangle 22"/>
          <p:cNvSpPr/>
          <p:nvPr/>
        </p:nvSpPr>
        <p:spPr>
          <a:xfrm>
            <a:off x="2095500" y="4326434"/>
            <a:ext cx="692150" cy="101600"/>
          </a:xfrm>
          <a:prstGeom prst="roundRect">
            <a:avLst>
              <a:gd name="adj" fmla="val 375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2863850" y="4288334"/>
            <a:ext cx="513755" cy="177800"/>
          </a:xfrm>
          <a:prstGeom prst="rect">
            <a:avLst/>
          </a:prstGeom>
          <a:noFill/>
        </p:spPr>
        <p:txBody>
          <a:bodyPr wrap="none" lIns="0" tIns="0" rIns="0" bIns="0" anchor="t">
            <a:noAutofit/>
          </a:bodyPr>
          <a:lstStyle/>
          <a:p>
            <a:pPr algn="l"/>
            <a:r>
              <a:rPr sz="1050" b="0" i="0">
                <a:solidFill>
                  <a:srgbClr val="0A2540"/>
                </a:solidFill>
                <a:latin typeface="DM Sans"/>
              </a:rPr>
              <a:t>r = 0,42</a:t>
            </a:r>
          </a:p>
        </p:txBody>
      </p:sp>
      <p:sp>
        <p:nvSpPr>
          <p:cNvPr id="25" name="Rectangle 24"/>
          <p:cNvSpPr/>
          <p:nvPr/>
        </p:nvSpPr>
        <p:spPr>
          <a:xfrm>
            <a:off x="812800" y="456773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4675684"/>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Een lat rond 12 uur</a:t>
            </a:r>
          </a:p>
        </p:txBody>
      </p:sp>
      <p:sp>
        <p:nvSpPr>
          <p:cNvPr id="27" name="TextBox 26"/>
          <p:cNvSpPr txBox="1"/>
          <p:nvPr/>
        </p:nvSpPr>
        <p:spPr>
          <a:xfrm>
            <a:off x="812800" y="4936034"/>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Jarl: 12,2 u per dag; onze lat bij 15,5 u wakker: 12,4 u</a:t>
            </a:r>
          </a:p>
        </p:txBody>
      </p:sp>
      <p:sp>
        <p:nvSpPr>
          <p:cNvPr id="28" name="Rounded Rectangle 27"/>
          <p:cNvSpPr/>
          <p:nvPr/>
        </p:nvSpPr>
        <p:spPr>
          <a:xfrm>
            <a:off x="6324600" y="1518841"/>
            <a:ext cx="1571724" cy="285750"/>
          </a:xfrm>
          <a:prstGeom prst="roundRect">
            <a:avLst>
              <a:gd name="adj" fmla="val 50000"/>
            </a:avLst>
          </a:prstGeom>
          <a:solidFill>
            <a:srgbClr val="B8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451600" y="1569641"/>
            <a:ext cx="1368524" cy="184150"/>
          </a:xfrm>
          <a:prstGeom prst="rect">
            <a:avLst/>
          </a:prstGeom>
          <a:noFill/>
        </p:spPr>
        <p:txBody>
          <a:bodyPr wrap="none" lIns="0" tIns="0" rIns="0" bIns="0" anchor="t">
            <a:noAutofit/>
          </a:bodyPr>
          <a:lstStyle/>
          <a:p>
            <a:pPr algn="l"/>
            <a:r>
              <a:rPr sz="1100" b="1" i="0">
                <a:solidFill>
                  <a:srgbClr val="FFFFFF"/>
                </a:solidFill>
                <a:latin typeface="DM Sans"/>
              </a:rPr>
              <a:t>Niet voor PARADISE</a:t>
            </a:r>
          </a:p>
        </p:txBody>
      </p:sp>
      <p:sp>
        <p:nvSpPr>
          <p:cNvPr id="30" name="Rectangle 29"/>
          <p:cNvSpPr/>
          <p:nvPr/>
        </p:nvSpPr>
        <p:spPr>
          <a:xfrm>
            <a:off x="6324600" y="188079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24600" y="1988741"/>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 van de stappen</a:t>
            </a:r>
          </a:p>
        </p:txBody>
      </p:sp>
      <p:sp>
        <p:nvSpPr>
          <p:cNvPr id="32" name="TextBox 31"/>
          <p:cNvSpPr txBox="1"/>
          <p:nvPr/>
        </p:nvSpPr>
        <p:spPr>
          <a:xfrm>
            <a:off x="6324600" y="2249091"/>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McRoberts levert alleen dagtotalen, geen data per tijdstip</a:t>
            </a:r>
          </a:p>
        </p:txBody>
      </p:sp>
      <p:sp>
        <p:nvSpPr>
          <p:cNvPr id="33" name="Rectangle 32"/>
          <p:cNvSpPr/>
          <p:nvPr/>
        </p:nvSpPr>
        <p:spPr>
          <a:xfrm>
            <a:off x="6324600" y="254783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24600" y="2655788"/>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Een aangenomen dag van 16 uur</a:t>
            </a:r>
          </a:p>
        </p:txBody>
      </p:sp>
      <p:sp>
        <p:nvSpPr>
          <p:cNvPr id="35" name="TextBox 34"/>
          <p:cNvSpPr txBox="1"/>
          <p:nvPr/>
        </p:nvSpPr>
        <p:spPr>
          <a:xfrm>
            <a:off x="6324600" y="2916138"/>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wij meten de eigen waaktijd</a:t>
            </a:r>
          </a:p>
        </p:txBody>
      </p:sp>
      <p:sp>
        <p:nvSpPr>
          <p:cNvPr id="36" name="Rectangle 35"/>
          <p:cNvSpPr/>
          <p:nvPr/>
        </p:nvSpPr>
        <p:spPr>
          <a:xfrm>
            <a:off x="6324600" y="321488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24600" y="3322836"/>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MoveMonitor op 6 en 12 maanden</a:t>
            </a:r>
          </a:p>
        </p:txBody>
      </p:sp>
      <p:sp>
        <p:nvSpPr>
          <p:cNvPr id="38" name="TextBox 37"/>
          <p:cNvSpPr txBox="1"/>
          <p:nvPr/>
        </p:nvSpPr>
        <p:spPr>
          <a:xfrm>
            <a:off x="6324600" y="3583186"/>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zoals in het DIASSIST-protocol; bij ons alleen bij de start</a:t>
            </a:r>
          </a:p>
        </p:txBody>
      </p:sp>
      <p:sp>
        <p:nvSpPr>
          <p:cNvPr id="39" name="Rectangle 38"/>
          <p:cNvSpPr/>
          <p:nvPr/>
        </p:nvSpPr>
        <p:spPr>
          <a:xfrm>
            <a:off x="6324600" y="388193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24600" y="3989884"/>
            <a:ext cx="5105400" cy="222250"/>
          </a:xfrm>
          <a:prstGeom prst="rect">
            <a:avLst/>
          </a:prstGeom>
          <a:noFill/>
        </p:spPr>
        <p:txBody>
          <a:bodyPr wrap="none" lIns="0" tIns="0" rIns="0" bIns="0" anchor="t">
            <a:noAutofit/>
          </a:bodyPr>
          <a:lstStyle/>
          <a:p>
            <a:pPr algn="l">
              <a:lnSpc>
                <a:spcPts val="1750"/>
              </a:lnSpc>
            </a:pPr>
            <a:r>
              <a:rPr sz="1400" b="1" i="0">
                <a:solidFill>
                  <a:srgbClr val="0A2540"/>
                </a:solidFill>
                <a:latin typeface="DM Sans"/>
              </a:rPr>
              <a:t>Zelfrapportage</a:t>
            </a:r>
          </a:p>
        </p:txBody>
      </p:sp>
      <p:sp>
        <p:nvSpPr>
          <p:cNvPr id="41" name="TextBox 40"/>
          <p:cNvSpPr txBox="1"/>
          <p:nvPr/>
        </p:nvSpPr>
        <p:spPr>
          <a:xfrm>
            <a:off x="6324600" y="4250234"/>
            <a:ext cx="5105400" cy="197168"/>
          </a:xfrm>
          <a:prstGeom prst="rect">
            <a:avLst/>
          </a:prstGeom>
          <a:noFill/>
        </p:spPr>
        <p:txBody>
          <a:bodyPr wrap="none" lIns="0" tIns="0" rIns="0" bIns="0" anchor="t">
            <a:noAutofit/>
          </a:bodyPr>
          <a:lstStyle/>
          <a:p>
            <a:pPr algn="l">
              <a:lnSpc>
                <a:spcPts val="1552"/>
              </a:lnSpc>
            </a:pPr>
            <a:r>
              <a:rPr sz="1150" b="0" i="0">
                <a:solidFill>
                  <a:srgbClr val="5A6E80"/>
                </a:solidFill>
                <a:latin typeface="DM Sans"/>
              </a:rPr>
              <a:t>volgt de referentie maar matig (r = 0,42)</a:t>
            </a:r>
          </a:p>
        </p:txBody>
      </p:sp>
      <p:pic>
        <p:nvPicPr>
          <p:cNvPr id="42" name="Picture 41"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43" name="TextBox 4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44" name="TextBox 4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Bus 2013 · Jarl 2023 · DIASSIST-protocol 2023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Dan valt de laatste visite na september 2029</a:t>
            </a:r>
          </a:p>
        </p:txBody>
      </p:sp>
      <p:graphicFrame>
        <p:nvGraphicFramePr>
          <p:cNvPr id="3" name="Chart 2"/>
          <p:cNvGraphicFramePr>
            <a:graphicFrameLocks noGrp="1"/>
          </p:cNvGraphicFramePr>
          <p:nvPr/>
        </p:nvGraphicFramePr>
        <p:xfrm>
          <a:off x="812800" y="2095500"/>
          <a:ext cx="57150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729480" y="4692650"/>
            <a:ext cx="1905000" cy="213360"/>
          </a:xfrm>
          <a:prstGeom prst="rect">
            <a:avLst/>
          </a:prstGeom>
          <a:noFill/>
        </p:spPr>
        <p:txBody>
          <a:bodyPr wrap="none" lIns="0" tIns="0" rIns="0" bIns="0">
            <a:spAutoFit/>
          </a:bodyPr>
          <a:lstStyle/>
          <a:p>
            <a:pPr algn="l"/>
            <a:r>
              <a:rPr sz="1200" b="0">
                <a:solidFill>
                  <a:srgbClr val="0A2540"/>
                </a:solidFill>
                <a:latin typeface="Segoe UI"/>
              </a:rPr>
              <a:t>13: uiterste grens</a:t>
            </a:r>
          </a:p>
        </p:txBody>
      </p:sp>
      <p:sp>
        <p:nvSpPr>
          <p:cNvPr id="5" name="TextBox 4"/>
          <p:cNvSpPr txBox="1"/>
          <p:nvPr/>
        </p:nvSpPr>
        <p:spPr>
          <a:xfrm>
            <a:off x="4157980" y="2106757"/>
            <a:ext cx="1016000" cy="231140"/>
          </a:xfrm>
          <a:prstGeom prst="rect">
            <a:avLst/>
          </a:prstGeom>
          <a:noFill/>
        </p:spPr>
        <p:txBody>
          <a:bodyPr wrap="none" lIns="0" tIns="0" rIns="0" bIns="0">
            <a:spAutoFit/>
          </a:bodyPr>
          <a:lstStyle/>
          <a:p>
            <a:pPr algn="ctr"/>
            <a:r>
              <a:rPr sz="1300" b="1">
                <a:solidFill>
                  <a:srgbClr val="0A2540"/>
                </a:solidFill>
                <a:latin typeface="Segoe UI"/>
              </a:rPr>
              <a:t>98%</a:t>
            </a:r>
          </a:p>
        </p:txBody>
      </p:sp>
      <p:sp>
        <p:nvSpPr>
          <p:cNvPr id="6" name="TextBox 5"/>
          <p:cNvSpPr txBox="1"/>
          <p:nvPr/>
        </p:nvSpPr>
        <p:spPr>
          <a:xfrm>
            <a:off x="3548380" y="4520424"/>
            <a:ext cx="1016000" cy="231140"/>
          </a:xfrm>
          <a:prstGeom prst="rect">
            <a:avLst/>
          </a:prstGeom>
          <a:noFill/>
        </p:spPr>
        <p:txBody>
          <a:bodyPr wrap="none" lIns="0" tIns="0" rIns="0" bIns="0">
            <a:spAutoFit/>
          </a:bodyPr>
          <a:lstStyle/>
          <a:p>
            <a:pPr algn="r"/>
            <a:r>
              <a:rPr sz="1300" b="1">
                <a:solidFill>
                  <a:srgbClr val="0A2540"/>
                </a:solidFill>
                <a:latin typeface="Segoe UI"/>
              </a:rPr>
              <a:t>12%</a:t>
            </a:r>
          </a:p>
        </p:txBody>
      </p:sp>
      <p:sp>
        <p:nvSpPr>
          <p:cNvPr id="7" name="TextBox 6"/>
          <p:cNvSpPr txBox="1"/>
          <p:nvPr/>
        </p:nvSpPr>
        <p:spPr>
          <a:xfrm>
            <a:off x="1320800" y="5232400"/>
            <a:ext cx="5080000" cy="213360"/>
          </a:xfrm>
          <a:prstGeom prst="rect">
            <a:avLst/>
          </a:prstGeom>
          <a:noFill/>
        </p:spPr>
        <p:txBody>
          <a:bodyPr wrap="none" lIns="0" tIns="0" rIns="0" bIns="0">
            <a:spAutoFit/>
          </a:bodyPr>
          <a:lstStyle/>
          <a:p>
            <a:pPr algn="ctr"/>
            <a:r>
              <a:rPr sz="1200" b="0">
                <a:solidFill>
                  <a:srgbClr val="5A6E80"/>
                </a:solidFill>
                <a:latin typeface="Segoe UI"/>
              </a:rPr>
              <a:t>maanden na de start van de inclusie</a:t>
            </a:r>
          </a:p>
        </p:txBody>
      </p:sp>
      <p:sp>
        <p:nvSpPr>
          <p:cNvPr id="8" name="Rectangle 7"/>
          <p:cNvSpPr/>
          <p:nvPr/>
        </p:nvSpPr>
        <p:spPr>
          <a:xfrm>
            <a:off x="1320800" y="5613400"/>
            <a:ext cx="139700" cy="139700"/>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24000" y="5588000"/>
            <a:ext cx="984250" cy="213360"/>
          </a:xfrm>
          <a:prstGeom prst="rect">
            <a:avLst/>
          </a:prstGeom>
          <a:noFill/>
        </p:spPr>
        <p:txBody>
          <a:bodyPr wrap="none" lIns="0" tIns="0" rIns="0" bIns="0">
            <a:spAutoFit/>
          </a:bodyPr>
          <a:lstStyle/>
          <a:p>
            <a:pPr algn="l"/>
            <a:r>
              <a:rPr sz="1200" b="0">
                <a:solidFill>
                  <a:srgbClr val="3A4F63"/>
                </a:solidFill>
                <a:latin typeface="Segoe UI"/>
              </a:rPr>
              <a:t>3 per maand</a:t>
            </a:r>
          </a:p>
        </p:txBody>
      </p:sp>
      <p:sp>
        <p:nvSpPr>
          <p:cNvPr id="10" name="Rectangle 9"/>
          <p:cNvSpPr/>
          <p:nvPr/>
        </p:nvSpPr>
        <p:spPr>
          <a:xfrm>
            <a:off x="2635250" y="5613400"/>
            <a:ext cx="139700" cy="1397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38450" y="5588000"/>
            <a:ext cx="984250" cy="213360"/>
          </a:xfrm>
          <a:prstGeom prst="rect">
            <a:avLst/>
          </a:prstGeom>
          <a:noFill/>
        </p:spPr>
        <p:txBody>
          <a:bodyPr wrap="none" lIns="0" tIns="0" rIns="0" bIns="0">
            <a:spAutoFit/>
          </a:bodyPr>
          <a:lstStyle/>
          <a:p>
            <a:pPr algn="l"/>
            <a:r>
              <a:rPr sz="1200" b="0">
                <a:solidFill>
                  <a:srgbClr val="3A4F63"/>
                </a:solidFill>
                <a:latin typeface="Segoe UI"/>
              </a:rPr>
              <a:t>2 per maand</a:t>
            </a:r>
          </a:p>
        </p:txBody>
      </p:sp>
      <p:cxnSp>
        <p:nvCxnSpPr>
          <p:cNvPr id="12" name="Connector 11"/>
          <p:cNvCxnSpPr/>
          <p:nvPr/>
        </p:nvCxnSpPr>
        <p:spPr>
          <a:xfrm>
            <a:off x="3949700" y="5683250"/>
            <a:ext cx="254000" cy="0"/>
          </a:xfrm>
          <a:prstGeom prst="line">
            <a:avLst/>
          </a:prstGeom>
          <a:ln w="19050">
            <a:solidFill>
              <a:srgbClr val="3A4F6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267200" y="5588000"/>
            <a:ext cx="990600" cy="213360"/>
          </a:xfrm>
          <a:prstGeom prst="rect">
            <a:avLst/>
          </a:prstGeom>
          <a:noFill/>
        </p:spPr>
        <p:txBody>
          <a:bodyPr wrap="none" lIns="0" tIns="0" rIns="0" bIns="0">
            <a:spAutoFit/>
          </a:bodyPr>
          <a:lstStyle/>
          <a:p>
            <a:pPr algn="l"/>
            <a:r>
              <a:rPr sz="1200" b="0">
                <a:solidFill>
                  <a:srgbClr val="3A4F63"/>
                </a:solidFill>
                <a:latin typeface="Segoe UI"/>
              </a:rPr>
              <a:t>één centrum</a:t>
            </a:r>
          </a:p>
        </p:txBody>
      </p:sp>
      <p:cxnSp>
        <p:nvCxnSpPr>
          <p:cNvPr id="14" name="Connector 13"/>
          <p:cNvCxnSpPr/>
          <p:nvPr/>
        </p:nvCxnSpPr>
        <p:spPr>
          <a:xfrm>
            <a:off x="5384800" y="5683250"/>
            <a:ext cx="254000" cy="0"/>
          </a:xfrm>
          <a:prstGeom prst="line">
            <a:avLst/>
          </a:prstGeom>
          <a:ln w="19050">
            <a:solidFill>
              <a:srgbClr val="3A4F63"/>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02300" y="5588000"/>
            <a:ext cx="622300" cy="213360"/>
          </a:xfrm>
          <a:prstGeom prst="rect">
            <a:avLst/>
          </a:prstGeom>
          <a:noFill/>
        </p:spPr>
        <p:txBody>
          <a:bodyPr wrap="none" lIns="0" tIns="0" rIns="0" bIns="0">
            <a:spAutoFit/>
          </a:bodyPr>
          <a:lstStyle/>
          <a:p>
            <a:pPr algn="l"/>
            <a:r>
              <a:rPr sz="1200" b="0">
                <a:solidFill>
                  <a:srgbClr val="3A4F63"/>
                </a:solidFill>
                <a:latin typeface="Segoe UI"/>
              </a:rPr>
              <a:t>alle zes</a:t>
            </a:r>
          </a:p>
        </p:txBody>
      </p:sp>
      <p:sp>
        <p:nvSpPr>
          <p:cNvPr id="16" name="TextBox 15"/>
          <p:cNvSpPr txBox="1"/>
          <p:nvPr/>
        </p:nvSpPr>
        <p:spPr>
          <a:xfrm>
            <a:off x="6934200" y="2095500"/>
            <a:ext cx="4495800" cy="198120"/>
          </a:xfrm>
          <a:prstGeom prst="rect">
            <a:avLst/>
          </a:prstGeom>
          <a:noFill/>
        </p:spPr>
        <p:txBody>
          <a:bodyPr wrap="none" lIns="0" tIns="0" rIns="0" bIns="0" anchor="t">
            <a:noAutofit/>
          </a:bodyPr>
          <a:lstStyle/>
          <a:p>
            <a:pPr algn="l"/>
            <a:r>
              <a:rPr sz="1200" b="1" i="0">
                <a:solidFill>
                  <a:srgbClr val="A34A00"/>
                </a:solidFill>
                <a:latin typeface="DM Sans"/>
              </a:rPr>
              <a:t>Twee per maand</a:t>
            </a:r>
          </a:p>
        </p:txBody>
      </p:sp>
      <p:sp>
        <p:nvSpPr>
          <p:cNvPr id="17" name="Rectangle 16"/>
          <p:cNvSpPr/>
          <p:nvPr/>
        </p:nvSpPr>
        <p:spPr>
          <a:xfrm>
            <a:off x="6934200" y="2368550"/>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34200" y="2476500"/>
            <a:ext cx="1320800" cy="355600"/>
          </a:xfrm>
          <a:prstGeom prst="rect">
            <a:avLst/>
          </a:prstGeom>
          <a:noFill/>
        </p:spPr>
        <p:txBody>
          <a:bodyPr wrap="none" lIns="0" tIns="0" rIns="0" bIns="0" anchor="t">
            <a:noAutofit/>
          </a:bodyPr>
          <a:lstStyle/>
          <a:p>
            <a:pPr algn="l">
              <a:lnSpc>
                <a:spcPts val="2800"/>
              </a:lnSpc>
            </a:pPr>
            <a:r>
              <a:rPr sz="2800" b="0" i="0">
                <a:solidFill>
                  <a:srgbClr val="0A2540"/>
                </a:solidFill>
                <a:latin typeface="DM Serif Display"/>
              </a:rPr>
              <a:t>12 ± 2,5</a:t>
            </a:r>
          </a:p>
        </p:txBody>
      </p:sp>
      <p:sp>
        <p:nvSpPr>
          <p:cNvPr id="19" name="TextBox 18"/>
          <p:cNvSpPr txBox="1"/>
          <p:nvPr/>
        </p:nvSpPr>
        <p:spPr>
          <a:xfrm>
            <a:off x="8356600" y="2609850"/>
            <a:ext cx="3073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maanden per centrum</a:t>
            </a:r>
          </a:p>
        </p:txBody>
      </p:sp>
      <p:sp>
        <p:nvSpPr>
          <p:cNvPr id="20" name="Rectangle 19"/>
          <p:cNvSpPr/>
          <p:nvPr/>
        </p:nvSpPr>
        <p:spPr>
          <a:xfrm>
            <a:off x="6934200" y="2934295"/>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34200" y="3042245"/>
            <a:ext cx="1320800" cy="355600"/>
          </a:xfrm>
          <a:prstGeom prst="rect">
            <a:avLst/>
          </a:prstGeom>
          <a:noFill/>
        </p:spPr>
        <p:txBody>
          <a:bodyPr wrap="none" lIns="0" tIns="0" rIns="0" bIns="0" anchor="t">
            <a:noAutofit/>
          </a:bodyPr>
          <a:lstStyle/>
          <a:p>
            <a:pPr algn="l">
              <a:lnSpc>
                <a:spcPts val="2800"/>
              </a:lnSpc>
            </a:pPr>
            <a:r>
              <a:rPr sz="2800" b="0" i="0">
                <a:solidFill>
                  <a:srgbClr val="0A2540"/>
                </a:solidFill>
                <a:latin typeface="DM Serif Display"/>
              </a:rPr>
              <a:t>3 van 6</a:t>
            </a:r>
          </a:p>
        </p:txBody>
      </p:sp>
      <p:sp>
        <p:nvSpPr>
          <p:cNvPr id="22" name="TextBox 21"/>
          <p:cNvSpPr txBox="1"/>
          <p:nvPr/>
        </p:nvSpPr>
        <p:spPr>
          <a:xfrm>
            <a:off x="8356600" y="3175595"/>
            <a:ext cx="307340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centra klaar na een jaar</a:t>
            </a:r>
          </a:p>
        </p:txBody>
      </p:sp>
      <p:sp>
        <p:nvSpPr>
          <p:cNvPr id="23" name="Rectangle 22"/>
          <p:cNvSpPr/>
          <p:nvPr/>
        </p:nvSpPr>
        <p:spPr>
          <a:xfrm>
            <a:off x="6934200" y="3500041"/>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34200" y="3607991"/>
            <a:ext cx="1320800" cy="355600"/>
          </a:xfrm>
          <a:prstGeom prst="rect">
            <a:avLst/>
          </a:prstGeom>
          <a:noFill/>
        </p:spPr>
        <p:txBody>
          <a:bodyPr wrap="none" lIns="0" tIns="0" rIns="0" bIns="0" anchor="t">
            <a:noAutofit/>
          </a:bodyPr>
          <a:lstStyle/>
          <a:p>
            <a:pPr algn="l">
              <a:lnSpc>
                <a:spcPts val="2800"/>
              </a:lnSpc>
            </a:pPr>
            <a:r>
              <a:rPr sz="2800" b="0" i="0">
                <a:solidFill>
                  <a:srgbClr val="A34A00"/>
                </a:solidFill>
                <a:latin typeface="DM Serif Display"/>
              </a:rPr>
              <a:t>12%</a:t>
            </a:r>
          </a:p>
        </p:txBody>
      </p:sp>
      <p:sp>
        <p:nvSpPr>
          <p:cNvPr id="25" name="TextBox 24"/>
          <p:cNvSpPr txBox="1"/>
          <p:nvPr/>
        </p:nvSpPr>
        <p:spPr>
          <a:xfrm>
            <a:off x="8356600" y="3741341"/>
            <a:ext cx="3083052"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kans dat alle zes klaar zijn vóór eind maart 2028</a:t>
            </a:r>
          </a:p>
        </p:txBody>
      </p:sp>
      <p:sp>
        <p:nvSpPr>
          <p:cNvPr id="26" name="Rectangle 25"/>
          <p:cNvSpPr/>
          <p:nvPr/>
        </p:nvSpPr>
        <p:spPr>
          <a:xfrm>
            <a:off x="6934200" y="4288631"/>
            <a:ext cx="444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34200" y="4396581"/>
            <a:ext cx="1320800" cy="355600"/>
          </a:xfrm>
          <a:prstGeom prst="rect">
            <a:avLst/>
          </a:prstGeom>
          <a:noFill/>
        </p:spPr>
        <p:txBody>
          <a:bodyPr wrap="none" lIns="0" tIns="0" rIns="0" bIns="0" anchor="t">
            <a:noAutofit/>
          </a:bodyPr>
          <a:lstStyle/>
          <a:p>
            <a:pPr algn="l">
              <a:lnSpc>
                <a:spcPts val="2800"/>
              </a:lnSpc>
            </a:pPr>
            <a:r>
              <a:rPr sz="2800" b="0" i="0">
                <a:solidFill>
                  <a:srgbClr val="A34A00"/>
                </a:solidFill>
                <a:latin typeface="DM Serif Display"/>
              </a:rPr>
              <a:t>8%</a:t>
            </a:r>
          </a:p>
        </p:txBody>
      </p:sp>
      <p:sp>
        <p:nvSpPr>
          <p:cNvPr id="28" name="TextBox 27"/>
          <p:cNvSpPr txBox="1"/>
          <p:nvPr/>
        </p:nvSpPr>
        <p:spPr>
          <a:xfrm>
            <a:off x="8356600" y="4529931"/>
            <a:ext cx="3083052"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kans dat na 18 maanden nog een centrum niet rond is</a:t>
            </a:r>
          </a:p>
        </p:txBody>
      </p:sp>
      <p:sp>
        <p:nvSpPr>
          <p:cNvPr id="29" name="TextBox 28"/>
          <p:cNvSpPr txBox="1"/>
          <p:nvPr/>
        </p:nvSpPr>
        <p:spPr>
          <a:xfrm>
            <a:off x="6934200" y="5372100"/>
            <a:ext cx="44958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Mediaan: laatste visite eind november 2029</a:t>
            </a:r>
          </a:p>
        </p:txBody>
      </p:sp>
      <p:pic>
        <p:nvPicPr>
          <p:cNvPr id="30" name="Picture 29" descr="ec5c93e6f83f209b4e97ddfdecd480c8.png"/>
          <p:cNvPicPr>
            <a:picLocks noChangeAspect="1"/>
          </p:cNvPicPr>
          <p:nvPr/>
        </p:nvPicPr>
        <p:blipFill>
          <a:blip r:embed="rId4"/>
          <a:stretch>
            <a:fillRect/>
          </a:stretch>
        </p:blipFill>
        <p:spPr>
          <a:xfrm>
            <a:off x="812967" y="6261100"/>
            <a:ext cx="171116" cy="203200"/>
          </a:xfrm>
          <a:prstGeom prst="rect">
            <a:avLst/>
          </a:prstGeom>
        </p:spPr>
      </p:pic>
      <p:sp>
        <p:nvSpPr>
          <p:cNvPr id="31" name="TextBox 30"/>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Achtergrond</a:t>
            </a:r>
          </a:p>
        </p:txBody>
      </p:sp>
      <p:sp>
        <p:nvSpPr>
          <p:cNvPr id="32" name="TextBox 31"/>
          <p:cNvSpPr txBox="1"/>
          <p:nvPr/>
        </p:nvSpPr>
        <p:spPr>
          <a:xfrm>
            <a:off x="5613400" y="6254750"/>
            <a:ext cx="5765800" cy="198120"/>
          </a:xfrm>
          <a:prstGeom prst="rect">
            <a:avLst/>
          </a:prstGeom>
          <a:noFill/>
        </p:spPr>
        <p:txBody>
          <a:bodyPr wrap="none" lIns="0" tIns="0" rIns="0" bIns="0" anchor="t">
            <a:noAutofit/>
          </a:bodyPr>
          <a:lstStyle/>
          <a:p>
            <a:pPr algn="r"/>
            <a:r>
              <a:rPr sz="1200" b="0" i="0">
                <a:solidFill>
                  <a:srgbClr val="5A6E80"/>
                </a:solidFill>
                <a:latin typeface="DM Sans"/>
              </a:rPr>
              <a:t>Bron: Poisson-instroom, start 24 feb 2027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1400"/>
                                        <p:tgtEl>
                                          <p:spTgt spid="3"/>
                                        </p:tgtEl>
                                      </p:cBhvr>
                                    </p:animEffect>
                                  </p:childTnLst>
                                </p:cTn>
                              </p:par>
                            </p:childTnLst>
                          </p:cTn>
                        </p:par>
                        <p:par>
                          <p:cTn id="8" fill="hold">
                            <p:stCondLst>
                              <p:cond delay="0"/>
                            </p:stCondLst>
                            <p:childTnLst>
                              <p:par>
                                <p:cTn id="9" presetID="10" presetClass="entr" presetSubtype="0" fill="hold" grpId="0" nodeType="afterEffect">
                                  <p:stCondLst>
                                    <p:cond delay="2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0"/>
                            </p:stCondLst>
                            <p:childTnLst>
                              <p:par>
                                <p:cTn id="17" presetID="10" presetClass="entr" presetSubtype="0" fill="hold" grpId="0" nodeType="afterEffect">
                                  <p:stCondLst>
                                    <p:cond delay="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P spid="5"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F2F6F9"/>
        </a:solidFill>
        <a:effectLst/>
      </p:bgPr>
    </p:bg>
    <p:spTree>
      <p:nvGrpSpPr>
        <p:cNvPr id="1" name=""/>
        <p:cNvGrpSpPr/>
        <p:nvPr/>
      </p:nvGrpSpPr>
      <p:grpSpPr>
        <a:xfrm>
          <a:off x="0" y="0"/>
          <a:ext cx="0" cy="0"/>
          <a:chOff x="0" y="0"/>
          <a:chExt cx="0" cy="0"/>
        </a:xfrm>
      </p:grpSpPr>
      <p:pic>
        <p:nvPicPr>
          <p:cNvPr id="2" name="Picture 1"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 name="TextBox 2"/>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Ontwikkelingen sinds 1 april</a:t>
            </a:r>
          </a:p>
        </p:txBody>
      </p:sp>
      <p:sp>
        <p:nvSpPr>
          <p:cNvPr id="4" name="TextBox 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beslissingen 6 en 8 oktober 2026</a:t>
            </a:r>
          </a:p>
        </p:txBody>
      </p:sp>
      <p:sp>
        <p:nvSpPr>
          <p:cNvPr id="5" name="TextBox 4"/>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Zelfde zool, ander gebruik</a:t>
            </a:r>
          </a:p>
        </p:txBody>
      </p:sp>
      <p:sp>
        <p:nvSpPr>
          <p:cNvPr id="6" name="Rectangle 5"/>
          <p:cNvSpPr/>
          <p:nvPr/>
        </p:nvSpPr>
        <p:spPr>
          <a:xfrm>
            <a:off x="812800" y="17716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0" y="217805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800" y="1879600"/>
            <a:ext cx="1574800" cy="198120"/>
          </a:xfrm>
          <a:prstGeom prst="rect">
            <a:avLst/>
          </a:prstGeom>
          <a:noFill/>
        </p:spPr>
        <p:txBody>
          <a:bodyPr wrap="none" lIns="0" tIns="0" rIns="0" bIns="0" anchor="t">
            <a:noAutofit/>
          </a:bodyPr>
          <a:lstStyle/>
          <a:p>
            <a:pPr algn="l"/>
            <a:r>
              <a:rPr sz="1200" b="1" i="0">
                <a:solidFill>
                  <a:srgbClr val="5A6E80"/>
                </a:solidFill>
                <a:latin typeface="DM Sans"/>
              </a:rPr>
              <a:t>Beide armen</a:t>
            </a:r>
          </a:p>
        </p:txBody>
      </p:sp>
      <p:sp>
        <p:nvSpPr>
          <p:cNvPr id="9" name="TextBox 8"/>
          <p:cNvSpPr txBox="1"/>
          <p:nvPr/>
        </p:nvSpPr>
        <p:spPr>
          <a:xfrm>
            <a:off x="2514600" y="1866900"/>
            <a:ext cx="8915400" cy="222885"/>
          </a:xfrm>
          <a:prstGeom prst="rect">
            <a:avLst/>
          </a:prstGeom>
          <a:noFill/>
        </p:spPr>
        <p:txBody>
          <a:bodyPr wrap="none" lIns="0" tIns="0" rIns="0" bIns="0" anchor="t">
            <a:noAutofit/>
          </a:bodyPr>
          <a:lstStyle/>
          <a:p>
            <a:pPr algn="l">
              <a:lnSpc>
                <a:spcPts val="1755"/>
              </a:lnSpc>
            </a:pPr>
            <a:r>
              <a:rPr sz="1300" b="0" i="0">
                <a:solidFill>
                  <a:srgbClr val="0A2540"/>
                </a:solidFill>
                <a:latin typeface="DM Sans"/>
              </a:rPr>
              <a:t>CMFO met dezelfde opbouw · voetzorg elke 3 maanden · MoveMonitor bij de start · Orthotimer</a:t>
            </a:r>
          </a:p>
        </p:txBody>
      </p:sp>
      <p:sp>
        <p:nvSpPr>
          <p:cNvPr id="10" name="Rounded Rectangle 9"/>
          <p:cNvSpPr/>
          <p:nvPr/>
        </p:nvSpPr>
        <p:spPr>
          <a:xfrm>
            <a:off x="812800" y="2286000"/>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77900" y="2324100"/>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2" name="TextBox 11"/>
          <p:cNvSpPr txBox="1"/>
          <p:nvPr/>
        </p:nvSpPr>
        <p:spPr>
          <a:xfrm>
            <a:off x="2504678" y="2324100"/>
            <a:ext cx="2528491" cy="247650"/>
          </a:xfrm>
          <a:prstGeom prst="rect">
            <a:avLst/>
          </a:prstGeom>
          <a:noFill/>
        </p:spPr>
        <p:txBody>
          <a:bodyPr wrap="none" lIns="0" tIns="0" rIns="0" bIns="0" anchor="t">
            <a:noAutofit/>
          </a:bodyPr>
          <a:lstStyle/>
          <a:p>
            <a:pPr algn="l"/>
            <a:r>
              <a:rPr sz="1500" b="0" i="0">
                <a:solidFill>
                  <a:srgbClr val="0A2540"/>
                </a:solidFill>
                <a:latin typeface="DM Sans"/>
              </a:rPr>
              <a:t>twee normen sturen de zorg</a:t>
            </a:r>
          </a:p>
        </p:txBody>
      </p:sp>
      <p:sp>
        <p:nvSpPr>
          <p:cNvPr id="13" name="Rounded Rectangle 12"/>
          <p:cNvSpPr/>
          <p:nvPr/>
        </p:nvSpPr>
        <p:spPr>
          <a:xfrm>
            <a:off x="81280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c3433b372cfc1d99d6ab11119954a595.png"/>
          <p:cNvPicPr>
            <a:picLocks noChangeAspect="1"/>
          </p:cNvPicPr>
          <p:nvPr/>
        </p:nvPicPr>
        <p:blipFill>
          <a:blip r:embed="rId4"/>
          <a:stretch>
            <a:fillRect/>
          </a:stretch>
        </p:blipFill>
        <p:spPr>
          <a:xfrm>
            <a:off x="946150" y="2774950"/>
            <a:ext cx="317500" cy="228600"/>
          </a:xfrm>
          <a:prstGeom prst="rect">
            <a:avLst/>
          </a:prstGeom>
        </p:spPr>
      </p:pic>
      <p:sp>
        <p:nvSpPr>
          <p:cNvPr id="15" name="TextBox 14"/>
          <p:cNvSpPr txBox="1"/>
          <p:nvPr/>
        </p:nvSpPr>
        <p:spPr>
          <a:xfrm>
            <a:off x="1339850" y="2790825"/>
            <a:ext cx="1032867" cy="198120"/>
          </a:xfrm>
          <a:prstGeom prst="rect">
            <a:avLst/>
          </a:prstGeom>
          <a:noFill/>
        </p:spPr>
        <p:txBody>
          <a:bodyPr wrap="none" lIns="0" tIns="0" rIns="0" bIns="0" anchor="t">
            <a:noAutofit/>
          </a:bodyPr>
          <a:lstStyle/>
          <a:p>
            <a:pPr algn="l"/>
            <a:r>
              <a:rPr sz="1200" b="1" i="0">
                <a:solidFill>
                  <a:srgbClr val="0B6E8F"/>
                </a:solidFill>
                <a:latin typeface="DM Sans"/>
              </a:rPr>
              <a:t>MoveMonitor</a:t>
            </a:r>
          </a:p>
        </p:txBody>
      </p:sp>
      <p:sp>
        <p:nvSpPr>
          <p:cNvPr id="16" name="TextBox 15"/>
          <p:cNvSpPr txBox="1"/>
          <p:nvPr/>
        </p:nvSpPr>
        <p:spPr>
          <a:xfrm>
            <a:off x="94615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één week bij de start: slaaptijd/waaktijd</a:t>
            </a:r>
          </a:p>
        </p:txBody>
      </p:sp>
      <p:cxnSp>
        <p:nvCxnSpPr>
          <p:cNvPr id="17" name="Connector 16"/>
          <p:cNvCxnSpPr/>
          <p:nvPr/>
        </p:nvCxnSpPr>
        <p:spPr>
          <a:xfrm>
            <a:off x="331787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08375" y="2667000"/>
            <a:ext cx="2479675" cy="1181100"/>
          </a:xfrm>
          <a:prstGeom prst="roundRect">
            <a:avLst>
              <a:gd name="adj" fmla="val 8602"/>
            </a:avLst>
          </a:prstGeom>
          <a:solidFill>
            <a:srgbClr val="FFFFFF"/>
          </a:solidFill>
          <a:ln w="12700">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648075" y="2781300"/>
            <a:ext cx="2251075" cy="198120"/>
          </a:xfrm>
          <a:prstGeom prst="rect">
            <a:avLst/>
          </a:prstGeom>
          <a:noFill/>
        </p:spPr>
        <p:txBody>
          <a:bodyPr wrap="none" lIns="0" tIns="0" rIns="0" bIns="0" anchor="t">
            <a:noAutofit/>
          </a:bodyPr>
          <a:lstStyle/>
          <a:p>
            <a:pPr algn="l"/>
            <a:r>
              <a:rPr sz="1200" b="1" i="0">
                <a:solidFill>
                  <a:srgbClr val="A34A00"/>
                </a:solidFill>
                <a:latin typeface="DM Sans"/>
              </a:rPr>
              <a:t>Draagnorm</a:t>
            </a:r>
          </a:p>
        </p:txBody>
      </p:sp>
      <p:sp>
        <p:nvSpPr>
          <p:cNvPr id="20" name="TextBox 19"/>
          <p:cNvSpPr txBox="1"/>
          <p:nvPr/>
        </p:nvSpPr>
        <p:spPr>
          <a:xfrm>
            <a:off x="3648075" y="3016250"/>
            <a:ext cx="2251075" cy="429220"/>
          </a:xfrm>
          <a:prstGeom prst="rect">
            <a:avLst/>
          </a:prstGeom>
          <a:noFill/>
        </p:spPr>
        <p:txBody>
          <a:bodyPr wrap="square" lIns="0" tIns="0" rIns="0" bIns="0" anchor="t">
            <a:noAutofit/>
          </a:bodyPr>
          <a:lstStyle/>
          <a:p>
            <a:pPr algn="l">
              <a:lnSpc>
                <a:spcPts val="1689"/>
              </a:lnSpc>
            </a:pPr>
            <a:r>
              <a:rPr sz="1300" b="0" i="0">
                <a:solidFill>
                  <a:srgbClr val="0A2540"/>
                </a:solidFill>
                <a:latin typeface="DM Sans"/>
              </a:rPr>
              <a:t>80% van de waaktijd, 7 dagen per week</a:t>
            </a:r>
          </a:p>
        </p:txBody>
      </p:sp>
      <p:cxnSp>
        <p:nvCxnSpPr>
          <p:cNvPr id="21" name="Connector 20"/>
          <p:cNvCxnSpPr/>
          <p:nvPr/>
        </p:nvCxnSpPr>
        <p:spPr>
          <a:xfrm>
            <a:off x="6026150"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16650"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08f3416e444e7f76df034ad715d9910f.png"/>
          <p:cNvPicPr>
            <a:picLocks noChangeAspect="1"/>
          </p:cNvPicPr>
          <p:nvPr/>
        </p:nvPicPr>
        <p:blipFill>
          <a:blip r:embed="rId5"/>
          <a:stretch>
            <a:fillRect/>
          </a:stretch>
        </p:blipFill>
        <p:spPr>
          <a:xfrm>
            <a:off x="6350000" y="2774950"/>
            <a:ext cx="317500" cy="228600"/>
          </a:xfrm>
          <a:prstGeom prst="rect">
            <a:avLst/>
          </a:prstGeom>
        </p:spPr>
      </p:pic>
      <p:sp>
        <p:nvSpPr>
          <p:cNvPr id="24" name="TextBox 23"/>
          <p:cNvSpPr txBox="1"/>
          <p:nvPr/>
        </p:nvSpPr>
        <p:spPr>
          <a:xfrm>
            <a:off x="6743700" y="2790825"/>
            <a:ext cx="887809" cy="198120"/>
          </a:xfrm>
          <a:prstGeom prst="rect">
            <a:avLst/>
          </a:prstGeom>
          <a:noFill/>
        </p:spPr>
        <p:txBody>
          <a:bodyPr wrap="none" lIns="0" tIns="0" rIns="0" bIns="0" anchor="t">
            <a:noAutofit/>
          </a:bodyPr>
          <a:lstStyle/>
          <a:p>
            <a:pPr algn="l"/>
            <a:r>
              <a:rPr sz="1200" b="1" i="0">
                <a:solidFill>
                  <a:srgbClr val="0B6E8F"/>
                </a:solidFill>
                <a:latin typeface="DM Sans"/>
              </a:rPr>
              <a:t>Orthotimer</a:t>
            </a:r>
          </a:p>
        </p:txBody>
      </p:sp>
      <p:sp>
        <p:nvSpPr>
          <p:cNvPr id="25" name="TextBox 24"/>
          <p:cNvSpPr txBox="1"/>
          <p:nvPr/>
        </p:nvSpPr>
        <p:spPr>
          <a:xfrm>
            <a:off x="6350000" y="304165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draagtijd per dag, elke 3 maanden uitgelezen</a:t>
            </a:r>
          </a:p>
        </p:txBody>
      </p:sp>
      <p:cxnSp>
        <p:nvCxnSpPr>
          <p:cNvPr id="26" name="Connector 25"/>
          <p:cNvCxnSpPr/>
          <p:nvPr/>
        </p:nvCxnSpPr>
        <p:spPr>
          <a:xfrm>
            <a:off x="8721725" y="3257550"/>
            <a:ext cx="152400" cy="0"/>
          </a:xfrm>
          <a:prstGeom prst="line">
            <a:avLst/>
          </a:prstGeom>
          <a:ln w="19050">
            <a:solidFill>
              <a:srgbClr val="0B6E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2225" y="2667000"/>
            <a:ext cx="2466975" cy="1181100"/>
          </a:xfrm>
          <a:prstGeom prst="roundRect">
            <a:avLst>
              <a:gd name="adj" fmla="val 860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45575" y="2774950"/>
            <a:ext cx="2251075" cy="198120"/>
          </a:xfrm>
          <a:prstGeom prst="rect">
            <a:avLst/>
          </a:prstGeom>
          <a:noFill/>
        </p:spPr>
        <p:txBody>
          <a:bodyPr wrap="none" lIns="0" tIns="0" rIns="0" bIns="0" anchor="t">
            <a:noAutofit/>
          </a:bodyPr>
          <a:lstStyle/>
          <a:p>
            <a:pPr algn="l"/>
            <a:r>
              <a:rPr sz="1200" b="1" i="0">
                <a:solidFill>
                  <a:srgbClr val="0B6E8F"/>
                </a:solidFill>
                <a:latin typeface="DM Sans"/>
              </a:rPr>
              <a:t>SEBIA</a:t>
            </a:r>
          </a:p>
        </p:txBody>
      </p:sp>
      <p:sp>
        <p:nvSpPr>
          <p:cNvPr id="29" name="TextBox 28"/>
          <p:cNvSpPr txBox="1"/>
          <p:nvPr/>
        </p:nvSpPr>
        <p:spPr>
          <a:xfrm>
            <a:off x="9045575" y="3009900"/>
            <a:ext cx="2251075"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een gesprek op elke visite: voetzorg en therapietrouw</a:t>
            </a:r>
          </a:p>
        </p:txBody>
      </p:sp>
      <p:sp>
        <p:nvSpPr>
          <p:cNvPr id="30" name="Rectangle 29"/>
          <p:cNvSpPr/>
          <p:nvPr/>
        </p:nvSpPr>
        <p:spPr>
          <a:xfrm>
            <a:off x="812800" y="5207000"/>
            <a:ext cx="1056640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12800" y="5346700"/>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77900" y="5384800"/>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33" name="TextBox 32"/>
          <p:cNvSpPr txBox="1"/>
          <p:nvPr/>
        </p:nvSpPr>
        <p:spPr>
          <a:xfrm>
            <a:off x="2269629" y="5346700"/>
            <a:ext cx="9291763" cy="495300"/>
          </a:xfrm>
          <a:prstGeom prst="rect">
            <a:avLst/>
          </a:prstGeom>
          <a:noFill/>
        </p:spPr>
        <p:txBody>
          <a:bodyPr wrap="square" lIns="0" tIns="0" rIns="0" bIns="0" anchor="t">
            <a:noAutofit/>
          </a:bodyPr>
          <a:lstStyle/>
          <a:p>
            <a:pPr algn="l">
              <a:lnSpc>
                <a:spcPts val="1950"/>
              </a:lnSpc>
            </a:pPr>
            <a:r>
              <a:rPr sz="1500" b="0" i="0">
                <a:solidFill>
                  <a:srgbClr val="0A2540"/>
                </a:solidFill>
                <a:latin typeface="DM Sans"/>
              </a:rPr>
              <a:t>zelfde MoveMonitor en Orthotimer, maar geen draagnorm, geen terugkoppeling en geen SEBIA: educatie zoals vandaag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11183</Words>
  <Application>Microsoft Office PowerPoint</Application>
  <PresentationFormat>Breedbeeld</PresentationFormat>
  <Paragraphs>1173</Paragraphs>
  <Slides>56</Slides>
  <Notes>56</Notes>
  <HiddenSlides>6</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56</vt:i4>
      </vt:variant>
    </vt:vector>
  </HeadingPairs>
  <TitlesOfParts>
    <vt:vector size="62" baseType="lpstr">
      <vt:lpstr>Arial</vt:lpstr>
      <vt:lpstr>Calibri</vt:lpstr>
      <vt:lpstr>DM Sans</vt:lpstr>
      <vt:lpstr>DM Serif Display</vt:lpstr>
      <vt:lpstr>Segoe UI</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PARADISE — Eerste officiële meeting met de voetklinieken</dc:title>
  <dc:subject/>
  <dc:creator/>
  <cp:keywords/>
  <dc:description>generated using python-pptx</dc:description>
  <cp:lastModifiedBy>Janou De Buyser</cp:lastModifiedBy>
  <cp:revision>3</cp:revision>
  <dcterms:created xsi:type="dcterms:W3CDTF">2013-01-27T09:14:16Z</dcterms:created>
  <dcterms:modified xsi:type="dcterms:W3CDTF">2026-10-12T10:52:02Z</dcterms:modified>
  <cp:category/>
</cp:coreProperties>
</file>