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sporen, en ze lopen tegelijk. Opstart, materiaal, publiceren en het doctoraat. Wie ze na elkaar plant haalt februari niet, want het materiaal moet af zijn vóór de opleiding en de opleiding vóór de droogloop.</a:t>
            </a:r>
          </a:p>
          <a:p/>
          <a:p>
            <a:r>
              <a:t>PRESENTATIETIP</a:t>
            </a:r>
          </a:p>
          <a:p>
            <a:r>
              <a:t>Zeg meteen dat deze vier parallel lopen. Wie ze na elkaar plant, haalt februari niet.</a:t>
            </a:r>
          </a:p>
          <a:p/>
          <a:p>
            <a:r>
              <a:t>INTERACTIE</a:t>
            </a:r>
          </a:p>
          <a:p>
            <a:r>
              <a:t>Vraag welk spoor zij onderschatten. Meestal is dat materiaal.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September legt de basis, oktober is ontwerpen, november is de praktijk. Oktober is de zwaarste maand en het meeste ervan is ontwerpwerk. Februari staat vast — alles ervoor schuift, die datum niet.</a:t>
            </a:r>
          </a:p>
          <a:p/>
          <a:p>
            <a:r>
              <a:t>PRESENTATIETIP</a:t>
            </a:r>
          </a:p>
          <a:p>
            <a:r>
              <a:t>Wijs op februari: dat is de enige datum die niet verschuift.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september. De basis leggen. Bijna alles in oktober hangt aan deze maand, dus wat hier blijft liggen, kost dubbel.</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dingen, en geen ervan kan wachten. Het protocol sluitend maken kost drie dagen, en alles daarna bouwt erop voort. De adjudicatiecommissie vraagt mensen van buiten, dus die vraag gaat vandaag de deur uit. En de scoping review begint met de vraagstelling, niet met lezen.</a:t>
            </a:r>
          </a:p>
          <a:p/>
          <a:p>
            <a:r>
              <a:t>PRESENTATIETIP</a:t>
            </a:r>
          </a:p>
          <a:p>
            <a:r>
              <a:t>Het protocol is de spil: alles in oktober bouwt erop voort. Vraag de adjudicatieleden vandaag, want mensen van buiten hebben bedenktijd nodig.</a:t>
            </a:r>
          </a:p>
          <a:p/>
          <a:p>
            <a:r>
              <a:t>INTERACTIE</a:t>
            </a:r>
          </a:p>
          <a:p>
            <a:r>
              <a:t>Vraag wie zij zouden voorstellen voor de adjudicatie.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Twee commissies, en met opzet niet dezelfde mensen. De begeleidingscommissie draagt het doctoraat; de adjudicatiecommissie beoordeelt elk ulcus geblindeerd en moet daarom buiten de zes centra staan. Begin nu: mensen van buiten vragen bedenktijd.</a:t>
            </a:r>
          </a:p>
          <a:p/>
          <a:p>
            <a:r>
              <a:t>PRESENTATIETIP</a:t>
            </a:r>
          </a:p>
          <a:p>
            <a:r>
              <a:t>Begin hier vroeg mee. Mensen buiten het consortium vragen bedenktijd.</a:t>
            </a:r>
          </a:p>
          <a:p/>
          <a:p>
            <a:r>
              <a:t>INTERACTIE</a:t>
            </a:r>
          </a:p>
          <a:p>
            <a:r>
              <a:t>Vraag wie zij zouden aanspreken.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oktober. Ontwerpen en vastleggen. Alles wat in november gebruikt wordt, moet deze maand af zijn.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vaste punten deze maand. Registreren kan nu het protocol stabiel is, en dat nummer deblokkeert meteen de indiening van de paper. Het fotoplatform heeft de langste doorlooptijd buiten onze controle — daar begin ik in week vijf aan, ook al is het pas in november af.</a:t>
            </a:r>
          </a:p>
          <a:p/>
          <a:p>
            <a:r>
              <a:t>PRESENTATIETIP</a:t>
            </a:r>
          </a:p>
          <a:p>
            <a:r>
              <a:t>Het fotoplatform heeft de langste doorlooptijd buiten uw controle. Begin er in week 5 aan, ook al is het pas in november af.</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documenten bestaan niet en drie moeten om. De werkinstructie voor de pedar ontbreekt volledig, terwijl de centra dat toestel zelf bedienen. Reken ruim voor patiëntmateriaal: elke zin moet én kloppen én begrijpelijk zijn.</a:t>
            </a:r>
          </a:p>
          <a:p/>
          <a:p>
            <a:r>
              <a:t>PRESENTATIETIP</a:t>
            </a:r>
          </a:p>
          <a:p>
            <a:r>
              <a:t>Reken ruim: patiëntmateriaal ontwerpen is trager dan het lijkt, want elke zin moet kloppen én begrijpelijk zijn.</a:t>
            </a:r>
          </a:p>
          <a:p/>
          <a:p>
            <a:r>
              <a:t>INTERACTIE</a:t>
            </a:r>
          </a:p>
          <a:p>
            <a:r>
              <a:t>Vraag wie er wil meelezen vanuit de praktijk.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november. Van papier naar de meettafel. Zes opleidingen, zes drooglopen, en de paper de deur uit.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Zes opleidingen en zes drooglopen, elk een halve dag. De droogloop is het punt van de hele maand: daar ontdek je dat het ziekenhuisnetwerk de uitleessoftware blokkeert, of dat het looppad als opslagruimte gebruikt wordt. Dat wil je nu weten en niet bij patiënt één.</a:t>
            </a:r>
          </a:p>
          <a:p/>
          <a:p>
            <a:r>
              <a:t>PRESENTATIETIP</a:t>
            </a:r>
          </a:p>
          <a:p>
            <a:r>
              <a:t>Plan de twee verste centra niet op dezelfde dag.</a:t>
            </a:r>
          </a:p>
          <a:p/>
          <a:p>
            <a:r>
              <a:t>INTERACTIE</a:t>
            </a:r>
          </a:p>
          <a:p>
            <a:r>
              <a:t>Vraag per centrum wie de droogloop trekt.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foolproof maken. Zes regels, en elk ervan komt uit een fout die deze zomer werkelijk in dit project zat.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manieren waarop een fout onzichtbaar blijft. Dezelfde tekst op twee plaatsen loopt uit elkaar — dat gebeurde in de MOOC en een week lang stond er een verkeerd antwoord. Een veld dat zichzelf invult met twaalf uur levert percentages op die er normaal uitzien en nergens op slaan.</a:t>
            </a:r>
          </a:p>
          <a:p/>
          <a:p>
            <a:r>
              <a:t>PRESENTATIETIP</a:t>
            </a:r>
          </a:p>
          <a:p>
            <a:r>
              <a:t>Vertel bij elk het echte voorval. Abstracte regels blijven niet hangen, het verhaal van de dubbele 80% wel.</a:t>
            </a:r>
          </a:p>
          <a:p/>
          <a:p>
            <a:r>
              <a:t>INTERACTIE</a:t>
            </a:r>
          </a:p>
          <a:p>
            <a:r>
              <a:t>Vraag of iemand een vierde voorbeeld herkent uit eigen werk.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drie manieren om ze tegen te houden. Laat het systeem liever niets doen dan iets aannemelijks. Druk de eenheid voor en maak van "niet gemeten" een vakje. En schrijf de instructie mét degene die de handeling doet, niet voor hem.</a:t>
            </a:r>
          </a:p>
          <a:p/>
          <a:p>
            <a:r>
              <a:t>PRESENTATIETIP</a:t>
            </a:r>
          </a:p>
          <a:p>
            <a:r>
              <a:t>Deze drie gaan over ontwerp, niet over opleiden. Dat is het punt.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goedkoopste controle die er is. Geef het formulier en het toestel aan iemand die de studie niet kent, kijk toe en zeg niets. Waar hij aarzelt is het ontwerp fout, niet de collega. Een halve dag, en het vangt meer dan een week nalezen.</a:t>
            </a:r>
          </a:p>
          <a:p/>
          <a:p>
            <a:r>
              <a:t>PRESENTATIETIP</a:t>
            </a:r>
          </a:p>
          <a:p>
            <a:r>
              <a:t>Dit is de dia waar mensen knikken. Vraag meteen wie zich beschikbaar stelt als proefkonijn.</a:t>
            </a:r>
          </a:p>
          <a:p/>
          <a:p>
            <a:r>
              <a:t>INTERACTIE</a:t>
            </a:r>
          </a:p>
          <a:p>
            <a:r>
              <a:t>Twee namen noteren voor week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verdeling is scheef en dat hoort ook: voorbereidend werk is coördinatiewerk. Veertig dagen bij mij, zes bij Kevin, en één dag per centrum. Koen en Maaike dragen de economische analyse én de procesevaluatie, Fabienne draagt SEBIA. Die drie lopen door tot het einde.</a:t>
            </a:r>
          </a:p>
          <a:p/>
          <a:p>
            <a:r>
              <a:t>PRESENTATIETIP</a:t>
            </a:r>
          </a:p>
          <a:p>
            <a:r>
              <a:t>Benoem dat de verdeling scheef is en waarom: voorbereidend werk is coördinatiewerk.</a:t>
            </a:r>
          </a:p>
          <a:p/>
          <a:p>
            <a:r>
              <a:t>INTERACTIE</a:t>
            </a:r>
          </a:p>
          <a:p>
            <a:r>
              <a:t>Vraag of de dag per centrum haalbaar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Acht punten, en ze zijn allemaal aantoonbaar. Geen inschattingen maar dingen die er zijn of niet zijn. Wat op één december nog openstaat, wordt in februari een protocolafwijking op een patiënt.</a:t>
            </a:r>
          </a:p>
          <a:p/>
          <a:p>
            <a:r>
              <a:t>PRESENTATIETIP</a:t>
            </a:r>
          </a:p>
          <a:p>
            <a:r>
              <a:t>Loop ze één voor één af en vraag per punt wie eigenaar is.</a:t>
            </a:r>
          </a:p>
          <a:p/>
          <a:p>
            <a:r>
              <a:t>INTERACTIE</a:t>
            </a:r>
          </a:p>
          <a:p>
            <a:r>
              <a:t>Laat de stuurgroep hier ja of nee zeggen tegen februari.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en dan zwijgen. Dit is de reden dat het zware werk in oktober staat en niet in januari.</a:t>
            </a:r>
          </a:p>
          <a:p/>
          <a:p>
            <a:r>
              <a:t>PRESENTATIETIP</a:t>
            </a:r>
          </a:p>
          <a:p>
            <a:r>
              <a:t>Sluit hiermee af en zeg niets meer.</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VIER SPOREN TEGELIJK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de komende dertien weken loopt</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Opstart</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Protocol, SAP, registratie, toestellen, opleiding, droogloop</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Materiaal</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Zesenveertig documenten, waarvan vier nog te ontwerpen</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Publiceren</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protocolpaper indienen, de scoping review starten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Doctoraat</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begeleidingscommissie samenstellen en samenroepen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01 / 18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DERTIEN WEKEN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maanden, drie doelen</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september</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De basis leggen</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sluitend, statisticus aangesteld, beide commissies in beweging.</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oktober</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Ontwerpen en vastleggen</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Registratie, SAP, fotoplatform, en het materiaal dat in november gebruikt wordt.</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november</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Opleiden en droogdraaien</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Zes opleidingen, zes drooglopen, de paper de deur uit.</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februari 2027</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Eerste patiënt</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Vanaf dan verandert er niets meer zonder amendement.</a:t>
            </a:r>
          </a:p>
        </p:txBody>
      </p:sp>
      <p:sp>
        <p:nvSpPr>
          <p:cNvPr id="22" name="Rounded Rectangle 21"/>
          <p:cNvSpPr/>
          <p:nvPr/>
        </p:nvSpPr>
        <p:spPr>
          <a:xfrm>
            <a:off x="634984" y="4990975"/>
            <a:ext cx="10921726" cy="771429"/>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517435"/>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Oktober is de zwaarste maand. Februari verschuift niet.</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18</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September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basis leggen. Bijna alles in oktober hangt aan deze maand.</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SEPTEMBER · WEEK 1 TOT 4</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dingen die af moeten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 sluitend maken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Eindpuntstructuur, statistiek, twaalf maanden voor therapietrouw, de waaktijd, en de tweede MoveMonitorweek. Één versie, één datum.</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Scoping review starten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Vraag kiezen en het protocol registreren voor de zoektocht begint. Anders is het een literatuuroverzicht, geen review.</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 d</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Twee commissies in gang zetten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begeleidingscommissie voor het doctoraat, en drie artsen van buiten voor de blinde adjudicatie.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Werkinstructie pedar</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Het enige toestel zonder SOP, terwijl de centra het zelf bedienen.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 d</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Alles in oktober bouwt op deze vier voort.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TWEE COMMISSIES, NIET DEZELFDE MENSEN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je nu moet vragen</a:t>
            </a:r>
          </a:p>
        </p:txBody>
      </p:sp>
      <p:sp>
        <p:nvSpPr>
          <p:cNvPr id="5" name="Rounded Rectangle 4"/>
          <p:cNvSpPr/>
          <p:nvPr/>
        </p:nvSpPr>
        <p:spPr>
          <a:xfrm>
            <a:off x="634984"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Begeleidingscommissie</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promotor, co-promotoren, plus één of twee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Kies aanvullend: het consortium dekt biomechanica, gedrag en economie, dus methodologie ontbreekt.</a:t>
            </a:r>
          </a:p>
          <a:p>
            <a:pPr algn="l">
              <a:lnSpc>
                <a:spcPct val="132000"/>
              </a:lnSpc>
              <a:spcBef>
                <a:spcPts val="1200"/>
              </a:spcBef>
            </a:pPr>
            <a:r>
              <a:rPr sz="1450" b="0">
                <a:solidFill>
                  <a:srgbClr val="8FB6D0"/>
                </a:solidFill>
                <a:latin typeface="Segoe UI"/>
              </a:rPr>
              <a:t>Plan het eerste overleg meteen mee.</a:t>
            </a:r>
          </a:p>
          <a:p>
            <a:pPr algn="l">
              <a:lnSpc>
                <a:spcPct val="132000"/>
              </a:lnSpc>
              <a:spcBef>
                <a:spcPts val="1200"/>
              </a:spcBef>
            </a:pPr>
            <a:r>
              <a:rPr sz="1450" b="0">
                <a:solidFill>
                  <a:srgbClr val="8FB6D0"/>
                </a:solidFill>
                <a:latin typeface="Segoe UI"/>
              </a:rPr>
              <a:t>De termijn staat in het doctoraatsreglement van de faculteit.</a:t>
            </a:r>
          </a:p>
        </p:txBody>
      </p:sp>
      <p:sp>
        <p:nvSpPr>
          <p:cNvPr id="11" name="Rounded Rectangle 10"/>
          <p:cNvSpPr/>
          <p:nvPr/>
        </p:nvSpPr>
        <p:spPr>
          <a:xfrm>
            <a:off x="6171918"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Adjudicatiecommissie</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twee tot drie artsen van buiten de zes centra</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Beoordeelt elk ulcus geblindeerd, op geanonimiseerde documentatie en foto’s.</a:t>
            </a:r>
          </a:p>
          <a:p>
            <a:pPr algn="l">
              <a:lnSpc>
                <a:spcPct val="132000"/>
              </a:lnSpc>
              <a:spcBef>
                <a:spcPts val="1200"/>
              </a:spcBef>
            </a:pPr>
            <a:r>
              <a:rPr sz="1450" b="0">
                <a:solidFill>
                  <a:srgbClr val="8FB6D0"/>
                </a:solidFill>
                <a:latin typeface="Segoe UI"/>
              </a:rPr>
              <a:t>Moet bestaan vóór het eerste ulcus, niet vóór de eerste analyse.</a:t>
            </a:r>
          </a:p>
          <a:p>
            <a:pPr algn="l">
              <a:lnSpc>
                <a:spcPct val="132000"/>
              </a:lnSpc>
              <a:spcBef>
                <a:spcPts val="1200"/>
              </a:spcBef>
            </a:pPr>
            <a:r>
              <a:rPr sz="1450" b="0">
                <a:solidFill>
                  <a:srgbClr val="8FB6D0"/>
                </a:solidFill>
                <a:latin typeface="Segoe UI"/>
              </a:rPr>
              <a:t>Houd deze los van de begeleidingscommissie: onafhankelijkheid is makkelijker vol te houden.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Oktober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Ontwerpen en vastleggen. De zwaarste maand van de drie.</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OKTOBER · WEEK 5 TOT 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Vastleggen wat november gebruikt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 studie registreren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Moet vóór de eerste deelnemer. Het nummer vult meteen de open velden in het manuscript en deblokkeert de indiening.</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½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SAP schrijven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Met één primair eindpunt eenvoudiger: geen intersectie-unie, geen multipliciteitscorrectie. Ook de waaktijdregel hoort hierin.</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5 d</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Fotoplatform regelen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Keuze, gegevensbeschermingsbeoordeling, één aangeduide arts per centrum, en één testcasus doorlopen.</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Formulierenroute beslissen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Papier in het centrum of via manGO. Zonder route weet niemand wat hij met een ingevuld formulier moet.</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½ d</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Plus materiaalontwerp, de protocolpaper, en de afnameschema’s van Koen en Maaike.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MATERIAAL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nog niet is</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Werkinstructie pedar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Ontbreekt volledig, terwijl de centra het toestel zelf bedienen.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Slijtageschaal schoeisel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Staat als secundaire uitkomst in het protocol, maar er is geen formulier.</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Voetzorgfolder (48)</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Het document dat de patiënt mee naar huis krijgt en het vaakst herleest. Nog niet opgemaakt.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Drie documenten om</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SOP Orthotimer, activiteitenrapport en de decks gaan nog uit van de oude noemer en de oude eindpunten.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Eén ontwerpstramien voor alles wat de patiënt meekrijgt.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November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Van papier naar de meettafel. Zes opleidingen, zes drooglopen.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NOVEMBER · WEEK 9 TOT 13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Naar de praktijk</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Zes opleidingssessies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Podoloog, pedorthist, arts en management samen in één zaal. De rollen grijpen in elkaar.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 × ½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Bekwaamheidscheck en register</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Geen quiz maar een gesprek: kan deze persoon het zelf. Wie twijfelt, zegt het daar.</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inbegrepen</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Zes drooglopen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volledige keten met een verzonnen deelnemer, op eigen toestellen en eigen netwerk.</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 × ½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Protocolpaper indienen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Met registratienummer, SPIRIT en TIDieR als bijlage.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 d</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De droogloop legt bloot wat op papier klopte en in de praktijk niet.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Foolproof maken</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Zes regels, elk uit een fout die deze zomer echt in dit project zat.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REGELS 1 TOT 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een fout onzichtbaar maakt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bron, de rest gegenereerd</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Staat dezelfde tekst op twee plaatsen, dan lopen ze uit elkaar. Niet misschien: zeker, en ongemerkt.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MOOC</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Geen stille standaardwaarden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leeg veld dat zichzelf invult met iets plausibels is gevaarlijker dan een leeg veld.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12 u</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Elke drempel één keer, zichtbaar</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Toon het tussenresultaat. Niet "80% van de waaktijd" maar "16 u waaktijd, norm 12,8 u".</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64%</a:t>
            </a:r>
          </a:p>
        </p:txBody>
      </p:sp>
      <p:sp>
        <p:nvSpPr>
          <p:cNvPr id="17" name="Rounded Rectangle 16"/>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Alle drie zaten ze deze zomer in dit project.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REGELS 4 TOT 6</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een fout tegenhoudt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Falen moet luid zijn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terugval die stil een ander getal gebruikt is erger dan een foutmelding. Liever niets dan iets aannemelijks.</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luid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Het formulier maakt fout moeilijk</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Eenheid en bereik voordrukken. "Niet gemeten" als vakje, want een leeg veld is dubbelzinnig.</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ontwerp</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Wie het doet, schrijft het</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instructie geschreven vóór iemand mist de stap die vanzelf spreekt voor de schrijver.</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samen</a:t>
            </a:r>
          </a:p>
        </p:txBody>
      </p:sp>
      <p:sp>
        <p:nvSpPr>
          <p:cNvPr id="17" name="Rounded Rectangle 16"/>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Toets ze met de verkeerd-doen-test in week 7.</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GOEDKOOPSTE CONTROLE DIE ER IS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Geef het aan iemand</a:t>
            </a:r>
          </a:p>
          <a:p>
            <a:pPr algn="l">
              <a:lnSpc>
                <a:spcPct val="108000"/>
              </a:lnSpc>
              <a:spcBef>
                <a:spcPts val="500"/>
              </a:spcBef>
            </a:pPr>
            <a:r>
              <a:rPr sz="5400" b="1">
                <a:solidFill>
                  <a:srgbClr val="F2F8FC"/>
                </a:solidFill>
                <a:latin typeface="Segoe UI"/>
              </a:rPr>
              <a:t>die de studie</a:t>
            </a:r>
          </a:p>
          <a:p>
            <a:pPr algn="l">
              <a:lnSpc>
                <a:spcPct val="108000"/>
              </a:lnSpc>
              <a:spcBef>
                <a:spcPts val="500"/>
              </a:spcBef>
            </a:pPr>
            <a:r>
              <a:rPr sz="5400" b="1">
                <a:solidFill>
                  <a:srgbClr val="F2F8FC"/>
                </a:solidFill>
                <a:latin typeface="Segoe UI"/>
              </a:rPr>
              <a:t>niet kent</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Elk formulier en elk toestel, met alleen de werkinstructie erbij. Kijk toe en zeg niets. Waar hij aarzelt, is het ontwerp fout.</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Een halve dag werk, en het vangt meer dan een week nalezen.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 OVER DERTIEN WEKEN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hoeveel</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Janou · 40 d</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Protocol, SAP en materiaal</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Registratie en paper</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Opleiding en drooglopen</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Kevin · 6 d</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Protocol goedkeuren</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Beide commissies werven</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Co-auteurronde</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Putman · Fobelets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Gezondheidseconomische analyse</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Procesevaluatie</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Beide afnameschema’s</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Dobbels · SEBIA</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De vijf gespreksmomenten</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Motiverende gespreksvoering</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Fideliteitsafspraken</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EIND NOVEMBER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Waaraan u ziet dat het klaar is</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centra opgeleid, bekwaamheidscheck gedaan, register getekend</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ketens volledig doorlopen op eigen toestellen en eigen netwerk</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Eén protocolversie in omloop, sluitend met het manuscript</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SAP geschreven en de studie geregistreerd</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Vier nieuwe materialen gemaakt, drie herzien, alles verkeerd geprobeerd</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protocolpaper ingediend, met registratienummer</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Begeleidings- en adjudicatiecommissie samengesteld</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Zoekstrategie van de scoping review vastgelegd</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Wat op 1 december openstaat, wordt in februari een protocolafwijking op een patiënt.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Februari verschuift niet.</a:t>
            </a:r>
          </a:p>
          <a:p>
            <a:pPr algn="l">
              <a:lnSpc>
                <a:spcPct val="106000"/>
              </a:lnSpc>
              <a:spcBef>
                <a:spcPts val="500"/>
              </a:spcBef>
            </a:pPr>
            <a:r>
              <a:rPr sz="7200" b="1">
                <a:solidFill>
                  <a:srgbClr val="04182A"/>
                </a:solidFill>
                <a:latin typeface="Segoe UI"/>
              </a:rPr>
              <a:t>Alles ervoor wel.</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Daarom staat het zware werk in oktober en niet in januari.</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18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