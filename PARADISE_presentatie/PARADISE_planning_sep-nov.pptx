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sporen, en ze lopen tegelijk. Opstart, materiaal, publiceren en het doctoraat. Wie ze na elkaar plant haalt februari niet, want het materiaal moet af zijn vóór de opleiding en de opleiding vóór de droogloop.</a:t>
            </a:r>
          </a:p>
          <a:p/>
          <a:p>
            <a:r>
              <a:t>PRESENTATIETIP</a:t>
            </a:r>
          </a:p>
          <a:p>
            <a:r>
              <a:t>Zeg meteen dat deze vier parallel lopen. Wie ze na elkaar plant, haalt februari niet.</a:t>
            </a:r>
          </a:p>
          <a:p/>
          <a:p>
            <a:r>
              <a:t>INTERACTIE</a:t>
            </a:r>
          </a:p>
          <a:p>
            <a:r>
              <a:t>Vraag welk spoor zij onderschatten. Meestal is dat materiaal.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September legt de basis, oktober is ontwerpen, november is de praktijk. Oktober is de zwaarste maand en het meeste ervan is ontwerpwerk. Februari staat vast — alles ervoor schuift, die datum niet.</a:t>
            </a:r>
          </a:p>
          <a:p/>
          <a:p>
            <a:r>
              <a:t>PRESENTATIETIP</a:t>
            </a:r>
          </a:p>
          <a:p>
            <a:r>
              <a:t>Wijs op februari: dat is de enige datum die niet verschuift.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één: september. De basis leggen. Bijna alles in oktober hangt aan deze maand, dus wat hier blijft liggen, kost dubbel.</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dingen, en geen ervan kan wachten. Het protocol sluitend maken kost drie dagen, en alles daarna bouwt erop voort. De adjudicatiecommissie vraagt mensen van buiten, dus die vraag gaat vandaag de deur uit. En de scoping review begint met de vraagstelling, niet met lezen.</a:t>
            </a:r>
          </a:p>
          <a:p/>
          <a:p>
            <a:r>
              <a:t>PRESENTATIETIP</a:t>
            </a:r>
          </a:p>
          <a:p>
            <a:r>
              <a:t>Het protocol is de spil: alles in oktober bouwt erop voort. Vraag de adjudicatieleden vandaag, want mensen van buiten hebben bedenktijd nodig.</a:t>
            </a:r>
          </a:p>
          <a:p/>
          <a:p>
            <a:r>
              <a:t>INTERACTIE</a:t>
            </a:r>
          </a:p>
          <a:p>
            <a:r>
              <a:t>Vraag wie zij zouden voorstellen voor de adjudicatie.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Twee commissies, en met opzet niet dezelfde mensen. De begeleidingscommissie draagt het doctoraat; de adjudicatiecommissie beoordeelt elk ulcus geblindeerd en moet daarom buiten de zes centra staan. Begin nu: mensen van buiten vragen bedenktijd.</a:t>
            </a:r>
          </a:p>
          <a:p/>
          <a:p>
            <a:r>
              <a:t>PRESENTATIETIP</a:t>
            </a:r>
          </a:p>
          <a:p>
            <a:r>
              <a:t>Begin hier vroeg mee. Mensen buiten het consortium vragen bedenktijd.</a:t>
            </a:r>
          </a:p>
          <a:p/>
          <a:p>
            <a:r>
              <a:t>INTERACTIE</a:t>
            </a:r>
          </a:p>
          <a:p>
            <a:r>
              <a:t>Vraag wie zij zouden aanspreken.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twee: oktober. Ontwerpen en vastleggen. Alles wat in november gebruikt wordt, moet deze maand af zijn.</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Vier vaste punten deze maand. Registreren kan nu het protocol stabiel is, en dat nummer deblokkeert meteen de indiening van de paper. Het fotoplatform heeft de langste doorlooptijd buiten onze controle — daar begin ik in week vijf aan, ook al is het pas in november af.</a:t>
            </a:r>
          </a:p>
          <a:p/>
          <a:p>
            <a:r>
              <a:t>PRESENTATIETIP</a:t>
            </a:r>
          </a:p>
          <a:p>
            <a:r>
              <a:t>Het fotoplatform heeft de langste doorlooptijd buiten uw controle. Begin er in week 5 aan, ook al is het pas in november af.</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documenten bestaan niet en drie moeten om. De werkinstructie voor de pedar ontbreekt volledig, terwijl de centra dat toestel zelf bedienen. Reken ruim voor patiëntmateriaal: elke zin moet én kloppen én begrijpelijk zijn.</a:t>
            </a:r>
          </a:p>
          <a:p/>
          <a:p>
            <a:r>
              <a:t>PRESENTATIETIP</a:t>
            </a:r>
          </a:p>
          <a:p>
            <a:r>
              <a:t>Reken ruim: patiëntmateriaal ontwerpen is trager dan het lijkt, want elke zin moet kloppen én begrijpelijk zijn.</a:t>
            </a:r>
          </a:p>
          <a:p/>
          <a:p>
            <a:r>
              <a:t>INTERACTIE</a:t>
            </a:r>
          </a:p>
          <a:p>
            <a:r>
              <a:t>Vraag wie er wil meelezen vanuit de praktijk.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drie: november. Van papier naar de meettafel. Zes opleidingen, zes drooglopen, en de paper de deur uit.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Zes opleidingen en zes drooglopen, elk een halve dag. De droogloop is het punt van de hele maand: daar ontdek je dat het ziekenhuisnetwerk de uitleessoftware blokkeert, of dat het looppad als opslagruimte gebruikt wordt. Dat wil je nu weten en niet bij patiënt één.</a:t>
            </a:r>
          </a:p>
          <a:p/>
          <a:p>
            <a:r>
              <a:t>PRESENTATIETIP</a:t>
            </a:r>
          </a:p>
          <a:p>
            <a:r>
              <a:t>Plan de twee verste centra niet op dezelfde dag.</a:t>
            </a:r>
          </a:p>
          <a:p/>
          <a:p>
            <a:r>
              <a:t>INTERACTIE</a:t>
            </a:r>
          </a:p>
          <a:p>
            <a:r>
              <a:t>Vraag per centrum wie de droogloop trekt.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Blok vier: foolproof maken. Zes regels, en elk ervan komt uit een fout die deze zomer werkelijk in dit project zat.</a:t>
            </a:r>
          </a:p>
          <a:p/>
          <a:p>
            <a:r>
              <a:t>PRESENTATIETIP</a:t>
            </a:r>
          </a:p>
          <a:p/>
          <a:p/>
          <a:p>
            <a:r>
              <a:t>INTERACTIE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Drie manieren waarop een fout onzichtbaar blijft. Dezelfde tekst op twee plaatsen loopt uit elkaar — dat gebeurde in de MOOC en een week lang stond er een verkeerd antwoord. Een veld dat zichzelf invult met twaalf uur levert percentages op die er normaal uitzien en nergens op slaan.</a:t>
            </a:r>
          </a:p>
          <a:p/>
          <a:p>
            <a:r>
              <a:t>PRESENTATIETIP</a:t>
            </a:r>
          </a:p>
          <a:p>
            <a:r>
              <a:t>Vertel bij elk het echte voorval. Abstracte regels blijven niet hangen, het verhaal van de dubbele 80% wel.</a:t>
            </a:r>
          </a:p>
          <a:p/>
          <a:p>
            <a:r>
              <a:t>INTERACTIE</a:t>
            </a:r>
          </a:p>
          <a:p>
            <a:r>
              <a:t>Vraag of iemand een vierde voorbeeld herkent uit eigen werk.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En drie manieren om ze tegen te houden. Laat het systeem liever niets doen dan iets aannemelijks. Druk de eenheid voor en maak van "niet gemeten" een vakje. En schrijf de instructie mét degene die de handeling doet, niet voor hem.</a:t>
            </a:r>
          </a:p>
          <a:p/>
          <a:p>
            <a:r>
              <a:t>PRESENTATIETIP</a:t>
            </a:r>
          </a:p>
          <a:p>
            <a:r>
              <a:t>Deze drie gaan over ontwerp, niet over opleiden. Dat is het punt.</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Dit is de goedkoopste controle die er is. Geef het formulier en het toestel aan iemand die de studie niet kent, kijk toe en zeg niets. Waar hij aarzelt is het ontwerp fout, niet de collega. Een halve dag, en het vangt meer dan een week nalezen.</a:t>
            </a:r>
          </a:p>
          <a:p/>
          <a:p>
            <a:r>
              <a:t>PRESENTATIETIP</a:t>
            </a:r>
          </a:p>
          <a:p>
            <a:r>
              <a:t>Dit is de dia waar mensen knikken. Vraag meteen wie zich beschikbaar stelt als proefkonijn.</a:t>
            </a:r>
          </a:p>
          <a:p/>
          <a:p>
            <a:r>
              <a:t>INTERACTIE</a:t>
            </a:r>
          </a:p>
          <a:p>
            <a:r>
              <a:t>Twee namen noteren voor week 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De verdeling is scheef en dat hoort ook: voorbereidend werk is coördinatiewerk. Veertig dagen bij mij, zes bij Kevin, en één dag per centrum. Koen en Maaike dragen de economische analyse én de procesevaluatie, Fabienne draagt SEBIA. Die drie lopen door tot het einde.</a:t>
            </a:r>
          </a:p>
          <a:p/>
          <a:p>
            <a:r>
              <a:t>PRESENTATIETIP</a:t>
            </a:r>
          </a:p>
          <a:p>
            <a:r>
              <a:t>Benoem dat de verdeling scheef is en waarom: voorbereidend werk is coördinatiewerk.</a:t>
            </a:r>
          </a:p>
          <a:p/>
          <a:p>
            <a:r>
              <a:t>INTERACTIE</a:t>
            </a:r>
          </a:p>
          <a:p>
            <a:r>
              <a:t>Vraag of de dag per centrum haalbaar 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Acht punten, en ze zijn allemaal aantoonbaar. Geen inschattingen maar dingen die er zijn of niet zijn. Wat op één december nog openstaat, wordt in februari een protocolafwijking op een patiënt.</a:t>
            </a:r>
          </a:p>
          <a:p/>
          <a:p>
            <a:r>
              <a:t>PRESENTATIETIP</a:t>
            </a:r>
          </a:p>
          <a:p>
            <a:r>
              <a:t>Loop ze één voor één af en vraag per punt wie eigenaar is.</a:t>
            </a:r>
          </a:p>
          <a:p/>
          <a:p>
            <a:r>
              <a:t>INTERACTIE</a:t>
            </a:r>
          </a:p>
          <a:p>
            <a:r>
              <a:t>Laat de stuurgroep hier ja of nee zeggen tegen februari.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Rustig zeggen en dan zwijgen. Dit is de reden dat het zware werk in oktober staat en niet in januari.</a:t>
            </a:r>
          </a:p>
          <a:p/>
          <a:p>
            <a:r>
              <a:t>PRESENTATIETIP</a:t>
            </a:r>
          </a:p>
          <a:p>
            <a:r>
              <a:t>Sluit hiermee af en zeg niets meer.</a:t>
            </a:r>
          </a:p>
          <a:p/>
          <a:p>
            <a:r>
              <a:t>INTERACTIE</a:t>
            </a:r>
          </a:p>
          <a:p>
            <a:r>
              <a:t>Geen.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 U ZEGT</a:t>
            </a:r>
          </a:p>
          <a:p>
            <a:r>
              <a:t>Tot slot: wie u aanspreekt. Praktische vragen — inclusies, metingen, formulieren, sensoren — komen bij mij. Wetenschappelijke vragen en afspraken op het niveau van uw centrum bij professor Deschamps. Dank u wel.</a:t>
            </a:r>
          </a:p>
          <a:p/>
          <a:p>
            <a:r>
              <a:t>PRESENTATIETIP</a:t>
            </a:r>
          </a:p>
          <a:p>
            <a:r>
              <a:t>Laat deze dia staan tijdens het napraten. Zeg erbij dat kleine dingen ook mogen — een sensor die niet uitleest is geen domme vraag.</a:t>
            </a:r>
          </a:p>
          <a:p/>
          <a:p>
            <a:r>
              <a:t>INTERACTIE</a:t>
            </a:r>
          </a:p>
          <a:p>
            <a:r>
              <a:t>Loop rond terwijl de dia staat. Wie een vraag heeft, komt naar het gezicht dat op het scherm staat.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VIER SPOREN TEGELIJK</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er de komende dertien weken loopt</a:t>
            </a:r>
          </a:p>
        </p:txBody>
      </p:sp>
      <p:sp>
        <p:nvSpPr>
          <p:cNvPr id="5" name="Rounded Rectangle 4"/>
          <p:cNvSpPr/>
          <p:nvPr/>
        </p:nvSpPr>
        <p:spPr>
          <a:xfrm>
            <a:off x="634984"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5479"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01</a:t>
            </a:r>
          </a:p>
        </p:txBody>
      </p:sp>
      <p:sp>
        <p:nvSpPr>
          <p:cNvPr id="7" name="TextBox 6"/>
          <p:cNvSpPr txBox="1"/>
          <p:nvPr/>
        </p:nvSpPr>
        <p:spPr>
          <a:xfrm>
            <a:off x="825479"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Opstart</a:t>
            </a:r>
          </a:p>
        </p:txBody>
      </p:sp>
      <p:sp>
        <p:nvSpPr>
          <p:cNvPr id="8" name="TextBox 7"/>
          <p:cNvSpPr txBox="1"/>
          <p:nvPr/>
        </p:nvSpPr>
        <p:spPr>
          <a:xfrm>
            <a:off x="825479"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Protocol, SAP, registratie, toestellen, opleiding, droogloop</a:t>
            </a:r>
          </a:p>
        </p:txBody>
      </p:sp>
      <p:sp>
        <p:nvSpPr>
          <p:cNvPr id="9" name="Rounded Rectangle 8"/>
          <p:cNvSpPr/>
          <p:nvPr/>
        </p:nvSpPr>
        <p:spPr>
          <a:xfrm>
            <a:off x="3403451"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3946"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02</a:t>
            </a:r>
          </a:p>
        </p:txBody>
      </p:sp>
      <p:sp>
        <p:nvSpPr>
          <p:cNvPr id="11" name="TextBox 10"/>
          <p:cNvSpPr txBox="1"/>
          <p:nvPr/>
        </p:nvSpPr>
        <p:spPr>
          <a:xfrm>
            <a:off x="3593946"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Materiaal</a:t>
            </a:r>
          </a:p>
        </p:txBody>
      </p:sp>
      <p:sp>
        <p:nvSpPr>
          <p:cNvPr id="12" name="TextBox 11"/>
          <p:cNvSpPr txBox="1"/>
          <p:nvPr/>
        </p:nvSpPr>
        <p:spPr>
          <a:xfrm>
            <a:off x="3593946"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Zesenveertig documenten, waarvan vier nog te ontwerpen</a:t>
            </a:r>
          </a:p>
        </p:txBody>
      </p:sp>
      <p:sp>
        <p:nvSpPr>
          <p:cNvPr id="13" name="Rounded Rectangle 12"/>
          <p:cNvSpPr/>
          <p:nvPr/>
        </p:nvSpPr>
        <p:spPr>
          <a:xfrm>
            <a:off x="6171918"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2413"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03</a:t>
            </a:r>
          </a:p>
        </p:txBody>
      </p:sp>
      <p:sp>
        <p:nvSpPr>
          <p:cNvPr id="15" name="TextBox 14"/>
          <p:cNvSpPr txBox="1"/>
          <p:nvPr/>
        </p:nvSpPr>
        <p:spPr>
          <a:xfrm>
            <a:off x="6362413"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Publiceren</a:t>
            </a:r>
          </a:p>
        </p:txBody>
      </p:sp>
      <p:sp>
        <p:nvSpPr>
          <p:cNvPr id="16" name="TextBox 15"/>
          <p:cNvSpPr txBox="1"/>
          <p:nvPr/>
        </p:nvSpPr>
        <p:spPr>
          <a:xfrm>
            <a:off x="6362413"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De protocolpaper indienen, de scoping review starten</a:t>
            </a:r>
          </a:p>
        </p:txBody>
      </p:sp>
      <p:sp>
        <p:nvSpPr>
          <p:cNvPr id="17" name="Rounded Rectangle 16"/>
          <p:cNvSpPr/>
          <p:nvPr/>
        </p:nvSpPr>
        <p:spPr>
          <a:xfrm>
            <a:off x="8940385" y="2158946"/>
            <a:ext cx="2616071" cy="3047923"/>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30881" y="2412939"/>
            <a:ext cx="2235080" cy="419089"/>
          </a:xfrm>
          <a:prstGeom prst="rect">
            <a:avLst/>
          </a:prstGeom>
          <a:noFill/>
        </p:spPr>
        <p:txBody>
          <a:bodyPr wrap="square" anchor="t" lIns="0" rIns="0" tIns="0" bIns="0">
            <a:spAutoFit/>
          </a:bodyPr>
          <a:lstStyle/>
          <a:p>
            <a:pPr algn="l">
              <a:lnSpc>
                <a:spcPct val="125000"/>
              </a:lnSpc>
            </a:pPr>
            <a:r>
              <a:rPr sz="2800" b="1">
                <a:solidFill>
                  <a:srgbClr val="52BDEC"/>
                </a:solidFill>
                <a:latin typeface="Consolas"/>
              </a:rPr>
              <a:t>04</a:t>
            </a:r>
          </a:p>
        </p:txBody>
      </p:sp>
      <p:sp>
        <p:nvSpPr>
          <p:cNvPr id="19" name="TextBox 18"/>
          <p:cNvSpPr txBox="1"/>
          <p:nvPr/>
        </p:nvSpPr>
        <p:spPr>
          <a:xfrm>
            <a:off x="9130881" y="2959026"/>
            <a:ext cx="2235080" cy="761980"/>
          </a:xfrm>
          <a:prstGeom prst="rect">
            <a:avLst/>
          </a:prstGeom>
          <a:noFill/>
        </p:spPr>
        <p:txBody>
          <a:bodyPr wrap="square" anchor="t" lIns="0" rIns="0" tIns="0" bIns="0">
            <a:spAutoFit/>
          </a:bodyPr>
          <a:lstStyle/>
          <a:p>
            <a:pPr algn="l">
              <a:lnSpc>
                <a:spcPct val="115000"/>
              </a:lnSpc>
            </a:pPr>
            <a:r>
              <a:rPr sz="2300" b="1">
                <a:solidFill>
                  <a:srgbClr val="F2F8FC"/>
                </a:solidFill>
                <a:latin typeface="Segoe UI"/>
              </a:rPr>
              <a:t>Doctoraat</a:t>
            </a:r>
          </a:p>
        </p:txBody>
      </p:sp>
      <p:sp>
        <p:nvSpPr>
          <p:cNvPr id="20" name="TextBox 19"/>
          <p:cNvSpPr txBox="1"/>
          <p:nvPr/>
        </p:nvSpPr>
        <p:spPr>
          <a:xfrm>
            <a:off x="9130881" y="3848003"/>
            <a:ext cx="2235080" cy="1142971"/>
          </a:xfrm>
          <a:prstGeom prst="rect">
            <a:avLst/>
          </a:prstGeom>
          <a:noFill/>
        </p:spPr>
        <p:txBody>
          <a:bodyPr wrap="square" anchor="t" lIns="0" rIns="0" tIns="0" bIns="0">
            <a:spAutoFit/>
          </a:bodyPr>
          <a:lstStyle/>
          <a:p>
            <a:pPr algn="l">
              <a:lnSpc>
                <a:spcPct val="135000"/>
              </a:lnSpc>
            </a:pPr>
            <a:r>
              <a:rPr sz="1500" b="0">
                <a:solidFill>
                  <a:srgbClr val="8FB6D0"/>
                </a:solidFill>
                <a:latin typeface="Segoe UI"/>
              </a:rPr>
              <a:t>De begeleidingscommissie samenstellen en samenroepen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01 / 18</a:t>
            </a:r>
          </a:p>
        </p:txBody>
      </p:sp>
      <p:pic>
        <p:nvPicPr>
          <p:cNvPr id="22"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DE DERTIEN WEKEN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Drie maanden, drie doelen</a:t>
            </a:r>
          </a:p>
        </p:txBody>
      </p:sp>
      <p:sp>
        <p:nvSpPr>
          <p:cNvPr id="5" name="Rectangle 4"/>
          <p:cNvSpPr/>
          <p:nvPr/>
        </p:nvSpPr>
        <p:spPr>
          <a:xfrm>
            <a:off x="634984" y="2984425"/>
            <a:ext cx="10921726" cy="19049"/>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04952" y="2901877"/>
            <a:ext cx="190495" cy="190495"/>
          </a:xfrm>
          <a:prstGeom prst="ellipse">
            <a:avLst/>
          </a:prstGeom>
          <a:solidFill>
            <a:srgbClr val="FF7A00"/>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4984" y="2095447"/>
            <a:ext cx="2730431" cy="253993"/>
          </a:xfrm>
          <a:prstGeom prst="rect">
            <a:avLst/>
          </a:prstGeom>
          <a:noFill/>
        </p:spPr>
        <p:txBody>
          <a:bodyPr wrap="square" anchor="t" lIns="0" rIns="0" tIns="0" bIns="0">
            <a:spAutoFit/>
          </a:bodyPr>
          <a:lstStyle/>
          <a:p>
            <a:pPr algn="ctr">
              <a:lnSpc>
                <a:spcPct val="125000"/>
              </a:lnSpc>
            </a:pPr>
            <a:r>
              <a:rPr sz="1500" b="1">
                <a:solidFill>
                  <a:srgbClr val="FF7A00"/>
                </a:solidFill>
                <a:latin typeface="Consolas"/>
              </a:rPr>
              <a:t>september</a:t>
            </a:r>
          </a:p>
        </p:txBody>
      </p:sp>
      <p:sp>
        <p:nvSpPr>
          <p:cNvPr id="8" name="TextBox 7"/>
          <p:cNvSpPr txBox="1"/>
          <p:nvPr/>
        </p:nvSpPr>
        <p:spPr>
          <a:xfrm>
            <a:off x="634984"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De basis leggen</a:t>
            </a:r>
          </a:p>
        </p:txBody>
      </p:sp>
      <p:sp>
        <p:nvSpPr>
          <p:cNvPr id="9" name="TextBox 8"/>
          <p:cNvSpPr txBox="1"/>
          <p:nvPr/>
        </p:nvSpPr>
        <p:spPr>
          <a:xfrm>
            <a:off x="761980"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Protocol sluitend, statisticus aangesteld, beide commissies in beweging.</a:t>
            </a:r>
          </a:p>
        </p:txBody>
      </p:sp>
      <p:sp>
        <p:nvSpPr>
          <p:cNvPr id="10" name="Oval 9"/>
          <p:cNvSpPr/>
          <p:nvPr/>
        </p:nvSpPr>
        <p:spPr>
          <a:xfrm>
            <a:off x="4660783"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5415"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oktober</a:t>
            </a:r>
          </a:p>
        </p:txBody>
      </p:sp>
      <p:sp>
        <p:nvSpPr>
          <p:cNvPr id="12" name="TextBox 11"/>
          <p:cNvSpPr txBox="1"/>
          <p:nvPr/>
        </p:nvSpPr>
        <p:spPr>
          <a:xfrm>
            <a:off x="3365415"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Ontwerpen en vastleggen</a:t>
            </a:r>
          </a:p>
        </p:txBody>
      </p:sp>
      <p:sp>
        <p:nvSpPr>
          <p:cNvPr id="13" name="TextBox 12"/>
          <p:cNvSpPr txBox="1"/>
          <p:nvPr/>
        </p:nvSpPr>
        <p:spPr>
          <a:xfrm>
            <a:off x="3492412"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Registratie, SAP, fotoplatform, en het materiaal dat in november gebruikt wordt.</a:t>
            </a:r>
          </a:p>
        </p:txBody>
      </p:sp>
      <p:sp>
        <p:nvSpPr>
          <p:cNvPr id="14" name="Oval 13"/>
          <p:cNvSpPr/>
          <p:nvPr/>
        </p:nvSpPr>
        <p:spPr>
          <a:xfrm>
            <a:off x="7391215"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5847"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november</a:t>
            </a:r>
          </a:p>
        </p:txBody>
      </p:sp>
      <p:sp>
        <p:nvSpPr>
          <p:cNvPr id="16" name="TextBox 15"/>
          <p:cNvSpPr txBox="1"/>
          <p:nvPr/>
        </p:nvSpPr>
        <p:spPr>
          <a:xfrm>
            <a:off x="6095847"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Opleiden en droogdraaien</a:t>
            </a:r>
          </a:p>
        </p:txBody>
      </p:sp>
      <p:sp>
        <p:nvSpPr>
          <p:cNvPr id="17" name="TextBox 16"/>
          <p:cNvSpPr txBox="1"/>
          <p:nvPr/>
        </p:nvSpPr>
        <p:spPr>
          <a:xfrm>
            <a:off x="6222844"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Zes opleidingen, zes drooglopen, de paper de deur uit.</a:t>
            </a:r>
          </a:p>
        </p:txBody>
      </p:sp>
      <p:sp>
        <p:nvSpPr>
          <p:cNvPr id="18" name="Oval 17"/>
          <p:cNvSpPr/>
          <p:nvPr/>
        </p:nvSpPr>
        <p:spPr>
          <a:xfrm>
            <a:off x="10121646" y="2927276"/>
            <a:ext cx="139696" cy="139696"/>
          </a:xfrm>
          <a:prstGeom prst="ellipse">
            <a:avLst/>
          </a:prstGeom>
          <a:solidFill>
            <a:srgbClr val="52BDEC"/>
          </a:solidFill>
          <a:ln w="38100">
            <a:solidFill>
              <a:srgbClr val="0418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6279" y="2095447"/>
            <a:ext cx="2730431" cy="253993"/>
          </a:xfrm>
          <a:prstGeom prst="rect">
            <a:avLst/>
          </a:prstGeom>
          <a:noFill/>
        </p:spPr>
        <p:txBody>
          <a:bodyPr wrap="square" anchor="t" lIns="0" rIns="0" tIns="0" bIns="0">
            <a:spAutoFit/>
          </a:bodyPr>
          <a:lstStyle/>
          <a:p>
            <a:pPr algn="ctr">
              <a:lnSpc>
                <a:spcPct val="125000"/>
              </a:lnSpc>
            </a:pPr>
            <a:r>
              <a:rPr sz="1500" b="1">
                <a:solidFill>
                  <a:srgbClr val="8FB6D0"/>
                </a:solidFill>
                <a:latin typeface="Consolas"/>
              </a:rPr>
              <a:t>februari 2027</a:t>
            </a:r>
          </a:p>
        </p:txBody>
      </p:sp>
      <p:sp>
        <p:nvSpPr>
          <p:cNvPr id="20" name="TextBox 19"/>
          <p:cNvSpPr txBox="1"/>
          <p:nvPr/>
        </p:nvSpPr>
        <p:spPr>
          <a:xfrm>
            <a:off x="8826279" y="2425639"/>
            <a:ext cx="2730431" cy="380990"/>
          </a:xfrm>
          <a:prstGeom prst="rect">
            <a:avLst/>
          </a:prstGeom>
          <a:noFill/>
        </p:spPr>
        <p:txBody>
          <a:bodyPr wrap="square" anchor="t" lIns="0" rIns="0" tIns="0" bIns="0">
            <a:spAutoFit/>
          </a:bodyPr>
          <a:lstStyle/>
          <a:p>
            <a:pPr algn="ctr">
              <a:lnSpc>
                <a:spcPct val="125000"/>
              </a:lnSpc>
            </a:pPr>
            <a:r>
              <a:rPr sz="2200" b="1">
                <a:solidFill>
                  <a:srgbClr val="F2F8FC"/>
                </a:solidFill>
                <a:latin typeface="Segoe UI"/>
              </a:rPr>
              <a:t>Eerste patiënt</a:t>
            </a:r>
          </a:p>
        </p:txBody>
      </p:sp>
      <p:sp>
        <p:nvSpPr>
          <p:cNvPr id="21" name="TextBox 20"/>
          <p:cNvSpPr txBox="1"/>
          <p:nvPr/>
        </p:nvSpPr>
        <p:spPr>
          <a:xfrm>
            <a:off x="8953276" y="3340016"/>
            <a:ext cx="2476438" cy="1269968"/>
          </a:xfrm>
          <a:prstGeom prst="rect">
            <a:avLst/>
          </a:prstGeom>
          <a:noFill/>
        </p:spPr>
        <p:txBody>
          <a:bodyPr wrap="square" anchor="t" lIns="0" rIns="0" tIns="0" bIns="0">
            <a:spAutoFit/>
          </a:bodyPr>
          <a:lstStyle/>
          <a:p>
            <a:pPr algn="ctr">
              <a:lnSpc>
                <a:spcPct val="135000"/>
              </a:lnSpc>
            </a:pPr>
            <a:r>
              <a:rPr sz="1450" b="0">
                <a:solidFill>
                  <a:srgbClr val="8FB6D0"/>
                </a:solidFill>
                <a:latin typeface="Segoe UI"/>
              </a:rPr>
              <a:t>Vanaf dan verandert er niets meer zonder amendement.</a:t>
            </a:r>
          </a:p>
        </p:txBody>
      </p:sp>
      <p:sp>
        <p:nvSpPr>
          <p:cNvPr id="22" name="Rounded Rectangle 21"/>
          <p:cNvSpPr/>
          <p:nvPr/>
        </p:nvSpPr>
        <p:spPr>
          <a:xfrm>
            <a:off x="634984" y="4990975"/>
            <a:ext cx="10921726" cy="771429"/>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2476" y="5156071"/>
            <a:ext cx="10286742" cy="517435"/>
          </a:xfrm>
          <a:prstGeom prst="rect">
            <a:avLst/>
          </a:prstGeom>
          <a:noFill/>
        </p:spPr>
        <p:txBody>
          <a:bodyPr wrap="square" anchor="t" lIns="0" rIns="0" tIns="0" bIns="0">
            <a:spAutoFit/>
          </a:bodyPr>
          <a:lstStyle/>
          <a:p>
            <a:pPr algn="l">
              <a:lnSpc>
                <a:spcPct val="140000"/>
              </a:lnSpc>
            </a:pPr>
            <a:r>
              <a:rPr sz="1800" b="0">
                <a:solidFill>
                  <a:srgbClr val="F2F8FC"/>
                </a:solidFill>
                <a:latin typeface="Segoe UI"/>
              </a:rPr>
              <a:t>Oktober is de zwaarste maand. Februari verschuift niet.</a:t>
            </a:r>
          </a:p>
        </p:txBody>
      </p:sp>
      <p:sp>
        <p:nvSpPr>
          <p:cNvPr id="24" name="TextBox 23"/>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02 / 18</a:t>
            </a:r>
          </a:p>
        </p:txBody>
      </p:sp>
      <p:pic>
        <p:nvPicPr>
          <p:cNvPr id="25"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01</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September</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De basis leggen. Bijna alles in oktober hangt aan deze maand.</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03 / 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SEPTEMBER · WEEK 1 TOT 4</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Vier dingen die af moeten</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Protocol sluitend maken</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Eindpuntstructuur, statistiek, twaalf maanden voor therapietrouw, de waaktijd, en de tweede MoveMonitorweek. Één versie, één datum.</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3 d</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Scoping review starten</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Vraag kiezen en het protocol registreren voor de zoektocht begint. Anders is het een literatuuroverzicht, geen review.</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2 d</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Twee commissies in gang zetten</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De begeleidingscommissie voor het doctoraat, en drie artsen van buiten voor de blinde adjudicatie.</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3 d</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Werkinstructie pedar</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Het enige toestel zonder SOP, terwijl de centra het zelf bedienen.</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2 d</a:t>
            </a:r>
          </a:p>
        </p:txBody>
      </p:sp>
      <p:sp>
        <p:nvSpPr>
          <p:cNvPr id="21" name="Rounded Rectangle 20"/>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Alles in oktober bouwt op deze vier voort.</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04 / 18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TWEE COMMISSIES, NIET DEZELFDE MENSEN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Wie je nu moet vragen</a:t>
            </a:r>
          </a:p>
        </p:txBody>
      </p:sp>
      <p:sp>
        <p:nvSpPr>
          <p:cNvPr id="5" name="Rounded Rectangle 4"/>
          <p:cNvSpPr/>
          <p:nvPr/>
        </p:nvSpPr>
        <p:spPr>
          <a:xfrm>
            <a:off x="634984" y="2031949"/>
            <a:ext cx="5384538" cy="441948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8977"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01</a:t>
            </a:r>
          </a:p>
        </p:txBody>
      </p:sp>
      <p:sp>
        <p:nvSpPr>
          <p:cNvPr id="7" name="TextBox 6"/>
          <p:cNvSpPr txBox="1"/>
          <p:nvPr/>
        </p:nvSpPr>
        <p:spPr>
          <a:xfrm>
            <a:off x="888977"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Begeleidingscommissie</a:t>
            </a:r>
          </a:p>
        </p:txBody>
      </p:sp>
      <p:sp>
        <p:nvSpPr>
          <p:cNvPr id="8" name="Rounded Rectangle 7"/>
          <p:cNvSpPr/>
          <p:nvPr/>
        </p:nvSpPr>
        <p:spPr>
          <a:xfrm>
            <a:off x="888977"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8977"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promotor, co-promotoren, plus één of twee</a:t>
            </a:r>
          </a:p>
        </p:txBody>
      </p:sp>
      <p:sp>
        <p:nvSpPr>
          <p:cNvPr id="10" name="TextBox 9"/>
          <p:cNvSpPr txBox="1"/>
          <p:nvPr/>
        </p:nvSpPr>
        <p:spPr>
          <a:xfrm>
            <a:off x="888977" y="4165495"/>
            <a:ext cx="4876551" cy="2109478"/>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Kies aanvullend: het consortium dekt biomechanica, gedrag en economie, dus methodologie ontbreekt.</a:t>
            </a:r>
          </a:p>
          <a:p>
            <a:pPr algn="l">
              <a:lnSpc>
                <a:spcPct val="132000"/>
              </a:lnSpc>
              <a:spcBef>
                <a:spcPts val="1200"/>
              </a:spcBef>
            </a:pPr>
            <a:r>
              <a:rPr sz="1450" b="0">
                <a:solidFill>
                  <a:srgbClr val="8FB6D0"/>
                </a:solidFill>
                <a:latin typeface="Segoe UI"/>
              </a:rPr>
              <a:t>Plan het eerste overleg meteen mee.</a:t>
            </a:r>
          </a:p>
          <a:p>
            <a:pPr algn="l">
              <a:lnSpc>
                <a:spcPct val="132000"/>
              </a:lnSpc>
              <a:spcBef>
                <a:spcPts val="1200"/>
              </a:spcBef>
            </a:pPr>
            <a:r>
              <a:rPr sz="1450" b="0">
                <a:solidFill>
                  <a:srgbClr val="8FB6D0"/>
                </a:solidFill>
                <a:latin typeface="Segoe UI"/>
              </a:rPr>
              <a:t>De termijn staat in het doctoraatsreglement van de faculteit.</a:t>
            </a:r>
          </a:p>
        </p:txBody>
      </p:sp>
      <p:sp>
        <p:nvSpPr>
          <p:cNvPr id="11" name="Rounded Rectangle 10"/>
          <p:cNvSpPr/>
          <p:nvPr/>
        </p:nvSpPr>
        <p:spPr>
          <a:xfrm>
            <a:off x="6171918" y="2031949"/>
            <a:ext cx="5384538" cy="4419489"/>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5912" y="2247843"/>
            <a:ext cx="1269968" cy="380990"/>
          </a:xfrm>
          <a:prstGeom prst="rect">
            <a:avLst/>
          </a:prstGeom>
          <a:noFill/>
        </p:spPr>
        <p:txBody>
          <a:bodyPr wrap="square" anchor="t" lIns="0" rIns="0" tIns="0" bIns="0">
            <a:spAutoFit/>
          </a:bodyPr>
          <a:lstStyle/>
          <a:p>
            <a:pPr algn="l">
              <a:lnSpc>
                <a:spcPct val="125000"/>
              </a:lnSpc>
            </a:pPr>
            <a:r>
              <a:rPr sz="2600" b="1">
                <a:solidFill>
                  <a:srgbClr val="52BDEC"/>
                </a:solidFill>
                <a:latin typeface="Consolas"/>
              </a:rPr>
              <a:t>02</a:t>
            </a:r>
          </a:p>
        </p:txBody>
      </p:sp>
      <p:sp>
        <p:nvSpPr>
          <p:cNvPr id="13" name="TextBox 12"/>
          <p:cNvSpPr txBox="1"/>
          <p:nvPr/>
        </p:nvSpPr>
        <p:spPr>
          <a:xfrm>
            <a:off x="6425912" y="2654233"/>
            <a:ext cx="4876551" cy="698482"/>
          </a:xfrm>
          <a:prstGeom prst="rect">
            <a:avLst/>
          </a:prstGeom>
          <a:noFill/>
        </p:spPr>
        <p:txBody>
          <a:bodyPr wrap="square" anchor="t" lIns="0" rIns="0" tIns="0" bIns="0">
            <a:spAutoFit/>
          </a:bodyPr>
          <a:lstStyle/>
          <a:p>
            <a:pPr algn="l">
              <a:lnSpc>
                <a:spcPct val="115000"/>
              </a:lnSpc>
            </a:pPr>
            <a:r>
              <a:rPr sz="2400" b="1">
                <a:solidFill>
                  <a:srgbClr val="F2F8FC"/>
                </a:solidFill>
                <a:latin typeface="Segoe UI"/>
              </a:rPr>
              <a:t>Adjudicatiecommissie</a:t>
            </a:r>
          </a:p>
        </p:txBody>
      </p:sp>
      <p:sp>
        <p:nvSpPr>
          <p:cNvPr id="14" name="Rounded Rectangle 13"/>
          <p:cNvSpPr/>
          <p:nvPr/>
        </p:nvSpPr>
        <p:spPr>
          <a:xfrm>
            <a:off x="6425912" y="3479713"/>
            <a:ext cx="4876551" cy="533386"/>
          </a:xfrm>
          <a:prstGeom prst="roundRect">
            <a:avLst>
              <a:gd name="adj" fmla="val 4500"/>
            </a:avLst>
          </a:prstGeom>
          <a:solidFill>
            <a:srgbClr val="174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5912" y="3632109"/>
            <a:ext cx="4876551" cy="304792"/>
          </a:xfrm>
          <a:prstGeom prst="rect">
            <a:avLst/>
          </a:prstGeom>
          <a:noFill/>
        </p:spPr>
        <p:txBody>
          <a:bodyPr wrap="square" anchor="t" lIns="0" rIns="0" tIns="0" bIns="0">
            <a:spAutoFit/>
          </a:bodyPr>
          <a:lstStyle/>
          <a:p>
            <a:pPr algn="ctr">
              <a:lnSpc>
                <a:spcPct val="125000"/>
              </a:lnSpc>
            </a:pPr>
            <a:r>
              <a:rPr sz="1800" b="1">
                <a:solidFill>
                  <a:srgbClr val="52BDEC"/>
                </a:solidFill>
                <a:latin typeface="Consolas"/>
              </a:rPr>
              <a:t>twee tot drie artsen van buiten de zes centra</a:t>
            </a:r>
          </a:p>
        </p:txBody>
      </p:sp>
      <p:sp>
        <p:nvSpPr>
          <p:cNvPr id="16" name="TextBox 15"/>
          <p:cNvSpPr txBox="1"/>
          <p:nvPr/>
        </p:nvSpPr>
        <p:spPr>
          <a:xfrm>
            <a:off x="6425912" y="4165495"/>
            <a:ext cx="4876551" cy="2109478"/>
          </a:xfrm>
          <a:prstGeom prst="rect">
            <a:avLst/>
          </a:prstGeom>
          <a:noFill/>
        </p:spPr>
        <p:txBody>
          <a:bodyPr wrap="square" anchor="t" lIns="0" rIns="0" tIns="0" bIns="0">
            <a:spAutoFit/>
          </a:bodyPr>
          <a:lstStyle/>
          <a:p>
            <a:pPr algn="l">
              <a:lnSpc>
                <a:spcPct val="132000"/>
              </a:lnSpc>
            </a:pPr>
            <a:r>
              <a:rPr sz="1450" b="0">
                <a:solidFill>
                  <a:srgbClr val="8FB6D0"/>
                </a:solidFill>
                <a:latin typeface="Segoe UI"/>
              </a:rPr>
              <a:t>Beoordeelt elk ulcus geblindeerd, op geanonimiseerde documentatie en foto’s.</a:t>
            </a:r>
          </a:p>
          <a:p>
            <a:pPr algn="l">
              <a:lnSpc>
                <a:spcPct val="132000"/>
              </a:lnSpc>
              <a:spcBef>
                <a:spcPts val="1200"/>
              </a:spcBef>
            </a:pPr>
            <a:r>
              <a:rPr sz="1450" b="0">
                <a:solidFill>
                  <a:srgbClr val="8FB6D0"/>
                </a:solidFill>
                <a:latin typeface="Segoe UI"/>
              </a:rPr>
              <a:t>Moet bestaan vóór het eerste ulcus, niet vóór de eerste analyse.</a:t>
            </a:r>
          </a:p>
          <a:p>
            <a:pPr algn="l">
              <a:lnSpc>
                <a:spcPct val="132000"/>
              </a:lnSpc>
              <a:spcBef>
                <a:spcPts val="1200"/>
              </a:spcBef>
            </a:pPr>
            <a:r>
              <a:rPr sz="1450" b="0">
                <a:solidFill>
                  <a:srgbClr val="8FB6D0"/>
                </a:solidFill>
                <a:latin typeface="Segoe UI"/>
              </a:rPr>
              <a:t>Houd deze los van de begeleidingscommissie: onafhankelijkheid is makkelijker vol te houden.</a:t>
            </a:r>
          </a:p>
        </p:txBody>
      </p:sp>
      <p:sp>
        <p:nvSpPr>
          <p:cNvPr id="17" name="TextBox 1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05 / 18</a:t>
            </a:r>
          </a:p>
        </p:txBody>
      </p:sp>
      <p:pic>
        <p:nvPicPr>
          <p:cNvPr id="18"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02</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Oktober</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Ontwerpen en vastleggen. De zwaarste maand van de drie.</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06 / 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OKTOBER · WEEK 5 TOT 8</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Vastleggen wat november gebruikt</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De studie registreren</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Moet vóór de eerste deelnemer. Het nummer vult meteen de open velden in het manuscript en deblokkeert de indiening.</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½ d</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SAP schrijven</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Met één primair eindpunt eenvoudiger: geen intersectie-unie, geen multipliciteitscorrectie. Ook de waaktijdregel hoort hierin.</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5 d</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Fotoplatform regelen</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Keuze, gegevensbeschermingsbeoordeling, één aangeduide arts per centrum, en één testcasus doorlopen.</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3 d</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Formulierenroute beslissen</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Papier in het centrum of via manGO. Zonder route weet niemand wat hij met een ingevuld formulier moet.</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½ d</a:t>
            </a:r>
          </a:p>
        </p:txBody>
      </p:sp>
      <p:sp>
        <p:nvSpPr>
          <p:cNvPr id="21" name="Rounded Rectangle 20"/>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Plus materiaalontwerp, de protocolpaper, en de afnameschema’s van Koen en Maaike.</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07 / 18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MATERIAAL</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er nog niet is</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Werkinstructie pedar</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Ontbreekt volledig, terwijl de centra het toestel zelf bedienen.</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nieuw</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Slijtageschaal schoeisel</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Staat als secundaire uitkomst in het protocol, maar er is geen formulier.</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nieuw</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Voetzorgfolder (48)</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Het document dat de patiënt mee naar huis krijgt en het vaakst herleest. Nog niet opgemaakt.</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nieuw</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Drie documenten om</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SOP Orthotimer, activiteitenrapport en de decks gaan nog uit van de oude noemer en de oude eindpunten.</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om</a:t>
            </a:r>
          </a:p>
        </p:txBody>
      </p:sp>
      <p:sp>
        <p:nvSpPr>
          <p:cNvPr id="21" name="Rounded Rectangle 20"/>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Eén ontwerpstramien voor alles wat de patiënt meekrijgt.</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08 / 18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03</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November</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Van papier naar de meettafel. Zes opleidingen, zes drooglopen.</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09 / 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NOVEMBER · WEEK 9 TOT 13</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Naar de praktijk</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Zes opleidingssessies</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Podoloog, pedorthist, arts en management samen in één zaal. De rollen grijpen in elkaar.</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6 × ½ d</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Bekwaamheidscheck en register</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Geen quiz maar een gesprek: kan deze persoon het zelf. Wie twijfelt, zegt het daar.</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inbegrepen</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Zes drooglopen</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De volledige keten met een verzonnen deelnemer, op eigen toestellen en eigen netwerk.</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6 × ½ d</a:t>
            </a:r>
          </a:p>
        </p:txBody>
      </p:sp>
      <p:sp>
        <p:nvSpPr>
          <p:cNvPr id="17" name="Rectangle 16"/>
          <p:cNvSpPr/>
          <p:nvPr/>
        </p:nvSpPr>
        <p:spPr>
          <a:xfrm>
            <a:off x="634984" y="439409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984" y="4546486"/>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Protocolpaper indienen</a:t>
            </a:r>
          </a:p>
        </p:txBody>
      </p:sp>
      <p:sp>
        <p:nvSpPr>
          <p:cNvPr id="19" name="TextBox 18"/>
          <p:cNvSpPr txBox="1"/>
          <p:nvPr/>
        </p:nvSpPr>
        <p:spPr>
          <a:xfrm>
            <a:off x="3301917" y="4546486"/>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Met registratienummer, SPIRIT en TIDieR als bijlage.</a:t>
            </a:r>
          </a:p>
        </p:txBody>
      </p:sp>
      <p:sp>
        <p:nvSpPr>
          <p:cNvPr id="20" name="TextBox 19"/>
          <p:cNvSpPr txBox="1"/>
          <p:nvPr/>
        </p:nvSpPr>
        <p:spPr>
          <a:xfrm>
            <a:off x="9905752" y="455918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1 d</a:t>
            </a:r>
          </a:p>
        </p:txBody>
      </p:sp>
      <p:sp>
        <p:nvSpPr>
          <p:cNvPr id="21" name="Rounded Rectangle 20"/>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De droogloop legt bloot wat op papier klopte en in de praktijk niet.</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10 / 18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merkgroot" descr="merk.png"/>
          <p:cNvPicPr>
            <a:picLocks noChangeAspect="1"/>
          </p:cNvPicPr>
          <p:nvPr/>
        </p:nvPicPr>
        <p:blipFill>
          <a:blip r:embed="rId2">
            <a:alphaModFix amt="14000"/>
          </a:blip>
          <a:stretch>
            <a:fillRect/>
          </a:stretch>
        </p:blipFill>
        <p:spPr>
          <a:xfrm>
            <a:off x="6603834" y="-1126099"/>
            <a:ext cx="7873803" cy="9110028"/>
          </a:xfrm>
          <a:prstGeom prst="rect">
            <a:avLst/>
          </a:prstGeom>
        </p:spPr>
      </p:pic>
      <p:sp>
        <p:nvSpPr>
          <p:cNvPr id="4" name="hero"/>
          <p:cNvSpPr txBox="1"/>
          <p:nvPr/>
        </p:nvSpPr>
        <p:spPr>
          <a:xfrm>
            <a:off x="571485" y="-444488"/>
            <a:ext cx="5714857" cy="2920926"/>
          </a:xfrm>
          <a:prstGeom prst="rect">
            <a:avLst/>
          </a:prstGeom>
          <a:noFill/>
        </p:spPr>
        <p:txBody>
          <a:bodyPr wrap="none" anchor="t" lIns="0" rIns="0" tIns="0" bIns="0">
            <a:spAutoFit/>
          </a:bodyPr>
          <a:lstStyle/>
          <a:p>
            <a:pPr algn="l">
              <a:lnSpc>
                <a:spcPct val="82000"/>
              </a:lnSpc>
            </a:pPr>
            <a:r>
              <a:rPr sz="26000" b="1">
                <a:gradFill>
                  <a:gsLst>
                    <a:gs pos="0">
                      <a:srgbClr val="52BDEC"/>
                    </a:gs>
                    <a:gs pos="100000">
                      <a:srgbClr val="FF7A00"/>
                    </a:gs>
                  </a:gsLst>
                  <a:lin ang="2700000" scaled="0"/>
                </a:gradFill>
                <a:latin typeface="Segoe UI"/>
              </a:rPr>
              <a:t>04</a:t>
            </a:r>
          </a:p>
        </p:txBody>
      </p:sp>
      <p:sp>
        <p:nvSpPr>
          <p:cNvPr id="5" name="sectietitel"/>
          <p:cNvSpPr txBox="1"/>
          <p:nvPr/>
        </p:nvSpPr>
        <p:spPr>
          <a:xfrm>
            <a:off x="634984" y="3555911"/>
            <a:ext cx="8889777" cy="1015974"/>
          </a:xfrm>
          <a:prstGeom prst="rect">
            <a:avLst/>
          </a:prstGeom>
          <a:noFill/>
        </p:spPr>
        <p:txBody>
          <a:bodyPr wrap="square" anchor="t" lIns="0" rIns="0" tIns="0" bIns="0">
            <a:spAutoFit/>
          </a:bodyPr>
          <a:lstStyle/>
          <a:p>
            <a:pPr algn="l">
              <a:lnSpc>
                <a:spcPct val="125000"/>
              </a:lnSpc>
            </a:pPr>
            <a:r>
              <a:rPr sz="7600" b="1">
                <a:solidFill>
                  <a:srgbClr val="F2F8FC"/>
                </a:solidFill>
                <a:latin typeface="Segoe UI"/>
              </a:rPr>
              <a:t>Foolproof maken</a:t>
            </a:r>
          </a:p>
        </p:txBody>
      </p:sp>
      <p:sp>
        <p:nvSpPr>
          <p:cNvPr id="6" name="TextBox 5"/>
          <p:cNvSpPr txBox="1"/>
          <p:nvPr/>
        </p:nvSpPr>
        <p:spPr>
          <a:xfrm>
            <a:off x="660383" y="4825879"/>
            <a:ext cx="8254793" cy="507987"/>
          </a:xfrm>
          <a:prstGeom prst="rect">
            <a:avLst/>
          </a:prstGeom>
          <a:noFill/>
        </p:spPr>
        <p:txBody>
          <a:bodyPr wrap="square" anchor="t" lIns="0" rIns="0" tIns="0" bIns="0">
            <a:spAutoFit/>
          </a:bodyPr>
          <a:lstStyle/>
          <a:p>
            <a:pPr algn="l">
              <a:lnSpc>
                <a:spcPct val="125000"/>
              </a:lnSpc>
            </a:pPr>
            <a:r>
              <a:rPr sz="2300" b="0">
                <a:solidFill>
                  <a:srgbClr val="8FB6D0"/>
                </a:solidFill>
                <a:latin typeface="Segoe UI Light"/>
              </a:rPr>
              <a:t>Zes regels, elk uit een fout die deze zomer echt in dit project zat.</a:t>
            </a:r>
          </a:p>
        </p:txBody>
      </p:sp>
      <p:sp>
        <p:nvSpPr>
          <p:cNvPr id="7" name="TextBox 6"/>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11 / 18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REGELS 1 TOT 3</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een fout onzichtbaar maakt</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Eén bron, de rest gegenereerd</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Staat dezelfde tekst op twee plaatsen, dan lopen ze uit elkaar. Niet misschien: zeker, en ongemerkt.</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MOOC</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Geen stille standaardwaarden</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Een leeg veld dat zichzelf invult met iets plausibels is gevaarlijker dan een leeg veld.</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12 u</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Elke drempel één keer, zichtbaar</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Toon het tussenresultaat. Niet "80% van de waaktijd" maar "16 u waaktijd, norm 12,8 u".</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64%</a:t>
            </a:r>
          </a:p>
        </p:txBody>
      </p:sp>
      <p:sp>
        <p:nvSpPr>
          <p:cNvPr id="17" name="Rounded Rectangle 16"/>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Alle drie zaten ze deze zomer in dit project.</a:t>
            </a:r>
          </a:p>
        </p:txBody>
      </p:sp>
      <p:sp>
        <p:nvSpPr>
          <p:cNvPr id="19" name="TextBox 1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12 / 18</a:t>
            </a:r>
          </a:p>
        </p:txBody>
      </p:sp>
      <p:pic>
        <p:nvPicPr>
          <p:cNvPr id="20"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REGELS 4 TOT 6</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Wat een fout tegenhoudt</a:t>
            </a:r>
          </a:p>
        </p:txBody>
      </p:sp>
      <p:sp>
        <p:nvSpPr>
          <p:cNvPr id="5" name="Rectangle 4"/>
          <p:cNvSpPr/>
          <p:nvPr/>
        </p:nvSpPr>
        <p:spPr>
          <a:xfrm>
            <a:off x="634984" y="187955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031949"/>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Falen moet luid zijn</a:t>
            </a:r>
          </a:p>
        </p:txBody>
      </p:sp>
      <p:sp>
        <p:nvSpPr>
          <p:cNvPr id="7" name="TextBox 6"/>
          <p:cNvSpPr txBox="1"/>
          <p:nvPr/>
        </p:nvSpPr>
        <p:spPr>
          <a:xfrm>
            <a:off x="3301917" y="2031949"/>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Een terugval die stil een ander getal gebruikt is erger dan een foutmelding. Liever niets dan iets aannemelijks.</a:t>
            </a:r>
          </a:p>
        </p:txBody>
      </p:sp>
      <p:sp>
        <p:nvSpPr>
          <p:cNvPr id="8" name="TextBox 7"/>
          <p:cNvSpPr txBox="1"/>
          <p:nvPr/>
        </p:nvSpPr>
        <p:spPr>
          <a:xfrm>
            <a:off x="9905752" y="2044648"/>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luid</a:t>
            </a:r>
          </a:p>
        </p:txBody>
      </p:sp>
      <p:sp>
        <p:nvSpPr>
          <p:cNvPr id="9" name="Rectangle 8"/>
          <p:cNvSpPr/>
          <p:nvPr/>
        </p:nvSpPr>
        <p:spPr>
          <a:xfrm>
            <a:off x="634984" y="2717732"/>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4984" y="2870128"/>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Het formulier maakt fout moeilijk</a:t>
            </a:r>
          </a:p>
        </p:txBody>
      </p:sp>
      <p:sp>
        <p:nvSpPr>
          <p:cNvPr id="11" name="TextBox 10"/>
          <p:cNvSpPr txBox="1"/>
          <p:nvPr/>
        </p:nvSpPr>
        <p:spPr>
          <a:xfrm>
            <a:off x="3301917" y="2870128"/>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Eenheid en bereik voordrukken. "Niet gemeten" als vakje, want een leeg veld is dubbelzinnig.</a:t>
            </a:r>
          </a:p>
        </p:txBody>
      </p:sp>
      <p:sp>
        <p:nvSpPr>
          <p:cNvPr id="12" name="TextBox 11"/>
          <p:cNvSpPr txBox="1"/>
          <p:nvPr/>
        </p:nvSpPr>
        <p:spPr>
          <a:xfrm>
            <a:off x="9905752" y="2882827"/>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ontwerp</a:t>
            </a:r>
          </a:p>
        </p:txBody>
      </p:sp>
      <p:sp>
        <p:nvSpPr>
          <p:cNvPr id="13" name="Rectangle 12"/>
          <p:cNvSpPr/>
          <p:nvPr/>
        </p:nvSpPr>
        <p:spPr>
          <a:xfrm>
            <a:off x="634984" y="355591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708307"/>
            <a:ext cx="2412939" cy="317492"/>
          </a:xfrm>
          <a:prstGeom prst="rect">
            <a:avLst/>
          </a:prstGeom>
          <a:noFill/>
        </p:spPr>
        <p:txBody>
          <a:bodyPr wrap="square" anchor="t" lIns="0" rIns="0" tIns="0" bIns="0">
            <a:spAutoFit/>
          </a:bodyPr>
          <a:lstStyle/>
          <a:p>
            <a:pPr algn="l">
              <a:lnSpc>
                <a:spcPct val="125000"/>
              </a:lnSpc>
            </a:pPr>
            <a:r>
              <a:rPr sz="2000" b="1">
                <a:solidFill>
                  <a:srgbClr val="F2F8FC"/>
                </a:solidFill>
                <a:latin typeface="Segoe UI"/>
              </a:rPr>
              <a:t>Wie het doet, schrijft het</a:t>
            </a:r>
          </a:p>
        </p:txBody>
      </p:sp>
      <p:sp>
        <p:nvSpPr>
          <p:cNvPr id="15" name="TextBox 14"/>
          <p:cNvSpPr txBox="1"/>
          <p:nvPr/>
        </p:nvSpPr>
        <p:spPr>
          <a:xfrm>
            <a:off x="3301917" y="3708307"/>
            <a:ext cx="6222844" cy="571485"/>
          </a:xfrm>
          <a:prstGeom prst="rect">
            <a:avLst/>
          </a:prstGeom>
          <a:noFill/>
        </p:spPr>
        <p:txBody>
          <a:bodyPr wrap="square" anchor="t" lIns="0" rIns="0" tIns="0" bIns="0">
            <a:spAutoFit/>
          </a:bodyPr>
          <a:lstStyle/>
          <a:p>
            <a:pPr algn="l">
              <a:lnSpc>
                <a:spcPct val="132000"/>
              </a:lnSpc>
            </a:pPr>
            <a:r>
              <a:rPr sz="1500" b="0">
                <a:solidFill>
                  <a:srgbClr val="8FB6D0"/>
                </a:solidFill>
                <a:latin typeface="Segoe UI"/>
              </a:rPr>
              <a:t>Een instructie geschreven vóór iemand mist de stap die vanzelf spreekt voor de schrijver.</a:t>
            </a:r>
          </a:p>
        </p:txBody>
      </p:sp>
      <p:sp>
        <p:nvSpPr>
          <p:cNvPr id="16" name="TextBox 15"/>
          <p:cNvSpPr txBox="1"/>
          <p:nvPr/>
        </p:nvSpPr>
        <p:spPr>
          <a:xfrm>
            <a:off x="9905752" y="3721006"/>
            <a:ext cx="1650958" cy="253993"/>
          </a:xfrm>
          <a:prstGeom prst="rect">
            <a:avLst/>
          </a:prstGeom>
          <a:noFill/>
        </p:spPr>
        <p:txBody>
          <a:bodyPr wrap="square" anchor="t" lIns="0" rIns="0" tIns="0" bIns="0">
            <a:spAutoFit/>
          </a:bodyPr>
          <a:lstStyle/>
          <a:p>
            <a:pPr algn="r">
              <a:lnSpc>
                <a:spcPct val="125000"/>
              </a:lnSpc>
            </a:pPr>
            <a:r>
              <a:rPr sz="1300" b="1">
                <a:solidFill>
                  <a:srgbClr val="52BDEC"/>
                </a:solidFill>
                <a:latin typeface="Consolas"/>
              </a:rPr>
              <a:t>samen</a:t>
            </a:r>
          </a:p>
        </p:txBody>
      </p:sp>
      <p:sp>
        <p:nvSpPr>
          <p:cNvPr id="17" name="Rounded Rectangle 16"/>
          <p:cNvSpPr/>
          <p:nvPr/>
        </p:nvSpPr>
        <p:spPr>
          <a:xfrm>
            <a:off x="634984" y="5371965"/>
            <a:ext cx="10921726" cy="736581"/>
          </a:xfrm>
          <a:prstGeom prst="roundRect">
            <a:avLst>
              <a:gd name="adj" fmla="val 4500"/>
            </a:avLst>
          </a:prstGeom>
          <a:solidFill>
            <a:srgbClr val="0A2A44"/>
          </a:solidFill>
          <a:ln w="9525">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2476" y="5549761"/>
            <a:ext cx="10286742" cy="380990"/>
          </a:xfrm>
          <a:prstGeom prst="rect">
            <a:avLst/>
          </a:prstGeom>
          <a:noFill/>
        </p:spPr>
        <p:txBody>
          <a:bodyPr wrap="square" anchor="t" lIns="0" rIns="0" tIns="0" bIns="0">
            <a:spAutoFit/>
          </a:bodyPr>
          <a:lstStyle/>
          <a:p>
            <a:pPr algn="l">
              <a:lnSpc>
                <a:spcPct val="140000"/>
              </a:lnSpc>
            </a:pPr>
            <a:r>
              <a:rPr sz="1900" b="0">
                <a:solidFill>
                  <a:srgbClr val="F2F8FC"/>
                </a:solidFill>
                <a:latin typeface="Segoe UI"/>
              </a:rPr>
              <a:t>Toets ze met de verkeerd-doen-test in week 7.</a:t>
            </a:r>
          </a:p>
        </p:txBody>
      </p:sp>
      <p:sp>
        <p:nvSpPr>
          <p:cNvPr id="19" name="TextBox 18"/>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13 / 18</a:t>
            </a:r>
          </a:p>
        </p:txBody>
      </p:sp>
      <p:pic>
        <p:nvPicPr>
          <p:cNvPr id="20"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FF7A00"/>
                </a:solidFill>
                <a:latin typeface="Consolas"/>
              </a:rPr>
              <a:t>DE GOEDKOOPSTE CONTROLE DIE ER IS</a:t>
            </a:r>
          </a:p>
        </p:txBody>
      </p:sp>
      <p:sp>
        <p:nvSpPr>
          <p:cNvPr id="4" name="hero"/>
          <p:cNvSpPr txBox="1"/>
          <p:nvPr/>
        </p:nvSpPr>
        <p:spPr>
          <a:xfrm>
            <a:off x="634984" y="1066773"/>
            <a:ext cx="6857828" cy="2539936"/>
          </a:xfrm>
          <a:prstGeom prst="rect">
            <a:avLst/>
          </a:prstGeom>
          <a:noFill/>
        </p:spPr>
        <p:txBody>
          <a:bodyPr wrap="square" anchor="t" lIns="0" rIns="0" tIns="0" bIns="0">
            <a:spAutoFit/>
          </a:bodyPr>
          <a:lstStyle/>
          <a:p>
            <a:pPr algn="l">
              <a:lnSpc>
                <a:spcPct val="108000"/>
              </a:lnSpc>
            </a:pPr>
            <a:r>
              <a:rPr sz="5400" b="1">
                <a:solidFill>
                  <a:srgbClr val="F2F8FC"/>
                </a:solidFill>
                <a:latin typeface="Segoe UI"/>
              </a:rPr>
              <a:t>Geef het aan iemand</a:t>
            </a:r>
          </a:p>
          <a:p>
            <a:pPr algn="l">
              <a:lnSpc>
                <a:spcPct val="108000"/>
              </a:lnSpc>
              <a:spcBef>
                <a:spcPts val="500"/>
              </a:spcBef>
            </a:pPr>
            <a:r>
              <a:rPr sz="5400" b="1">
                <a:solidFill>
                  <a:srgbClr val="F2F8FC"/>
                </a:solidFill>
                <a:latin typeface="Segoe UI"/>
              </a:rPr>
              <a:t>die de studie</a:t>
            </a:r>
          </a:p>
          <a:p>
            <a:pPr algn="l">
              <a:lnSpc>
                <a:spcPct val="108000"/>
              </a:lnSpc>
              <a:spcBef>
                <a:spcPts val="500"/>
              </a:spcBef>
            </a:pPr>
            <a:r>
              <a:rPr sz="5400" b="1">
                <a:solidFill>
                  <a:srgbClr val="F2F8FC"/>
                </a:solidFill>
                <a:latin typeface="Segoe UI"/>
              </a:rPr>
              <a:t>niet kent</a:t>
            </a:r>
          </a:p>
        </p:txBody>
      </p:sp>
      <p:sp>
        <p:nvSpPr>
          <p:cNvPr id="5" name="Rounded Rectangle 4"/>
          <p:cNvSpPr/>
          <p:nvPr/>
        </p:nvSpPr>
        <p:spPr>
          <a:xfrm>
            <a:off x="634984" y="4101997"/>
            <a:ext cx="6857828" cy="1549361"/>
          </a:xfrm>
          <a:prstGeom prst="roundRect">
            <a:avLst>
              <a:gd name="adj" fmla="val 4500"/>
            </a:avLst>
          </a:prstGeom>
          <a:solidFill>
            <a:srgbClr val="0A2A44"/>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377" y="4381390"/>
            <a:ext cx="6349841" cy="1206469"/>
          </a:xfrm>
          <a:prstGeom prst="rect">
            <a:avLst/>
          </a:prstGeom>
          <a:noFill/>
        </p:spPr>
        <p:txBody>
          <a:bodyPr wrap="square" anchor="t" lIns="0" rIns="0" tIns="0" bIns="0">
            <a:spAutoFit/>
          </a:bodyPr>
          <a:lstStyle/>
          <a:p>
            <a:pPr algn="l">
              <a:lnSpc>
                <a:spcPct val="145000"/>
              </a:lnSpc>
            </a:pPr>
            <a:r>
              <a:rPr sz="1750" b="0">
                <a:solidFill>
                  <a:srgbClr val="8FB6D0"/>
                </a:solidFill>
                <a:latin typeface="Segoe UI"/>
              </a:rPr>
              <a:t>Elk formulier en elk toestel, met alleen de werkinstructie erbij. Kijk toe en zeg niets. Waar hij aarzelt, is het ontwerp fout.</a:t>
            </a:r>
          </a:p>
        </p:txBody>
      </p:sp>
      <p:sp>
        <p:nvSpPr>
          <p:cNvPr id="7" name="Rounded Rectangle 6"/>
          <p:cNvSpPr/>
          <p:nvPr/>
        </p:nvSpPr>
        <p:spPr>
          <a:xfrm>
            <a:off x="7873803" y="2031949"/>
            <a:ext cx="3682907" cy="3517812"/>
          </a:xfrm>
          <a:prstGeom prst="roundRect">
            <a:avLst>
              <a:gd name="adj" fmla="val 4500"/>
            </a:avLst>
          </a:prstGeom>
          <a:solidFill>
            <a:srgbClr val="113A57"/>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78595" y="2324041"/>
            <a:ext cx="3111422" cy="241293"/>
          </a:xfrm>
          <a:prstGeom prst="rect">
            <a:avLst/>
          </a:prstGeom>
          <a:noFill/>
        </p:spPr>
        <p:txBody>
          <a:bodyPr wrap="square" anchor="t" lIns="0" rIns="0" tIns="0" bIns="0">
            <a:spAutoFit/>
          </a:bodyPr>
          <a:lstStyle/>
          <a:p>
            <a:pPr algn="l">
              <a:lnSpc>
                <a:spcPct val="125000"/>
              </a:lnSpc>
            </a:pPr>
            <a:r>
              <a:rPr sz="1250" b="1" spc="160">
                <a:solidFill>
                  <a:srgbClr val="FF7A00"/>
                </a:solidFill>
                <a:latin typeface="Consolas"/>
              </a:rPr>
              <a:t>UITZONDERING</a:t>
            </a:r>
          </a:p>
        </p:txBody>
      </p:sp>
      <p:sp>
        <p:nvSpPr>
          <p:cNvPr id="9" name="TextBox 8"/>
          <p:cNvSpPr txBox="1"/>
          <p:nvPr/>
        </p:nvSpPr>
        <p:spPr>
          <a:xfrm>
            <a:off x="8178595" y="2730431"/>
            <a:ext cx="3111422" cy="2539936"/>
          </a:xfrm>
          <a:prstGeom prst="rect">
            <a:avLst/>
          </a:prstGeom>
          <a:noFill/>
        </p:spPr>
        <p:txBody>
          <a:bodyPr wrap="square" anchor="t" lIns="0" rIns="0" tIns="0" bIns="0">
            <a:spAutoFit/>
          </a:bodyPr>
          <a:lstStyle/>
          <a:p>
            <a:pPr algn="l">
              <a:lnSpc>
                <a:spcPct val="145000"/>
              </a:lnSpc>
            </a:pPr>
            <a:r>
              <a:rPr sz="1800" b="0">
                <a:solidFill>
                  <a:srgbClr val="F2F8FC"/>
                </a:solidFill>
                <a:latin typeface="Segoe UI"/>
              </a:rPr>
              <a:t>Een halve dag werk, en het vangt meer dan een week nalezen.</a:t>
            </a:r>
          </a:p>
        </p:txBody>
      </p:sp>
      <p:sp>
        <p:nvSpPr>
          <p:cNvPr id="10" name="TextBox 9"/>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14 / 18</a:t>
            </a:r>
          </a:p>
        </p:txBody>
      </p:sp>
      <p:pic>
        <p:nvPicPr>
          <p:cNvPr id="11"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VERDELING OVER DERTIEN WEKEN</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Wie hoeveel</a:t>
            </a:r>
          </a:p>
        </p:txBody>
      </p:sp>
      <p:sp>
        <p:nvSpPr>
          <p:cNvPr id="5" name="Rectangle 4"/>
          <p:cNvSpPr/>
          <p:nvPr/>
        </p:nvSpPr>
        <p:spPr>
          <a:xfrm>
            <a:off x="634984" y="1930351"/>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4984" y="2146246"/>
            <a:ext cx="2666933" cy="380990"/>
          </a:xfrm>
          <a:prstGeom prst="rect">
            <a:avLst/>
          </a:prstGeom>
          <a:noFill/>
        </p:spPr>
        <p:txBody>
          <a:bodyPr wrap="square" anchor="t" lIns="0" rIns="0" tIns="0" bIns="0">
            <a:spAutoFit/>
          </a:bodyPr>
          <a:lstStyle/>
          <a:p>
            <a:pPr algn="l">
              <a:lnSpc>
                <a:spcPct val="125000"/>
              </a:lnSpc>
            </a:pPr>
            <a:r>
              <a:rPr sz="2050" b="1">
                <a:solidFill>
                  <a:srgbClr val="F2F8FC"/>
                </a:solidFill>
                <a:latin typeface="Segoe UI"/>
              </a:rPr>
              <a:t>Janou · 40 d</a:t>
            </a:r>
          </a:p>
        </p:txBody>
      </p:sp>
      <p:sp>
        <p:nvSpPr>
          <p:cNvPr id="7" name="Oval 6"/>
          <p:cNvSpPr/>
          <p:nvPr/>
        </p:nvSpPr>
        <p:spPr>
          <a:xfrm>
            <a:off x="3555911"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21006"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Protocol, SAP en materiaal</a:t>
            </a:r>
          </a:p>
        </p:txBody>
      </p:sp>
      <p:sp>
        <p:nvSpPr>
          <p:cNvPr id="9" name="Oval 8"/>
          <p:cNvSpPr/>
          <p:nvPr/>
        </p:nvSpPr>
        <p:spPr>
          <a:xfrm>
            <a:off x="6273643"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8739"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Registratie en paper</a:t>
            </a:r>
          </a:p>
        </p:txBody>
      </p:sp>
      <p:sp>
        <p:nvSpPr>
          <p:cNvPr id="11" name="Oval 10"/>
          <p:cNvSpPr/>
          <p:nvPr/>
        </p:nvSpPr>
        <p:spPr>
          <a:xfrm>
            <a:off x="8991375" y="2235144"/>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56471" y="2158946"/>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Opleiding en drooglopen</a:t>
            </a:r>
          </a:p>
        </p:txBody>
      </p:sp>
      <p:sp>
        <p:nvSpPr>
          <p:cNvPr id="13" name="Rectangle 12"/>
          <p:cNvSpPr/>
          <p:nvPr/>
        </p:nvSpPr>
        <p:spPr>
          <a:xfrm>
            <a:off x="634984" y="2971725"/>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984" y="3187620"/>
            <a:ext cx="2666933" cy="380990"/>
          </a:xfrm>
          <a:prstGeom prst="rect">
            <a:avLst/>
          </a:prstGeom>
          <a:noFill/>
        </p:spPr>
        <p:txBody>
          <a:bodyPr wrap="square" anchor="t" lIns="0" rIns="0" tIns="0" bIns="0">
            <a:spAutoFit/>
          </a:bodyPr>
          <a:lstStyle/>
          <a:p>
            <a:pPr algn="l">
              <a:lnSpc>
                <a:spcPct val="125000"/>
              </a:lnSpc>
            </a:pPr>
            <a:r>
              <a:rPr sz="2050" b="1">
                <a:solidFill>
                  <a:srgbClr val="F2F8FC"/>
                </a:solidFill>
                <a:latin typeface="Segoe UI"/>
              </a:rPr>
              <a:t>Kevin · 6 d</a:t>
            </a:r>
          </a:p>
        </p:txBody>
      </p:sp>
      <p:sp>
        <p:nvSpPr>
          <p:cNvPr id="15" name="Oval 14"/>
          <p:cNvSpPr/>
          <p:nvPr/>
        </p:nvSpPr>
        <p:spPr>
          <a:xfrm>
            <a:off x="3555911"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21006"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Protocol goedkeuren</a:t>
            </a:r>
          </a:p>
        </p:txBody>
      </p:sp>
      <p:sp>
        <p:nvSpPr>
          <p:cNvPr id="17" name="Oval 16"/>
          <p:cNvSpPr/>
          <p:nvPr/>
        </p:nvSpPr>
        <p:spPr>
          <a:xfrm>
            <a:off x="6273643"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39"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Beide commissies werven</a:t>
            </a:r>
          </a:p>
        </p:txBody>
      </p:sp>
      <p:sp>
        <p:nvSpPr>
          <p:cNvPr id="19" name="Oval 18"/>
          <p:cNvSpPr/>
          <p:nvPr/>
        </p:nvSpPr>
        <p:spPr>
          <a:xfrm>
            <a:off x="8991375" y="3276518"/>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56471" y="3200319"/>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Co-auteurronde</a:t>
            </a:r>
          </a:p>
        </p:txBody>
      </p:sp>
      <p:sp>
        <p:nvSpPr>
          <p:cNvPr id="21" name="Rectangle 20"/>
          <p:cNvSpPr/>
          <p:nvPr/>
        </p:nvSpPr>
        <p:spPr>
          <a:xfrm>
            <a:off x="634984" y="4013099"/>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984" y="4228994"/>
            <a:ext cx="2666933" cy="380990"/>
          </a:xfrm>
          <a:prstGeom prst="rect">
            <a:avLst/>
          </a:prstGeom>
          <a:noFill/>
        </p:spPr>
        <p:txBody>
          <a:bodyPr wrap="square" anchor="t" lIns="0" rIns="0" tIns="0" bIns="0">
            <a:spAutoFit/>
          </a:bodyPr>
          <a:lstStyle/>
          <a:p>
            <a:pPr algn="l">
              <a:lnSpc>
                <a:spcPct val="125000"/>
              </a:lnSpc>
            </a:pPr>
            <a:r>
              <a:rPr sz="2050" b="1">
                <a:solidFill>
                  <a:srgbClr val="F2F8FC"/>
                </a:solidFill>
                <a:latin typeface="Segoe UI"/>
              </a:rPr>
              <a:t>Putman · Fobelets</a:t>
            </a:r>
          </a:p>
        </p:txBody>
      </p:sp>
      <p:sp>
        <p:nvSpPr>
          <p:cNvPr id="23" name="Oval 22"/>
          <p:cNvSpPr/>
          <p:nvPr/>
        </p:nvSpPr>
        <p:spPr>
          <a:xfrm>
            <a:off x="3555911"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21006"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Gezondheidseconomische analyse</a:t>
            </a:r>
          </a:p>
        </p:txBody>
      </p:sp>
      <p:sp>
        <p:nvSpPr>
          <p:cNvPr id="25" name="Oval 24"/>
          <p:cNvSpPr/>
          <p:nvPr/>
        </p:nvSpPr>
        <p:spPr>
          <a:xfrm>
            <a:off x="6273643"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39"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Procesevaluatie</a:t>
            </a:r>
          </a:p>
        </p:txBody>
      </p:sp>
      <p:sp>
        <p:nvSpPr>
          <p:cNvPr id="27" name="Oval 26"/>
          <p:cNvSpPr/>
          <p:nvPr/>
        </p:nvSpPr>
        <p:spPr>
          <a:xfrm>
            <a:off x="8991375" y="4317892"/>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56471" y="4241693"/>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Beide afnameschema’s</a:t>
            </a:r>
          </a:p>
        </p:txBody>
      </p:sp>
      <p:sp>
        <p:nvSpPr>
          <p:cNvPr id="29" name="Rectangle 28"/>
          <p:cNvSpPr/>
          <p:nvPr/>
        </p:nvSpPr>
        <p:spPr>
          <a:xfrm>
            <a:off x="634984" y="5054473"/>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4984" y="5270368"/>
            <a:ext cx="2666933" cy="380990"/>
          </a:xfrm>
          <a:prstGeom prst="rect">
            <a:avLst/>
          </a:prstGeom>
          <a:noFill/>
        </p:spPr>
        <p:txBody>
          <a:bodyPr wrap="square" anchor="t" lIns="0" rIns="0" tIns="0" bIns="0">
            <a:spAutoFit/>
          </a:bodyPr>
          <a:lstStyle/>
          <a:p>
            <a:pPr algn="l">
              <a:lnSpc>
                <a:spcPct val="125000"/>
              </a:lnSpc>
            </a:pPr>
            <a:r>
              <a:rPr sz="2050" b="1">
                <a:solidFill>
                  <a:srgbClr val="F2F8FC"/>
                </a:solidFill>
                <a:latin typeface="Segoe UI"/>
              </a:rPr>
              <a:t>Dobbels · SEBIA</a:t>
            </a:r>
          </a:p>
        </p:txBody>
      </p:sp>
      <p:sp>
        <p:nvSpPr>
          <p:cNvPr id="31" name="Oval 30"/>
          <p:cNvSpPr/>
          <p:nvPr/>
        </p:nvSpPr>
        <p:spPr>
          <a:xfrm>
            <a:off x="3555911"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21006"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De vijf gespreksmomenten</a:t>
            </a:r>
          </a:p>
        </p:txBody>
      </p:sp>
      <p:sp>
        <p:nvSpPr>
          <p:cNvPr id="33" name="Oval 32"/>
          <p:cNvSpPr/>
          <p:nvPr/>
        </p:nvSpPr>
        <p:spPr>
          <a:xfrm>
            <a:off x="6273643"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8739"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Motiverende gespreksvoering</a:t>
            </a:r>
          </a:p>
        </p:txBody>
      </p:sp>
      <p:sp>
        <p:nvSpPr>
          <p:cNvPr id="35" name="Oval 34"/>
          <p:cNvSpPr/>
          <p:nvPr/>
        </p:nvSpPr>
        <p:spPr>
          <a:xfrm>
            <a:off x="8991375" y="5359266"/>
            <a:ext cx="69848" cy="69848"/>
          </a:xfrm>
          <a:prstGeom prst="ellipse">
            <a:avLst/>
          </a:prstGeom>
          <a:solidFill>
            <a:srgbClr val="52B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56471" y="5283067"/>
            <a:ext cx="2362140" cy="571485"/>
          </a:xfrm>
          <a:prstGeom prst="rect">
            <a:avLst/>
          </a:prstGeom>
          <a:noFill/>
        </p:spPr>
        <p:txBody>
          <a:bodyPr wrap="square" anchor="t" lIns="0" rIns="0" tIns="0" bIns="0">
            <a:spAutoFit/>
          </a:bodyPr>
          <a:lstStyle/>
          <a:p>
            <a:pPr algn="l">
              <a:lnSpc>
                <a:spcPct val="130000"/>
              </a:lnSpc>
            </a:pPr>
            <a:r>
              <a:rPr sz="1550" b="0">
                <a:solidFill>
                  <a:srgbClr val="8FB6D0"/>
                </a:solidFill>
                <a:latin typeface="Segoe UI"/>
              </a:rPr>
              <a:t>Fideliteitsafspraken</a:t>
            </a:r>
          </a:p>
        </p:txBody>
      </p:sp>
      <p:sp>
        <p:nvSpPr>
          <p:cNvPr id="37" name="Rectangle 36"/>
          <p:cNvSpPr/>
          <p:nvPr/>
        </p:nvSpPr>
        <p:spPr>
          <a:xfrm>
            <a:off x="634984" y="6095847"/>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15 / 18</a:t>
            </a:r>
          </a:p>
        </p:txBody>
      </p:sp>
      <p:pic>
        <p:nvPicPr>
          <p:cNvPr id="39"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EIND NOVEMBER</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Waaraan u ziet dat het klaar is</a:t>
            </a:r>
          </a:p>
        </p:txBody>
      </p:sp>
      <p:sp>
        <p:nvSpPr>
          <p:cNvPr id="5" name="Rounded Rectangle 4"/>
          <p:cNvSpPr/>
          <p:nvPr/>
        </p:nvSpPr>
        <p:spPr>
          <a:xfrm>
            <a:off x="634984" y="1904952"/>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3274" y="187955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Zes centra opgeleid, bekwaamheidscheck gedaan, register getekend</a:t>
            </a:r>
          </a:p>
        </p:txBody>
      </p:sp>
      <p:sp>
        <p:nvSpPr>
          <p:cNvPr id="7" name="Rounded Rectangle 6"/>
          <p:cNvSpPr/>
          <p:nvPr/>
        </p:nvSpPr>
        <p:spPr>
          <a:xfrm>
            <a:off x="6349841" y="1904952"/>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18132" y="187955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Zes ketens volledig doorlopen op eigen toestellen en eigen netwerk</a:t>
            </a:r>
          </a:p>
        </p:txBody>
      </p:sp>
      <p:sp>
        <p:nvSpPr>
          <p:cNvPr id="9" name="Rounded Rectangle 8"/>
          <p:cNvSpPr/>
          <p:nvPr/>
        </p:nvSpPr>
        <p:spPr>
          <a:xfrm>
            <a:off x="634984" y="267963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3274" y="265423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Eén protocolversie in omloop, sluitend met het manuscript</a:t>
            </a:r>
          </a:p>
        </p:txBody>
      </p:sp>
      <p:sp>
        <p:nvSpPr>
          <p:cNvPr id="11" name="Rounded Rectangle 10"/>
          <p:cNvSpPr/>
          <p:nvPr/>
        </p:nvSpPr>
        <p:spPr>
          <a:xfrm>
            <a:off x="6349841" y="267963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18132" y="2654233"/>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SAP geschreven en de studie geregistreerd</a:t>
            </a:r>
          </a:p>
        </p:txBody>
      </p:sp>
      <p:sp>
        <p:nvSpPr>
          <p:cNvPr id="13" name="Rounded Rectangle 12"/>
          <p:cNvSpPr/>
          <p:nvPr/>
        </p:nvSpPr>
        <p:spPr>
          <a:xfrm>
            <a:off x="634984" y="345431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3274" y="342891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Vier nieuwe materialen gemaakt, drie herzien, alles verkeerd geprobeerd</a:t>
            </a:r>
          </a:p>
        </p:txBody>
      </p:sp>
      <p:sp>
        <p:nvSpPr>
          <p:cNvPr id="15" name="Rounded Rectangle 14"/>
          <p:cNvSpPr/>
          <p:nvPr/>
        </p:nvSpPr>
        <p:spPr>
          <a:xfrm>
            <a:off x="6349841" y="3454313"/>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18132" y="342891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De protocolpaper ingediend, met registratienummer</a:t>
            </a:r>
          </a:p>
        </p:txBody>
      </p:sp>
      <p:sp>
        <p:nvSpPr>
          <p:cNvPr id="17" name="Rounded Rectangle 16"/>
          <p:cNvSpPr/>
          <p:nvPr/>
        </p:nvSpPr>
        <p:spPr>
          <a:xfrm>
            <a:off x="634984" y="4228994"/>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3274" y="420359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Begeleidings- en adjudicatiecommissie samengesteld</a:t>
            </a:r>
          </a:p>
        </p:txBody>
      </p:sp>
      <p:sp>
        <p:nvSpPr>
          <p:cNvPr id="19" name="Rounded Rectangle 18"/>
          <p:cNvSpPr/>
          <p:nvPr/>
        </p:nvSpPr>
        <p:spPr>
          <a:xfrm>
            <a:off x="6349841" y="4228994"/>
            <a:ext cx="241293" cy="241293"/>
          </a:xfrm>
          <a:prstGeom prst="roundRect">
            <a:avLst>
              <a:gd name="adj" fmla="val 20000"/>
            </a:avLst>
          </a:prstGeom>
          <a:solidFill>
            <a:srgbClr val="04182A"/>
          </a:solidFill>
          <a:ln w="19050">
            <a:solidFill>
              <a:srgbClr val="52BD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18132" y="4203594"/>
            <a:ext cx="4952876" cy="634984"/>
          </a:xfrm>
          <a:prstGeom prst="rect">
            <a:avLst/>
          </a:prstGeom>
          <a:noFill/>
        </p:spPr>
        <p:txBody>
          <a:bodyPr wrap="square" anchor="t" lIns="0" rIns="0" tIns="0" bIns="0">
            <a:spAutoFit/>
          </a:bodyPr>
          <a:lstStyle/>
          <a:p>
            <a:pPr algn="l">
              <a:lnSpc>
                <a:spcPct val="130000"/>
              </a:lnSpc>
            </a:pPr>
            <a:r>
              <a:rPr sz="1550" b="0">
                <a:solidFill>
                  <a:srgbClr val="F2F8FC"/>
                </a:solidFill>
                <a:latin typeface="Segoe UI"/>
              </a:rPr>
              <a:t>Zoekstrategie van de scoping review vastgelegd</a:t>
            </a:r>
          </a:p>
        </p:txBody>
      </p:sp>
      <p:sp>
        <p:nvSpPr>
          <p:cNvPr id="21" name="Rounded Rectangle 20"/>
          <p:cNvSpPr/>
          <p:nvPr/>
        </p:nvSpPr>
        <p:spPr>
          <a:xfrm>
            <a:off x="634984" y="5041773"/>
            <a:ext cx="10921726" cy="952476"/>
          </a:xfrm>
          <a:prstGeom prst="roundRect">
            <a:avLst>
              <a:gd name="adj" fmla="val 4500"/>
            </a:avLst>
          </a:prstGeom>
          <a:solidFill>
            <a:srgbClr val="0A2A44"/>
          </a:solidFill>
          <a:ln w="9525">
            <a:solidFill>
              <a:srgbClr val="FF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2476" y="5219569"/>
            <a:ext cx="10286742" cy="698482"/>
          </a:xfrm>
          <a:prstGeom prst="rect">
            <a:avLst/>
          </a:prstGeom>
          <a:noFill/>
        </p:spPr>
        <p:txBody>
          <a:bodyPr wrap="square" anchor="t" lIns="0" rIns="0" tIns="0" bIns="0">
            <a:spAutoFit/>
          </a:bodyPr>
          <a:lstStyle/>
          <a:p>
            <a:pPr algn="l">
              <a:lnSpc>
                <a:spcPct val="140000"/>
              </a:lnSpc>
            </a:pPr>
            <a:r>
              <a:rPr sz="1800" b="0">
                <a:solidFill>
                  <a:srgbClr val="F2F8FC"/>
                </a:solidFill>
                <a:latin typeface="Segoe UI"/>
              </a:rPr>
              <a:t>Wat op 1 december openstaat, wordt in februari een protocolafwijking op een patiënt.</a:t>
            </a:r>
          </a:p>
        </p:txBody>
      </p:sp>
      <p:sp>
        <p:nvSpPr>
          <p:cNvPr id="23" name="TextBox 22"/>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16 / 18</a:t>
            </a:r>
          </a:p>
        </p:txBody>
      </p:sp>
      <p:pic>
        <p:nvPicPr>
          <p:cNvPr id="24" name="merk" descr="merk.png"/>
          <p:cNvPicPr>
            <a:picLocks noChangeAspect="1"/>
          </p:cNvPicPr>
          <p:nvPr/>
        </p:nvPicPr>
        <p:blipFill>
          <a:blip r:embed="rId2"/>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7828"/>
          </a:xfrm>
          <a:prstGeom prst="rect">
            <a:avLst/>
          </a:prstGeom>
          <a:gradFill rotWithShape="1">
            <a:gsLst>
              <a:gs pos="0">
                <a:srgbClr val="FF7A00"/>
              </a:gs>
              <a:gs pos="100000">
                <a:srgbClr val="FF7A00"/>
              </a:gs>
            </a:gsLst>
            <a:lin ang="27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nal"/>
          <p:cNvSpPr txBox="1"/>
          <p:nvPr/>
        </p:nvSpPr>
        <p:spPr>
          <a:xfrm>
            <a:off x="952476" y="1523961"/>
            <a:ext cx="10286742" cy="4190895"/>
          </a:xfrm>
          <a:prstGeom prst="rect">
            <a:avLst/>
          </a:prstGeom>
          <a:noFill/>
        </p:spPr>
        <p:txBody>
          <a:bodyPr wrap="square" anchor="t" lIns="0" rIns="0" tIns="0" bIns="0">
            <a:spAutoFit/>
          </a:bodyPr>
          <a:lstStyle/>
          <a:p>
            <a:pPr algn="l">
              <a:lnSpc>
                <a:spcPct val="106000"/>
              </a:lnSpc>
            </a:pPr>
            <a:r>
              <a:rPr sz="7200" b="1">
                <a:solidFill>
                  <a:srgbClr val="04182A"/>
                </a:solidFill>
                <a:latin typeface="Segoe UI"/>
              </a:rPr>
              <a:t>Februari verschuift niet.</a:t>
            </a:r>
          </a:p>
          <a:p>
            <a:pPr algn="l">
              <a:lnSpc>
                <a:spcPct val="106000"/>
              </a:lnSpc>
              <a:spcBef>
                <a:spcPts val="500"/>
              </a:spcBef>
            </a:pPr>
            <a:r>
              <a:rPr sz="7200" b="1">
                <a:solidFill>
                  <a:srgbClr val="04182A"/>
                </a:solidFill>
                <a:latin typeface="Segoe UI"/>
              </a:rPr>
              <a:t>Alles ervoor wel.</a:t>
            </a:r>
          </a:p>
        </p:txBody>
      </p:sp>
      <p:sp>
        <p:nvSpPr>
          <p:cNvPr id="5" name="TextBox 4"/>
          <p:cNvSpPr txBox="1"/>
          <p:nvPr/>
        </p:nvSpPr>
        <p:spPr>
          <a:xfrm>
            <a:off x="977875" y="6006949"/>
            <a:ext cx="9524761" cy="279393"/>
          </a:xfrm>
          <a:prstGeom prst="rect">
            <a:avLst/>
          </a:prstGeom>
          <a:noFill/>
        </p:spPr>
        <p:txBody>
          <a:bodyPr wrap="square" anchor="t" lIns="0" rIns="0" tIns="0" bIns="0">
            <a:spAutoFit/>
          </a:bodyPr>
          <a:lstStyle/>
          <a:p>
            <a:pPr algn="l">
              <a:lnSpc>
                <a:spcPct val="125000"/>
              </a:lnSpc>
            </a:pPr>
            <a:r>
              <a:rPr sz="1700" b="0">
                <a:solidFill>
                  <a:srgbClr val="04182A"/>
                </a:solidFill>
                <a:latin typeface="Consolas"/>
              </a:rPr>
              <a:t>Daarom staat het zware werk in oktober en niet in januari.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7828"/>
          </a:xfrm>
          <a:prstGeom prst="rect">
            <a:avLst/>
          </a:prstGeom>
          <a:gradFill rotWithShape="1">
            <a:gsLst>
              <a:gs pos="0">
                <a:srgbClr val="072138"/>
              </a:gs>
              <a:gs pos="100000">
                <a:srgbClr val="04182A"/>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34984" y="571485"/>
            <a:ext cx="9524761" cy="215894"/>
          </a:xfrm>
          <a:prstGeom prst="rect">
            <a:avLst/>
          </a:prstGeom>
          <a:noFill/>
        </p:spPr>
        <p:txBody>
          <a:bodyPr wrap="square" anchor="t" lIns="0" rIns="0" tIns="0" bIns="0">
            <a:spAutoFit/>
          </a:bodyPr>
          <a:lstStyle/>
          <a:p>
            <a:pPr algn="l">
              <a:lnSpc>
                <a:spcPct val="125000"/>
              </a:lnSpc>
            </a:pPr>
            <a:r>
              <a:rPr sz="1250" b="1" spc="240">
                <a:solidFill>
                  <a:srgbClr val="52BDEC"/>
                </a:solidFill>
                <a:latin typeface="Consolas"/>
              </a:rPr>
              <a:t>WIE U AANSPREEKT</a:t>
            </a:r>
          </a:p>
        </p:txBody>
      </p:sp>
      <p:sp>
        <p:nvSpPr>
          <p:cNvPr id="4" name="!!sectietitel"/>
          <p:cNvSpPr txBox="1"/>
          <p:nvPr/>
        </p:nvSpPr>
        <p:spPr>
          <a:xfrm>
            <a:off x="634984" y="838179"/>
            <a:ext cx="9905752" cy="1269968"/>
          </a:xfrm>
          <a:prstGeom prst="rect">
            <a:avLst/>
          </a:prstGeom>
          <a:noFill/>
        </p:spPr>
        <p:txBody>
          <a:bodyPr wrap="square" anchor="t" lIns="0" rIns="0" tIns="0" bIns="0">
            <a:spAutoFit/>
          </a:bodyPr>
          <a:lstStyle/>
          <a:p>
            <a:pPr algn="l">
              <a:lnSpc>
                <a:spcPct val="110000"/>
              </a:lnSpc>
            </a:pPr>
            <a:r>
              <a:rPr sz="4000" b="1">
                <a:solidFill>
                  <a:srgbClr val="F2F8FC"/>
                </a:solidFill>
                <a:latin typeface="Segoe UI"/>
              </a:rPr>
              <a:t>Voor als er iets misloopt</a:t>
            </a:r>
          </a:p>
        </p:txBody>
      </p:sp>
      <p:sp>
        <p:nvSpPr>
          <p:cNvPr id="5" name="Rounded Rectangle 4"/>
          <p:cNvSpPr/>
          <p:nvPr/>
        </p:nvSpPr>
        <p:spPr>
          <a:xfrm>
            <a:off x="634984" y="1904952"/>
            <a:ext cx="3174920" cy="3936901"/>
          </a:xfrm>
          <a:prstGeom prst="roundRect">
            <a:avLst>
              <a:gd name="adj" fmla="val 4500"/>
            </a:avLst>
          </a:prstGeom>
          <a:solidFill>
            <a:srgbClr val="113A57"/>
          </a:solidFill>
          <a:ln w="9525">
            <a:solidFill>
              <a:srgbClr val="215B8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ortret" descr="janou.png"/>
          <p:cNvPicPr>
            <a:picLocks noChangeAspect="1"/>
          </p:cNvPicPr>
          <p:nvPr/>
        </p:nvPicPr>
        <p:blipFill>
          <a:blip r:embed="rId2"/>
          <a:stretch>
            <a:fillRect/>
          </a:stretch>
        </p:blipFill>
        <p:spPr>
          <a:xfrm>
            <a:off x="777502" y="2006549"/>
            <a:ext cx="2889883" cy="3733706"/>
          </a:xfrm>
          <a:prstGeom prst="rect">
            <a:avLst/>
          </a:prstGeom>
        </p:spPr>
      </p:pic>
      <p:sp>
        <p:nvSpPr>
          <p:cNvPr id="7" name="Rectangle 6"/>
          <p:cNvSpPr/>
          <p:nvPr/>
        </p:nvSpPr>
        <p:spPr>
          <a:xfrm>
            <a:off x="4317892" y="1904952"/>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17892" y="2070048"/>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Janou De Buyser</a:t>
            </a:r>
          </a:p>
        </p:txBody>
      </p:sp>
      <p:sp>
        <p:nvSpPr>
          <p:cNvPr id="9" name="TextBox 8"/>
          <p:cNvSpPr txBox="1"/>
          <p:nvPr/>
        </p:nvSpPr>
        <p:spPr>
          <a:xfrm>
            <a:off x="4330591" y="2539936"/>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DOCTORAATSONDERZOEKER · DAGELIJKSE OPVOLGING</a:t>
            </a:r>
          </a:p>
        </p:txBody>
      </p:sp>
      <p:sp>
        <p:nvSpPr>
          <p:cNvPr id="10" name="TextBox 9"/>
          <p:cNvSpPr txBox="1"/>
          <p:nvPr/>
        </p:nvSpPr>
        <p:spPr>
          <a:xfrm>
            <a:off x="4317892" y="2857428"/>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Uw eerste aanspreekpunt: inclusies, metingen, formulieren, sensoren en alles wat in de praktijk vastloopt.</a:t>
            </a:r>
          </a:p>
        </p:txBody>
      </p:sp>
      <p:sp>
        <p:nvSpPr>
          <p:cNvPr id="11" name="TextBox 10"/>
          <p:cNvSpPr txBox="1"/>
          <p:nvPr/>
        </p:nvSpPr>
        <p:spPr>
          <a:xfrm>
            <a:off x="4317892"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janou.debuyser@kuleuven.be</a:t>
            </a:r>
          </a:p>
        </p:txBody>
      </p:sp>
      <p:sp>
        <p:nvSpPr>
          <p:cNvPr id="12" name="TextBox 11"/>
          <p:cNvSpPr txBox="1"/>
          <p:nvPr/>
        </p:nvSpPr>
        <p:spPr>
          <a:xfrm>
            <a:off x="7873803" y="3530511"/>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Spoorwegstraat 12 · Brugge</a:t>
            </a:r>
          </a:p>
        </p:txBody>
      </p:sp>
      <p:sp>
        <p:nvSpPr>
          <p:cNvPr id="13" name="Rectangle 12"/>
          <p:cNvSpPr/>
          <p:nvPr/>
        </p:nvSpPr>
        <p:spPr>
          <a:xfrm>
            <a:off x="4317892" y="3873403"/>
            <a:ext cx="7238819"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7892" y="4038499"/>
            <a:ext cx="6349841" cy="380990"/>
          </a:xfrm>
          <a:prstGeom prst="rect">
            <a:avLst/>
          </a:prstGeom>
          <a:noFill/>
        </p:spPr>
        <p:txBody>
          <a:bodyPr wrap="square" anchor="t" lIns="0" rIns="0" tIns="0" bIns="0">
            <a:spAutoFit/>
          </a:bodyPr>
          <a:lstStyle/>
          <a:p>
            <a:pPr algn="l">
              <a:lnSpc>
                <a:spcPct val="125000"/>
              </a:lnSpc>
            </a:pPr>
            <a:r>
              <a:rPr sz="3000" b="1">
                <a:solidFill>
                  <a:srgbClr val="F2F8FC"/>
                </a:solidFill>
                <a:latin typeface="Segoe UI"/>
              </a:rPr>
              <a:t>prof. dr. Kevin Deschamps</a:t>
            </a:r>
          </a:p>
        </p:txBody>
      </p:sp>
      <p:sp>
        <p:nvSpPr>
          <p:cNvPr id="15" name="TextBox 14"/>
          <p:cNvSpPr txBox="1"/>
          <p:nvPr/>
        </p:nvSpPr>
        <p:spPr>
          <a:xfrm>
            <a:off x="4330591" y="4508387"/>
            <a:ext cx="5714857" cy="228594"/>
          </a:xfrm>
          <a:prstGeom prst="rect">
            <a:avLst/>
          </a:prstGeom>
          <a:noFill/>
        </p:spPr>
        <p:txBody>
          <a:bodyPr wrap="square" anchor="t" lIns="0" rIns="0" tIns="0" bIns="0">
            <a:spAutoFit/>
          </a:bodyPr>
          <a:lstStyle/>
          <a:p>
            <a:pPr algn="l">
              <a:lnSpc>
                <a:spcPct val="125000"/>
              </a:lnSpc>
            </a:pPr>
            <a:r>
              <a:rPr sz="1300" b="1" spc="150">
                <a:solidFill>
                  <a:srgbClr val="52BDEC"/>
                </a:solidFill>
                <a:latin typeface="Consolas"/>
              </a:rPr>
              <a:t>PROMOTOR</a:t>
            </a:r>
          </a:p>
        </p:txBody>
      </p:sp>
      <p:sp>
        <p:nvSpPr>
          <p:cNvPr id="16" name="TextBox 15"/>
          <p:cNvSpPr txBox="1"/>
          <p:nvPr/>
        </p:nvSpPr>
        <p:spPr>
          <a:xfrm>
            <a:off x="4317892" y="4825879"/>
            <a:ext cx="7238819" cy="634984"/>
          </a:xfrm>
          <a:prstGeom prst="rect">
            <a:avLst/>
          </a:prstGeom>
          <a:noFill/>
        </p:spPr>
        <p:txBody>
          <a:bodyPr wrap="square" anchor="t" lIns="0" rIns="0" tIns="0" bIns="0">
            <a:spAutoFit/>
          </a:bodyPr>
          <a:lstStyle/>
          <a:p>
            <a:pPr algn="l">
              <a:lnSpc>
                <a:spcPct val="135000"/>
              </a:lnSpc>
            </a:pPr>
            <a:r>
              <a:rPr sz="1650" b="0">
                <a:solidFill>
                  <a:srgbClr val="8FB6D0"/>
                </a:solidFill>
                <a:latin typeface="Segoe UI"/>
              </a:rPr>
              <a:t>Wetenschappelijke vragen, de opzet van de studie en afspraken op het niveau van uw centrum.</a:t>
            </a:r>
          </a:p>
        </p:txBody>
      </p:sp>
      <p:sp>
        <p:nvSpPr>
          <p:cNvPr id="17" name="TextBox 16"/>
          <p:cNvSpPr txBox="1"/>
          <p:nvPr/>
        </p:nvSpPr>
        <p:spPr>
          <a:xfrm>
            <a:off x="4317892"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Revalidatiewetenschappen</a:t>
            </a:r>
          </a:p>
        </p:txBody>
      </p:sp>
      <p:sp>
        <p:nvSpPr>
          <p:cNvPr id="18" name="TextBox 17"/>
          <p:cNvSpPr txBox="1"/>
          <p:nvPr/>
        </p:nvSpPr>
        <p:spPr>
          <a:xfrm>
            <a:off x="7873803" y="5498962"/>
            <a:ext cx="3682907" cy="253993"/>
          </a:xfrm>
          <a:prstGeom prst="rect">
            <a:avLst/>
          </a:prstGeom>
          <a:noFill/>
        </p:spPr>
        <p:txBody>
          <a:bodyPr wrap="none" anchor="t" lIns="0" rIns="0" tIns="0" bIns="0">
            <a:spAutoFit/>
          </a:bodyPr>
          <a:lstStyle/>
          <a:p>
            <a:pPr algn="l">
              <a:lnSpc>
                <a:spcPct val="125000"/>
              </a:lnSpc>
            </a:pPr>
            <a:r>
              <a:rPr sz="1600" b="0">
                <a:solidFill>
                  <a:srgbClr val="F2F8FC"/>
                </a:solidFill>
                <a:latin typeface="Consolas"/>
              </a:rPr>
              <a:t>KU Leuven · Campus Brugge</a:t>
            </a:r>
          </a:p>
        </p:txBody>
      </p:sp>
      <p:sp>
        <p:nvSpPr>
          <p:cNvPr id="19" name="Rectangle 18"/>
          <p:cNvSpPr/>
          <p:nvPr/>
        </p:nvSpPr>
        <p:spPr>
          <a:xfrm>
            <a:off x="634984" y="5968850"/>
            <a:ext cx="10921726" cy="9524"/>
          </a:xfrm>
          <a:prstGeom prst="rect">
            <a:avLst/>
          </a:prstGeom>
          <a:solidFill>
            <a:srgbClr val="215B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984" y="6108547"/>
            <a:ext cx="10921726" cy="380990"/>
          </a:xfrm>
          <a:prstGeom prst="rect">
            <a:avLst/>
          </a:prstGeom>
          <a:noFill/>
        </p:spPr>
        <p:txBody>
          <a:bodyPr wrap="square" anchor="t" lIns="0" rIns="0" tIns="0" bIns="0">
            <a:spAutoFit/>
          </a:bodyPr>
          <a:lstStyle/>
          <a:p>
            <a:pPr algn="l">
              <a:lnSpc>
                <a:spcPct val="135000"/>
              </a:lnSpc>
            </a:pPr>
            <a:r>
              <a:rPr sz="1300" b="0">
                <a:solidFill>
                  <a:srgbClr val="8FB6D0"/>
                </a:solidFill>
                <a:latin typeface="Segoe UI"/>
              </a:rPr>
              <a:t>Consortium: KU Leuven — Revalidatiewetenschappen (Musculoskeletal Research Group) en Volksgezondheid en Eerstelijnszorg · Vrije Universiteit Brussel — Geneeskunde en Farmacie. Co-promotoren: Fabienne Dobbels, Maaike Fobelets en Koen Putman.</a:t>
            </a:r>
          </a:p>
        </p:txBody>
      </p:sp>
      <p:sp>
        <p:nvSpPr>
          <p:cNvPr id="21" name="TextBox 20"/>
          <p:cNvSpPr txBox="1"/>
          <p:nvPr/>
        </p:nvSpPr>
        <p:spPr>
          <a:xfrm>
            <a:off x="10540736" y="6387940"/>
            <a:ext cx="1015974" cy="177795"/>
          </a:xfrm>
          <a:prstGeom prst="rect">
            <a:avLst/>
          </a:prstGeom>
          <a:noFill/>
        </p:spPr>
        <p:txBody>
          <a:bodyPr wrap="square" anchor="t" lIns="0" rIns="0" tIns="0" bIns="0">
            <a:spAutoFit/>
          </a:bodyPr>
          <a:lstStyle/>
          <a:p>
            <a:pPr algn="r">
              <a:lnSpc>
                <a:spcPct val="125000"/>
              </a:lnSpc>
            </a:pPr>
            <a:r>
              <a:rPr sz="1050" b="0">
                <a:solidFill>
                  <a:srgbClr val="8FB6D0"/>
                </a:solidFill>
                <a:latin typeface="Consolas"/>
              </a:rPr>
              <a:t>18 / 18</a:t>
            </a:r>
          </a:p>
        </p:txBody>
      </p:sp>
      <p:pic>
        <p:nvPicPr>
          <p:cNvPr id="22" name="merk" descr="merk.png"/>
          <p:cNvPicPr>
            <a:picLocks noChangeAspect="1"/>
          </p:cNvPicPr>
          <p:nvPr/>
        </p:nvPicPr>
        <p:blipFill>
          <a:blip r:embed="rId3"/>
          <a:stretch>
            <a:fillRect/>
          </a:stretch>
        </p:blipFill>
        <p:spPr>
          <a:xfrm>
            <a:off x="11094166" y="368290"/>
            <a:ext cx="417101" cy="48258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00">
        <p159:morph option="byObject"/>
      </p:transition>
    </mc:Choice>
    <mc:Fallback>
      <p:transition xmlns:p14="http://schemas.microsoft.com/office/powerpoint/2010/main" spd="slow" p14:dur="9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