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fasen. We zitten in de pilot; februari 2027 is de harde startdatum. Daarna twaalf maanden includeren, en achttien maanden opvolgen per patiënt. Alleen de inclusieperiode verschuift de einddatum.</a:t>
            </a:r>
          </a:p>
          <a:p/>
          <a:p>
            <a:r>
              <a:t>PRESENTATIETIP</a:t>
            </a:r>
          </a:p>
          <a:p>
            <a:r>
              <a:t>Dit is de dia waar het board naar kijkt. Zeg expliciet dat de pilot nu loopt en dat februari 2027 de harde startdatum is.</a:t>
            </a:r>
          </a:p>
          <a:p/>
          <a:p>
            <a:r>
              <a:t>INTERACTIE</a:t>
            </a:r>
          </a:p>
          <a:p>
            <a:r>
              <a:t>Vraag of hun centrum de twee inclusies per maand haalbaar acht.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risico's, en wat we eraan doen. Het grootste is niet wetenschappelijk maar organisatorisch: of de centra hun vierentwintig halen. De andere drie zijn ingecalculeerd. Welk risico baart ú het meest zorgen?</a:t>
            </a:r>
          </a:p>
          <a:p/>
          <a:p>
            <a:r>
              <a:t>PRESENTATIETIP</a:t>
            </a:r>
          </a:p>
          <a:p>
            <a:r>
              <a:t>Benoem het inclusierisico eerst en zelf. Als het board het moet opmerken, bent u de regie kwijt.</a:t>
            </a:r>
          </a:p>
          <a:p/>
          <a:p>
            <a:r>
              <a:t>INTERACTIE</a:t>
            </a:r>
          </a:p>
          <a:p>
            <a:r>
              <a:t>Vraag welk risico zij zelf het grootst achten.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beste poging die er ligt: drukgeoptimaliseerd maatschoeisel, multicentrisch en gerandomiseerd. Over iedereen samen: geen verschil. Bij wie hem dróég: bijna gehalveerd. Het verschil zat dus niet in de schoen.</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 zit het. Eenenzeventig procent draagtijd, gemeten met een sensor en niet gevraagd. Thuis zakt het naar eenenzestig, en juist thuis worden de meeste stappen gezet. De schoen stond in de gang terwijl de patiënt door het huis liep.</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SEBIA is vijf gesprekken, geen enkele sessie. Eerst kennis en educatie, dan teach-back bij de aflevering, dan tweemaal de sensordata samen bekijken, dan voordoen, en op achttien maanden afsluiten. Het verschil met gewone educatie: het herhaalt, en het staat op data.</a:t>
            </a:r>
          </a:p>
          <a:p/>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Het onderzoek en het netwerk</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24</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80" name="TextBox 17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Van pilot tot laatste patiënt</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 2026 – feb 2027</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Pilot</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en meetprocedures uitproberen in de zes centra. Opleiding en bekwaamheidscheck.</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Twaalf maanden rekruteren. 24 deelnemers per centrum, twee per maand.</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tot sep 2029</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Uitkomsten, gezondheidseconomie en procesevaluatie. Één publicatie, ongeacht de uitkomst.</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907874"/>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24</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6" name="TextBox 2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ER MIS KAN GAAN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risico's, en wat we eraan doen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 trage inclusie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Gefaseerde rekrutering is voorzien; de haalbaarheid per centrum wordt in de pilot getoetst.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hoog</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Contaminatie tussen de armen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Blindering in de software van alle toestellen, aparte formulieren per arm, en een SEBIA-boekje ook in de controlegroep.</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Uitval</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Vijftien procent is ingecalculeerd in de steekproefberekening.</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Beide eindpunten moeten halen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lat ligt hoog en dat is een bewuste keuze: druk zonder draagtijd zegt niets.</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laag</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Het grootste risico is niet wetenschappelijk maar organisatorisch: of de centra hun 24 halen.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   |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24</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04182A"/>
                </a:solidFill>
                <a:latin typeface="Segoe UI"/>
              </a:rPr>
              <a:t>Driekwart is te voorkomen.</a:t>
            </a:r>
          </a:p>
          <a:p>
            <a:pPr algn="l">
              <a:lnSpc>
                <a:spcPct val="106000"/>
              </a:lnSpc>
              <a:spcBef>
                <a:spcPts val="500"/>
              </a:spcBef>
            </a:pPr>
            <a:r>
              <a:rPr sz="6200" b="1">
                <a:solidFill>
                  <a:srgbClr val="04182A"/>
                </a:solidFill>
                <a:latin typeface="Segoe UI"/>
              </a:rPr>
              <a:t>Veertig procent komt terug.</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gat is waar deze studie over gaat.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24</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 in drie condities.</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zijn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staan, niet op goede raad.</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24</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24</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24</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24</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24</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24</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24</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9" name="TextBox 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24</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19 · Michie 2011, COM-B   |   26 · Lincoln 2007, NAFF   |   31 · Keukenkamp 2022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24</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9</a:t>
            </a:r>
          </a:p>
        </p:txBody>
      </p:sp>
      <p:sp>
        <p:nvSpPr>
          <p:cNvPr id="14" name="TextBox 13"/>
          <p:cNvSpPr txBox="1"/>
          <p:nvPr/>
        </p:nvSpPr>
        <p:spPr>
          <a:xfrm>
            <a:off x="965175"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2013;36(12):4109–16.</a:t>
            </a:r>
          </a:p>
        </p:txBody>
      </p:sp>
      <p:sp>
        <p:nvSpPr>
          <p:cNvPr id="15" name="TextBox 14"/>
          <p:cNvSpPr txBox="1"/>
          <p:nvPr/>
        </p:nvSpPr>
        <p:spPr>
          <a:xfrm>
            <a:off x="634984"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13</a:t>
            </a:r>
          </a:p>
        </p:txBody>
      </p:sp>
      <p:sp>
        <p:nvSpPr>
          <p:cNvPr id="16" name="TextBox 15"/>
          <p:cNvSpPr txBox="1"/>
          <p:nvPr/>
        </p:nvSpPr>
        <p:spPr>
          <a:xfrm>
            <a:off x="965175"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2013;36(6):1613–8.</a:t>
            </a:r>
          </a:p>
        </p:txBody>
      </p:sp>
      <p:sp>
        <p:nvSpPr>
          <p:cNvPr id="17" name="TextBox 16"/>
          <p:cNvSpPr txBox="1"/>
          <p:nvPr/>
        </p:nvSpPr>
        <p:spPr>
          <a:xfrm>
            <a:off x="634984"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14</a:t>
            </a:r>
          </a:p>
        </p:txBody>
      </p:sp>
      <p:sp>
        <p:nvSpPr>
          <p:cNvPr id="18" name="TextBox 17"/>
          <p:cNvSpPr txBox="1"/>
          <p:nvPr/>
        </p:nvSpPr>
        <p:spPr>
          <a:xfrm>
            <a:off x="965175"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Clin Biomech. 2018;53:86–92.</a:t>
            </a:r>
          </a:p>
        </p:txBody>
      </p:sp>
      <p:sp>
        <p:nvSpPr>
          <p:cNvPr id="19" name="TextBox 18"/>
          <p:cNvSpPr txBox="1"/>
          <p:nvPr/>
        </p:nvSpPr>
        <p:spPr>
          <a:xfrm>
            <a:off x="634984" y="4194369"/>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16</a:t>
            </a:r>
          </a:p>
        </p:txBody>
      </p:sp>
      <p:sp>
        <p:nvSpPr>
          <p:cNvPr id="20" name="TextBox 19"/>
          <p:cNvSpPr txBox="1"/>
          <p:nvPr/>
        </p:nvSpPr>
        <p:spPr>
          <a:xfrm>
            <a:off x="965175" y="4194369"/>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Hulshof CM et al. Diabet Med. 2025;42:e70099.</a:t>
            </a:r>
          </a:p>
        </p:txBody>
      </p:sp>
      <p:sp>
        <p:nvSpPr>
          <p:cNvPr id="21" name="TextBox 20"/>
          <p:cNvSpPr txBox="1"/>
          <p:nvPr/>
        </p:nvSpPr>
        <p:spPr>
          <a:xfrm>
            <a:off x="6171918"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17</a:t>
            </a:r>
          </a:p>
        </p:txBody>
      </p:sp>
      <p:sp>
        <p:nvSpPr>
          <p:cNvPr id="22" name="TextBox 21"/>
          <p:cNvSpPr txBox="1"/>
          <p:nvPr/>
        </p:nvSpPr>
        <p:spPr>
          <a:xfrm>
            <a:off x="6502110"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2014;37(6):1697–705.</a:t>
            </a:r>
          </a:p>
        </p:txBody>
      </p:sp>
      <p:sp>
        <p:nvSpPr>
          <p:cNvPr id="23" name="TextBox 22"/>
          <p:cNvSpPr txBox="1"/>
          <p:nvPr/>
        </p:nvSpPr>
        <p:spPr>
          <a:xfrm>
            <a:off x="6171918"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18</a:t>
            </a:r>
          </a:p>
        </p:txBody>
      </p:sp>
      <p:sp>
        <p:nvSpPr>
          <p:cNvPr id="24" name="TextBox 23"/>
          <p:cNvSpPr txBox="1"/>
          <p:nvPr/>
        </p:nvSpPr>
        <p:spPr>
          <a:xfrm>
            <a:off x="6502110"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Lutjeboer T et al. J Rehabil Med. 2018;50(10):920–6.</a:t>
            </a:r>
          </a:p>
        </p:txBody>
      </p:sp>
      <p:sp>
        <p:nvSpPr>
          <p:cNvPr id="25" name="TextBox 24"/>
          <p:cNvSpPr txBox="1"/>
          <p:nvPr/>
        </p:nvSpPr>
        <p:spPr>
          <a:xfrm>
            <a:off x="6171918"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19</a:t>
            </a:r>
          </a:p>
        </p:txBody>
      </p:sp>
      <p:sp>
        <p:nvSpPr>
          <p:cNvPr id="26" name="TextBox 25"/>
          <p:cNvSpPr txBox="1"/>
          <p:nvPr/>
        </p:nvSpPr>
        <p:spPr>
          <a:xfrm>
            <a:off x="6502110"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Michie S et al. Implement Sci. 2011;6:42.</a:t>
            </a:r>
          </a:p>
        </p:txBody>
      </p:sp>
      <p:sp>
        <p:nvSpPr>
          <p:cNvPr id="27" name="TextBox 26"/>
          <p:cNvSpPr txBox="1"/>
          <p:nvPr/>
        </p:nvSpPr>
        <p:spPr>
          <a:xfrm>
            <a:off x="6171918"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20</a:t>
            </a:r>
          </a:p>
        </p:txBody>
      </p:sp>
      <p:sp>
        <p:nvSpPr>
          <p:cNvPr id="28" name="TextBox 27"/>
          <p:cNvSpPr txBox="1"/>
          <p:nvPr/>
        </p:nvSpPr>
        <p:spPr>
          <a:xfrm>
            <a:off x="6502110"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Morbach S et al. Diabetes Metab Res Rev. 2016;32(Suppl 1):318–25.</a:t>
            </a:r>
          </a:p>
        </p:txBody>
      </p:sp>
      <p:sp>
        <p:nvSpPr>
          <p:cNvPr id="29" name="TextBox 28"/>
          <p:cNvSpPr txBox="1"/>
          <p:nvPr/>
        </p:nvSpPr>
        <p:spPr>
          <a:xfrm>
            <a:off x="6171918"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26</a:t>
            </a:r>
          </a:p>
        </p:txBody>
      </p:sp>
      <p:sp>
        <p:nvSpPr>
          <p:cNvPr id="30" name="TextBox 29"/>
          <p:cNvSpPr txBox="1"/>
          <p:nvPr/>
        </p:nvSpPr>
        <p:spPr>
          <a:xfrm>
            <a:off x="6502110"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Lincoln NB et al. Pract Diabetes Int. 2007;24(4):207–11.</a:t>
            </a:r>
          </a:p>
        </p:txBody>
      </p:sp>
      <p:sp>
        <p:nvSpPr>
          <p:cNvPr id="31" name="TextBox 30"/>
          <p:cNvSpPr txBox="1"/>
          <p:nvPr/>
        </p:nvSpPr>
        <p:spPr>
          <a:xfrm>
            <a:off x="6171918"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27</a:t>
            </a:r>
          </a:p>
        </p:txBody>
      </p:sp>
      <p:sp>
        <p:nvSpPr>
          <p:cNvPr id="32" name="TextBox 31"/>
          <p:cNvSpPr txBox="1"/>
          <p:nvPr/>
        </p:nvSpPr>
        <p:spPr>
          <a:xfrm>
            <a:off x="6502110"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Zwaferink JBJ et al. Sensors. 2024;24(6):1795.</a:t>
            </a:r>
          </a:p>
        </p:txBody>
      </p:sp>
      <p:sp>
        <p:nvSpPr>
          <p:cNvPr id="33" name="TextBox 32"/>
          <p:cNvSpPr txBox="1"/>
          <p:nvPr/>
        </p:nvSpPr>
        <p:spPr>
          <a:xfrm>
            <a:off x="6171918"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31</a:t>
            </a:r>
          </a:p>
        </p:txBody>
      </p:sp>
      <p:sp>
        <p:nvSpPr>
          <p:cNvPr id="34" name="TextBox 33"/>
          <p:cNvSpPr txBox="1"/>
          <p:nvPr/>
        </p:nvSpPr>
        <p:spPr>
          <a:xfrm>
            <a:off x="6502110" y="3860053"/>
            <a:ext cx="5054346" cy="541636"/>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Keukenkamp R et al. BMJ Open Diabetes Res Care. 2022;10(1):e002593.</a:t>
            </a:r>
          </a:p>
        </p:txBody>
      </p:sp>
      <p:sp>
        <p:nvSpPr>
          <p:cNvPr id="35" name="TextBox 34"/>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De nummering volgt die van het protocolmanuscript.</a:t>
            </a:r>
          </a:p>
        </p:txBody>
      </p:sp>
      <p:sp>
        <p:nvSpPr>
          <p:cNvPr id="36" name="TextBox 3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24</a:t>
            </a:r>
          </a:p>
        </p:txBody>
      </p:sp>
      <p:pic>
        <p:nvPicPr>
          <p:cNvPr id="3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