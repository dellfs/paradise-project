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Wilt u een ander beeld: zet het in beeld\stock\, draai verwerk_stock.py en zet de bestandsnaam hier.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stip is een patiënt. Vierentwintig daarvan komen uit úw kliniek, twaalf in elke arm. Zes keer vierentwintig is honderdvierenveertig. Blijft één centrum achter, dan haalt de studie het niet.</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fasen. We zitten in de pilot; februari 2027 is de harde startdatum. Daarna twaalf maanden includeren, en achttien maanden opvolgen per patiënt. Alleen de inclusieperiode verschuift de einddatum.</a:t>
            </a:r>
          </a:p>
          <a:p/>
          <a:p>
            <a:r>
              <a:t>PRESENTATIETIP</a:t>
            </a:r>
          </a:p>
          <a:p>
            <a:r>
              <a:t>Dit is de dia waar het board naar kijkt. Zeg expliciet dat de pilot nu loopt en dat februari 2027 de harde startdatum is.</a:t>
            </a:r>
          </a:p>
          <a:p/>
          <a:p>
            <a:r>
              <a:t>INTERACTIE</a:t>
            </a:r>
          </a:p>
          <a:p>
            <a:r>
              <a:t>Vraag of hun centrum de twee inclusies per maand haalbaar acht.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risico's, en wat we eraan doen. Het grootste is niet wetenschappelijk maar organisatorisch: of de centra hun vierentwintig halen. De andere drie zijn ingecalculeerd. Welk risico baart ú het meest zorgen?</a:t>
            </a:r>
          </a:p>
          <a:p/>
          <a:p>
            <a:r>
              <a:t>PRESENTATIETIP</a:t>
            </a:r>
          </a:p>
          <a:p>
            <a:r>
              <a:t>Benoem het inclusierisico eerst en zelf. Als het board het moet opmerken, bent u de regie kwijt.</a:t>
            </a:r>
          </a:p>
          <a:p/>
          <a:p>
            <a:r>
              <a:t>INTERACTIE</a:t>
            </a:r>
          </a:p>
          <a:p>
            <a:r>
              <a:t>Vraag welk risico zij zelf het grootst achten.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één. Ik geef u vier cijfers. Na het vierde weet u waarom deze studie twee normen heeft in plaats van één, en waarom niemand die tot nu toe samen gehaald heeft.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majeure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Waar die cijfers vandaan komen, ziet u hier. Elk punt is een cohort; de lijn erdoorheen is de trend. Na één jaar veertig procent, na vijf jaar vijfenzestig. Het risico verdwijnt niet, het stapelt op.</a:t>
            </a:r>
          </a:p>
          <a:p/>
          <a:p>
            <a:r>
              <a:t>PRESENTATIETIP</a:t>
            </a:r>
          </a:p>
          <a:p>
            <a:r>
              <a:t>De vorige dia noemt de cijfers; deze laat zien waar ze vandaan komen. Wijs de trendlijn aan, niet de losse punten.</a:t>
            </a:r>
          </a:p>
          <a:p/>
          <a:p>
            <a:r>
              <a:t>INTERACTIE</a:t>
            </a:r>
          </a:p>
          <a:p>
            <a:r>
              <a:t>Geen. Laat de spreiding het werk doen.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dan het cijfer dat het onverdraaglijk maakt. Driekwart van deze ulcera is in principe te voorkomen. Toch komt veertig procent binnen het jaar terug. Dat gat tussen wat kan en wat gebeurt — daar gaat deze studie over.</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beste poging die er ligt: drukgeoptimaliseerd maatschoeisel, multicentrisch en gerandomiseerd. Over iedereen samen: geen verschil. Bij wie hem dróég: bijna gehalveerd. Het verschil zat dus niet in de schoen.</a:t>
            </a:r>
          </a:p>
          <a:p/>
          <a:p>
            <a:r>
              <a:t>PRESENTATIETIP</a:t>
            </a:r>
          </a:p>
          <a:p>
            <a:r>
              <a:t>Hier komt de tweede norm vandaan. Zonder deze dia is 80% draagtijd een willekeurig getal.</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 zit het. Eenenzeventig procent draagtijd, gemeten met een sensor en niet gevraagd. Thuis zakt het naar eenenzestig, en juist thuis worden de meeste stappen gezet. De schoen stond in de gang terwijl de patiënt door het huis liep.</a:t>
            </a:r>
          </a:p>
          <a:p/>
          <a:p>
            <a:r>
              <a:t>PRESENTATIETIP</a:t>
            </a:r>
          </a:p>
          <a:p>
            <a:r>
              <a:t>Binnenshuis wordt het schoeisel het minst gedragen, en juist daar worden veel stappen gezet. Dat is uw belangrijkste gesprekspunt bij SEBIA.</a:t>
            </a:r>
          </a:p>
          <a:p/>
          <a:p>
            <a:r>
              <a:t>INTERACTIE</a:t>
            </a:r>
          </a:p>
          <a:p>
            <a:r>
              <a:t>Vraag wat zij schatten bij hun eigen patiënten.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Belasting is een product, geen optelsom. Piekdruk maal activiteit maal draagtijd. Eén factor op nul maakt het hele product nul. Een perfecte zool in de kast beschermt niets.</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Daarom doen wij het anders. Geen drie losse maatregelen, maar één dienst met twee normen: de zool moet de druk hálen, én hij moet gedragen wórden. Beide gemeten, beide bijgestuurd, en beide door uw eigen team. Dat is nog nooit samen getoetst.</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twee: de meting. Wat u meet, hoe u het meet, en wanneer het goed genoeg is.</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sensor geeft een cijfer. Dit is de baseline, in de schoen: driehonderdtwaalf kilopascal onder metatarsaal twee-drie. Drie loopproeven per voet, waarvan de middelste twaalf passen tellen. Hiertegen wordt alles afgezet.</a:t>
            </a:r>
          </a:p>
          <a:p/>
          <a:p>
            <a:r>
              <a:t>PRESENTATIETIP</a:t>
            </a:r>
          </a:p>
          <a:p>
            <a:r>
              <a:t>De meest gemaakte fout is één loopproef per voet. Het protocol vraagt er drie, en het gemiddelde telt.</a:t>
            </a:r>
          </a:p>
          <a:p/>
          <a:p>
            <a:r>
              <a:t>INTERACTIE</a:t>
            </a:r>
          </a:p>
          <a:p>
            <a:r>
              <a:t>Vraag wie er vandaag al in de schoen meet.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Zelfde voet, na aanpassing. Honderdzesentachtig kilopascal: veertig procent lager én onder de tweehonderd. De norm geldt per doelregio. Haalt u ze niet, dan past u aan en meet u opnieuw.</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Even stilstaan. Het doel is niet minder belasting. Het doel is belasting op een plek die het aankan. Dat is de hele interventie.</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drie: het traject. Negen contactmomenten. Per moment: wat u doet en wat u invult.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negen visites over achttien maanden. De eerste drie liggen dicht op elkaar. Daarna is het ritme elke drie maanden — hetzelfde ritme als de controle die deze patiënten toch al krijgen.</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Tien contactmomenten, één zorgpad. Het verschil met vandaag zit niet in hoe vaak u de patiënt ziet, maar in wat u bij elk bezoek wéét: wat de zool doet, en wat er gedragen is.</a:t>
            </a:r>
          </a:p>
          <a:p/>
          <a:p>
            <a:r>
              <a:t>PRESENTATIETIP</a:t>
            </a:r>
          </a:p>
          <a:p>
            <a:r>
              <a:t>Sluit blok 3 hiermee af. De zaal herkent de dia van het begin.</a:t>
            </a:r>
          </a:p>
          <a:p/>
          <a:p>
            <a:r>
              <a:t>INTERACTIE</a:t>
            </a:r>
          </a:p>
          <a:p>
            <a:r>
              <a:t>Vraag welk moment hun het meest zorgen baart.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vier: de toestellen en de regels. De instellingen, het gesprek, en de vier dingen die vastliggen.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toestellen, drie taken. De pedar meet druk, de Orthotimer meet of de zool gedragen is, de MoveMonitor meet hoeveel er gestapt wordt. Alleen de pedar bedient u bij elke meting; de andere twee plaatst u één keer en leest u uit.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Zo klein is de sensor: negen bij dertien millimeter. Hij zit in de zool, meet alleen temperatuur, en de patiënt merkt er niets van. Noem hem tegenover de patiënt gewoon "uw sensor".</a:t>
            </a:r>
          </a:p>
          <a:p/>
          <a:p>
            <a:r>
              <a:t>PRESENTATIETIP</a:t>
            </a:r>
          </a:p>
          <a:p>
            <a:r>
              <a:t>Laat deze dia even staan zonder te praten. De sensor is fysiek zo klein dat het beeld het argument al maakt.</a:t>
            </a:r>
          </a:p>
          <a:p/>
          <a:p>
            <a:r>
              <a:t>INTERACTIE</a:t>
            </a:r>
          </a:p>
          <a:p>
            <a:r>
              <a:t>Geef er een door de zaal terwijl u praat.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SEBIA is vijf gesprekken, geen enkele sessie. Eerst kennis en educatie, dan teach-back bij de aflevering, dan tweemaal de sensordata samen bekijken, dan voordoen, en op achttien maanden afsluiten. Het verschil met gewone educatie: het herhaalt, en het staat op data.</a:t>
            </a:r>
          </a:p>
          <a:p/>
          <a:p>
            <a:r>
              <a:t>PRESENTATIETIP</a:t>
            </a:r>
          </a:p>
          <a:p>
            <a:r>
              <a:t>Het script begint met toestemming vragen voor het gesprek zelf, en duurt twintig tot dertig minuten. Wie nee zegt, krijgt de brochure mee en een nieuwe afspraak.</a:t>
            </a:r>
          </a:p>
          <a:p/>
          <a:p>
            <a:r>
              <a:t>INTERACTIE</a:t>
            </a:r>
          </a:p>
          <a:p>
            <a:r>
              <a:t>Rollenspel van twee minuten met een vrijwilliger uit de zaal.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titel_voetonderzoek.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adise_merk.png"/>
          <p:cNvPicPr>
            <a:picLocks noChangeAspect="1"/>
          </p:cNvPicPr>
          <p:nvPr/>
        </p:nvPicPr>
        <p:blipFill>
          <a:blip r:embed="rId3"/>
          <a:stretch>
            <a:fillRect/>
          </a:stretch>
        </p:blipFill>
        <p:spPr>
          <a:xfrm>
            <a:off x="516169" y="482587"/>
            <a:ext cx="1177404" cy="134616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Het onderzoek en het netwerk</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Rounded Rectangle 150"/>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CENTRUM</a:t>
            </a:r>
          </a:p>
        </p:txBody>
      </p:sp>
      <p:sp>
        <p:nvSpPr>
          <p:cNvPr id="153" name="TextBox 152"/>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deelnemers — 12 PARADISE en 12 gebruikelijke zorg</a:t>
            </a:r>
          </a:p>
        </p:txBody>
      </p:sp>
      <p:sp>
        <p:nvSpPr>
          <p:cNvPr id="154" name="Rounded Rectangle 153"/>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CONTROLEGROEP</a:t>
            </a:r>
          </a:p>
        </p:txBody>
      </p:sp>
      <p:sp>
        <p:nvSpPr>
          <p:cNvPr id="156" name="TextBox 155"/>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Gebruikelijke zorg, onveranderd</a:t>
            </a:r>
          </a:p>
        </p:txBody>
      </p:sp>
      <p:sp>
        <p:nvSpPr>
          <p:cNvPr id="157" name="Rounded Rectangle 156"/>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PRIMAIR</a:t>
            </a:r>
          </a:p>
        </p:txBody>
      </p:sp>
      <p:sp>
        <p:nvSpPr>
          <p:cNvPr id="159" name="TextBox 158"/>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Recidief op 18 maanden</a:t>
            </a:r>
          </a:p>
        </p:txBody>
      </p:sp>
      <p:sp>
        <p:nvSpPr>
          <p:cNvPr id="160" name="Rounded Rectangle 159"/>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POSITIEF</a:t>
            </a:r>
          </a:p>
        </p:txBody>
      </p:sp>
      <p:sp>
        <p:nvSpPr>
          <p:cNvPr id="162" name="TextBox 161"/>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Alleen als het eindpunt behaald is</a:t>
            </a:r>
          </a:p>
        </p:txBody>
      </p:sp>
      <p:sp>
        <p:nvSpPr>
          <p:cNvPr id="163" name="Rectangle 162"/>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DE ZES DEELNEMENDE VOETKLINIEKEN</a:t>
            </a:r>
          </a:p>
        </p:txBody>
      </p:sp>
      <p:sp>
        <p:nvSpPr>
          <p:cNvPr id="165" name="Rounded Rectangle 164"/>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7" name="Rounded Rectangle 166"/>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69" name="Rounded Rectangle 168"/>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1" name="Rounded Rectangle 170"/>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3" name="Rounded Rectangle 172"/>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5" name="Rounded Rectangle 174"/>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7" name="TextBox 17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25</a:t>
            </a:r>
          </a:p>
        </p:txBody>
      </p:sp>
      <p:pic>
        <p:nvPicPr>
          <p:cNvPr id="17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79" name="TextBox 17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Van pilot tot laatste patiënt</a:t>
            </a:r>
          </a:p>
        </p:txBody>
      </p:sp>
      <p:sp>
        <p:nvSpPr>
          <p:cNvPr id="5" name="Rectangle 4"/>
          <p:cNvSpPr/>
          <p:nvPr/>
        </p:nvSpPr>
        <p:spPr>
          <a:xfrm>
            <a:off x="634984" y="2984425"/>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04952" y="2901877"/>
            <a:ext cx="190495" cy="190495"/>
          </a:xfrm>
          <a:prstGeom prst="ellipse">
            <a:avLst/>
          </a:prstGeom>
          <a:solidFill>
            <a:srgbClr val="FF7A00"/>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095447"/>
            <a:ext cx="2730431" cy="253993"/>
          </a:xfrm>
          <a:prstGeom prst="rect">
            <a:avLst/>
          </a:prstGeom>
          <a:noFill/>
        </p:spPr>
        <p:txBody>
          <a:bodyPr wrap="square" anchor="t" lIns="0" rIns="0" tIns="0" bIns="0">
            <a:spAutoFit/>
          </a:bodyPr>
          <a:lstStyle/>
          <a:p>
            <a:pPr algn="ctr">
              <a:lnSpc>
                <a:spcPct val="125000"/>
              </a:lnSpc>
            </a:pPr>
            <a:r>
              <a:rPr sz="1500" b="1">
                <a:solidFill>
                  <a:srgbClr val="FF7A00"/>
                </a:solidFill>
                <a:latin typeface="Consolas"/>
              </a:rPr>
              <a:t>sep 2026 – feb 2027</a:t>
            </a:r>
          </a:p>
        </p:txBody>
      </p:sp>
      <p:sp>
        <p:nvSpPr>
          <p:cNvPr id="8" name="TextBox 7"/>
          <p:cNvSpPr txBox="1"/>
          <p:nvPr/>
        </p:nvSpPr>
        <p:spPr>
          <a:xfrm>
            <a:off x="634984"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Pilot</a:t>
            </a:r>
          </a:p>
        </p:txBody>
      </p:sp>
      <p:sp>
        <p:nvSpPr>
          <p:cNvPr id="9" name="TextBox 8"/>
          <p:cNvSpPr txBox="1"/>
          <p:nvPr/>
        </p:nvSpPr>
        <p:spPr>
          <a:xfrm>
            <a:off x="761980"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Protocol en meetprocedures uitproberen in de zes centra. Opleiding en bekwaamheidscheck.</a:t>
            </a:r>
          </a:p>
        </p:txBody>
      </p:sp>
      <p:sp>
        <p:nvSpPr>
          <p:cNvPr id="10" name="Oval 9"/>
          <p:cNvSpPr/>
          <p:nvPr/>
        </p:nvSpPr>
        <p:spPr>
          <a:xfrm>
            <a:off x="4660783"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5415"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feb 2027 – feb 2028</a:t>
            </a:r>
          </a:p>
        </p:txBody>
      </p:sp>
      <p:sp>
        <p:nvSpPr>
          <p:cNvPr id="12" name="TextBox 11"/>
          <p:cNvSpPr txBox="1"/>
          <p:nvPr/>
        </p:nvSpPr>
        <p:spPr>
          <a:xfrm>
            <a:off x="3365415"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Inclusie</a:t>
            </a:r>
          </a:p>
        </p:txBody>
      </p:sp>
      <p:sp>
        <p:nvSpPr>
          <p:cNvPr id="13" name="TextBox 12"/>
          <p:cNvSpPr txBox="1"/>
          <p:nvPr/>
        </p:nvSpPr>
        <p:spPr>
          <a:xfrm>
            <a:off x="3492412"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Twaalf maanden rekruteren. 24 deelnemers per centrum, twee per maand.</a:t>
            </a:r>
          </a:p>
        </p:txBody>
      </p:sp>
      <p:sp>
        <p:nvSpPr>
          <p:cNvPr id="14" name="Oval 13"/>
          <p:cNvSpPr/>
          <p:nvPr/>
        </p:nvSpPr>
        <p:spPr>
          <a:xfrm>
            <a:off x="7391215"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5847"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tot sep 2029</a:t>
            </a:r>
          </a:p>
        </p:txBody>
      </p:sp>
      <p:sp>
        <p:nvSpPr>
          <p:cNvPr id="16" name="TextBox 15"/>
          <p:cNvSpPr txBox="1"/>
          <p:nvPr/>
        </p:nvSpPr>
        <p:spPr>
          <a:xfrm>
            <a:off x="6095847"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Opvolging</a:t>
            </a:r>
          </a:p>
        </p:txBody>
      </p:sp>
      <p:sp>
        <p:nvSpPr>
          <p:cNvPr id="17" name="TextBox 16"/>
          <p:cNvSpPr txBox="1"/>
          <p:nvPr/>
        </p:nvSpPr>
        <p:spPr>
          <a:xfrm>
            <a:off x="6222844"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Elke deelnemer achttien maanden. De laatste inclusie bepaalt de einddatum.</a:t>
            </a:r>
          </a:p>
        </p:txBody>
      </p:sp>
      <p:sp>
        <p:nvSpPr>
          <p:cNvPr id="18" name="Oval 17"/>
          <p:cNvSpPr/>
          <p:nvPr/>
        </p:nvSpPr>
        <p:spPr>
          <a:xfrm>
            <a:off x="10121646"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6279"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2029 – 2030</a:t>
            </a:r>
          </a:p>
        </p:txBody>
      </p:sp>
      <p:sp>
        <p:nvSpPr>
          <p:cNvPr id="20" name="TextBox 19"/>
          <p:cNvSpPr txBox="1"/>
          <p:nvPr/>
        </p:nvSpPr>
        <p:spPr>
          <a:xfrm>
            <a:off x="8826279"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Analyse</a:t>
            </a:r>
          </a:p>
        </p:txBody>
      </p:sp>
      <p:sp>
        <p:nvSpPr>
          <p:cNvPr id="21" name="TextBox 20"/>
          <p:cNvSpPr txBox="1"/>
          <p:nvPr/>
        </p:nvSpPr>
        <p:spPr>
          <a:xfrm>
            <a:off x="8953276"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Uitkomsten, gezondheidseconomie en procesevaluatie. Één publicatie, ongeacht de uitkomst.</a:t>
            </a:r>
          </a:p>
        </p:txBody>
      </p:sp>
      <p:sp>
        <p:nvSpPr>
          <p:cNvPr id="22" name="Rounded Rectangle 21"/>
          <p:cNvSpPr/>
          <p:nvPr/>
        </p:nvSpPr>
        <p:spPr>
          <a:xfrm>
            <a:off x="634984" y="4990975"/>
            <a:ext cx="10921726" cy="1161868"/>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476" y="5156071"/>
            <a:ext cx="10286742" cy="907874"/>
          </a:xfrm>
          <a:prstGeom prst="rect">
            <a:avLst/>
          </a:prstGeom>
          <a:noFill/>
        </p:spPr>
        <p:txBody>
          <a:bodyPr wrap="square" anchor="t" lIns="0" rIns="0" tIns="0" bIns="0">
            <a:spAutoFit/>
          </a:bodyPr>
          <a:lstStyle/>
          <a:p>
            <a:pPr algn="l">
              <a:lnSpc>
                <a:spcPct val="140000"/>
              </a:lnSpc>
            </a:pPr>
            <a:r>
              <a:rPr sz="1800" b="0">
                <a:solidFill>
                  <a:srgbClr val="F2F8FC"/>
                </a:solidFill>
                <a:latin typeface="Segoe UI"/>
              </a:rPr>
              <a:t>De inclusieperiode is het enige wat de einddatum verschuift. Elke maand vertraging in de rekrutering is een maand later klaar.</a:t>
            </a:r>
          </a:p>
        </p:txBody>
      </p:sp>
      <p:sp>
        <p:nvSpPr>
          <p:cNvPr id="24" name="TextBox 2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25</a:t>
            </a:r>
          </a:p>
        </p:txBody>
      </p:sp>
      <p:pic>
        <p:nvPicPr>
          <p:cNvPr id="2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6" name="TextBox 2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ER MIS KAN GAAN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Vier risico's, en wat we eraan doen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Te trage inclusie</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Gefaseerde rekrutering is voorzien; de haalbaarheid per centrum wordt in de pilot getoetst.</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hoog</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Contaminatie tussen de armen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Blindering in de software van alle toestellen, aparte formulieren per arm, en een SEBIA-boekje ook in de controlegroep.</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middel</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Uitval</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Vijftien procent is ingecalculeerd in de steekproefberekening.</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middel</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Eén hard eindpunt</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Recidief over achttien maanden is streng, en dat is een bewuste keuze: druk zonder draagtijd zegt niets.</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laag</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Het grootste risico is niet wetenschappelijk maar organisatorisch: of de centra hun 24 halen.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25</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   |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01</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01</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Waarom</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Vier cijfers verklaren waarom er twee normen zijn.</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MAJEURE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25</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RISICO NA GENEZING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Twee derde recidiveert binnen vijf jaar</a:t>
            </a:r>
          </a:p>
        </p:txBody>
      </p:sp>
      <p:sp>
        <p:nvSpPr>
          <p:cNvPr id="5" name="TextBox 4"/>
          <p:cNvSpPr txBox="1"/>
          <p:nvPr/>
        </p:nvSpPr>
        <p:spPr>
          <a:xfrm>
            <a:off x="634984" y="2489137"/>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1 JAAR</a:t>
            </a:r>
          </a:p>
        </p:txBody>
      </p:sp>
      <p:sp>
        <p:nvSpPr>
          <p:cNvPr id="6" name="TextBox 5"/>
          <p:cNvSpPr txBox="1"/>
          <p:nvPr/>
        </p:nvSpPr>
        <p:spPr>
          <a:xfrm>
            <a:off x="634984" y="2717732"/>
            <a:ext cx="4063898" cy="939776"/>
          </a:xfrm>
          <a:prstGeom prst="rect">
            <a:avLst/>
          </a:prstGeom>
          <a:noFill/>
        </p:spPr>
        <p:txBody>
          <a:bodyPr wrap="square" anchor="t" lIns="0" rIns="0" tIns="0" bIns="0">
            <a:spAutoFit/>
          </a:bodyPr>
          <a:lstStyle/>
          <a:p>
            <a:pPr algn="l">
              <a:lnSpc>
                <a:spcPct val="100000"/>
              </a:lnSpc>
            </a:pPr>
            <a:r>
              <a:rPr sz="5400" b="1">
                <a:solidFill>
                  <a:srgbClr val="52BDEC"/>
                </a:solidFill>
                <a:latin typeface="Segoe UI"/>
              </a:rPr>
              <a:t>40%</a:t>
            </a:r>
          </a:p>
        </p:txBody>
      </p:sp>
      <p:sp>
        <p:nvSpPr>
          <p:cNvPr id="7" name="TextBox 6"/>
          <p:cNvSpPr txBox="1"/>
          <p:nvPr/>
        </p:nvSpPr>
        <p:spPr>
          <a:xfrm>
            <a:off x="634984" y="4038499"/>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5 JAAR</a:t>
            </a:r>
          </a:p>
        </p:txBody>
      </p:sp>
      <p:sp>
        <p:nvSpPr>
          <p:cNvPr id="8" name="TextBox 7"/>
          <p:cNvSpPr txBox="1"/>
          <p:nvPr/>
        </p:nvSpPr>
        <p:spPr>
          <a:xfrm>
            <a:off x="634984" y="4267093"/>
            <a:ext cx="4063898" cy="939776"/>
          </a:xfrm>
          <a:prstGeom prst="rect">
            <a:avLst/>
          </a:prstGeom>
          <a:noFill/>
        </p:spPr>
        <p:txBody>
          <a:bodyPr wrap="square" anchor="t" lIns="0" rIns="0" tIns="0" bIns="0">
            <a:spAutoFit/>
          </a:bodyPr>
          <a:lstStyle/>
          <a:p>
            <a:pPr algn="l">
              <a:lnSpc>
                <a:spcPct val="100000"/>
              </a:lnSpc>
            </a:pPr>
            <a:r>
              <a:rPr sz="5400" b="1">
                <a:solidFill>
                  <a:srgbClr val="FF7A00"/>
                </a:solidFill>
                <a:latin typeface="Segoe UI"/>
              </a:rPr>
              <a:t>65%</a:t>
            </a:r>
          </a:p>
        </p:txBody>
      </p:sp>
      <p:sp>
        <p:nvSpPr>
          <p:cNvPr id="9" name="TextBox 8"/>
          <p:cNvSpPr txBox="1"/>
          <p:nvPr/>
        </p:nvSpPr>
        <p:spPr>
          <a:xfrm>
            <a:off x="5587860" y="1777955"/>
            <a:ext cx="5968850" cy="279393"/>
          </a:xfrm>
          <a:prstGeom prst="rect">
            <a:avLst/>
          </a:prstGeom>
          <a:noFill/>
        </p:spPr>
        <p:txBody>
          <a:bodyPr wrap="square" anchor="t" lIns="0" rIns="0" tIns="0" bIns="0">
            <a:spAutoFit/>
          </a:bodyPr>
          <a:lstStyle/>
          <a:p>
            <a:pPr algn="l">
              <a:lnSpc>
                <a:spcPct val="125000"/>
              </a:lnSpc>
            </a:pPr>
            <a:r>
              <a:rPr sz="1300" b="0">
                <a:solidFill>
                  <a:srgbClr val="8FB6D0"/>
                </a:solidFill>
                <a:latin typeface="Segoe UI"/>
              </a:rPr>
              <a:t>Incidentie van recidief tegenover follow-upduur</a:t>
            </a:r>
          </a:p>
        </p:txBody>
      </p:sp>
      <p:sp>
        <p:nvSpPr>
          <p:cNvPr id="10" name="Rounded Rectangle 9"/>
          <p:cNvSpPr/>
          <p:nvPr/>
        </p:nvSpPr>
        <p:spPr>
          <a:xfrm>
            <a:off x="5587860" y="2133546"/>
            <a:ext cx="5968850" cy="406389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idief_curve.png"/>
          <p:cNvPicPr>
            <a:picLocks noChangeAspect="1"/>
          </p:cNvPicPr>
          <p:nvPr/>
        </p:nvPicPr>
        <p:blipFill>
          <a:blip r:embed="rId2"/>
          <a:stretch>
            <a:fillRect/>
          </a:stretch>
        </p:blipFill>
        <p:spPr>
          <a:xfrm>
            <a:off x="5748364" y="2285942"/>
            <a:ext cx="5647842" cy="3860703"/>
          </a:xfrm>
          <a:prstGeom prst="rect">
            <a:avLst/>
          </a:prstGeom>
        </p:spPr>
      </p:pic>
      <p:sp>
        <p:nvSpPr>
          <p:cNvPr id="12" name="TextBox 11"/>
          <p:cNvSpPr txBox="1"/>
          <p:nvPr/>
        </p:nvSpPr>
        <p:spPr>
          <a:xfrm>
            <a:off x="634984" y="6273643"/>
            <a:ext cx="9524761" cy="203194"/>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Gepoolde data uit negen prospectieve studies, één retrospectieve studie en de controlegroepen van negen RCT’s</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25</a:t>
            </a: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voorkomen.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FFFFFF"/>
                </a:solidFill>
                <a:latin typeface="Segoe UI"/>
              </a:rPr>
              <a:t>Driekwart is te voorkomen.</a:t>
            </a:r>
          </a:p>
          <a:p>
            <a:pPr algn="l">
              <a:lnSpc>
                <a:spcPct val="106000"/>
              </a:lnSpc>
              <a:spcBef>
                <a:spcPts val="500"/>
              </a:spcBef>
            </a:pPr>
            <a:r>
              <a:rPr sz="6200" b="1">
                <a:solidFill>
                  <a:srgbClr val="FFFFFF"/>
                </a:solidFill>
                <a:latin typeface="Segoe UI"/>
              </a:rPr>
              <a:t>Veertig procent komt terug.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DEZELFDE SCHOEN, TWEE UITKOMSTEN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Waarom druk alléén niet volstaat</a:t>
            </a:r>
          </a:p>
        </p:txBody>
      </p:sp>
      <p:sp>
        <p:nvSpPr>
          <p:cNvPr id="5" name="Rectangle 4"/>
          <p:cNvSpPr/>
          <p:nvPr/>
        </p:nvSpPr>
        <p:spPr>
          <a:xfrm>
            <a:off x="634984" y="1828754"/>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993850"/>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Iedereen</a:t>
            </a:r>
          </a:p>
        </p:txBody>
      </p:sp>
      <p:sp>
        <p:nvSpPr>
          <p:cNvPr id="7" name="TextBox 6"/>
          <p:cNvSpPr txBox="1"/>
          <p:nvPr/>
        </p:nvSpPr>
        <p:spPr>
          <a:xfrm>
            <a:off x="647683" y="2349441"/>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intention-to-treat</a:t>
            </a:r>
          </a:p>
        </p:txBody>
      </p:sp>
      <p:sp>
        <p:nvSpPr>
          <p:cNvPr id="8" name="TextBox 7"/>
          <p:cNvSpPr txBox="1"/>
          <p:nvPr/>
        </p:nvSpPr>
        <p:spPr>
          <a:xfrm>
            <a:off x="634984" y="276853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9" name="Rounded Rectangle 8"/>
          <p:cNvSpPr/>
          <p:nvPr/>
        </p:nvSpPr>
        <p:spPr>
          <a:xfrm>
            <a:off x="2793930" y="2717732"/>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3930" y="2717732"/>
            <a:ext cx="6062320"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05752" y="2692332"/>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44,2%</a:t>
            </a:r>
          </a:p>
        </p:txBody>
      </p:sp>
      <p:sp>
        <p:nvSpPr>
          <p:cNvPr id="12" name="TextBox 11"/>
          <p:cNvSpPr txBox="1"/>
          <p:nvPr/>
        </p:nvSpPr>
        <p:spPr>
          <a:xfrm>
            <a:off x="634984" y="318762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13" name="Rounded Rectangle 12"/>
          <p:cNvSpPr/>
          <p:nvPr/>
        </p:nvSpPr>
        <p:spPr>
          <a:xfrm>
            <a:off x="2793930" y="3136821"/>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93930" y="3136821"/>
            <a:ext cx="5321674" cy="292092"/>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5752" y="3111422"/>
            <a:ext cx="1396965" cy="342891"/>
          </a:xfrm>
          <a:prstGeom prst="rect">
            <a:avLst/>
          </a:prstGeom>
          <a:noFill/>
        </p:spPr>
        <p:txBody>
          <a:bodyPr wrap="square" anchor="t" lIns="0" rIns="0" tIns="0" bIns="0">
            <a:spAutoFit/>
          </a:bodyPr>
          <a:lstStyle/>
          <a:p>
            <a:pPr algn="l">
              <a:lnSpc>
                <a:spcPct val="125000"/>
              </a:lnSpc>
            </a:pPr>
            <a:r>
              <a:rPr sz="2700" b="1">
                <a:solidFill>
                  <a:srgbClr val="FF7A00"/>
                </a:solidFill>
                <a:latin typeface="Segoe UI"/>
              </a:rPr>
              <a:t>38,8%</a:t>
            </a:r>
          </a:p>
        </p:txBody>
      </p:sp>
      <p:sp>
        <p:nvSpPr>
          <p:cNvPr id="16" name="TextBox 15"/>
          <p:cNvSpPr txBox="1"/>
          <p:nvPr/>
        </p:nvSpPr>
        <p:spPr>
          <a:xfrm>
            <a:off x="634984" y="3568610"/>
            <a:ext cx="5714857" cy="279393"/>
          </a:xfrm>
          <a:prstGeom prst="rect">
            <a:avLst/>
          </a:prstGeom>
          <a:noFill/>
        </p:spPr>
        <p:txBody>
          <a:bodyPr wrap="square" anchor="t" lIns="0" rIns="0" tIns="0" bIns="0">
            <a:spAutoFit/>
          </a:bodyPr>
          <a:lstStyle/>
          <a:p>
            <a:pPr algn="l">
              <a:lnSpc>
                <a:spcPct val="125000"/>
              </a:lnSpc>
            </a:pPr>
            <a:r>
              <a:rPr sz="1800" b="1">
                <a:solidFill>
                  <a:srgbClr val="FF7A00"/>
                </a:solidFill>
                <a:latin typeface="Segoe UI"/>
              </a:rPr>
              <a:t>Geen verschil — p = 0,48</a:t>
            </a:r>
          </a:p>
        </p:txBody>
      </p:sp>
      <p:sp>
        <p:nvSpPr>
          <p:cNvPr id="17" name="Rectangle 16"/>
          <p:cNvSpPr/>
          <p:nvPr/>
        </p:nvSpPr>
        <p:spPr>
          <a:xfrm>
            <a:off x="634984" y="408929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254393"/>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Wie hem droeg</a:t>
            </a:r>
          </a:p>
        </p:txBody>
      </p:sp>
      <p:sp>
        <p:nvSpPr>
          <p:cNvPr id="19" name="TextBox 18"/>
          <p:cNvSpPr txBox="1"/>
          <p:nvPr/>
        </p:nvSpPr>
        <p:spPr>
          <a:xfrm>
            <a:off x="647683" y="4609984"/>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 80% van de stappen</a:t>
            </a:r>
          </a:p>
        </p:txBody>
      </p:sp>
      <p:sp>
        <p:nvSpPr>
          <p:cNvPr id="20" name="TextBox 19"/>
          <p:cNvSpPr txBox="1"/>
          <p:nvPr/>
        </p:nvSpPr>
        <p:spPr>
          <a:xfrm>
            <a:off x="634984" y="5029074"/>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21" name="Rounded Rectangle 20"/>
          <p:cNvSpPr/>
          <p:nvPr/>
        </p:nvSpPr>
        <p:spPr>
          <a:xfrm>
            <a:off x="2793930" y="497827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93930" y="4978275"/>
            <a:ext cx="6556084"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05752" y="4952876"/>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47,8%</a:t>
            </a:r>
          </a:p>
        </p:txBody>
      </p:sp>
      <p:sp>
        <p:nvSpPr>
          <p:cNvPr id="24" name="TextBox 23"/>
          <p:cNvSpPr txBox="1"/>
          <p:nvPr/>
        </p:nvSpPr>
        <p:spPr>
          <a:xfrm>
            <a:off x="634984" y="5448163"/>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25" name="Rounded Rectangle 24"/>
          <p:cNvSpPr/>
          <p:nvPr/>
        </p:nvSpPr>
        <p:spPr>
          <a:xfrm>
            <a:off x="2793930" y="539736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93930" y="5397365"/>
            <a:ext cx="3524923" cy="292092"/>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05752" y="5371965"/>
            <a:ext cx="1396965" cy="342891"/>
          </a:xfrm>
          <a:prstGeom prst="rect">
            <a:avLst/>
          </a:prstGeom>
          <a:noFill/>
        </p:spPr>
        <p:txBody>
          <a:bodyPr wrap="square" anchor="t" lIns="0" rIns="0" tIns="0" bIns="0">
            <a:spAutoFit/>
          </a:bodyPr>
          <a:lstStyle/>
          <a:p>
            <a:pPr algn="l">
              <a:lnSpc>
                <a:spcPct val="125000"/>
              </a:lnSpc>
            </a:pPr>
            <a:r>
              <a:rPr sz="2700" b="1">
                <a:solidFill>
                  <a:srgbClr val="52BDEC"/>
                </a:solidFill>
                <a:latin typeface="Segoe UI"/>
              </a:rPr>
              <a:t>25,7%</a:t>
            </a:r>
          </a:p>
        </p:txBody>
      </p:sp>
      <p:sp>
        <p:nvSpPr>
          <p:cNvPr id="28" name="TextBox 27"/>
          <p:cNvSpPr txBox="1"/>
          <p:nvPr/>
        </p:nvSpPr>
        <p:spPr>
          <a:xfrm>
            <a:off x="634984" y="5829154"/>
            <a:ext cx="5714857" cy="279393"/>
          </a:xfrm>
          <a:prstGeom prst="rect">
            <a:avLst/>
          </a:prstGeom>
          <a:noFill/>
        </p:spPr>
        <p:txBody>
          <a:bodyPr wrap="square" anchor="t" lIns="0" rIns="0" tIns="0" bIns="0">
            <a:spAutoFit/>
          </a:bodyPr>
          <a:lstStyle/>
          <a:p>
            <a:pPr algn="l">
              <a:lnSpc>
                <a:spcPct val="125000"/>
              </a:lnSpc>
            </a:pPr>
            <a:r>
              <a:rPr sz="1800" b="1">
                <a:solidFill>
                  <a:srgbClr val="52BDEC"/>
                </a:solidFill>
                <a:latin typeface="Segoe UI"/>
              </a:rPr>
              <a:t>Bijna gehalveerd — p = 0,045</a:t>
            </a:r>
          </a:p>
        </p:txBody>
      </p:sp>
      <p:sp>
        <p:nvSpPr>
          <p:cNvPr id="29" name="TextBox 2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Bus et al. · Diabetes Care 2013 · DIAFOS, 171 deelnemers</a:t>
            </a:r>
          </a:p>
        </p:txBody>
      </p:sp>
      <p:sp>
        <p:nvSpPr>
          <p:cNvPr id="30" name="TextBox 2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25</a:t>
            </a:r>
          </a:p>
        </p:txBody>
      </p:sp>
      <p:pic>
        <p:nvPicPr>
          <p:cNvPr id="3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2" name="TextBox 3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52BDEC">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52BDEC"/>
                </a:solidFill>
                <a:latin typeface="Segoe UI"/>
              </a:rPr>
              <a:t>71</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52BDEC"/>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draagtijd — gemeten,</a:t>
            </a:r>
          </a:p>
          <a:p>
            <a:pPr algn="l">
              <a:lnSpc>
                <a:spcPct val="120000"/>
              </a:lnSpc>
              <a:spcBef>
                <a:spcPts val="500"/>
              </a:spcBef>
            </a:pPr>
            <a:r>
              <a:rPr sz="3200" b="1">
                <a:solidFill>
                  <a:srgbClr val="F2F8FC"/>
                </a:solidFill>
                <a:latin typeface="Segoe UI"/>
              </a:rPr>
              <a:t>niet gevraagd</a:t>
            </a:r>
          </a:p>
        </p:txBody>
      </p:sp>
      <p:sp>
        <p:nvSpPr>
          <p:cNvPr id="7" name="TextBox 6"/>
          <p:cNvSpPr txBox="1"/>
          <p:nvPr/>
        </p:nvSpPr>
        <p:spPr>
          <a:xfrm>
            <a:off x="6349841" y="1904952"/>
            <a:ext cx="5079873" cy="228594"/>
          </a:xfrm>
          <a:prstGeom prst="rect">
            <a:avLst/>
          </a:prstGeom>
          <a:noFill/>
        </p:spPr>
        <p:txBody>
          <a:bodyPr wrap="square" anchor="t" lIns="0" rIns="0" tIns="0" bIns="0">
            <a:spAutoFit/>
          </a:bodyPr>
          <a:lstStyle/>
          <a:p>
            <a:pPr algn="l">
              <a:lnSpc>
                <a:spcPct val="125000"/>
              </a:lnSpc>
            </a:pPr>
            <a:r>
              <a:rPr sz="1300" b="0" spc="140">
                <a:solidFill>
                  <a:srgbClr val="8FB6D0"/>
                </a:solidFill>
                <a:latin typeface="Consolas"/>
              </a:rPr>
              <a:t>DRAAGTIJD TEGENOVER DE NORM VAN 80%</a:t>
            </a:r>
          </a:p>
        </p:txBody>
      </p:sp>
      <p:sp>
        <p:nvSpPr>
          <p:cNvPr id="8" name="TextBox 7"/>
          <p:cNvSpPr txBox="1"/>
          <p:nvPr/>
        </p:nvSpPr>
        <p:spPr>
          <a:xfrm>
            <a:off x="6349841" y="2222444"/>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Gemiddeld</a:t>
            </a:r>
          </a:p>
        </p:txBody>
      </p:sp>
      <p:sp>
        <p:nvSpPr>
          <p:cNvPr id="9" name="Rounded Rectangle 8"/>
          <p:cNvSpPr/>
          <p:nvPr/>
        </p:nvSpPr>
        <p:spPr>
          <a:xfrm>
            <a:off x="6349841" y="2489137"/>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49841" y="2489137"/>
            <a:ext cx="3155871"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21726" y="2463738"/>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71%</a:t>
            </a:r>
          </a:p>
        </p:txBody>
      </p:sp>
      <p:sp>
        <p:nvSpPr>
          <p:cNvPr id="12" name="TextBox 11"/>
          <p:cNvSpPr txBox="1"/>
          <p:nvPr/>
        </p:nvSpPr>
        <p:spPr>
          <a:xfrm>
            <a:off x="6349841" y="2971725"/>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Thuis</a:t>
            </a:r>
          </a:p>
        </p:txBody>
      </p:sp>
      <p:sp>
        <p:nvSpPr>
          <p:cNvPr id="13" name="Rounded Rectangle 12"/>
          <p:cNvSpPr/>
          <p:nvPr/>
        </p:nvSpPr>
        <p:spPr>
          <a:xfrm>
            <a:off x="6349841" y="3238419"/>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49841" y="3238419"/>
            <a:ext cx="2711382"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21726" y="3213019"/>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61%</a:t>
            </a:r>
          </a:p>
        </p:txBody>
      </p:sp>
      <p:sp>
        <p:nvSpPr>
          <p:cNvPr id="16" name="TextBox 15"/>
          <p:cNvSpPr txBox="1"/>
          <p:nvPr/>
        </p:nvSpPr>
        <p:spPr>
          <a:xfrm>
            <a:off x="6349841" y="3721006"/>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Buitenshuis</a:t>
            </a:r>
          </a:p>
        </p:txBody>
      </p:sp>
      <p:sp>
        <p:nvSpPr>
          <p:cNvPr id="17" name="Rounded Rectangle 16"/>
          <p:cNvSpPr/>
          <p:nvPr/>
        </p:nvSpPr>
        <p:spPr>
          <a:xfrm>
            <a:off x="6349841" y="3987700"/>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9841" y="3987700"/>
            <a:ext cx="3867053"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1726" y="3962300"/>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87%</a:t>
            </a:r>
          </a:p>
        </p:txBody>
      </p:sp>
      <p:sp>
        <p:nvSpPr>
          <p:cNvPr id="20" name="Rectangle 19"/>
          <p:cNvSpPr/>
          <p:nvPr/>
        </p:nvSpPr>
        <p:spPr>
          <a:xfrm>
            <a:off x="9905752" y="2184345"/>
            <a:ext cx="19049" cy="2209744"/>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0768" y="4470288"/>
            <a:ext cx="1269968" cy="228594"/>
          </a:xfrm>
          <a:prstGeom prst="rect">
            <a:avLst/>
          </a:prstGeom>
          <a:noFill/>
        </p:spPr>
        <p:txBody>
          <a:bodyPr wrap="square" anchor="t" lIns="0" rIns="0" tIns="0" bIns="0">
            <a:spAutoFit/>
          </a:bodyPr>
          <a:lstStyle/>
          <a:p>
            <a:pPr algn="ctr">
              <a:lnSpc>
                <a:spcPct val="125000"/>
              </a:lnSpc>
            </a:pPr>
            <a:r>
              <a:rPr sz="1300" b="1">
                <a:solidFill>
                  <a:srgbClr val="FF7A00"/>
                </a:solidFill>
                <a:latin typeface="Consolas"/>
              </a:rPr>
              <a:t>norm 80%</a:t>
            </a:r>
          </a:p>
        </p:txBody>
      </p:sp>
      <p:sp>
        <p:nvSpPr>
          <p:cNvPr id="22" name="TextBox 21"/>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Waaijman et al. · Diabetes Care 2013 · 107 patiënten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25</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MECHANISME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Belasting is een product, geen optelsom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Piekdruk</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stap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Activiteit</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stappen per dag</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GEMETEN</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Draagtijd</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wérd hij gedragen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Eén factor op nul maakt het product nul. Daarom heeft PARADISE twee normen: een druknorm én een draagtijdnorm.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25</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Eén dienst, geen drie losse maatregelen</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Gemeten bij de aflevering.</a:t>
            </a:r>
          </a:p>
          <a:p>
            <a:pPr algn="l">
              <a:lnSpc>
                <a:spcPct val="132000"/>
              </a:lnSpc>
              <a:spcBef>
                <a:spcPts val="1200"/>
              </a:spcBef>
            </a:pPr>
            <a:r>
              <a:rPr sz="1450" b="0">
                <a:solidFill>
                  <a:srgbClr val="8FB6D0"/>
                </a:solidFill>
                <a:latin typeface="Segoe UI"/>
              </a:rPr>
              <a:t>Aangepast tot de norm gehaald is in elk van de drie doelregio's.</a:t>
            </a:r>
          </a:p>
          <a:p>
            <a:pPr algn="l">
              <a:lnSpc>
                <a:spcPct val="132000"/>
              </a:lnSpc>
              <a:spcBef>
                <a:spcPts val="1200"/>
              </a:spcBef>
            </a:pPr>
            <a:r>
              <a:rPr sz="1450" b="0">
                <a:solidFill>
                  <a:srgbClr val="8FB6D0"/>
                </a:solidFill>
                <a:latin typeface="Segoe UI"/>
              </a:rPr>
              <a:t>Herhaald op maand 6, 12 en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van de eigen waaktijd</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sz="1450" b="0">
                <a:solidFill>
                  <a:srgbClr val="8FB6D0"/>
                </a:solidFill>
                <a:latin typeface="Segoe UI"/>
              </a:rPr>
              <a:t>Vijf gesprekken die op die data steunen.</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25</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02</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02</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De meting</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Wat u meet, hoe u het meet, en wanneer het goed genoeg is.</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IN DE SCHOEN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pedar®-sensorinsole in de schoen geplaatst, drie loopproeven uitgevoerd.</a:t>
            </a:r>
          </a:p>
          <a:p>
            <a:pPr algn="l">
              <a:lnSpc>
                <a:spcPct val="135000"/>
              </a:lnSpc>
              <a:spcBef>
                <a:spcPts val="1200"/>
              </a:spcBef>
            </a:pPr>
            <a:r>
              <a:rPr sz="1700" b="0">
                <a:solidFill>
                  <a:srgbClr val="8FB6D0"/>
                </a:solidFill>
                <a:latin typeface="Segoe UI"/>
              </a:rPr>
              <a:t>De middelste twaalf passen per voet geanalyseerd; daaruit berekent de software de gemiddelde piekdruk per voet.</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25</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lager  ·  onder 200 kPa  ·  beide criteria</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De norm geldt per doelregio: piekdruk onder 200 kPa óf minstens 25% lager dan de baselinemeting van diezelfde regio.</a:t>
            </a:r>
          </a:p>
          <a:p>
            <a:pPr algn="l">
              <a:lnSpc>
                <a:spcPct val="135000"/>
              </a:lnSpc>
              <a:spcBef>
                <a:spcPts val="1200"/>
              </a:spcBef>
            </a:pPr>
            <a:r>
              <a:rPr sz="1700" b="0">
                <a:solidFill>
                  <a:srgbClr val="8FB6D0"/>
                </a:solidFill>
                <a:latin typeface="Segoe UI"/>
              </a:rPr>
              <a:t>Haalt u de norm niet, dan past u aan en meet u opnieuw. Het formulier voorziet twee extra ontlastingstests.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25</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belasting.jpg"/>
          <p:cNvPicPr>
            <a:picLocks noChangeAspect="1"/>
          </p:cNvPicPr>
          <p:nvPr/>
        </p:nvPicPr>
        <p:blipFill>
          <a:blip r:embed="rId2"/>
          <a:stretch>
            <a:fillRect/>
          </a:stretch>
        </p:blipFill>
        <p:spPr>
          <a:xfrm>
            <a:off x="-22661" y="0"/>
            <a:ext cx="12237017"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FFFFFF"/>
                </a:solidFill>
                <a:latin typeface="Segoe UI"/>
              </a:rPr>
              <a:t>Niet minder belasting.</a:t>
            </a:r>
          </a:p>
          <a:p>
            <a:pPr algn="l">
              <a:lnSpc>
                <a:spcPct val="106000"/>
              </a:lnSpc>
              <a:spcBef>
                <a:spcPts val="500"/>
              </a:spcBef>
            </a:pPr>
            <a:r>
              <a:rPr sz="7200" b="1">
                <a:solidFill>
                  <a:srgbClr val="FFFFFF"/>
                </a:solidFill>
                <a:latin typeface="Segoe UI"/>
              </a:rPr>
              <a:t>Belasting op een plek die het aankan.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03</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03</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Het traject</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Negen contactmomenten. Per moment: wat u doet en wat u invult.</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17 / 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18 / 25</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Terug naar het geheel</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10</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contactmomenten, één zorgpad</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Het verschil met vandaag zit niet in hoe vaak u de patiënt ziet, maar in wat u bij elk bezoek wéét: wat de zool doet en wat er gedragen is.</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19 / 25</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04</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04</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Toestellen en regels</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De instellingen, het gesprek, en de vier regels die vastliggen.</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20 / 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350" b="0">
                <a:solidFill>
                  <a:srgbClr val="8FB6D0"/>
                </a:solidFill>
                <a:latin typeface="Segoe UI"/>
              </a:rPr>
              <a:t>In de schoen, met de zool</a:t>
            </a:r>
          </a:p>
          <a:p>
            <a:pPr algn="l">
              <a:lnSpc>
                <a:spcPct val="130000"/>
              </a:lnSpc>
              <a:spcBef>
                <a:spcPts val="1000"/>
              </a:spcBef>
            </a:pPr>
            <a:r>
              <a:rPr sz="1350" b="0">
                <a:solidFill>
                  <a:srgbClr val="8FB6D0"/>
                </a:solidFill>
                <a:latin typeface="Segoe UI"/>
              </a:rPr>
              <a:t>Nulstellen: één keer per sessie</a:t>
            </a:r>
          </a:p>
          <a:p>
            <a:pPr algn="l">
              <a:lnSpc>
                <a:spcPct val="130000"/>
              </a:lnSpc>
              <a:spcBef>
                <a:spcPts val="1000"/>
              </a:spcBef>
            </a:pPr>
            <a:r>
              <a:rPr sz="1350" b="0">
                <a:solidFill>
                  <a:srgbClr val="8FB6D0"/>
                </a:solidFill>
                <a:latin typeface="Segoe UI"/>
              </a:rPr>
              <a:t>De F-Scan GO is een aparte meting van het studieteam</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Geheugen 100 dagen</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sz="1400" b="0">
                <a:solidFill>
                  <a:srgbClr val="8FB6D0"/>
                </a:solidFill>
                <a:latin typeface="Segoe UI"/>
              </a:rPr>
              <a:t>Baseline en 6 maanden</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21 / 25</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sensor_vol.png"/>
          <p:cNvPicPr>
            <a:picLocks noChangeAspect="1"/>
          </p:cNvPicPr>
          <p:nvPr/>
        </p:nvPicPr>
        <p:blipFill>
          <a:blip r:embed="rId2"/>
          <a:stretch>
            <a:fillRect/>
          </a:stretch>
        </p:blipFill>
        <p:spPr>
          <a:xfrm>
            <a:off x="-3671362" y="0"/>
            <a:ext cx="19534420"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000"/>
                </a:srgbClr>
              </a:gs>
              <a:gs pos="100000">
                <a:srgbClr val="04182A">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984" y="4482987"/>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SENSOR IN HET ECHT</a:t>
            </a:r>
          </a:p>
        </p:txBody>
      </p:sp>
      <p:sp>
        <p:nvSpPr>
          <p:cNvPr id="6" name="!!sectietitel"/>
          <p:cNvSpPr txBox="1"/>
          <p:nvPr/>
        </p:nvSpPr>
        <p:spPr>
          <a:xfrm>
            <a:off x="634984" y="4787780"/>
            <a:ext cx="9524761" cy="1523961"/>
          </a:xfrm>
          <a:prstGeom prst="rect">
            <a:avLst/>
          </a:prstGeom>
          <a:noFill/>
        </p:spPr>
        <p:txBody>
          <a:bodyPr wrap="square" anchor="t" lIns="0" rIns="0" tIns="0" bIns="0">
            <a:spAutoFit/>
          </a:bodyPr>
          <a:lstStyle/>
          <a:p>
            <a:pPr algn="l">
              <a:lnSpc>
                <a:spcPct val="115000"/>
              </a:lnSpc>
            </a:pPr>
            <a:r>
              <a:rPr sz="4400" b="1">
                <a:solidFill>
                  <a:srgbClr val="F2F8FC"/>
                </a:solidFill>
                <a:latin typeface="Segoe UI"/>
              </a:rPr>
              <a:t>Negen bij dertien millimeter.</a:t>
            </a:r>
          </a:p>
          <a:p>
            <a:pPr algn="l">
              <a:lnSpc>
                <a:spcPct val="115000"/>
              </a:lnSpc>
              <a:spcBef>
                <a:spcPts val="500"/>
              </a:spcBef>
            </a:pPr>
            <a:r>
              <a:rPr sz="4400" b="1">
                <a:solidFill>
                  <a:srgbClr val="F2F8FC"/>
                </a:solidFill>
                <a:latin typeface="Segoe UI"/>
              </a:rPr>
              <a:t>Meer merkt de patiënt niet.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22 / 25</a:t>
            </a:r>
          </a:p>
        </p:txBody>
      </p:sp>
      <p:pic>
        <p:nvPicPr>
          <p:cNvPr id="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9" name="TextBox 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SEBIA · ECRF-DOCUMENT 17</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Vijf gespreksmomenten</a:t>
            </a:r>
          </a:p>
        </p:txBody>
      </p:sp>
      <p:sp>
        <p:nvSpPr>
          <p:cNvPr id="5" name="Rectangle 4"/>
          <p:cNvSpPr/>
          <p:nvPr/>
        </p:nvSpPr>
        <p:spPr>
          <a:xfrm>
            <a:off x="634984" y="2463738"/>
            <a:ext cx="10921726" cy="1269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281"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4984"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77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01</a:t>
            </a:r>
          </a:p>
        </p:txBody>
      </p:sp>
      <p:sp>
        <p:nvSpPr>
          <p:cNvPr id="9" name="TextBox 8"/>
          <p:cNvSpPr txBox="1"/>
          <p:nvPr/>
        </p:nvSpPr>
        <p:spPr>
          <a:xfrm>
            <a:off x="81277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Baseline</a:t>
            </a:r>
          </a:p>
        </p:txBody>
      </p:sp>
      <p:sp>
        <p:nvSpPr>
          <p:cNvPr id="10" name="TextBox 9"/>
          <p:cNvSpPr txBox="1"/>
          <p:nvPr/>
        </p:nvSpPr>
        <p:spPr>
          <a:xfrm>
            <a:off x="81277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Vragenlijsten eerst, dan educatie op maat, met voordoen.</a:t>
            </a:r>
          </a:p>
        </p:txBody>
      </p:sp>
      <p:sp>
        <p:nvSpPr>
          <p:cNvPr id="11" name="Oval 10"/>
          <p:cNvSpPr/>
          <p:nvPr/>
        </p:nvSpPr>
        <p:spPr>
          <a:xfrm>
            <a:off x="2959026"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4472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22524"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02</a:t>
            </a:r>
          </a:p>
        </p:txBody>
      </p:sp>
      <p:sp>
        <p:nvSpPr>
          <p:cNvPr id="14" name="TextBox 13"/>
          <p:cNvSpPr txBox="1"/>
          <p:nvPr/>
        </p:nvSpPr>
        <p:spPr>
          <a:xfrm>
            <a:off x="3022524"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3 mnd</a:t>
            </a:r>
          </a:p>
        </p:txBody>
      </p:sp>
      <p:sp>
        <p:nvSpPr>
          <p:cNvPr id="15" name="TextBox 14"/>
          <p:cNvSpPr txBox="1"/>
          <p:nvPr/>
        </p:nvSpPr>
        <p:spPr>
          <a:xfrm>
            <a:off x="3022524"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Teach-back. Nadruk op bínnenshuis dragen.</a:t>
            </a:r>
          </a:p>
        </p:txBody>
      </p:sp>
      <p:sp>
        <p:nvSpPr>
          <p:cNvPr id="16" name="Oval 15"/>
          <p:cNvSpPr/>
          <p:nvPr/>
        </p:nvSpPr>
        <p:spPr>
          <a:xfrm>
            <a:off x="516877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5447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32269"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03</a:t>
            </a:r>
          </a:p>
        </p:txBody>
      </p:sp>
      <p:sp>
        <p:nvSpPr>
          <p:cNvPr id="19" name="TextBox 18"/>
          <p:cNvSpPr txBox="1"/>
          <p:nvPr/>
        </p:nvSpPr>
        <p:spPr>
          <a:xfrm>
            <a:off x="5232269"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6 · 12 mnd</a:t>
            </a:r>
          </a:p>
        </p:txBody>
      </p:sp>
      <p:sp>
        <p:nvSpPr>
          <p:cNvPr id="20" name="TextBox 19"/>
          <p:cNvSpPr txBox="1"/>
          <p:nvPr/>
        </p:nvSpPr>
        <p:spPr>
          <a:xfrm>
            <a:off x="5232269"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Zelfinschatting, dan samen de data bekijken.</a:t>
            </a:r>
          </a:p>
        </p:txBody>
      </p:sp>
      <p:sp>
        <p:nvSpPr>
          <p:cNvPr id="21" name="Oval 20"/>
          <p:cNvSpPr/>
          <p:nvPr/>
        </p:nvSpPr>
        <p:spPr>
          <a:xfrm>
            <a:off x="7378515"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4218"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42013"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04</a:t>
            </a:r>
          </a:p>
        </p:txBody>
      </p:sp>
      <p:sp>
        <p:nvSpPr>
          <p:cNvPr id="24" name="TextBox 23"/>
          <p:cNvSpPr txBox="1"/>
          <p:nvPr/>
        </p:nvSpPr>
        <p:spPr>
          <a:xfrm>
            <a:off x="7442013"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9 · 15 mnd</a:t>
            </a:r>
          </a:p>
        </p:txBody>
      </p:sp>
      <p:sp>
        <p:nvSpPr>
          <p:cNvPr id="25" name="TextBox 24"/>
          <p:cNvSpPr txBox="1"/>
          <p:nvPr/>
        </p:nvSpPr>
        <p:spPr>
          <a:xfrm>
            <a:off x="7442013"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Voordoen. Uitdraai vergelijken met vorige keer.</a:t>
            </a:r>
          </a:p>
        </p:txBody>
      </p:sp>
      <p:sp>
        <p:nvSpPr>
          <p:cNvPr id="26" name="Oval 25"/>
          <p:cNvSpPr/>
          <p:nvPr/>
        </p:nvSpPr>
        <p:spPr>
          <a:xfrm>
            <a:off x="9588260" y="2349441"/>
            <a:ext cx="228594" cy="228594"/>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473963" y="2793930"/>
            <a:ext cx="2057348" cy="2539936"/>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1758" y="3009824"/>
            <a:ext cx="1650958" cy="380990"/>
          </a:xfrm>
          <a:prstGeom prst="rect">
            <a:avLst/>
          </a:prstGeom>
          <a:noFill/>
        </p:spPr>
        <p:txBody>
          <a:bodyPr wrap="square" anchor="t" lIns="0" rIns="0" tIns="0" bIns="0">
            <a:spAutoFit/>
          </a:bodyPr>
          <a:lstStyle/>
          <a:p>
            <a:pPr algn="l">
              <a:lnSpc>
                <a:spcPct val="125000"/>
              </a:lnSpc>
            </a:pPr>
            <a:r>
              <a:rPr sz="2700" b="1">
                <a:solidFill>
                  <a:srgbClr val="52BDEC"/>
                </a:solidFill>
                <a:latin typeface="Consolas"/>
              </a:rPr>
              <a:t>05</a:t>
            </a:r>
          </a:p>
        </p:txBody>
      </p:sp>
      <p:sp>
        <p:nvSpPr>
          <p:cNvPr id="29" name="TextBox 28"/>
          <p:cNvSpPr txBox="1"/>
          <p:nvPr/>
        </p:nvSpPr>
        <p:spPr>
          <a:xfrm>
            <a:off x="9651758" y="3467013"/>
            <a:ext cx="1701757" cy="419089"/>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18 mnd</a:t>
            </a:r>
          </a:p>
        </p:txBody>
      </p:sp>
      <p:sp>
        <p:nvSpPr>
          <p:cNvPr id="30" name="TextBox 29"/>
          <p:cNvSpPr txBox="1"/>
          <p:nvPr/>
        </p:nvSpPr>
        <p:spPr>
          <a:xfrm>
            <a:off x="9651758" y="3987700"/>
            <a:ext cx="1701757" cy="1206469"/>
          </a:xfrm>
          <a:prstGeom prst="rect">
            <a:avLst/>
          </a:prstGeom>
          <a:noFill/>
        </p:spPr>
        <p:txBody>
          <a:bodyPr wrap="square" anchor="t" lIns="0" rIns="0" tIns="0" bIns="0">
            <a:spAutoFit/>
          </a:bodyPr>
          <a:lstStyle/>
          <a:p>
            <a:pPr algn="l">
              <a:lnSpc>
                <a:spcPct val="138000"/>
              </a:lnSpc>
            </a:pPr>
            <a:r>
              <a:rPr sz="1500" b="0">
                <a:solidFill>
                  <a:srgbClr val="8FB6D0"/>
                </a:solidFill>
                <a:latin typeface="Segoe UI"/>
              </a:rPr>
              <a:t>Afsluiten en resultaten delen.</a:t>
            </a:r>
          </a:p>
        </p:txBody>
      </p:sp>
      <p:sp>
        <p:nvSpPr>
          <p:cNvPr id="31" name="TextBox 3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23 / 25</a:t>
            </a:r>
          </a:p>
        </p:txBody>
      </p:sp>
      <p:pic>
        <p:nvPicPr>
          <p:cNvPr id="32"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3" name="TextBox 32"/>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19 · Michie 2011, COM-B   |   26 · Lincoln 2007, NAFF   |   31 · Keukenkamp 2022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24 / 25</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5</a:t>
            </a:r>
          </a:p>
        </p:txBody>
      </p:sp>
      <p:sp>
        <p:nvSpPr>
          <p:cNvPr id="8" name="TextBox 7"/>
          <p:cNvSpPr txBox="1"/>
          <p:nvPr/>
        </p:nvSpPr>
        <p:spPr>
          <a:xfrm>
            <a:off x="965175"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2016;32(Suppl 1):195–200.</a:t>
            </a:r>
          </a:p>
        </p:txBody>
      </p:sp>
      <p:sp>
        <p:nvSpPr>
          <p:cNvPr id="9" name="TextBox 8"/>
          <p:cNvSpPr txBox="1"/>
          <p:nvPr/>
        </p:nvSpPr>
        <p:spPr>
          <a:xfrm>
            <a:off x="634984"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6</a:t>
            </a:r>
          </a:p>
        </p:txBody>
      </p:sp>
      <p:sp>
        <p:nvSpPr>
          <p:cNvPr id="10" name="TextBox 9"/>
          <p:cNvSpPr txBox="1"/>
          <p:nvPr/>
        </p:nvSpPr>
        <p:spPr>
          <a:xfrm>
            <a:off x="965175"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2011;34(7):1595–600.</a:t>
            </a:r>
          </a:p>
        </p:txBody>
      </p:sp>
      <p:sp>
        <p:nvSpPr>
          <p:cNvPr id="11" name="TextBox 10"/>
          <p:cNvSpPr txBox="1"/>
          <p:nvPr/>
        </p:nvSpPr>
        <p:spPr>
          <a:xfrm>
            <a:off x="634984"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7</a:t>
            </a:r>
          </a:p>
        </p:txBody>
      </p:sp>
      <p:sp>
        <p:nvSpPr>
          <p:cNvPr id="12" name="TextBox 11"/>
          <p:cNvSpPr txBox="1"/>
          <p:nvPr/>
        </p:nvSpPr>
        <p:spPr>
          <a:xfrm>
            <a:off x="965175"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2020;36(S1):e3237.</a:t>
            </a:r>
          </a:p>
        </p:txBody>
      </p:sp>
      <p:sp>
        <p:nvSpPr>
          <p:cNvPr id="13" name="TextBox 12"/>
          <p:cNvSpPr txBox="1"/>
          <p:nvPr/>
        </p:nvSpPr>
        <p:spPr>
          <a:xfrm>
            <a:off x="634984"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9</a:t>
            </a:r>
          </a:p>
        </p:txBody>
      </p:sp>
      <p:sp>
        <p:nvSpPr>
          <p:cNvPr id="14" name="TextBox 13"/>
          <p:cNvSpPr txBox="1"/>
          <p:nvPr/>
        </p:nvSpPr>
        <p:spPr>
          <a:xfrm>
            <a:off x="965175"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2013;36(12):4109–16.</a:t>
            </a:r>
          </a:p>
        </p:txBody>
      </p:sp>
      <p:sp>
        <p:nvSpPr>
          <p:cNvPr id="15" name="TextBox 14"/>
          <p:cNvSpPr txBox="1"/>
          <p:nvPr/>
        </p:nvSpPr>
        <p:spPr>
          <a:xfrm>
            <a:off x="634984"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13</a:t>
            </a:r>
          </a:p>
        </p:txBody>
      </p:sp>
      <p:sp>
        <p:nvSpPr>
          <p:cNvPr id="16" name="TextBox 15"/>
          <p:cNvSpPr txBox="1"/>
          <p:nvPr/>
        </p:nvSpPr>
        <p:spPr>
          <a:xfrm>
            <a:off x="965175"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2013;36(6):1613–8.</a:t>
            </a:r>
          </a:p>
        </p:txBody>
      </p:sp>
      <p:sp>
        <p:nvSpPr>
          <p:cNvPr id="17" name="TextBox 16"/>
          <p:cNvSpPr txBox="1"/>
          <p:nvPr/>
        </p:nvSpPr>
        <p:spPr>
          <a:xfrm>
            <a:off x="634984"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14</a:t>
            </a:r>
          </a:p>
        </p:txBody>
      </p:sp>
      <p:sp>
        <p:nvSpPr>
          <p:cNvPr id="18" name="TextBox 17"/>
          <p:cNvSpPr txBox="1"/>
          <p:nvPr/>
        </p:nvSpPr>
        <p:spPr>
          <a:xfrm>
            <a:off x="965175" y="38600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van Netten JJ et al. Clin Biomech. 2018;53:86–92.</a:t>
            </a:r>
          </a:p>
        </p:txBody>
      </p:sp>
      <p:sp>
        <p:nvSpPr>
          <p:cNvPr id="19" name="TextBox 18"/>
          <p:cNvSpPr txBox="1"/>
          <p:nvPr/>
        </p:nvSpPr>
        <p:spPr>
          <a:xfrm>
            <a:off x="634984" y="4194369"/>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16</a:t>
            </a:r>
          </a:p>
        </p:txBody>
      </p:sp>
      <p:sp>
        <p:nvSpPr>
          <p:cNvPr id="20" name="TextBox 19"/>
          <p:cNvSpPr txBox="1"/>
          <p:nvPr/>
        </p:nvSpPr>
        <p:spPr>
          <a:xfrm>
            <a:off x="965175" y="4194369"/>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Hulshof CM et al. Diabet Med. 2025;42:e70099.</a:t>
            </a:r>
          </a:p>
        </p:txBody>
      </p:sp>
      <p:sp>
        <p:nvSpPr>
          <p:cNvPr id="21" name="TextBox 20"/>
          <p:cNvSpPr txBox="1"/>
          <p:nvPr/>
        </p:nvSpPr>
        <p:spPr>
          <a:xfrm>
            <a:off x="6171918"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17</a:t>
            </a:r>
          </a:p>
        </p:txBody>
      </p:sp>
      <p:sp>
        <p:nvSpPr>
          <p:cNvPr id="22" name="TextBox 21"/>
          <p:cNvSpPr txBox="1"/>
          <p:nvPr/>
        </p:nvSpPr>
        <p:spPr>
          <a:xfrm>
            <a:off x="6502110"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2014;37(6):1697–705.</a:t>
            </a:r>
          </a:p>
        </p:txBody>
      </p:sp>
      <p:sp>
        <p:nvSpPr>
          <p:cNvPr id="23" name="TextBox 22"/>
          <p:cNvSpPr txBox="1"/>
          <p:nvPr/>
        </p:nvSpPr>
        <p:spPr>
          <a:xfrm>
            <a:off x="6171918"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18</a:t>
            </a:r>
          </a:p>
        </p:txBody>
      </p:sp>
      <p:sp>
        <p:nvSpPr>
          <p:cNvPr id="24" name="TextBox 23"/>
          <p:cNvSpPr txBox="1"/>
          <p:nvPr/>
        </p:nvSpPr>
        <p:spPr>
          <a:xfrm>
            <a:off x="6502110"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Lutjeboer T et al. J Rehabil Med. 2018;50(10):920–6.</a:t>
            </a:r>
          </a:p>
        </p:txBody>
      </p:sp>
      <p:sp>
        <p:nvSpPr>
          <p:cNvPr id="25" name="TextBox 24"/>
          <p:cNvSpPr txBox="1"/>
          <p:nvPr/>
        </p:nvSpPr>
        <p:spPr>
          <a:xfrm>
            <a:off x="6171918"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19</a:t>
            </a:r>
          </a:p>
        </p:txBody>
      </p:sp>
      <p:sp>
        <p:nvSpPr>
          <p:cNvPr id="26" name="TextBox 25"/>
          <p:cNvSpPr txBox="1"/>
          <p:nvPr/>
        </p:nvSpPr>
        <p:spPr>
          <a:xfrm>
            <a:off x="6502110"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Michie S et al. Implement Sci. 2011;6:42.</a:t>
            </a:r>
          </a:p>
        </p:txBody>
      </p:sp>
      <p:sp>
        <p:nvSpPr>
          <p:cNvPr id="27" name="TextBox 26"/>
          <p:cNvSpPr txBox="1"/>
          <p:nvPr/>
        </p:nvSpPr>
        <p:spPr>
          <a:xfrm>
            <a:off x="6171918"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20</a:t>
            </a:r>
          </a:p>
        </p:txBody>
      </p:sp>
      <p:sp>
        <p:nvSpPr>
          <p:cNvPr id="28" name="TextBox 27"/>
          <p:cNvSpPr txBox="1"/>
          <p:nvPr/>
        </p:nvSpPr>
        <p:spPr>
          <a:xfrm>
            <a:off x="6502110"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Morbach S et al. Diabetes Metab Res Rev. 2016;32(Suppl 1):318–25.</a:t>
            </a:r>
          </a:p>
        </p:txBody>
      </p:sp>
      <p:sp>
        <p:nvSpPr>
          <p:cNvPr id="29" name="TextBox 28"/>
          <p:cNvSpPr txBox="1"/>
          <p:nvPr/>
        </p:nvSpPr>
        <p:spPr>
          <a:xfrm>
            <a:off x="6171918"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26</a:t>
            </a:r>
          </a:p>
        </p:txBody>
      </p:sp>
      <p:sp>
        <p:nvSpPr>
          <p:cNvPr id="30" name="TextBox 29"/>
          <p:cNvSpPr txBox="1"/>
          <p:nvPr/>
        </p:nvSpPr>
        <p:spPr>
          <a:xfrm>
            <a:off x="6502110"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Lincoln NB et al. Pract Diabetes Int. 2007;24(4):207–11.</a:t>
            </a:r>
          </a:p>
        </p:txBody>
      </p:sp>
      <p:sp>
        <p:nvSpPr>
          <p:cNvPr id="31" name="TextBox 30"/>
          <p:cNvSpPr txBox="1"/>
          <p:nvPr/>
        </p:nvSpPr>
        <p:spPr>
          <a:xfrm>
            <a:off x="6171918"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27</a:t>
            </a:r>
          </a:p>
        </p:txBody>
      </p:sp>
      <p:sp>
        <p:nvSpPr>
          <p:cNvPr id="32" name="TextBox 31"/>
          <p:cNvSpPr txBox="1"/>
          <p:nvPr/>
        </p:nvSpPr>
        <p:spPr>
          <a:xfrm>
            <a:off x="6502110"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Zwaferink JBJ et al. Sensors. 2024;24(6):1795.</a:t>
            </a:r>
          </a:p>
        </p:txBody>
      </p:sp>
      <p:sp>
        <p:nvSpPr>
          <p:cNvPr id="33" name="TextBox 32"/>
          <p:cNvSpPr txBox="1"/>
          <p:nvPr/>
        </p:nvSpPr>
        <p:spPr>
          <a:xfrm>
            <a:off x="6171918"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31</a:t>
            </a:r>
          </a:p>
        </p:txBody>
      </p:sp>
      <p:sp>
        <p:nvSpPr>
          <p:cNvPr id="34" name="TextBox 33"/>
          <p:cNvSpPr txBox="1"/>
          <p:nvPr/>
        </p:nvSpPr>
        <p:spPr>
          <a:xfrm>
            <a:off x="6502110" y="3860053"/>
            <a:ext cx="5054346" cy="541636"/>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Keukenkamp R et al. BMJ Open Diabetes Res Care. 2022;10(1):e002593.</a:t>
            </a:r>
          </a:p>
        </p:txBody>
      </p:sp>
      <p:sp>
        <p:nvSpPr>
          <p:cNvPr id="35" name="TextBox 34"/>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36" name="TextBox 3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25 / 25</a:t>
            </a:r>
          </a:p>
        </p:txBody>
      </p:sp>
      <p:pic>
        <p:nvPicPr>
          <p:cNvPr id="3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