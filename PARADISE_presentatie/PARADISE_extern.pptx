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PARADISE gaat niet over genezen maar over terugkomen. Zes Belgische voetklinieken, honderdvierenveertig patiënten, achttien maanden per patiënt. Ik neem u mee langs het waarom, de meting en het traject. Onderbreek me gerust.</a:t>
            </a:r>
          </a:p>
          <a:p/>
          <a:p>
            <a:r>
              <a:t>PRESENTATIETIP</a:t>
            </a:r>
          </a:p>
          <a:p>
            <a:r>
              <a:t>Het beeld draagt deze dia, dus de foto moet raak zijn. Zet hem in beeld\stock\, draai verwerk_stock.py, en vervang het kader met rechtsklik en Afbeelding wijzigen.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stip is een patiënt. Vierentwintig daarvan komen uit úw kliniek, twaalf in elke arm. Zes keer vierentwintig is honderdvierenveertig. Blijft één centrum achter, dan haalt de studie het niet.</a:t>
            </a:r>
          </a:p>
          <a:p/>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fasen. We zitten in de pilot; februari 2027 is de harde startdatum. Daarna twaalf maanden includeren, en achttien maanden opvolgen per patiënt. Alleen de inclusieperiode verschuift de einddatum.</a:t>
            </a:r>
          </a:p>
          <a:p/>
          <a:p>
            <a:r>
              <a:t>PRESENTATIETIP</a:t>
            </a:r>
          </a:p>
          <a:p>
            <a:r>
              <a:t>Dit is de dia waar het board naar kijkt. Zeg expliciet dat de pilot nu loopt en dat februari 2027 de harde startdatum is.</a:t>
            </a:r>
          </a:p>
          <a:p/>
          <a:p>
            <a:r>
              <a:t>INTERACTIE</a:t>
            </a:r>
          </a:p>
          <a:p>
            <a:r>
              <a:t>Vraag of hun centrum de twee inclusies per maand haalbaar acht.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risico's, en wat we eraan doen. Het grootste is niet wetenschappelijk maar organisatorisch: of de centra hun vierentwintig halen. De andere drie zijn ingecalculeerd. Welk risico baart ú het meest zorgen?</a:t>
            </a:r>
          </a:p>
          <a:p/>
          <a:p>
            <a:r>
              <a:t>PRESENTATIETIP</a:t>
            </a:r>
          </a:p>
          <a:p>
            <a:r>
              <a:t>Benoem het inclusierisico eerst en zelf. Als het board het moet opmerken, bent u de regie kwijt.</a:t>
            </a:r>
          </a:p>
          <a:p/>
          <a:p>
            <a:r>
              <a:t>INTERACTIE</a:t>
            </a:r>
          </a:p>
          <a:p>
            <a:r>
              <a:t>Vraag welk risico zij zelf het grootst achten.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één: waarom de studie zo is opgezet. Vier cijfers, en daarna begrijpt u waarom er twee normen zijn in plaats van één.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Veertig procent krijgt binnen één jaar een nieuw ulcus. Na vijf jaar is dat vijfenzestig. En de sterfte ligt tweeënhalf keer hoger dan bij diabetes zonder ulcus. Genezing is dus geen eindpunt maar remissie.</a:t>
            </a:r>
          </a:p>
          <a:p/>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Dezelfde schoen, twee uitkomsten. Over iedereen: geen verschil. Bij wie hem tachtig procent van de stappen dróég: bijna gehalveerd. Daarom meten wij niet alleen druk, maar ook draagtijd.</a:t>
            </a:r>
          </a:p>
          <a:p/>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Eenenzeventig procent draagtijd, gemeten met een sensor en niet gevraagd. Thuis zakt het naar eenenzestig, en juist thuis worden de meeste stappen gezet. Minder dan een derde haalt de tachtig procent.</a:t>
            </a:r>
          </a:p>
          <a:p/>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Belasting is een product, geen optelsom. Piekdruk maal activiteit maal draagtijd. Eén factor op nul maakt het hele product nul. Daarom heeft PARADISE twee normen en niet één.</a:t>
            </a:r>
          </a:p>
          <a:p/>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twee: de meting. Wat u meet, hoe u het meet, en wanneer het goed genoeg is.</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sensor geeft een cijfer. Dit is de baseline, blootsvoets: driehonderdtwaalf kilopascal onder metatarsaal twee-drie. Drie metingen per voet, waar de software één beeld van maakt. Hiertegen wordt alles afgezet.</a:t>
            </a:r>
          </a:p>
          <a:p/>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Zelfde voet, na aanpassing. Honderdzesentachtig kilopascal: veertig procent lager én onder de tweehonderd. De norm geldt per doelregio. Haalt u ze niet, dan past u aan en meet u opnieuw.</a:t>
            </a:r>
          </a:p>
          <a:p/>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Even stilstaan. Het doel is niet minder belasting. Het doel is belasting op een plek die het aankan. Dat is de hele interventie.</a:t>
            </a:r>
          </a:p>
          <a:p/>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drie: het traject. Negen contactmomenten. Per moment: wat u doet en wat u invult.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negen visites over achttien maanden. De eerste drie liggen dicht op elkaar. Daarna is het ritme elke drie maanden — hetzelfde ritme als de controle die deze patiënten toch al krijgen.</a:t>
            </a:r>
          </a:p>
          <a:p/>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Tien contactmomenten, één zorgpad. Het verschil met vandaag zit niet in hoe vaak u de patiënt ziet, maar in wat u bij elk bezoek wéét: wat de zool doet, en wat er gedragen is.</a:t>
            </a:r>
          </a:p>
          <a:p/>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vier: de toestellen en de regels. De instellingen, het gesprek, en de vier dingen die vastliggen.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toestellen, drie taken. De pedar meet druk, de Orthotimer meet of de zool gedragen is, de MoveMonitor meet hoeveel er gestapt wordt. Alleen de pedar bedient u bij elke meting; de andere twee plaatst u één keer en leest u uit.</a:t>
            </a:r>
          </a:p>
          <a:p/>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Zo klein is de sensor: negen bij dertien millimeter. Hij zit in de zool, meet alleen temperatuur, en de patiënt merkt er niets van. Noem hem tegenover de patiënt gewoon "uw sensor".</a:t>
            </a:r>
          </a:p>
          <a:p/>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SEBIA is vijf gesprekken, geen enkele sessie. Eerst kennis en educatie, dan teach-back bij de aflevering, dan tweemaal de sensordata samen bekijken, dan voordoen, en op achttien maanden afsluiten. Het verschil met gewone educatie: het herhaalt, en het staat op data.</a:t>
            </a:r>
          </a:p>
          <a:p/>
          <a:p>
            <a:r>
              <a:t>PRESENTATIETIP</a:t>
            </a:r>
          </a:p>
          <a:p>
            <a:r>
              <a:t>Het script begint met toestemming vragen voor het gesprek zelf, en duurt twintig tot dertig minuten. Wie nee zegt, krijgt de brochure mee en een nieuwe afspraak.</a:t>
            </a:r>
          </a:p>
          <a:p/>
          <a:p>
            <a:r>
              <a:t>INTERACTIE</a:t>
            </a:r>
          </a:p>
          <a:p>
            <a:r>
              <a:t>Rollenspel van twee minuten met een vrijwilliger uit de zaal.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Tot slot: wie u aanspreekt. Praktische vragen — inclusies, metingen, formulieren, sensoren — komen bij mij. Wetenschappelijke vragen en afspraken op het niveau van uw centrum bij professor Deschamps. Dank u wel.</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plaatshouder.png"/>
          <p:cNvPicPr>
            <a:picLocks noChangeAspect="1"/>
          </p:cNvPicPr>
          <p:nvPr/>
        </p:nvPicPr>
        <p:blipFill>
          <a:blip r:embed="rId2"/>
          <a:stretch>
            <a:fillRect/>
          </a:stretch>
        </p:blipFill>
        <p:spPr>
          <a:xfrm>
            <a:off x="0" y="-380990"/>
            <a:ext cx="12191695" cy="7619809"/>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rk.png"/>
          <p:cNvPicPr>
            <a:picLocks noChangeAspect="1"/>
          </p:cNvPicPr>
          <p:nvPr/>
        </p:nvPicPr>
        <p:blipFill>
          <a:blip r:embed="rId3"/>
          <a:stretch>
            <a:fillRect/>
          </a:stretch>
        </p:blipFill>
        <p:spPr>
          <a:xfrm>
            <a:off x="647087" y="609584"/>
            <a:ext cx="801273" cy="92707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Het onderzoek en het netwerk</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op 18 maanden, draagtijd op 12</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21</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Van pilot tot laatste patiënt</a:t>
            </a:r>
          </a:p>
        </p:txBody>
      </p:sp>
      <p:sp>
        <p:nvSpPr>
          <p:cNvPr id="5" name="Rectangle 4"/>
          <p:cNvSpPr/>
          <p:nvPr/>
        </p:nvSpPr>
        <p:spPr>
          <a:xfrm>
            <a:off x="634984" y="2984425"/>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04952" y="2901877"/>
            <a:ext cx="190495" cy="190495"/>
          </a:xfrm>
          <a:prstGeom prst="ellipse">
            <a:avLst/>
          </a:prstGeom>
          <a:solidFill>
            <a:srgbClr val="FF7A00"/>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095447"/>
            <a:ext cx="2730431" cy="253993"/>
          </a:xfrm>
          <a:prstGeom prst="rect">
            <a:avLst/>
          </a:prstGeom>
          <a:noFill/>
        </p:spPr>
        <p:txBody>
          <a:bodyPr wrap="square" anchor="t" lIns="0" rIns="0" tIns="0" bIns="0">
            <a:spAutoFit/>
          </a:bodyPr>
          <a:lstStyle/>
          <a:p>
            <a:pPr algn="ctr">
              <a:lnSpc>
                <a:spcPct val="125000"/>
              </a:lnSpc>
            </a:pPr>
            <a:r>
              <a:rPr sz="1500" b="1">
                <a:solidFill>
                  <a:srgbClr val="FF7A00"/>
                </a:solidFill>
                <a:latin typeface="Consolas"/>
              </a:rPr>
              <a:t>sep 2026 – feb 2027</a:t>
            </a:r>
          </a:p>
        </p:txBody>
      </p:sp>
      <p:sp>
        <p:nvSpPr>
          <p:cNvPr id="8" name="TextBox 7"/>
          <p:cNvSpPr txBox="1"/>
          <p:nvPr/>
        </p:nvSpPr>
        <p:spPr>
          <a:xfrm>
            <a:off x="634984"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Pilot</a:t>
            </a:r>
          </a:p>
        </p:txBody>
      </p:sp>
      <p:sp>
        <p:nvSpPr>
          <p:cNvPr id="9" name="TextBox 8"/>
          <p:cNvSpPr txBox="1"/>
          <p:nvPr/>
        </p:nvSpPr>
        <p:spPr>
          <a:xfrm>
            <a:off x="761980"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Protocol en meetprocedures uitproberen in de zes centra. Opleiding en bekwaamheidscheck.</a:t>
            </a:r>
          </a:p>
        </p:txBody>
      </p:sp>
      <p:sp>
        <p:nvSpPr>
          <p:cNvPr id="10" name="Oval 9"/>
          <p:cNvSpPr/>
          <p:nvPr/>
        </p:nvSpPr>
        <p:spPr>
          <a:xfrm>
            <a:off x="4660783"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65415"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feb 2027 – feb 2028</a:t>
            </a:r>
          </a:p>
        </p:txBody>
      </p:sp>
      <p:sp>
        <p:nvSpPr>
          <p:cNvPr id="12" name="TextBox 11"/>
          <p:cNvSpPr txBox="1"/>
          <p:nvPr/>
        </p:nvSpPr>
        <p:spPr>
          <a:xfrm>
            <a:off x="3365415"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Inclusie</a:t>
            </a:r>
          </a:p>
        </p:txBody>
      </p:sp>
      <p:sp>
        <p:nvSpPr>
          <p:cNvPr id="13" name="TextBox 12"/>
          <p:cNvSpPr txBox="1"/>
          <p:nvPr/>
        </p:nvSpPr>
        <p:spPr>
          <a:xfrm>
            <a:off x="3492412"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Twaalf maanden rekruteren. 24 deelnemers per centrum, twee per maand.</a:t>
            </a:r>
          </a:p>
        </p:txBody>
      </p:sp>
      <p:sp>
        <p:nvSpPr>
          <p:cNvPr id="14" name="Oval 13"/>
          <p:cNvSpPr/>
          <p:nvPr/>
        </p:nvSpPr>
        <p:spPr>
          <a:xfrm>
            <a:off x="7391215"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95847"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tot sep 2029</a:t>
            </a:r>
          </a:p>
        </p:txBody>
      </p:sp>
      <p:sp>
        <p:nvSpPr>
          <p:cNvPr id="16" name="TextBox 15"/>
          <p:cNvSpPr txBox="1"/>
          <p:nvPr/>
        </p:nvSpPr>
        <p:spPr>
          <a:xfrm>
            <a:off x="6095847"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Opvolging</a:t>
            </a:r>
          </a:p>
        </p:txBody>
      </p:sp>
      <p:sp>
        <p:nvSpPr>
          <p:cNvPr id="17" name="TextBox 16"/>
          <p:cNvSpPr txBox="1"/>
          <p:nvPr/>
        </p:nvSpPr>
        <p:spPr>
          <a:xfrm>
            <a:off x="6222844"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Elke deelnemer achttien maanden. De laatste inclusie bepaalt de einddatum.</a:t>
            </a:r>
          </a:p>
        </p:txBody>
      </p:sp>
      <p:sp>
        <p:nvSpPr>
          <p:cNvPr id="18" name="Oval 17"/>
          <p:cNvSpPr/>
          <p:nvPr/>
        </p:nvSpPr>
        <p:spPr>
          <a:xfrm>
            <a:off x="10121646"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6279"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2029 – 2030</a:t>
            </a:r>
          </a:p>
        </p:txBody>
      </p:sp>
      <p:sp>
        <p:nvSpPr>
          <p:cNvPr id="20" name="TextBox 19"/>
          <p:cNvSpPr txBox="1"/>
          <p:nvPr/>
        </p:nvSpPr>
        <p:spPr>
          <a:xfrm>
            <a:off x="8826279"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Analyse</a:t>
            </a:r>
          </a:p>
        </p:txBody>
      </p:sp>
      <p:sp>
        <p:nvSpPr>
          <p:cNvPr id="21" name="TextBox 20"/>
          <p:cNvSpPr txBox="1"/>
          <p:nvPr/>
        </p:nvSpPr>
        <p:spPr>
          <a:xfrm>
            <a:off x="8953276"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Uitkomsten, gezondheidseconomie en procesevaluatie. Één publicatie, ongeacht de uitkomst.</a:t>
            </a:r>
          </a:p>
        </p:txBody>
      </p:sp>
      <p:sp>
        <p:nvSpPr>
          <p:cNvPr id="22" name="Rounded Rectangle 21"/>
          <p:cNvSpPr/>
          <p:nvPr/>
        </p:nvSpPr>
        <p:spPr>
          <a:xfrm>
            <a:off x="634984" y="4990975"/>
            <a:ext cx="10921726" cy="1161868"/>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2476" y="5156071"/>
            <a:ext cx="10286742" cy="907874"/>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De inclusieperiode is het enige wat de einddatum verschuift. Elke maand vertraging in de rekrutering is een maand later klaar.</a:t>
            </a:r>
          </a:p>
        </p:txBody>
      </p:sp>
      <p:sp>
        <p:nvSpPr>
          <p:cNvPr id="24" name="TextBox 2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21</a:t>
            </a:r>
          </a:p>
        </p:txBody>
      </p:sp>
      <p:pic>
        <p:nvPicPr>
          <p:cNvPr id="2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ER MIS KAN GAAN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risico's, en wat we eraan doen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Te trage inclusie</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Gefaseerde rekrutering is voorzien; de haalbaarheid per centrum wordt in de pilot getoetst.</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hoog</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Contaminatie tussen de armen</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Blindering in de software van alle toestellen, aparte formulieren per arm, en een SEBIA-boekje ook in de controlegroep.</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middel</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Uitval</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Vijftien procent is ingecalculeerd in de steekproefberekening.</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middel</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Beide eindpunten moeten halen</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De lat ligt hoog en dat is een bewuste keuze: druk zonder draagtijd zegt niets.</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laag</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Het grootste risico is niet wetenschappelijk maar organisatorisch: of de centra hun 24 halen.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21</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Waarom zo</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Vier cijfers verklaren waarom er twee normen zijn.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21</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60%</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DRIE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21</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5714857" y="5930751"/>
            <a:ext cx="5841853" cy="380990"/>
          </a:xfrm>
          <a:prstGeom prst="rect">
            <a:avLst/>
          </a:prstGeom>
          <a:noFill/>
        </p:spPr>
        <p:txBody>
          <a:bodyPr wrap="square" anchor="t" lIns="0" rIns="0" tIns="0" bIns="0">
            <a:spAutoFit/>
          </a:bodyPr>
          <a:lstStyle/>
          <a:p>
            <a:pPr algn="r">
              <a:lnSpc>
                <a:spcPct val="125000"/>
              </a:lnSpc>
            </a:pPr>
            <a:r>
              <a:rPr sz="2400" b="1">
                <a:solidFill>
                  <a:srgbClr val="F2F8FC"/>
                </a:solidFill>
                <a:latin typeface="Segoe UI"/>
              </a:rPr>
              <a:t>Daarom meten we niet alleen druk, maar ook draagtijd.</a:t>
            </a:r>
          </a:p>
        </p:txBody>
      </p:sp>
      <p:sp>
        <p:nvSpPr>
          <p:cNvPr id="30" name="TextBox 29"/>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deelnemers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21</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21</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21</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De meting</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Wat u meet, hoe u het meet, en wanneer het goed genoeg is.</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21</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21</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 gehaald</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21</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Niet minder belasting.</a:t>
            </a:r>
          </a:p>
          <a:p>
            <a:pPr algn="l">
              <a:lnSpc>
                <a:spcPct val="106000"/>
              </a:lnSpc>
              <a:spcBef>
                <a:spcPts val="500"/>
              </a:spcBef>
            </a:pPr>
            <a:r>
              <a:rPr sz="7200" b="1">
                <a:solidFill>
                  <a:srgbClr val="04182A"/>
                </a:solidFill>
                <a:latin typeface="Segoe UI"/>
              </a:rPr>
              <a:t>Belasting op een plek die het aankan.</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is de hele interventie.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Het traject</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Negen contactmomenten. Per moment: wat u doet en wat u invult.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21</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21</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10</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contactmomenten, één zorgpad</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21</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04</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Toestellen en regels</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De instellingen, het gesprek, en de vier regels die vastliggen.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21</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Blootsvoets met tape, en in de schoen met en zonder zool</a:t>
            </a:r>
          </a:p>
          <a:p>
            <a:pPr algn="l">
              <a:lnSpc>
                <a:spcPct val="130000"/>
              </a:lnSpc>
              <a:spcBef>
                <a:spcPts val="1000"/>
              </a:spcBef>
            </a:pPr>
            <a:r>
              <a:rPr sz="1450" b="0">
                <a:solidFill>
                  <a:srgbClr val="8FB6D0"/>
                </a:solidFill>
                <a:latin typeface="Segoe UI"/>
              </a:rPr>
              <a:t>Trublu-kalibratie minstens elke drie maanden</a:t>
            </a:r>
          </a:p>
          <a:p>
            <a:pPr algn="l">
              <a:lnSpc>
                <a:spcPct val="130000"/>
              </a:lnSpc>
              <a:spcBef>
                <a:spcPts val="1000"/>
              </a:spcBef>
            </a:pPr>
            <a:r>
              <a:rPr sz="14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21</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21</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SEBIA · ECRF-DOCUMENT 17</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Vijf gespreksmomenten</a:t>
            </a: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77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Baseline</a:t>
            </a:r>
          </a:p>
        </p:txBody>
      </p:sp>
      <p:sp>
        <p:nvSpPr>
          <p:cNvPr id="10" name="TextBox 9"/>
          <p:cNvSpPr txBox="1"/>
          <p:nvPr/>
        </p:nvSpPr>
        <p:spPr>
          <a:xfrm>
            <a:off x="81277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Vragenlijsten eerst, dan educatie op maat, met voordoen.</a:t>
            </a: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2524"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3 mnd</a:t>
            </a:r>
          </a:p>
        </p:txBody>
      </p:sp>
      <p:sp>
        <p:nvSpPr>
          <p:cNvPr id="15" name="TextBox 14"/>
          <p:cNvSpPr txBox="1"/>
          <p:nvPr/>
        </p:nvSpPr>
        <p:spPr>
          <a:xfrm>
            <a:off x="3022524"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Teach-back. Nadruk op bínnenshuis dragen.</a:t>
            </a: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226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6 · 12 mnd</a:t>
            </a:r>
          </a:p>
        </p:txBody>
      </p:sp>
      <p:sp>
        <p:nvSpPr>
          <p:cNvPr id="20" name="TextBox 19"/>
          <p:cNvSpPr txBox="1"/>
          <p:nvPr/>
        </p:nvSpPr>
        <p:spPr>
          <a:xfrm>
            <a:off x="523226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Zelfinschatting, dan samen de data bekijken.</a:t>
            </a: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013"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9 · 15 mnd</a:t>
            </a:r>
          </a:p>
        </p:txBody>
      </p:sp>
      <p:sp>
        <p:nvSpPr>
          <p:cNvPr id="25" name="TextBox 24"/>
          <p:cNvSpPr txBox="1"/>
          <p:nvPr/>
        </p:nvSpPr>
        <p:spPr>
          <a:xfrm>
            <a:off x="7442013"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Voordoen. Uitdraai vergelijken met vorige keer.</a:t>
            </a: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1758"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18 mnd</a:t>
            </a:r>
          </a:p>
        </p:txBody>
      </p:sp>
      <p:sp>
        <p:nvSpPr>
          <p:cNvPr id="30" name="TextBox 29"/>
          <p:cNvSpPr txBox="1"/>
          <p:nvPr/>
        </p:nvSpPr>
        <p:spPr>
          <a:xfrm>
            <a:off x="9651758"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Afsluiten en resultaten delen.</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21</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21</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