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Wilt u een ander beeld: zet het in beeld\stock\, draai verwerk_stock.py en zet de bestandsnaam hier.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wat we van uw organisatie vragen. Vierentwintig inclusies over twaalf maanden, dus gemiddeld twee per maand. Verder één vaste PI, tijd bij de baseline, en een looppad van tien meter. Wat we níét vragen is gegevensinvoer.</a:t>
            </a:r>
          </a:p>
          <a:p/>
          <a:p>
            <a:r>
              <a:t>PRESENTATIETIP</a:t>
            </a:r>
          </a:p>
          <a:p>
            <a:r>
              <a:t>Dit is de vraag. Wees concreet en beloof niets over wat u niet weet.</a:t>
            </a:r>
          </a:p>
          <a:p/>
          <a:p>
            <a:r>
              <a:t>INTERACTIE</a:t>
            </a:r>
          </a:p>
          <a:p>
            <a:r>
              <a:t>Vraag per punt of het haalbaar is. Twijfel nu is beter dan uitval straks.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risico's, en wat we eraan doen. Het grootste is niet wetenschappelijk maar organisatorisch: of de centra hun vierentwintig halen. De andere drie zijn ingecalculeerd. Welk risico baart ú het meest zorgen?</a:t>
            </a:r>
          </a:p>
          <a:p/>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majeure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Waar die cijfers vandaan komen, ziet u hier. Elk punt is een cohort; de lijn erdoorheen is de trend. Na één jaar veertig procent, na vijf jaar vijfenzestig. Het risico verdwijnt niet, het stapelt op.</a:t>
            </a:r>
          </a:p>
          <a:p/>
          <a:p>
            <a:r>
              <a:t>PRESENTATIETIP</a:t>
            </a:r>
          </a:p>
          <a:p>
            <a:r>
              <a:t>De vorige dia noemt de cijfers; deze laat zien waar ze vandaan komen. Wijs de trendlijn aan, niet de losse punten.</a:t>
            </a:r>
          </a:p>
          <a:p/>
          <a:p>
            <a:r>
              <a:t>INTERACTIE</a:t>
            </a:r>
          </a:p>
          <a:p>
            <a:r>
              <a:t>Geen. Laat de spreiding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in de schoen: driehonderdtwaalf kilopascal onder metatarsaal twee-drie. Drie loopproeven per voet, waarvan de middelste twaalf passen tellen. Hiertegen wordt alles afgezet.</a:t>
            </a:r>
          </a:p>
          <a:p/>
          <a:p>
            <a:r>
              <a:t>PRESENTATIETIP</a:t>
            </a:r>
          </a:p>
          <a:p>
            <a:r>
              <a:t>De meest gemaakte fout is één loopproef per voet. Het protocol vraagt er drie, en het gemiddelde telt.</a:t>
            </a:r>
          </a:p>
          <a:p/>
          <a:p>
            <a:r>
              <a:t>INTERACTIE</a:t>
            </a:r>
          </a:p>
          <a:p>
            <a:r>
              <a:t>Vraag wie er vandaag al in de schoen meet.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ISO 14155 vraagt dat per medewerker aantoonbaar is welke training hij kreeg en voor welke handelingen hij gedelegeerd is. Vandaag tekenen. Bij elke nieuwe medewerker opnieuw, en bij elke protocolwijziging opnieuw. Het register blijft bij u; wij krijgen een kopie.</a:t>
            </a:r>
          </a:p>
          <a:p/>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titel_voetonderzoek.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adise_merk.png"/>
          <p:cNvPicPr>
            <a:picLocks noChangeAspect="1"/>
          </p:cNvPicPr>
          <p:nvPr/>
        </p:nvPicPr>
        <p:blipFill>
          <a:blip r:embed="rId3"/>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Stand van zaken · stuurgroep en directie</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6" name="TextBox 155"/>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het eindpunt behaald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28</a:t>
            </a:r>
          </a:p>
        </p:txBody>
      </p:sp>
      <p:pic>
        <p:nvPicPr>
          <p:cNvPr id="17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28</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WE VAN UW ORGANISATIE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toezeggingen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24 inclusies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Over twaalf maanden, dus gemiddeld twee per maand. Onder de twaalf per centrum wordt de studie onderbemand.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24</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vaste PI</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Plus een gedelegeerd team dat de opleiding volgt en het opleidingsregister tekent.</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Tijd per bezoek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Baseline loopt uit; de andere bezoeken vallen samen met de controle die de patiënt al krijgt.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9</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Een looppad</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Tien meter volstaat. Meer ruimte of extra apparatuur is niet nodig.</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10 m</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Wat we níét vragen: gegevensinvoer. Dat doet het onderzoeksteam.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hard eindpunt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Recidief over achttien maanden is streng,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   |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RISICO NA GENEZING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derde recidiveert binnen vijf jaar</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1 JAAR</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40%</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5 JAAR</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65%</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Incidentie van recidief tegenover follow-upduur</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idief_curve.png"/>
          <p:cNvPicPr>
            <a:picLocks noChangeAspect="1"/>
          </p:cNvPicPr>
          <p:nvPr/>
        </p:nvPicPr>
        <p:blipFill>
          <a:blip r:embed="rId2"/>
          <a:stretch>
            <a:fillRect/>
          </a:stretch>
        </p:blipFill>
        <p:spPr>
          <a:xfrm>
            <a:off x="5748364" y="2285942"/>
            <a:ext cx="5647842"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Gepoolde data uit negen prospectieve studies, één retrospectieve studie en de controlegroepen van negen RCT’s</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28</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voorkomen.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0" name="TextBox 2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28</a:t>
            </a:r>
          </a:p>
        </p:txBody>
      </p:sp>
      <p:pic>
        <p:nvPicPr>
          <p:cNvPr id="3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2" name="TextBox 3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 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de eigen waaktijd</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steunen.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pedar®-sensorinsole in de schoen geplaatst, drie loopproeven uitgevoerd.</a:t>
            </a:r>
          </a:p>
          <a:p>
            <a:pPr algn="l">
              <a:lnSpc>
                <a:spcPct val="135000"/>
              </a:lnSpc>
              <a:spcBef>
                <a:spcPts val="1200"/>
              </a:spcBef>
            </a:pPr>
            <a:r>
              <a:rPr sz="1700" b="0">
                <a:solidFill>
                  <a:srgbClr val="8FB6D0"/>
                </a:solidFill>
                <a:latin typeface="Segoe UI"/>
              </a:rPr>
              <a:t>De middelste twaalf passen per voet geanalyseerd; daaruit berekent de software de gemiddelde piekdruk per voet.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belasting.jpg"/>
          <p:cNvPicPr>
            <a:picLocks noChangeAspect="1"/>
          </p:cNvPicPr>
          <p:nvPr/>
        </p:nvPicPr>
        <p:blipFill>
          <a:blip r:embed="rId2"/>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03</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03</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04</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04</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Nulstellen: één keer per sessie</a:t>
            </a:r>
          </a:p>
          <a:p>
            <a:pPr algn="l">
              <a:lnSpc>
                <a:spcPct val="130000"/>
              </a:lnSpc>
              <a:spcBef>
                <a:spcPts val="1000"/>
              </a:spcBef>
            </a:pPr>
            <a:r>
              <a:rPr sz="13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Geheugen 100 dagen</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28</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28</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9" name="TextBox 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Rectangle 18"/>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1" name="Oval 20"/>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3" name="Oval 22"/>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5" name="Oval 24"/>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7" name="Rectangle 26"/>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29" name="Oval 28"/>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1" name="Oval 30"/>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3" name="Oval 32"/>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5" name="Rectangle 34"/>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28</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8" name="TextBox 37"/>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28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28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21 · SPIRIT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28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34984"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13</a:t>
            </a:r>
          </a:p>
        </p:txBody>
      </p:sp>
      <p:sp>
        <p:nvSpPr>
          <p:cNvPr id="18" name="TextBox 17"/>
          <p:cNvSpPr txBox="1"/>
          <p:nvPr/>
        </p:nvSpPr>
        <p:spPr>
          <a:xfrm>
            <a:off x="965175"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2013;36(6):1613–8.</a:t>
            </a:r>
          </a:p>
        </p:txBody>
      </p:sp>
      <p:sp>
        <p:nvSpPr>
          <p:cNvPr id="19" name="TextBox 18"/>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20" name="TextBox 19"/>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21" name="TextBox 20"/>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22" name="TextBox 21"/>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23" name="TextBox 22"/>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4" name="TextBox 23"/>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5" name="TextBox 24"/>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6" name="TextBox 25"/>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7" name="TextBox 26"/>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8" name="TextBox 27"/>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9" name="TextBox 28"/>
          <p:cNvSpPr txBox="1"/>
          <p:nvPr/>
        </p:nvSpPr>
        <p:spPr>
          <a:xfrm>
            <a:off x="6171918"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21</a:t>
            </a:r>
          </a:p>
        </p:txBody>
      </p:sp>
      <p:sp>
        <p:nvSpPr>
          <p:cNvPr id="30" name="TextBox 29"/>
          <p:cNvSpPr txBox="1"/>
          <p:nvPr/>
        </p:nvSpPr>
        <p:spPr>
          <a:xfrm>
            <a:off x="6502110"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Chan A-W et al. BMJ. 2025;389:e081477.</a:t>
            </a:r>
          </a:p>
        </p:txBody>
      </p:sp>
      <p:sp>
        <p:nvSpPr>
          <p:cNvPr id="31" name="TextBox 30"/>
          <p:cNvSpPr txBox="1"/>
          <p:nvPr/>
        </p:nvSpPr>
        <p:spPr>
          <a:xfrm>
            <a:off x="6171918"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32" name="TextBox 31"/>
          <p:cNvSpPr txBox="1"/>
          <p:nvPr/>
        </p:nvSpPr>
        <p:spPr>
          <a:xfrm>
            <a:off x="6502110"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28</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