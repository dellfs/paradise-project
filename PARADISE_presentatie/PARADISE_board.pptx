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fasen. We zitten in de pilot; februari 2027 is de harde startdatum. Daarna twaalf maanden includeren, en achttien maanden opvolgen per patiënt. Alleen de inclusieperiode verschuift de einddatum.</a:t>
            </a:r>
          </a:p>
          <a:p/>
          <a:p>
            <a:r>
              <a:t>PRESENTATIETIP</a:t>
            </a:r>
          </a:p>
          <a:p>
            <a:r>
              <a:t>Dit is de dia waar het board naar kijkt. Zeg expliciet dat de pilot nu loopt en dat februari 2027 de harde startdatum is.</a:t>
            </a:r>
          </a:p>
          <a:p/>
          <a:p>
            <a:r>
              <a:t>INTERACTIE</a:t>
            </a:r>
          </a:p>
          <a:p>
            <a:r>
              <a:t>Vraag of hun centrum de twee inclusies per maand haalbaar acht.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wat we van uw organisatie vragen. Vierentwintig inclusies over twaalf maanden, dus gemiddeld twee per maand. Verder één vaste PI, tijd bij de baseline, en een looppad van tien meter. Wat we níét vragen is gegevensinvoer.</a:t>
            </a:r>
          </a:p>
          <a:p/>
          <a:p>
            <a:r>
              <a:t>PRESENTATIETIP</a:t>
            </a:r>
          </a:p>
          <a:p>
            <a:r>
              <a:t>Dit is de vraag. Wees concreet en beloof niets over wat u niet weet.</a:t>
            </a:r>
          </a:p>
          <a:p/>
          <a:p>
            <a:r>
              <a:t>INTERACTIE</a:t>
            </a:r>
          </a:p>
          <a:p>
            <a:r>
              <a:t>Vraag per punt of het haalbaar is. Twijfel nu is beter dan uitval straks.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risico's, en wat we eraan doen. Het grootste is niet wetenschappelijk maar organisatorisch: of de centra hun vierentwintig halen. De andere drie zijn ingecalculeerd. Welk risico baart ú het meest zorgen?</a:t>
            </a:r>
          </a:p>
          <a:p/>
          <a:p>
            <a:r>
              <a:t>PRESENTATIETIP</a:t>
            </a:r>
          </a:p>
          <a:p>
            <a:r>
              <a:t>Benoem het inclusierisico eerst en zelf. Als het board het moet opmerken, bent u de regie kwijt.</a:t>
            </a:r>
          </a:p>
          <a:p/>
          <a:p>
            <a:r>
              <a:t>INTERACTIE</a:t>
            </a:r>
          </a:p>
          <a:p>
            <a:r>
              <a:t>Vraag welk risico zij zelf het grootst achten.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één. Ik geef u vier cijfers. Na het vierde weet u waarom deze studie twee normen heeft in plaats van één, en waarom niemand die tot nu toe samen gehaald heeft.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 na een amputatie zelfs boven de zeventig procent. Dit is geen wondprobleem. Dit is een overlevingsprobleem.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dan het cijfer dat het onverdraaglijk maakt. Driekwart van deze ulcera is in principe te voorkomen. Toch komt veertig procent binnen het jaar terug. Dat gat tussen wat kan en wat gebeurt — daar gaat deze studie over.</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beste poging die er ligt: drukgeoptimaliseerd maatschoeisel, multicentrisch en gerandomiseerd. Over iedereen samen: geen verschil. Bij wie hem dróég: bijna gehalveerd. Het verschil zat dus niet in de schoen.</a:t>
            </a:r>
          </a:p>
          <a:p/>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 zit het. Eenenzeventig procent draagtijd, gemeten met een sensor en niet gevraagd. Thuis zakt het naar eenenzestig, en juist thuis worden de meeste stappen gezet. De schoen stond in de gang terwijl de patiënt door het huis liep.</a:t>
            </a:r>
          </a:p>
          <a:p/>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Een perfecte zool in de kast beschermt niets.</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Daarom doen wij het anders. Geen drie losse maatregelen, maar één dienst met twee normen: de zool moet de druk hálen, én hij moet gedragen wórden. Beide gemeten, beide bijgestuurd, en beide door uw eigen team. Dat is nog nooit samen getoetst.</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twee: de meting. Wat u meet, hoe u het meet, en wanneer het goed genoeg is.</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blootsvoets: driehonderdtwaalf kilopascal onder metatarsaal twee-drie. Drie metingen per voet, waar de software één beeld van maakt. Hiertegen wordt alles afgezet.</a:t>
            </a:r>
          </a:p>
          <a:p/>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het traject. Negen contactmomenten. Per moment: wat u doet en wat u invult.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Tien contactmomenten, één zorgpad. Het verschil met vandaag zit niet in hoe vaak u de patiënt ziet, maar in wat u bij elk bezoek wéét: wat de zool doet, en wat er gedragen is.</a:t>
            </a:r>
          </a:p>
          <a:p/>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vier: de toestellen en de regels. De instellingen, het gesprek, en de vier dingen die vastliggen.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Zo klein is de sensor: negen bij dertien millimeter. Hij zit in de zool, meet alleen temperatuur, en de patiënt merkt er niets van. Noem hem tegenover de patiënt gewoon "uw sensor".</a:t>
            </a:r>
          </a:p>
          <a:p/>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rollen. De podoloog meet, leest uit en begeleidt. De pedorthist maakt en past aan. De arts bevestigt geschiktheid en beoordeelt laesies. Het management houdt tijd vrij en bewaakt de vierentwintig.</a:t>
            </a:r>
          </a:p>
          <a:p/>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dit krijgt u van ons. Training in motiverende gespreksvoering, SOP's per handeling, één contactpunt, en het onderzoeksteam voert de gegevens in. Nul sancties: wijkt u af, dan meldt u het, en dat wordt geregistreerd, niet afgestraft.</a:t>
            </a:r>
          </a:p>
          <a:p/>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ISO 14155 vraagt dat per medewerker aantoonbaar is welke training hij kreeg en voor welke handelingen hij gedelegeerd is. Vandaag tekenen. Bij elke nieuwe medewerker opnieuw, en bij elke protocolwijziging opnieuw. Het register blijft bij u; wij krijgen een kopie.</a:t>
            </a:r>
          </a:p>
          <a:p/>
          <a:p>
            <a:r>
              <a:t>PRESENTATIETIP</a:t>
            </a:r>
          </a:p>
          <a:p>
            <a:r>
              <a:t>Laat het register rondgaan tijdens deze dia, niet erna. Anders vertrekt de helft zonder te tekenen.</a:t>
            </a:r>
          </a:p>
          <a:p/>
          <a:p>
            <a:r>
              <a:t>INTERACTIE</a:t>
            </a:r>
          </a:p>
          <a:p>
            <a:r>
              <a:t>Tel hardop hoeveel handtekeningen u nodig hebt en hoeveel er al staan.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Deze dia laat u staan tijdens de vragen. Alles wat u genoemd hebt, staat hier met nummer en citaat, in dezelfde nummering als het protocolmanuscript.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Stand van zaken · stuurgroep en directie</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 draagtijd op 12</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27</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80" name="TextBox 17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Van pilot tot laatste patiënt</a:t>
            </a:r>
          </a:p>
        </p:txBody>
      </p:sp>
      <p:sp>
        <p:nvSpPr>
          <p:cNvPr id="5" name="Rectangle 4"/>
          <p:cNvSpPr/>
          <p:nvPr/>
        </p:nvSpPr>
        <p:spPr>
          <a:xfrm>
            <a:off x="634984" y="2984425"/>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04952" y="2901877"/>
            <a:ext cx="190495" cy="190495"/>
          </a:xfrm>
          <a:prstGeom prst="ellipse">
            <a:avLst/>
          </a:prstGeom>
          <a:solidFill>
            <a:srgbClr val="FF7A00"/>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095447"/>
            <a:ext cx="2730431" cy="253993"/>
          </a:xfrm>
          <a:prstGeom prst="rect">
            <a:avLst/>
          </a:prstGeom>
          <a:noFill/>
        </p:spPr>
        <p:txBody>
          <a:bodyPr wrap="square" anchor="t" lIns="0" rIns="0" tIns="0" bIns="0">
            <a:spAutoFit/>
          </a:bodyPr>
          <a:lstStyle/>
          <a:p>
            <a:pPr algn="ctr">
              <a:lnSpc>
                <a:spcPct val="125000"/>
              </a:lnSpc>
            </a:pPr>
            <a:r>
              <a:rPr sz="1500" b="1">
                <a:solidFill>
                  <a:srgbClr val="FF7A00"/>
                </a:solidFill>
                <a:latin typeface="Consolas"/>
              </a:rPr>
              <a:t>sep 2026 – feb 2027</a:t>
            </a:r>
          </a:p>
        </p:txBody>
      </p:sp>
      <p:sp>
        <p:nvSpPr>
          <p:cNvPr id="8" name="TextBox 7"/>
          <p:cNvSpPr txBox="1"/>
          <p:nvPr/>
        </p:nvSpPr>
        <p:spPr>
          <a:xfrm>
            <a:off x="634984"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Pilot</a:t>
            </a:r>
          </a:p>
        </p:txBody>
      </p:sp>
      <p:sp>
        <p:nvSpPr>
          <p:cNvPr id="9" name="TextBox 8"/>
          <p:cNvSpPr txBox="1"/>
          <p:nvPr/>
        </p:nvSpPr>
        <p:spPr>
          <a:xfrm>
            <a:off x="761980"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Protocol en meetprocedures uitproberen in de zes centra. Opleiding en bekwaamheidscheck.</a:t>
            </a:r>
          </a:p>
        </p:txBody>
      </p:sp>
      <p:sp>
        <p:nvSpPr>
          <p:cNvPr id="10" name="Oval 9"/>
          <p:cNvSpPr/>
          <p:nvPr/>
        </p:nvSpPr>
        <p:spPr>
          <a:xfrm>
            <a:off x="4660783"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65415"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feb 2027 – feb 2028</a:t>
            </a:r>
          </a:p>
        </p:txBody>
      </p:sp>
      <p:sp>
        <p:nvSpPr>
          <p:cNvPr id="12" name="TextBox 11"/>
          <p:cNvSpPr txBox="1"/>
          <p:nvPr/>
        </p:nvSpPr>
        <p:spPr>
          <a:xfrm>
            <a:off x="3365415"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Inclusie</a:t>
            </a:r>
          </a:p>
        </p:txBody>
      </p:sp>
      <p:sp>
        <p:nvSpPr>
          <p:cNvPr id="13" name="TextBox 12"/>
          <p:cNvSpPr txBox="1"/>
          <p:nvPr/>
        </p:nvSpPr>
        <p:spPr>
          <a:xfrm>
            <a:off x="3492412"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Twaalf maanden rekruteren. 24 deelnemers per centrum, twee per maand.</a:t>
            </a:r>
          </a:p>
        </p:txBody>
      </p:sp>
      <p:sp>
        <p:nvSpPr>
          <p:cNvPr id="14" name="Oval 13"/>
          <p:cNvSpPr/>
          <p:nvPr/>
        </p:nvSpPr>
        <p:spPr>
          <a:xfrm>
            <a:off x="7391215"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95847"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tot sep 2029</a:t>
            </a:r>
          </a:p>
        </p:txBody>
      </p:sp>
      <p:sp>
        <p:nvSpPr>
          <p:cNvPr id="16" name="TextBox 15"/>
          <p:cNvSpPr txBox="1"/>
          <p:nvPr/>
        </p:nvSpPr>
        <p:spPr>
          <a:xfrm>
            <a:off x="6095847"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Opvolging</a:t>
            </a:r>
          </a:p>
        </p:txBody>
      </p:sp>
      <p:sp>
        <p:nvSpPr>
          <p:cNvPr id="17" name="TextBox 16"/>
          <p:cNvSpPr txBox="1"/>
          <p:nvPr/>
        </p:nvSpPr>
        <p:spPr>
          <a:xfrm>
            <a:off x="6222844"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Elke deelnemer achttien maanden. De laatste inclusie bepaalt de einddatum.</a:t>
            </a:r>
          </a:p>
        </p:txBody>
      </p:sp>
      <p:sp>
        <p:nvSpPr>
          <p:cNvPr id="18" name="Oval 17"/>
          <p:cNvSpPr/>
          <p:nvPr/>
        </p:nvSpPr>
        <p:spPr>
          <a:xfrm>
            <a:off x="10121646"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26279" y="2095447"/>
            <a:ext cx="2730431" cy="253993"/>
          </a:xfrm>
          <a:prstGeom prst="rect">
            <a:avLst/>
          </a:prstGeom>
          <a:noFill/>
        </p:spPr>
        <p:txBody>
          <a:bodyPr wrap="square" anchor="t" lIns="0" rIns="0" tIns="0" bIns="0">
            <a:spAutoFit/>
          </a:bodyPr>
          <a:lstStyle/>
          <a:p>
            <a:pPr algn="ctr">
              <a:lnSpc>
                <a:spcPct val="125000"/>
              </a:lnSpc>
            </a:pPr>
            <a:r>
              <a:rPr sz="1500" b="1">
                <a:solidFill>
                  <a:srgbClr val="8FB6D0"/>
                </a:solidFill>
                <a:latin typeface="Consolas"/>
              </a:rPr>
              <a:t>2029 – 2030</a:t>
            </a:r>
          </a:p>
        </p:txBody>
      </p:sp>
      <p:sp>
        <p:nvSpPr>
          <p:cNvPr id="20" name="TextBox 19"/>
          <p:cNvSpPr txBox="1"/>
          <p:nvPr/>
        </p:nvSpPr>
        <p:spPr>
          <a:xfrm>
            <a:off x="8826279" y="2425639"/>
            <a:ext cx="2730431" cy="380990"/>
          </a:xfrm>
          <a:prstGeom prst="rect">
            <a:avLst/>
          </a:prstGeom>
          <a:noFill/>
        </p:spPr>
        <p:txBody>
          <a:bodyPr wrap="square" anchor="t" lIns="0" rIns="0" tIns="0" bIns="0">
            <a:spAutoFit/>
          </a:bodyPr>
          <a:lstStyle/>
          <a:p>
            <a:pPr algn="ctr">
              <a:lnSpc>
                <a:spcPct val="125000"/>
              </a:lnSpc>
            </a:pPr>
            <a:r>
              <a:rPr sz="2200" b="1">
                <a:solidFill>
                  <a:srgbClr val="F2F8FC"/>
                </a:solidFill>
                <a:latin typeface="Segoe UI"/>
              </a:rPr>
              <a:t>Analyse</a:t>
            </a:r>
          </a:p>
        </p:txBody>
      </p:sp>
      <p:sp>
        <p:nvSpPr>
          <p:cNvPr id="21" name="TextBox 20"/>
          <p:cNvSpPr txBox="1"/>
          <p:nvPr/>
        </p:nvSpPr>
        <p:spPr>
          <a:xfrm>
            <a:off x="8953276" y="3340016"/>
            <a:ext cx="2476438" cy="1269968"/>
          </a:xfrm>
          <a:prstGeom prst="rect">
            <a:avLst/>
          </a:prstGeom>
          <a:noFill/>
        </p:spPr>
        <p:txBody>
          <a:bodyPr wrap="square" anchor="t" lIns="0" rIns="0" tIns="0" bIns="0">
            <a:spAutoFit/>
          </a:bodyPr>
          <a:lstStyle/>
          <a:p>
            <a:pPr algn="ctr">
              <a:lnSpc>
                <a:spcPct val="135000"/>
              </a:lnSpc>
            </a:pPr>
            <a:r>
              <a:rPr sz="1450" b="0">
                <a:solidFill>
                  <a:srgbClr val="8FB6D0"/>
                </a:solidFill>
                <a:latin typeface="Segoe UI"/>
              </a:rPr>
              <a:t>Uitkomsten, gezondheidseconomie en procesevaluatie. Één publicatie, ongeacht de uitkomst.</a:t>
            </a:r>
          </a:p>
        </p:txBody>
      </p:sp>
      <p:sp>
        <p:nvSpPr>
          <p:cNvPr id="22" name="Rounded Rectangle 21"/>
          <p:cNvSpPr/>
          <p:nvPr/>
        </p:nvSpPr>
        <p:spPr>
          <a:xfrm>
            <a:off x="634984" y="4990975"/>
            <a:ext cx="10921726" cy="1161868"/>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2476" y="5156071"/>
            <a:ext cx="10286742" cy="907874"/>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De inclusieperiode is het enige wat de einddatum verschuift. Elke maand vertraging in de rekrutering is een maand later klaar.</a:t>
            </a:r>
          </a:p>
        </p:txBody>
      </p:sp>
      <p:sp>
        <p:nvSpPr>
          <p:cNvPr id="24" name="TextBox 2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27</a:t>
            </a:r>
          </a:p>
        </p:txBody>
      </p:sp>
      <p:pic>
        <p:nvPicPr>
          <p:cNvPr id="25"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6" name="TextBox 25"/>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WE VAN UW ORGANISATIE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toezeggingen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24 inclusies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Over twaalf maanden, dus gemiddeld twee per maand. Onder de twaalf per centrum wordt de studie onderbemand.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24</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Eén vaste PI</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Plus een gedelegeerd team dat de opleiding volgt en het opleidingsregister tekent.</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1</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Tijd per bezoek</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Baseline loopt uit; de andere bezoeken vallen samen met de controle die de patiënt al krijgt.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9</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Een looppad</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Tien meter volstaat. Meer ruimte of extra apparatuur is niet nodig.</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10 m</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380990"/>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Wat we níét vragen: gegevensinvoer. Dat doet het onderzoeksteam.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27</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ER MIS KAN GAAN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risico's, en wat we eraan doen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 trage inclusie</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Gefaseerde rekrutering is voorzien; de haalbaarheid per centrum wordt in de pilot getoetst.</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hoog</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Contaminatie tussen de armen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Blindering in de software van alle toestellen, aparte formulieren per arm, en een SEBIA-boekje ook in de controlegroep.</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middel</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Uitval</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Vijftien procent is ingecalculeerd in de steekproefberekening.</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middel</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Beide eindpunten moeten halen</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De lat ligt hoog en dat is een bewuste keuze: druk zonder draagtijd zegt niets.</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laag</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Het grootste risico is niet wetenschappelijk maar organisatorisch: of de centra hun 24 halen.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27</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9 · Bus 2013, DIAFOS   |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 zo</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27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STERFTE NA AMPUTATIE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27</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04182A"/>
                </a:solidFill>
                <a:latin typeface="Segoe UI"/>
              </a:rPr>
              <a:t>Driekwart is te voorkomen.</a:t>
            </a:r>
          </a:p>
          <a:p>
            <a:pPr algn="l">
              <a:lnSpc>
                <a:spcPct val="106000"/>
              </a:lnSpc>
              <a:spcBef>
                <a:spcPts val="500"/>
              </a:spcBef>
            </a:pPr>
            <a:r>
              <a:rPr sz="6200" b="1">
                <a:solidFill>
                  <a:srgbClr val="04182A"/>
                </a:solidFill>
                <a:latin typeface="Segoe UI"/>
              </a:rPr>
              <a:t>Veertig procent komt terug.</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gat is waar deze studie over gaat.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27</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3" name="TextBox 32"/>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27</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27</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14 · van Netten 2018   |   16 · Hulshof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Eén dienst, geen drie losse maatregelen</a:t>
            </a:r>
          </a:p>
        </p:txBody>
      </p:sp>
      <p:sp>
        <p:nvSpPr>
          <p:cNvPr id="5" name="Rounded Rectangle 4"/>
          <p:cNvSpPr/>
          <p:nvPr/>
        </p:nvSpPr>
        <p:spPr>
          <a:xfrm>
            <a:off x="634984" y="2031949"/>
            <a:ext cx="5384538" cy="364480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Gemeten bij de aflevering, in drie condities.</a:t>
            </a:r>
          </a:p>
          <a:p>
            <a:pPr algn="l">
              <a:lnSpc>
                <a:spcPct val="132000"/>
              </a:lnSpc>
              <a:spcBef>
                <a:spcPts val="1200"/>
              </a:spcBef>
            </a:pPr>
            <a:r>
              <a:rPr sz="1450" b="0">
                <a:solidFill>
                  <a:srgbClr val="8FB6D0"/>
                </a:solidFill>
                <a:latin typeface="Segoe UI"/>
              </a:rPr>
              <a:t>Aangepast tot de norm gehaald is in elk van de drie doelregio's.</a:t>
            </a:r>
          </a:p>
          <a:p>
            <a:pPr algn="l">
              <a:lnSpc>
                <a:spcPct val="132000"/>
              </a:lnSpc>
              <a:spcBef>
                <a:spcPts val="1200"/>
              </a:spcBef>
            </a:pPr>
            <a:r>
              <a:rPr sz="1450" b="0">
                <a:solidFill>
                  <a:srgbClr val="8FB6D0"/>
                </a:solidFill>
                <a:latin typeface="Segoe UI"/>
              </a:rPr>
              <a:t>Herhaald op maand 6, 12 en 18.</a:t>
            </a:r>
          </a:p>
        </p:txBody>
      </p:sp>
      <p:sp>
        <p:nvSpPr>
          <p:cNvPr id="11" name="Rounded Rectangle 10"/>
          <p:cNvSpPr/>
          <p:nvPr/>
        </p:nvSpPr>
        <p:spPr>
          <a:xfrm>
            <a:off x="6171918" y="2031949"/>
            <a:ext cx="5384538" cy="364480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van zijn eigen activiteitenprofiel</a:t>
            </a:r>
          </a:p>
        </p:txBody>
      </p:sp>
      <p:sp>
        <p:nvSpPr>
          <p:cNvPr id="16" name="TextBox 15"/>
          <p:cNvSpPr txBox="1"/>
          <p:nvPr/>
        </p:nvSpPr>
        <p:spPr>
          <a:xfrm>
            <a:off x="6425912"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sz="1450" b="0">
                <a:solidFill>
                  <a:srgbClr val="8FB6D0"/>
                </a:solidFill>
                <a:latin typeface="Segoe UI"/>
              </a:rPr>
              <a:t>Vijf gesprekken die op die data staan, niet op goede raad.</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27</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   |   17 · Waaijman 2014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De meting</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27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27</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   |   27 · Zwaferink 2024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27</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Niet minder belasting.</a:t>
            </a:r>
          </a:p>
          <a:p>
            <a:pPr algn="l">
              <a:lnSpc>
                <a:spcPct val="106000"/>
              </a:lnSpc>
              <a:spcBef>
                <a:spcPts val="500"/>
              </a:spcBef>
            </a:pPr>
            <a:r>
              <a:rPr sz="7200" b="1">
                <a:solidFill>
                  <a:srgbClr val="04182A"/>
                </a:solidFill>
                <a:latin typeface="Segoe UI"/>
              </a:rPr>
              <a:t>Belasting op een plek die het aankan.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Dat is de hele interventie.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27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27</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27</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Toestellen en regels</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27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27</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
        <p:nvSpPr>
          <p:cNvPr id="30" name="TextBox 2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27</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9" name="TextBox 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27</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 name="TextBox 3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8 · IWGDF 2023, preventie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27</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VOOR HET DOSSIER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opleidingsregister</a:t>
            </a:r>
          </a:p>
        </p:txBody>
      </p:sp>
      <p:sp>
        <p:nvSpPr>
          <p:cNvPr id="5" name="Rounded Rectangle 4"/>
          <p:cNvSpPr/>
          <p:nvPr/>
        </p:nvSpPr>
        <p:spPr>
          <a:xfrm>
            <a:off x="634984" y="1879553"/>
            <a:ext cx="4825879" cy="2539936"/>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2133546"/>
            <a:ext cx="4267093" cy="2095447"/>
          </a:xfrm>
          <a:prstGeom prst="rect">
            <a:avLst/>
          </a:prstGeom>
          <a:noFill/>
        </p:spPr>
        <p:txBody>
          <a:bodyPr wrap="square" anchor="t" lIns="0" rIns="0" tIns="0" bIns="0">
            <a:spAutoFit/>
          </a:bodyPr>
          <a:lstStyle/>
          <a:p>
            <a:pPr algn="l">
              <a:lnSpc>
                <a:spcPct val="145000"/>
              </a:lnSpc>
            </a:pPr>
            <a:r>
              <a:rPr sz="1700" b="0">
                <a:solidFill>
                  <a:srgbClr val="F2F8FC"/>
                </a:solidFill>
                <a:latin typeface="Segoe UI"/>
              </a:rPr>
              <a:t>ISO 14155 vraagt dat per medewerker aantoonbaar is welke training hij gekregen heeft, wanneer, en voor welke handelingen hij gedelegeerd is. Zonder dat register is uw centrum niet inspectieklaar, hoe goed u het ook doet.</a:t>
            </a:r>
          </a:p>
        </p:txBody>
      </p:sp>
      <p:sp>
        <p:nvSpPr>
          <p:cNvPr id="7" name="Rectangle 6"/>
          <p:cNvSpPr/>
          <p:nvPr/>
        </p:nvSpPr>
        <p:spPr>
          <a:xfrm>
            <a:off x="5841853" y="1879553"/>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41853" y="2019249"/>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Vandaag tekenen</a:t>
            </a:r>
          </a:p>
        </p:txBody>
      </p:sp>
      <p:sp>
        <p:nvSpPr>
          <p:cNvPr id="9" name="TextBox 8"/>
          <p:cNvSpPr txBox="1"/>
          <p:nvPr/>
        </p:nvSpPr>
        <p:spPr>
          <a:xfrm>
            <a:off x="5841853" y="2298642"/>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Naam, functie, datum, en de handelingen waarvoor u gedelegeerd bent.</a:t>
            </a:r>
          </a:p>
        </p:txBody>
      </p:sp>
      <p:sp>
        <p:nvSpPr>
          <p:cNvPr id="10" name="Rectangle 9"/>
          <p:cNvSpPr/>
          <p:nvPr/>
        </p:nvSpPr>
        <p:spPr>
          <a:xfrm>
            <a:off x="5841853" y="2755831"/>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1853" y="2895527"/>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nieuwe medewerker</a:t>
            </a:r>
          </a:p>
        </p:txBody>
      </p:sp>
      <p:sp>
        <p:nvSpPr>
          <p:cNvPr id="12" name="TextBox 11"/>
          <p:cNvSpPr txBox="1"/>
          <p:nvPr/>
        </p:nvSpPr>
        <p:spPr>
          <a:xfrm>
            <a:off x="5841853" y="3174920"/>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Dezelfde opleiding, dezelfde handtekening, vóór de eerste patiënt.</a:t>
            </a:r>
          </a:p>
        </p:txBody>
      </p:sp>
      <p:sp>
        <p:nvSpPr>
          <p:cNvPr id="13" name="Rectangle 12"/>
          <p:cNvSpPr/>
          <p:nvPr/>
        </p:nvSpPr>
        <p:spPr>
          <a:xfrm>
            <a:off x="5841853" y="3632109"/>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1853" y="3771805"/>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protocolwijziging</a:t>
            </a:r>
          </a:p>
        </p:txBody>
      </p:sp>
      <p:sp>
        <p:nvSpPr>
          <p:cNvPr id="15" name="TextBox 14"/>
          <p:cNvSpPr txBox="1"/>
          <p:nvPr/>
        </p:nvSpPr>
        <p:spPr>
          <a:xfrm>
            <a:off x="5841853" y="4051198"/>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Kort bijscholingsmoment, opnieuw tekenen.</a:t>
            </a:r>
          </a:p>
        </p:txBody>
      </p:sp>
      <p:sp>
        <p:nvSpPr>
          <p:cNvPr id="16" name="TextBox 15"/>
          <p:cNvSpPr txBox="1"/>
          <p:nvPr/>
        </p:nvSpPr>
        <p:spPr>
          <a:xfrm>
            <a:off x="634984" y="4724281"/>
            <a:ext cx="10921726" cy="444488"/>
          </a:xfrm>
          <a:prstGeom prst="rect">
            <a:avLst/>
          </a:prstGeom>
          <a:noFill/>
        </p:spPr>
        <p:txBody>
          <a:bodyPr wrap="square" anchor="t" lIns="0" rIns="0" tIns="0" bIns="0">
            <a:spAutoFit/>
          </a:bodyPr>
          <a:lstStyle/>
          <a:p>
            <a:pPr algn="l">
              <a:lnSpc>
                <a:spcPct val="140000"/>
              </a:lnSpc>
            </a:pPr>
            <a:r>
              <a:rPr sz="1900" b="1">
                <a:solidFill>
                  <a:srgbClr val="F2F8FC"/>
                </a:solidFill>
                <a:latin typeface="Segoe UI"/>
              </a:rPr>
              <a:t>Het register blijft in uw centrum. Wij krijgen een kopie voor het studiedossier.</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27</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21 · SPIRIT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27</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DE CIJFERS VANDAAN KOMEN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Referenties</a:t>
            </a:r>
          </a:p>
        </p:txBody>
      </p:sp>
      <p:sp>
        <p:nvSpPr>
          <p:cNvPr id="5" name="TextBox 4"/>
          <p:cNvSpPr txBox="1"/>
          <p:nvPr/>
        </p:nvSpPr>
        <p:spPr>
          <a:xfrm>
            <a:off x="634984"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a:t>
            </a:r>
          </a:p>
        </p:txBody>
      </p:sp>
      <p:sp>
        <p:nvSpPr>
          <p:cNvPr id="6" name="TextBox 5"/>
          <p:cNvSpPr txBox="1"/>
          <p:nvPr/>
        </p:nvSpPr>
        <p:spPr>
          <a:xfrm>
            <a:off x="965175"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Armstrong DG et al. N Engl J Med. 2017;376(24):2367–75.</a:t>
            </a:r>
          </a:p>
        </p:txBody>
      </p:sp>
      <p:sp>
        <p:nvSpPr>
          <p:cNvPr id="7" name="TextBox 6"/>
          <p:cNvSpPr txBox="1"/>
          <p:nvPr/>
        </p:nvSpPr>
        <p:spPr>
          <a:xfrm>
            <a:off x="634984"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5</a:t>
            </a:r>
          </a:p>
        </p:txBody>
      </p:sp>
      <p:sp>
        <p:nvSpPr>
          <p:cNvPr id="8" name="TextBox 7"/>
          <p:cNvSpPr txBox="1"/>
          <p:nvPr/>
        </p:nvSpPr>
        <p:spPr>
          <a:xfrm>
            <a:off x="965175"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2016;32(Suppl 1):195–200.</a:t>
            </a:r>
          </a:p>
        </p:txBody>
      </p:sp>
      <p:sp>
        <p:nvSpPr>
          <p:cNvPr id="9" name="TextBox 8"/>
          <p:cNvSpPr txBox="1"/>
          <p:nvPr/>
        </p:nvSpPr>
        <p:spPr>
          <a:xfrm>
            <a:off x="634984"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6</a:t>
            </a:r>
          </a:p>
        </p:txBody>
      </p:sp>
      <p:sp>
        <p:nvSpPr>
          <p:cNvPr id="10" name="TextBox 9"/>
          <p:cNvSpPr txBox="1"/>
          <p:nvPr/>
        </p:nvSpPr>
        <p:spPr>
          <a:xfrm>
            <a:off x="965175"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2011;34(7):1595–600.</a:t>
            </a:r>
          </a:p>
        </p:txBody>
      </p:sp>
      <p:sp>
        <p:nvSpPr>
          <p:cNvPr id="11" name="TextBox 10"/>
          <p:cNvSpPr txBox="1"/>
          <p:nvPr/>
        </p:nvSpPr>
        <p:spPr>
          <a:xfrm>
            <a:off x="634984"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7</a:t>
            </a:r>
          </a:p>
        </p:txBody>
      </p:sp>
      <p:sp>
        <p:nvSpPr>
          <p:cNvPr id="12" name="TextBox 11"/>
          <p:cNvSpPr txBox="1"/>
          <p:nvPr/>
        </p:nvSpPr>
        <p:spPr>
          <a:xfrm>
            <a:off x="965175"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2020;36(S1):e3237.</a:t>
            </a:r>
          </a:p>
        </p:txBody>
      </p:sp>
      <p:sp>
        <p:nvSpPr>
          <p:cNvPr id="13" name="TextBox 12"/>
          <p:cNvSpPr txBox="1"/>
          <p:nvPr/>
        </p:nvSpPr>
        <p:spPr>
          <a:xfrm>
            <a:off x="634984"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8</a:t>
            </a:r>
          </a:p>
        </p:txBody>
      </p:sp>
      <p:sp>
        <p:nvSpPr>
          <p:cNvPr id="14" name="TextBox 13"/>
          <p:cNvSpPr txBox="1"/>
          <p:nvPr/>
        </p:nvSpPr>
        <p:spPr>
          <a:xfrm>
            <a:off x="965175"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2024;40(3):e3651.</a:t>
            </a:r>
          </a:p>
        </p:txBody>
      </p:sp>
      <p:sp>
        <p:nvSpPr>
          <p:cNvPr id="15" name="TextBox 14"/>
          <p:cNvSpPr txBox="1"/>
          <p:nvPr/>
        </p:nvSpPr>
        <p:spPr>
          <a:xfrm>
            <a:off x="634984" y="352573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9</a:t>
            </a:r>
          </a:p>
        </p:txBody>
      </p:sp>
      <p:sp>
        <p:nvSpPr>
          <p:cNvPr id="16" name="TextBox 15"/>
          <p:cNvSpPr txBox="1"/>
          <p:nvPr/>
        </p:nvSpPr>
        <p:spPr>
          <a:xfrm>
            <a:off x="965175" y="352573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2013;36(12):4109–16.</a:t>
            </a:r>
          </a:p>
        </p:txBody>
      </p:sp>
      <p:sp>
        <p:nvSpPr>
          <p:cNvPr id="17" name="TextBox 16"/>
          <p:cNvSpPr txBox="1"/>
          <p:nvPr/>
        </p:nvSpPr>
        <p:spPr>
          <a:xfrm>
            <a:off x="634984" y="38600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13</a:t>
            </a:r>
          </a:p>
        </p:txBody>
      </p:sp>
      <p:sp>
        <p:nvSpPr>
          <p:cNvPr id="18" name="TextBox 17"/>
          <p:cNvSpPr txBox="1"/>
          <p:nvPr/>
        </p:nvSpPr>
        <p:spPr>
          <a:xfrm>
            <a:off x="965175" y="38600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Waaijman R et al. Diabetes Care. 2013;36(6):1613–8.</a:t>
            </a:r>
          </a:p>
        </p:txBody>
      </p:sp>
      <p:sp>
        <p:nvSpPr>
          <p:cNvPr id="19" name="TextBox 18"/>
          <p:cNvSpPr txBox="1"/>
          <p:nvPr/>
        </p:nvSpPr>
        <p:spPr>
          <a:xfrm>
            <a:off x="6171918"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14</a:t>
            </a:r>
          </a:p>
        </p:txBody>
      </p:sp>
      <p:sp>
        <p:nvSpPr>
          <p:cNvPr id="20" name="TextBox 19"/>
          <p:cNvSpPr txBox="1"/>
          <p:nvPr/>
        </p:nvSpPr>
        <p:spPr>
          <a:xfrm>
            <a:off x="6502110"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van Netten JJ et al. Clin Biomech. 2018;53:86–92.</a:t>
            </a:r>
          </a:p>
        </p:txBody>
      </p:sp>
      <p:sp>
        <p:nvSpPr>
          <p:cNvPr id="21" name="TextBox 20"/>
          <p:cNvSpPr txBox="1"/>
          <p:nvPr/>
        </p:nvSpPr>
        <p:spPr>
          <a:xfrm>
            <a:off x="6171918"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16</a:t>
            </a:r>
          </a:p>
        </p:txBody>
      </p:sp>
      <p:sp>
        <p:nvSpPr>
          <p:cNvPr id="22" name="TextBox 21"/>
          <p:cNvSpPr txBox="1"/>
          <p:nvPr/>
        </p:nvSpPr>
        <p:spPr>
          <a:xfrm>
            <a:off x="6502110"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Hulshof CM et al. Diabet Med. 2025;42:e70099.</a:t>
            </a:r>
          </a:p>
        </p:txBody>
      </p:sp>
      <p:sp>
        <p:nvSpPr>
          <p:cNvPr id="23" name="TextBox 22"/>
          <p:cNvSpPr txBox="1"/>
          <p:nvPr/>
        </p:nvSpPr>
        <p:spPr>
          <a:xfrm>
            <a:off x="6171918"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17</a:t>
            </a:r>
          </a:p>
        </p:txBody>
      </p:sp>
      <p:sp>
        <p:nvSpPr>
          <p:cNvPr id="24" name="TextBox 23"/>
          <p:cNvSpPr txBox="1"/>
          <p:nvPr/>
        </p:nvSpPr>
        <p:spPr>
          <a:xfrm>
            <a:off x="6502110"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Waaijman R et al. Diabetes Care. 2014;37(6):1697–705.</a:t>
            </a:r>
          </a:p>
        </p:txBody>
      </p:sp>
      <p:sp>
        <p:nvSpPr>
          <p:cNvPr id="25" name="TextBox 24"/>
          <p:cNvSpPr txBox="1"/>
          <p:nvPr/>
        </p:nvSpPr>
        <p:spPr>
          <a:xfrm>
            <a:off x="6171918"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18</a:t>
            </a:r>
          </a:p>
        </p:txBody>
      </p:sp>
      <p:sp>
        <p:nvSpPr>
          <p:cNvPr id="26" name="TextBox 25"/>
          <p:cNvSpPr txBox="1"/>
          <p:nvPr/>
        </p:nvSpPr>
        <p:spPr>
          <a:xfrm>
            <a:off x="6502110"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Lutjeboer T et al. J Rehabil Med. 2018;50(10):920–6.</a:t>
            </a:r>
          </a:p>
        </p:txBody>
      </p:sp>
      <p:sp>
        <p:nvSpPr>
          <p:cNvPr id="27" name="TextBox 26"/>
          <p:cNvSpPr txBox="1"/>
          <p:nvPr/>
        </p:nvSpPr>
        <p:spPr>
          <a:xfrm>
            <a:off x="6171918"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20</a:t>
            </a:r>
          </a:p>
        </p:txBody>
      </p:sp>
      <p:sp>
        <p:nvSpPr>
          <p:cNvPr id="28" name="TextBox 27"/>
          <p:cNvSpPr txBox="1"/>
          <p:nvPr/>
        </p:nvSpPr>
        <p:spPr>
          <a:xfrm>
            <a:off x="6502110"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Morbach S et al. Diabetes Metab Res Rev. 2016;32(Suppl 1):318–25.</a:t>
            </a:r>
          </a:p>
        </p:txBody>
      </p:sp>
      <p:sp>
        <p:nvSpPr>
          <p:cNvPr id="29" name="TextBox 28"/>
          <p:cNvSpPr txBox="1"/>
          <p:nvPr/>
        </p:nvSpPr>
        <p:spPr>
          <a:xfrm>
            <a:off x="6171918" y="352573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21</a:t>
            </a:r>
          </a:p>
        </p:txBody>
      </p:sp>
      <p:sp>
        <p:nvSpPr>
          <p:cNvPr id="30" name="TextBox 29"/>
          <p:cNvSpPr txBox="1"/>
          <p:nvPr/>
        </p:nvSpPr>
        <p:spPr>
          <a:xfrm>
            <a:off x="6502110" y="352573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Chan A-W et al. BMJ. 2025;389:e081477.</a:t>
            </a:r>
          </a:p>
        </p:txBody>
      </p:sp>
      <p:sp>
        <p:nvSpPr>
          <p:cNvPr id="31" name="TextBox 30"/>
          <p:cNvSpPr txBox="1"/>
          <p:nvPr/>
        </p:nvSpPr>
        <p:spPr>
          <a:xfrm>
            <a:off x="6171918" y="38600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27</a:t>
            </a:r>
          </a:p>
        </p:txBody>
      </p:sp>
      <p:sp>
        <p:nvSpPr>
          <p:cNvPr id="32" name="TextBox 31"/>
          <p:cNvSpPr txBox="1"/>
          <p:nvPr/>
        </p:nvSpPr>
        <p:spPr>
          <a:xfrm>
            <a:off x="6502110" y="38600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Zwaferink JBJ et al. Sensors. 2024;24(6):1795.</a:t>
            </a:r>
          </a:p>
        </p:txBody>
      </p:sp>
      <p:sp>
        <p:nvSpPr>
          <p:cNvPr id="33" name="TextBox 32"/>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De nummering volgt die van het protocolmanuscript.</a:t>
            </a:r>
          </a:p>
        </p:txBody>
      </p:sp>
      <p:sp>
        <p:nvSpPr>
          <p:cNvPr id="34" name="TextBox 3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27</a:t>
            </a:r>
          </a:p>
        </p:txBody>
      </p:sp>
      <p:pic>
        <p:nvPicPr>
          <p:cNvPr id="3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p:transition xmlns:p14="http://schemas.microsoft.com/office/powerpoint/2010/main" spd="slow" p14:dur="9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