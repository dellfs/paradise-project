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PARADISE gaat niet over genezen maar over terugkomen. Zes Belgische voetklinieken, honderdvierenveertig patiënten, achttien maanden per patiënt. Ik neem u mee langs het waarom, de meting en het traject. Onderbreek me gerust.</a:t>
            </a:r>
          </a:p>
          <a:p/>
          <a:p>
            <a:r>
              <a:t>PRESENTATIETIP</a:t>
            </a:r>
          </a:p>
          <a:p>
            <a:r>
              <a:t>Het beeld draagt deze dia. Wilt u een ander beeld: zet het in beeld\stock\, draai verwerk_stock.py en zet de bestandsnaam hier. Liggend, koele tonen, en rustig onderaan — daar staat de titel.</a:t>
            </a:r>
          </a:p>
          <a:p/>
          <a:p>
            <a:r>
              <a:t>INTERACTIE</a:t>
            </a:r>
          </a:p>
          <a:p>
            <a:r>
              <a:t>Laat de dia staan terwijl de zaal binnenkomt. Zeg pas iets als iedereen zit.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Elke stip is een patiënt. Vierentwintig daarvan komen uit úw kliniek, twaalf in elke arm. Zes keer vierentwintig is honderdvierenveertig. Blijft één centrum achter, dan haalt de studie het niet.</a:t>
            </a:r>
          </a:p>
          <a:p/>
          <a:p>
            <a:r>
              <a:t>PRESENTATIETIP</a:t>
            </a:r>
          </a:p>
          <a:p>
            <a:r>
              <a:t>Wijs hun eigen centrum aan: 24 van die 144 stippen zijn van hen. Zes keer 24 is 144 — als één centrum achterblijft, haalt de studie het niet.</a:t>
            </a:r>
          </a:p>
          <a:p/>
          <a:p>
            <a:r>
              <a:t>INTERACTIE</a:t>
            </a:r>
          </a:p>
          <a:p>
            <a:r>
              <a:t>Vraag of ze de andere vijf centra kennen. Het maakt van zes losse klinieken één netwerk.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fasen. We zitten in de pilot; februari 2027 is de harde startdatum. Daarna twaalf maanden includeren, en achttien maanden opvolgen per patiënt. Alleen de inclusieperiode verschuift de einddatum.</a:t>
            </a:r>
          </a:p>
          <a:p/>
          <a:p>
            <a:r>
              <a:t>PRESENTATIETIP</a:t>
            </a:r>
          </a:p>
          <a:p>
            <a:r>
              <a:t>Dit is de dia waar het board naar kijkt. Zeg expliciet dat de pilot nu loopt en dat februari 2027 de harde startdatum is.</a:t>
            </a:r>
          </a:p>
          <a:p/>
          <a:p>
            <a:r>
              <a:t>INTERACTIE</a:t>
            </a:r>
          </a:p>
          <a:p>
            <a:r>
              <a:t>Vraag of hun centrum de twee inclusies per maand haalbaar acht.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wat we van uw organisatie vragen. Vierentwintig inclusies over twaalf maanden, dus gemiddeld twee per maand. Verder één vaste PI, tijd bij de baseline, en een looppad van tien meter. Wat we níét vragen is gegevensinvoer.</a:t>
            </a:r>
          </a:p>
          <a:p/>
          <a:p>
            <a:r>
              <a:t>PRESENTATIETIP</a:t>
            </a:r>
          </a:p>
          <a:p>
            <a:r>
              <a:t>Dit is de vraag. Wees concreet en beloof niets over wat u niet weet.</a:t>
            </a:r>
          </a:p>
          <a:p/>
          <a:p>
            <a:r>
              <a:t>INTERACTIE</a:t>
            </a:r>
          </a:p>
          <a:p>
            <a:r>
              <a:t>Vraag per punt of het haalbaar is. Twijfel nu is beter dan uitval straks.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risico's, en wat we eraan doen. Het grootste is niet wetenschappelijk maar organisatorisch: of de centra hun vierentwintig halen. De andere drie zijn ingecalculeerd. Welk risico baart ú het meest zorgen?</a:t>
            </a:r>
          </a:p>
          <a:p/>
          <a:p>
            <a:r>
              <a:t>PRESENTATIETIP</a:t>
            </a:r>
          </a:p>
          <a:p>
            <a:r>
              <a:t>Benoem het inclusierisico eerst en zelf. Als het board het moet opmerken, bent u de regie kwijt.</a:t>
            </a:r>
          </a:p>
          <a:p/>
          <a:p>
            <a:r>
              <a:t>INTERACTIE</a:t>
            </a:r>
          </a:p>
          <a:p>
            <a:r>
              <a:t>Vraag welk risico zij zelf het grootst achten.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één. Ik geef u vier cijfers. Na het vierde weet u waarom deze studie twee normen heeft in plaats van één, en waarom niemand die tot nu toe samen gehaald heeft.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Veertig procent krijgt binnen één jaar een nieuw ulcus. Na vijf jaar is dat vijfenzestig. En de sterfte ligt tweeënhalf keer hoger dan bij diabetes zonder ulcus — na een majeure amputatie zelfs boven de zeventig procent. Dit is geen wondprobleem. Dit is een overlevingsprobleem.</a:t>
            </a:r>
          </a:p>
          <a:p/>
          <a:p>
            <a:r>
              <a:t>PRESENTATIETIP</a:t>
            </a:r>
          </a:p>
          <a:p>
            <a:r>
              <a:t>Dit is het probleem waar de hele studie op staat. Eén dia, dan door.</a:t>
            </a:r>
          </a:p>
          <a:p/>
          <a:p>
            <a:r>
              <a:t>INTERACTIE</a:t>
            </a:r>
          </a:p>
          <a:p>
            <a:r>
              <a:t>Geen. Dit is context, geen discussie.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Waar die cijfers vandaan komen, ziet u hier. Elk punt is een cohort; de lijn erdoorheen is de trend. Na één jaar veertig procent, na vijf jaar vijfenzestig. Het risico verdwijnt niet, het stapelt op.</a:t>
            </a:r>
          </a:p>
          <a:p/>
          <a:p>
            <a:r>
              <a:t>PRESENTATIETIP</a:t>
            </a:r>
          </a:p>
          <a:p>
            <a:r>
              <a:t>De vorige dia noemt de cijfers; deze laat zien waar ze vandaan komen. Wijs de trendlijn aan, niet de losse punten.</a:t>
            </a:r>
          </a:p>
          <a:p/>
          <a:p>
            <a:r>
              <a:t>INTERACTIE</a:t>
            </a:r>
          </a:p>
          <a:p>
            <a:r>
              <a:t>Geen. Laat de spreiding het werk doen.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En dan het cijfer dat het onverdraaglijk maakt. Driekwart van deze ulcera is in principe te voorkomen. Toch komt veertig procent binnen het jaar terug. Dat gat tussen wat kan en wat gebeurt — daar gaat deze studie over.</a:t>
            </a:r>
          </a:p>
          <a:p/>
          <a:p>
            <a:r>
              <a:t>PRESENTATIETIP</a:t>
            </a:r>
          </a:p>
          <a:p>
            <a:r>
              <a:t>Zeg dit traag en zwijg dan twee tellen. Dit is de enige dia in blok 1 waar de zaal niet leest maar luistert.</a:t>
            </a:r>
          </a:p>
          <a:p/>
          <a:p>
            <a:r>
              <a:t>INTERACTIE</a:t>
            </a:r>
          </a:p>
          <a:p>
            <a:r>
              <a:t>Geen. De stilte doet het werk.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de beste poging die er ligt: drukgeoptimaliseerd maatschoeisel, multicentrisch en gerandomiseerd. Over iedereen samen: geen verschil. Bij wie hem dróég: bijna gehalveerd. Het verschil zat dus niet in de schoen.</a:t>
            </a:r>
          </a:p>
          <a:p/>
          <a:p>
            <a:r>
              <a:t>PRESENTATIETIP</a:t>
            </a:r>
          </a:p>
          <a:p>
            <a:r>
              <a:t>Hier komt de tweede norm vandaan. Zonder deze dia is 80% draagtijd een willekeurig getal.</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Daar zit het. Eenenzeventig procent draagtijd, gemeten met een sensor en niet gevraagd. Thuis zakt het naar eenenzestig, en juist thuis worden de meeste stappen gezet. De schoen stond in de gang terwijl de patiënt door het huis liep.</a:t>
            </a:r>
          </a:p>
          <a:p/>
          <a:p>
            <a:r>
              <a:t>PRESENTATIETIP</a:t>
            </a:r>
          </a:p>
          <a:p>
            <a:r>
              <a:t>Binnenshuis wordt het schoeisel het minst gedragen, en juist daar worden veel stappen gezet. Dat is uw belangrijkste gesprekspunt bij SEBIA.</a:t>
            </a:r>
          </a:p>
          <a:p/>
          <a:p>
            <a:r>
              <a:t>INTERACTIE</a:t>
            </a:r>
          </a:p>
          <a:p>
            <a:r>
              <a:t>Vraag wat zij schatten bij hun eigen patiënten.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Belasting is een product, geen optelsom. Piekdruk maal activiteit maal draagtijd. Eén factor op nul maakt het hele product nul. Een perfecte zool in de kast beschermt niets.</a:t>
            </a:r>
          </a:p>
          <a:p/>
          <a:p>
            <a:r>
              <a:t>PRESENTATIETIP</a:t>
            </a:r>
          </a:p>
          <a:p>
            <a:r>
              <a:t>Dit is het scharnier van blok 1. Wie dit snapt, snapt waarom de meting én de sensor allebei moeten kloppen.</a:t>
            </a:r>
          </a:p>
          <a:p/>
          <a:p>
            <a:r>
              <a:t>INTERACTIE</a:t>
            </a:r>
          </a:p>
          <a:p>
            <a:r>
              <a:t>Morph: de drie tegels komen samen uit één punt.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Daarom doen wij het anders. Geen drie losse maatregelen, maar één dienst met twee normen: de zool moet de druk hálen, én hij moet gedragen wórden. Beide gemeten, beide bijgestuurd, en beide door uw eigen team. Dat is nog nooit samen getoetst.</a:t>
            </a:r>
          </a:p>
          <a:p/>
          <a:p>
            <a:r>
              <a:t>PRESENTATIETIP</a:t>
            </a:r>
          </a:p>
          <a:p>
            <a:r>
              <a:t>Dit is de kanteldia. Alles ervoor is het probleem, alles erna is de uitvoering. Zeg met zoveel woorden dat dit nog nooit samen getoetst is.</a:t>
            </a:r>
          </a:p>
          <a:p/>
          <a:p>
            <a:r>
              <a:t>INTERACTIE</a:t>
            </a:r>
          </a:p>
          <a:p>
            <a:r>
              <a:t>Vraag welke van de twee normen zij het moeilijkst achten. Het antwoord is bijna altijd de tweede.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twee: de meting. Wat u meet, hoe u het meet, en wanneer het goed genoeg is.</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Elke sensor geeft een cijfer. Dit is de baseline, in de schoen: driehonderdtwaalf kilopascal onder metatarsaal twee-drie. Drie loopproeven per voet, waarvan de middelste twaalf passen tellen. Hiertegen wordt alles afgezet.</a:t>
            </a:r>
          </a:p>
          <a:p/>
          <a:p>
            <a:r>
              <a:t>PRESENTATIETIP</a:t>
            </a:r>
          </a:p>
          <a:p>
            <a:r>
              <a:t>De meest gemaakte fout is één loopproef per voet. Het protocol vraagt er drie, en het gemiddelde telt.</a:t>
            </a:r>
          </a:p>
          <a:p/>
          <a:p>
            <a:r>
              <a:t>INTERACTIE</a:t>
            </a:r>
          </a:p>
          <a:p>
            <a:r>
              <a:t>Vraag wie er vandaag al in de schoen meet.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Zelfde voet, na aanpassing. Honderdzesentachtig kilopascal: veertig procent lager én onder de tweehonderd. De norm geldt per doelregio. Haalt u ze niet, dan past u aan en meet u opnieuw.</a:t>
            </a:r>
          </a:p>
          <a:p/>
          <a:p>
            <a:r>
              <a:t>PRESENTATIETIP</a:t>
            </a:r>
          </a:p>
          <a:p>
            <a:r>
              <a:t>Zeg expliciet: "óf". Twee wegen naar dezelfde norm, geen dubbele eis. En de vergelijking gebeurt per regio, niet over de hele voet.</a:t>
            </a:r>
          </a:p>
          <a:p/>
          <a:p>
            <a:r>
              <a:t>INTERACTIE</a:t>
            </a:r>
          </a:p>
          <a:p>
            <a:r>
              <a:t>Vraag de pedorthisten hoeveel aanpassingsrondes realistisch zijn.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Even stilstaan. Het doel is niet minder belasting. Het doel is belasting op een plek die het aankan. Dat is de hele interventie.</a:t>
            </a:r>
          </a:p>
          <a:p/>
          <a:p>
            <a:r>
              <a:t>PRESENTATIETIP</a:t>
            </a:r>
          </a:p>
          <a:p>
            <a:r>
              <a:t>Zeg deze twee zinnen en zwijg dan. Laat de dia staan tot iemand ongemakkelijk wordt. Dit is het enige moment in blok 2 waarop de zaal niets te lezen heeft.</a:t>
            </a:r>
          </a:p>
          <a:p/>
          <a:p>
            <a:r>
              <a:t>INTERACTIE</a:t>
            </a:r>
          </a:p>
          <a:p>
            <a:r>
              <a:t>Geen. Bewust geen.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drie: het traject. Negen contactmomenten. Per moment: wat u doet en wat u invult.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Screening en negen visites over achttien maanden. De eerste drie liggen dicht op elkaar. Daarna is het ritme elke drie maanden — hetzelfde ritme als de controle die deze patiënten toch al krijgen.</a:t>
            </a:r>
          </a:p>
          <a:p/>
          <a:p>
            <a:r>
              <a:t>PRESENTATIETIP</a:t>
            </a:r>
          </a:p>
          <a:p>
            <a:r>
              <a:t>Geef eerst het overzicht. De volgende dia's lopen elk moment af.</a:t>
            </a:r>
          </a:p>
          <a:p/>
          <a:p>
            <a:r>
              <a:t>INTERACTIE</a:t>
            </a:r>
          </a:p>
          <a:p>
            <a:r>
              <a:t>Geen. De detaildia's komen hierna.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Tien contactmomenten, één zorgpad. Het verschil met vandaag zit niet in hoe vaak u de patiënt ziet, maar in wat u bij elk bezoek wéét: wat de zool doet, en wat er gedragen is.</a:t>
            </a:r>
          </a:p>
          <a:p/>
          <a:p>
            <a:r>
              <a:t>PRESENTATIETIP</a:t>
            </a:r>
          </a:p>
          <a:p>
            <a:r>
              <a:t>Sluit blok 3 hiermee af. De zaal herkent de dia van het begin.</a:t>
            </a:r>
          </a:p>
          <a:p/>
          <a:p>
            <a:r>
              <a:t>INTERACTIE</a:t>
            </a:r>
          </a:p>
          <a:p>
            <a:r>
              <a:t>Vraag welk moment hun het meest zorgen baart.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vier: de toestellen en de regels. De instellingen, het gesprek, en de vier dingen die vastliggen.</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Drie toestellen, drie taken. De pedar meet druk, de Orthotimer meet of de zool gedragen is, de MoveMonitor meet hoeveel er gestapt wordt. Alleen de pedar bedient u bij elke meting; de andere twee plaatst u één keer en leest u uit.</a:t>
            </a:r>
          </a:p>
          <a:p/>
          <a:p>
            <a:r>
              <a:t>PRESENTATIETIP</a:t>
            </a:r>
          </a:p>
          <a:p>
            <a:r>
              <a:t>Benoem dat de Orthotimer géén GPS, microfoon of camera heeft. Die vraag komt gegarandeerd.</a:t>
            </a:r>
          </a:p>
          <a:p/>
          <a:p>
            <a:r>
              <a:t>INTERACTIE</a:t>
            </a:r>
          </a:p>
          <a:p>
            <a:r>
              <a:t>Laat de toestellen rondgaan. Fysiek werkt beter dan een dia.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Zo klein is de sensor: negen bij dertien millimeter. Hij zit in de zool, meet alleen temperatuur, en de patiënt merkt er niets van. Noem hem tegenover de patiënt gewoon "uw sensor".</a:t>
            </a:r>
          </a:p>
          <a:p/>
          <a:p>
            <a:r>
              <a:t>PRESENTATIETIP</a:t>
            </a:r>
          </a:p>
          <a:p>
            <a:r>
              <a:t>Laat deze dia even staan zonder te praten. De sensor is fysiek zo klein dat het beeld het argument al maakt.</a:t>
            </a:r>
          </a:p>
          <a:p/>
          <a:p>
            <a:r>
              <a:t>INTERACTIE</a:t>
            </a:r>
          </a:p>
          <a:p>
            <a:r>
              <a:t>Geef er een door de zaal terwijl u praat.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rollen. De podoloog meet, leest uit en begeleidt. De pedorthist maakt en past aan. De arts bevestigt geschiktheid en beoordeelt laesies. Het management houdt tijd vrij en bewaakt de vierentwintig.</a:t>
            </a:r>
          </a:p>
          <a:p/>
          <a:p>
            <a:r>
              <a:t>PRESENTATIETIP</a:t>
            </a:r>
          </a:p>
          <a:p>
            <a:r>
              <a:t>Kijk elke groep aan bij hun rij. Namen noemen als u ze kent.</a:t>
            </a:r>
          </a:p>
          <a:p/>
          <a:p>
            <a:r>
              <a:t>INTERACTIE</a:t>
            </a:r>
          </a:p>
          <a:p>
            <a:r>
              <a:t>Vraag per rij: "herkenbaar, of mis ik iets?" Pas de taakverdeling ter plekke aan als dat nodig 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En dit krijgt u van ons. Training in motiverende gespreksvoering, SOP's per handeling, één contactpunt, en het onderzoeksteam voert de gegevens in. Nul sancties: wijkt u af, dan meldt u het, en dat wordt geregistreerd, niet afgestraft.</a:t>
            </a:r>
          </a:p>
          <a:p/>
          <a:p>
            <a:r>
              <a:t>PRESENTATIETIP</a:t>
            </a:r>
          </a:p>
          <a:p>
            <a:r>
              <a:t>Het cijfer rechts ontspant de zaal. Zeg het expliciet en wacht even. Vraagt iemand hoe de ingevulde formulieren bij ons raken: zeg dat daar bericht over volgt. Beloof geen werkwijze, want die ligt nog niet vast.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ISO 14155 vraagt dat per medewerker aantoonbaar is welke training hij kreeg en voor welke handelingen hij gedelegeerd is. Vandaag tekenen. Bij elke nieuwe medewerker opnieuw, en bij elke protocolwijziging opnieuw. Het register blijft bij u; wij krijgen een kopie.</a:t>
            </a:r>
          </a:p>
          <a:p/>
          <a:p>
            <a:r>
              <a:t>PRESENTATIETIP</a:t>
            </a:r>
          </a:p>
          <a:p>
            <a:r>
              <a:t>Laat het register rondgaan tijdens deze dia, niet erna. Anders vertrekt de helft zonder te tekenen.</a:t>
            </a:r>
          </a:p>
          <a:p/>
          <a:p>
            <a:r>
              <a:t>INTERACTIE</a:t>
            </a:r>
          </a:p>
          <a:p>
            <a:r>
              <a:t>Tel hardop hoeveel handtekeningen u nodig hebt en hoeveel er al staan.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Tot slot: wie u aanspreekt. Praktische vragen — inclusies, metingen, formulieren, sensoren — komen bij mij. Wetenschappelijke vragen en afspraken op het niveau van uw centrum bij professor Deschamps. Dank u wel.</a:t>
            </a:r>
          </a:p>
          <a:p/>
          <a:p>
            <a:r>
              <a:t>PRESENTATIETIP</a:t>
            </a:r>
          </a:p>
          <a:p>
            <a:r>
              <a:t>Laat deze dia staan tijdens het napraten. Zeg erbij dat kleine dingen ook mogen — een sensor die niet uitleest is geen domme vraag.</a:t>
            </a:r>
          </a:p>
          <a:p/>
          <a:p>
            <a:r>
              <a:t>INTERACTIE</a:t>
            </a:r>
          </a:p>
          <a:p>
            <a:r>
              <a:t>Loop rond terwijl de dia staat. Wie een vraag heeft, komt naar het gezicht dat op het scherm staat.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Deze dia laat u staan tijdens de vragen. Alles wat u genoemd hebt, staat hier met nummer en citaat, in dezelfde nummering als het protocolmanuscript.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fotokader" descr="titel_voetonderzoek.jpg"/>
          <p:cNvPicPr>
            <a:picLocks noChangeAspect="1"/>
          </p:cNvPicPr>
          <p:nvPr/>
        </p:nvPicPr>
        <p:blipFill>
          <a:blip r:embed="rId2"/>
          <a:stretch>
            <a:fillRect/>
          </a:stretch>
        </p:blipFill>
        <p:spPr>
          <a:xfrm>
            <a:off x="-45491" y="0"/>
            <a:ext cx="12282678"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10000"/>
                </a:srgbClr>
              </a:gs>
              <a:gs pos="62000">
                <a:srgbClr val="04182A">
                  <a:alpha val="96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aradise_merk.png"/>
          <p:cNvPicPr>
            <a:picLocks noChangeAspect="1"/>
          </p:cNvPicPr>
          <p:nvPr/>
        </p:nvPicPr>
        <p:blipFill>
          <a:blip r:embed="rId3"/>
          <a:stretch>
            <a:fillRect/>
          </a:stretch>
        </p:blipFill>
        <p:spPr>
          <a:xfrm>
            <a:off x="516169" y="482587"/>
            <a:ext cx="1177404" cy="1346166"/>
          </a:xfrm>
          <a:prstGeom prst="rect">
            <a:avLst/>
          </a:prstGeom>
        </p:spPr>
      </p:pic>
      <p:sp>
        <p:nvSpPr>
          <p:cNvPr id="6" name="hero"/>
          <p:cNvSpPr txBox="1"/>
          <p:nvPr/>
        </p:nvSpPr>
        <p:spPr>
          <a:xfrm>
            <a:off x="634984" y="3848003"/>
            <a:ext cx="8889777" cy="1650958"/>
          </a:xfrm>
          <a:prstGeom prst="rect">
            <a:avLst/>
          </a:prstGeom>
          <a:noFill/>
        </p:spPr>
        <p:txBody>
          <a:bodyPr wrap="none" anchor="t" lIns="0" rIns="0" tIns="0" bIns="0">
            <a:spAutoFit/>
          </a:bodyPr>
          <a:lstStyle/>
          <a:p>
            <a:pPr algn="l">
              <a:lnSpc>
                <a:spcPct val="90000"/>
              </a:lnSpc>
            </a:pPr>
            <a:r>
              <a:rPr sz="12400" b="1">
                <a:solidFill>
                  <a:srgbClr val="F2F8FC"/>
                </a:solidFill>
                <a:latin typeface="Segoe UI"/>
              </a:rPr>
              <a:t>PARADISE</a:t>
            </a:r>
          </a:p>
        </p:txBody>
      </p:sp>
      <p:sp>
        <p:nvSpPr>
          <p:cNvPr id="7" name="TextBox 6"/>
          <p:cNvSpPr txBox="1"/>
          <p:nvPr/>
        </p:nvSpPr>
        <p:spPr>
          <a:xfrm>
            <a:off x="673083" y="5397365"/>
            <a:ext cx="8889777" cy="380990"/>
          </a:xfrm>
          <a:prstGeom prst="rect">
            <a:avLst/>
          </a:prstGeom>
          <a:noFill/>
        </p:spPr>
        <p:txBody>
          <a:bodyPr wrap="square" anchor="t" lIns="0" rIns="0" tIns="0" bIns="0">
            <a:spAutoFit/>
          </a:bodyPr>
          <a:lstStyle/>
          <a:p>
            <a:pPr algn="l">
              <a:lnSpc>
                <a:spcPct val="125000"/>
              </a:lnSpc>
            </a:pPr>
            <a:r>
              <a:rPr sz="2800" b="1">
                <a:solidFill>
                  <a:srgbClr val="52BDEC"/>
                </a:solidFill>
                <a:latin typeface="Segoe UI"/>
              </a:rPr>
              <a:t>Stand van zaken · stuurgroep en directie</a:t>
            </a:r>
          </a:p>
        </p:txBody>
      </p:sp>
      <p:sp>
        <p:nvSpPr>
          <p:cNvPr id="8" name="Rectangle 7"/>
          <p:cNvSpPr/>
          <p:nvPr/>
        </p:nvSpPr>
        <p:spPr>
          <a:xfrm>
            <a:off x="634984" y="587995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4984" y="6045048"/>
            <a:ext cx="1685893"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uleuven.png"/>
          <p:cNvPicPr>
            <a:picLocks noChangeAspect="1"/>
          </p:cNvPicPr>
          <p:nvPr/>
        </p:nvPicPr>
        <p:blipFill>
          <a:blip r:embed="rId4"/>
          <a:stretch>
            <a:fillRect/>
          </a:stretch>
        </p:blipFill>
        <p:spPr>
          <a:xfrm>
            <a:off x="787380" y="6152996"/>
            <a:ext cx="1381100" cy="393690"/>
          </a:xfrm>
          <a:prstGeom prst="rect">
            <a:avLst/>
          </a:prstGeom>
        </p:spPr>
      </p:pic>
      <p:sp>
        <p:nvSpPr>
          <p:cNvPr id="11" name="Rounded Rectangle 10"/>
          <p:cNvSpPr/>
          <p:nvPr/>
        </p:nvSpPr>
        <p:spPr>
          <a:xfrm>
            <a:off x="2574870" y="6045048"/>
            <a:ext cx="1420884" cy="609584"/>
          </a:xfrm>
          <a:prstGeom prst="roundRect">
            <a:avLst>
              <a:gd name="adj" fmla="val 4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ub.png"/>
          <p:cNvPicPr>
            <a:picLocks noChangeAspect="1"/>
          </p:cNvPicPr>
          <p:nvPr/>
        </p:nvPicPr>
        <p:blipFill>
          <a:blip r:embed="rId5"/>
          <a:stretch>
            <a:fillRect/>
          </a:stretch>
        </p:blipFill>
        <p:spPr>
          <a:xfrm>
            <a:off x="2727267" y="6152996"/>
            <a:ext cx="1116092" cy="393690"/>
          </a:xfrm>
          <a:prstGeom prst="rect">
            <a:avLst/>
          </a:prstGeom>
        </p:spPr>
      </p:pic>
      <p:sp>
        <p:nvSpPr>
          <p:cNvPr id="13" name="TextBox 12"/>
          <p:cNvSpPr txBox="1"/>
          <p:nvPr/>
        </p:nvSpPr>
        <p:spPr>
          <a:xfrm>
            <a:off x="4249749" y="6095847"/>
            <a:ext cx="2158946" cy="253993"/>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FWO</a:t>
            </a:r>
          </a:p>
        </p:txBody>
      </p:sp>
      <p:sp>
        <p:nvSpPr>
          <p:cNvPr id="14" name="TextBox 13"/>
          <p:cNvSpPr txBox="1"/>
          <p:nvPr/>
        </p:nvSpPr>
        <p:spPr>
          <a:xfrm>
            <a:off x="4262449" y="6349841"/>
            <a:ext cx="2666933" cy="215894"/>
          </a:xfrm>
          <a:prstGeom prst="rect">
            <a:avLst/>
          </a:prstGeom>
          <a:noFill/>
        </p:spPr>
        <p:txBody>
          <a:bodyPr wrap="square" anchor="t" lIns="0" rIns="0" tIns="0" bIns="0">
            <a:spAutoFit/>
          </a:bodyPr>
          <a:lstStyle/>
          <a:p>
            <a:pPr algn="l">
              <a:lnSpc>
                <a:spcPct val="125000"/>
              </a:lnSpc>
            </a:pPr>
            <a:r>
              <a:rPr sz="1200" b="0">
                <a:solidFill>
                  <a:srgbClr val="8FB6D0"/>
                </a:solidFill>
                <a:latin typeface="Consolas"/>
              </a:rPr>
              <a:t>TBM T000226N</a:t>
            </a:r>
          </a:p>
        </p:txBody>
      </p:sp>
      <p:sp>
        <p:nvSpPr>
          <p:cNvPr id="15" name="TextBox 14"/>
          <p:cNvSpPr txBox="1"/>
          <p:nvPr/>
        </p:nvSpPr>
        <p:spPr>
          <a:xfrm>
            <a:off x="7111822" y="6565735"/>
            <a:ext cx="4571885" cy="190495"/>
          </a:xfrm>
          <a:prstGeom prst="rect">
            <a:avLst/>
          </a:prstGeom>
          <a:noFill/>
        </p:spPr>
        <p:txBody>
          <a:bodyPr wrap="none" anchor="t" lIns="0" rIns="0" tIns="0" bIns="0">
            <a:spAutoFit/>
          </a:bodyPr>
          <a:lstStyle/>
          <a:p>
            <a:pPr algn="r">
              <a:lnSpc>
                <a:spcPct val="125000"/>
              </a:lnSpc>
            </a:pPr>
            <a:r>
              <a:rPr sz="1100" b="0">
                <a:solidFill>
                  <a:srgbClr val="8FB6D0"/>
                </a:solidFill>
                <a:latin typeface="Consolas"/>
              </a:rPr>
              <a:t>Protocolversie 1.0 · 17 mei 2026 · S71769</a:t>
            </a:r>
          </a:p>
        </p:txBody>
      </p:sp>
    </p:spTree>
  </p:cSld>
  <p:clrMapOvr>
    <a:masterClrMapping/>
  </p:clrMapOvr>
  <p:transition xmlns:p14="http://schemas.microsoft.com/office/powerpoint/2010/main" spd="slow" p14:dur="90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WE STAAN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144 patiënten, 24 per centrum</a:t>
            </a:r>
          </a:p>
        </p:txBody>
      </p:sp>
      <p:sp>
        <p:nvSpPr>
          <p:cNvPr id="5" name="Oval 4"/>
          <p:cNvSpPr/>
          <p:nvPr/>
        </p:nvSpPr>
        <p:spPr>
          <a:xfrm>
            <a:off x="634984"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76278"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7572"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58866"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0015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4145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08274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32404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56533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80662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4792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28921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3051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77180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01309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25439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9568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3698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97827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19569"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460863"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702157"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43451"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184745" y="1904952"/>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4984"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76278"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17572"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358866"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60015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84145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08274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32404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56533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80662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04792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8921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53051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77180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01309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25439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49568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73698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97827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219569"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460863"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702157"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943451"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184745" y="2146246"/>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34984"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76278"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117572"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358866"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60015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84145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08274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32404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56533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80662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04792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28921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53051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77180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01309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25439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49568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73698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97827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219569"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460863"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702157"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943451"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184745" y="2387540"/>
            <a:ext cx="165095" cy="165095"/>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34984"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76278"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117572"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358866"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60015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84145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08274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32404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56533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80662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04792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28921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53051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77180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401309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425439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449568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73698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497827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5219569"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5460863"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5702157"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5943451"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6184745" y="2628834"/>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34984"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76278"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1117572"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358866"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60015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84145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208274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232404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256533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280662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04792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28921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53051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77180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01309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25439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449568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73698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97827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5219569"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5460863"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5702157"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943451"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6184745" y="2870128"/>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634984"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876278"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117572"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358866"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60015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84145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08274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32404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256533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80662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04792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328921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353051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377180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01309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425439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49568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473698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497827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5219569"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5460863"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5702157"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5943451"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6184745" y="3111422"/>
            <a:ext cx="165095" cy="165095"/>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634984" y="3301917"/>
            <a:ext cx="2539936" cy="253993"/>
          </a:xfrm>
          <a:prstGeom prst="rect">
            <a:avLst/>
          </a:prstGeom>
          <a:noFill/>
        </p:spPr>
        <p:txBody>
          <a:bodyPr wrap="square" anchor="t" lIns="0" rIns="0" tIns="0" bIns="0">
            <a:spAutoFit/>
          </a:bodyPr>
          <a:lstStyle/>
          <a:p>
            <a:pPr algn="l">
              <a:lnSpc>
                <a:spcPct val="125000"/>
              </a:lnSpc>
            </a:pPr>
            <a:r>
              <a:rPr sz="1300" b="1" spc="140">
                <a:solidFill>
                  <a:srgbClr val="52BDEC"/>
                </a:solidFill>
                <a:latin typeface="Consolas"/>
              </a:rPr>
              <a:t>72 PARADISE</a:t>
            </a:r>
          </a:p>
        </p:txBody>
      </p:sp>
      <p:sp>
        <p:nvSpPr>
          <p:cNvPr id="150" name="TextBox 149"/>
          <p:cNvSpPr txBox="1"/>
          <p:nvPr/>
        </p:nvSpPr>
        <p:spPr>
          <a:xfrm>
            <a:off x="2412939" y="3301917"/>
            <a:ext cx="2539936" cy="253993"/>
          </a:xfrm>
          <a:prstGeom prst="rect">
            <a:avLst/>
          </a:prstGeom>
          <a:noFill/>
        </p:spPr>
        <p:txBody>
          <a:bodyPr wrap="square" anchor="t" lIns="0" rIns="0" tIns="0" bIns="0">
            <a:spAutoFit/>
          </a:bodyPr>
          <a:lstStyle/>
          <a:p>
            <a:pPr algn="l">
              <a:lnSpc>
                <a:spcPct val="125000"/>
              </a:lnSpc>
            </a:pPr>
            <a:r>
              <a:rPr sz="1300" b="1" spc="140">
                <a:solidFill>
                  <a:srgbClr val="FF7A00"/>
                </a:solidFill>
                <a:latin typeface="Consolas"/>
              </a:rPr>
              <a:t>72 GEBRUIKELIJKE ZORG</a:t>
            </a:r>
          </a:p>
        </p:txBody>
      </p:sp>
      <p:sp>
        <p:nvSpPr>
          <p:cNvPr id="151" name="Rounded Rectangle 150"/>
          <p:cNvSpPr/>
          <p:nvPr/>
        </p:nvSpPr>
        <p:spPr>
          <a:xfrm>
            <a:off x="634984"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25479"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PER CENTRUM</a:t>
            </a:r>
          </a:p>
        </p:txBody>
      </p:sp>
      <p:sp>
        <p:nvSpPr>
          <p:cNvPr id="153" name="TextBox 152"/>
          <p:cNvSpPr txBox="1"/>
          <p:nvPr/>
        </p:nvSpPr>
        <p:spPr>
          <a:xfrm>
            <a:off x="825479"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24 deelnemers — 12 PARADISE en 12 gebruikelijke zorg</a:t>
            </a:r>
          </a:p>
        </p:txBody>
      </p:sp>
      <p:sp>
        <p:nvSpPr>
          <p:cNvPr id="154" name="Rounded Rectangle 153"/>
          <p:cNvSpPr/>
          <p:nvPr/>
        </p:nvSpPr>
        <p:spPr>
          <a:xfrm>
            <a:off x="6171918" y="373370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362413" y="384800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CONTROLEGROEP</a:t>
            </a:r>
          </a:p>
        </p:txBody>
      </p:sp>
      <p:sp>
        <p:nvSpPr>
          <p:cNvPr id="156" name="TextBox 155"/>
          <p:cNvSpPr txBox="1"/>
          <p:nvPr/>
        </p:nvSpPr>
        <p:spPr>
          <a:xfrm>
            <a:off x="6362413" y="408929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Gebruikelijke zorg, onveranderd</a:t>
            </a:r>
          </a:p>
        </p:txBody>
      </p:sp>
      <p:sp>
        <p:nvSpPr>
          <p:cNvPr id="157" name="Rounded Rectangle 156"/>
          <p:cNvSpPr/>
          <p:nvPr/>
        </p:nvSpPr>
        <p:spPr>
          <a:xfrm>
            <a:off x="634984"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825479"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PRIMAIR</a:t>
            </a:r>
          </a:p>
        </p:txBody>
      </p:sp>
      <p:sp>
        <p:nvSpPr>
          <p:cNvPr id="159" name="TextBox 158"/>
          <p:cNvSpPr txBox="1"/>
          <p:nvPr/>
        </p:nvSpPr>
        <p:spPr>
          <a:xfrm>
            <a:off x="825479"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Recidief op 18 maanden</a:t>
            </a:r>
          </a:p>
        </p:txBody>
      </p:sp>
      <p:sp>
        <p:nvSpPr>
          <p:cNvPr id="160" name="Rounded Rectangle 159"/>
          <p:cNvSpPr/>
          <p:nvPr/>
        </p:nvSpPr>
        <p:spPr>
          <a:xfrm>
            <a:off x="6171918" y="4533786"/>
            <a:ext cx="5384538" cy="69848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362413" y="4648083"/>
            <a:ext cx="5003547" cy="215894"/>
          </a:xfrm>
          <a:prstGeom prst="rect">
            <a:avLst/>
          </a:prstGeom>
          <a:noFill/>
        </p:spPr>
        <p:txBody>
          <a:bodyPr wrap="square" anchor="t" lIns="0" rIns="0" tIns="0" bIns="0">
            <a:spAutoFit/>
          </a:bodyPr>
          <a:lstStyle/>
          <a:p>
            <a:pPr algn="l">
              <a:lnSpc>
                <a:spcPct val="125000"/>
              </a:lnSpc>
            </a:pPr>
            <a:r>
              <a:rPr sz="1200" b="1" spc="140">
                <a:solidFill>
                  <a:srgbClr val="52BDEC"/>
                </a:solidFill>
                <a:latin typeface="Consolas"/>
              </a:rPr>
              <a:t>POSITIEF</a:t>
            </a:r>
          </a:p>
        </p:txBody>
      </p:sp>
      <p:sp>
        <p:nvSpPr>
          <p:cNvPr id="162" name="TextBox 161"/>
          <p:cNvSpPr txBox="1"/>
          <p:nvPr/>
        </p:nvSpPr>
        <p:spPr>
          <a:xfrm>
            <a:off x="6362413" y="4889377"/>
            <a:ext cx="5003547" cy="292092"/>
          </a:xfrm>
          <a:prstGeom prst="rect">
            <a:avLst/>
          </a:prstGeom>
          <a:noFill/>
        </p:spPr>
        <p:txBody>
          <a:bodyPr wrap="square" anchor="t" lIns="0" rIns="0" tIns="0" bIns="0">
            <a:spAutoFit/>
          </a:bodyPr>
          <a:lstStyle/>
          <a:p>
            <a:pPr algn="l">
              <a:lnSpc>
                <a:spcPct val="125000"/>
              </a:lnSpc>
            </a:pPr>
            <a:r>
              <a:rPr sz="1550" b="0">
                <a:solidFill>
                  <a:srgbClr val="F2F8FC"/>
                </a:solidFill>
                <a:latin typeface="Segoe UI"/>
              </a:rPr>
              <a:t>Alleen als het eindpunt behaald is</a:t>
            </a:r>
          </a:p>
        </p:txBody>
      </p:sp>
      <p:sp>
        <p:nvSpPr>
          <p:cNvPr id="163" name="Rectangle 162"/>
          <p:cNvSpPr/>
          <p:nvPr/>
        </p:nvSpPr>
        <p:spPr>
          <a:xfrm>
            <a:off x="634984" y="544816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34984" y="5575160"/>
            <a:ext cx="5714857" cy="215894"/>
          </a:xfrm>
          <a:prstGeom prst="rect">
            <a:avLst/>
          </a:prstGeom>
          <a:noFill/>
        </p:spPr>
        <p:txBody>
          <a:bodyPr wrap="square" anchor="t" lIns="0" rIns="0" tIns="0" bIns="0">
            <a:spAutoFit/>
          </a:bodyPr>
          <a:lstStyle/>
          <a:p>
            <a:pPr algn="l">
              <a:lnSpc>
                <a:spcPct val="125000"/>
              </a:lnSpc>
            </a:pPr>
            <a:r>
              <a:rPr sz="1200" b="1" spc="140">
                <a:solidFill>
                  <a:srgbClr val="8FB6D0"/>
                </a:solidFill>
                <a:latin typeface="Consolas"/>
              </a:rPr>
              <a:t>DE ZES DEELNEMENDE VOETKLINIEKEN</a:t>
            </a:r>
          </a:p>
        </p:txBody>
      </p:sp>
      <p:sp>
        <p:nvSpPr>
          <p:cNvPr id="165" name="Rounded Rectangle 164"/>
          <p:cNvSpPr/>
          <p:nvPr/>
        </p:nvSpPr>
        <p:spPr>
          <a:xfrm>
            <a:off x="634984"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34984"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AZORG</a:t>
            </a:r>
          </a:p>
        </p:txBody>
      </p:sp>
      <p:sp>
        <p:nvSpPr>
          <p:cNvPr id="167" name="Rounded Rectangle 166"/>
          <p:cNvSpPr/>
          <p:nvPr/>
        </p:nvSpPr>
        <p:spPr>
          <a:xfrm>
            <a:off x="2463738"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2463738"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Sint-Jan Brugge</a:t>
            </a:r>
          </a:p>
        </p:txBody>
      </p:sp>
      <p:sp>
        <p:nvSpPr>
          <p:cNvPr id="169" name="Rounded Rectangle 168"/>
          <p:cNvSpPr/>
          <p:nvPr/>
        </p:nvSpPr>
        <p:spPr>
          <a:xfrm>
            <a:off x="4292492"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292492"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AZ Groeninge</a:t>
            </a:r>
          </a:p>
        </p:txBody>
      </p:sp>
      <p:sp>
        <p:nvSpPr>
          <p:cNvPr id="171" name="Rounded Rectangle 170"/>
          <p:cNvSpPr/>
          <p:nvPr/>
        </p:nvSpPr>
        <p:spPr>
          <a:xfrm>
            <a:off x="6121246"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6121246"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Gent</a:t>
            </a:r>
          </a:p>
        </p:txBody>
      </p:sp>
      <p:sp>
        <p:nvSpPr>
          <p:cNvPr id="173" name="Rounded Rectangle 172"/>
          <p:cNvSpPr/>
          <p:nvPr/>
        </p:nvSpPr>
        <p:spPr>
          <a:xfrm>
            <a:off x="7950001"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7950001"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Leuven</a:t>
            </a:r>
          </a:p>
        </p:txBody>
      </p:sp>
      <p:sp>
        <p:nvSpPr>
          <p:cNvPr id="175" name="Rounded Rectangle 174"/>
          <p:cNvSpPr/>
          <p:nvPr/>
        </p:nvSpPr>
        <p:spPr>
          <a:xfrm>
            <a:off x="9778755" y="5879952"/>
            <a:ext cx="1752556" cy="33019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9778755" y="5975200"/>
            <a:ext cx="1752556" cy="215894"/>
          </a:xfrm>
          <a:prstGeom prst="rect">
            <a:avLst/>
          </a:prstGeom>
          <a:noFill/>
        </p:spPr>
        <p:txBody>
          <a:bodyPr wrap="none" anchor="t" lIns="0" rIns="0" tIns="0" bIns="0">
            <a:spAutoFit/>
          </a:bodyPr>
          <a:lstStyle/>
          <a:p>
            <a:pPr algn="ctr">
              <a:lnSpc>
                <a:spcPct val="125000"/>
              </a:lnSpc>
            </a:pPr>
            <a:r>
              <a:rPr sz="1300" b="1">
                <a:solidFill>
                  <a:srgbClr val="F2F8FC"/>
                </a:solidFill>
                <a:latin typeface="Segoe UI"/>
              </a:rPr>
              <a:t>UZ Antwerpen</a:t>
            </a:r>
          </a:p>
        </p:txBody>
      </p:sp>
      <p:sp>
        <p:nvSpPr>
          <p:cNvPr id="177" name="TextBox 17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02 / 28</a:t>
            </a:r>
          </a:p>
        </p:txBody>
      </p:sp>
      <p:pic>
        <p:nvPicPr>
          <p:cNvPr id="17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79" name="TextBox 17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20 · Morbach 2016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WE STAAN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Van pilot tot laatste patiënt</a:t>
            </a:r>
          </a:p>
        </p:txBody>
      </p:sp>
      <p:sp>
        <p:nvSpPr>
          <p:cNvPr id="5" name="Rectangle 4"/>
          <p:cNvSpPr/>
          <p:nvPr/>
        </p:nvSpPr>
        <p:spPr>
          <a:xfrm>
            <a:off x="634984" y="2984425"/>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04952" y="2901877"/>
            <a:ext cx="190495" cy="190495"/>
          </a:xfrm>
          <a:prstGeom prst="ellipse">
            <a:avLst/>
          </a:prstGeom>
          <a:solidFill>
            <a:srgbClr val="FF7A00"/>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2095447"/>
            <a:ext cx="2730431" cy="253993"/>
          </a:xfrm>
          <a:prstGeom prst="rect">
            <a:avLst/>
          </a:prstGeom>
          <a:noFill/>
        </p:spPr>
        <p:txBody>
          <a:bodyPr wrap="square" anchor="t" lIns="0" rIns="0" tIns="0" bIns="0">
            <a:spAutoFit/>
          </a:bodyPr>
          <a:lstStyle/>
          <a:p>
            <a:pPr algn="ctr">
              <a:lnSpc>
                <a:spcPct val="125000"/>
              </a:lnSpc>
            </a:pPr>
            <a:r>
              <a:rPr sz="1500" b="1">
                <a:solidFill>
                  <a:srgbClr val="FF7A00"/>
                </a:solidFill>
                <a:latin typeface="Consolas"/>
              </a:rPr>
              <a:t>sep 2026 – feb 2027</a:t>
            </a:r>
          </a:p>
        </p:txBody>
      </p:sp>
      <p:sp>
        <p:nvSpPr>
          <p:cNvPr id="8" name="TextBox 7"/>
          <p:cNvSpPr txBox="1"/>
          <p:nvPr/>
        </p:nvSpPr>
        <p:spPr>
          <a:xfrm>
            <a:off x="634984"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Pilot</a:t>
            </a:r>
          </a:p>
        </p:txBody>
      </p:sp>
      <p:sp>
        <p:nvSpPr>
          <p:cNvPr id="9" name="TextBox 8"/>
          <p:cNvSpPr txBox="1"/>
          <p:nvPr/>
        </p:nvSpPr>
        <p:spPr>
          <a:xfrm>
            <a:off x="761980"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Protocol en meetprocedures uitproberen in de zes centra. Opleiding en bekwaamheidscheck.</a:t>
            </a:r>
          </a:p>
        </p:txBody>
      </p:sp>
      <p:sp>
        <p:nvSpPr>
          <p:cNvPr id="10" name="Oval 9"/>
          <p:cNvSpPr/>
          <p:nvPr/>
        </p:nvSpPr>
        <p:spPr>
          <a:xfrm>
            <a:off x="4660783"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5415" y="2095447"/>
            <a:ext cx="2730431" cy="253993"/>
          </a:xfrm>
          <a:prstGeom prst="rect">
            <a:avLst/>
          </a:prstGeom>
          <a:noFill/>
        </p:spPr>
        <p:txBody>
          <a:bodyPr wrap="square" anchor="t" lIns="0" rIns="0" tIns="0" bIns="0">
            <a:spAutoFit/>
          </a:bodyPr>
          <a:lstStyle/>
          <a:p>
            <a:pPr algn="ctr">
              <a:lnSpc>
                <a:spcPct val="125000"/>
              </a:lnSpc>
            </a:pPr>
            <a:r>
              <a:rPr sz="1500" b="1">
                <a:solidFill>
                  <a:srgbClr val="8FB6D0"/>
                </a:solidFill>
                <a:latin typeface="Consolas"/>
              </a:rPr>
              <a:t>feb 2027 – feb 2028</a:t>
            </a:r>
          </a:p>
        </p:txBody>
      </p:sp>
      <p:sp>
        <p:nvSpPr>
          <p:cNvPr id="12" name="TextBox 11"/>
          <p:cNvSpPr txBox="1"/>
          <p:nvPr/>
        </p:nvSpPr>
        <p:spPr>
          <a:xfrm>
            <a:off x="3365415"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Inclusie</a:t>
            </a:r>
          </a:p>
        </p:txBody>
      </p:sp>
      <p:sp>
        <p:nvSpPr>
          <p:cNvPr id="13" name="TextBox 12"/>
          <p:cNvSpPr txBox="1"/>
          <p:nvPr/>
        </p:nvSpPr>
        <p:spPr>
          <a:xfrm>
            <a:off x="3492412"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Twaalf maanden rekruteren. 24 deelnemers per centrum, twee per maand.</a:t>
            </a:r>
          </a:p>
        </p:txBody>
      </p:sp>
      <p:sp>
        <p:nvSpPr>
          <p:cNvPr id="14" name="Oval 13"/>
          <p:cNvSpPr/>
          <p:nvPr/>
        </p:nvSpPr>
        <p:spPr>
          <a:xfrm>
            <a:off x="7391215"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5847" y="2095447"/>
            <a:ext cx="2730431" cy="253993"/>
          </a:xfrm>
          <a:prstGeom prst="rect">
            <a:avLst/>
          </a:prstGeom>
          <a:noFill/>
        </p:spPr>
        <p:txBody>
          <a:bodyPr wrap="square" anchor="t" lIns="0" rIns="0" tIns="0" bIns="0">
            <a:spAutoFit/>
          </a:bodyPr>
          <a:lstStyle/>
          <a:p>
            <a:pPr algn="ctr">
              <a:lnSpc>
                <a:spcPct val="125000"/>
              </a:lnSpc>
            </a:pPr>
            <a:r>
              <a:rPr sz="1500" b="1">
                <a:solidFill>
                  <a:srgbClr val="8FB6D0"/>
                </a:solidFill>
                <a:latin typeface="Consolas"/>
              </a:rPr>
              <a:t>tot sep 2029</a:t>
            </a:r>
          </a:p>
        </p:txBody>
      </p:sp>
      <p:sp>
        <p:nvSpPr>
          <p:cNvPr id="16" name="TextBox 15"/>
          <p:cNvSpPr txBox="1"/>
          <p:nvPr/>
        </p:nvSpPr>
        <p:spPr>
          <a:xfrm>
            <a:off x="6095847"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Opvolging</a:t>
            </a:r>
          </a:p>
        </p:txBody>
      </p:sp>
      <p:sp>
        <p:nvSpPr>
          <p:cNvPr id="17" name="TextBox 16"/>
          <p:cNvSpPr txBox="1"/>
          <p:nvPr/>
        </p:nvSpPr>
        <p:spPr>
          <a:xfrm>
            <a:off x="6222844"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Elke deelnemer achttien maanden. De laatste inclusie bepaalt de einddatum.</a:t>
            </a:r>
          </a:p>
        </p:txBody>
      </p:sp>
      <p:sp>
        <p:nvSpPr>
          <p:cNvPr id="18" name="Oval 17"/>
          <p:cNvSpPr/>
          <p:nvPr/>
        </p:nvSpPr>
        <p:spPr>
          <a:xfrm>
            <a:off x="10121646"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6279" y="2095447"/>
            <a:ext cx="2730431" cy="253993"/>
          </a:xfrm>
          <a:prstGeom prst="rect">
            <a:avLst/>
          </a:prstGeom>
          <a:noFill/>
        </p:spPr>
        <p:txBody>
          <a:bodyPr wrap="square" anchor="t" lIns="0" rIns="0" tIns="0" bIns="0">
            <a:spAutoFit/>
          </a:bodyPr>
          <a:lstStyle/>
          <a:p>
            <a:pPr algn="ctr">
              <a:lnSpc>
                <a:spcPct val="125000"/>
              </a:lnSpc>
            </a:pPr>
            <a:r>
              <a:rPr sz="1500" b="1">
                <a:solidFill>
                  <a:srgbClr val="8FB6D0"/>
                </a:solidFill>
                <a:latin typeface="Consolas"/>
              </a:rPr>
              <a:t>2029 – 2030</a:t>
            </a:r>
          </a:p>
        </p:txBody>
      </p:sp>
      <p:sp>
        <p:nvSpPr>
          <p:cNvPr id="20" name="TextBox 19"/>
          <p:cNvSpPr txBox="1"/>
          <p:nvPr/>
        </p:nvSpPr>
        <p:spPr>
          <a:xfrm>
            <a:off x="8826279"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Analyse</a:t>
            </a:r>
          </a:p>
        </p:txBody>
      </p:sp>
      <p:sp>
        <p:nvSpPr>
          <p:cNvPr id="21" name="TextBox 20"/>
          <p:cNvSpPr txBox="1"/>
          <p:nvPr/>
        </p:nvSpPr>
        <p:spPr>
          <a:xfrm>
            <a:off x="8953276"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Uitkomsten, gezondheidseconomie en procesevaluatie. Één publicatie, ongeacht de uitkomst.</a:t>
            </a:r>
          </a:p>
        </p:txBody>
      </p:sp>
      <p:sp>
        <p:nvSpPr>
          <p:cNvPr id="22" name="Rounded Rectangle 21"/>
          <p:cNvSpPr/>
          <p:nvPr/>
        </p:nvSpPr>
        <p:spPr>
          <a:xfrm>
            <a:off x="634984" y="4990975"/>
            <a:ext cx="10921726" cy="1161868"/>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476" y="5156071"/>
            <a:ext cx="10286742" cy="907874"/>
          </a:xfrm>
          <a:prstGeom prst="rect">
            <a:avLst/>
          </a:prstGeom>
          <a:noFill/>
        </p:spPr>
        <p:txBody>
          <a:bodyPr wrap="square" anchor="t" lIns="0" rIns="0" tIns="0" bIns="0">
            <a:spAutoFit/>
          </a:bodyPr>
          <a:lstStyle/>
          <a:p>
            <a:pPr algn="l">
              <a:lnSpc>
                <a:spcPct val="140000"/>
              </a:lnSpc>
            </a:pPr>
            <a:r>
              <a:rPr sz="1800" b="0">
                <a:solidFill>
                  <a:srgbClr val="F2F8FC"/>
                </a:solidFill>
                <a:latin typeface="Segoe UI"/>
              </a:rPr>
              <a:t>De inclusieperiode is het enige wat de einddatum verschuift. Elke maand vertraging in de rekrutering is een maand later klaar.</a:t>
            </a:r>
          </a:p>
        </p:txBody>
      </p:sp>
      <p:sp>
        <p:nvSpPr>
          <p:cNvPr id="24" name="TextBox 2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03 / 28</a:t>
            </a:r>
          </a:p>
        </p:txBody>
      </p:sp>
      <p:pic>
        <p:nvPicPr>
          <p:cNvPr id="25"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6" name="TextBox 25"/>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20 · Morbach 2016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WE VAN UW ORGANISATIE VRAGEN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Vier toezeggingen</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24 inclusies</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Over twaalf maanden, dus gemiddeld twee per maand. Onder de twaalf per centrum wordt de studie onderbemand.</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24</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Eén vaste PI</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Plus een gedelegeerd team dat de opleiding volgt en het opleidingsregister tekent.</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1</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Tijd per bezoek</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Baseline loopt uit; de andere bezoeken vallen samen met de controle die de patiënt al krijgt.</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9</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546486"/>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Een looppad</a:t>
            </a:r>
          </a:p>
        </p:txBody>
      </p:sp>
      <p:sp>
        <p:nvSpPr>
          <p:cNvPr id="19" name="TextBox 18"/>
          <p:cNvSpPr txBox="1"/>
          <p:nvPr/>
        </p:nvSpPr>
        <p:spPr>
          <a:xfrm>
            <a:off x="3301917" y="4546486"/>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Tien meter volstaat. Meer ruimte of extra apparatuur is niet nodig.</a:t>
            </a:r>
          </a:p>
        </p:txBody>
      </p:sp>
      <p:sp>
        <p:nvSpPr>
          <p:cNvPr id="20" name="TextBox 19"/>
          <p:cNvSpPr txBox="1"/>
          <p:nvPr/>
        </p:nvSpPr>
        <p:spPr>
          <a:xfrm>
            <a:off x="9905752" y="455918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10 m</a:t>
            </a:r>
          </a:p>
        </p:txBody>
      </p:sp>
      <p:sp>
        <p:nvSpPr>
          <p:cNvPr id="21" name="Rounded Rectangle 20"/>
          <p:cNvSpPr/>
          <p:nvPr/>
        </p:nvSpPr>
        <p:spPr>
          <a:xfrm>
            <a:off x="634984" y="5371965"/>
            <a:ext cx="10921726" cy="736581"/>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549761"/>
            <a:ext cx="10286742" cy="380990"/>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Wat we níét vragen: gegevensinvoer. Dat doet het onderzoeksteam.</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04 / 28</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20 · Morbach 2016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ER MIS KAN GAAN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Vier risico's, en wat we eraan doen</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Te trage inclusie</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Gefaseerde rekrutering is voorzien; de haalbaarheid per centrum wordt in de pilot getoetst.</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hoog</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Contaminatie tussen de armen</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Blindering in de software van alle toestellen, aparte formulieren per arm, en een SEBIA-boekje ook in de controlegroep.</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middel</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Uitval</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Vijftien procent is ingecalculeerd in de steekproefberekening.</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middel</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546486"/>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Eén hard eindpunt</a:t>
            </a:r>
          </a:p>
        </p:txBody>
      </p:sp>
      <p:sp>
        <p:nvSpPr>
          <p:cNvPr id="19" name="TextBox 18"/>
          <p:cNvSpPr txBox="1"/>
          <p:nvPr/>
        </p:nvSpPr>
        <p:spPr>
          <a:xfrm>
            <a:off x="3301917" y="4546486"/>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Recidief over achttien maanden is streng, en dat is een bewuste keuze: druk zonder draagtijd zegt niets.</a:t>
            </a:r>
          </a:p>
        </p:txBody>
      </p:sp>
      <p:sp>
        <p:nvSpPr>
          <p:cNvPr id="20" name="TextBox 19"/>
          <p:cNvSpPr txBox="1"/>
          <p:nvPr/>
        </p:nvSpPr>
        <p:spPr>
          <a:xfrm>
            <a:off x="9905752" y="455918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laag</a:t>
            </a:r>
          </a:p>
        </p:txBody>
      </p:sp>
      <p:sp>
        <p:nvSpPr>
          <p:cNvPr id="21" name="Rounded Rectangle 20"/>
          <p:cNvSpPr/>
          <p:nvPr/>
        </p:nvSpPr>
        <p:spPr>
          <a:xfrm>
            <a:off x="634984" y="4992194"/>
            <a:ext cx="10921726" cy="1116352"/>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169989"/>
            <a:ext cx="10286742" cy="760761"/>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Het grootste risico is niet wetenschappelijk maar organisatorisch: of de centra hun 24 halen.</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05 / 28</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9 · Bus 2013, DIAFOS   |   13 · Waaijman 2013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01</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BLOK 01</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Waarom</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Vier cijfers verklaren waarom er twee normen zijn.</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06 / 28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974" y="253993"/>
            <a:ext cx="5206869" cy="5206869"/>
          </a:xfrm>
          <a:prstGeom prst="ellipse">
            <a:avLst/>
          </a:prstGeom>
          <a:solidFill>
            <a:srgbClr val="FF7A00">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
          <p:cNvSpPr txBox="1"/>
          <p:nvPr/>
        </p:nvSpPr>
        <p:spPr>
          <a:xfrm>
            <a:off x="380990" y="761980"/>
            <a:ext cx="7619809" cy="3301917"/>
          </a:xfrm>
          <a:prstGeom prst="rect">
            <a:avLst/>
          </a:prstGeom>
          <a:noFill/>
        </p:spPr>
        <p:txBody>
          <a:bodyPr wrap="square" anchor="t" lIns="0" rIns="0" tIns="0" bIns="0">
            <a:spAutoFit/>
          </a:bodyPr>
          <a:lstStyle/>
          <a:p>
            <a:pPr algn="l">
              <a:lnSpc>
                <a:spcPct val="82000"/>
              </a:lnSpc>
            </a:pPr>
            <a:r>
              <a:rPr sz="25000" b="1">
                <a:solidFill>
                  <a:srgbClr val="FF7A00"/>
                </a:solidFill>
                <a:latin typeface="Segoe UI"/>
              </a:rPr>
              <a:t>40</a:t>
            </a:r>
          </a:p>
        </p:txBody>
      </p:sp>
      <p:sp>
        <p:nvSpPr>
          <p:cNvPr id="5" name="TextBox 4"/>
          <p:cNvSpPr txBox="1"/>
          <p:nvPr/>
        </p:nvSpPr>
        <p:spPr>
          <a:xfrm>
            <a:off x="4444888" y="1320766"/>
            <a:ext cx="1523961" cy="1015974"/>
          </a:xfrm>
          <a:prstGeom prst="rect">
            <a:avLst/>
          </a:prstGeom>
          <a:noFill/>
        </p:spPr>
        <p:txBody>
          <a:bodyPr wrap="square" anchor="t" lIns="0" rIns="0" tIns="0" bIns="0">
            <a:spAutoFit/>
          </a:bodyPr>
          <a:lstStyle/>
          <a:p>
            <a:pPr algn="l">
              <a:lnSpc>
                <a:spcPct val="125000"/>
              </a:lnSpc>
            </a:pPr>
            <a:r>
              <a:rPr sz="7600" b="1">
                <a:solidFill>
                  <a:srgbClr val="FF7A00"/>
                </a:solidFill>
                <a:latin typeface="Segoe UI Light"/>
              </a:rPr>
              <a:t>%</a:t>
            </a:r>
          </a:p>
        </p:txBody>
      </p:sp>
      <p:sp>
        <p:nvSpPr>
          <p:cNvPr id="6" name="TextBox 5"/>
          <p:cNvSpPr txBox="1"/>
          <p:nvPr/>
        </p:nvSpPr>
        <p:spPr>
          <a:xfrm>
            <a:off x="660383" y="3975000"/>
            <a:ext cx="5460863" cy="1269968"/>
          </a:xfrm>
          <a:prstGeom prst="rect">
            <a:avLst/>
          </a:prstGeom>
          <a:noFill/>
        </p:spPr>
        <p:txBody>
          <a:bodyPr wrap="square" anchor="t" lIns="0" rIns="0" tIns="0" bIns="0">
            <a:spAutoFit/>
          </a:bodyPr>
          <a:lstStyle/>
          <a:p>
            <a:pPr algn="l">
              <a:lnSpc>
                <a:spcPct val="120000"/>
              </a:lnSpc>
            </a:pPr>
            <a:r>
              <a:rPr sz="3200" b="1">
                <a:solidFill>
                  <a:srgbClr val="F2F8FC"/>
                </a:solidFill>
                <a:latin typeface="Segoe UI"/>
              </a:rPr>
              <a:t>krijgt binnen een jaar</a:t>
            </a:r>
          </a:p>
          <a:p>
            <a:pPr algn="l">
              <a:lnSpc>
                <a:spcPct val="120000"/>
              </a:lnSpc>
              <a:spcBef>
                <a:spcPts val="500"/>
              </a:spcBef>
            </a:pPr>
            <a:r>
              <a:rPr sz="3200" b="1">
                <a:solidFill>
                  <a:srgbClr val="F2F8FC"/>
                </a:solidFill>
                <a:latin typeface="Segoe UI"/>
              </a:rPr>
              <a:t>een nieuw ulcus</a:t>
            </a:r>
          </a:p>
        </p:txBody>
      </p:sp>
      <p:sp>
        <p:nvSpPr>
          <p:cNvPr id="7" name="Rounded Rectangle 6"/>
          <p:cNvSpPr/>
          <p:nvPr/>
        </p:nvSpPr>
        <p:spPr>
          <a:xfrm>
            <a:off x="8017563" y="1142971"/>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0758" y="1320766"/>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65%</a:t>
            </a:r>
          </a:p>
        </p:txBody>
      </p:sp>
      <p:sp>
        <p:nvSpPr>
          <p:cNvPr id="9" name="TextBox 8"/>
          <p:cNvSpPr txBox="1"/>
          <p:nvPr/>
        </p:nvSpPr>
        <p:spPr>
          <a:xfrm>
            <a:off x="8233458" y="1930351"/>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NA VIJF JAAR</a:t>
            </a:r>
          </a:p>
        </p:txBody>
      </p:sp>
      <p:sp>
        <p:nvSpPr>
          <p:cNvPr id="10" name="Rounded Rectangle 9"/>
          <p:cNvSpPr/>
          <p:nvPr/>
        </p:nvSpPr>
        <p:spPr>
          <a:xfrm>
            <a:off x="8017563" y="2514537"/>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0758" y="2692332"/>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2,5×</a:t>
            </a:r>
          </a:p>
        </p:txBody>
      </p:sp>
      <p:sp>
        <p:nvSpPr>
          <p:cNvPr id="12" name="TextBox 11"/>
          <p:cNvSpPr txBox="1"/>
          <p:nvPr/>
        </p:nvSpPr>
        <p:spPr>
          <a:xfrm>
            <a:off x="8233458" y="3301917"/>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HOGERE STERFTE</a:t>
            </a:r>
          </a:p>
        </p:txBody>
      </p:sp>
      <p:sp>
        <p:nvSpPr>
          <p:cNvPr id="13" name="Rounded Rectangle 12"/>
          <p:cNvSpPr/>
          <p:nvPr/>
        </p:nvSpPr>
        <p:spPr>
          <a:xfrm>
            <a:off x="8017563" y="3886102"/>
            <a:ext cx="3538893" cy="120646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0758" y="4063898"/>
            <a:ext cx="3157903" cy="609584"/>
          </a:xfrm>
          <a:prstGeom prst="rect">
            <a:avLst/>
          </a:prstGeom>
          <a:noFill/>
        </p:spPr>
        <p:txBody>
          <a:bodyPr wrap="square" anchor="t" lIns="0" rIns="0" tIns="0" bIns="0">
            <a:spAutoFit/>
          </a:bodyPr>
          <a:lstStyle/>
          <a:p>
            <a:pPr algn="l">
              <a:lnSpc>
                <a:spcPct val="100000"/>
              </a:lnSpc>
            </a:pPr>
            <a:r>
              <a:rPr sz="4200" b="1">
                <a:solidFill>
                  <a:srgbClr val="F2F8FC"/>
                </a:solidFill>
                <a:latin typeface="Segoe UI"/>
              </a:rPr>
              <a:t>&gt; 70%</a:t>
            </a:r>
          </a:p>
        </p:txBody>
      </p:sp>
      <p:sp>
        <p:nvSpPr>
          <p:cNvPr id="15" name="TextBox 14"/>
          <p:cNvSpPr txBox="1"/>
          <p:nvPr/>
        </p:nvSpPr>
        <p:spPr>
          <a:xfrm>
            <a:off x="8233458" y="4673483"/>
            <a:ext cx="3157903" cy="253993"/>
          </a:xfrm>
          <a:prstGeom prst="rect">
            <a:avLst/>
          </a:prstGeom>
          <a:noFill/>
        </p:spPr>
        <p:txBody>
          <a:bodyPr wrap="square" anchor="t" lIns="0" rIns="0" tIns="0" bIns="0">
            <a:spAutoFit/>
          </a:bodyPr>
          <a:lstStyle/>
          <a:p>
            <a:pPr algn="l">
              <a:lnSpc>
                <a:spcPct val="125000"/>
              </a:lnSpc>
            </a:pPr>
            <a:r>
              <a:rPr sz="1350" b="0" spc="130">
                <a:solidFill>
                  <a:srgbClr val="8FB6D0"/>
                </a:solidFill>
                <a:latin typeface="Consolas"/>
              </a:rPr>
              <a:t>STERFTE NA MAJEURE AMPUTATIE</a:t>
            </a:r>
          </a:p>
        </p:txBody>
      </p:sp>
      <p:sp>
        <p:nvSpPr>
          <p:cNvPr id="16" name="TextBox 15"/>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Armstrong, Boulton &amp; Bus · N Engl J Med 2017</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07 / 28</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 · Armstrong 2017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RISICO NA GENEZING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Twee derde recidiveert binnen vijf jaar</a:t>
            </a:r>
          </a:p>
        </p:txBody>
      </p:sp>
      <p:sp>
        <p:nvSpPr>
          <p:cNvPr id="5" name="TextBox 4"/>
          <p:cNvSpPr txBox="1"/>
          <p:nvPr/>
        </p:nvSpPr>
        <p:spPr>
          <a:xfrm>
            <a:off x="634984" y="2489137"/>
            <a:ext cx="4063898" cy="228594"/>
          </a:xfrm>
          <a:prstGeom prst="rect">
            <a:avLst/>
          </a:prstGeom>
          <a:noFill/>
        </p:spPr>
        <p:txBody>
          <a:bodyPr wrap="square" anchor="t" lIns="0" rIns="0" tIns="0" bIns="0">
            <a:spAutoFit/>
          </a:bodyPr>
          <a:lstStyle/>
          <a:p>
            <a:pPr algn="l">
              <a:lnSpc>
                <a:spcPct val="125000"/>
              </a:lnSpc>
            </a:pPr>
            <a:r>
              <a:rPr sz="1100" b="1" spc="160">
                <a:solidFill>
                  <a:srgbClr val="8FB6D0"/>
                </a:solidFill>
                <a:latin typeface="Consolas"/>
              </a:rPr>
              <a:t>NA 1 JAAR</a:t>
            </a:r>
          </a:p>
        </p:txBody>
      </p:sp>
      <p:sp>
        <p:nvSpPr>
          <p:cNvPr id="6" name="TextBox 5"/>
          <p:cNvSpPr txBox="1"/>
          <p:nvPr/>
        </p:nvSpPr>
        <p:spPr>
          <a:xfrm>
            <a:off x="634984" y="2717732"/>
            <a:ext cx="4063898" cy="939776"/>
          </a:xfrm>
          <a:prstGeom prst="rect">
            <a:avLst/>
          </a:prstGeom>
          <a:noFill/>
        </p:spPr>
        <p:txBody>
          <a:bodyPr wrap="square" anchor="t" lIns="0" rIns="0" tIns="0" bIns="0">
            <a:spAutoFit/>
          </a:bodyPr>
          <a:lstStyle/>
          <a:p>
            <a:pPr algn="l">
              <a:lnSpc>
                <a:spcPct val="100000"/>
              </a:lnSpc>
            </a:pPr>
            <a:r>
              <a:rPr sz="5400" b="1">
                <a:solidFill>
                  <a:srgbClr val="52BDEC"/>
                </a:solidFill>
                <a:latin typeface="Segoe UI"/>
              </a:rPr>
              <a:t>40%</a:t>
            </a:r>
          </a:p>
        </p:txBody>
      </p:sp>
      <p:sp>
        <p:nvSpPr>
          <p:cNvPr id="7" name="TextBox 6"/>
          <p:cNvSpPr txBox="1"/>
          <p:nvPr/>
        </p:nvSpPr>
        <p:spPr>
          <a:xfrm>
            <a:off x="634984" y="4038499"/>
            <a:ext cx="4063898" cy="228594"/>
          </a:xfrm>
          <a:prstGeom prst="rect">
            <a:avLst/>
          </a:prstGeom>
          <a:noFill/>
        </p:spPr>
        <p:txBody>
          <a:bodyPr wrap="square" anchor="t" lIns="0" rIns="0" tIns="0" bIns="0">
            <a:spAutoFit/>
          </a:bodyPr>
          <a:lstStyle/>
          <a:p>
            <a:pPr algn="l">
              <a:lnSpc>
                <a:spcPct val="125000"/>
              </a:lnSpc>
            </a:pPr>
            <a:r>
              <a:rPr sz="1100" b="1" spc="160">
                <a:solidFill>
                  <a:srgbClr val="8FB6D0"/>
                </a:solidFill>
                <a:latin typeface="Consolas"/>
              </a:rPr>
              <a:t>NA 5 JAAR</a:t>
            </a:r>
          </a:p>
        </p:txBody>
      </p:sp>
      <p:sp>
        <p:nvSpPr>
          <p:cNvPr id="8" name="TextBox 7"/>
          <p:cNvSpPr txBox="1"/>
          <p:nvPr/>
        </p:nvSpPr>
        <p:spPr>
          <a:xfrm>
            <a:off x="634984" y="4267093"/>
            <a:ext cx="4063898" cy="939776"/>
          </a:xfrm>
          <a:prstGeom prst="rect">
            <a:avLst/>
          </a:prstGeom>
          <a:noFill/>
        </p:spPr>
        <p:txBody>
          <a:bodyPr wrap="square" anchor="t" lIns="0" rIns="0" tIns="0" bIns="0">
            <a:spAutoFit/>
          </a:bodyPr>
          <a:lstStyle/>
          <a:p>
            <a:pPr algn="l">
              <a:lnSpc>
                <a:spcPct val="100000"/>
              </a:lnSpc>
            </a:pPr>
            <a:r>
              <a:rPr sz="5400" b="1">
                <a:solidFill>
                  <a:srgbClr val="FF7A00"/>
                </a:solidFill>
                <a:latin typeface="Segoe UI"/>
              </a:rPr>
              <a:t>65%</a:t>
            </a:r>
          </a:p>
        </p:txBody>
      </p:sp>
      <p:sp>
        <p:nvSpPr>
          <p:cNvPr id="9" name="TextBox 8"/>
          <p:cNvSpPr txBox="1"/>
          <p:nvPr/>
        </p:nvSpPr>
        <p:spPr>
          <a:xfrm>
            <a:off x="5587860" y="1777955"/>
            <a:ext cx="5968850" cy="279393"/>
          </a:xfrm>
          <a:prstGeom prst="rect">
            <a:avLst/>
          </a:prstGeom>
          <a:noFill/>
        </p:spPr>
        <p:txBody>
          <a:bodyPr wrap="square" anchor="t" lIns="0" rIns="0" tIns="0" bIns="0">
            <a:spAutoFit/>
          </a:bodyPr>
          <a:lstStyle/>
          <a:p>
            <a:pPr algn="l">
              <a:lnSpc>
                <a:spcPct val="125000"/>
              </a:lnSpc>
            </a:pPr>
            <a:r>
              <a:rPr sz="1300" b="0">
                <a:solidFill>
                  <a:srgbClr val="8FB6D0"/>
                </a:solidFill>
                <a:latin typeface="Segoe UI"/>
              </a:rPr>
              <a:t>Incidentie van recidief tegenover follow-upduur</a:t>
            </a:r>
          </a:p>
        </p:txBody>
      </p:sp>
      <p:sp>
        <p:nvSpPr>
          <p:cNvPr id="10" name="Rounded Rectangle 9"/>
          <p:cNvSpPr/>
          <p:nvPr/>
        </p:nvSpPr>
        <p:spPr>
          <a:xfrm>
            <a:off x="5587860" y="2133546"/>
            <a:ext cx="5968850" cy="4063898"/>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cidief_curve.png"/>
          <p:cNvPicPr>
            <a:picLocks noChangeAspect="1"/>
          </p:cNvPicPr>
          <p:nvPr/>
        </p:nvPicPr>
        <p:blipFill>
          <a:blip r:embed="rId2"/>
          <a:stretch>
            <a:fillRect/>
          </a:stretch>
        </p:blipFill>
        <p:spPr>
          <a:xfrm>
            <a:off x="5748364" y="2285942"/>
            <a:ext cx="5647842" cy="3860703"/>
          </a:xfrm>
          <a:prstGeom prst="rect">
            <a:avLst/>
          </a:prstGeom>
        </p:spPr>
      </p:pic>
      <p:sp>
        <p:nvSpPr>
          <p:cNvPr id="12" name="TextBox 11"/>
          <p:cNvSpPr txBox="1"/>
          <p:nvPr/>
        </p:nvSpPr>
        <p:spPr>
          <a:xfrm>
            <a:off x="634984" y="6273643"/>
            <a:ext cx="9524761" cy="203194"/>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Gepoolde data uit negen prospectieve studies, één retrospectieve studie en de controlegroepen van negen RCT’s</a:t>
            </a:r>
          </a:p>
        </p:txBody>
      </p:sp>
      <p:sp>
        <p:nvSpPr>
          <p:cNvPr id="13" name="TextBox 1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08 / 28</a:t>
            </a:r>
          </a:p>
        </p:txBody>
      </p:sp>
      <p:pic>
        <p:nvPicPr>
          <p:cNvPr id="14"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15" name="TextBox 1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 · Armstrong 2017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knal_voorkomen.jpg"/>
          <p:cNvPicPr>
            <a:picLocks noChangeAspect="1"/>
          </p:cNvPicPr>
          <p:nvPr/>
        </p:nvPicPr>
        <p:blipFill>
          <a:blip r:embed="rId2"/>
          <a:stretch>
            <a:fillRect/>
          </a:stretch>
        </p:blipFill>
        <p:spPr>
          <a:xfrm>
            <a:off x="-45491" y="0"/>
            <a:ext cx="12282678"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8000"/>
                </a:srgbClr>
              </a:gs>
              <a:gs pos="100000">
                <a:srgbClr val="072138">
                  <a:alpha val="95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2476" y="123186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6200" b="1">
                <a:solidFill>
                  <a:srgbClr val="FFFFFF"/>
                </a:solidFill>
                <a:latin typeface="Segoe UI"/>
              </a:rPr>
              <a:t>Driekwart is te voorkomen.</a:t>
            </a:r>
          </a:p>
          <a:p>
            <a:pPr algn="l">
              <a:lnSpc>
                <a:spcPct val="106000"/>
              </a:lnSpc>
              <a:spcBef>
                <a:spcPts val="500"/>
              </a:spcBef>
            </a:pPr>
            <a:r>
              <a:rPr sz="6200" b="1">
                <a:solidFill>
                  <a:srgbClr val="FFFFFF"/>
                </a:solidFill>
                <a:latin typeface="Segoe UI"/>
              </a:rPr>
              <a:t>Veertig procent komt terug.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DEZELFDE SCHOEN, TWEE UITKOMSTEN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Waarom druk alléén niet volstaat</a:t>
            </a:r>
          </a:p>
        </p:txBody>
      </p:sp>
      <p:sp>
        <p:nvSpPr>
          <p:cNvPr id="5" name="Rectangle 4"/>
          <p:cNvSpPr/>
          <p:nvPr/>
        </p:nvSpPr>
        <p:spPr>
          <a:xfrm>
            <a:off x="634984" y="1828754"/>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1993850"/>
            <a:ext cx="3809904" cy="317492"/>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Iedereen</a:t>
            </a:r>
          </a:p>
        </p:txBody>
      </p:sp>
      <p:sp>
        <p:nvSpPr>
          <p:cNvPr id="7" name="TextBox 6"/>
          <p:cNvSpPr txBox="1"/>
          <p:nvPr/>
        </p:nvSpPr>
        <p:spPr>
          <a:xfrm>
            <a:off x="647683" y="2349441"/>
            <a:ext cx="3809904"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intention-to-treat</a:t>
            </a:r>
          </a:p>
        </p:txBody>
      </p:sp>
      <p:sp>
        <p:nvSpPr>
          <p:cNvPr id="8" name="TextBox 7"/>
          <p:cNvSpPr txBox="1"/>
          <p:nvPr/>
        </p:nvSpPr>
        <p:spPr>
          <a:xfrm>
            <a:off x="634984" y="2768530"/>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Gewone maatzool</a:t>
            </a:r>
          </a:p>
        </p:txBody>
      </p:sp>
      <p:sp>
        <p:nvSpPr>
          <p:cNvPr id="9" name="Rounded Rectangle 8"/>
          <p:cNvSpPr/>
          <p:nvPr/>
        </p:nvSpPr>
        <p:spPr>
          <a:xfrm>
            <a:off x="2793930" y="2717732"/>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793930" y="2717732"/>
            <a:ext cx="6062320" cy="292092"/>
          </a:xfrm>
          <a:prstGeom prst="roundRect">
            <a:avLst>
              <a:gd name="adj" fmla="val 50000"/>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05752" y="2692332"/>
            <a:ext cx="1396965" cy="342891"/>
          </a:xfrm>
          <a:prstGeom prst="rect">
            <a:avLst/>
          </a:prstGeom>
          <a:noFill/>
        </p:spPr>
        <p:txBody>
          <a:bodyPr wrap="square" anchor="t" lIns="0" rIns="0" tIns="0" bIns="0">
            <a:spAutoFit/>
          </a:bodyPr>
          <a:lstStyle/>
          <a:p>
            <a:pPr algn="l">
              <a:lnSpc>
                <a:spcPct val="125000"/>
              </a:lnSpc>
            </a:pPr>
            <a:r>
              <a:rPr sz="2700" b="1">
                <a:solidFill>
                  <a:srgbClr val="8FB6D0"/>
                </a:solidFill>
                <a:latin typeface="Segoe UI"/>
              </a:rPr>
              <a:t>44,2%</a:t>
            </a:r>
          </a:p>
        </p:txBody>
      </p:sp>
      <p:sp>
        <p:nvSpPr>
          <p:cNvPr id="12" name="TextBox 11"/>
          <p:cNvSpPr txBox="1"/>
          <p:nvPr/>
        </p:nvSpPr>
        <p:spPr>
          <a:xfrm>
            <a:off x="634984" y="3187620"/>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Drukgeoptimaliseerd</a:t>
            </a:r>
          </a:p>
        </p:txBody>
      </p:sp>
      <p:sp>
        <p:nvSpPr>
          <p:cNvPr id="13" name="Rounded Rectangle 12"/>
          <p:cNvSpPr/>
          <p:nvPr/>
        </p:nvSpPr>
        <p:spPr>
          <a:xfrm>
            <a:off x="2793930" y="3136821"/>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93930" y="3136821"/>
            <a:ext cx="5321674" cy="292092"/>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5752" y="3111422"/>
            <a:ext cx="1396965" cy="342891"/>
          </a:xfrm>
          <a:prstGeom prst="rect">
            <a:avLst/>
          </a:prstGeom>
          <a:noFill/>
        </p:spPr>
        <p:txBody>
          <a:bodyPr wrap="square" anchor="t" lIns="0" rIns="0" tIns="0" bIns="0">
            <a:spAutoFit/>
          </a:bodyPr>
          <a:lstStyle/>
          <a:p>
            <a:pPr algn="l">
              <a:lnSpc>
                <a:spcPct val="125000"/>
              </a:lnSpc>
            </a:pPr>
            <a:r>
              <a:rPr sz="2700" b="1">
                <a:solidFill>
                  <a:srgbClr val="FF7A00"/>
                </a:solidFill>
                <a:latin typeface="Segoe UI"/>
              </a:rPr>
              <a:t>38,8%</a:t>
            </a:r>
          </a:p>
        </p:txBody>
      </p:sp>
      <p:sp>
        <p:nvSpPr>
          <p:cNvPr id="16" name="TextBox 15"/>
          <p:cNvSpPr txBox="1"/>
          <p:nvPr/>
        </p:nvSpPr>
        <p:spPr>
          <a:xfrm>
            <a:off x="634984" y="3568610"/>
            <a:ext cx="5714857" cy="279393"/>
          </a:xfrm>
          <a:prstGeom prst="rect">
            <a:avLst/>
          </a:prstGeom>
          <a:noFill/>
        </p:spPr>
        <p:txBody>
          <a:bodyPr wrap="square" anchor="t" lIns="0" rIns="0" tIns="0" bIns="0">
            <a:spAutoFit/>
          </a:bodyPr>
          <a:lstStyle/>
          <a:p>
            <a:pPr algn="l">
              <a:lnSpc>
                <a:spcPct val="125000"/>
              </a:lnSpc>
            </a:pPr>
            <a:r>
              <a:rPr sz="1800" b="1">
                <a:solidFill>
                  <a:srgbClr val="FF7A00"/>
                </a:solidFill>
                <a:latin typeface="Segoe UI"/>
              </a:rPr>
              <a:t>Geen verschil — p = 0,48</a:t>
            </a:r>
          </a:p>
        </p:txBody>
      </p:sp>
      <p:sp>
        <p:nvSpPr>
          <p:cNvPr id="17" name="Rectangle 16"/>
          <p:cNvSpPr/>
          <p:nvPr/>
        </p:nvSpPr>
        <p:spPr>
          <a:xfrm>
            <a:off x="634984" y="408929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254393"/>
            <a:ext cx="3809904" cy="317492"/>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Wie hem droeg</a:t>
            </a:r>
          </a:p>
        </p:txBody>
      </p:sp>
      <p:sp>
        <p:nvSpPr>
          <p:cNvPr id="19" name="TextBox 18"/>
          <p:cNvSpPr txBox="1"/>
          <p:nvPr/>
        </p:nvSpPr>
        <p:spPr>
          <a:xfrm>
            <a:off x="647683" y="4609984"/>
            <a:ext cx="3809904"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 80% van de stappen</a:t>
            </a:r>
          </a:p>
        </p:txBody>
      </p:sp>
      <p:sp>
        <p:nvSpPr>
          <p:cNvPr id="20" name="TextBox 19"/>
          <p:cNvSpPr txBox="1"/>
          <p:nvPr/>
        </p:nvSpPr>
        <p:spPr>
          <a:xfrm>
            <a:off x="634984" y="5029074"/>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Gewone maatzool</a:t>
            </a:r>
          </a:p>
        </p:txBody>
      </p:sp>
      <p:sp>
        <p:nvSpPr>
          <p:cNvPr id="21" name="Rounded Rectangle 20"/>
          <p:cNvSpPr/>
          <p:nvPr/>
        </p:nvSpPr>
        <p:spPr>
          <a:xfrm>
            <a:off x="2793930" y="4978275"/>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793930" y="4978275"/>
            <a:ext cx="6556084" cy="292092"/>
          </a:xfrm>
          <a:prstGeom prst="roundRect">
            <a:avLst>
              <a:gd name="adj" fmla="val 50000"/>
            </a:avLst>
          </a:prstGeom>
          <a:solidFill>
            <a:srgbClr val="8FB6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05752" y="4952876"/>
            <a:ext cx="1396965" cy="342891"/>
          </a:xfrm>
          <a:prstGeom prst="rect">
            <a:avLst/>
          </a:prstGeom>
          <a:noFill/>
        </p:spPr>
        <p:txBody>
          <a:bodyPr wrap="square" anchor="t" lIns="0" rIns="0" tIns="0" bIns="0">
            <a:spAutoFit/>
          </a:bodyPr>
          <a:lstStyle/>
          <a:p>
            <a:pPr algn="l">
              <a:lnSpc>
                <a:spcPct val="125000"/>
              </a:lnSpc>
            </a:pPr>
            <a:r>
              <a:rPr sz="2700" b="1">
                <a:solidFill>
                  <a:srgbClr val="8FB6D0"/>
                </a:solidFill>
                <a:latin typeface="Segoe UI"/>
              </a:rPr>
              <a:t>47,8%</a:t>
            </a:r>
          </a:p>
        </p:txBody>
      </p:sp>
      <p:sp>
        <p:nvSpPr>
          <p:cNvPr id="24" name="TextBox 23"/>
          <p:cNvSpPr txBox="1"/>
          <p:nvPr/>
        </p:nvSpPr>
        <p:spPr>
          <a:xfrm>
            <a:off x="634984" y="5448163"/>
            <a:ext cx="2031949" cy="215894"/>
          </a:xfrm>
          <a:prstGeom prst="rect">
            <a:avLst/>
          </a:prstGeom>
          <a:noFill/>
        </p:spPr>
        <p:txBody>
          <a:bodyPr wrap="square" anchor="t" lIns="0" rIns="0" tIns="0" bIns="0">
            <a:spAutoFit/>
          </a:bodyPr>
          <a:lstStyle/>
          <a:p>
            <a:pPr algn="l">
              <a:lnSpc>
                <a:spcPct val="125000"/>
              </a:lnSpc>
            </a:pPr>
            <a:r>
              <a:rPr sz="1400" b="0">
                <a:solidFill>
                  <a:srgbClr val="8FB6D0"/>
                </a:solidFill>
                <a:latin typeface="Consolas"/>
              </a:rPr>
              <a:t>Drukgeoptimaliseerd</a:t>
            </a:r>
          </a:p>
        </p:txBody>
      </p:sp>
      <p:sp>
        <p:nvSpPr>
          <p:cNvPr id="25" name="Rounded Rectangle 24"/>
          <p:cNvSpPr/>
          <p:nvPr/>
        </p:nvSpPr>
        <p:spPr>
          <a:xfrm>
            <a:off x="2793930" y="5397365"/>
            <a:ext cx="6857828" cy="292092"/>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93930" y="5397365"/>
            <a:ext cx="3524923" cy="292092"/>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05752" y="5371965"/>
            <a:ext cx="1396965" cy="342891"/>
          </a:xfrm>
          <a:prstGeom prst="rect">
            <a:avLst/>
          </a:prstGeom>
          <a:noFill/>
        </p:spPr>
        <p:txBody>
          <a:bodyPr wrap="square" anchor="t" lIns="0" rIns="0" tIns="0" bIns="0">
            <a:spAutoFit/>
          </a:bodyPr>
          <a:lstStyle/>
          <a:p>
            <a:pPr algn="l">
              <a:lnSpc>
                <a:spcPct val="125000"/>
              </a:lnSpc>
            </a:pPr>
            <a:r>
              <a:rPr sz="2700" b="1">
                <a:solidFill>
                  <a:srgbClr val="52BDEC"/>
                </a:solidFill>
                <a:latin typeface="Segoe UI"/>
              </a:rPr>
              <a:t>25,7%</a:t>
            </a:r>
          </a:p>
        </p:txBody>
      </p:sp>
      <p:sp>
        <p:nvSpPr>
          <p:cNvPr id="28" name="TextBox 27"/>
          <p:cNvSpPr txBox="1"/>
          <p:nvPr/>
        </p:nvSpPr>
        <p:spPr>
          <a:xfrm>
            <a:off x="634984" y="5829154"/>
            <a:ext cx="5714857" cy="279393"/>
          </a:xfrm>
          <a:prstGeom prst="rect">
            <a:avLst/>
          </a:prstGeom>
          <a:noFill/>
        </p:spPr>
        <p:txBody>
          <a:bodyPr wrap="square" anchor="t" lIns="0" rIns="0" tIns="0" bIns="0">
            <a:spAutoFit/>
          </a:bodyPr>
          <a:lstStyle/>
          <a:p>
            <a:pPr algn="l">
              <a:lnSpc>
                <a:spcPct val="125000"/>
              </a:lnSpc>
            </a:pPr>
            <a:r>
              <a:rPr sz="1800" b="1">
                <a:solidFill>
                  <a:srgbClr val="52BDEC"/>
                </a:solidFill>
                <a:latin typeface="Segoe UI"/>
              </a:rPr>
              <a:t>Bijna gehalveerd — p = 0,045</a:t>
            </a:r>
          </a:p>
        </p:txBody>
      </p:sp>
      <p:sp>
        <p:nvSpPr>
          <p:cNvPr id="29" name="TextBox 2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Bus et al. · Diabetes Care 2013 · DIAFOS, 171 deelnemers</a:t>
            </a:r>
          </a:p>
        </p:txBody>
      </p:sp>
      <p:sp>
        <p:nvSpPr>
          <p:cNvPr id="30" name="TextBox 2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10 / 28</a:t>
            </a:r>
          </a:p>
        </p:txBody>
      </p:sp>
      <p:pic>
        <p:nvPicPr>
          <p:cNvPr id="3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2" name="TextBox 3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9 · Bus 2013, DIAFOS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974" y="253993"/>
            <a:ext cx="5206869" cy="5206869"/>
          </a:xfrm>
          <a:prstGeom prst="ellipse">
            <a:avLst/>
          </a:prstGeom>
          <a:solidFill>
            <a:srgbClr val="52BDEC">
              <a:alpha val="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ro"/>
          <p:cNvSpPr txBox="1"/>
          <p:nvPr/>
        </p:nvSpPr>
        <p:spPr>
          <a:xfrm>
            <a:off x="380990" y="761980"/>
            <a:ext cx="7619809" cy="3301917"/>
          </a:xfrm>
          <a:prstGeom prst="rect">
            <a:avLst/>
          </a:prstGeom>
          <a:noFill/>
        </p:spPr>
        <p:txBody>
          <a:bodyPr wrap="square" anchor="t" lIns="0" rIns="0" tIns="0" bIns="0">
            <a:spAutoFit/>
          </a:bodyPr>
          <a:lstStyle/>
          <a:p>
            <a:pPr algn="l">
              <a:lnSpc>
                <a:spcPct val="82000"/>
              </a:lnSpc>
            </a:pPr>
            <a:r>
              <a:rPr sz="25000" b="1">
                <a:solidFill>
                  <a:srgbClr val="52BDEC"/>
                </a:solidFill>
                <a:latin typeface="Segoe UI"/>
              </a:rPr>
              <a:t>71</a:t>
            </a:r>
          </a:p>
        </p:txBody>
      </p:sp>
      <p:sp>
        <p:nvSpPr>
          <p:cNvPr id="5" name="TextBox 4"/>
          <p:cNvSpPr txBox="1"/>
          <p:nvPr/>
        </p:nvSpPr>
        <p:spPr>
          <a:xfrm>
            <a:off x="4444888" y="1320766"/>
            <a:ext cx="1523961" cy="1015974"/>
          </a:xfrm>
          <a:prstGeom prst="rect">
            <a:avLst/>
          </a:prstGeom>
          <a:noFill/>
        </p:spPr>
        <p:txBody>
          <a:bodyPr wrap="square" anchor="t" lIns="0" rIns="0" tIns="0" bIns="0">
            <a:spAutoFit/>
          </a:bodyPr>
          <a:lstStyle/>
          <a:p>
            <a:pPr algn="l">
              <a:lnSpc>
                <a:spcPct val="125000"/>
              </a:lnSpc>
            </a:pPr>
            <a:r>
              <a:rPr sz="7600" b="1">
                <a:solidFill>
                  <a:srgbClr val="52BDEC"/>
                </a:solidFill>
                <a:latin typeface="Segoe UI Light"/>
              </a:rPr>
              <a:t>%</a:t>
            </a:r>
          </a:p>
        </p:txBody>
      </p:sp>
      <p:sp>
        <p:nvSpPr>
          <p:cNvPr id="6" name="TextBox 5"/>
          <p:cNvSpPr txBox="1"/>
          <p:nvPr/>
        </p:nvSpPr>
        <p:spPr>
          <a:xfrm>
            <a:off x="660383" y="3975000"/>
            <a:ext cx="5460863" cy="1269968"/>
          </a:xfrm>
          <a:prstGeom prst="rect">
            <a:avLst/>
          </a:prstGeom>
          <a:noFill/>
        </p:spPr>
        <p:txBody>
          <a:bodyPr wrap="square" anchor="t" lIns="0" rIns="0" tIns="0" bIns="0">
            <a:spAutoFit/>
          </a:bodyPr>
          <a:lstStyle/>
          <a:p>
            <a:pPr algn="l">
              <a:lnSpc>
                <a:spcPct val="120000"/>
              </a:lnSpc>
            </a:pPr>
            <a:r>
              <a:rPr sz="3200" b="1">
                <a:solidFill>
                  <a:srgbClr val="F2F8FC"/>
                </a:solidFill>
                <a:latin typeface="Segoe UI"/>
              </a:rPr>
              <a:t>draagtijd — gemeten,</a:t>
            </a:r>
          </a:p>
          <a:p>
            <a:pPr algn="l">
              <a:lnSpc>
                <a:spcPct val="120000"/>
              </a:lnSpc>
              <a:spcBef>
                <a:spcPts val="500"/>
              </a:spcBef>
            </a:pPr>
            <a:r>
              <a:rPr sz="3200" b="1">
                <a:solidFill>
                  <a:srgbClr val="F2F8FC"/>
                </a:solidFill>
                <a:latin typeface="Segoe UI"/>
              </a:rPr>
              <a:t>niet gevraagd</a:t>
            </a:r>
          </a:p>
        </p:txBody>
      </p:sp>
      <p:sp>
        <p:nvSpPr>
          <p:cNvPr id="7" name="TextBox 6"/>
          <p:cNvSpPr txBox="1"/>
          <p:nvPr/>
        </p:nvSpPr>
        <p:spPr>
          <a:xfrm>
            <a:off x="6349841" y="1904952"/>
            <a:ext cx="5079873" cy="228594"/>
          </a:xfrm>
          <a:prstGeom prst="rect">
            <a:avLst/>
          </a:prstGeom>
          <a:noFill/>
        </p:spPr>
        <p:txBody>
          <a:bodyPr wrap="square" anchor="t" lIns="0" rIns="0" tIns="0" bIns="0">
            <a:spAutoFit/>
          </a:bodyPr>
          <a:lstStyle/>
          <a:p>
            <a:pPr algn="l">
              <a:lnSpc>
                <a:spcPct val="125000"/>
              </a:lnSpc>
            </a:pPr>
            <a:r>
              <a:rPr sz="1300" b="0" spc="140">
                <a:solidFill>
                  <a:srgbClr val="8FB6D0"/>
                </a:solidFill>
                <a:latin typeface="Consolas"/>
              </a:rPr>
              <a:t>DRAAGTIJD TEGENOVER DE NORM VAN 80%</a:t>
            </a:r>
          </a:p>
        </p:txBody>
      </p:sp>
      <p:sp>
        <p:nvSpPr>
          <p:cNvPr id="8" name="TextBox 7"/>
          <p:cNvSpPr txBox="1"/>
          <p:nvPr/>
        </p:nvSpPr>
        <p:spPr>
          <a:xfrm>
            <a:off x="6349841" y="2222444"/>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Gemiddeld</a:t>
            </a:r>
          </a:p>
        </p:txBody>
      </p:sp>
      <p:sp>
        <p:nvSpPr>
          <p:cNvPr id="9" name="Rounded Rectangle 8"/>
          <p:cNvSpPr/>
          <p:nvPr/>
        </p:nvSpPr>
        <p:spPr>
          <a:xfrm>
            <a:off x="6349841" y="2489137"/>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49841" y="2489137"/>
            <a:ext cx="3155871"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21726" y="2463738"/>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71%</a:t>
            </a:r>
          </a:p>
        </p:txBody>
      </p:sp>
      <p:sp>
        <p:nvSpPr>
          <p:cNvPr id="12" name="TextBox 11"/>
          <p:cNvSpPr txBox="1"/>
          <p:nvPr/>
        </p:nvSpPr>
        <p:spPr>
          <a:xfrm>
            <a:off x="6349841" y="2971725"/>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Thuis</a:t>
            </a:r>
          </a:p>
        </p:txBody>
      </p:sp>
      <p:sp>
        <p:nvSpPr>
          <p:cNvPr id="13" name="Rounded Rectangle 12"/>
          <p:cNvSpPr/>
          <p:nvPr/>
        </p:nvSpPr>
        <p:spPr>
          <a:xfrm>
            <a:off x="6349841" y="3238419"/>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49841" y="3238419"/>
            <a:ext cx="2711382"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21726" y="3213019"/>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61%</a:t>
            </a:r>
          </a:p>
        </p:txBody>
      </p:sp>
      <p:sp>
        <p:nvSpPr>
          <p:cNvPr id="16" name="TextBox 15"/>
          <p:cNvSpPr txBox="1"/>
          <p:nvPr/>
        </p:nvSpPr>
        <p:spPr>
          <a:xfrm>
            <a:off x="6349841" y="3721006"/>
            <a:ext cx="1650958" cy="228594"/>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Buitenshuis</a:t>
            </a:r>
          </a:p>
        </p:txBody>
      </p:sp>
      <p:sp>
        <p:nvSpPr>
          <p:cNvPr id="17" name="Rounded Rectangle 16"/>
          <p:cNvSpPr/>
          <p:nvPr/>
        </p:nvSpPr>
        <p:spPr>
          <a:xfrm>
            <a:off x="6349841" y="3987700"/>
            <a:ext cx="4444888" cy="253993"/>
          </a:xfrm>
          <a:prstGeom prst="roundRect">
            <a:avLst>
              <a:gd name="adj" fmla="val 500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49841" y="3987700"/>
            <a:ext cx="3867053" cy="253993"/>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21726" y="3962300"/>
            <a:ext cx="698482" cy="279393"/>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87%</a:t>
            </a:r>
          </a:p>
        </p:txBody>
      </p:sp>
      <p:sp>
        <p:nvSpPr>
          <p:cNvPr id="20" name="Rectangle 19"/>
          <p:cNvSpPr/>
          <p:nvPr/>
        </p:nvSpPr>
        <p:spPr>
          <a:xfrm>
            <a:off x="9905752" y="2184345"/>
            <a:ext cx="19049" cy="2209744"/>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70768" y="4470288"/>
            <a:ext cx="1269968" cy="228594"/>
          </a:xfrm>
          <a:prstGeom prst="rect">
            <a:avLst/>
          </a:prstGeom>
          <a:noFill/>
        </p:spPr>
        <p:txBody>
          <a:bodyPr wrap="square" anchor="t" lIns="0" rIns="0" tIns="0" bIns="0">
            <a:spAutoFit/>
          </a:bodyPr>
          <a:lstStyle/>
          <a:p>
            <a:pPr algn="ctr">
              <a:lnSpc>
                <a:spcPct val="125000"/>
              </a:lnSpc>
            </a:pPr>
            <a:r>
              <a:rPr sz="1300" b="1">
                <a:solidFill>
                  <a:srgbClr val="FF7A00"/>
                </a:solidFill>
                <a:latin typeface="Consolas"/>
              </a:rPr>
              <a:t>norm 80%</a:t>
            </a:r>
          </a:p>
        </p:txBody>
      </p:sp>
      <p:sp>
        <p:nvSpPr>
          <p:cNvPr id="22" name="TextBox 21"/>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Waaijman et al. · Diabetes Care 2013 · 107 patiënten</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11 / 28</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13 · Waaijman 2013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MECHANISME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Belasting is een product, geen optelsom</a:t>
            </a:r>
          </a:p>
        </p:txBody>
      </p:sp>
      <p:sp>
        <p:nvSpPr>
          <p:cNvPr id="5" name="Rounded Rectangle 4"/>
          <p:cNvSpPr/>
          <p:nvPr/>
        </p:nvSpPr>
        <p:spPr>
          <a:xfrm>
            <a:off x="634984"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47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Piekdruk</a:t>
            </a:r>
          </a:p>
        </p:txBody>
      </p:sp>
      <p:sp>
        <p:nvSpPr>
          <p:cNvPr id="7" name="TextBox 6"/>
          <p:cNvSpPr txBox="1"/>
          <p:nvPr/>
        </p:nvSpPr>
        <p:spPr>
          <a:xfrm>
            <a:off x="82547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per stap</a:t>
            </a:r>
          </a:p>
        </p:txBody>
      </p:sp>
      <p:sp>
        <p:nvSpPr>
          <p:cNvPr id="8" name="Rounded Rectangle 7"/>
          <p:cNvSpPr/>
          <p:nvPr/>
        </p:nvSpPr>
        <p:spPr>
          <a:xfrm>
            <a:off x="825479"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547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BIJGESTUURD</a:t>
            </a:r>
          </a:p>
        </p:txBody>
      </p:sp>
      <p:sp>
        <p:nvSpPr>
          <p:cNvPr id="10" name="TextBox 9"/>
          <p:cNvSpPr txBox="1"/>
          <p:nvPr/>
        </p:nvSpPr>
        <p:spPr>
          <a:xfrm>
            <a:off x="3869085"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1" name="Rounded Rectangle 10"/>
          <p:cNvSpPr/>
          <p:nvPr/>
        </p:nvSpPr>
        <p:spPr>
          <a:xfrm>
            <a:off x="432627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6769"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Activiteit</a:t>
            </a:r>
          </a:p>
        </p:txBody>
      </p:sp>
      <p:sp>
        <p:nvSpPr>
          <p:cNvPr id="13" name="TextBox 12"/>
          <p:cNvSpPr txBox="1"/>
          <p:nvPr/>
        </p:nvSpPr>
        <p:spPr>
          <a:xfrm>
            <a:off x="4516769"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stappen per dag</a:t>
            </a:r>
          </a:p>
        </p:txBody>
      </p:sp>
      <p:sp>
        <p:nvSpPr>
          <p:cNvPr id="14" name="Rounded Rectangle 13"/>
          <p:cNvSpPr/>
          <p:nvPr/>
        </p:nvSpPr>
        <p:spPr>
          <a:xfrm>
            <a:off x="4516769" y="3797205"/>
            <a:ext cx="1015974" cy="279393"/>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6769" y="3873403"/>
            <a:ext cx="1015974" cy="203194"/>
          </a:xfrm>
          <a:prstGeom prst="rect">
            <a:avLst/>
          </a:prstGeom>
          <a:noFill/>
        </p:spPr>
        <p:txBody>
          <a:bodyPr wrap="square" anchor="t" lIns="0" rIns="0" tIns="0" bIns="0">
            <a:spAutoFit/>
          </a:bodyPr>
          <a:lstStyle/>
          <a:p>
            <a:pPr algn="ctr">
              <a:lnSpc>
                <a:spcPct val="125000"/>
              </a:lnSpc>
            </a:pPr>
            <a:r>
              <a:rPr sz="1100" b="1" spc="120">
                <a:solidFill>
                  <a:srgbClr val="8FB6D0"/>
                </a:solidFill>
                <a:latin typeface="Consolas"/>
              </a:rPr>
              <a:t>GEMETEN</a:t>
            </a:r>
          </a:p>
        </p:txBody>
      </p:sp>
      <p:sp>
        <p:nvSpPr>
          <p:cNvPr id="16" name="TextBox 15"/>
          <p:cNvSpPr txBox="1"/>
          <p:nvPr/>
        </p:nvSpPr>
        <p:spPr>
          <a:xfrm>
            <a:off x="7560374" y="3251118"/>
            <a:ext cx="406389" cy="571485"/>
          </a:xfrm>
          <a:prstGeom prst="rect">
            <a:avLst/>
          </a:prstGeom>
          <a:noFill/>
        </p:spPr>
        <p:txBody>
          <a:bodyPr wrap="square" anchor="t" lIns="0" rIns="0" tIns="0" bIns="0">
            <a:spAutoFit/>
          </a:bodyPr>
          <a:lstStyle/>
          <a:p>
            <a:pPr algn="ctr">
              <a:lnSpc>
                <a:spcPct val="125000"/>
              </a:lnSpc>
            </a:pPr>
            <a:r>
              <a:rPr sz="3400" b="0">
                <a:solidFill>
                  <a:srgbClr val="8FB6D0"/>
                </a:solidFill>
                <a:latin typeface="Segoe UI Light"/>
              </a:rPr>
              <a:t>×</a:t>
            </a:r>
          </a:p>
        </p:txBody>
      </p:sp>
      <p:sp>
        <p:nvSpPr>
          <p:cNvPr id="17" name="Rounded Rectangle 16"/>
          <p:cNvSpPr/>
          <p:nvPr/>
        </p:nvSpPr>
        <p:spPr>
          <a:xfrm>
            <a:off x="8017563" y="2539936"/>
            <a:ext cx="3284899" cy="1968450"/>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8058" y="2768530"/>
            <a:ext cx="2903909" cy="419089"/>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Draagtijd</a:t>
            </a:r>
          </a:p>
        </p:txBody>
      </p:sp>
      <p:sp>
        <p:nvSpPr>
          <p:cNvPr id="19" name="TextBox 18"/>
          <p:cNvSpPr txBox="1"/>
          <p:nvPr/>
        </p:nvSpPr>
        <p:spPr>
          <a:xfrm>
            <a:off x="8208058" y="3200319"/>
            <a:ext cx="2903909" cy="355591"/>
          </a:xfrm>
          <a:prstGeom prst="rect">
            <a:avLst/>
          </a:prstGeom>
          <a:noFill/>
        </p:spPr>
        <p:txBody>
          <a:bodyPr wrap="square" anchor="t" lIns="0" rIns="0" tIns="0" bIns="0">
            <a:spAutoFit/>
          </a:bodyPr>
          <a:lstStyle/>
          <a:p>
            <a:pPr algn="l">
              <a:lnSpc>
                <a:spcPct val="125000"/>
              </a:lnSpc>
            </a:pPr>
            <a:r>
              <a:rPr sz="1500" b="0">
                <a:solidFill>
                  <a:srgbClr val="8FB6D0"/>
                </a:solidFill>
                <a:latin typeface="Segoe UI"/>
              </a:rPr>
              <a:t>wérd hij gedragen</a:t>
            </a:r>
          </a:p>
        </p:txBody>
      </p:sp>
      <p:sp>
        <p:nvSpPr>
          <p:cNvPr id="20" name="Rounded Rectangle 19"/>
          <p:cNvSpPr/>
          <p:nvPr/>
        </p:nvSpPr>
        <p:spPr>
          <a:xfrm>
            <a:off x="8208058" y="3797205"/>
            <a:ext cx="1015974" cy="279393"/>
          </a:xfrm>
          <a:prstGeom prst="roundRect">
            <a:avLst>
              <a:gd name="adj" fmla="val 45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8058" y="3873403"/>
            <a:ext cx="1015974" cy="203194"/>
          </a:xfrm>
          <a:prstGeom prst="rect">
            <a:avLst/>
          </a:prstGeom>
          <a:noFill/>
        </p:spPr>
        <p:txBody>
          <a:bodyPr wrap="square" anchor="t" lIns="0" rIns="0" tIns="0" bIns="0">
            <a:spAutoFit/>
          </a:bodyPr>
          <a:lstStyle/>
          <a:p>
            <a:pPr algn="ctr">
              <a:lnSpc>
                <a:spcPct val="125000"/>
              </a:lnSpc>
            </a:pPr>
            <a:r>
              <a:rPr sz="1100" b="1" spc="120">
                <a:solidFill>
                  <a:srgbClr val="04182A"/>
                </a:solidFill>
                <a:latin typeface="Consolas"/>
              </a:rPr>
              <a:t>BIJGESTUURD</a:t>
            </a:r>
          </a:p>
        </p:txBody>
      </p:sp>
      <p:sp>
        <p:nvSpPr>
          <p:cNvPr id="22" name="TextBox 21"/>
          <p:cNvSpPr txBox="1"/>
          <p:nvPr/>
        </p:nvSpPr>
        <p:spPr>
          <a:xfrm>
            <a:off x="634984" y="4889377"/>
            <a:ext cx="10921726" cy="571485"/>
          </a:xfrm>
          <a:prstGeom prst="rect">
            <a:avLst/>
          </a:prstGeom>
          <a:noFill/>
        </p:spPr>
        <p:txBody>
          <a:bodyPr wrap="square" anchor="t" lIns="0" rIns="0" tIns="0" bIns="0">
            <a:spAutoFit/>
          </a:bodyPr>
          <a:lstStyle/>
          <a:p>
            <a:pPr algn="l">
              <a:lnSpc>
                <a:spcPct val="140000"/>
              </a:lnSpc>
            </a:pPr>
            <a:r>
              <a:rPr sz="2000" b="0">
                <a:solidFill>
                  <a:srgbClr val="8FB6D0"/>
                </a:solidFill>
                <a:latin typeface="Segoe UI"/>
              </a:rPr>
              <a:t>Eén factor op nul maakt het product nul. Daarom heeft PARADISE twee normen: een druknorm én een draagtijdnorm.</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12 / 28</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25" name="TextBox 24"/>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14 · van Netten 2018   |   16 · Hulshof 2025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WAT PARADISE ANDERS DOET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Eén dienst, geen drie losse maatregelen</a:t>
            </a:r>
          </a:p>
        </p:txBody>
      </p:sp>
      <p:sp>
        <p:nvSpPr>
          <p:cNvPr id="5" name="Rounded Rectangle 4"/>
          <p:cNvSpPr/>
          <p:nvPr/>
        </p:nvSpPr>
        <p:spPr>
          <a:xfrm>
            <a:off x="634984"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8977"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01</a:t>
            </a:r>
          </a:p>
        </p:txBody>
      </p:sp>
      <p:sp>
        <p:nvSpPr>
          <p:cNvPr id="7" name="TextBox 6"/>
          <p:cNvSpPr txBox="1"/>
          <p:nvPr/>
        </p:nvSpPr>
        <p:spPr>
          <a:xfrm>
            <a:off x="888977"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De zool háált de norm</a:t>
            </a: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&lt; 200 kPa óf 25% lager</a:t>
            </a:r>
          </a:p>
        </p:txBody>
      </p:sp>
      <p:sp>
        <p:nvSpPr>
          <p:cNvPr id="10" name="TextBox 9"/>
          <p:cNvSpPr txBox="1"/>
          <p:nvPr/>
        </p:nvSpPr>
        <p:spPr>
          <a:xfrm>
            <a:off x="888977"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Gemeten bij de aflevering.</a:t>
            </a:r>
          </a:p>
          <a:p>
            <a:pPr algn="l">
              <a:lnSpc>
                <a:spcPct val="132000"/>
              </a:lnSpc>
              <a:spcBef>
                <a:spcPts val="1200"/>
              </a:spcBef>
            </a:pPr>
            <a:r>
              <a:rPr sz="1450" b="0">
                <a:solidFill>
                  <a:srgbClr val="8FB6D0"/>
                </a:solidFill>
                <a:latin typeface="Segoe UI"/>
              </a:rPr>
              <a:t>Aangepast tot de norm gehaald is in elk van de drie doelregio's.</a:t>
            </a:r>
          </a:p>
          <a:p>
            <a:pPr algn="l">
              <a:lnSpc>
                <a:spcPct val="132000"/>
              </a:lnSpc>
              <a:spcBef>
                <a:spcPts val="1200"/>
              </a:spcBef>
            </a:pPr>
            <a:r>
              <a:rPr sz="1450" b="0">
                <a:solidFill>
                  <a:srgbClr val="8FB6D0"/>
                </a:solidFill>
                <a:latin typeface="Segoe UI"/>
              </a:rPr>
              <a:t>Herhaald op maand 6, 12 en 18.</a:t>
            </a:r>
          </a:p>
        </p:txBody>
      </p:sp>
      <p:sp>
        <p:nvSpPr>
          <p:cNvPr id="11" name="Rounded Rectangle 10"/>
          <p:cNvSpPr/>
          <p:nvPr/>
        </p:nvSpPr>
        <p:spPr>
          <a:xfrm>
            <a:off x="6171918" y="2031949"/>
            <a:ext cx="5384538" cy="3822604"/>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5912"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02</a:t>
            </a:r>
          </a:p>
        </p:txBody>
      </p:sp>
      <p:sp>
        <p:nvSpPr>
          <p:cNvPr id="13" name="TextBox 12"/>
          <p:cNvSpPr txBox="1"/>
          <p:nvPr/>
        </p:nvSpPr>
        <p:spPr>
          <a:xfrm>
            <a:off x="6425912"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En hij wórdt gedragen</a:t>
            </a: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912"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80% van het eigen activiteitenprofiel</a:t>
            </a:r>
          </a:p>
        </p:txBody>
      </p:sp>
      <p:sp>
        <p:nvSpPr>
          <p:cNvPr id="16" name="TextBox 15"/>
          <p:cNvSpPr txBox="1"/>
          <p:nvPr/>
        </p:nvSpPr>
        <p:spPr>
          <a:xfrm>
            <a:off x="6425912" y="4165495"/>
            <a:ext cx="4876551" cy="1516382"/>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Een sensor in de zool meet de draagtijd, continu.</a:t>
            </a:r>
          </a:p>
          <a:p>
            <a:pPr algn="l">
              <a:lnSpc>
                <a:spcPct val="132000"/>
              </a:lnSpc>
              <a:spcBef>
                <a:spcPts val="1200"/>
              </a:spcBef>
            </a:pPr>
            <a:r>
              <a:rPr sz="1450" b="0">
                <a:solidFill>
                  <a:srgbClr val="8FB6D0"/>
                </a:solidFill>
                <a:latin typeface="Segoe UI"/>
              </a:rPr>
              <a:t>Elke drie maanden uitgelezen en samen bekeken.</a:t>
            </a:r>
          </a:p>
          <a:p>
            <a:pPr algn="l">
              <a:lnSpc>
                <a:spcPct val="132000"/>
              </a:lnSpc>
              <a:spcBef>
                <a:spcPts val="1200"/>
              </a:spcBef>
            </a:pPr>
            <a:r>
              <a:rPr sz="1450" b="0">
                <a:solidFill>
                  <a:srgbClr val="8FB6D0"/>
                </a:solidFill>
                <a:latin typeface="Segoe UI"/>
              </a:rPr>
              <a:t>Vijf gesprekken die op die data steunen.</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13 / 28</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   |   17 · Waaijman 2014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02</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BLOK 02</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De meting</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Wat u meet, hoe u het meet, en wanneer het goed genoeg is.</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14 / 28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BASELINE · IN DE SCHOEN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Elke sensor een cijfer</a:t>
            </a:r>
          </a:p>
        </p:txBody>
      </p:sp>
      <p:sp>
        <p:nvSpPr>
          <p:cNvPr id="5" name="!!p00_07"/>
          <p:cNvSpPr/>
          <p:nvPr/>
        </p:nvSpPr>
        <p:spPr>
          <a:xfrm>
            <a:off x="1585505" y="5645727"/>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2897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A7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3BA9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2191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D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4AB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668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E3F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54BD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54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34A1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E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E4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57B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35A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4DB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4DB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42A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3A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1F8F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97B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45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16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049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2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145F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1561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251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135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04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0F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145D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358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B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66A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70C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51B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2E9D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A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62BF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FFB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F4D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9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0F4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5DB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DBCE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FF8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FFAA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1C8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36A4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9CC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FFD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FFA9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3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876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1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7DC2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BDC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FFB3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F7D1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45D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85C3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4FB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0F45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0F44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B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B3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5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D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B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1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20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FF7A00"/>
                </a:solidFill>
                <a:latin typeface="Segoe UI"/>
              </a:rPr>
              <a:t>312</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FF7A00"/>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piekdruk op metatarsaal 2-3</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Norm:  &lt; 200 kPa   óf   ≥ 25% lager</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pedar®-sensorinsole in de schoen geplaatst, drie loopproeven uitgevoerd.</a:t>
            </a:r>
          </a:p>
          <a:p>
            <a:pPr algn="l">
              <a:lnSpc>
                <a:spcPct val="135000"/>
              </a:lnSpc>
              <a:spcBef>
                <a:spcPts val="1200"/>
              </a:spcBef>
            </a:pPr>
            <a:r>
              <a:rPr sz="1700" b="0">
                <a:solidFill>
                  <a:srgbClr val="8FB6D0"/>
                </a:solidFill>
                <a:latin typeface="Segoe UI"/>
              </a:rPr>
              <a:t>De middelste twaalf passen per voet geanalyseerd; daaruit berekent de software de gemiddelde piekdruk per voet.</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eCRF-document 09 · Meting plantaire druk, baseline</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15 / 28</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7 · Bus 2020   |   27 · Zwaferink 2024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NA OPTIMALISATIE</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Wanneer is het goed genoeg</a:t>
            </a:r>
          </a:p>
        </p:txBody>
      </p:sp>
      <p:sp>
        <p:nvSpPr>
          <p:cNvPr id="5" name="!!p00_07"/>
          <p:cNvSpPr/>
          <p:nvPr/>
        </p:nvSpPr>
        <p:spPr>
          <a:xfrm>
            <a:off x="1585505" y="5645727"/>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00_08"/>
          <p:cNvSpPr/>
          <p:nvPr/>
        </p:nvSpPr>
        <p:spPr>
          <a:xfrm>
            <a:off x="1744251"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0_09"/>
          <p:cNvSpPr/>
          <p:nvPr/>
        </p:nvSpPr>
        <p:spPr>
          <a:xfrm>
            <a:off x="1902997" y="5645727"/>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_10"/>
          <p:cNvSpPr/>
          <p:nvPr/>
        </p:nvSpPr>
        <p:spPr>
          <a:xfrm>
            <a:off x="2061743" y="5645727"/>
            <a:ext cx="99157" cy="99157"/>
          </a:xfrm>
          <a:prstGeom prst="roundRect">
            <a:avLst>
              <a:gd name="adj" fmla="val 30000"/>
            </a:avLst>
          </a:prstGeom>
          <a:solidFill>
            <a:srgbClr val="145C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_06"/>
          <p:cNvSpPr/>
          <p:nvPr/>
        </p:nvSpPr>
        <p:spPr>
          <a:xfrm>
            <a:off x="1426759" y="5530427"/>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_07"/>
          <p:cNvSpPr/>
          <p:nvPr/>
        </p:nvSpPr>
        <p:spPr>
          <a:xfrm>
            <a:off x="1585505" y="5530427"/>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1_08"/>
          <p:cNvSpPr/>
          <p:nvPr/>
        </p:nvSpPr>
        <p:spPr>
          <a:xfrm>
            <a:off x="1744251"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_09"/>
          <p:cNvSpPr/>
          <p:nvPr/>
        </p:nvSpPr>
        <p:spPr>
          <a:xfrm>
            <a:off x="1902997" y="5530427"/>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_10"/>
          <p:cNvSpPr/>
          <p:nvPr/>
        </p:nvSpPr>
        <p:spPr>
          <a:xfrm>
            <a:off x="2061743" y="5530427"/>
            <a:ext cx="99157" cy="99157"/>
          </a:xfrm>
          <a:prstGeom prst="roundRect">
            <a:avLst>
              <a:gd name="adj" fmla="val 30000"/>
            </a:avLst>
          </a:prstGeom>
          <a:solidFill>
            <a:srgbClr val="176F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1_11"/>
          <p:cNvSpPr/>
          <p:nvPr/>
        </p:nvSpPr>
        <p:spPr>
          <a:xfrm>
            <a:off x="2220489" y="5530427"/>
            <a:ext cx="99157" cy="99157"/>
          </a:xfrm>
          <a:prstGeom prst="roundRect">
            <a:avLst>
              <a:gd name="adj" fmla="val 30000"/>
            </a:avLst>
          </a:prstGeom>
          <a:solidFill>
            <a:srgbClr val="104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2_05"/>
          <p:cNvSpPr/>
          <p:nvPr/>
        </p:nvSpPr>
        <p:spPr>
          <a:xfrm>
            <a:off x="1268013"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_06"/>
          <p:cNvSpPr/>
          <p:nvPr/>
        </p:nvSpPr>
        <p:spPr>
          <a:xfrm>
            <a:off x="1426759" y="5415127"/>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2_07"/>
          <p:cNvSpPr/>
          <p:nvPr/>
        </p:nvSpPr>
        <p:spPr>
          <a:xfrm>
            <a:off x="1585505" y="5415127"/>
            <a:ext cx="99157" cy="99157"/>
          </a:xfrm>
          <a:prstGeom prst="roundRect">
            <a:avLst>
              <a:gd name="adj" fmla="val 30000"/>
            </a:avLst>
          </a:prstGeom>
          <a:solidFill>
            <a:srgbClr val="1B80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2_08"/>
          <p:cNvSpPr/>
          <p:nvPr/>
        </p:nvSpPr>
        <p:spPr>
          <a:xfrm>
            <a:off x="1744251"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2_09"/>
          <p:cNvSpPr/>
          <p:nvPr/>
        </p:nvSpPr>
        <p:spPr>
          <a:xfrm>
            <a:off x="1902997" y="5415127"/>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2_10"/>
          <p:cNvSpPr/>
          <p:nvPr/>
        </p:nvSpPr>
        <p:spPr>
          <a:xfrm>
            <a:off x="2061743" y="5415127"/>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2_11"/>
          <p:cNvSpPr/>
          <p:nvPr/>
        </p:nvSpPr>
        <p:spPr>
          <a:xfrm>
            <a:off x="2220489" y="5415127"/>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2_12"/>
          <p:cNvSpPr/>
          <p:nvPr/>
        </p:nvSpPr>
        <p:spPr>
          <a:xfrm>
            <a:off x="2379235" y="5415127"/>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3_05"/>
          <p:cNvSpPr/>
          <p:nvPr/>
        </p:nvSpPr>
        <p:spPr>
          <a:xfrm>
            <a:off x="1268013" y="5299828"/>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3_06"/>
          <p:cNvSpPr/>
          <p:nvPr/>
        </p:nvSpPr>
        <p:spPr>
          <a:xfrm>
            <a:off x="1426759" y="5299828"/>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3_07"/>
          <p:cNvSpPr/>
          <p:nvPr/>
        </p:nvSpPr>
        <p:spPr>
          <a:xfrm>
            <a:off x="1585505" y="5299828"/>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03_08"/>
          <p:cNvSpPr/>
          <p:nvPr/>
        </p:nvSpPr>
        <p:spPr>
          <a:xfrm>
            <a:off x="1744251" y="5299828"/>
            <a:ext cx="99157" cy="99157"/>
          </a:xfrm>
          <a:prstGeom prst="roundRect">
            <a:avLst>
              <a:gd name="adj" fmla="val 30000"/>
            </a:avLst>
          </a:prstGeom>
          <a:solidFill>
            <a:srgbClr val="32A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03_09"/>
          <p:cNvSpPr/>
          <p:nvPr/>
        </p:nvSpPr>
        <p:spPr>
          <a:xfrm>
            <a:off x="1902997" y="5299828"/>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3_10"/>
          <p:cNvSpPr/>
          <p:nvPr/>
        </p:nvSpPr>
        <p:spPr>
          <a:xfrm>
            <a:off x="2061743" y="5299828"/>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03_11"/>
          <p:cNvSpPr/>
          <p:nvPr/>
        </p:nvSpPr>
        <p:spPr>
          <a:xfrm>
            <a:off x="2220489" y="5299828"/>
            <a:ext cx="99157" cy="99157"/>
          </a:xfrm>
          <a:prstGeom prst="roundRect">
            <a:avLst>
              <a:gd name="adj" fmla="val 30000"/>
            </a:avLst>
          </a:prstGeom>
          <a:solidFill>
            <a:srgbClr val="15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03_12"/>
          <p:cNvSpPr/>
          <p:nvPr/>
        </p:nvSpPr>
        <p:spPr>
          <a:xfrm>
            <a:off x="2379235" y="5299828"/>
            <a:ext cx="99157" cy="99157"/>
          </a:xfrm>
          <a:prstGeom prst="roundRect">
            <a:avLst>
              <a:gd name="adj" fmla="val 30000"/>
            </a:avLst>
          </a:prstGeom>
          <a:solidFill>
            <a:srgbClr val="0D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04_05"/>
          <p:cNvSpPr/>
          <p:nvPr/>
        </p:nvSpPr>
        <p:spPr>
          <a:xfrm>
            <a:off x="1268013" y="5184528"/>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04_06"/>
          <p:cNvSpPr/>
          <p:nvPr/>
        </p:nvSpPr>
        <p:spPr>
          <a:xfrm>
            <a:off x="1426759" y="5184528"/>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04_07"/>
          <p:cNvSpPr/>
          <p:nvPr/>
        </p:nvSpPr>
        <p:spPr>
          <a:xfrm>
            <a:off x="1585505" y="5184528"/>
            <a:ext cx="99157" cy="99157"/>
          </a:xfrm>
          <a:prstGeom prst="roundRect">
            <a:avLst>
              <a:gd name="adj" fmla="val 30000"/>
            </a:avLst>
          </a:prstGeom>
          <a:solidFill>
            <a:srgbClr val="22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04_08"/>
          <p:cNvSpPr/>
          <p:nvPr/>
        </p:nvSpPr>
        <p:spPr>
          <a:xfrm>
            <a:off x="1744251" y="5184528"/>
            <a:ext cx="99157" cy="99157"/>
          </a:xfrm>
          <a:prstGeom prst="roundRect">
            <a:avLst>
              <a:gd name="adj" fmla="val 30000"/>
            </a:avLst>
          </a:prstGeom>
          <a:solidFill>
            <a:srgbClr val="38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04_09"/>
          <p:cNvSpPr/>
          <p:nvPr/>
        </p:nvSpPr>
        <p:spPr>
          <a:xfrm>
            <a:off x="1902997" y="5184528"/>
            <a:ext cx="99157" cy="99157"/>
          </a:xfrm>
          <a:prstGeom prst="roundRect">
            <a:avLst>
              <a:gd name="adj" fmla="val 30000"/>
            </a:avLst>
          </a:prstGeom>
          <a:solidFill>
            <a:srgbClr val="39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04_10"/>
          <p:cNvSpPr/>
          <p:nvPr/>
        </p:nvSpPr>
        <p:spPr>
          <a:xfrm>
            <a:off x="2061743" y="5184528"/>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04_11"/>
          <p:cNvSpPr/>
          <p:nvPr/>
        </p:nvSpPr>
        <p:spPr>
          <a:xfrm>
            <a:off x="2220489" y="5184528"/>
            <a:ext cx="99157" cy="99157"/>
          </a:xfrm>
          <a:prstGeom prst="roundRect">
            <a:avLst>
              <a:gd name="adj" fmla="val 30000"/>
            </a:avLst>
          </a:prstGeom>
          <a:solidFill>
            <a:srgbClr val="1669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04_12"/>
          <p:cNvSpPr/>
          <p:nvPr/>
        </p:nvSpPr>
        <p:spPr>
          <a:xfrm>
            <a:off x="2379235" y="51845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05_05"/>
          <p:cNvSpPr/>
          <p:nvPr/>
        </p:nvSpPr>
        <p:spPr>
          <a:xfrm>
            <a:off x="1268013" y="5069228"/>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05_06"/>
          <p:cNvSpPr/>
          <p:nvPr/>
        </p:nvSpPr>
        <p:spPr>
          <a:xfrm>
            <a:off x="1426759" y="5069228"/>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05_07"/>
          <p:cNvSpPr/>
          <p:nvPr/>
        </p:nvSpPr>
        <p:spPr>
          <a:xfrm>
            <a:off x="1585505" y="5069228"/>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05_08"/>
          <p:cNvSpPr/>
          <p:nvPr/>
        </p:nvSpPr>
        <p:spPr>
          <a:xfrm>
            <a:off x="1744251" y="5069228"/>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05_09"/>
          <p:cNvSpPr/>
          <p:nvPr/>
        </p:nvSpPr>
        <p:spPr>
          <a:xfrm>
            <a:off x="1902997" y="5069228"/>
            <a:ext cx="99157" cy="99157"/>
          </a:xfrm>
          <a:prstGeom prst="roundRect">
            <a:avLst>
              <a:gd name="adj" fmla="val 30000"/>
            </a:avLst>
          </a:prstGeom>
          <a:solidFill>
            <a:srgbClr val="3BA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05_10"/>
          <p:cNvSpPr/>
          <p:nvPr/>
        </p:nvSpPr>
        <p:spPr>
          <a:xfrm>
            <a:off x="2061743" y="5069228"/>
            <a:ext cx="99157" cy="99157"/>
          </a:xfrm>
          <a:prstGeom prst="roundRect">
            <a:avLst>
              <a:gd name="adj" fmla="val 30000"/>
            </a:avLst>
          </a:prstGeom>
          <a:solidFill>
            <a:srgbClr val="2796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05_11"/>
          <p:cNvSpPr/>
          <p:nvPr/>
        </p:nvSpPr>
        <p:spPr>
          <a:xfrm>
            <a:off x="2220489" y="5069228"/>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05_12"/>
          <p:cNvSpPr/>
          <p:nvPr/>
        </p:nvSpPr>
        <p:spPr>
          <a:xfrm>
            <a:off x="2379235" y="5069228"/>
            <a:ext cx="99157" cy="99157"/>
          </a:xfrm>
          <a:prstGeom prst="roundRect">
            <a:avLst>
              <a:gd name="adj" fmla="val 30000"/>
            </a:avLst>
          </a:prstGeom>
          <a:solidFill>
            <a:srgbClr val="0F4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06_05"/>
          <p:cNvSpPr/>
          <p:nvPr/>
        </p:nvSpPr>
        <p:spPr>
          <a:xfrm>
            <a:off x="1268013" y="4953928"/>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06_06"/>
          <p:cNvSpPr/>
          <p:nvPr/>
        </p:nvSpPr>
        <p:spPr>
          <a:xfrm>
            <a:off x="1426759" y="4953928"/>
            <a:ext cx="99157" cy="99157"/>
          </a:xfrm>
          <a:prstGeom prst="roundRect">
            <a:avLst>
              <a:gd name="adj" fmla="val 30000"/>
            </a:avLst>
          </a:prstGeom>
          <a:solidFill>
            <a:srgbClr val="1666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p06_07"/>
          <p:cNvSpPr/>
          <p:nvPr/>
        </p:nvSpPr>
        <p:spPr>
          <a:xfrm>
            <a:off x="1585505" y="4953928"/>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p06_08"/>
          <p:cNvSpPr/>
          <p:nvPr/>
        </p:nvSpPr>
        <p:spPr>
          <a:xfrm>
            <a:off x="1744251" y="4953928"/>
            <a:ext cx="99157" cy="99157"/>
          </a:xfrm>
          <a:prstGeom prst="roundRect">
            <a:avLst>
              <a:gd name="adj" fmla="val 30000"/>
            </a:avLst>
          </a:prstGeom>
          <a:solidFill>
            <a:srgbClr val="37A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06_09"/>
          <p:cNvSpPr/>
          <p:nvPr/>
        </p:nvSpPr>
        <p:spPr>
          <a:xfrm>
            <a:off x="1902997" y="4953928"/>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06_10"/>
          <p:cNvSpPr/>
          <p:nvPr/>
        </p:nvSpPr>
        <p:spPr>
          <a:xfrm>
            <a:off x="2061743" y="4953928"/>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p06_11"/>
          <p:cNvSpPr/>
          <p:nvPr/>
        </p:nvSpPr>
        <p:spPr>
          <a:xfrm>
            <a:off x="2220489" y="4953928"/>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p06_12"/>
          <p:cNvSpPr/>
          <p:nvPr/>
        </p:nvSpPr>
        <p:spPr>
          <a:xfrm>
            <a:off x="2379235" y="4953928"/>
            <a:ext cx="99157" cy="99157"/>
          </a:xfrm>
          <a:prstGeom prst="roundRect">
            <a:avLst>
              <a:gd name="adj" fmla="val 30000"/>
            </a:avLst>
          </a:prstGeom>
          <a:solidFill>
            <a:srgbClr val="10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p07_05"/>
          <p:cNvSpPr/>
          <p:nvPr/>
        </p:nvSpPr>
        <p:spPr>
          <a:xfrm>
            <a:off x="1268013" y="4838629"/>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p07_06"/>
          <p:cNvSpPr/>
          <p:nvPr/>
        </p:nvSpPr>
        <p:spPr>
          <a:xfrm>
            <a:off x="1426759" y="4838629"/>
            <a:ext cx="99157" cy="99157"/>
          </a:xfrm>
          <a:prstGeom prst="roundRect">
            <a:avLst>
              <a:gd name="adj" fmla="val 30000"/>
            </a:avLst>
          </a:prstGeom>
          <a:solidFill>
            <a:srgbClr val="1563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07_07"/>
          <p:cNvSpPr/>
          <p:nvPr/>
        </p:nvSpPr>
        <p:spPr>
          <a:xfrm>
            <a:off x="1585505" y="4838629"/>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p07_08"/>
          <p:cNvSpPr/>
          <p:nvPr/>
        </p:nvSpPr>
        <p:spPr>
          <a:xfrm>
            <a:off x="1744251" y="4838629"/>
            <a:ext cx="99157" cy="99157"/>
          </a:xfrm>
          <a:prstGeom prst="roundRect">
            <a:avLst>
              <a:gd name="adj" fmla="val 30000"/>
            </a:avLst>
          </a:prstGeom>
          <a:solidFill>
            <a:srgbClr val="33A1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07_09"/>
          <p:cNvSpPr/>
          <p:nvPr/>
        </p:nvSpPr>
        <p:spPr>
          <a:xfrm>
            <a:off x="1902997" y="4838629"/>
            <a:ext cx="99157" cy="99157"/>
          </a:xfrm>
          <a:prstGeom prst="roundRect">
            <a:avLst>
              <a:gd name="adj" fmla="val 30000"/>
            </a:avLst>
          </a:prstGeom>
          <a:solidFill>
            <a:srgbClr val="36A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p07_10"/>
          <p:cNvSpPr/>
          <p:nvPr/>
        </p:nvSpPr>
        <p:spPr>
          <a:xfrm>
            <a:off x="2061743" y="4838629"/>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p07_11"/>
          <p:cNvSpPr/>
          <p:nvPr/>
        </p:nvSpPr>
        <p:spPr>
          <a:xfrm>
            <a:off x="2220489" y="4838629"/>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07_12"/>
          <p:cNvSpPr/>
          <p:nvPr/>
        </p:nvSpPr>
        <p:spPr>
          <a:xfrm>
            <a:off x="2379235" y="4838629"/>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08_05"/>
          <p:cNvSpPr/>
          <p:nvPr/>
        </p:nvSpPr>
        <p:spPr>
          <a:xfrm>
            <a:off x="1268013" y="4723329"/>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08_06"/>
          <p:cNvSpPr/>
          <p:nvPr/>
        </p:nvSpPr>
        <p:spPr>
          <a:xfrm>
            <a:off x="1426759" y="4723329"/>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08_07"/>
          <p:cNvSpPr/>
          <p:nvPr/>
        </p:nvSpPr>
        <p:spPr>
          <a:xfrm>
            <a:off x="1585505" y="4723329"/>
            <a:ext cx="99157" cy="99157"/>
          </a:xfrm>
          <a:prstGeom prst="roundRect">
            <a:avLst>
              <a:gd name="adj" fmla="val 30000"/>
            </a:avLst>
          </a:prstGeom>
          <a:solidFill>
            <a:srgbClr val="1C86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p08_08"/>
          <p:cNvSpPr/>
          <p:nvPr/>
        </p:nvSpPr>
        <p:spPr>
          <a:xfrm>
            <a:off x="1744251" y="4723329"/>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08_09"/>
          <p:cNvSpPr/>
          <p:nvPr/>
        </p:nvSpPr>
        <p:spPr>
          <a:xfrm>
            <a:off x="1902997" y="4723329"/>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08_10"/>
          <p:cNvSpPr/>
          <p:nvPr/>
        </p:nvSpPr>
        <p:spPr>
          <a:xfrm>
            <a:off x="2061743" y="4723329"/>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08_11"/>
          <p:cNvSpPr/>
          <p:nvPr/>
        </p:nvSpPr>
        <p:spPr>
          <a:xfrm>
            <a:off x="2220489" y="4723329"/>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08_12"/>
          <p:cNvSpPr/>
          <p:nvPr/>
        </p:nvSpPr>
        <p:spPr>
          <a:xfrm>
            <a:off x="2379235" y="4723329"/>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09_05"/>
          <p:cNvSpPr/>
          <p:nvPr/>
        </p:nvSpPr>
        <p:spPr>
          <a:xfrm>
            <a:off x="1268013" y="4608029"/>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p09_06"/>
          <p:cNvSpPr/>
          <p:nvPr/>
        </p:nvSpPr>
        <p:spPr>
          <a:xfrm>
            <a:off x="1426759" y="4608029"/>
            <a:ext cx="99157" cy="99157"/>
          </a:xfrm>
          <a:prstGeom prst="roundRect">
            <a:avLst>
              <a:gd name="adj" fmla="val 30000"/>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09_07"/>
          <p:cNvSpPr/>
          <p:nvPr/>
        </p:nvSpPr>
        <p:spPr>
          <a:xfrm>
            <a:off x="1585505" y="4608029"/>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09_08"/>
          <p:cNvSpPr/>
          <p:nvPr/>
        </p:nvSpPr>
        <p:spPr>
          <a:xfrm>
            <a:off x="1744251" y="4608029"/>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09_09"/>
          <p:cNvSpPr/>
          <p:nvPr/>
        </p:nvSpPr>
        <p:spPr>
          <a:xfrm>
            <a:off x="1902997" y="4608029"/>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09_10"/>
          <p:cNvSpPr/>
          <p:nvPr/>
        </p:nvSpPr>
        <p:spPr>
          <a:xfrm>
            <a:off x="2061743" y="4608029"/>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09_11"/>
          <p:cNvSpPr/>
          <p:nvPr/>
        </p:nvSpPr>
        <p:spPr>
          <a:xfrm>
            <a:off x="2220489" y="4608029"/>
            <a:ext cx="99157" cy="99157"/>
          </a:xfrm>
          <a:prstGeom prst="roundRect">
            <a:avLst>
              <a:gd name="adj" fmla="val 30000"/>
            </a:avLst>
          </a:prstGeom>
          <a:solidFill>
            <a:srgbClr val="1979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09_12"/>
          <p:cNvSpPr/>
          <p:nvPr/>
        </p:nvSpPr>
        <p:spPr>
          <a:xfrm>
            <a:off x="2379235" y="4608029"/>
            <a:ext cx="99157" cy="99157"/>
          </a:xfrm>
          <a:prstGeom prst="roundRect">
            <a:avLst>
              <a:gd name="adj" fmla="val 30000"/>
            </a:avLst>
          </a:prstGeom>
          <a:solidFill>
            <a:srgbClr val="1256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10_06"/>
          <p:cNvSpPr/>
          <p:nvPr/>
        </p:nvSpPr>
        <p:spPr>
          <a:xfrm>
            <a:off x="1426759" y="4492729"/>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10_07"/>
          <p:cNvSpPr/>
          <p:nvPr/>
        </p:nvSpPr>
        <p:spPr>
          <a:xfrm>
            <a:off x="1585505" y="4492729"/>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10_08"/>
          <p:cNvSpPr/>
          <p:nvPr/>
        </p:nvSpPr>
        <p:spPr>
          <a:xfrm>
            <a:off x="1744251" y="4492729"/>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10_09"/>
          <p:cNvSpPr/>
          <p:nvPr/>
        </p:nvSpPr>
        <p:spPr>
          <a:xfrm>
            <a:off x="1902997" y="4492729"/>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10_10"/>
          <p:cNvSpPr/>
          <p:nvPr/>
        </p:nvSpPr>
        <p:spPr>
          <a:xfrm>
            <a:off x="2061743" y="4492729"/>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10_11"/>
          <p:cNvSpPr/>
          <p:nvPr/>
        </p:nvSpPr>
        <p:spPr>
          <a:xfrm>
            <a:off x="2220489" y="4492729"/>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10_12"/>
          <p:cNvSpPr/>
          <p:nvPr/>
        </p:nvSpPr>
        <p:spPr>
          <a:xfrm>
            <a:off x="2379235" y="4492729"/>
            <a:ext cx="99157" cy="99157"/>
          </a:xfrm>
          <a:prstGeom prst="roundRect">
            <a:avLst>
              <a:gd name="adj" fmla="val 30000"/>
            </a:avLst>
          </a:prstGeom>
          <a:solidFill>
            <a:srgbClr val="145C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11_06"/>
          <p:cNvSpPr/>
          <p:nvPr/>
        </p:nvSpPr>
        <p:spPr>
          <a:xfrm>
            <a:off x="1426759" y="4377430"/>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11_07"/>
          <p:cNvSpPr/>
          <p:nvPr/>
        </p:nvSpPr>
        <p:spPr>
          <a:xfrm>
            <a:off x="1585505" y="4377430"/>
            <a:ext cx="99157" cy="99157"/>
          </a:xfrm>
          <a:prstGeom prst="roundRect">
            <a:avLst>
              <a:gd name="adj" fmla="val 30000"/>
            </a:avLst>
          </a:prstGeom>
          <a:solidFill>
            <a:srgbClr val="187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11_08"/>
          <p:cNvSpPr/>
          <p:nvPr/>
        </p:nvSpPr>
        <p:spPr>
          <a:xfrm>
            <a:off x="1744251" y="4377430"/>
            <a:ext cx="99157" cy="99157"/>
          </a:xfrm>
          <a:prstGeom prst="roundRect">
            <a:avLst>
              <a:gd name="adj" fmla="val 30000"/>
            </a:avLst>
          </a:prstGeom>
          <a:solidFill>
            <a:srgbClr val="1F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p11_09"/>
          <p:cNvSpPr/>
          <p:nvPr/>
        </p:nvSpPr>
        <p:spPr>
          <a:xfrm>
            <a:off x="1902997" y="43774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11_10"/>
          <p:cNvSpPr/>
          <p:nvPr/>
        </p:nvSpPr>
        <p:spPr>
          <a:xfrm>
            <a:off x="2061743" y="4377430"/>
            <a:ext cx="99157" cy="99157"/>
          </a:xfrm>
          <a:prstGeom prst="roundRect">
            <a:avLst>
              <a:gd name="adj" fmla="val 30000"/>
            </a:avLst>
          </a:prstGeom>
          <a:solidFill>
            <a:srgbClr val="2695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p11_11"/>
          <p:cNvSpPr/>
          <p:nvPr/>
        </p:nvSpPr>
        <p:spPr>
          <a:xfrm>
            <a:off x="2220489" y="4377430"/>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p11_12"/>
          <p:cNvSpPr/>
          <p:nvPr/>
        </p:nvSpPr>
        <p:spPr>
          <a:xfrm>
            <a:off x="2379235" y="4377430"/>
            <a:ext cx="99157" cy="99157"/>
          </a:xfrm>
          <a:prstGeom prst="roundRect">
            <a:avLst>
              <a:gd name="adj" fmla="val 30000"/>
            </a:avLst>
          </a:prstGeom>
          <a:solidFill>
            <a:srgbClr val="156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12_06"/>
          <p:cNvSpPr/>
          <p:nvPr/>
        </p:nvSpPr>
        <p:spPr>
          <a:xfrm>
            <a:off x="1426759" y="4262130"/>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p12_07"/>
          <p:cNvSpPr/>
          <p:nvPr/>
        </p:nvSpPr>
        <p:spPr>
          <a:xfrm>
            <a:off x="1585505" y="4262130"/>
            <a:ext cx="99157" cy="99157"/>
          </a:xfrm>
          <a:prstGeom prst="roundRect">
            <a:avLst>
              <a:gd name="adj" fmla="val 30000"/>
            </a:avLst>
          </a:prstGeom>
          <a:solidFill>
            <a:srgbClr val="17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12_08"/>
          <p:cNvSpPr/>
          <p:nvPr/>
        </p:nvSpPr>
        <p:spPr>
          <a:xfrm>
            <a:off x="1744251" y="42621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p12_09"/>
          <p:cNvSpPr/>
          <p:nvPr/>
        </p:nvSpPr>
        <p:spPr>
          <a:xfrm>
            <a:off x="1902997" y="4262130"/>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12_10"/>
          <p:cNvSpPr/>
          <p:nvPr/>
        </p:nvSpPr>
        <p:spPr>
          <a:xfrm>
            <a:off x="2061743" y="4262130"/>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12_11"/>
          <p:cNvSpPr/>
          <p:nvPr/>
        </p:nvSpPr>
        <p:spPr>
          <a:xfrm>
            <a:off x="2220489" y="4262130"/>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p12_12"/>
          <p:cNvSpPr/>
          <p:nvPr/>
        </p:nvSpPr>
        <p:spPr>
          <a:xfrm>
            <a:off x="2379235" y="4262130"/>
            <a:ext cx="99157" cy="99157"/>
          </a:xfrm>
          <a:prstGeom prst="roundRect">
            <a:avLst>
              <a:gd name="adj" fmla="val 30000"/>
            </a:avLst>
          </a:prstGeom>
          <a:solidFill>
            <a:srgbClr val="176B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p13_06"/>
          <p:cNvSpPr/>
          <p:nvPr/>
        </p:nvSpPr>
        <p:spPr>
          <a:xfrm>
            <a:off x="1426759" y="41468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13_07"/>
          <p:cNvSpPr/>
          <p:nvPr/>
        </p:nvSpPr>
        <p:spPr>
          <a:xfrm>
            <a:off x="1585505" y="4146830"/>
            <a:ext cx="99157" cy="99157"/>
          </a:xfrm>
          <a:prstGeom prst="roundRect">
            <a:avLst>
              <a:gd name="adj" fmla="val 30000"/>
            </a:avLst>
          </a:prstGeom>
          <a:solidFill>
            <a:srgbClr val="176D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p13_08"/>
          <p:cNvSpPr/>
          <p:nvPr/>
        </p:nvSpPr>
        <p:spPr>
          <a:xfrm>
            <a:off x="1744251" y="41468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13_09"/>
          <p:cNvSpPr/>
          <p:nvPr/>
        </p:nvSpPr>
        <p:spPr>
          <a:xfrm>
            <a:off x="1902997" y="4146830"/>
            <a:ext cx="99157" cy="99157"/>
          </a:xfrm>
          <a:prstGeom prst="roundRect">
            <a:avLst>
              <a:gd name="adj" fmla="val 30000"/>
            </a:avLst>
          </a:prstGeom>
          <a:solidFill>
            <a:srgbClr val="2B9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p13_10"/>
          <p:cNvSpPr/>
          <p:nvPr/>
        </p:nvSpPr>
        <p:spPr>
          <a:xfrm>
            <a:off x="2061743" y="41468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13_11"/>
          <p:cNvSpPr/>
          <p:nvPr/>
        </p:nvSpPr>
        <p:spPr>
          <a:xfrm>
            <a:off x="2220489" y="4146830"/>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p13_12"/>
          <p:cNvSpPr/>
          <p:nvPr/>
        </p:nvSpPr>
        <p:spPr>
          <a:xfrm>
            <a:off x="2379235" y="4146830"/>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p14_06"/>
          <p:cNvSpPr/>
          <p:nvPr/>
        </p:nvSpPr>
        <p:spPr>
          <a:xfrm>
            <a:off x="1426759" y="4031530"/>
            <a:ext cx="99157" cy="99157"/>
          </a:xfrm>
          <a:prstGeom prst="roundRect">
            <a:avLst>
              <a:gd name="adj" fmla="val 30000"/>
            </a:avLst>
          </a:prstGeom>
          <a:solidFill>
            <a:srgbClr val="114F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p14_07"/>
          <p:cNvSpPr/>
          <p:nvPr/>
        </p:nvSpPr>
        <p:spPr>
          <a:xfrm>
            <a:off x="1585505" y="4031530"/>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14_08"/>
          <p:cNvSpPr/>
          <p:nvPr/>
        </p:nvSpPr>
        <p:spPr>
          <a:xfrm>
            <a:off x="1744251" y="4031530"/>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p14_09"/>
          <p:cNvSpPr/>
          <p:nvPr/>
        </p:nvSpPr>
        <p:spPr>
          <a:xfrm>
            <a:off x="1902997" y="4031530"/>
            <a:ext cx="99157" cy="99157"/>
          </a:xfrm>
          <a:prstGeom prst="roundRect">
            <a:avLst>
              <a:gd name="adj" fmla="val 30000"/>
            </a:avLst>
          </a:prstGeom>
          <a:solidFill>
            <a:srgbClr val="2D9B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14_10"/>
          <p:cNvSpPr/>
          <p:nvPr/>
        </p:nvSpPr>
        <p:spPr>
          <a:xfrm>
            <a:off x="2061743" y="4031530"/>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p14_11"/>
          <p:cNvSpPr/>
          <p:nvPr/>
        </p:nvSpPr>
        <p:spPr>
          <a:xfrm>
            <a:off x="2220489" y="4031530"/>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14_12"/>
          <p:cNvSpPr/>
          <p:nvPr/>
        </p:nvSpPr>
        <p:spPr>
          <a:xfrm>
            <a:off x="2379235" y="4031530"/>
            <a:ext cx="99157" cy="99157"/>
          </a:xfrm>
          <a:prstGeom prst="roundRect">
            <a:avLst>
              <a:gd name="adj" fmla="val 30000"/>
            </a:avLst>
          </a:prstGeom>
          <a:solidFill>
            <a:srgbClr val="1978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p15_07"/>
          <p:cNvSpPr/>
          <p:nvPr/>
        </p:nvSpPr>
        <p:spPr>
          <a:xfrm>
            <a:off x="1585505" y="39162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p15_08"/>
          <p:cNvSpPr/>
          <p:nvPr/>
        </p:nvSpPr>
        <p:spPr>
          <a:xfrm>
            <a:off x="1744251" y="3916231"/>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p15_09"/>
          <p:cNvSpPr/>
          <p:nvPr/>
        </p:nvSpPr>
        <p:spPr>
          <a:xfrm>
            <a:off x="1902997" y="3916231"/>
            <a:ext cx="99157" cy="99157"/>
          </a:xfrm>
          <a:prstGeom prst="roundRect">
            <a:avLst>
              <a:gd name="adj" fmla="val 30000"/>
            </a:avLst>
          </a:prstGeom>
          <a:solidFill>
            <a:srgbClr val="2D9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15_10"/>
          <p:cNvSpPr/>
          <p:nvPr/>
        </p:nvSpPr>
        <p:spPr>
          <a:xfrm>
            <a:off x="2061743" y="3916231"/>
            <a:ext cx="99157" cy="99157"/>
          </a:xfrm>
          <a:prstGeom prst="roundRect">
            <a:avLst>
              <a:gd name="adj" fmla="val 30000"/>
            </a:avLst>
          </a:prstGeom>
          <a:solidFill>
            <a:srgbClr val="319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p15_11"/>
          <p:cNvSpPr/>
          <p:nvPr/>
        </p:nvSpPr>
        <p:spPr>
          <a:xfrm>
            <a:off x="2220489" y="39162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15_12"/>
          <p:cNvSpPr/>
          <p:nvPr/>
        </p:nvSpPr>
        <p:spPr>
          <a:xfrm>
            <a:off x="2379235" y="3916231"/>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p15_13"/>
          <p:cNvSpPr/>
          <p:nvPr/>
        </p:nvSpPr>
        <p:spPr>
          <a:xfrm>
            <a:off x="2537981" y="3916231"/>
            <a:ext cx="99157" cy="99157"/>
          </a:xfrm>
          <a:prstGeom prst="roundRect">
            <a:avLst>
              <a:gd name="adj" fmla="val 30000"/>
            </a:avLst>
          </a:prstGeom>
          <a:solidFill>
            <a:srgbClr val="1357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16_07"/>
          <p:cNvSpPr/>
          <p:nvPr/>
        </p:nvSpPr>
        <p:spPr>
          <a:xfrm>
            <a:off x="1585505" y="3800931"/>
            <a:ext cx="99157" cy="99157"/>
          </a:xfrm>
          <a:prstGeom prst="roundRect">
            <a:avLst>
              <a:gd name="adj" fmla="val 30000"/>
            </a:avLst>
          </a:prstGeom>
          <a:solidFill>
            <a:srgbClr val="176C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p16_08"/>
          <p:cNvSpPr/>
          <p:nvPr/>
        </p:nvSpPr>
        <p:spPr>
          <a:xfrm>
            <a:off x="1744251" y="3800931"/>
            <a:ext cx="99157" cy="99157"/>
          </a:xfrm>
          <a:prstGeom prst="roundRect">
            <a:avLst>
              <a:gd name="adj" fmla="val 30000"/>
            </a:avLst>
          </a:prstGeom>
          <a:solidFill>
            <a:srgbClr val="1D8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p16_09"/>
          <p:cNvSpPr/>
          <p:nvPr/>
        </p:nvSpPr>
        <p:spPr>
          <a:xfrm>
            <a:off x="1902997" y="3800931"/>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p16_10"/>
          <p:cNvSpPr/>
          <p:nvPr/>
        </p:nvSpPr>
        <p:spPr>
          <a:xfrm>
            <a:off x="2061743" y="3800931"/>
            <a:ext cx="99157" cy="99157"/>
          </a:xfrm>
          <a:prstGeom prst="roundRect">
            <a:avLst>
              <a:gd name="adj" fmla="val 30000"/>
            </a:avLst>
          </a:prstGeom>
          <a:solidFill>
            <a:srgbClr val="309E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16_11"/>
          <p:cNvSpPr/>
          <p:nvPr/>
        </p:nvSpPr>
        <p:spPr>
          <a:xfrm>
            <a:off x="2220489" y="38009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p16_12"/>
          <p:cNvSpPr/>
          <p:nvPr/>
        </p:nvSpPr>
        <p:spPr>
          <a:xfrm>
            <a:off x="2379235" y="3800931"/>
            <a:ext cx="99157" cy="99157"/>
          </a:xfrm>
          <a:prstGeom prst="roundRect">
            <a:avLst>
              <a:gd name="adj" fmla="val 30000"/>
            </a:avLst>
          </a:prstGeom>
          <a:solidFill>
            <a:srgbClr val="1A7D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16_13"/>
          <p:cNvSpPr/>
          <p:nvPr/>
        </p:nvSpPr>
        <p:spPr>
          <a:xfrm>
            <a:off x="2537981" y="3800931"/>
            <a:ext cx="99157" cy="99157"/>
          </a:xfrm>
          <a:prstGeom prst="roundRect">
            <a:avLst>
              <a:gd name="adj" fmla="val 30000"/>
            </a:avLst>
          </a:prstGeom>
          <a:solidFill>
            <a:srgbClr val="1359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p17_07"/>
          <p:cNvSpPr/>
          <p:nvPr/>
        </p:nvSpPr>
        <p:spPr>
          <a:xfrm>
            <a:off x="1585505" y="3685631"/>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17_08"/>
          <p:cNvSpPr/>
          <p:nvPr/>
        </p:nvSpPr>
        <p:spPr>
          <a:xfrm>
            <a:off x="1744251" y="3685631"/>
            <a:ext cx="99157" cy="99157"/>
          </a:xfrm>
          <a:prstGeom prst="roundRect">
            <a:avLst>
              <a:gd name="adj" fmla="val 30000"/>
            </a:avLst>
          </a:prstGeom>
          <a:solidFill>
            <a:srgbClr val="1D8B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p17_09"/>
          <p:cNvSpPr/>
          <p:nvPr/>
        </p:nvSpPr>
        <p:spPr>
          <a:xfrm>
            <a:off x="1902997" y="3685631"/>
            <a:ext cx="99157" cy="99157"/>
          </a:xfrm>
          <a:prstGeom prst="roundRect">
            <a:avLst>
              <a:gd name="adj" fmla="val 30000"/>
            </a:avLst>
          </a:prstGeom>
          <a:solidFill>
            <a:srgbClr val="2A99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p17_10"/>
          <p:cNvSpPr/>
          <p:nvPr/>
        </p:nvSpPr>
        <p:spPr>
          <a:xfrm>
            <a:off x="2061743" y="3685631"/>
            <a:ext cx="99157" cy="99157"/>
          </a:xfrm>
          <a:prstGeom prst="roundRect">
            <a:avLst>
              <a:gd name="adj" fmla="val 30000"/>
            </a:avLst>
          </a:prstGeom>
          <a:solidFill>
            <a:srgbClr val="2E9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p17_11"/>
          <p:cNvSpPr/>
          <p:nvPr/>
        </p:nvSpPr>
        <p:spPr>
          <a:xfrm>
            <a:off x="2220489" y="3685631"/>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17_12"/>
          <p:cNvSpPr/>
          <p:nvPr/>
        </p:nvSpPr>
        <p:spPr>
          <a:xfrm>
            <a:off x="2379235" y="3685631"/>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p17_13"/>
          <p:cNvSpPr/>
          <p:nvPr/>
        </p:nvSpPr>
        <p:spPr>
          <a:xfrm>
            <a:off x="2537981" y="3685631"/>
            <a:ext cx="99157" cy="99157"/>
          </a:xfrm>
          <a:prstGeom prst="roundRect">
            <a:avLst>
              <a:gd name="adj" fmla="val 30000"/>
            </a:avLst>
          </a:prstGeom>
          <a:solidFill>
            <a:srgbClr val="135B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18_06"/>
          <p:cNvSpPr/>
          <p:nvPr/>
        </p:nvSpPr>
        <p:spPr>
          <a:xfrm>
            <a:off x="1426759" y="3570331"/>
            <a:ext cx="99157" cy="99157"/>
          </a:xfrm>
          <a:prstGeom prst="roundRect">
            <a:avLst>
              <a:gd name="adj" fmla="val 30000"/>
            </a:avLst>
          </a:prstGeom>
          <a:solidFill>
            <a:srgbClr val="125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18_07"/>
          <p:cNvSpPr/>
          <p:nvPr/>
        </p:nvSpPr>
        <p:spPr>
          <a:xfrm>
            <a:off x="1585505" y="3570331"/>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18_08"/>
          <p:cNvSpPr/>
          <p:nvPr/>
        </p:nvSpPr>
        <p:spPr>
          <a:xfrm>
            <a:off x="1744251" y="3570331"/>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p18_09"/>
          <p:cNvSpPr/>
          <p:nvPr/>
        </p:nvSpPr>
        <p:spPr>
          <a:xfrm>
            <a:off x="1902997" y="3570331"/>
            <a:ext cx="99157" cy="99157"/>
          </a:xfrm>
          <a:prstGeom prst="roundRect">
            <a:avLst>
              <a:gd name="adj" fmla="val 30000"/>
            </a:avLst>
          </a:prstGeom>
          <a:solidFill>
            <a:srgbClr val="27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p18_10"/>
          <p:cNvSpPr/>
          <p:nvPr/>
        </p:nvSpPr>
        <p:spPr>
          <a:xfrm>
            <a:off x="2061743" y="3570331"/>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p18_11"/>
          <p:cNvSpPr/>
          <p:nvPr/>
        </p:nvSpPr>
        <p:spPr>
          <a:xfrm>
            <a:off x="2220489" y="3570331"/>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18_12"/>
          <p:cNvSpPr/>
          <p:nvPr/>
        </p:nvSpPr>
        <p:spPr>
          <a:xfrm>
            <a:off x="2379235" y="3570331"/>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p18_13"/>
          <p:cNvSpPr/>
          <p:nvPr/>
        </p:nvSpPr>
        <p:spPr>
          <a:xfrm>
            <a:off x="2537981" y="3570331"/>
            <a:ext cx="99157" cy="99157"/>
          </a:xfrm>
          <a:prstGeom prst="roundRect">
            <a:avLst>
              <a:gd name="adj" fmla="val 30000"/>
            </a:avLst>
          </a:prstGeom>
          <a:solidFill>
            <a:srgbClr val="145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p19_06"/>
          <p:cNvSpPr/>
          <p:nvPr/>
        </p:nvSpPr>
        <p:spPr>
          <a:xfrm>
            <a:off x="1426759" y="3455032"/>
            <a:ext cx="99157" cy="99157"/>
          </a:xfrm>
          <a:prstGeom prst="roundRect">
            <a:avLst>
              <a:gd name="adj" fmla="val 30000"/>
            </a:avLst>
          </a:prstGeom>
          <a:solidFill>
            <a:srgbClr val="135A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p19_07"/>
          <p:cNvSpPr/>
          <p:nvPr/>
        </p:nvSpPr>
        <p:spPr>
          <a:xfrm>
            <a:off x="1585505" y="3455032"/>
            <a:ext cx="99157" cy="99157"/>
          </a:xfrm>
          <a:prstGeom prst="roundRect">
            <a:avLst>
              <a:gd name="adj" fmla="val 30000"/>
            </a:avLst>
          </a:prstGeom>
          <a:solidFill>
            <a:srgbClr val="1976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p19_08"/>
          <p:cNvSpPr/>
          <p:nvPr/>
        </p:nvSpPr>
        <p:spPr>
          <a:xfrm>
            <a:off x="1744251" y="3455032"/>
            <a:ext cx="99157" cy="99157"/>
          </a:xfrm>
          <a:prstGeom prst="roundRect">
            <a:avLst>
              <a:gd name="adj" fmla="val 3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19_09"/>
          <p:cNvSpPr/>
          <p:nvPr/>
        </p:nvSpPr>
        <p:spPr>
          <a:xfrm>
            <a:off x="1902997" y="3455032"/>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19_10"/>
          <p:cNvSpPr/>
          <p:nvPr/>
        </p:nvSpPr>
        <p:spPr>
          <a:xfrm>
            <a:off x="2061743" y="34550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p19_11"/>
          <p:cNvSpPr/>
          <p:nvPr/>
        </p:nvSpPr>
        <p:spPr>
          <a:xfrm>
            <a:off x="2220489" y="34550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p19_12"/>
          <p:cNvSpPr/>
          <p:nvPr/>
        </p:nvSpPr>
        <p:spPr>
          <a:xfrm>
            <a:off x="2379235" y="3455032"/>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p19_13"/>
          <p:cNvSpPr/>
          <p:nvPr/>
        </p:nvSpPr>
        <p:spPr>
          <a:xfrm>
            <a:off x="2537981" y="3455032"/>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p20_06"/>
          <p:cNvSpPr/>
          <p:nvPr/>
        </p:nvSpPr>
        <p:spPr>
          <a:xfrm>
            <a:off x="1426759" y="3339732"/>
            <a:ext cx="99157" cy="99157"/>
          </a:xfrm>
          <a:prstGeom prst="roundRect">
            <a:avLst>
              <a:gd name="adj" fmla="val 30000"/>
            </a:avLst>
          </a:prstGeom>
          <a:solidFill>
            <a:srgbClr val="1668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p20_07"/>
          <p:cNvSpPr/>
          <p:nvPr/>
        </p:nvSpPr>
        <p:spPr>
          <a:xfrm>
            <a:off x="1585505" y="3339732"/>
            <a:ext cx="99157" cy="99157"/>
          </a:xfrm>
          <a:prstGeom prst="roundRect">
            <a:avLst>
              <a:gd name="adj" fmla="val 30000"/>
            </a:avLst>
          </a:prstGeom>
          <a:solidFill>
            <a:srgbClr val="1B84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p20_08"/>
          <p:cNvSpPr/>
          <p:nvPr/>
        </p:nvSpPr>
        <p:spPr>
          <a:xfrm>
            <a:off x="1744251" y="3339732"/>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p20_09"/>
          <p:cNvSpPr/>
          <p:nvPr/>
        </p:nvSpPr>
        <p:spPr>
          <a:xfrm>
            <a:off x="1902997" y="3339732"/>
            <a:ext cx="99157" cy="99157"/>
          </a:xfrm>
          <a:prstGeom prst="roundRect">
            <a:avLst>
              <a:gd name="adj" fmla="val 30000"/>
            </a:avLst>
          </a:prstGeom>
          <a:solidFill>
            <a:srgbClr val="2392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p20_10"/>
          <p:cNvSpPr/>
          <p:nvPr/>
        </p:nvSpPr>
        <p:spPr>
          <a:xfrm>
            <a:off x="2061743" y="33397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p20_11"/>
          <p:cNvSpPr/>
          <p:nvPr/>
        </p:nvSpPr>
        <p:spPr>
          <a:xfrm>
            <a:off x="2220489" y="3339732"/>
            <a:ext cx="99157" cy="99157"/>
          </a:xfrm>
          <a:prstGeom prst="roundRect">
            <a:avLst>
              <a:gd name="adj" fmla="val 30000"/>
            </a:avLst>
          </a:prstGeom>
          <a:solidFill>
            <a:srgbClr val="2696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p20_12"/>
          <p:cNvSpPr/>
          <p:nvPr/>
        </p:nvSpPr>
        <p:spPr>
          <a:xfrm>
            <a:off x="2379235" y="3339732"/>
            <a:ext cx="99157" cy="99157"/>
          </a:xfrm>
          <a:prstGeom prst="roundRect">
            <a:avLst>
              <a:gd name="adj" fmla="val 30000"/>
            </a:avLst>
          </a:prstGeom>
          <a:solidFill>
            <a:srgbClr val="21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p20_13"/>
          <p:cNvSpPr/>
          <p:nvPr/>
        </p:nvSpPr>
        <p:spPr>
          <a:xfrm>
            <a:off x="2537981" y="3339732"/>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p21_05"/>
          <p:cNvSpPr/>
          <p:nvPr/>
        </p:nvSpPr>
        <p:spPr>
          <a:xfrm>
            <a:off x="1268013" y="3224432"/>
            <a:ext cx="99157" cy="99157"/>
          </a:xfrm>
          <a:prstGeom prst="roundRect">
            <a:avLst>
              <a:gd name="adj" fmla="val 30000"/>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21_06"/>
          <p:cNvSpPr/>
          <p:nvPr/>
        </p:nvSpPr>
        <p:spPr>
          <a:xfrm>
            <a:off x="1426759" y="32244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21_07"/>
          <p:cNvSpPr/>
          <p:nvPr/>
        </p:nvSpPr>
        <p:spPr>
          <a:xfrm>
            <a:off x="1585505" y="3224432"/>
            <a:ext cx="99157" cy="99157"/>
          </a:xfrm>
          <a:prstGeom prst="roundRect">
            <a:avLst>
              <a:gd name="adj" fmla="val 30000"/>
            </a:avLst>
          </a:prstGeom>
          <a:solidFill>
            <a:srgbClr val="249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21_08"/>
          <p:cNvSpPr/>
          <p:nvPr/>
        </p:nvSpPr>
        <p:spPr>
          <a:xfrm>
            <a:off x="1744251" y="3224432"/>
            <a:ext cx="99157" cy="99157"/>
          </a:xfrm>
          <a:prstGeom prst="roundRect">
            <a:avLst>
              <a:gd name="adj" fmla="val 30000"/>
            </a:avLst>
          </a:prstGeom>
          <a:solidFill>
            <a:srgbClr val="2A99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21_09"/>
          <p:cNvSpPr/>
          <p:nvPr/>
        </p:nvSpPr>
        <p:spPr>
          <a:xfrm>
            <a:off x="1902997" y="3224432"/>
            <a:ext cx="99157" cy="99157"/>
          </a:xfrm>
          <a:prstGeom prst="roundRect">
            <a:avLst>
              <a:gd name="adj" fmla="val 30000"/>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21_10"/>
          <p:cNvSpPr/>
          <p:nvPr/>
        </p:nvSpPr>
        <p:spPr>
          <a:xfrm>
            <a:off x="2061743" y="3224432"/>
            <a:ext cx="99157" cy="99157"/>
          </a:xfrm>
          <a:prstGeom prst="roundRect">
            <a:avLst>
              <a:gd name="adj" fmla="val 30000"/>
            </a:avLst>
          </a:prstGeom>
          <a:solidFill>
            <a:srgbClr val="21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21_11"/>
          <p:cNvSpPr/>
          <p:nvPr/>
        </p:nvSpPr>
        <p:spPr>
          <a:xfrm>
            <a:off x="2220489" y="3224432"/>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21_12"/>
          <p:cNvSpPr/>
          <p:nvPr/>
        </p:nvSpPr>
        <p:spPr>
          <a:xfrm>
            <a:off x="2379235" y="3224432"/>
            <a:ext cx="99157" cy="99157"/>
          </a:xfrm>
          <a:prstGeom prst="roundRect">
            <a:avLst>
              <a:gd name="adj" fmla="val 30000"/>
            </a:avLst>
          </a:prstGeom>
          <a:solidFill>
            <a:srgbClr val="2A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21_13"/>
          <p:cNvSpPr/>
          <p:nvPr/>
        </p:nvSpPr>
        <p:spPr>
          <a:xfrm>
            <a:off x="2537981" y="3224432"/>
            <a:ext cx="99157" cy="99157"/>
          </a:xfrm>
          <a:prstGeom prst="roundRect">
            <a:avLst>
              <a:gd name="adj" fmla="val 30000"/>
            </a:avLst>
          </a:prstGeom>
          <a:solidFill>
            <a:srgbClr val="1A7B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22_05"/>
          <p:cNvSpPr/>
          <p:nvPr/>
        </p:nvSpPr>
        <p:spPr>
          <a:xfrm>
            <a:off x="1268013" y="3109132"/>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22_06"/>
          <p:cNvSpPr/>
          <p:nvPr/>
        </p:nvSpPr>
        <p:spPr>
          <a:xfrm>
            <a:off x="1426759" y="3109132"/>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p22_07"/>
          <p:cNvSpPr/>
          <p:nvPr/>
        </p:nvSpPr>
        <p:spPr>
          <a:xfrm>
            <a:off x="1585505" y="3109132"/>
            <a:ext cx="99157" cy="99157"/>
          </a:xfrm>
          <a:prstGeom prst="roundRect">
            <a:avLst>
              <a:gd name="adj" fmla="val 30000"/>
            </a:avLst>
          </a:prstGeom>
          <a:solidFill>
            <a:srgbClr val="34A2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22_08"/>
          <p:cNvSpPr/>
          <p:nvPr/>
        </p:nvSpPr>
        <p:spPr>
          <a:xfrm>
            <a:off x="1744251" y="3109132"/>
            <a:ext cx="99157" cy="99157"/>
          </a:xfrm>
          <a:prstGeom prst="roundRect">
            <a:avLst>
              <a:gd name="adj" fmla="val 30000"/>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p22_09"/>
          <p:cNvSpPr/>
          <p:nvPr/>
        </p:nvSpPr>
        <p:spPr>
          <a:xfrm>
            <a:off x="1902997" y="3109132"/>
            <a:ext cx="99157" cy="99157"/>
          </a:xfrm>
          <a:prstGeom prst="roundRect">
            <a:avLst>
              <a:gd name="adj" fmla="val 30000"/>
            </a:avLst>
          </a:prstGeom>
          <a:solidFill>
            <a:srgbClr val="2594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p22_10"/>
          <p:cNvSpPr/>
          <p:nvPr/>
        </p:nvSpPr>
        <p:spPr>
          <a:xfrm>
            <a:off x="2061743" y="3109132"/>
            <a:ext cx="99157" cy="99157"/>
          </a:xfrm>
          <a:prstGeom prst="roundRect">
            <a:avLst>
              <a:gd name="adj" fmla="val 30000"/>
            </a:avLst>
          </a:prstGeom>
          <a:solidFill>
            <a:srgbClr val="1F8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p22_11"/>
          <p:cNvSpPr/>
          <p:nvPr/>
        </p:nvSpPr>
        <p:spPr>
          <a:xfrm>
            <a:off x="2220489" y="3109132"/>
            <a:ext cx="99157" cy="99157"/>
          </a:xfrm>
          <a:prstGeom prst="roundRect">
            <a:avLst>
              <a:gd name="adj" fmla="val 30000"/>
            </a:avLst>
          </a:prstGeom>
          <a:solidFill>
            <a:srgbClr val="2B9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p22_12"/>
          <p:cNvSpPr/>
          <p:nvPr/>
        </p:nvSpPr>
        <p:spPr>
          <a:xfrm>
            <a:off x="2379235" y="3109132"/>
            <a:ext cx="99157" cy="99157"/>
          </a:xfrm>
          <a:prstGeom prst="roundRect">
            <a:avLst>
              <a:gd name="adj" fmla="val 30000"/>
            </a:avLst>
          </a:prstGeom>
          <a:solidFill>
            <a:srgbClr val="30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p22_13"/>
          <p:cNvSpPr/>
          <p:nvPr/>
        </p:nvSpPr>
        <p:spPr>
          <a:xfrm>
            <a:off x="2537981" y="3109132"/>
            <a:ext cx="99157" cy="99157"/>
          </a:xfrm>
          <a:prstGeom prst="roundRect">
            <a:avLst>
              <a:gd name="adj" fmla="val 30000"/>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p23_04"/>
          <p:cNvSpPr/>
          <p:nvPr/>
        </p:nvSpPr>
        <p:spPr>
          <a:xfrm>
            <a:off x="1109267" y="2993833"/>
            <a:ext cx="99157" cy="99157"/>
          </a:xfrm>
          <a:prstGeom prst="roundRect">
            <a:avLst>
              <a:gd name="adj" fmla="val 30000"/>
            </a:avLst>
          </a:prstGeom>
          <a:solidFill>
            <a:srgbClr val="176D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p23_05"/>
          <p:cNvSpPr/>
          <p:nvPr/>
        </p:nvSpPr>
        <p:spPr>
          <a:xfrm>
            <a:off x="1268013" y="2993833"/>
            <a:ext cx="99157" cy="99157"/>
          </a:xfrm>
          <a:prstGeom prst="roundRect">
            <a:avLst>
              <a:gd name="adj" fmla="val 30000"/>
            </a:avLst>
          </a:prstGeom>
          <a:solidFill>
            <a:srgbClr val="2897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23_06"/>
          <p:cNvSpPr/>
          <p:nvPr/>
        </p:nvSpPr>
        <p:spPr>
          <a:xfrm>
            <a:off x="1426759" y="2993833"/>
            <a:ext cx="99157" cy="99157"/>
          </a:xfrm>
          <a:prstGeom prst="roundRect">
            <a:avLst>
              <a:gd name="adj" fmla="val 30000"/>
            </a:avLst>
          </a:prstGeom>
          <a:solidFill>
            <a:srgbClr val="3A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p23_07"/>
          <p:cNvSpPr/>
          <p:nvPr/>
        </p:nvSpPr>
        <p:spPr>
          <a:xfrm>
            <a:off x="1585505" y="2993833"/>
            <a:ext cx="99157" cy="99157"/>
          </a:xfrm>
          <a:prstGeom prst="roundRect">
            <a:avLst>
              <a:gd name="adj" fmla="val 30000"/>
            </a:avLst>
          </a:prstGeom>
          <a:solidFill>
            <a:srgbClr val="44B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p23_08"/>
          <p:cNvSpPr/>
          <p:nvPr/>
        </p:nvSpPr>
        <p:spPr>
          <a:xfrm>
            <a:off x="1744251" y="29938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p23_09"/>
          <p:cNvSpPr/>
          <p:nvPr/>
        </p:nvSpPr>
        <p:spPr>
          <a:xfrm>
            <a:off x="1902997" y="2993833"/>
            <a:ext cx="99157" cy="99157"/>
          </a:xfrm>
          <a:prstGeom prst="roundRect">
            <a:avLst>
              <a:gd name="adj" fmla="val 30000"/>
            </a:avLst>
          </a:prstGeom>
          <a:solidFill>
            <a:srgbClr val="2695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p23_10"/>
          <p:cNvSpPr/>
          <p:nvPr/>
        </p:nvSpPr>
        <p:spPr>
          <a:xfrm>
            <a:off x="2061743" y="2993833"/>
            <a:ext cx="99157" cy="99157"/>
          </a:xfrm>
          <a:prstGeom prst="roundRect">
            <a:avLst>
              <a:gd name="adj" fmla="val 30000"/>
            </a:avLst>
          </a:prstGeom>
          <a:solidFill>
            <a:srgbClr val="1C8A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p23_11"/>
          <p:cNvSpPr/>
          <p:nvPr/>
        </p:nvSpPr>
        <p:spPr>
          <a:xfrm>
            <a:off x="2220489" y="2993833"/>
            <a:ext cx="99157" cy="99157"/>
          </a:xfrm>
          <a:prstGeom prst="roundRect">
            <a:avLst>
              <a:gd name="adj" fmla="val 30000"/>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p23_12"/>
          <p:cNvSpPr/>
          <p:nvPr/>
        </p:nvSpPr>
        <p:spPr>
          <a:xfrm>
            <a:off x="2379235" y="2993833"/>
            <a:ext cx="99157" cy="99157"/>
          </a:xfrm>
          <a:prstGeom prst="roundRect">
            <a:avLst>
              <a:gd name="adj" fmla="val 30000"/>
            </a:avLst>
          </a:prstGeom>
          <a:solidFill>
            <a:srgbClr val="32A0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p23_13"/>
          <p:cNvSpPr/>
          <p:nvPr/>
        </p:nvSpPr>
        <p:spPr>
          <a:xfrm>
            <a:off x="2537981" y="2993833"/>
            <a:ext cx="99157" cy="99157"/>
          </a:xfrm>
          <a:prstGeom prst="roundRect">
            <a:avLst>
              <a:gd name="adj" fmla="val 30000"/>
            </a:avLst>
          </a:prstGeom>
          <a:solidFill>
            <a:srgbClr val="1C89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p23_14"/>
          <p:cNvSpPr/>
          <p:nvPr/>
        </p:nvSpPr>
        <p:spPr>
          <a:xfrm>
            <a:off x="2696727" y="2993833"/>
            <a:ext cx="99157" cy="99157"/>
          </a:xfrm>
          <a:prstGeom prst="roundRect">
            <a:avLst>
              <a:gd name="adj" fmla="val 30000"/>
            </a:avLst>
          </a:prstGeom>
          <a:solidFill>
            <a:srgbClr val="104B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p24_04"/>
          <p:cNvSpPr/>
          <p:nvPr/>
        </p:nvSpPr>
        <p:spPr>
          <a:xfrm>
            <a:off x="1109267" y="2878533"/>
            <a:ext cx="99157" cy="99157"/>
          </a:xfrm>
          <a:prstGeom prst="roundRect">
            <a:avLst>
              <a:gd name="adj" fmla="val 30000"/>
            </a:avLst>
          </a:prstGeom>
          <a:solidFill>
            <a:srgbClr val="1A7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24_05"/>
          <p:cNvSpPr/>
          <p:nvPr/>
        </p:nvSpPr>
        <p:spPr>
          <a:xfrm>
            <a:off x="1268013" y="2878533"/>
            <a:ext cx="99157" cy="99157"/>
          </a:xfrm>
          <a:prstGeom prst="roundRect">
            <a:avLst>
              <a:gd name="adj" fmla="val 30000"/>
            </a:avLst>
          </a:prstGeom>
          <a:solidFill>
            <a:srgbClr val="38A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p24_06"/>
          <p:cNvSpPr/>
          <p:nvPr/>
        </p:nvSpPr>
        <p:spPr>
          <a:xfrm>
            <a:off x="1426759" y="2878533"/>
            <a:ext cx="99157" cy="99157"/>
          </a:xfrm>
          <a:prstGeom prst="roundRect">
            <a:avLst>
              <a:gd name="adj" fmla="val 30000"/>
            </a:avLst>
          </a:prstGeom>
          <a:solidFill>
            <a:srgbClr val="48B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24_07"/>
          <p:cNvSpPr/>
          <p:nvPr/>
        </p:nvSpPr>
        <p:spPr>
          <a:xfrm>
            <a:off x="1585505" y="2878533"/>
            <a:ext cx="99157" cy="99157"/>
          </a:xfrm>
          <a:prstGeom prst="roundRect">
            <a:avLst>
              <a:gd name="adj" fmla="val 30000"/>
            </a:avLst>
          </a:prstGeom>
          <a:solidFill>
            <a:srgbClr val="4DB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p24_08"/>
          <p:cNvSpPr/>
          <p:nvPr/>
        </p:nvSpPr>
        <p:spPr>
          <a:xfrm>
            <a:off x="1744251" y="2878533"/>
            <a:ext cx="99157" cy="99157"/>
          </a:xfrm>
          <a:prstGeom prst="roundRect">
            <a:avLst>
              <a:gd name="adj" fmla="val 30000"/>
            </a:avLst>
          </a:prstGeom>
          <a:solidFill>
            <a:srgbClr val="41A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p24_09"/>
          <p:cNvSpPr/>
          <p:nvPr/>
        </p:nvSpPr>
        <p:spPr>
          <a:xfrm>
            <a:off x="1902997" y="2878533"/>
            <a:ext cx="99157" cy="99157"/>
          </a:xfrm>
          <a:prstGeom prst="roundRect">
            <a:avLst>
              <a:gd name="adj" fmla="val 30000"/>
            </a:avLst>
          </a:prstGeom>
          <a:solidFill>
            <a:srgbClr val="249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p24_10"/>
          <p:cNvSpPr/>
          <p:nvPr/>
        </p:nvSpPr>
        <p:spPr>
          <a:xfrm>
            <a:off x="2061743" y="28785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24_11"/>
          <p:cNvSpPr/>
          <p:nvPr/>
        </p:nvSpPr>
        <p:spPr>
          <a:xfrm>
            <a:off x="2220489" y="2878533"/>
            <a:ext cx="99157" cy="99157"/>
          </a:xfrm>
          <a:prstGeom prst="roundRect">
            <a:avLst>
              <a:gd name="adj" fmla="val 30000"/>
            </a:avLst>
          </a:prstGeom>
          <a:solidFill>
            <a:srgbClr val="2291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p24_12"/>
          <p:cNvSpPr/>
          <p:nvPr/>
        </p:nvSpPr>
        <p:spPr>
          <a:xfrm>
            <a:off x="2379235" y="2878533"/>
            <a:ext cx="99157" cy="99157"/>
          </a:xfrm>
          <a:prstGeom prst="roundRect">
            <a:avLst>
              <a:gd name="adj" fmla="val 30000"/>
            </a:avLst>
          </a:prstGeom>
          <a:solidFill>
            <a:srgbClr val="2C9B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24_13"/>
          <p:cNvSpPr/>
          <p:nvPr/>
        </p:nvSpPr>
        <p:spPr>
          <a:xfrm>
            <a:off x="2537981" y="2878533"/>
            <a:ext cx="99157" cy="99157"/>
          </a:xfrm>
          <a:prstGeom prst="roundRect">
            <a:avLst>
              <a:gd name="adj" fmla="val 30000"/>
            </a:avLst>
          </a:prstGeom>
          <a:solidFill>
            <a:srgbClr val="1B82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p24_14"/>
          <p:cNvSpPr/>
          <p:nvPr/>
        </p:nvSpPr>
        <p:spPr>
          <a:xfrm>
            <a:off x="2696727" y="2878533"/>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p25_04"/>
          <p:cNvSpPr/>
          <p:nvPr/>
        </p:nvSpPr>
        <p:spPr>
          <a:xfrm>
            <a:off x="1109267" y="2763233"/>
            <a:ext cx="99157" cy="99157"/>
          </a:xfrm>
          <a:prstGeom prst="roundRect">
            <a:avLst>
              <a:gd name="adj" fmla="val 30000"/>
            </a:avLst>
          </a:prstGeom>
          <a:solidFill>
            <a:srgbClr val="1C88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p25_05"/>
          <p:cNvSpPr/>
          <p:nvPr/>
        </p:nvSpPr>
        <p:spPr>
          <a:xfrm>
            <a:off x="1268013" y="2763233"/>
            <a:ext cx="99157" cy="99157"/>
          </a:xfrm>
          <a:prstGeom prst="roundRect">
            <a:avLst>
              <a:gd name="adj" fmla="val 30000"/>
            </a:avLst>
          </a:prstGeom>
          <a:solidFill>
            <a:srgbClr val="40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25_06"/>
          <p:cNvSpPr/>
          <p:nvPr/>
        </p:nvSpPr>
        <p:spPr>
          <a:xfrm>
            <a:off x="1426759" y="2763233"/>
            <a:ext cx="99157" cy="99157"/>
          </a:xfrm>
          <a:prstGeom prst="roundRect">
            <a:avLst>
              <a:gd name="adj" fmla="val 30000"/>
            </a:avLst>
          </a:prstGeom>
          <a:solidFill>
            <a:srgbClr val="4CB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p25_07"/>
          <p:cNvSpPr/>
          <p:nvPr/>
        </p:nvSpPr>
        <p:spPr>
          <a:xfrm>
            <a:off x="1585505" y="2763233"/>
            <a:ext cx="99157" cy="99157"/>
          </a:xfrm>
          <a:prstGeom prst="roundRect">
            <a:avLst>
              <a:gd name="adj" fmla="val 30000"/>
            </a:avLst>
          </a:prstGeom>
          <a:solidFill>
            <a:srgbClr val="4CB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25_08"/>
          <p:cNvSpPr/>
          <p:nvPr/>
        </p:nvSpPr>
        <p:spPr>
          <a:xfrm>
            <a:off x="1744251" y="2763233"/>
            <a:ext cx="99157" cy="99157"/>
          </a:xfrm>
          <a:prstGeom prst="roundRect">
            <a:avLst>
              <a:gd name="adj" fmla="val 30000"/>
            </a:avLst>
          </a:prstGeom>
          <a:solidFill>
            <a:srgbClr val="3DA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p25_09"/>
          <p:cNvSpPr/>
          <p:nvPr/>
        </p:nvSpPr>
        <p:spPr>
          <a:xfrm>
            <a:off x="1902997" y="2763233"/>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p25_10"/>
          <p:cNvSpPr/>
          <p:nvPr/>
        </p:nvSpPr>
        <p:spPr>
          <a:xfrm>
            <a:off x="2061743"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p25_11"/>
          <p:cNvSpPr/>
          <p:nvPr/>
        </p:nvSpPr>
        <p:spPr>
          <a:xfrm>
            <a:off x="2220489" y="2763233"/>
            <a:ext cx="99157" cy="99157"/>
          </a:xfrm>
          <a:prstGeom prst="roundRect">
            <a:avLst>
              <a:gd name="adj" fmla="val 30000"/>
            </a:avLst>
          </a:prstGeom>
          <a:solidFill>
            <a:srgbClr val="1B8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25_12"/>
          <p:cNvSpPr/>
          <p:nvPr/>
        </p:nvSpPr>
        <p:spPr>
          <a:xfrm>
            <a:off x="2379235" y="2763233"/>
            <a:ext cx="99157" cy="99157"/>
          </a:xfrm>
          <a:prstGeom prst="roundRect">
            <a:avLst>
              <a:gd name="adj" fmla="val 30000"/>
            </a:avLst>
          </a:prstGeom>
          <a:solidFill>
            <a:srgbClr val="1E8E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p25_13"/>
          <p:cNvSpPr/>
          <p:nvPr/>
        </p:nvSpPr>
        <p:spPr>
          <a:xfrm>
            <a:off x="2537981" y="2763233"/>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p25_14"/>
          <p:cNvSpPr/>
          <p:nvPr/>
        </p:nvSpPr>
        <p:spPr>
          <a:xfrm>
            <a:off x="2696727" y="2763233"/>
            <a:ext cx="99157" cy="99157"/>
          </a:xfrm>
          <a:prstGeom prst="roundRect">
            <a:avLst>
              <a:gd name="adj" fmla="val 30000"/>
            </a:avLst>
          </a:prstGeom>
          <a:solidFill>
            <a:srgbClr val="0E3E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p26_03"/>
          <p:cNvSpPr/>
          <p:nvPr/>
        </p:nvSpPr>
        <p:spPr>
          <a:xfrm>
            <a:off x="950521" y="2647933"/>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p26_04"/>
          <p:cNvSpPr/>
          <p:nvPr/>
        </p:nvSpPr>
        <p:spPr>
          <a:xfrm>
            <a:off x="1109267" y="2647933"/>
            <a:ext cx="99157" cy="99157"/>
          </a:xfrm>
          <a:prstGeom prst="roundRect">
            <a:avLst>
              <a:gd name="adj" fmla="val 30000"/>
            </a:avLst>
          </a:prstGeom>
          <a:solidFill>
            <a:srgbClr val="1B8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p26_05"/>
          <p:cNvSpPr/>
          <p:nvPr/>
        </p:nvSpPr>
        <p:spPr>
          <a:xfrm>
            <a:off x="1268013" y="2647933"/>
            <a:ext cx="99157" cy="99157"/>
          </a:xfrm>
          <a:prstGeom prst="roundRect">
            <a:avLst>
              <a:gd name="adj" fmla="val 30000"/>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p26_06"/>
          <p:cNvSpPr/>
          <p:nvPr/>
        </p:nvSpPr>
        <p:spPr>
          <a:xfrm>
            <a:off x="1426759" y="2647933"/>
            <a:ext cx="99157" cy="99157"/>
          </a:xfrm>
          <a:prstGeom prst="roundRect">
            <a:avLst>
              <a:gd name="adj" fmla="val 30000"/>
            </a:avLst>
          </a:prstGeom>
          <a:solidFill>
            <a:srgbClr val="43A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p26_07"/>
          <p:cNvSpPr/>
          <p:nvPr/>
        </p:nvSpPr>
        <p:spPr>
          <a:xfrm>
            <a:off x="1585505" y="2647933"/>
            <a:ext cx="99157" cy="99157"/>
          </a:xfrm>
          <a:prstGeom prst="roundRect">
            <a:avLst>
              <a:gd name="adj" fmla="val 30000"/>
            </a:avLst>
          </a:prstGeom>
          <a:solidFill>
            <a:srgbClr val="40AD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p26_08"/>
          <p:cNvSpPr/>
          <p:nvPr/>
        </p:nvSpPr>
        <p:spPr>
          <a:xfrm>
            <a:off x="1744251" y="2647933"/>
            <a:ext cx="99157" cy="99157"/>
          </a:xfrm>
          <a:prstGeom prst="roundRect">
            <a:avLst>
              <a:gd name="adj" fmla="val 30000"/>
            </a:avLst>
          </a:prstGeom>
          <a:solidFill>
            <a:srgbClr val="319F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p26_09"/>
          <p:cNvSpPr/>
          <p:nvPr/>
        </p:nvSpPr>
        <p:spPr>
          <a:xfrm>
            <a:off x="1902997" y="2647933"/>
            <a:ext cx="99157" cy="99157"/>
          </a:xfrm>
          <a:prstGeom prst="roundRect">
            <a:avLst>
              <a:gd name="adj" fmla="val 30000"/>
            </a:avLst>
          </a:prstGeom>
          <a:solidFill>
            <a:srgbClr val="1A7D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p26_10"/>
          <p:cNvSpPr/>
          <p:nvPr/>
        </p:nvSpPr>
        <p:spPr>
          <a:xfrm>
            <a:off x="2061743" y="2647933"/>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p26_11"/>
          <p:cNvSpPr/>
          <p:nvPr/>
        </p:nvSpPr>
        <p:spPr>
          <a:xfrm>
            <a:off x="2220489" y="2647933"/>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p26_12"/>
          <p:cNvSpPr/>
          <p:nvPr/>
        </p:nvSpPr>
        <p:spPr>
          <a:xfrm>
            <a:off x="2379235" y="2647933"/>
            <a:ext cx="99157" cy="99157"/>
          </a:xfrm>
          <a:prstGeom prst="roundRect">
            <a:avLst>
              <a:gd name="adj" fmla="val 30000"/>
            </a:avLst>
          </a:prstGeom>
          <a:solidFill>
            <a:srgbClr val="1873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p26_13"/>
          <p:cNvSpPr/>
          <p:nvPr/>
        </p:nvSpPr>
        <p:spPr>
          <a:xfrm>
            <a:off x="2537981" y="2647933"/>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p26_14"/>
          <p:cNvSpPr/>
          <p:nvPr/>
        </p:nvSpPr>
        <p:spPr>
          <a:xfrm>
            <a:off x="2696727" y="2647933"/>
            <a:ext cx="99157" cy="99157"/>
          </a:xfrm>
          <a:prstGeom prst="roundRect">
            <a:avLst>
              <a:gd name="adj" fmla="val 30000"/>
            </a:avLst>
          </a:prstGeom>
          <a:solidFill>
            <a:srgbClr val="0C38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p27_03"/>
          <p:cNvSpPr/>
          <p:nvPr/>
        </p:nvSpPr>
        <p:spPr>
          <a:xfrm>
            <a:off x="950521" y="25326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p27_04"/>
          <p:cNvSpPr/>
          <p:nvPr/>
        </p:nvSpPr>
        <p:spPr>
          <a:xfrm>
            <a:off x="1109267" y="2532634"/>
            <a:ext cx="99157" cy="99157"/>
          </a:xfrm>
          <a:prstGeom prst="roundRect">
            <a:avLst>
              <a:gd name="adj" fmla="val 30000"/>
            </a:avLst>
          </a:prstGeom>
          <a:solidFill>
            <a:srgbClr val="1872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p27_05"/>
          <p:cNvSpPr/>
          <p:nvPr/>
        </p:nvSpPr>
        <p:spPr>
          <a:xfrm>
            <a:off x="1268013" y="2532634"/>
            <a:ext cx="99157" cy="99157"/>
          </a:xfrm>
          <a:prstGeom prst="roundRect">
            <a:avLst>
              <a:gd name="adj" fmla="val 30000"/>
            </a:avLst>
          </a:prstGeom>
          <a:solidFill>
            <a:srgbClr val="29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p27_06"/>
          <p:cNvSpPr/>
          <p:nvPr/>
        </p:nvSpPr>
        <p:spPr>
          <a:xfrm>
            <a:off x="1426759" y="2532634"/>
            <a:ext cx="99157" cy="99157"/>
          </a:xfrm>
          <a:prstGeom prst="roundRect">
            <a:avLst>
              <a:gd name="adj" fmla="val 30000"/>
            </a:avLst>
          </a:prstGeom>
          <a:solidFill>
            <a:srgbClr val="309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p27_07"/>
          <p:cNvSpPr/>
          <p:nvPr/>
        </p:nvSpPr>
        <p:spPr>
          <a:xfrm>
            <a:off x="1585505" y="2532634"/>
            <a:ext cx="99157" cy="99157"/>
          </a:xfrm>
          <a:prstGeom prst="roundRect">
            <a:avLst>
              <a:gd name="adj" fmla="val 30000"/>
            </a:avLst>
          </a:prstGeom>
          <a:solidFill>
            <a:srgbClr val="2C9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p27_08"/>
          <p:cNvSpPr/>
          <p:nvPr/>
        </p:nvSpPr>
        <p:spPr>
          <a:xfrm>
            <a:off x="1744251" y="2532634"/>
            <a:ext cx="99157" cy="99157"/>
          </a:xfrm>
          <a:prstGeom prst="roundRect">
            <a:avLst>
              <a:gd name="adj" fmla="val 30000"/>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p27_09"/>
          <p:cNvSpPr/>
          <p:nvPr/>
        </p:nvSpPr>
        <p:spPr>
          <a:xfrm>
            <a:off x="1902997" y="2532634"/>
            <a:ext cx="99157" cy="99157"/>
          </a:xfrm>
          <a:prstGeom prst="roundRect">
            <a:avLst>
              <a:gd name="adj" fmla="val 30000"/>
            </a:avLst>
          </a:prstGeom>
          <a:solidFill>
            <a:srgbClr val="1667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p27_10"/>
          <p:cNvSpPr/>
          <p:nvPr/>
        </p:nvSpPr>
        <p:spPr>
          <a:xfrm>
            <a:off x="2061743" y="2532634"/>
            <a:ext cx="99157" cy="99157"/>
          </a:xfrm>
          <a:prstGeom prst="roundRect">
            <a:avLst>
              <a:gd name="adj" fmla="val 30000"/>
            </a:avLst>
          </a:prstGeom>
          <a:solidFill>
            <a:srgbClr val="114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p27_11"/>
          <p:cNvSpPr/>
          <p:nvPr/>
        </p:nvSpPr>
        <p:spPr>
          <a:xfrm>
            <a:off x="2220489" y="25326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p27_12"/>
          <p:cNvSpPr/>
          <p:nvPr/>
        </p:nvSpPr>
        <p:spPr>
          <a:xfrm>
            <a:off x="2379235" y="2532634"/>
            <a:ext cx="99157" cy="99157"/>
          </a:xfrm>
          <a:prstGeom prst="roundRect">
            <a:avLst>
              <a:gd name="adj" fmla="val 30000"/>
            </a:avLst>
          </a:prstGeom>
          <a:solidFill>
            <a:srgbClr val="1255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p27_13"/>
          <p:cNvSpPr/>
          <p:nvPr/>
        </p:nvSpPr>
        <p:spPr>
          <a:xfrm>
            <a:off x="2537981" y="2532634"/>
            <a:ext cx="99157" cy="99157"/>
          </a:xfrm>
          <a:prstGeom prst="roundRect">
            <a:avLst>
              <a:gd name="adj" fmla="val 30000"/>
            </a:avLst>
          </a:prstGeom>
          <a:solidFill>
            <a:srgbClr val="0F44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p27_14"/>
          <p:cNvSpPr/>
          <p:nvPr/>
        </p:nvSpPr>
        <p:spPr>
          <a:xfrm>
            <a:off x="2696727" y="2532634"/>
            <a:ext cx="99157" cy="99157"/>
          </a:xfrm>
          <a:prstGeom prst="roundRect">
            <a:avLst>
              <a:gd name="adj" fmla="val 30000"/>
            </a:avLst>
          </a:prstGeom>
          <a:solidFill>
            <a:srgbClr val="0B3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p28_03"/>
          <p:cNvSpPr/>
          <p:nvPr/>
        </p:nvSpPr>
        <p:spPr>
          <a:xfrm>
            <a:off x="950521" y="24173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p28_04"/>
          <p:cNvSpPr/>
          <p:nvPr/>
        </p:nvSpPr>
        <p:spPr>
          <a:xfrm>
            <a:off x="1109267" y="24173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p28_05"/>
          <p:cNvSpPr/>
          <p:nvPr/>
        </p:nvSpPr>
        <p:spPr>
          <a:xfrm>
            <a:off x="1268013"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p28_06"/>
          <p:cNvSpPr/>
          <p:nvPr/>
        </p:nvSpPr>
        <p:spPr>
          <a:xfrm>
            <a:off x="1426759" y="2417334"/>
            <a:ext cx="99157" cy="99157"/>
          </a:xfrm>
          <a:prstGeom prst="roundRect">
            <a:avLst>
              <a:gd name="adj" fmla="val 30000"/>
            </a:avLst>
          </a:prstGeom>
          <a:solidFill>
            <a:srgbClr val="1B84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p28_07"/>
          <p:cNvSpPr/>
          <p:nvPr/>
        </p:nvSpPr>
        <p:spPr>
          <a:xfrm>
            <a:off x="1585505" y="2417334"/>
            <a:ext cx="99157" cy="99157"/>
          </a:xfrm>
          <a:prstGeom prst="roundRect">
            <a:avLst>
              <a:gd name="adj" fmla="val 30000"/>
            </a:avLst>
          </a:prstGeom>
          <a:solidFill>
            <a:srgbClr val="1A7E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p28_08"/>
          <p:cNvSpPr/>
          <p:nvPr/>
        </p:nvSpPr>
        <p:spPr>
          <a:xfrm>
            <a:off x="1744251" y="2417334"/>
            <a:ext cx="99157" cy="99157"/>
          </a:xfrm>
          <a:prstGeom prst="roundRect">
            <a:avLst>
              <a:gd name="adj" fmla="val 30000"/>
            </a:avLst>
          </a:prstGeom>
          <a:solidFill>
            <a:srgbClr val="176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p28_09"/>
          <p:cNvSpPr/>
          <p:nvPr/>
        </p:nvSpPr>
        <p:spPr>
          <a:xfrm>
            <a:off x="1902997" y="2417334"/>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p28_10"/>
          <p:cNvSpPr/>
          <p:nvPr/>
        </p:nvSpPr>
        <p:spPr>
          <a:xfrm>
            <a:off x="2061743"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p28_11"/>
          <p:cNvSpPr/>
          <p:nvPr/>
        </p:nvSpPr>
        <p:spPr>
          <a:xfrm>
            <a:off x="2220489" y="2417334"/>
            <a:ext cx="99157" cy="99157"/>
          </a:xfrm>
          <a:prstGeom prst="roundRect">
            <a:avLst>
              <a:gd name="adj" fmla="val 30000"/>
            </a:avLst>
          </a:prstGeom>
          <a:solidFill>
            <a:srgbClr val="0D3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p28_12"/>
          <p:cNvSpPr/>
          <p:nvPr/>
        </p:nvSpPr>
        <p:spPr>
          <a:xfrm>
            <a:off x="2379235" y="2417334"/>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p28_13"/>
          <p:cNvSpPr/>
          <p:nvPr/>
        </p:nvSpPr>
        <p:spPr>
          <a:xfrm>
            <a:off x="2537981" y="2417334"/>
            <a:ext cx="99157" cy="99157"/>
          </a:xfrm>
          <a:prstGeom prst="roundRect">
            <a:avLst>
              <a:gd name="adj" fmla="val 30000"/>
            </a:avLst>
          </a:prstGeom>
          <a:solidFill>
            <a:srgbClr val="0C37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p28_14"/>
          <p:cNvSpPr/>
          <p:nvPr/>
        </p:nvSpPr>
        <p:spPr>
          <a:xfrm>
            <a:off x="2696727" y="24173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p29_03"/>
          <p:cNvSpPr/>
          <p:nvPr/>
        </p:nvSpPr>
        <p:spPr>
          <a:xfrm>
            <a:off x="950521" y="2302034"/>
            <a:ext cx="99157" cy="99157"/>
          </a:xfrm>
          <a:prstGeom prst="roundRect">
            <a:avLst>
              <a:gd name="adj" fmla="val 30000"/>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p29_04"/>
          <p:cNvSpPr/>
          <p:nvPr/>
        </p:nvSpPr>
        <p:spPr>
          <a:xfrm>
            <a:off x="1109267" y="23020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p29_05"/>
          <p:cNvSpPr/>
          <p:nvPr/>
        </p:nvSpPr>
        <p:spPr>
          <a:xfrm>
            <a:off x="1268013" y="2302034"/>
            <a:ext cx="99157" cy="99157"/>
          </a:xfrm>
          <a:prstGeom prst="roundRect">
            <a:avLst>
              <a:gd name="adj" fmla="val 30000"/>
            </a:avLst>
          </a:prstGeom>
          <a:solidFill>
            <a:srgbClr val="146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p29_06"/>
          <p:cNvSpPr/>
          <p:nvPr/>
        </p:nvSpPr>
        <p:spPr>
          <a:xfrm>
            <a:off x="1426759" y="2302034"/>
            <a:ext cx="99157" cy="99157"/>
          </a:xfrm>
          <a:prstGeom prst="roundRect">
            <a:avLst>
              <a:gd name="adj" fmla="val 30000"/>
            </a:avLst>
          </a:prstGeom>
          <a:solidFill>
            <a:srgbClr val="1461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p29_07"/>
          <p:cNvSpPr/>
          <p:nvPr/>
        </p:nvSpPr>
        <p:spPr>
          <a:xfrm>
            <a:off x="1585505" y="2302034"/>
            <a:ext cx="99157" cy="99157"/>
          </a:xfrm>
          <a:prstGeom prst="roundRect">
            <a:avLst>
              <a:gd name="adj" fmla="val 30000"/>
            </a:avLst>
          </a:prstGeom>
          <a:solidFill>
            <a:srgbClr val="135B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p29_08"/>
          <p:cNvSpPr/>
          <p:nvPr/>
        </p:nvSpPr>
        <p:spPr>
          <a:xfrm>
            <a:off x="1744251" y="2302034"/>
            <a:ext cx="99157" cy="99157"/>
          </a:xfrm>
          <a:prstGeom prst="roundRect">
            <a:avLst>
              <a:gd name="adj" fmla="val 30000"/>
            </a:avLst>
          </a:prstGeom>
          <a:solidFill>
            <a:srgbClr val="115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p29_09"/>
          <p:cNvSpPr/>
          <p:nvPr/>
        </p:nvSpPr>
        <p:spPr>
          <a:xfrm>
            <a:off x="1902997" y="2302034"/>
            <a:ext cx="99157" cy="99157"/>
          </a:xfrm>
          <a:prstGeom prst="roundRect">
            <a:avLst>
              <a:gd name="adj" fmla="val 30000"/>
            </a:avLst>
          </a:prstGeom>
          <a:solidFill>
            <a:srgbClr val="0D3D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p29_10"/>
          <p:cNvSpPr/>
          <p:nvPr/>
        </p:nvSpPr>
        <p:spPr>
          <a:xfrm>
            <a:off x="2061743" y="2302034"/>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p29_11"/>
          <p:cNvSpPr/>
          <p:nvPr/>
        </p:nvSpPr>
        <p:spPr>
          <a:xfrm>
            <a:off x="2220489" y="2302034"/>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p29_12"/>
          <p:cNvSpPr/>
          <p:nvPr/>
        </p:nvSpPr>
        <p:spPr>
          <a:xfrm>
            <a:off x="2379235" y="2302034"/>
            <a:ext cx="99157" cy="99157"/>
          </a:xfrm>
          <a:prstGeom prst="roundRect">
            <a:avLst>
              <a:gd name="adj" fmla="val 30000"/>
            </a:avLst>
          </a:prstGeom>
          <a:solidFill>
            <a:srgbClr val="0B3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p29_13"/>
          <p:cNvSpPr/>
          <p:nvPr/>
        </p:nvSpPr>
        <p:spPr>
          <a:xfrm>
            <a:off x="2537981" y="2302034"/>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p30_03"/>
          <p:cNvSpPr/>
          <p:nvPr/>
        </p:nvSpPr>
        <p:spPr>
          <a:xfrm>
            <a:off x="950521" y="2186734"/>
            <a:ext cx="99157" cy="99157"/>
          </a:xfrm>
          <a:prstGeom prst="roundRect">
            <a:avLst>
              <a:gd name="adj" fmla="val 30000"/>
            </a:avLst>
          </a:prstGeom>
          <a:solidFill>
            <a:srgbClr val="0B32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p30_04"/>
          <p:cNvSpPr/>
          <p:nvPr/>
        </p:nvSpPr>
        <p:spPr>
          <a:xfrm>
            <a:off x="1109267" y="2186734"/>
            <a:ext cx="99157" cy="99157"/>
          </a:xfrm>
          <a:prstGeom prst="roundRect">
            <a:avLst>
              <a:gd name="adj" fmla="val 30000"/>
            </a:avLst>
          </a:prstGeom>
          <a:solidFill>
            <a:srgbClr val="0E4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p30_05"/>
          <p:cNvSpPr/>
          <p:nvPr/>
        </p:nvSpPr>
        <p:spPr>
          <a:xfrm>
            <a:off x="1268013" y="2186734"/>
            <a:ext cx="99157" cy="99157"/>
          </a:xfrm>
          <a:prstGeom prst="roundRect">
            <a:avLst>
              <a:gd name="adj" fmla="val 30000"/>
            </a:avLst>
          </a:prstGeom>
          <a:solidFill>
            <a:srgbClr val="1150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30_06"/>
          <p:cNvSpPr/>
          <p:nvPr/>
        </p:nvSpPr>
        <p:spPr>
          <a:xfrm>
            <a:off x="1426759" y="2186734"/>
            <a:ext cx="99157" cy="99157"/>
          </a:xfrm>
          <a:prstGeom prst="roundRect">
            <a:avLst>
              <a:gd name="adj" fmla="val 30000"/>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p30_07"/>
          <p:cNvSpPr/>
          <p:nvPr/>
        </p:nvSpPr>
        <p:spPr>
          <a:xfrm>
            <a:off x="1585505" y="2186734"/>
            <a:ext cx="99157" cy="99157"/>
          </a:xfrm>
          <a:prstGeom prst="roundRect">
            <a:avLst>
              <a:gd name="adj" fmla="val 30000"/>
            </a:avLst>
          </a:prstGeom>
          <a:solidFill>
            <a:srgbClr val="0E4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p30_08"/>
          <p:cNvSpPr/>
          <p:nvPr/>
        </p:nvSpPr>
        <p:spPr>
          <a:xfrm>
            <a:off x="1744251" y="2186734"/>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p30_09"/>
          <p:cNvSpPr/>
          <p:nvPr/>
        </p:nvSpPr>
        <p:spPr>
          <a:xfrm>
            <a:off x="1902997" y="2186734"/>
            <a:ext cx="99157" cy="99157"/>
          </a:xfrm>
          <a:prstGeom prst="roundRect">
            <a:avLst>
              <a:gd name="adj" fmla="val 30000"/>
            </a:avLst>
          </a:prstGeom>
          <a:solidFill>
            <a:srgbClr val="0C35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p30_10"/>
          <p:cNvSpPr/>
          <p:nvPr/>
        </p:nvSpPr>
        <p:spPr>
          <a:xfrm>
            <a:off x="2061743" y="2186734"/>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p30_11"/>
          <p:cNvSpPr/>
          <p:nvPr/>
        </p:nvSpPr>
        <p:spPr>
          <a:xfrm>
            <a:off x="2220489" y="2186734"/>
            <a:ext cx="99157" cy="99157"/>
          </a:xfrm>
          <a:prstGeom prst="roundRect">
            <a:avLst>
              <a:gd name="adj" fmla="val 30000"/>
            </a:avLst>
          </a:prstGeom>
          <a:solidFill>
            <a:srgbClr val="0A31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p30_12"/>
          <p:cNvSpPr/>
          <p:nvPr/>
        </p:nvSpPr>
        <p:spPr>
          <a:xfrm>
            <a:off x="2379235" y="2186734"/>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p30_13"/>
          <p:cNvSpPr/>
          <p:nvPr/>
        </p:nvSpPr>
        <p:spPr>
          <a:xfrm>
            <a:off x="2537981" y="2186734"/>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p31_03"/>
          <p:cNvSpPr/>
          <p:nvPr/>
        </p:nvSpPr>
        <p:spPr>
          <a:xfrm>
            <a:off x="950521" y="20714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p31_04"/>
          <p:cNvSpPr/>
          <p:nvPr/>
        </p:nvSpPr>
        <p:spPr>
          <a:xfrm>
            <a:off x="1109267" y="2071435"/>
            <a:ext cx="99157" cy="99157"/>
          </a:xfrm>
          <a:prstGeom prst="roundRect">
            <a:avLst>
              <a:gd name="adj" fmla="val 30000"/>
            </a:avLst>
          </a:prstGeom>
          <a:solidFill>
            <a:srgbClr val="0F4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p31_05"/>
          <p:cNvSpPr/>
          <p:nvPr/>
        </p:nvSpPr>
        <p:spPr>
          <a:xfrm>
            <a:off x="1268013" y="2071435"/>
            <a:ext cx="99157" cy="99157"/>
          </a:xfrm>
          <a:prstGeom prst="roundRect">
            <a:avLst>
              <a:gd name="adj" fmla="val 30000"/>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p31_06"/>
          <p:cNvSpPr/>
          <p:nvPr/>
        </p:nvSpPr>
        <p:spPr>
          <a:xfrm>
            <a:off x="1426759" y="2071435"/>
            <a:ext cx="99157" cy="99157"/>
          </a:xfrm>
          <a:prstGeom prst="roundRect">
            <a:avLst>
              <a:gd name="adj" fmla="val 30000"/>
            </a:avLst>
          </a:prstGeom>
          <a:solidFill>
            <a:srgbClr val="0E3D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p31_07"/>
          <p:cNvSpPr/>
          <p:nvPr/>
        </p:nvSpPr>
        <p:spPr>
          <a:xfrm>
            <a:off x="1585505" y="2071435"/>
            <a:ext cx="99157" cy="99157"/>
          </a:xfrm>
          <a:prstGeom prst="roundRect">
            <a:avLst>
              <a:gd name="adj" fmla="val 30000"/>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p31_08"/>
          <p:cNvSpPr/>
          <p:nvPr/>
        </p:nvSpPr>
        <p:spPr>
          <a:xfrm>
            <a:off x="1744251" y="2071435"/>
            <a:ext cx="99157" cy="99157"/>
          </a:xfrm>
          <a:prstGeom prst="roundRect">
            <a:avLst>
              <a:gd name="adj" fmla="val 30000"/>
            </a:avLst>
          </a:prstGeom>
          <a:solidFill>
            <a:srgbClr val="0B34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p31_09"/>
          <p:cNvSpPr/>
          <p:nvPr/>
        </p:nvSpPr>
        <p:spPr>
          <a:xfrm>
            <a:off x="1902997" y="2071435"/>
            <a:ext cx="99157" cy="99157"/>
          </a:xfrm>
          <a:prstGeom prst="roundRect">
            <a:avLst>
              <a:gd name="adj" fmla="val 30000"/>
            </a:avLst>
          </a:prstGeom>
          <a:solidFill>
            <a:srgbClr val="0B3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p31_10"/>
          <p:cNvSpPr/>
          <p:nvPr/>
        </p:nvSpPr>
        <p:spPr>
          <a:xfrm>
            <a:off x="2061743" y="2071435"/>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p31_11"/>
          <p:cNvSpPr/>
          <p:nvPr/>
        </p:nvSpPr>
        <p:spPr>
          <a:xfrm>
            <a:off x="2220489" y="2071435"/>
            <a:ext cx="99157" cy="99157"/>
          </a:xfrm>
          <a:prstGeom prst="roundRect">
            <a:avLst>
              <a:gd name="adj" fmla="val 30000"/>
            </a:avLst>
          </a:prstGeom>
          <a:solidFill>
            <a:srgbClr val="0A2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p31_12"/>
          <p:cNvSpPr/>
          <p:nvPr/>
        </p:nvSpPr>
        <p:spPr>
          <a:xfrm>
            <a:off x="2379235" y="20714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p31_13"/>
          <p:cNvSpPr/>
          <p:nvPr/>
        </p:nvSpPr>
        <p:spPr>
          <a:xfrm>
            <a:off x="2537981" y="20714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p32_03"/>
          <p:cNvSpPr/>
          <p:nvPr/>
        </p:nvSpPr>
        <p:spPr>
          <a:xfrm>
            <a:off x="950521" y="1956135"/>
            <a:ext cx="99157" cy="99157"/>
          </a:xfrm>
          <a:prstGeom prst="roundRect">
            <a:avLst>
              <a:gd name="adj" fmla="val 30000"/>
            </a:avLst>
          </a:prstGeom>
          <a:solidFill>
            <a:srgbClr val="0B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p32_04"/>
          <p:cNvSpPr/>
          <p:nvPr/>
        </p:nvSpPr>
        <p:spPr>
          <a:xfrm>
            <a:off x="1109267" y="1956135"/>
            <a:ext cx="99157" cy="99157"/>
          </a:xfrm>
          <a:prstGeom prst="roundRect">
            <a:avLst>
              <a:gd name="adj" fmla="val 30000"/>
            </a:avLst>
          </a:prstGeom>
          <a:solidFill>
            <a:srgbClr val="1358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p32_05"/>
          <p:cNvSpPr/>
          <p:nvPr/>
        </p:nvSpPr>
        <p:spPr>
          <a:xfrm>
            <a:off x="1268013" y="1956135"/>
            <a:ext cx="99157" cy="99157"/>
          </a:xfrm>
          <a:prstGeom prst="roundRect">
            <a:avLst>
              <a:gd name="adj" fmla="val 30000"/>
            </a:avLst>
          </a:prstGeom>
          <a:solidFill>
            <a:srgbClr val="145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p32_06"/>
          <p:cNvSpPr/>
          <p:nvPr/>
        </p:nvSpPr>
        <p:spPr>
          <a:xfrm>
            <a:off x="1426759" y="1956135"/>
            <a:ext cx="99157" cy="99157"/>
          </a:xfrm>
          <a:prstGeom prst="roundRect">
            <a:avLst>
              <a:gd name="adj" fmla="val 30000"/>
            </a:avLst>
          </a:prstGeom>
          <a:solidFill>
            <a:srgbClr val="0D3C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p32_07"/>
          <p:cNvSpPr/>
          <p:nvPr/>
        </p:nvSpPr>
        <p:spPr>
          <a:xfrm>
            <a:off x="1585505" y="1956135"/>
            <a:ext cx="99157" cy="99157"/>
          </a:xfrm>
          <a:prstGeom prst="roundRect">
            <a:avLst>
              <a:gd name="adj" fmla="val 30000"/>
            </a:avLst>
          </a:prstGeom>
          <a:solidFill>
            <a:srgbClr val="0B32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p32_08"/>
          <p:cNvSpPr/>
          <p:nvPr/>
        </p:nvSpPr>
        <p:spPr>
          <a:xfrm>
            <a:off x="1744251" y="1956135"/>
            <a:ext cx="99157" cy="99157"/>
          </a:xfrm>
          <a:prstGeom prst="roundRect">
            <a:avLst>
              <a:gd name="adj" fmla="val 30000"/>
            </a:avLst>
          </a:prstGeom>
          <a:solidFill>
            <a:srgbClr val="0A30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p32_09"/>
          <p:cNvSpPr/>
          <p:nvPr/>
        </p:nvSpPr>
        <p:spPr>
          <a:xfrm>
            <a:off x="1902997" y="1956135"/>
            <a:ext cx="99157" cy="99157"/>
          </a:xfrm>
          <a:prstGeom prst="roundRect">
            <a:avLst>
              <a:gd name="adj" fmla="val 30000"/>
            </a:avLst>
          </a:prstGeom>
          <a:solidFill>
            <a:srgbClr val="0A2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p32_10"/>
          <p:cNvSpPr/>
          <p:nvPr/>
        </p:nvSpPr>
        <p:spPr>
          <a:xfrm>
            <a:off x="2061743" y="1956135"/>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p32_11"/>
          <p:cNvSpPr/>
          <p:nvPr/>
        </p:nvSpPr>
        <p:spPr>
          <a:xfrm>
            <a:off x="2220489" y="1956135"/>
            <a:ext cx="99157" cy="99157"/>
          </a:xfrm>
          <a:prstGeom prst="roundRect">
            <a:avLst>
              <a:gd name="adj" fmla="val 30000"/>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p32_12"/>
          <p:cNvSpPr/>
          <p:nvPr/>
        </p:nvSpPr>
        <p:spPr>
          <a:xfrm>
            <a:off x="2379235" y="1956135"/>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p33_03"/>
          <p:cNvSpPr/>
          <p:nvPr/>
        </p:nvSpPr>
        <p:spPr>
          <a:xfrm>
            <a:off x="950521" y="1840835"/>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p33_04"/>
          <p:cNvSpPr/>
          <p:nvPr/>
        </p:nvSpPr>
        <p:spPr>
          <a:xfrm>
            <a:off x="1109267" y="1840835"/>
            <a:ext cx="99157" cy="99157"/>
          </a:xfrm>
          <a:prstGeom prst="roundRect">
            <a:avLst>
              <a:gd name="adj" fmla="val 30000"/>
            </a:avLst>
          </a:prstGeom>
          <a:solidFill>
            <a:srgbClr val="1669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p33_05"/>
          <p:cNvSpPr/>
          <p:nvPr/>
        </p:nvSpPr>
        <p:spPr>
          <a:xfrm>
            <a:off x="1268013" y="1840835"/>
            <a:ext cx="99157" cy="99157"/>
          </a:xfrm>
          <a:prstGeom prst="roundRect">
            <a:avLst>
              <a:gd name="adj" fmla="val 30000"/>
            </a:avLst>
          </a:prstGeom>
          <a:solidFill>
            <a:srgbClr val="1770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p33_06"/>
          <p:cNvSpPr/>
          <p:nvPr/>
        </p:nvSpPr>
        <p:spPr>
          <a:xfrm>
            <a:off x="1426759" y="18408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p33_07"/>
          <p:cNvSpPr/>
          <p:nvPr/>
        </p:nvSpPr>
        <p:spPr>
          <a:xfrm>
            <a:off x="1585505" y="1840835"/>
            <a:ext cx="99157" cy="99157"/>
          </a:xfrm>
          <a:prstGeom prst="roundRect">
            <a:avLst>
              <a:gd name="adj" fmla="val 30000"/>
            </a:avLst>
          </a:prstGeom>
          <a:solidFill>
            <a:srgbClr val="0A30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p33_08"/>
          <p:cNvSpPr/>
          <p:nvPr/>
        </p:nvSpPr>
        <p:spPr>
          <a:xfrm>
            <a:off x="1744251" y="1840835"/>
            <a:ext cx="99157" cy="99157"/>
          </a:xfrm>
          <a:prstGeom prst="roundRect">
            <a:avLst>
              <a:gd name="adj" fmla="val 30000"/>
            </a:avLst>
          </a:prstGeom>
          <a:solidFill>
            <a:srgbClr val="0A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p33_09"/>
          <p:cNvSpPr/>
          <p:nvPr/>
        </p:nvSpPr>
        <p:spPr>
          <a:xfrm>
            <a:off x="1902997" y="1840835"/>
            <a:ext cx="99157" cy="99157"/>
          </a:xfrm>
          <a:prstGeom prst="roundRect">
            <a:avLst>
              <a:gd name="adj" fmla="val 30000"/>
            </a:avLst>
          </a:prstGeom>
          <a:solidFill>
            <a:srgbClr val="092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p33_10"/>
          <p:cNvSpPr/>
          <p:nvPr/>
        </p:nvSpPr>
        <p:spPr>
          <a:xfrm>
            <a:off x="2061743" y="18408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p33_11"/>
          <p:cNvSpPr/>
          <p:nvPr/>
        </p:nvSpPr>
        <p:spPr>
          <a:xfrm>
            <a:off x="2220489" y="18408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p33_12"/>
          <p:cNvSpPr/>
          <p:nvPr/>
        </p:nvSpPr>
        <p:spPr>
          <a:xfrm>
            <a:off x="2379235" y="1840835"/>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p34_03"/>
          <p:cNvSpPr/>
          <p:nvPr/>
        </p:nvSpPr>
        <p:spPr>
          <a:xfrm>
            <a:off x="950521" y="1725535"/>
            <a:ext cx="99157" cy="99157"/>
          </a:xfrm>
          <a:prstGeom prst="roundRect">
            <a:avLst>
              <a:gd name="adj" fmla="val 30000"/>
            </a:avLst>
          </a:prstGeom>
          <a:solidFill>
            <a:srgbClr val="0C37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p34_04"/>
          <p:cNvSpPr/>
          <p:nvPr/>
        </p:nvSpPr>
        <p:spPr>
          <a:xfrm>
            <a:off x="1109267" y="1725535"/>
            <a:ext cx="99157" cy="99157"/>
          </a:xfrm>
          <a:prstGeom prst="roundRect">
            <a:avLst>
              <a:gd name="adj" fmla="val 30000"/>
            </a:avLst>
          </a:prstGeom>
          <a:solidFill>
            <a:srgbClr val="176F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p34_05"/>
          <p:cNvSpPr/>
          <p:nvPr/>
        </p:nvSpPr>
        <p:spPr>
          <a:xfrm>
            <a:off x="1268013" y="1725535"/>
            <a:ext cx="99157" cy="99157"/>
          </a:xfrm>
          <a:prstGeom prst="roundRect">
            <a:avLst>
              <a:gd name="adj" fmla="val 30000"/>
            </a:avLst>
          </a:prstGeom>
          <a:solidFill>
            <a:srgbClr val="1875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p34_06"/>
          <p:cNvSpPr/>
          <p:nvPr/>
        </p:nvSpPr>
        <p:spPr>
          <a:xfrm>
            <a:off x="1426759" y="1725535"/>
            <a:ext cx="99157" cy="99157"/>
          </a:xfrm>
          <a:prstGeom prst="roundRect">
            <a:avLst>
              <a:gd name="adj" fmla="val 30000"/>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p34_07"/>
          <p:cNvSpPr/>
          <p:nvPr/>
        </p:nvSpPr>
        <p:spPr>
          <a:xfrm>
            <a:off x="1585505" y="1725535"/>
            <a:ext cx="99157" cy="99157"/>
          </a:xfrm>
          <a:prstGeom prst="roundRect">
            <a:avLst>
              <a:gd name="adj" fmla="val 30000"/>
            </a:avLst>
          </a:prstGeom>
          <a:solidFill>
            <a:srgbClr val="0A2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p34_08"/>
          <p:cNvSpPr/>
          <p:nvPr/>
        </p:nvSpPr>
        <p:spPr>
          <a:xfrm>
            <a:off x="1744251" y="1725535"/>
            <a:ext cx="99157" cy="99157"/>
          </a:xfrm>
          <a:prstGeom prst="roundRect">
            <a:avLst>
              <a:gd name="adj" fmla="val 30000"/>
            </a:avLst>
          </a:prstGeom>
          <a:solidFill>
            <a:srgbClr val="092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p34_09"/>
          <p:cNvSpPr/>
          <p:nvPr/>
        </p:nvSpPr>
        <p:spPr>
          <a:xfrm>
            <a:off x="1902997"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p34_10"/>
          <p:cNvSpPr/>
          <p:nvPr/>
        </p:nvSpPr>
        <p:spPr>
          <a:xfrm>
            <a:off x="2061743" y="1725535"/>
            <a:ext cx="99157" cy="99157"/>
          </a:xfrm>
          <a:prstGeom prst="roundRect">
            <a:avLst>
              <a:gd name="adj" fmla="val 30000"/>
            </a:avLst>
          </a:prstGeom>
          <a:solidFill>
            <a:srgbClr val="09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p34_11"/>
          <p:cNvSpPr/>
          <p:nvPr/>
        </p:nvSpPr>
        <p:spPr>
          <a:xfrm>
            <a:off x="2220489" y="1725535"/>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p35_04"/>
          <p:cNvSpPr/>
          <p:nvPr/>
        </p:nvSpPr>
        <p:spPr>
          <a:xfrm>
            <a:off x="1109267" y="1610236"/>
            <a:ext cx="99157" cy="99157"/>
          </a:xfrm>
          <a:prstGeom prst="roundRect">
            <a:avLst>
              <a:gd name="adj" fmla="val 30000"/>
            </a:avLst>
          </a:prstGeom>
          <a:solidFill>
            <a:srgbClr val="1565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p35_05"/>
          <p:cNvSpPr/>
          <p:nvPr/>
        </p:nvSpPr>
        <p:spPr>
          <a:xfrm>
            <a:off x="1268013" y="1610236"/>
            <a:ext cx="99157" cy="99157"/>
          </a:xfrm>
          <a:prstGeom prst="roundRect">
            <a:avLst>
              <a:gd name="adj" fmla="val 30000"/>
            </a:avLst>
          </a:prstGeom>
          <a:solidFill>
            <a:srgbClr val="166A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p35_06"/>
          <p:cNvSpPr/>
          <p:nvPr/>
        </p:nvSpPr>
        <p:spPr>
          <a:xfrm>
            <a:off x="1426759" y="1610236"/>
            <a:ext cx="99157" cy="99157"/>
          </a:xfrm>
          <a:prstGeom prst="roundRect">
            <a:avLst>
              <a:gd name="adj" fmla="val 30000"/>
            </a:avLst>
          </a:prstGeom>
          <a:solidFill>
            <a:srgbClr val="0D39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p35_07"/>
          <p:cNvSpPr/>
          <p:nvPr/>
        </p:nvSpPr>
        <p:spPr>
          <a:xfrm>
            <a:off x="1585505" y="1610236"/>
            <a:ext cx="99157" cy="99157"/>
          </a:xfrm>
          <a:prstGeom prst="roundRect">
            <a:avLst>
              <a:gd name="adj" fmla="val 30000"/>
            </a:avLst>
          </a:prstGeom>
          <a:solidFill>
            <a:srgbClr val="092D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p35_08"/>
          <p:cNvSpPr/>
          <p:nvPr/>
        </p:nvSpPr>
        <p:spPr>
          <a:xfrm>
            <a:off x="1744251" y="1610236"/>
            <a:ext cx="99157" cy="99157"/>
          </a:xfrm>
          <a:prstGeom prst="roundRect">
            <a:avLst>
              <a:gd name="adj" fmla="val 30000"/>
            </a:avLst>
          </a:prstGeom>
          <a:solidFill>
            <a:srgbClr val="092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p35_09"/>
          <p:cNvSpPr/>
          <p:nvPr/>
        </p:nvSpPr>
        <p:spPr>
          <a:xfrm>
            <a:off x="1902997" y="1610236"/>
            <a:ext cx="99157" cy="99157"/>
          </a:xfrm>
          <a:prstGeom prst="roundRect">
            <a:avLst>
              <a:gd name="adj" fmla="val 30000"/>
            </a:avLst>
          </a:prstGeom>
          <a:solidFill>
            <a:srgbClr val="09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p35_10"/>
          <p:cNvSpPr/>
          <p:nvPr/>
        </p:nvSpPr>
        <p:spPr>
          <a:xfrm>
            <a:off x="2061743" y="1610236"/>
            <a:ext cx="99157" cy="99157"/>
          </a:xfrm>
          <a:prstGeom prst="roundRect">
            <a:avLst>
              <a:gd name="adj" fmla="val 30000"/>
            </a:avLst>
          </a:prstGeom>
          <a:solidFill>
            <a:srgbClr val="082A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p35_11"/>
          <p:cNvSpPr/>
          <p:nvPr/>
        </p:nvSpPr>
        <p:spPr>
          <a:xfrm>
            <a:off x="2220489" y="16102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p36_04"/>
          <p:cNvSpPr/>
          <p:nvPr/>
        </p:nvSpPr>
        <p:spPr>
          <a:xfrm>
            <a:off x="1109267" y="1494936"/>
            <a:ext cx="99157" cy="99157"/>
          </a:xfrm>
          <a:prstGeom prst="roundRect">
            <a:avLst>
              <a:gd name="adj" fmla="val 30000"/>
            </a:avLst>
          </a:prstGeom>
          <a:solidFill>
            <a:srgbClr val="114D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p36_05"/>
          <p:cNvSpPr/>
          <p:nvPr/>
        </p:nvSpPr>
        <p:spPr>
          <a:xfrm>
            <a:off x="1268013" y="1494936"/>
            <a:ext cx="99157" cy="99157"/>
          </a:xfrm>
          <a:prstGeom prst="roundRect">
            <a:avLst>
              <a:gd name="adj" fmla="val 30000"/>
            </a:avLst>
          </a:prstGeom>
          <a:solidFill>
            <a:srgbClr val="1252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p36_06"/>
          <p:cNvSpPr/>
          <p:nvPr/>
        </p:nvSpPr>
        <p:spPr>
          <a:xfrm>
            <a:off x="1426759" y="1494936"/>
            <a:ext cx="99157" cy="99157"/>
          </a:xfrm>
          <a:prstGeom prst="roundRect">
            <a:avLst>
              <a:gd name="adj" fmla="val 30000"/>
            </a:avLst>
          </a:prstGeom>
          <a:solidFill>
            <a:srgbClr val="0C35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p36_07"/>
          <p:cNvSpPr/>
          <p:nvPr/>
        </p:nvSpPr>
        <p:spPr>
          <a:xfrm>
            <a:off x="1585505" y="1494936"/>
            <a:ext cx="99157" cy="99157"/>
          </a:xfrm>
          <a:prstGeom prst="roundRect">
            <a:avLst>
              <a:gd name="adj" fmla="val 30000"/>
            </a:avLst>
          </a:prstGeom>
          <a:solidFill>
            <a:srgbClr val="092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p36_08"/>
          <p:cNvSpPr/>
          <p:nvPr/>
        </p:nvSpPr>
        <p:spPr>
          <a:xfrm>
            <a:off x="1744251"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p36_09"/>
          <p:cNvSpPr/>
          <p:nvPr/>
        </p:nvSpPr>
        <p:spPr>
          <a:xfrm>
            <a:off x="1902997" y="1494936"/>
            <a:ext cx="99157" cy="99157"/>
          </a:xfrm>
          <a:prstGeom prst="roundRect">
            <a:avLst>
              <a:gd name="adj" fmla="val 30000"/>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p36_10"/>
          <p:cNvSpPr/>
          <p:nvPr/>
        </p:nvSpPr>
        <p:spPr>
          <a:xfrm>
            <a:off x="2061743" y="1494936"/>
            <a:ext cx="99157" cy="99157"/>
          </a:xfrm>
          <a:prstGeom prst="roundRect">
            <a:avLst>
              <a:gd name="adj" fmla="val 30000"/>
            </a:avLst>
          </a:prstGeom>
          <a:solidFill>
            <a:srgbClr val="082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p37_04"/>
          <p:cNvSpPr/>
          <p:nvPr/>
        </p:nvSpPr>
        <p:spPr>
          <a:xfrm>
            <a:off x="1109267" y="1379636"/>
            <a:ext cx="99157" cy="99157"/>
          </a:xfrm>
          <a:prstGeom prst="roundRect">
            <a:avLst>
              <a:gd name="adj" fmla="val 30000"/>
            </a:avLst>
          </a:prstGeom>
          <a:solidFill>
            <a:srgbClr val="0C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p37_05"/>
          <p:cNvSpPr/>
          <p:nvPr/>
        </p:nvSpPr>
        <p:spPr>
          <a:xfrm>
            <a:off x="1268013" y="1379636"/>
            <a:ext cx="99157" cy="99157"/>
          </a:xfrm>
          <a:prstGeom prst="roundRect">
            <a:avLst>
              <a:gd name="adj" fmla="val 30000"/>
            </a:avLst>
          </a:prstGeom>
          <a:solidFill>
            <a:srgbClr val="0C38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p37_06"/>
          <p:cNvSpPr/>
          <p:nvPr/>
        </p:nvSpPr>
        <p:spPr>
          <a:xfrm>
            <a:off x="1426759" y="1379636"/>
            <a:ext cx="99157" cy="99157"/>
          </a:xfrm>
          <a:prstGeom prst="roundRect">
            <a:avLst>
              <a:gd name="adj" fmla="val 30000"/>
            </a:avLst>
          </a:prstGeom>
          <a:solidFill>
            <a:srgbClr val="0A2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p37_07"/>
          <p:cNvSpPr/>
          <p:nvPr/>
        </p:nvSpPr>
        <p:spPr>
          <a:xfrm>
            <a:off x="1585505" y="1379636"/>
            <a:ext cx="99157" cy="99157"/>
          </a:xfrm>
          <a:prstGeom prst="roundRect">
            <a:avLst>
              <a:gd name="adj" fmla="val 30000"/>
            </a:avLst>
          </a:prstGeom>
          <a:solidFill>
            <a:srgbClr val="082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p37_08"/>
          <p:cNvSpPr/>
          <p:nvPr/>
        </p:nvSpPr>
        <p:spPr>
          <a:xfrm>
            <a:off x="1744251"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p37_09"/>
          <p:cNvSpPr/>
          <p:nvPr/>
        </p:nvSpPr>
        <p:spPr>
          <a:xfrm>
            <a:off x="1902997" y="1379636"/>
            <a:ext cx="99157" cy="99157"/>
          </a:xfrm>
          <a:prstGeom prst="roundRect">
            <a:avLst>
              <a:gd name="adj" fmla="val 30000"/>
            </a:avLst>
          </a:prstGeom>
          <a:solidFill>
            <a:srgbClr val="08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20726" y="5905352"/>
            <a:ext cx="38099" cy="101597"/>
          </a:xfrm>
          <a:prstGeom prst="rect">
            <a:avLst/>
          </a:prstGeom>
          <a:solidFill>
            <a:srgbClr val="051D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52476" y="5905352"/>
            <a:ext cx="38099" cy="101597"/>
          </a:xfrm>
          <a:prstGeom prst="rect">
            <a:avLst/>
          </a:prstGeom>
          <a:solidFill>
            <a:srgbClr val="062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84225" y="5905352"/>
            <a:ext cx="38099" cy="101597"/>
          </a:xfrm>
          <a:prstGeom prst="rect">
            <a:avLst/>
          </a:prstGeom>
          <a:solidFill>
            <a:srgbClr val="07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15974" y="5905352"/>
            <a:ext cx="38099" cy="101597"/>
          </a:xfrm>
          <a:prstGeom prst="rect">
            <a:avLst/>
          </a:prstGeom>
          <a:solidFill>
            <a:srgbClr val="0826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47723" y="5905352"/>
            <a:ext cx="38099" cy="101597"/>
          </a:xfrm>
          <a:prstGeom prst="rect">
            <a:avLst/>
          </a:prstGeom>
          <a:solidFill>
            <a:srgbClr val="0829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79473" y="5905352"/>
            <a:ext cx="38099" cy="101597"/>
          </a:xfrm>
          <a:prstGeom prst="rect">
            <a:avLst/>
          </a:prstGeom>
          <a:solidFill>
            <a:srgbClr val="092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111222" y="5905352"/>
            <a:ext cx="38099" cy="101597"/>
          </a:xfrm>
          <a:prstGeom prst="rect">
            <a:avLst/>
          </a:prstGeom>
          <a:solidFill>
            <a:srgbClr val="0A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142971" y="5905352"/>
            <a:ext cx="38099" cy="101597"/>
          </a:xfrm>
          <a:prstGeom prst="rect">
            <a:avLst/>
          </a:prstGeom>
          <a:solidFill>
            <a:srgbClr val="0B33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174720" y="5905352"/>
            <a:ext cx="38099" cy="101597"/>
          </a:xfrm>
          <a:prstGeom prst="rect">
            <a:avLst/>
          </a:prstGeom>
          <a:solidFill>
            <a:srgbClr val="0C36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206469" y="5905352"/>
            <a:ext cx="38099" cy="101597"/>
          </a:xfrm>
          <a:prstGeom prst="rect">
            <a:avLst/>
          </a:prstGeom>
          <a:solidFill>
            <a:srgbClr val="0D3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238219" y="5905352"/>
            <a:ext cx="38099" cy="101597"/>
          </a:xfrm>
          <a:prstGeom prst="rect">
            <a:avLst/>
          </a:prstGeom>
          <a:solidFill>
            <a:srgbClr val="0E3F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1269968" y="5905352"/>
            <a:ext cx="38099" cy="101597"/>
          </a:xfrm>
          <a:prstGeom prst="rect">
            <a:avLst/>
          </a:prstGeom>
          <a:solidFill>
            <a:srgbClr val="1048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1301717" y="5905352"/>
            <a:ext cx="38099" cy="101597"/>
          </a:xfrm>
          <a:prstGeom prst="rect">
            <a:avLst/>
          </a:prstGeom>
          <a:solidFill>
            <a:srgbClr val="115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1333466" y="5905352"/>
            <a:ext cx="38099" cy="101597"/>
          </a:xfrm>
          <a:prstGeom prst="rect">
            <a:avLst/>
          </a:prstGeom>
          <a:solidFill>
            <a:srgbClr val="1359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1365215" y="5905352"/>
            <a:ext cx="38099" cy="101597"/>
          </a:xfrm>
          <a:prstGeom prst="rect">
            <a:avLst/>
          </a:prstGeom>
          <a:solidFill>
            <a:srgbClr val="156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1396965" y="5905352"/>
            <a:ext cx="38099" cy="101597"/>
          </a:xfrm>
          <a:prstGeom prst="rect">
            <a:avLst/>
          </a:prstGeom>
          <a:solidFill>
            <a:srgbClr val="166B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428714" y="5905352"/>
            <a:ext cx="38099" cy="101597"/>
          </a:xfrm>
          <a:prstGeom prst="rect">
            <a:avLst/>
          </a:prstGeom>
          <a:solidFill>
            <a:srgbClr val="1874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460463" y="5905352"/>
            <a:ext cx="38099" cy="101597"/>
          </a:xfrm>
          <a:prstGeom prst="rect">
            <a:avLst/>
          </a:prstGeom>
          <a:solidFill>
            <a:srgbClr val="1A7C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492212" y="5905352"/>
            <a:ext cx="38099" cy="101597"/>
          </a:xfrm>
          <a:prstGeom prst="rect">
            <a:avLst/>
          </a:prstGeom>
          <a:solidFill>
            <a:srgbClr val="1C85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523961" y="5905352"/>
            <a:ext cx="38099" cy="101597"/>
          </a:xfrm>
          <a:prstGeom prst="rect">
            <a:avLst/>
          </a:prstGeom>
          <a:solidFill>
            <a:srgbClr val="1E8E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555711" y="5905352"/>
            <a:ext cx="38099" cy="101597"/>
          </a:xfrm>
          <a:prstGeom prst="rect">
            <a:avLst/>
          </a:prstGeom>
          <a:solidFill>
            <a:srgbClr val="239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587460" y="5905352"/>
            <a:ext cx="38099" cy="101597"/>
          </a:xfrm>
          <a:prstGeom prst="rect">
            <a:avLst/>
          </a:prstGeom>
          <a:solidFill>
            <a:srgbClr val="299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619209" y="5905352"/>
            <a:ext cx="38099" cy="101597"/>
          </a:xfrm>
          <a:prstGeom prst="rect">
            <a:avLst/>
          </a:prstGeom>
          <a:solidFill>
            <a:srgbClr val="2F9D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650958" y="5905352"/>
            <a:ext cx="38099" cy="101597"/>
          </a:xfrm>
          <a:prstGeom prst="rect">
            <a:avLst/>
          </a:prstGeom>
          <a:solidFill>
            <a:srgbClr val="34A2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682707" y="5905352"/>
            <a:ext cx="38099" cy="101597"/>
          </a:xfrm>
          <a:prstGeom prst="rect">
            <a:avLst/>
          </a:prstGeom>
          <a:solidFill>
            <a:srgbClr val="3AA7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1714457" y="5905352"/>
            <a:ext cx="38099" cy="101597"/>
          </a:xfrm>
          <a:prstGeom prst="rect">
            <a:avLst/>
          </a:prstGeom>
          <a:solidFill>
            <a:srgbClr val="3FAC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1746206" y="5905352"/>
            <a:ext cx="38099" cy="101597"/>
          </a:xfrm>
          <a:prstGeom prst="rect">
            <a:avLst/>
          </a:prstGeom>
          <a:solidFill>
            <a:srgbClr val="45B1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1777955" y="5905352"/>
            <a:ext cx="38099" cy="101597"/>
          </a:xfrm>
          <a:prstGeom prst="rect">
            <a:avLst/>
          </a:prstGeom>
          <a:solidFill>
            <a:srgbClr val="4BB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809704" y="5905352"/>
            <a:ext cx="38099" cy="101597"/>
          </a:xfrm>
          <a:prstGeom prst="rect">
            <a:avLst/>
          </a:prstGeom>
          <a:solidFill>
            <a:srgbClr val="50B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841453" y="5905352"/>
            <a:ext cx="38099" cy="101597"/>
          </a:xfrm>
          <a:prstGeom prst="rect">
            <a:avLst/>
          </a:prstGeom>
          <a:solidFill>
            <a:srgbClr val="60B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873203" y="5905352"/>
            <a:ext cx="38099" cy="101597"/>
          </a:xfrm>
          <a:prstGeom prst="rect">
            <a:avLst/>
          </a:prstGeom>
          <a:solidFill>
            <a:srgbClr val="75C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904952" y="5905352"/>
            <a:ext cx="38099" cy="101597"/>
          </a:xfrm>
          <a:prstGeom prst="rect">
            <a:avLst/>
          </a:prstGeom>
          <a:solidFill>
            <a:srgbClr val="8AC4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936701" y="5905352"/>
            <a:ext cx="38099" cy="101597"/>
          </a:xfrm>
          <a:prstGeom prst="rect">
            <a:avLst/>
          </a:prstGeom>
          <a:solidFill>
            <a:srgbClr val="9FC6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968450" y="5905352"/>
            <a:ext cx="38099" cy="101597"/>
          </a:xfrm>
          <a:prstGeom prst="rect">
            <a:avLst/>
          </a:prstGeom>
          <a:solidFill>
            <a:srgbClr val="B4C9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2000199" y="5905352"/>
            <a:ext cx="38099" cy="101597"/>
          </a:xfrm>
          <a:prstGeom prst="rect">
            <a:avLst/>
          </a:prstGeom>
          <a:solidFill>
            <a:srgbClr val="C9C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2031949" y="5905352"/>
            <a:ext cx="38099" cy="101597"/>
          </a:xfrm>
          <a:prstGeom prst="rect">
            <a:avLst/>
          </a:prstGeom>
          <a:solidFill>
            <a:srgbClr val="DECE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2063698" y="5905352"/>
            <a:ext cx="38099" cy="101597"/>
          </a:xfrm>
          <a:prstGeom prst="rect">
            <a:avLst/>
          </a:prstGeom>
          <a:solidFill>
            <a:srgbClr val="F3D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2095447" y="5905352"/>
            <a:ext cx="38099" cy="101597"/>
          </a:xfrm>
          <a:prstGeom prst="rect">
            <a:avLst/>
          </a:prstGeom>
          <a:solidFill>
            <a:srgbClr val="FFCF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2127196" y="5905352"/>
            <a:ext cx="38099" cy="101597"/>
          </a:xfrm>
          <a:prstGeom prst="rect">
            <a:avLst/>
          </a:prstGeom>
          <a:solidFill>
            <a:srgbClr val="FFC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2158946" y="5905352"/>
            <a:ext cx="38099" cy="101597"/>
          </a:xfrm>
          <a:prstGeom prst="rect">
            <a:avLst/>
          </a:prstGeom>
          <a:solidFill>
            <a:srgbClr val="FFBE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2190695" y="5905352"/>
            <a:ext cx="38099" cy="101597"/>
          </a:xfrm>
          <a:prstGeom prst="rect">
            <a:avLst/>
          </a:prstGeom>
          <a:solidFill>
            <a:srgbClr val="FFB6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2222444" y="5905352"/>
            <a:ext cx="38099" cy="101597"/>
          </a:xfrm>
          <a:prstGeom prst="rect">
            <a:avLst/>
          </a:prstGeom>
          <a:solidFill>
            <a:srgbClr val="FFAD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2254193" y="5905352"/>
            <a:ext cx="38099" cy="101597"/>
          </a:xfrm>
          <a:prstGeom prst="rect">
            <a:avLst/>
          </a:prstGeom>
          <a:solidFill>
            <a:srgbClr val="FF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2285942" y="5905352"/>
            <a:ext cx="38099" cy="101597"/>
          </a:xfrm>
          <a:prstGeom prst="rect">
            <a:avLst/>
          </a:prstGeom>
          <a:solidFill>
            <a:srgbClr val="FF9D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2317692" y="5905352"/>
            <a:ext cx="38099" cy="101597"/>
          </a:xfrm>
          <a:prstGeom prst="rect">
            <a:avLst/>
          </a:prstGeom>
          <a:solidFill>
            <a:srgbClr val="FF9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2349441" y="5905352"/>
            <a:ext cx="38099" cy="101597"/>
          </a:xfrm>
          <a:prstGeom prst="rect">
            <a:avLst/>
          </a:prstGeom>
          <a:solidFill>
            <a:srgbClr val="FF8C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2381190" y="5905352"/>
            <a:ext cx="38099" cy="101597"/>
          </a:xfrm>
          <a:prstGeom prst="rect">
            <a:avLst/>
          </a:prstGeom>
          <a:solidFill>
            <a:srgbClr val="FF84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2412939" y="5905352"/>
            <a:ext cx="38099" cy="101597"/>
          </a:xfrm>
          <a:prstGeom prst="rect">
            <a:avLst/>
          </a:prstGeom>
          <a:solidFill>
            <a:srgbClr val="FF7C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2444688" y="5905352"/>
            <a:ext cx="38099" cy="101597"/>
          </a:xfrm>
          <a:prstGeom prst="rect">
            <a:avLst/>
          </a:prstGeom>
          <a:solidFill>
            <a:srgbClr val="FD7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2476438" y="5905352"/>
            <a:ext cx="38099" cy="101597"/>
          </a:xfrm>
          <a:prstGeom prst="rect">
            <a:avLst/>
          </a:prstGeom>
          <a:solidFill>
            <a:srgbClr val="FB6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2508187" y="5905352"/>
            <a:ext cx="38099" cy="101597"/>
          </a:xfrm>
          <a:prstGeom prst="rect">
            <a:avLst/>
          </a:prstGeom>
          <a:solidFill>
            <a:srgbClr val="FA69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2539936" y="5905352"/>
            <a:ext cx="38099" cy="101597"/>
          </a:xfrm>
          <a:prstGeom prst="rect">
            <a:avLst/>
          </a:prstGeom>
          <a:solidFill>
            <a:srgbClr val="F863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2571685" y="5905352"/>
            <a:ext cx="38099" cy="101597"/>
          </a:xfrm>
          <a:prstGeom prst="rect">
            <a:avLst/>
          </a:prstGeom>
          <a:solidFill>
            <a:srgbClr val="F65D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2603434" y="5905352"/>
            <a:ext cx="38099" cy="101597"/>
          </a:xfrm>
          <a:prstGeom prst="rect">
            <a:avLst/>
          </a:prstGeom>
          <a:solidFill>
            <a:srgbClr val="F457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2635184" y="5905352"/>
            <a:ext cx="38099" cy="101597"/>
          </a:xfrm>
          <a:prstGeom prst="rect">
            <a:avLst/>
          </a:prstGeom>
          <a:solidFill>
            <a:srgbClr val="F25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2666933" y="5905352"/>
            <a:ext cx="38099" cy="101597"/>
          </a:xfrm>
          <a:prstGeom prst="rect">
            <a:avLst/>
          </a:prstGeom>
          <a:solidFill>
            <a:srgbClr val="F04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2698682" y="5905352"/>
            <a:ext cx="38099" cy="101597"/>
          </a:xfrm>
          <a:prstGeom prst="rect">
            <a:avLst/>
          </a:prstGeom>
          <a:solidFill>
            <a:srgbClr val="EE4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2730431" y="5905352"/>
            <a:ext cx="38099" cy="101597"/>
          </a:xfrm>
          <a:prstGeom prst="rect">
            <a:avLst/>
          </a:prstGeom>
          <a:solidFill>
            <a:srgbClr val="EC3F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2762180" y="5905352"/>
            <a:ext cx="38099" cy="101597"/>
          </a:xfrm>
          <a:prstGeom prst="rect">
            <a:avLst/>
          </a:prstGeom>
          <a:solidFill>
            <a:srgbClr val="EA39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2793930" y="5905352"/>
            <a:ext cx="38099" cy="101597"/>
          </a:xfrm>
          <a:prstGeom prst="rect">
            <a:avLst/>
          </a:prstGeom>
          <a:solidFill>
            <a:srgbClr val="E833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539736"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0</a:t>
            </a:r>
          </a:p>
        </p:txBody>
      </p:sp>
      <p:sp>
        <p:nvSpPr>
          <p:cNvPr id="390" name="TextBox 389"/>
          <p:cNvSpPr txBox="1"/>
          <p:nvPr/>
        </p:nvSpPr>
        <p:spPr>
          <a:xfrm>
            <a:off x="1492212"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200</a:t>
            </a:r>
          </a:p>
        </p:txBody>
      </p:sp>
      <p:sp>
        <p:nvSpPr>
          <p:cNvPr id="391" name="TextBox 390"/>
          <p:cNvSpPr txBox="1"/>
          <p:nvPr/>
        </p:nvSpPr>
        <p:spPr>
          <a:xfrm>
            <a:off x="2444688" y="6070448"/>
            <a:ext cx="761980" cy="190495"/>
          </a:xfrm>
          <a:prstGeom prst="rect">
            <a:avLst/>
          </a:prstGeom>
          <a:noFill/>
        </p:spPr>
        <p:txBody>
          <a:bodyPr wrap="square" anchor="t" lIns="0" rIns="0" tIns="0" bIns="0">
            <a:spAutoFit/>
          </a:bodyPr>
          <a:lstStyle/>
          <a:p>
            <a:pPr algn="ctr">
              <a:lnSpc>
                <a:spcPct val="125000"/>
              </a:lnSpc>
            </a:pPr>
            <a:r>
              <a:rPr sz="1100" b="0">
                <a:solidFill>
                  <a:srgbClr val="8FB6D0"/>
                </a:solidFill>
                <a:latin typeface="Consolas"/>
              </a:rPr>
              <a:t>400</a:t>
            </a:r>
          </a:p>
        </p:txBody>
      </p:sp>
      <p:sp>
        <p:nvSpPr>
          <p:cNvPr id="392" name="TextBox 391"/>
          <p:cNvSpPr txBox="1"/>
          <p:nvPr/>
        </p:nvSpPr>
        <p:spPr>
          <a:xfrm>
            <a:off x="2978075" y="5892652"/>
            <a:ext cx="1269968"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kPa</a:t>
            </a:r>
          </a:p>
        </p:txBody>
      </p:sp>
      <p:sp>
        <p:nvSpPr>
          <p:cNvPr id="393" name="!!piek"/>
          <p:cNvSpPr txBox="1"/>
          <p:nvPr/>
        </p:nvSpPr>
        <p:spPr>
          <a:xfrm>
            <a:off x="3555911" y="1587460"/>
            <a:ext cx="4444888" cy="1904952"/>
          </a:xfrm>
          <a:prstGeom prst="rect">
            <a:avLst/>
          </a:prstGeom>
          <a:noFill/>
        </p:spPr>
        <p:txBody>
          <a:bodyPr wrap="none" anchor="t" lIns="0" rIns="0" tIns="0" bIns="0">
            <a:spAutoFit/>
          </a:bodyPr>
          <a:lstStyle/>
          <a:p>
            <a:pPr algn="l">
              <a:lnSpc>
                <a:spcPct val="90000"/>
              </a:lnSpc>
            </a:pPr>
            <a:r>
              <a:rPr sz="15000" b="1">
                <a:solidFill>
                  <a:srgbClr val="52BDEC"/>
                </a:solidFill>
                <a:latin typeface="Segoe UI"/>
              </a:rPr>
              <a:t>186</a:t>
            </a:r>
          </a:p>
        </p:txBody>
      </p:sp>
      <p:sp>
        <p:nvSpPr>
          <p:cNvPr id="394" name="!!eenheid"/>
          <p:cNvSpPr txBox="1"/>
          <p:nvPr/>
        </p:nvSpPr>
        <p:spPr>
          <a:xfrm>
            <a:off x="6857828" y="1904952"/>
            <a:ext cx="1269968" cy="507987"/>
          </a:xfrm>
          <a:prstGeom prst="rect">
            <a:avLst/>
          </a:prstGeom>
          <a:noFill/>
        </p:spPr>
        <p:txBody>
          <a:bodyPr wrap="square" anchor="t" lIns="0" rIns="0" tIns="0" bIns="0">
            <a:spAutoFit/>
          </a:bodyPr>
          <a:lstStyle/>
          <a:p>
            <a:pPr algn="l">
              <a:lnSpc>
                <a:spcPct val="125000"/>
              </a:lnSpc>
            </a:pPr>
            <a:r>
              <a:rPr sz="4400" b="1">
                <a:solidFill>
                  <a:srgbClr val="52BDEC"/>
                </a:solidFill>
                <a:latin typeface="Segoe UI Light"/>
              </a:rPr>
              <a:t>kPa</a:t>
            </a:r>
          </a:p>
        </p:txBody>
      </p:sp>
      <p:sp>
        <p:nvSpPr>
          <p:cNvPr id="395" name="!!plek"/>
          <p:cNvSpPr txBox="1"/>
          <p:nvPr/>
        </p:nvSpPr>
        <p:spPr>
          <a:xfrm>
            <a:off x="3581310" y="3352716"/>
            <a:ext cx="7619809" cy="380990"/>
          </a:xfrm>
          <a:prstGeom prst="rect">
            <a:avLst/>
          </a:prstGeom>
          <a:noFill/>
        </p:spPr>
        <p:txBody>
          <a:bodyPr wrap="square" anchor="t" lIns="0" rIns="0" tIns="0" bIns="0">
            <a:spAutoFit/>
          </a:bodyPr>
          <a:lstStyle/>
          <a:p>
            <a:pPr algn="l">
              <a:lnSpc>
                <a:spcPct val="125000"/>
              </a:lnSpc>
            </a:pPr>
            <a:r>
              <a:rPr sz="2200" b="1">
                <a:solidFill>
                  <a:srgbClr val="F2F8FC"/>
                </a:solidFill>
                <a:latin typeface="Segoe UI"/>
              </a:rPr>
              <a:t>piekdruk in de doelregio na aanpassing</a:t>
            </a:r>
          </a:p>
        </p:txBody>
      </p:sp>
      <p:sp>
        <p:nvSpPr>
          <p:cNvPr id="396" name="!!norm"/>
          <p:cNvSpPr/>
          <p:nvPr/>
        </p:nvSpPr>
        <p:spPr>
          <a:xfrm>
            <a:off x="3555911" y="3924201"/>
            <a:ext cx="8000799" cy="609584"/>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normtekst"/>
          <p:cNvSpPr txBox="1"/>
          <p:nvPr/>
        </p:nvSpPr>
        <p:spPr>
          <a:xfrm>
            <a:off x="3555911" y="4101997"/>
            <a:ext cx="8000799" cy="292092"/>
          </a:xfrm>
          <a:prstGeom prst="rect">
            <a:avLst/>
          </a:prstGeom>
          <a:noFill/>
        </p:spPr>
        <p:txBody>
          <a:bodyPr wrap="square" anchor="t" lIns="0" rIns="0" tIns="0" bIns="0">
            <a:spAutoFit/>
          </a:bodyPr>
          <a:lstStyle/>
          <a:p>
            <a:pPr algn="ctr">
              <a:lnSpc>
                <a:spcPct val="125000"/>
              </a:lnSpc>
            </a:pPr>
            <a:r>
              <a:rPr sz="2200" b="1">
                <a:solidFill>
                  <a:srgbClr val="FF7A00"/>
                </a:solidFill>
                <a:latin typeface="Consolas"/>
              </a:rPr>
              <a:t>40% lager  ·  onder 200 kPa  ·  beide criteria</a:t>
            </a:r>
          </a:p>
        </p:txBody>
      </p:sp>
      <p:sp>
        <p:nvSpPr>
          <p:cNvPr id="398" name="TextBox 397"/>
          <p:cNvSpPr txBox="1"/>
          <p:nvPr/>
        </p:nvSpPr>
        <p:spPr>
          <a:xfrm>
            <a:off x="3555911" y="4825879"/>
            <a:ext cx="8000799" cy="1269968"/>
          </a:xfrm>
          <a:prstGeom prst="rect">
            <a:avLst/>
          </a:prstGeom>
          <a:noFill/>
        </p:spPr>
        <p:txBody>
          <a:bodyPr wrap="square" anchor="t" lIns="0" rIns="0" tIns="0" bIns="0">
            <a:spAutoFit/>
          </a:bodyPr>
          <a:lstStyle/>
          <a:p>
            <a:pPr algn="l">
              <a:lnSpc>
                <a:spcPct val="135000"/>
              </a:lnSpc>
            </a:pPr>
            <a:r>
              <a:rPr sz="1700" b="0">
                <a:solidFill>
                  <a:srgbClr val="8FB6D0"/>
                </a:solidFill>
                <a:latin typeface="Segoe UI"/>
              </a:rPr>
              <a:t>De norm geldt per doelregio: piekdruk onder 200 kPa óf minstens 25% lager dan de baselinemeting van diezelfde regio.</a:t>
            </a:r>
          </a:p>
          <a:p>
            <a:pPr algn="l">
              <a:lnSpc>
                <a:spcPct val="135000"/>
              </a:lnSpc>
              <a:spcBef>
                <a:spcPts val="1200"/>
              </a:spcBef>
            </a:pPr>
            <a:r>
              <a:rPr sz="1700" b="0">
                <a:solidFill>
                  <a:srgbClr val="8FB6D0"/>
                </a:solidFill>
                <a:latin typeface="Segoe UI"/>
              </a:rPr>
              <a:t>Haalt u de norm niet, dan past u aan en meet u opnieuw. Het formulier voorziet twee extra ontlastingstests.</a:t>
            </a:r>
          </a:p>
        </p:txBody>
      </p:sp>
      <p:sp>
        <p:nvSpPr>
          <p:cNvPr id="399" name="TextBox 398"/>
          <p:cNvSpPr txBox="1"/>
          <p:nvPr/>
        </p:nvSpPr>
        <p:spPr>
          <a:xfrm>
            <a:off x="634984" y="6387940"/>
            <a:ext cx="8889777" cy="190495"/>
          </a:xfrm>
          <a:prstGeom prst="rect">
            <a:avLst/>
          </a:prstGeom>
          <a:noFill/>
        </p:spPr>
        <p:txBody>
          <a:bodyPr wrap="square" anchor="t" lIns="0" rIns="0" tIns="0" bIns="0">
            <a:spAutoFit/>
          </a:bodyPr>
          <a:lstStyle/>
          <a:p>
            <a:pPr algn="l">
              <a:lnSpc>
                <a:spcPct val="125000"/>
              </a:lnSpc>
            </a:pPr>
            <a:r>
              <a:rPr sz="1150" b="0">
                <a:solidFill>
                  <a:srgbClr val="8FB6D0"/>
                </a:solidFill>
                <a:latin typeface="Consolas"/>
              </a:rPr>
              <a:t>eCRF-document 24 · Meting drukherverdeling voetorthese</a:t>
            </a:r>
          </a:p>
        </p:txBody>
      </p:sp>
      <p:sp>
        <p:nvSpPr>
          <p:cNvPr id="400" name="TextBox 39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16 / 28</a:t>
            </a:r>
          </a:p>
        </p:txBody>
      </p:sp>
      <p:pic>
        <p:nvPicPr>
          <p:cNvPr id="401"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402" name="TextBox 401"/>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6 · Bus 2011   |   7 · Bus 2020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knal_belasting.jpg"/>
          <p:cNvPicPr>
            <a:picLocks noChangeAspect="1"/>
          </p:cNvPicPr>
          <p:nvPr/>
        </p:nvPicPr>
        <p:blipFill>
          <a:blip r:embed="rId2"/>
          <a:stretch>
            <a:fillRect/>
          </a:stretch>
        </p:blipFill>
        <p:spPr>
          <a:xfrm>
            <a:off x="-22661" y="0"/>
            <a:ext cx="12237017"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8000"/>
                </a:srgbClr>
              </a:gs>
              <a:gs pos="100000">
                <a:srgbClr val="072138">
                  <a:alpha val="95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2476" y="123186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7200" b="1">
                <a:solidFill>
                  <a:srgbClr val="FFFFFF"/>
                </a:solidFill>
                <a:latin typeface="Segoe UI"/>
              </a:rPr>
              <a:t>Niet minder belasting.</a:t>
            </a:r>
          </a:p>
          <a:p>
            <a:pPr algn="l">
              <a:lnSpc>
                <a:spcPct val="106000"/>
              </a:lnSpc>
              <a:spcBef>
                <a:spcPts val="500"/>
              </a:spcBef>
            </a:pPr>
            <a:r>
              <a:rPr sz="7200" b="1">
                <a:solidFill>
                  <a:srgbClr val="FFFFFF"/>
                </a:solidFill>
                <a:latin typeface="Segoe UI"/>
              </a:rPr>
              <a:t>Belasting op een plek die het aankan.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03</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BLOK 03</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Het traject</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Negen contactmomenten. Per moment: wat u doet en wat u invult.</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18 / 28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355591"/>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TRAJECT</a:t>
            </a:r>
          </a:p>
        </p:txBody>
      </p:sp>
      <p:sp>
        <p:nvSpPr>
          <p:cNvPr id="4" name="!!sectietitel"/>
          <p:cNvSpPr txBox="1"/>
          <p:nvPr/>
        </p:nvSpPr>
        <p:spPr>
          <a:xfrm>
            <a:off x="634984" y="609584"/>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Screening plus negen visites</a:t>
            </a:r>
          </a:p>
        </p:txBody>
      </p:sp>
      <p:sp>
        <p:nvSpPr>
          <p:cNvPr id="5" name="!!band"/>
          <p:cNvSpPr/>
          <p:nvPr/>
        </p:nvSpPr>
        <p:spPr>
          <a:xfrm>
            <a:off x="0" y="1206469"/>
            <a:ext cx="12191695" cy="3301917"/>
          </a:xfrm>
          <a:prstGeom prst="rect">
            <a:avLst/>
          </a:prstGeom>
          <a:solidFill>
            <a:srgbClr val="0A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s"/>
          <p:cNvSpPr/>
          <p:nvPr/>
        </p:nvSpPr>
        <p:spPr>
          <a:xfrm>
            <a:off x="634984" y="2920926"/>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ip0"/>
          <p:cNvSpPr/>
          <p:nvPr/>
        </p:nvSpPr>
        <p:spPr>
          <a:xfrm>
            <a:off x="1085822"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and0"/>
          <p:cNvSpPr txBox="1"/>
          <p:nvPr/>
        </p:nvSpPr>
        <p:spPr>
          <a:xfrm>
            <a:off x="634984" y="2133546"/>
            <a:ext cx="1092172" cy="279393"/>
          </a:xfrm>
          <a:prstGeom prst="rect">
            <a:avLst/>
          </a:prstGeom>
          <a:noFill/>
        </p:spPr>
        <p:txBody>
          <a:bodyPr wrap="square" anchor="t" lIns="0" rIns="0" tIns="0" bIns="0">
            <a:spAutoFit/>
          </a:bodyPr>
          <a:lstStyle/>
          <a:p>
            <a:pPr algn="ctr">
              <a:lnSpc>
                <a:spcPct val="125000"/>
              </a:lnSpc>
            </a:pPr>
            <a:r>
              <a:rPr sz="1500" b="1">
                <a:solidFill>
                  <a:srgbClr val="F2F8FC"/>
                </a:solidFill>
                <a:latin typeface="Consolas"/>
              </a:rPr>
              <a:t>Screen</a:t>
            </a:r>
          </a:p>
        </p:txBody>
      </p:sp>
      <p:sp>
        <p:nvSpPr>
          <p:cNvPr id="9" name="!!taak0"/>
          <p:cNvSpPr txBox="1"/>
          <p:nvPr/>
        </p:nvSpPr>
        <p:spPr>
          <a:xfrm>
            <a:off x="698482"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geschiktheid</a:t>
            </a:r>
          </a:p>
        </p:txBody>
      </p:sp>
      <p:sp>
        <p:nvSpPr>
          <p:cNvPr id="10" name="!!stip1"/>
          <p:cNvSpPr/>
          <p:nvPr/>
        </p:nvSpPr>
        <p:spPr>
          <a:xfrm>
            <a:off x="2177995"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and1"/>
          <p:cNvSpPr txBox="1"/>
          <p:nvPr/>
        </p:nvSpPr>
        <p:spPr>
          <a:xfrm>
            <a:off x="1727156"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V0</a:t>
            </a:r>
          </a:p>
        </p:txBody>
      </p:sp>
      <p:sp>
        <p:nvSpPr>
          <p:cNvPr id="12" name="!!taak1"/>
          <p:cNvSpPr txBox="1"/>
          <p:nvPr/>
        </p:nvSpPr>
        <p:spPr>
          <a:xfrm>
            <a:off x="1790655"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loting</a:t>
            </a:r>
          </a:p>
        </p:txBody>
      </p:sp>
      <p:sp>
        <p:nvSpPr>
          <p:cNvPr id="13" name="!!stip2"/>
          <p:cNvSpPr/>
          <p:nvPr/>
        </p:nvSpPr>
        <p:spPr>
          <a:xfrm>
            <a:off x="3289217"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and2"/>
          <p:cNvSpPr txBox="1"/>
          <p:nvPr/>
        </p:nvSpPr>
        <p:spPr>
          <a:xfrm>
            <a:off x="2819329"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V1</a:t>
            </a:r>
          </a:p>
        </p:txBody>
      </p:sp>
      <p:sp>
        <p:nvSpPr>
          <p:cNvPr id="15" name="!!taak2"/>
          <p:cNvSpPr txBox="1"/>
          <p:nvPr/>
        </p:nvSpPr>
        <p:spPr>
          <a:xfrm>
            <a:off x="2882827"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baseline</a:t>
            </a:r>
          </a:p>
        </p:txBody>
      </p:sp>
      <p:sp>
        <p:nvSpPr>
          <p:cNvPr id="16" name="!!stip3"/>
          <p:cNvSpPr/>
          <p:nvPr/>
        </p:nvSpPr>
        <p:spPr>
          <a:xfrm>
            <a:off x="4381390"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and3"/>
          <p:cNvSpPr txBox="1"/>
          <p:nvPr/>
        </p:nvSpPr>
        <p:spPr>
          <a:xfrm>
            <a:off x="391150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V2</a:t>
            </a:r>
          </a:p>
        </p:txBody>
      </p:sp>
      <p:sp>
        <p:nvSpPr>
          <p:cNvPr id="18" name="!!taak3"/>
          <p:cNvSpPr txBox="1"/>
          <p:nvPr/>
        </p:nvSpPr>
        <p:spPr>
          <a:xfrm>
            <a:off x="3975000"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zool + sensor</a:t>
            </a:r>
          </a:p>
        </p:txBody>
      </p:sp>
      <p:sp>
        <p:nvSpPr>
          <p:cNvPr id="19" name="!!stip4"/>
          <p:cNvSpPr/>
          <p:nvPr/>
        </p:nvSpPr>
        <p:spPr>
          <a:xfrm>
            <a:off x="547356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and4"/>
          <p:cNvSpPr txBox="1"/>
          <p:nvPr/>
        </p:nvSpPr>
        <p:spPr>
          <a:xfrm>
            <a:off x="5003674"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M3</a:t>
            </a:r>
          </a:p>
        </p:txBody>
      </p:sp>
      <p:sp>
        <p:nvSpPr>
          <p:cNvPr id="21" name="!!taak4"/>
          <p:cNvSpPr txBox="1"/>
          <p:nvPr/>
        </p:nvSpPr>
        <p:spPr>
          <a:xfrm>
            <a:off x="5067173"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2" name="!!stip5"/>
          <p:cNvSpPr/>
          <p:nvPr/>
        </p:nvSpPr>
        <p:spPr>
          <a:xfrm>
            <a:off x="6565735"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aand5"/>
          <p:cNvSpPr txBox="1"/>
          <p:nvPr/>
        </p:nvSpPr>
        <p:spPr>
          <a:xfrm>
            <a:off x="6095847"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M6</a:t>
            </a:r>
          </a:p>
        </p:txBody>
      </p:sp>
      <p:sp>
        <p:nvSpPr>
          <p:cNvPr id="24" name="!!taak5"/>
          <p:cNvSpPr txBox="1"/>
          <p:nvPr/>
        </p:nvSpPr>
        <p:spPr>
          <a:xfrm>
            <a:off x="615934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25" name="!!stip6"/>
          <p:cNvSpPr/>
          <p:nvPr/>
        </p:nvSpPr>
        <p:spPr>
          <a:xfrm>
            <a:off x="7657908"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and6"/>
          <p:cNvSpPr txBox="1"/>
          <p:nvPr/>
        </p:nvSpPr>
        <p:spPr>
          <a:xfrm>
            <a:off x="7188020"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M9</a:t>
            </a:r>
          </a:p>
        </p:txBody>
      </p:sp>
      <p:sp>
        <p:nvSpPr>
          <p:cNvPr id="27" name="!!taak6"/>
          <p:cNvSpPr txBox="1"/>
          <p:nvPr/>
        </p:nvSpPr>
        <p:spPr>
          <a:xfrm>
            <a:off x="7251518"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8" name="!!stip7"/>
          <p:cNvSpPr/>
          <p:nvPr/>
        </p:nvSpPr>
        <p:spPr>
          <a:xfrm>
            <a:off x="8750081"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and7"/>
          <p:cNvSpPr txBox="1"/>
          <p:nvPr/>
        </p:nvSpPr>
        <p:spPr>
          <a:xfrm>
            <a:off x="828019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M12</a:t>
            </a:r>
          </a:p>
        </p:txBody>
      </p:sp>
      <p:sp>
        <p:nvSpPr>
          <p:cNvPr id="30" name="!!taak7"/>
          <p:cNvSpPr txBox="1"/>
          <p:nvPr/>
        </p:nvSpPr>
        <p:spPr>
          <a:xfrm>
            <a:off x="8343691"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31" name="!!stip8"/>
          <p:cNvSpPr/>
          <p:nvPr/>
        </p:nvSpPr>
        <p:spPr>
          <a:xfrm>
            <a:off x="984225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aand8"/>
          <p:cNvSpPr txBox="1"/>
          <p:nvPr/>
        </p:nvSpPr>
        <p:spPr>
          <a:xfrm>
            <a:off x="9372365"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M15</a:t>
            </a:r>
          </a:p>
        </p:txBody>
      </p:sp>
      <p:sp>
        <p:nvSpPr>
          <p:cNvPr id="33" name="!!taak8"/>
          <p:cNvSpPr txBox="1"/>
          <p:nvPr/>
        </p:nvSpPr>
        <p:spPr>
          <a:xfrm>
            <a:off x="9435864"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34" name="!!stip9"/>
          <p:cNvSpPr/>
          <p:nvPr/>
        </p:nvSpPr>
        <p:spPr>
          <a:xfrm>
            <a:off x="10915377"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aand9"/>
          <p:cNvSpPr txBox="1"/>
          <p:nvPr/>
        </p:nvSpPr>
        <p:spPr>
          <a:xfrm>
            <a:off x="10464538"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M18</a:t>
            </a:r>
          </a:p>
        </p:txBody>
      </p:sp>
      <p:sp>
        <p:nvSpPr>
          <p:cNvPr id="36" name="!!taak9"/>
          <p:cNvSpPr txBox="1"/>
          <p:nvPr/>
        </p:nvSpPr>
        <p:spPr>
          <a:xfrm>
            <a:off x="1052803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 + einde</a:t>
            </a:r>
          </a:p>
        </p:txBody>
      </p:sp>
      <p:sp>
        <p:nvSpPr>
          <p:cNvPr id="37" name="Oval 36"/>
          <p:cNvSpPr/>
          <p:nvPr/>
        </p:nvSpPr>
        <p:spPr>
          <a:xfrm>
            <a:off x="660383" y="4013099"/>
            <a:ext cx="114297" cy="114297"/>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878"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meetmoment</a:t>
            </a:r>
          </a:p>
        </p:txBody>
      </p:sp>
      <p:sp>
        <p:nvSpPr>
          <p:cNvPr id="39" name="Oval 38"/>
          <p:cNvSpPr/>
          <p:nvPr/>
        </p:nvSpPr>
        <p:spPr>
          <a:xfrm>
            <a:off x="3200319" y="4013099"/>
            <a:ext cx="114297" cy="114297"/>
          </a:xfrm>
          <a:prstGeom prst="ellipse">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90815"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begeleiding</a:t>
            </a:r>
          </a:p>
        </p:txBody>
      </p:sp>
      <p:sp>
        <p:nvSpPr>
          <p:cNvPr id="41" name="Oval 40"/>
          <p:cNvSpPr/>
          <p:nvPr/>
        </p:nvSpPr>
        <p:spPr>
          <a:xfrm>
            <a:off x="5740256" y="4013099"/>
            <a:ext cx="114297" cy="114297"/>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30751"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start en afronding</a:t>
            </a:r>
          </a:p>
        </p:txBody>
      </p:sp>
      <p:sp>
        <p:nvSpPr>
          <p:cNvPr id="43" name="!!camera"/>
          <p:cNvSpPr txBox="1"/>
          <p:nvPr/>
        </p:nvSpPr>
        <p:spPr>
          <a:xfrm>
            <a:off x="634984" y="4711582"/>
            <a:ext cx="2031949" cy="1460463"/>
          </a:xfrm>
          <a:prstGeom prst="rect">
            <a:avLst/>
          </a:prstGeom>
          <a:noFill/>
        </p:spPr>
        <p:txBody>
          <a:bodyPr wrap="none" anchor="t" lIns="0" rIns="0" tIns="0" bIns="0">
            <a:spAutoFit/>
          </a:bodyPr>
          <a:lstStyle/>
          <a:p>
            <a:pPr algn="l">
              <a:lnSpc>
                <a:spcPct val="100000"/>
              </a:lnSpc>
            </a:pPr>
            <a:r>
              <a:rPr sz="9600" b="1">
                <a:solidFill>
                  <a:srgbClr val="52BDEC"/>
                </a:solidFill>
                <a:latin typeface="Segoe UI"/>
              </a:rPr>
              <a:t>18</a:t>
            </a:r>
          </a:p>
        </p:txBody>
      </p:sp>
      <p:sp>
        <p:nvSpPr>
          <p:cNvPr id="44" name="TextBox 43"/>
          <p:cNvSpPr txBox="1"/>
          <p:nvPr/>
        </p:nvSpPr>
        <p:spPr>
          <a:xfrm>
            <a:off x="2539936" y="4813179"/>
            <a:ext cx="8889777" cy="419089"/>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maanden, van screening tot afronding</a:t>
            </a:r>
          </a:p>
        </p:txBody>
      </p:sp>
      <p:sp>
        <p:nvSpPr>
          <p:cNvPr id="45" name="TextBox 44"/>
          <p:cNvSpPr txBox="1"/>
          <p:nvPr/>
        </p:nvSpPr>
        <p:spPr>
          <a:xfrm>
            <a:off x="2552636" y="5283067"/>
            <a:ext cx="8889777" cy="952476"/>
          </a:xfrm>
          <a:prstGeom prst="rect">
            <a:avLst/>
          </a:prstGeom>
          <a:noFill/>
        </p:spPr>
        <p:txBody>
          <a:bodyPr wrap="square" anchor="t" lIns="0" rIns="0" tIns="0" bIns="0">
            <a:spAutoFit/>
          </a:bodyPr>
          <a:lstStyle/>
          <a:p>
            <a:pPr algn="l">
              <a:lnSpc>
                <a:spcPct val="140000"/>
              </a:lnSpc>
            </a:pPr>
            <a:r>
              <a:rPr sz="1800" b="0">
                <a:solidFill>
                  <a:srgbClr val="8FB6D0"/>
                </a:solidFill>
                <a:latin typeface="Segoe UI"/>
              </a:rPr>
              <a:t>Visite 0 tot 2 liggen dicht op elkaar: toestemming, baseline, en de zool binnen de maand. Daarna is het ritme elke drie maanden, hetzelfde ritme als de controle die deze patiënten al krijgen.</a:t>
            </a:r>
          </a:p>
        </p:txBody>
      </p:sp>
      <p:sp>
        <p:nvSpPr>
          <p:cNvPr id="46" name="TextBox 4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19 / 28</a:t>
            </a:r>
          </a:p>
        </p:txBody>
      </p:sp>
      <p:pic>
        <p:nvPicPr>
          <p:cNvPr id="4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355591"/>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HET TRAJECT</a:t>
            </a:r>
          </a:p>
        </p:txBody>
      </p:sp>
      <p:sp>
        <p:nvSpPr>
          <p:cNvPr id="4" name="!!sectietitel"/>
          <p:cNvSpPr txBox="1"/>
          <p:nvPr/>
        </p:nvSpPr>
        <p:spPr>
          <a:xfrm>
            <a:off x="634984" y="609584"/>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Terug naar het geheel</a:t>
            </a:r>
          </a:p>
        </p:txBody>
      </p:sp>
      <p:sp>
        <p:nvSpPr>
          <p:cNvPr id="5" name="!!band"/>
          <p:cNvSpPr/>
          <p:nvPr/>
        </p:nvSpPr>
        <p:spPr>
          <a:xfrm>
            <a:off x="0" y="1206469"/>
            <a:ext cx="12191695" cy="3301917"/>
          </a:xfrm>
          <a:prstGeom prst="rect">
            <a:avLst/>
          </a:prstGeom>
          <a:solidFill>
            <a:srgbClr val="0A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s"/>
          <p:cNvSpPr/>
          <p:nvPr/>
        </p:nvSpPr>
        <p:spPr>
          <a:xfrm>
            <a:off x="634984" y="2920926"/>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ip0"/>
          <p:cNvSpPr/>
          <p:nvPr/>
        </p:nvSpPr>
        <p:spPr>
          <a:xfrm>
            <a:off x="1085822"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and0"/>
          <p:cNvSpPr txBox="1"/>
          <p:nvPr/>
        </p:nvSpPr>
        <p:spPr>
          <a:xfrm>
            <a:off x="634984" y="2133546"/>
            <a:ext cx="1092172" cy="279393"/>
          </a:xfrm>
          <a:prstGeom prst="rect">
            <a:avLst/>
          </a:prstGeom>
          <a:noFill/>
        </p:spPr>
        <p:txBody>
          <a:bodyPr wrap="square" anchor="t" lIns="0" rIns="0" tIns="0" bIns="0">
            <a:spAutoFit/>
          </a:bodyPr>
          <a:lstStyle/>
          <a:p>
            <a:pPr algn="ctr">
              <a:lnSpc>
                <a:spcPct val="125000"/>
              </a:lnSpc>
            </a:pPr>
            <a:r>
              <a:rPr sz="1500" b="1">
                <a:solidFill>
                  <a:srgbClr val="F2F8FC"/>
                </a:solidFill>
                <a:latin typeface="Consolas"/>
              </a:rPr>
              <a:t>Screen</a:t>
            </a:r>
          </a:p>
        </p:txBody>
      </p:sp>
      <p:sp>
        <p:nvSpPr>
          <p:cNvPr id="9" name="!!taak0"/>
          <p:cNvSpPr txBox="1"/>
          <p:nvPr/>
        </p:nvSpPr>
        <p:spPr>
          <a:xfrm>
            <a:off x="698482"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geschiktheid</a:t>
            </a:r>
          </a:p>
        </p:txBody>
      </p:sp>
      <p:sp>
        <p:nvSpPr>
          <p:cNvPr id="10" name="!!stip1"/>
          <p:cNvSpPr/>
          <p:nvPr/>
        </p:nvSpPr>
        <p:spPr>
          <a:xfrm>
            <a:off x="2177995"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and1"/>
          <p:cNvSpPr txBox="1"/>
          <p:nvPr/>
        </p:nvSpPr>
        <p:spPr>
          <a:xfrm>
            <a:off x="1727156"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V0</a:t>
            </a:r>
          </a:p>
        </p:txBody>
      </p:sp>
      <p:sp>
        <p:nvSpPr>
          <p:cNvPr id="12" name="!!taak1"/>
          <p:cNvSpPr txBox="1"/>
          <p:nvPr/>
        </p:nvSpPr>
        <p:spPr>
          <a:xfrm>
            <a:off x="1790655"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loting</a:t>
            </a:r>
          </a:p>
        </p:txBody>
      </p:sp>
      <p:sp>
        <p:nvSpPr>
          <p:cNvPr id="13" name="!!stip2"/>
          <p:cNvSpPr/>
          <p:nvPr/>
        </p:nvSpPr>
        <p:spPr>
          <a:xfrm>
            <a:off x="3289217"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and2"/>
          <p:cNvSpPr txBox="1"/>
          <p:nvPr/>
        </p:nvSpPr>
        <p:spPr>
          <a:xfrm>
            <a:off x="2819329"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V1</a:t>
            </a:r>
          </a:p>
        </p:txBody>
      </p:sp>
      <p:sp>
        <p:nvSpPr>
          <p:cNvPr id="15" name="!!taak2"/>
          <p:cNvSpPr txBox="1"/>
          <p:nvPr/>
        </p:nvSpPr>
        <p:spPr>
          <a:xfrm>
            <a:off x="2882827"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baseline</a:t>
            </a:r>
          </a:p>
        </p:txBody>
      </p:sp>
      <p:sp>
        <p:nvSpPr>
          <p:cNvPr id="16" name="!!stip3"/>
          <p:cNvSpPr/>
          <p:nvPr/>
        </p:nvSpPr>
        <p:spPr>
          <a:xfrm>
            <a:off x="4381390"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and3"/>
          <p:cNvSpPr txBox="1"/>
          <p:nvPr/>
        </p:nvSpPr>
        <p:spPr>
          <a:xfrm>
            <a:off x="391150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V2</a:t>
            </a:r>
          </a:p>
        </p:txBody>
      </p:sp>
      <p:sp>
        <p:nvSpPr>
          <p:cNvPr id="18" name="!!taak3"/>
          <p:cNvSpPr txBox="1"/>
          <p:nvPr/>
        </p:nvSpPr>
        <p:spPr>
          <a:xfrm>
            <a:off x="3975000"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zool + sensor</a:t>
            </a:r>
          </a:p>
        </p:txBody>
      </p:sp>
      <p:sp>
        <p:nvSpPr>
          <p:cNvPr id="19" name="!!stip4"/>
          <p:cNvSpPr/>
          <p:nvPr/>
        </p:nvSpPr>
        <p:spPr>
          <a:xfrm>
            <a:off x="547356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aand4"/>
          <p:cNvSpPr txBox="1"/>
          <p:nvPr/>
        </p:nvSpPr>
        <p:spPr>
          <a:xfrm>
            <a:off x="5003674"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M3</a:t>
            </a:r>
          </a:p>
        </p:txBody>
      </p:sp>
      <p:sp>
        <p:nvSpPr>
          <p:cNvPr id="21" name="!!taak4"/>
          <p:cNvSpPr txBox="1"/>
          <p:nvPr/>
        </p:nvSpPr>
        <p:spPr>
          <a:xfrm>
            <a:off x="5067173"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2" name="!!stip5"/>
          <p:cNvSpPr/>
          <p:nvPr/>
        </p:nvSpPr>
        <p:spPr>
          <a:xfrm>
            <a:off x="6565735"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aand5"/>
          <p:cNvSpPr txBox="1"/>
          <p:nvPr/>
        </p:nvSpPr>
        <p:spPr>
          <a:xfrm>
            <a:off x="6095847"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M6</a:t>
            </a:r>
          </a:p>
        </p:txBody>
      </p:sp>
      <p:sp>
        <p:nvSpPr>
          <p:cNvPr id="24" name="!!taak5"/>
          <p:cNvSpPr txBox="1"/>
          <p:nvPr/>
        </p:nvSpPr>
        <p:spPr>
          <a:xfrm>
            <a:off x="615934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25" name="!!stip6"/>
          <p:cNvSpPr/>
          <p:nvPr/>
        </p:nvSpPr>
        <p:spPr>
          <a:xfrm>
            <a:off x="7657908"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aand6"/>
          <p:cNvSpPr txBox="1"/>
          <p:nvPr/>
        </p:nvSpPr>
        <p:spPr>
          <a:xfrm>
            <a:off x="7188020"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M9</a:t>
            </a:r>
          </a:p>
        </p:txBody>
      </p:sp>
      <p:sp>
        <p:nvSpPr>
          <p:cNvPr id="27" name="!!taak6"/>
          <p:cNvSpPr txBox="1"/>
          <p:nvPr/>
        </p:nvSpPr>
        <p:spPr>
          <a:xfrm>
            <a:off x="7251518"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28" name="!!stip7"/>
          <p:cNvSpPr/>
          <p:nvPr/>
        </p:nvSpPr>
        <p:spPr>
          <a:xfrm>
            <a:off x="8750081" y="2857428"/>
            <a:ext cx="152396" cy="152396"/>
          </a:xfrm>
          <a:prstGeom prst="ellipse">
            <a:avLst/>
          </a:prstGeom>
          <a:solidFill>
            <a:srgbClr val="52BDEC"/>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and7"/>
          <p:cNvSpPr txBox="1"/>
          <p:nvPr/>
        </p:nvSpPr>
        <p:spPr>
          <a:xfrm>
            <a:off x="8280192"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M12</a:t>
            </a:r>
          </a:p>
        </p:txBody>
      </p:sp>
      <p:sp>
        <p:nvSpPr>
          <p:cNvPr id="30" name="!!taak7"/>
          <p:cNvSpPr txBox="1"/>
          <p:nvPr/>
        </p:nvSpPr>
        <p:spPr>
          <a:xfrm>
            <a:off x="8343691"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a:t>
            </a:r>
          </a:p>
        </p:txBody>
      </p:sp>
      <p:sp>
        <p:nvSpPr>
          <p:cNvPr id="31" name="!!stip8"/>
          <p:cNvSpPr/>
          <p:nvPr/>
        </p:nvSpPr>
        <p:spPr>
          <a:xfrm>
            <a:off x="9842253" y="2857428"/>
            <a:ext cx="152396" cy="152396"/>
          </a:xfrm>
          <a:prstGeom prst="ellipse">
            <a:avLst/>
          </a:prstGeom>
          <a:solidFill>
            <a:srgbClr val="1D8DB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maand8"/>
          <p:cNvSpPr txBox="1"/>
          <p:nvPr/>
        </p:nvSpPr>
        <p:spPr>
          <a:xfrm>
            <a:off x="9372365"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M15</a:t>
            </a:r>
          </a:p>
        </p:txBody>
      </p:sp>
      <p:sp>
        <p:nvSpPr>
          <p:cNvPr id="33" name="!!taak8"/>
          <p:cNvSpPr txBox="1"/>
          <p:nvPr/>
        </p:nvSpPr>
        <p:spPr>
          <a:xfrm>
            <a:off x="9435864"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opvolging</a:t>
            </a:r>
          </a:p>
        </p:txBody>
      </p:sp>
      <p:sp>
        <p:nvSpPr>
          <p:cNvPr id="34" name="!!stip9"/>
          <p:cNvSpPr/>
          <p:nvPr/>
        </p:nvSpPr>
        <p:spPr>
          <a:xfrm>
            <a:off x="10915377" y="2838379"/>
            <a:ext cx="190495" cy="190495"/>
          </a:xfrm>
          <a:prstGeom prst="ellipse">
            <a:avLst/>
          </a:prstGeom>
          <a:solidFill>
            <a:srgbClr val="FF7A00"/>
          </a:solidFill>
          <a:ln w="38100">
            <a:solidFill>
              <a:srgbClr val="0A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maand9"/>
          <p:cNvSpPr txBox="1"/>
          <p:nvPr/>
        </p:nvSpPr>
        <p:spPr>
          <a:xfrm>
            <a:off x="10464538" y="2133546"/>
            <a:ext cx="1092172" cy="279393"/>
          </a:xfrm>
          <a:prstGeom prst="rect">
            <a:avLst/>
          </a:prstGeom>
          <a:noFill/>
        </p:spPr>
        <p:txBody>
          <a:bodyPr wrap="square" anchor="t" lIns="0" rIns="0" tIns="0" bIns="0">
            <a:spAutoFit/>
          </a:bodyPr>
          <a:lstStyle/>
          <a:p>
            <a:pPr algn="ctr">
              <a:lnSpc>
                <a:spcPct val="125000"/>
              </a:lnSpc>
            </a:pPr>
            <a:r>
              <a:rPr sz="1700" b="1">
                <a:solidFill>
                  <a:srgbClr val="F2F8FC"/>
                </a:solidFill>
                <a:latin typeface="Consolas"/>
              </a:rPr>
              <a:t>M18</a:t>
            </a:r>
          </a:p>
        </p:txBody>
      </p:sp>
      <p:sp>
        <p:nvSpPr>
          <p:cNvPr id="36" name="!!taak9"/>
          <p:cNvSpPr txBox="1"/>
          <p:nvPr/>
        </p:nvSpPr>
        <p:spPr>
          <a:xfrm>
            <a:off x="10528036" y="3251118"/>
            <a:ext cx="965175" cy="571485"/>
          </a:xfrm>
          <a:prstGeom prst="rect">
            <a:avLst/>
          </a:prstGeom>
          <a:noFill/>
        </p:spPr>
        <p:txBody>
          <a:bodyPr wrap="square" anchor="t" lIns="0" rIns="0" tIns="0" bIns="0">
            <a:spAutoFit/>
          </a:bodyPr>
          <a:lstStyle/>
          <a:p>
            <a:pPr algn="ctr">
              <a:lnSpc>
                <a:spcPct val="130000"/>
              </a:lnSpc>
            </a:pPr>
            <a:r>
              <a:rPr sz="1350" b="0">
                <a:solidFill>
                  <a:srgbClr val="8FB6D0"/>
                </a:solidFill>
                <a:latin typeface="Segoe UI"/>
              </a:rPr>
              <a:t>meting + einde</a:t>
            </a:r>
          </a:p>
        </p:txBody>
      </p:sp>
      <p:sp>
        <p:nvSpPr>
          <p:cNvPr id="37" name="Oval 36"/>
          <p:cNvSpPr/>
          <p:nvPr/>
        </p:nvSpPr>
        <p:spPr>
          <a:xfrm>
            <a:off x="660383" y="4013099"/>
            <a:ext cx="114297" cy="114297"/>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878"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meetmoment</a:t>
            </a:r>
          </a:p>
        </p:txBody>
      </p:sp>
      <p:sp>
        <p:nvSpPr>
          <p:cNvPr id="39" name="Oval 38"/>
          <p:cNvSpPr/>
          <p:nvPr/>
        </p:nvSpPr>
        <p:spPr>
          <a:xfrm>
            <a:off x="3200319" y="4013099"/>
            <a:ext cx="114297" cy="114297"/>
          </a:xfrm>
          <a:prstGeom prst="ellipse">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90815"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begeleiding</a:t>
            </a:r>
          </a:p>
        </p:txBody>
      </p:sp>
      <p:sp>
        <p:nvSpPr>
          <p:cNvPr id="41" name="Oval 40"/>
          <p:cNvSpPr/>
          <p:nvPr/>
        </p:nvSpPr>
        <p:spPr>
          <a:xfrm>
            <a:off x="5740256" y="4013099"/>
            <a:ext cx="114297" cy="114297"/>
          </a:xfrm>
          <a:prstGeom prst="ellipse">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30751" y="3975000"/>
            <a:ext cx="2285942" cy="215894"/>
          </a:xfrm>
          <a:prstGeom prst="rect">
            <a:avLst/>
          </a:prstGeom>
          <a:noFill/>
        </p:spPr>
        <p:txBody>
          <a:bodyPr wrap="square" anchor="t" lIns="0" rIns="0" tIns="0" bIns="0">
            <a:spAutoFit/>
          </a:bodyPr>
          <a:lstStyle/>
          <a:p>
            <a:pPr algn="l">
              <a:lnSpc>
                <a:spcPct val="125000"/>
              </a:lnSpc>
            </a:pPr>
            <a:r>
              <a:rPr sz="1300" b="0">
                <a:solidFill>
                  <a:srgbClr val="8FB6D0"/>
                </a:solidFill>
                <a:latin typeface="Consolas"/>
              </a:rPr>
              <a:t>start en afronding</a:t>
            </a:r>
          </a:p>
        </p:txBody>
      </p:sp>
      <p:sp>
        <p:nvSpPr>
          <p:cNvPr id="43" name="!!camera"/>
          <p:cNvSpPr txBox="1"/>
          <p:nvPr/>
        </p:nvSpPr>
        <p:spPr>
          <a:xfrm>
            <a:off x="634984" y="4711582"/>
            <a:ext cx="2031949" cy="1460463"/>
          </a:xfrm>
          <a:prstGeom prst="rect">
            <a:avLst/>
          </a:prstGeom>
          <a:noFill/>
        </p:spPr>
        <p:txBody>
          <a:bodyPr wrap="none" anchor="t" lIns="0" rIns="0" tIns="0" bIns="0">
            <a:spAutoFit/>
          </a:bodyPr>
          <a:lstStyle/>
          <a:p>
            <a:pPr algn="l">
              <a:lnSpc>
                <a:spcPct val="100000"/>
              </a:lnSpc>
            </a:pPr>
            <a:r>
              <a:rPr sz="9600" b="1">
                <a:solidFill>
                  <a:srgbClr val="52BDEC"/>
                </a:solidFill>
                <a:latin typeface="Segoe UI"/>
              </a:rPr>
              <a:t>10</a:t>
            </a:r>
          </a:p>
        </p:txBody>
      </p:sp>
      <p:sp>
        <p:nvSpPr>
          <p:cNvPr id="44" name="TextBox 43"/>
          <p:cNvSpPr txBox="1"/>
          <p:nvPr/>
        </p:nvSpPr>
        <p:spPr>
          <a:xfrm>
            <a:off x="2539936" y="4813179"/>
            <a:ext cx="8889777" cy="419089"/>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contactmomenten, één zorgpad</a:t>
            </a:r>
          </a:p>
        </p:txBody>
      </p:sp>
      <p:sp>
        <p:nvSpPr>
          <p:cNvPr id="45" name="TextBox 44"/>
          <p:cNvSpPr txBox="1"/>
          <p:nvPr/>
        </p:nvSpPr>
        <p:spPr>
          <a:xfrm>
            <a:off x="2552636" y="5283067"/>
            <a:ext cx="8889777" cy="952476"/>
          </a:xfrm>
          <a:prstGeom prst="rect">
            <a:avLst/>
          </a:prstGeom>
          <a:noFill/>
        </p:spPr>
        <p:txBody>
          <a:bodyPr wrap="square" anchor="t" lIns="0" rIns="0" tIns="0" bIns="0">
            <a:spAutoFit/>
          </a:bodyPr>
          <a:lstStyle/>
          <a:p>
            <a:pPr algn="l">
              <a:lnSpc>
                <a:spcPct val="140000"/>
              </a:lnSpc>
            </a:pPr>
            <a:r>
              <a:rPr sz="1800" b="0">
                <a:solidFill>
                  <a:srgbClr val="8FB6D0"/>
                </a:solidFill>
                <a:latin typeface="Segoe UI"/>
              </a:rPr>
              <a:t>Het verschil met vandaag zit niet in hoe vaak u de patiënt ziet, maar in wat u bij elk bezoek wéét: wat de zool doet en wat er gedragen is.</a:t>
            </a:r>
          </a:p>
        </p:txBody>
      </p:sp>
      <p:sp>
        <p:nvSpPr>
          <p:cNvPr id="46" name="TextBox 4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20 / 28</a:t>
            </a:r>
          </a:p>
        </p:txBody>
      </p:sp>
      <p:pic>
        <p:nvPicPr>
          <p:cNvPr id="47"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431789" y="723881"/>
            <a:ext cx="5714857" cy="2920926"/>
          </a:xfrm>
          <a:prstGeom prst="rect">
            <a:avLst/>
          </a:prstGeom>
          <a:noFill/>
        </p:spPr>
        <p:txBody>
          <a:bodyPr wrap="none" anchor="t" lIns="0" rIns="0" tIns="0" bIns="0">
            <a:spAutoFit/>
          </a:bodyPr>
          <a:lstStyle/>
          <a:p>
            <a:pPr algn="l">
              <a:lnSpc>
                <a:spcPct val="82000"/>
              </a:lnSpc>
            </a:pPr>
            <a:r>
              <a:rPr sz="26000" b="1">
                <a:solidFill>
                  <a:srgbClr val="52BDEC">
                    <a:alpha val="15000"/>
                  </a:srgbClr>
                </a:solidFill>
                <a:latin typeface="Segoe UI"/>
              </a:rPr>
              <a:t>04</a:t>
            </a:r>
          </a:p>
        </p:txBody>
      </p:sp>
      <p:sp>
        <p:nvSpPr>
          <p:cNvPr id="5" name="TextBox 4"/>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BLOK 04</a:t>
            </a:r>
          </a:p>
        </p:txBody>
      </p:sp>
      <p:sp>
        <p:nvSpPr>
          <p:cNvPr id="6" name="Rectangle 5"/>
          <p:cNvSpPr/>
          <p:nvPr/>
        </p:nvSpPr>
        <p:spPr>
          <a:xfrm>
            <a:off x="634984" y="3213019"/>
            <a:ext cx="812779" cy="50798"/>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Toestellen en regels</a:t>
            </a:r>
          </a:p>
        </p:txBody>
      </p:sp>
      <p:sp>
        <p:nvSpPr>
          <p:cNvPr id="8" name="TextBox 7"/>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De instellingen, het gesprek, en de vier regels die vastliggen.</a:t>
            </a:r>
          </a:p>
        </p:txBody>
      </p:sp>
      <p:sp>
        <p:nvSpPr>
          <p:cNvPr id="9" name="TextBox 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21 / 28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TECHNIEK</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Drie toestellen</a:t>
            </a:r>
          </a:p>
        </p:txBody>
      </p:sp>
      <p:sp>
        <p:nvSpPr>
          <p:cNvPr id="5" name="Rounded Rectangle 4"/>
          <p:cNvSpPr/>
          <p:nvPr/>
        </p:nvSpPr>
        <p:spPr>
          <a:xfrm>
            <a:off x="634984" y="1968450"/>
            <a:ext cx="5384538" cy="400039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dar.png"/>
          <p:cNvPicPr>
            <a:picLocks noChangeAspect="1"/>
          </p:cNvPicPr>
          <p:nvPr/>
        </p:nvPicPr>
        <p:blipFill>
          <a:blip r:embed="rId2"/>
          <a:stretch>
            <a:fillRect/>
          </a:stretch>
        </p:blipFill>
        <p:spPr>
          <a:xfrm>
            <a:off x="2344719" y="2184345"/>
            <a:ext cx="1965067" cy="1663658"/>
          </a:xfrm>
          <a:prstGeom prst="rect">
            <a:avLst/>
          </a:prstGeom>
        </p:spPr>
      </p:pic>
      <p:sp>
        <p:nvSpPr>
          <p:cNvPr id="7" name="TextBox 6"/>
          <p:cNvSpPr txBox="1"/>
          <p:nvPr/>
        </p:nvSpPr>
        <p:spPr>
          <a:xfrm>
            <a:off x="914377" y="3975000"/>
            <a:ext cx="2412939" cy="444488"/>
          </a:xfrm>
          <a:prstGeom prst="rect">
            <a:avLst/>
          </a:prstGeom>
          <a:noFill/>
        </p:spPr>
        <p:txBody>
          <a:bodyPr wrap="square" anchor="t" lIns="0" rIns="0" tIns="0" bIns="0">
            <a:spAutoFit/>
          </a:bodyPr>
          <a:lstStyle/>
          <a:p>
            <a:pPr algn="l">
              <a:lnSpc>
                <a:spcPct val="125000"/>
              </a:lnSpc>
            </a:pPr>
            <a:r>
              <a:rPr sz="3200" b="1">
                <a:solidFill>
                  <a:srgbClr val="F2F8FC"/>
                </a:solidFill>
                <a:latin typeface="Segoe UI"/>
              </a:rPr>
              <a:t>Novel pedar</a:t>
            </a:r>
          </a:p>
        </p:txBody>
      </p:sp>
      <p:sp>
        <p:nvSpPr>
          <p:cNvPr id="8" name="TextBox 7"/>
          <p:cNvSpPr txBox="1"/>
          <p:nvPr/>
        </p:nvSpPr>
        <p:spPr>
          <a:xfrm>
            <a:off x="927076" y="4444888"/>
            <a:ext cx="2412939" cy="228594"/>
          </a:xfrm>
          <a:prstGeom prst="rect">
            <a:avLst/>
          </a:prstGeom>
          <a:noFill/>
        </p:spPr>
        <p:txBody>
          <a:bodyPr wrap="square" anchor="t" lIns="0" rIns="0" tIns="0" bIns="0">
            <a:spAutoFit/>
          </a:bodyPr>
          <a:lstStyle/>
          <a:p>
            <a:pPr algn="l">
              <a:lnSpc>
                <a:spcPct val="125000"/>
              </a:lnSpc>
            </a:pPr>
            <a:r>
              <a:rPr sz="1250" b="1" spc="160">
                <a:solidFill>
                  <a:srgbClr val="52BDEC"/>
                </a:solidFill>
                <a:latin typeface="Consolas"/>
              </a:rPr>
              <a:t>DRUK</a:t>
            </a:r>
          </a:p>
        </p:txBody>
      </p:sp>
      <p:sp>
        <p:nvSpPr>
          <p:cNvPr id="9" name="TextBox 8"/>
          <p:cNvSpPr txBox="1"/>
          <p:nvPr/>
        </p:nvSpPr>
        <p:spPr>
          <a:xfrm>
            <a:off x="914377" y="4660783"/>
            <a:ext cx="2412939" cy="380990"/>
          </a:xfrm>
          <a:prstGeom prst="rect">
            <a:avLst/>
          </a:prstGeom>
          <a:noFill/>
        </p:spPr>
        <p:txBody>
          <a:bodyPr wrap="square" anchor="t" lIns="0" rIns="0" tIns="0" bIns="0">
            <a:spAutoFit/>
          </a:bodyPr>
          <a:lstStyle/>
          <a:p>
            <a:pPr algn="l">
              <a:lnSpc>
                <a:spcPct val="100000"/>
              </a:lnSpc>
            </a:pPr>
            <a:r>
              <a:rPr sz="2400" b="1">
                <a:solidFill>
                  <a:srgbClr val="52BDEC"/>
                </a:solidFill>
                <a:latin typeface="Segoe UI"/>
              </a:rPr>
              <a:t>8  voetregio's</a:t>
            </a:r>
          </a:p>
        </p:txBody>
      </p:sp>
      <p:sp>
        <p:nvSpPr>
          <p:cNvPr id="10" name="TextBox 9"/>
          <p:cNvSpPr txBox="1"/>
          <p:nvPr/>
        </p:nvSpPr>
        <p:spPr>
          <a:xfrm>
            <a:off x="914377" y="5079873"/>
            <a:ext cx="2412939" cy="253993"/>
          </a:xfrm>
          <a:prstGeom prst="rect">
            <a:avLst/>
          </a:prstGeom>
          <a:noFill/>
        </p:spPr>
        <p:txBody>
          <a:bodyPr wrap="square" anchor="t" lIns="0" rIns="0" tIns="0" bIns="0">
            <a:spAutoFit/>
          </a:bodyPr>
          <a:lstStyle/>
          <a:p>
            <a:pPr algn="l">
              <a:lnSpc>
                <a:spcPct val="125000"/>
              </a:lnSpc>
            </a:pPr>
            <a:r>
              <a:rPr sz="1300" b="1" spc="130">
                <a:solidFill>
                  <a:srgbClr val="FF7A00"/>
                </a:solidFill>
                <a:latin typeface="Consolas"/>
              </a:rPr>
              <a:t>UW TEAM MEET</a:t>
            </a:r>
          </a:p>
        </p:txBody>
      </p:sp>
      <p:sp>
        <p:nvSpPr>
          <p:cNvPr id="11" name="TextBox 10"/>
          <p:cNvSpPr txBox="1"/>
          <p:nvPr/>
        </p:nvSpPr>
        <p:spPr>
          <a:xfrm>
            <a:off x="3479713" y="3975000"/>
            <a:ext cx="2260416" cy="1879553"/>
          </a:xfrm>
          <a:prstGeom prst="rect">
            <a:avLst/>
          </a:prstGeom>
          <a:noFill/>
        </p:spPr>
        <p:txBody>
          <a:bodyPr wrap="square" anchor="t" lIns="0" rIns="0" tIns="0" bIns="0">
            <a:spAutoFit/>
          </a:bodyPr>
          <a:lstStyle/>
          <a:p>
            <a:pPr algn="l">
              <a:lnSpc>
                <a:spcPct val="130000"/>
              </a:lnSpc>
            </a:pPr>
            <a:r>
              <a:rPr sz="1350" b="0">
                <a:solidFill>
                  <a:srgbClr val="8FB6D0"/>
                </a:solidFill>
                <a:latin typeface="Segoe UI"/>
              </a:rPr>
              <a:t>In de schoen, met de zool</a:t>
            </a:r>
          </a:p>
          <a:p>
            <a:pPr algn="l">
              <a:lnSpc>
                <a:spcPct val="130000"/>
              </a:lnSpc>
              <a:spcBef>
                <a:spcPts val="1000"/>
              </a:spcBef>
            </a:pPr>
            <a:r>
              <a:rPr sz="1350" b="0">
                <a:solidFill>
                  <a:srgbClr val="8FB6D0"/>
                </a:solidFill>
                <a:latin typeface="Segoe UI"/>
              </a:rPr>
              <a:t>Zeroing voor elke meting</a:t>
            </a:r>
          </a:p>
          <a:p>
            <a:pPr algn="l">
              <a:lnSpc>
                <a:spcPct val="130000"/>
              </a:lnSpc>
              <a:spcBef>
                <a:spcPts val="1000"/>
              </a:spcBef>
            </a:pPr>
            <a:r>
              <a:rPr sz="1350" b="0">
                <a:solidFill>
                  <a:srgbClr val="8FB6D0"/>
                </a:solidFill>
                <a:latin typeface="Segoe UI"/>
              </a:rPr>
              <a:t>De F-Scan GO is een aparte meting van het studieteam</a:t>
            </a:r>
          </a:p>
        </p:txBody>
      </p:sp>
      <p:sp>
        <p:nvSpPr>
          <p:cNvPr id="12" name="Rounded Rectangle 11"/>
          <p:cNvSpPr/>
          <p:nvPr/>
        </p:nvSpPr>
        <p:spPr>
          <a:xfrm>
            <a:off x="6171918" y="1968450"/>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24314" y="2120846"/>
            <a:ext cx="1727156" cy="1612859"/>
          </a:xfrm>
          <a:prstGeom prst="roundRect">
            <a:avLst>
              <a:gd name="adj" fmla="val 4500"/>
            </a:avLst>
          </a:prstGeom>
          <a:solidFill>
            <a:srgbClr val="113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orthotimer.png"/>
          <p:cNvPicPr>
            <a:picLocks noChangeAspect="1"/>
          </p:cNvPicPr>
          <p:nvPr/>
        </p:nvPicPr>
        <p:blipFill>
          <a:blip r:embed="rId3"/>
          <a:stretch>
            <a:fillRect/>
          </a:stretch>
        </p:blipFill>
        <p:spPr>
          <a:xfrm>
            <a:off x="6387813" y="2629374"/>
            <a:ext cx="1600159" cy="595804"/>
          </a:xfrm>
          <a:prstGeom prst="rect">
            <a:avLst/>
          </a:prstGeom>
        </p:spPr>
      </p:pic>
      <p:sp>
        <p:nvSpPr>
          <p:cNvPr id="15" name="TextBox 14"/>
          <p:cNvSpPr txBox="1"/>
          <p:nvPr/>
        </p:nvSpPr>
        <p:spPr>
          <a:xfrm>
            <a:off x="8241966" y="2133546"/>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Orthotimer</a:t>
            </a:r>
          </a:p>
        </p:txBody>
      </p:sp>
      <p:sp>
        <p:nvSpPr>
          <p:cNvPr id="16" name="TextBox 15"/>
          <p:cNvSpPr txBox="1"/>
          <p:nvPr/>
        </p:nvSpPr>
        <p:spPr>
          <a:xfrm>
            <a:off x="8254666" y="2501837"/>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DRAAGTIJD</a:t>
            </a:r>
          </a:p>
        </p:txBody>
      </p:sp>
      <p:sp>
        <p:nvSpPr>
          <p:cNvPr id="17" name="TextBox 16"/>
          <p:cNvSpPr txBox="1"/>
          <p:nvPr/>
        </p:nvSpPr>
        <p:spPr>
          <a:xfrm>
            <a:off x="8241966" y="2705032"/>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15  minuten</a:t>
            </a:r>
          </a:p>
        </p:txBody>
      </p:sp>
      <p:sp>
        <p:nvSpPr>
          <p:cNvPr id="18" name="TextBox 17"/>
          <p:cNvSpPr txBox="1"/>
          <p:nvPr/>
        </p:nvSpPr>
        <p:spPr>
          <a:xfrm>
            <a:off x="8241966" y="3047923"/>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In de zool, 9 × 13 × 4,5 mm</a:t>
            </a:r>
          </a:p>
          <a:p>
            <a:pPr algn="l">
              <a:lnSpc>
                <a:spcPct val="128000"/>
              </a:lnSpc>
              <a:spcBef>
                <a:spcPts val="600"/>
              </a:spcBef>
            </a:pPr>
            <a:r>
              <a:rPr sz="1400" b="0">
                <a:solidFill>
                  <a:srgbClr val="8FB6D0"/>
                </a:solidFill>
                <a:latin typeface="Segoe UI"/>
              </a:rPr>
              <a:t>Batterij 100 dagen</a:t>
            </a:r>
          </a:p>
        </p:txBody>
      </p:sp>
      <p:sp>
        <p:nvSpPr>
          <p:cNvPr id="19" name="TextBox 18"/>
          <p:cNvSpPr txBox="1"/>
          <p:nvPr/>
        </p:nvSpPr>
        <p:spPr>
          <a:xfrm>
            <a:off x="8241966" y="3632109"/>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UW TEAM MEET</a:t>
            </a:r>
          </a:p>
        </p:txBody>
      </p:sp>
      <p:sp>
        <p:nvSpPr>
          <p:cNvPr id="20" name="Rounded Rectangle 19"/>
          <p:cNvSpPr/>
          <p:nvPr/>
        </p:nvSpPr>
        <p:spPr>
          <a:xfrm>
            <a:off x="6171918" y="4051198"/>
            <a:ext cx="5384538" cy="1917652"/>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314" y="4203594"/>
            <a:ext cx="1727156" cy="1612859"/>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ovemonitor.png"/>
          <p:cNvPicPr>
            <a:picLocks noChangeAspect="1"/>
          </p:cNvPicPr>
          <p:nvPr/>
        </p:nvPicPr>
        <p:blipFill>
          <a:blip r:embed="rId4"/>
          <a:stretch>
            <a:fillRect/>
          </a:stretch>
        </p:blipFill>
        <p:spPr>
          <a:xfrm>
            <a:off x="6387813" y="4567176"/>
            <a:ext cx="1600159" cy="885697"/>
          </a:xfrm>
          <a:prstGeom prst="rect">
            <a:avLst/>
          </a:prstGeom>
        </p:spPr>
      </p:pic>
      <p:sp>
        <p:nvSpPr>
          <p:cNvPr id="23" name="TextBox 22"/>
          <p:cNvSpPr txBox="1"/>
          <p:nvPr/>
        </p:nvSpPr>
        <p:spPr>
          <a:xfrm>
            <a:off x="8241966" y="4216294"/>
            <a:ext cx="3060496" cy="342891"/>
          </a:xfrm>
          <a:prstGeom prst="rect">
            <a:avLst/>
          </a:prstGeom>
          <a:noFill/>
        </p:spPr>
        <p:txBody>
          <a:bodyPr wrap="square" anchor="t" lIns="0" rIns="0" tIns="0" bIns="0">
            <a:spAutoFit/>
          </a:bodyPr>
          <a:lstStyle/>
          <a:p>
            <a:pPr algn="l">
              <a:lnSpc>
                <a:spcPct val="125000"/>
              </a:lnSpc>
            </a:pPr>
            <a:r>
              <a:rPr sz="2500" b="1">
                <a:solidFill>
                  <a:srgbClr val="F2F8FC"/>
                </a:solidFill>
                <a:latin typeface="Segoe UI"/>
              </a:rPr>
              <a:t>MoveMonitor</a:t>
            </a:r>
          </a:p>
        </p:txBody>
      </p:sp>
      <p:sp>
        <p:nvSpPr>
          <p:cNvPr id="24" name="TextBox 23"/>
          <p:cNvSpPr txBox="1"/>
          <p:nvPr/>
        </p:nvSpPr>
        <p:spPr>
          <a:xfrm>
            <a:off x="8254666" y="4584585"/>
            <a:ext cx="3060496" cy="215894"/>
          </a:xfrm>
          <a:prstGeom prst="rect">
            <a:avLst/>
          </a:prstGeom>
          <a:noFill/>
        </p:spPr>
        <p:txBody>
          <a:bodyPr wrap="square" anchor="t" lIns="0" rIns="0" tIns="0" bIns="0">
            <a:spAutoFit/>
          </a:bodyPr>
          <a:lstStyle/>
          <a:p>
            <a:pPr algn="l">
              <a:lnSpc>
                <a:spcPct val="125000"/>
              </a:lnSpc>
            </a:pPr>
            <a:r>
              <a:rPr sz="1200" b="1" spc="150">
                <a:solidFill>
                  <a:srgbClr val="52BDEC"/>
                </a:solidFill>
                <a:latin typeface="Consolas"/>
              </a:rPr>
              <a:t>ACTIVITEIT</a:t>
            </a:r>
          </a:p>
        </p:txBody>
      </p:sp>
      <p:sp>
        <p:nvSpPr>
          <p:cNvPr id="25" name="TextBox 24"/>
          <p:cNvSpPr txBox="1"/>
          <p:nvPr/>
        </p:nvSpPr>
        <p:spPr>
          <a:xfrm>
            <a:off x="8241966" y="4787780"/>
            <a:ext cx="3060496" cy="355591"/>
          </a:xfrm>
          <a:prstGeom prst="rect">
            <a:avLst/>
          </a:prstGeom>
          <a:noFill/>
        </p:spPr>
        <p:txBody>
          <a:bodyPr wrap="square" anchor="t" lIns="0" rIns="0" tIns="0" bIns="0">
            <a:spAutoFit/>
          </a:bodyPr>
          <a:lstStyle/>
          <a:p>
            <a:pPr algn="l">
              <a:lnSpc>
                <a:spcPct val="100000"/>
              </a:lnSpc>
            </a:pPr>
            <a:r>
              <a:rPr sz="2200" b="1">
                <a:solidFill>
                  <a:srgbClr val="52BDEC"/>
                </a:solidFill>
                <a:latin typeface="Segoe UI"/>
              </a:rPr>
              <a:t>7  dagen</a:t>
            </a:r>
          </a:p>
        </p:txBody>
      </p:sp>
      <p:sp>
        <p:nvSpPr>
          <p:cNvPr id="26" name="TextBox 25"/>
          <p:cNvSpPr txBox="1"/>
          <p:nvPr/>
        </p:nvSpPr>
        <p:spPr>
          <a:xfrm>
            <a:off x="8241966" y="5130671"/>
            <a:ext cx="3060496" cy="558786"/>
          </a:xfrm>
          <a:prstGeom prst="rect">
            <a:avLst/>
          </a:prstGeom>
          <a:noFill/>
        </p:spPr>
        <p:txBody>
          <a:bodyPr wrap="square" anchor="t" lIns="0" rIns="0" tIns="0" bIns="0">
            <a:spAutoFit/>
          </a:bodyPr>
          <a:lstStyle/>
          <a:p>
            <a:pPr algn="l">
              <a:lnSpc>
                <a:spcPct val="128000"/>
              </a:lnSpc>
            </a:pPr>
            <a:r>
              <a:rPr sz="1400" b="0">
                <a:solidFill>
                  <a:srgbClr val="8FB6D0"/>
                </a:solidFill>
                <a:latin typeface="Segoe UI"/>
              </a:rPr>
              <a:t>Om het middel, op de onderrug</a:t>
            </a:r>
          </a:p>
          <a:p>
            <a:pPr algn="l">
              <a:lnSpc>
                <a:spcPct val="128000"/>
              </a:lnSpc>
              <a:spcBef>
                <a:spcPts val="600"/>
              </a:spcBef>
            </a:pPr>
            <a:r>
              <a:rPr sz="1400" b="0">
                <a:solidFill>
                  <a:srgbClr val="8FB6D0"/>
                </a:solidFill>
                <a:latin typeface="Segoe UI"/>
              </a:rPr>
              <a:t>Baseline en 6 maanden</a:t>
            </a:r>
          </a:p>
        </p:txBody>
      </p:sp>
      <p:sp>
        <p:nvSpPr>
          <p:cNvPr id="27" name="TextBox 26"/>
          <p:cNvSpPr txBox="1"/>
          <p:nvPr/>
        </p:nvSpPr>
        <p:spPr>
          <a:xfrm>
            <a:off x="8241966" y="5714857"/>
            <a:ext cx="3060496" cy="228594"/>
          </a:xfrm>
          <a:prstGeom prst="rect">
            <a:avLst/>
          </a:prstGeom>
          <a:noFill/>
        </p:spPr>
        <p:txBody>
          <a:bodyPr wrap="square" anchor="t" lIns="0" rIns="0" tIns="0" bIns="0">
            <a:spAutoFit/>
          </a:bodyPr>
          <a:lstStyle/>
          <a:p>
            <a:pPr algn="l">
              <a:lnSpc>
                <a:spcPct val="125000"/>
              </a:lnSpc>
            </a:pPr>
            <a:r>
              <a:rPr sz="1250" b="1" spc="130">
                <a:solidFill>
                  <a:srgbClr val="FF7A00"/>
                </a:solidFill>
                <a:latin typeface="Consolas"/>
              </a:rPr>
              <a:t>UW TEAM MEET</a:t>
            </a:r>
          </a:p>
        </p:txBody>
      </p:sp>
      <p:sp>
        <p:nvSpPr>
          <p:cNvPr id="28" name="TextBox 2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22 / 28</a:t>
            </a:r>
          </a:p>
        </p:txBody>
      </p:sp>
      <p:pic>
        <p:nvPicPr>
          <p:cNvPr id="29" name="merk" descr="merk.png"/>
          <p:cNvPicPr>
            <a:picLocks noChangeAspect="1"/>
          </p:cNvPicPr>
          <p:nvPr/>
        </p:nvPicPr>
        <p:blipFill>
          <a:blip r:embed="rId5"/>
          <a:stretch>
            <a:fillRect/>
          </a:stretch>
        </p:blipFill>
        <p:spPr>
          <a:xfrm>
            <a:off x="11094166" y="368290"/>
            <a:ext cx="417101" cy="482587"/>
          </a:xfrm>
          <a:prstGeom prst="rect">
            <a:avLst/>
          </a:prstGeom>
        </p:spPr>
      </p:pic>
      <p:sp>
        <p:nvSpPr>
          <p:cNvPr id="30" name="TextBox 29"/>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eeld" descr="sensor_vol.png"/>
          <p:cNvPicPr>
            <a:picLocks noChangeAspect="1"/>
          </p:cNvPicPr>
          <p:nvPr/>
        </p:nvPicPr>
        <p:blipFill>
          <a:blip r:embed="rId2"/>
          <a:stretch>
            <a:fillRect/>
          </a:stretch>
        </p:blipFill>
        <p:spPr>
          <a:xfrm>
            <a:off x="-3671362" y="0"/>
            <a:ext cx="19534420" cy="6857828"/>
          </a:xfrm>
          <a:prstGeom prst="rect">
            <a:avLst/>
          </a:prstGeom>
        </p:spPr>
      </p:pic>
      <p:sp>
        <p:nvSpPr>
          <p:cNvPr id="4" name="Rectangle 3"/>
          <p:cNvSpPr/>
          <p:nvPr/>
        </p:nvSpPr>
        <p:spPr>
          <a:xfrm>
            <a:off x="0" y="0"/>
            <a:ext cx="12191695" cy="6857828"/>
          </a:xfrm>
          <a:prstGeom prst="rect">
            <a:avLst/>
          </a:prstGeom>
          <a:gradFill rotWithShape="1">
            <a:gsLst>
              <a:gs pos="0">
                <a:srgbClr val="04182A">
                  <a:alpha val="6000"/>
                </a:srgbClr>
              </a:gs>
              <a:gs pos="100000">
                <a:srgbClr val="04182A">
                  <a:alpha val="94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4984" y="4482987"/>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SENSOR IN HET ECHT</a:t>
            </a:r>
          </a:p>
        </p:txBody>
      </p:sp>
      <p:sp>
        <p:nvSpPr>
          <p:cNvPr id="6" name="!!sectietitel"/>
          <p:cNvSpPr txBox="1"/>
          <p:nvPr/>
        </p:nvSpPr>
        <p:spPr>
          <a:xfrm>
            <a:off x="634984" y="4787780"/>
            <a:ext cx="9524761" cy="1523961"/>
          </a:xfrm>
          <a:prstGeom prst="rect">
            <a:avLst/>
          </a:prstGeom>
          <a:noFill/>
        </p:spPr>
        <p:txBody>
          <a:bodyPr wrap="square" anchor="t" lIns="0" rIns="0" tIns="0" bIns="0">
            <a:spAutoFit/>
          </a:bodyPr>
          <a:lstStyle/>
          <a:p>
            <a:pPr algn="l">
              <a:lnSpc>
                <a:spcPct val="115000"/>
              </a:lnSpc>
            </a:pPr>
            <a:r>
              <a:rPr sz="4400" b="1">
                <a:solidFill>
                  <a:srgbClr val="F2F8FC"/>
                </a:solidFill>
                <a:latin typeface="Segoe UI"/>
              </a:rPr>
              <a:t>Negen bij dertien millimeter.</a:t>
            </a:r>
          </a:p>
          <a:p>
            <a:pPr algn="l">
              <a:lnSpc>
                <a:spcPct val="115000"/>
              </a:lnSpc>
              <a:spcBef>
                <a:spcPts val="500"/>
              </a:spcBef>
            </a:pPr>
            <a:r>
              <a:rPr sz="4400" b="1">
                <a:solidFill>
                  <a:srgbClr val="F2F8FC"/>
                </a:solidFill>
                <a:latin typeface="Segoe UI"/>
              </a:rPr>
              <a:t>Meer merkt de patiënt niet.</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23 / 28</a:t>
            </a:r>
          </a:p>
        </p:txBody>
      </p:sp>
      <p:pic>
        <p:nvPicPr>
          <p:cNvPr id="8" name="merk" descr="merk.png"/>
          <p:cNvPicPr>
            <a:picLocks noChangeAspect="1"/>
          </p:cNvPicPr>
          <p:nvPr/>
        </p:nvPicPr>
        <p:blipFill>
          <a:blip r:embed="rId3"/>
          <a:stretch>
            <a:fillRect/>
          </a:stretch>
        </p:blipFill>
        <p:spPr>
          <a:xfrm>
            <a:off x="11094166" y="368290"/>
            <a:ext cx="417101" cy="482587"/>
          </a:xfrm>
          <a:prstGeom prst="rect">
            <a:avLst/>
          </a:prstGeom>
        </p:spPr>
      </p:pic>
      <p:sp>
        <p:nvSpPr>
          <p:cNvPr id="9" name="TextBox 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18 · Lutjeboer 2018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VERDELING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Wie doet wat</a:t>
            </a:r>
          </a:p>
        </p:txBody>
      </p:sp>
      <p:sp>
        <p:nvSpPr>
          <p:cNvPr id="5" name="Rectangle 4"/>
          <p:cNvSpPr/>
          <p:nvPr/>
        </p:nvSpPr>
        <p:spPr>
          <a:xfrm>
            <a:off x="634984" y="193035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146246"/>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Podoloog</a:t>
            </a:r>
          </a:p>
        </p:txBody>
      </p:sp>
      <p:sp>
        <p:nvSpPr>
          <p:cNvPr id="7" name="Oval 6"/>
          <p:cNvSpPr/>
          <p:nvPr/>
        </p:nvSpPr>
        <p:spPr>
          <a:xfrm>
            <a:off x="3555911"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006"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Voert de drukmetingen uit</a:t>
            </a:r>
          </a:p>
        </p:txBody>
      </p:sp>
      <p:sp>
        <p:nvSpPr>
          <p:cNvPr id="9" name="Oval 8"/>
          <p:cNvSpPr/>
          <p:nvPr/>
        </p:nvSpPr>
        <p:spPr>
          <a:xfrm>
            <a:off x="6273643"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8739"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Levert SEBIA</a:t>
            </a:r>
          </a:p>
        </p:txBody>
      </p:sp>
      <p:sp>
        <p:nvSpPr>
          <p:cNvPr id="11" name="Oval 10"/>
          <p:cNvSpPr/>
          <p:nvPr/>
        </p:nvSpPr>
        <p:spPr>
          <a:xfrm>
            <a:off x="8991375"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56471"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Leest de sensoren uit</a:t>
            </a:r>
          </a:p>
        </p:txBody>
      </p:sp>
      <p:sp>
        <p:nvSpPr>
          <p:cNvPr id="13" name="Rectangle 12"/>
          <p:cNvSpPr/>
          <p:nvPr/>
        </p:nvSpPr>
        <p:spPr>
          <a:xfrm>
            <a:off x="634984" y="2971725"/>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187620"/>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Pedorthist</a:t>
            </a:r>
          </a:p>
        </p:txBody>
      </p:sp>
      <p:sp>
        <p:nvSpPr>
          <p:cNvPr id="15" name="Oval 14"/>
          <p:cNvSpPr/>
          <p:nvPr/>
        </p:nvSpPr>
        <p:spPr>
          <a:xfrm>
            <a:off x="3555911"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21006"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Maakt de zool</a:t>
            </a:r>
          </a:p>
        </p:txBody>
      </p:sp>
      <p:sp>
        <p:nvSpPr>
          <p:cNvPr id="17" name="Oval 16"/>
          <p:cNvSpPr/>
          <p:nvPr/>
        </p:nvSpPr>
        <p:spPr>
          <a:xfrm>
            <a:off x="6273643"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8739"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Past aan tot de norm</a:t>
            </a:r>
          </a:p>
        </p:txBody>
      </p:sp>
      <p:sp>
        <p:nvSpPr>
          <p:cNvPr id="19" name="Rectangle 18"/>
          <p:cNvSpPr/>
          <p:nvPr/>
        </p:nvSpPr>
        <p:spPr>
          <a:xfrm>
            <a:off x="634984" y="4013099"/>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4228994"/>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Arts</a:t>
            </a:r>
          </a:p>
        </p:txBody>
      </p:sp>
      <p:sp>
        <p:nvSpPr>
          <p:cNvPr id="21" name="Oval 20"/>
          <p:cNvSpPr/>
          <p:nvPr/>
        </p:nvSpPr>
        <p:spPr>
          <a:xfrm>
            <a:off x="3555911"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21006"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Bevestigt geschiktheid</a:t>
            </a:r>
          </a:p>
        </p:txBody>
      </p:sp>
      <p:sp>
        <p:nvSpPr>
          <p:cNvPr id="23" name="Oval 22"/>
          <p:cNvSpPr/>
          <p:nvPr/>
        </p:nvSpPr>
        <p:spPr>
          <a:xfrm>
            <a:off x="6273643"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8739"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Beoordeelt laesies</a:t>
            </a:r>
          </a:p>
        </p:txBody>
      </p:sp>
      <p:sp>
        <p:nvSpPr>
          <p:cNvPr id="25" name="Oval 24"/>
          <p:cNvSpPr/>
          <p:nvPr/>
        </p:nvSpPr>
        <p:spPr>
          <a:xfrm>
            <a:off x="8991375"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6471"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Meldt voorvallen</a:t>
            </a:r>
          </a:p>
        </p:txBody>
      </p:sp>
      <p:sp>
        <p:nvSpPr>
          <p:cNvPr id="27" name="Rectangle 26"/>
          <p:cNvSpPr/>
          <p:nvPr/>
        </p:nvSpPr>
        <p:spPr>
          <a:xfrm>
            <a:off x="634984" y="505447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4984" y="5270368"/>
            <a:ext cx="2666933" cy="380990"/>
          </a:xfrm>
          <a:prstGeom prst="rect">
            <a:avLst/>
          </a:prstGeom>
          <a:noFill/>
        </p:spPr>
        <p:txBody>
          <a:bodyPr wrap="square" anchor="t" lIns="0" rIns="0" tIns="0" bIns="0">
            <a:spAutoFit/>
          </a:bodyPr>
          <a:lstStyle/>
          <a:p>
            <a:pPr algn="l">
              <a:lnSpc>
                <a:spcPct val="125000"/>
              </a:lnSpc>
            </a:pPr>
            <a:r>
              <a:rPr sz="2700" b="1">
                <a:solidFill>
                  <a:srgbClr val="F2F8FC"/>
                </a:solidFill>
                <a:latin typeface="Segoe UI"/>
              </a:rPr>
              <a:t>Management</a:t>
            </a:r>
          </a:p>
        </p:txBody>
      </p:sp>
      <p:sp>
        <p:nvSpPr>
          <p:cNvPr id="29" name="Oval 28"/>
          <p:cNvSpPr/>
          <p:nvPr/>
        </p:nvSpPr>
        <p:spPr>
          <a:xfrm>
            <a:off x="3555911"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21006"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Maakt tijd vrij</a:t>
            </a:r>
          </a:p>
        </p:txBody>
      </p:sp>
      <p:sp>
        <p:nvSpPr>
          <p:cNvPr id="31" name="Oval 30"/>
          <p:cNvSpPr/>
          <p:nvPr/>
        </p:nvSpPr>
        <p:spPr>
          <a:xfrm>
            <a:off x="6273643"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38739"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Bewaakt 24 inclusies</a:t>
            </a:r>
          </a:p>
        </p:txBody>
      </p:sp>
      <p:sp>
        <p:nvSpPr>
          <p:cNvPr id="33" name="Oval 32"/>
          <p:cNvSpPr/>
          <p:nvPr/>
        </p:nvSpPr>
        <p:spPr>
          <a:xfrm>
            <a:off x="8991375"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56471"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Houdt het opleidingsregister bij</a:t>
            </a:r>
          </a:p>
        </p:txBody>
      </p:sp>
      <p:sp>
        <p:nvSpPr>
          <p:cNvPr id="35" name="Rectangle 34"/>
          <p:cNvSpPr/>
          <p:nvPr/>
        </p:nvSpPr>
        <p:spPr>
          <a:xfrm>
            <a:off x="634984" y="609584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24 / 28</a:t>
            </a:r>
          </a:p>
        </p:txBody>
      </p:sp>
      <p:pic>
        <p:nvPicPr>
          <p:cNvPr id="37"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38" name="TextBox 37"/>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8 · IWGDF 2023, preventie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ONDERSTEUNING</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Wat u van ons krijgt</a:t>
            </a:r>
          </a:p>
        </p:txBody>
      </p:sp>
      <p:sp>
        <p:nvSpPr>
          <p:cNvPr id="5" name="Rectangle 4"/>
          <p:cNvSpPr/>
          <p:nvPr/>
        </p:nvSpPr>
        <p:spPr>
          <a:xfrm>
            <a:off x="634984" y="1993850"/>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158946"/>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Motiverende gespreksvoering</a:t>
            </a:r>
          </a:p>
        </p:txBody>
      </p:sp>
      <p:sp>
        <p:nvSpPr>
          <p:cNvPr id="7" name="TextBox 6"/>
          <p:cNvSpPr txBox="1"/>
          <p:nvPr/>
        </p:nvSpPr>
        <p:spPr>
          <a:xfrm>
            <a:off x="647683" y="2476438"/>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Training door een psycholoog — alle centra dezelfde</a:t>
            </a:r>
          </a:p>
        </p:txBody>
      </p:sp>
      <p:sp>
        <p:nvSpPr>
          <p:cNvPr id="8" name="Rectangle 7"/>
          <p:cNvSpPr/>
          <p:nvPr/>
        </p:nvSpPr>
        <p:spPr>
          <a:xfrm>
            <a:off x="634984" y="2959026"/>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984" y="3124121"/>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SOP's en draaiboeken</a:t>
            </a:r>
          </a:p>
        </p:txBody>
      </p:sp>
      <p:sp>
        <p:nvSpPr>
          <p:cNvPr id="10" name="TextBox 9"/>
          <p:cNvSpPr txBox="1"/>
          <p:nvPr/>
        </p:nvSpPr>
        <p:spPr>
          <a:xfrm>
            <a:off x="647683" y="3441613"/>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Per handeling, met de eCRF-nummers erbij</a:t>
            </a:r>
          </a:p>
        </p:txBody>
      </p:sp>
      <p:sp>
        <p:nvSpPr>
          <p:cNvPr id="11" name="Rectangle 10"/>
          <p:cNvSpPr/>
          <p:nvPr/>
        </p:nvSpPr>
        <p:spPr>
          <a:xfrm>
            <a:off x="634984" y="3924201"/>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984" y="4089297"/>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Gegevensinvoer</a:t>
            </a:r>
          </a:p>
        </p:txBody>
      </p:sp>
      <p:sp>
        <p:nvSpPr>
          <p:cNvPr id="13" name="TextBox 12"/>
          <p:cNvSpPr txBox="1"/>
          <p:nvPr/>
        </p:nvSpPr>
        <p:spPr>
          <a:xfrm>
            <a:off x="647683" y="4406789"/>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Doet het onderzoeksteam. U vult de formulieren in, verder niets</a:t>
            </a:r>
          </a:p>
        </p:txBody>
      </p:sp>
      <p:sp>
        <p:nvSpPr>
          <p:cNvPr id="14" name="Rectangle 13"/>
          <p:cNvSpPr/>
          <p:nvPr/>
        </p:nvSpPr>
        <p:spPr>
          <a:xfrm>
            <a:off x="634984" y="4889377"/>
            <a:ext cx="6222844"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984" y="5054473"/>
            <a:ext cx="6222844" cy="317492"/>
          </a:xfrm>
          <a:prstGeom prst="rect">
            <a:avLst/>
          </a:prstGeom>
          <a:noFill/>
        </p:spPr>
        <p:txBody>
          <a:bodyPr wrap="square" anchor="t" lIns="0" rIns="0" tIns="0" bIns="0">
            <a:spAutoFit/>
          </a:bodyPr>
          <a:lstStyle/>
          <a:p>
            <a:pPr algn="l">
              <a:lnSpc>
                <a:spcPct val="125000"/>
              </a:lnSpc>
            </a:pPr>
            <a:r>
              <a:rPr sz="2100" b="1">
                <a:solidFill>
                  <a:srgbClr val="F2F8FC"/>
                </a:solidFill>
                <a:latin typeface="Segoe UI"/>
              </a:rPr>
              <a:t>Eén contactpunt</a:t>
            </a:r>
          </a:p>
        </p:txBody>
      </p:sp>
      <p:sp>
        <p:nvSpPr>
          <p:cNvPr id="16" name="TextBox 15"/>
          <p:cNvSpPr txBox="1"/>
          <p:nvPr/>
        </p:nvSpPr>
        <p:spPr>
          <a:xfrm>
            <a:off x="647683" y="5371965"/>
            <a:ext cx="6095847" cy="380990"/>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Eén nummer, één mailadres, voor alles</a:t>
            </a:r>
          </a:p>
        </p:txBody>
      </p:sp>
      <p:sp>
        <p:nvSpPr>
          <p:cNvPr id="17" name="Rounded Rectangle 16"/>
          <p:cNvSpPr/>
          <p:nvPr/>
        </p:nvSpPr>
        <p:spPr>
          <a:xfrm>
            <a:off x="7492812" y="1904952"/>
            <a:ext cx="4063898" cy="3949601"/>
          </a:xfrm>
          <a:prstGeom prst="roundRect">
            <a:avLst>
              <a:gd name="adj" fmla="val 4500"/>
            </a:avLst>
          </a:prstGeom>
          <a:solidFill>
            <a:srgbClr val="113A57"/>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00799" y="2044648"/>
            <a:ext cx="3047923" cy="3047923"/>
          </a:xfrm>
          <a:prstGeom prst="ellipse">
            <a:avLst/>
          </a:prstGeom>
          <a:solidFill>
            <a:srgbClr val="FF7A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ero"/>
          <p:cNvSpPr txBox="1"/>
          <p:nvPr/>
        </p:nvSpPr>
        <p:spPr>
          <a:xfrm>
            <a:off x="7772205" y="2158946"/>
            <a:ext cx="3555911" cy="1904952"/>
          </a:xfrm>
          <a:prstGeom prst="rect">
            <a:avLst/>
          </a:prstGeom>
          <a:noFill/>
        </p:spPr>
        <p:txBody>
          <a:bodyPr wrap="square" anchor="t" lIns="0" rIns="0" tIns="0" bIns="0">
            <a:spAutoFit/>
          </a:bodyPr>
          <a:lstStyle/>
          <a:p>
            <a:pPr algn="ctr">
              <a:lnSpc>
                <a:spcPct val="90000"/>
              </a:lnSpc>
            </a:pPr>
            <a:r>
              <a:rPr sz="15000" b="1">
                <a:solidFill>
                  <a:srgbClr val="FF7A00"/>
                </a:solidFill>
                <a:latin typeface="Segoe UI"/>
              </a:rPr>
              <a:t>0</a:t>
            </a:r>
          </a:p>
        </p:txBody>
      </p:sp>
      <p:sp>
        <p:nvSpPr>
          <p:cNvPr id="20" name="TextBox 19"/>
          <p:cNvSpPr txBox="1"/>
          <p:nvPr/>
        </p:nvSpPr>
        <p:spPr>
          <a:xfrm>
            <a:off x="7772205" y="4063898"/>
            <a:ext cx="3555911" cy="393690"/>
          </a:xfrm>
          <a:prstGeom prst="rect">
            <a:avLst/>
          </a:prstGeom>
          <a:noFill/>
        </p:spPr>
        <p:txBody>
          <a:bodyPr wrap="square" anchor="t" lIns="0" rIns="0" tIns="0" bIns="0">
            <a:spAutoFit/>
          </a:bodyPr>
          <a:lstStyle/>
          <a:p>
            <a:pPr algn="ctr">
              <a:lnSpc>
                <a:spcPct val="125000"/>
              </a:lnSpc>
            </a:pPr>
            <a:r>
              <a:rPr sz="3000" b="1">
                <a:solidFill>
                  <a:srgbClr val="F2F8FC"/>
                </a:solidFill>
                <a:latin typeface="Segoe UI"/>
              </a:rPr>
              <a:t>sancties</a:t>
            </a:r>
          </a:p>
        </p:txBody>
      </p:sp>
      <p:sp>
        <p:nvSpPr>
          <p:cNvPr id="21" name="TextBox 20"/>
          <p:cNvSpPr txBox="1"/>
          <p:nvPr/>
        </p:nvSpPr>
        <p:spPr>
          <a:xfrm>
            <a:off x="7810304" y="4584585"/>
            <a:ext cx="3428914" cy="1015974"/>
          </a:xfrm>
          <a:prstGeom prst="rect">
            <a:avLst/>
          </a:prstGeom>
          <a:noFill/>
        </p:spPr>
        <p:txBody>
          <a:bodyPr wrap="square" anchor="t" lIns="0" rIns="0" tIns="0" bIns="0">
            <a:spAutoFit/>
          </a:bodyPr>
          <a:lstStyle/>
          <a:p>
            <a:pPr algn="ctr">
              <a:lnSpc>
                <a:spcPct val="140000"/>
              </a:lnSpc>
            </a:pPr>
            <a:r>
              <a:rPr sz="1600" b="0">
                <a:solidFill>
                  <a:srgbClr val="8FB6D0"/>
                </a:solidFill>
                <a:latin typeface="Segoe UI"/>
              </a:rPr>
              <a:t>Wijkt u af van het protocol, dan meldt u dat. Het wordt geregistreerd, niet afgestraft.</a:t>
            </a:r>
          </a:p>
        </p:txBody>
      </p:sp>
      <p:sp>
        <p:nvSpPr>
          <p:cNvPr id="22" name="TextBox 21"/>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25 / 28</a:t>
            </a:r>
          </a:p>
        </p:txBody>
      </p:sp>
      <p:pic>
        <p:nvPicPr>
          <p:cNvPr id="23"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VOOR HET DOSSIER</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Het opleidingsregister</a:t>
            </a:r>
          </a:p>
        </p:txBody>
      </p:sp>
      <p:sp>
        <p:nvSpPr>
          <p:cNvPr id="5" name="Rounded Rectangle 4"/>
          <p:cNvSpPr/>
          <p:nvPr/>
        </p:nvSpPr>
        <p:spPr>
          <a:xfrm>
            <a:off x="634984" y="1879553"/>
            <a:ext cx="4825879" cy="2539936"/>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377" y="2133546"/>
            <a:ext cx="4267093" cy="2095447"/>
          </a:xfrm>
          <a:prstGeom prst="rect">
            <a:avLst/>
          </a:prstGeom>
          <a:noFill/>
        </p:spPr>
        <p:txBody>
          <a:bodyPr wrap="square" anchor="t" lIns="0" rIns="0" tIns="0" bIns="0">
            <a:spAutoFit/>
          </a:bodyPr>
          <a:lstStyle/>
          <a:p>
            <a:pPr algn="l">
              <a:lnSpc>
                <a:spcPct val="145000"/>
              </a:lnSpc>
            </a:pPr>
            <a:r>
              <a:rPr sz="1700" b="0">
                <a:solidFill>
                  <a:srgbClr val="F2F8FC"/>
                </a:solidFill>
                <a:latin typeface="Segoe UI"/>
              </a:rPr>
              <a:t>ISO 14155 vraagt dat per medewerker aantoonbaar is welke training hij gekregen heeft, wanneer, en voor welke handelingen hij gedelegeerd is. Zonder dat register is uw centrum niet inspectieklaar, hoe goed u het ook doet.</a:t>
            </a:r>
          </a:p>
        </p:txBody>
      </p:sp>
      <p:sp>
        <p:nvSpPr>
          <p:cNvPr id="7" name="Rectangle 6"/>
          <p:cNvSpPr/>
          <p:nvPr/>
        </p:nvSpPr>
        <p:spPr>
          <a:xfrm>
            <a:off x="5841853" y="1879553"/>
            <a:ext cx="5714857"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41853" y="2019249"/>
            <a:ext cx="5714857" cy="279393"/>
          </a:xfrm>
          <a:prstGeom prst="rect">
            <a:avLst/>
          </a:prstGeom>
          <a:noFill/>
        </p:spPr>
        <p:txBody>
          <a:bodyPr wrap="square" anchor="t" lIns="0" rIns="0" tIns="0" bIns="0">
            <a:spAutoFit/>
          </a:bodyPr>
          <a:lstStyle/>
          <a:p>
            <a:pPr algn="l">
              <a:lnSpc>
                <a:spcPct val="125000"/>
              </a:lnSpc>
            </a:pPr>
            <a:r>
              <a:rPr sz="2000" b="1">
                <a:solidFill>
                  <a:srgbClr val="52BDEC"/>
                </a:solidFill>
                <a:latin typeface="Segoe UI"/>
              </a:rPr>
              <a:t>Vandaag tekenen</a:t>
            </a:r>
          </a:p>
        </p:txBody>
      </p:sp>
      <p:sp>
        <p:nvSpPr>
          <p:cNvPr id="9" name="TextBox 8"/>
          <p:cNvSpPr txBox="1"/>
          <p:nvPr/>
        </p:nvSpPr>
        <p:spPr>
          <a:xfrm>
            <a:off x="5841853" y="2298642"/>
            <a:ext cx="5714857" cy="444488"/>
          </a:xfrm>
          <a:prstGeom prst="rect">
            <a:avLst/>
          </a:prstGeom>
          <a:noFill/>
        </p:spPr>
        <p:txBody>
          <a:bodyPr wrap="square" anchor="t" lIns="0" rIns="0" tIns="0" bIns="0">
            <a:spAutoFit/>
          </a:bodyPr>
          <a:lstStyle/>
          <a:p>
            <a:pPr algn="l">
              <a:lnSpc>
                <a:spcPct val="130000"/>
              </a:lnSpc>
            </a:pPr>
            <a:r>
              <a:rPr sz="1500" b="0">
                <a:solidFill>
                  <a:srgbClr val="8FB6D0"/>
                </a:solidFill>
                <a:latin typeface="Segoe UI"/>
              </a:rPr>
              <a:t>Naam, functie, datum, en de handelingen waarvoor u gedelegeerd bent.</a:t>
            </a:r>
          </a:p>
        </p:txBody>
      </p:sp>
      <p:sp>
        <p:nvSpPr>
          <p:cNvPr id="10" name="Rectangle 9"/>
          <p:cNvSpPr/>
          <p:nvPr/>
        </p:nvSpPr>
        <p:spPr>
          <a:xfrm>
            <a:off x="5841853" y="2755831"/>
            <a:ext cx="5714857"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41853" y="2895527"/>
            <a:ext cx="5714857" cy="279393"/>
          </a:xfrm>
          <a:prstGeom prst="rect">
            <a:avLst/>
          </a:prstGeom>
          <a:noFill/>
        </p:spPr>
        <p:txBody>
          <a:bodyPr wrap="square" anchor="t" lIns="0" rIns="0" tIns="0" bIns="0">
            <a:spAutoFit/>
          </a:bodyPr>
          <a:lstStyle/>
          <a:p>
            <a:pPr algn="l">
              <a:lnSpc>
                <a:spcPct val="125000"/>
              </a:lnSpc>
            </a:pPr>
            <a:r>
              <a:rPr sz="2000" b="1">
                <a:solidFill>
                  <a:srgbClr val="52BDEC"/>
                </a:solidFill>
                <a:latin typeface="Segoe UI"/>
              </a:rPr>
              <a:t>Bij elke nieuwe medewerker</a:t>
            </a:r>
          </a:p>
        </p:txBody>
      </p:sp>
      <p:sp>
        <p:nvSpPr>
          <p:cNvPr id="12" name="TextBox 11"/>
          <p:cNvSpPr txBox="1"/>
          <p:nvPr/>
        </p:nvSpPr>
        <p:spPr>
          <a:xfrm>
            <a:off x="5841853" y="3174920"/>
            <a:ext cx="5714857" cy="444488"/>
          </a:xfrm>
          <a:prstGeom prst="rect">
            <a:avLst/>
          </a:prstGeom>
          <a:noFill/>
        </p:spPr>
        <p:txBody>
          <a:bodyPr wrap="square" anchor="t" lIns="0" rIns="0" tIns="0" bIns="0">
            <a:spAutoFit/>
          </a:bodyPr>
          <a:lstStyle/>
          <a:p>
            <a:pPr algn="l">
              <a:lnSpc>
                <a:spcPct val="130000"/>
              </a:lnSpc>
            </a:pPr>
            <a:r>
              <a:rPr sz="1500" b="0">
                <a:solidFill>
                  <a:srgbClr val="8FB6D0"/>
                </a:solidFill>
                <a:latin typeface="Segoe UI"/>
              </a:rPr>
              <a:t>Dezelfde opleiding, dezelfde handtekening, vóór de eerste patiënt.</a:t>
            </a:r>
          </a:p>
        </p:txBody>
      </p:sp>
      <p:sp>
        <p:nvSpPr>
          <p:cNvPr id="13" name="Rectangle 12"/>
          <p:cNvSpPr/>
          <p:nvPr/>
        </p:nvSpPr>
        <p:spPr>
          <a:xfrm>
            <a:off x="5841853" y="3632109"/>
            <a:ext cx="5714857"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41853" y="3771805"/>
            <a:ext cx="5714857" cy="279393"/>
          </a:xfrm>
          <a:prstGeom prst="rect">
            <a:avLst/>
          </a:prstGeom>
          <a:noFill/>
        </p:spPr>
        <p:txBody>
          <a:bodyPr wrap="square" anchor="t" lIns="0" rIns="0" tIns="0" bIns="0">
            <a:spAutoFit/>
          </a:bodyPr>
          <a:lstStyle/>
          <a:p>
            <a:pPr algn="l">
              <a:lnSpc>
                <a:spcPct val="125000"/>
              </a:lnSpc>
            </a:pPr>
            <a:r>
              <a:rPr sz="2000" b="1">
                <a:solidFill>
                  <a:srgbClr val="52BDEC"/>
                </a:solidFill>
                <a:latin typeface="Segoe UI"/>
              </a:rPr>
              <a:t>Bij elke protocolwijziging</a:t>
            </a:r>
          </a:p>
        </p:txBody>
      </p:sp>
      <p:sp>
        <p:nvSpPr>
          <p:cNvPr id="15" name="TextBox 14"/>
          <p:cNvSpPr txBox="1"/>
          <p:nvPr/>
        </p:nvSpPr>
        <p:spPr>
          <a:xfrm>
            <a:off x="5841853" y="4051198"/>
            <a:ext cx="5714857" cy="444488"/>
          </a:xfrm>
          <a:prstGeom prst="rect">
            <a:avLst/>
          </a:prstGeom>
          <a:noFill/>
        </p:spPr>
        <p:txBody>
          <a:bodyPr wrap="square" anchor="t" lIns="0" rIns="0" tIns="0" bIns="0">
            <a:spAutoFit/>
          </a:bodyPr>
          <a:lstStyle/>
          <a:p>
            <a:pPr algn="l">
              <a:lnSpc>
                <a:spcPct val="130000"/>
              </a:lnSpc>
            </a:pPr>
            <a:r>
              <a:rPr sz="1500" b="0">
                <a:solidFill>
                  <a:srgbClr val="8FB6D0"/>
                </a:solidFill>
                <a:latin typeface="Segoe UI"/>
              </a:rPr>
              <a:t>Kort bijscholingsmoment, opnieuw tekenen.</a:t>
            </a:r>
          </a:p>
        </p:txBody>
      </p:sp>
      <p:sp>
        <p:nvSpPr>
          <p:cNvPr id="16" name="TextBox 15"/>
          <p:cNvSpPr txBox="1"/>
          <p:nvPr/>
        </p:nvSpPr>
        <p:spPr>
          <a:xfrm>
            <a:off x="634984" y="4724281"/>
            <a:ext cx="10921726" cy="444488"/>
          </a:xfrm>
          <a:prstGeom prst="rect">
            <a:avLst/>
          </a:prstGeom>
          <a:noFill/>
        </p:spPr>
        <p:txBody>
          <a:bodyPr wrap="square" anchor="t" lIns="0" rIns="0" tIns="0" bIns="0">
            <a:spAutoFit/>
          </a:bodyPr>
          <a:lstStyle/>
          <a:p>
            <a:pPr algn="l">
              <a:lnSpc>
                <a:spcPct val="140000"/>
              </a:lnSpc>
            </a:pPr>
            <a:r>
              <a:rPr sz="1900" b="1">
                <a:solidFill>
                  <a:srgbClr val="F2F8FC"/>
                </a:solidFill>
                <a:latin typeface="Segoe UI"/>
              </a:rPr>
              <a:t>Het register blijft in uw centrum. Wij krijgen een kopie voor het studiedossier.</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26 / 28</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
        <p:nvSpPr>
          <p:cNvPr id="19" name="TextBox 18"/>
          <p:cNvSpPr txBox="1"/>
          <p:nvPr/>
        </p:nvSpPr>
        <p:spPr>
          <a:xfrm>
            <a:off x="634984" y="6629234"/>
            <a:ext cx="10921726" cy="177795"/>
          </a:xfrm>
          <a:prstGeom prst="rect">
            <a:avLst/>
          </a:prstGeom>
          <a:noFill/>
        </p:spPr>
        <p:txBody>
          <a:bodyPr wrap="square" anchor="t" lIns="0" rIns="0" tIns="0" bIns="0">
            <a:spAutoFit/>
          </a:bodyPr>
          <a:lstStyle/>
          <a:p>
            <a:pPr algn="l">
              <a:lnSpc>
                <a:spcPct val="125000"/>
              </a:lnSpc>
            </a:pPr>
            <a:r>
              <a:rPr sz="1000" b="0">
                <a:solidFill>
                  <a:srgbClr val="8FB6D0"/>
                </a:solidFill>
                <a:latin typeface="Consolas"/>
              </a:rPr>
              <a:t>Bron  21 · SPIRIT 2025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WIE U AANSPREEKT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Voor als er iets misloopt</a:t>
            </a:r>
          </a:p>
        </p:txBody>
      </p:sp>
      <p:sp>
        <p:nvSpPr>
          <p:cNvPr id="5" name="Rounded Rectangle 4"/>
          <p:cNvSpPr/>
          <p:nvPr/>
        </p:nvSpPr>
        <p:spPr>
          <a:xfrm>
            <a:off x="634984" y="1904952"/>
            <a:ext cx="3174920" cy="393690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ortret" descr="janou.png"/>
          <p:cNvPicPr>
            <a:picLocks noChangeAspect="1"/>
          </p:cNvPicPr>
          <p:nvPr/>
        </p:nvPicPr>
        <p:blipFill>
          <a:blip r:embed="rId2"/>
          <a:stretch>
            <a:fillRect/>
          </a:stretch>
        </p:blipFill>
        <p:spPr>
          <a:xfrm>
            <a:off x="777502" y="2006549"/>
            <a:ext cx="2889883" cy="3733706"/>
          </a:xfrm>
          <a:prstGeom prst="rect">
            <a:avLst/>
          </a:prstGeom>
        </p:spPr>
      </p:pic>
      <p:sp>
        <p:nvSpPr>
          <p:cNvPr id="7" name="Rectangle 6"/>
          <p:cNvSpPr/>
          <p:nvPr/>
        </p:nvSpPr>
        <p:spPr>
          <a:xfrm>
            <a:off x="4317892" y="1904952"/>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17892" y="2070048"/>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Janou De Buyser</a:t>
            </a:r>
          </a:p>
        </p:txBody>
      </p:sp>
      <p:sp>
        <p:nvSpPr>
          <p:cNvPr id="9" name="TextBox 8"/>
          <p:cNvSpPr txBox="1"/>
          <p:nvPr/>
        </p:nvSpPr>
        <p:spPr>
          <a:xfrm>
            <a:off x="4330591" y="2539936"/>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DOCTORAATSONDERZOEKER · DAGELIJKSE OPVOLGING</a:t>
            </a:r>
          </a:p>
        </p:txBody>
      </p:sp>
      <p:sp>
        <p:nvSpPr>
          <p:cNvPr id="10" name="TextBox 9"/>
          <p:cNvSpPr txBox="1"/>
          <p:nvPr/>
        </p:nvSpPr>
        <p:spPr>
          <a:xfrm>
            <a:off x="4317892" y="2857428"/>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Uw eerste aanspreekpunt: inclusies, metingen, formulieren, sensoren en alles wat in de praktijk vastloopt.</a:t>
            </a:r>
          </a:p>
        </p:txBody>
      </p:sp>
      <p:sp>
        <p:nvSpPr>
          <p:cNvPr id="11" name="TextBox 10"/>
          <p:cNvSpPr txBox="1"/>
          <p:nvPr/>
        </p:nvSpPr>
        <p:spPr>
          <a:xfrm>
            <a:off x="4317892"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janou.debuyser@kuleuven.be</a:t>
            </a:r>
          </a:p>
        </p:txBody>
      </p:sp>
      <p:sp>
        <p:nvSpPr>
          <p:cNvPr id="12" name="TextBox 11"/>
          <p:cNvSpPr txBox="1"/>
          <p:nvPr/>
        </p:nvSpPr>
        <p:spPr>
          <a:xfrm>
            <a:off x="7873803"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Spoorwegstraat 12 · Brugge</a:t>
            </a:r>
          </a:p>
        </p:txBody>
      </p:sp>
      <p:sp>
        <p:nvSpPr>
          <p:cNvPr id="13" name="Rectangle 12"/>
          <p:cNvSpPr/>
          <p:nvPr/>
        </p:nvSpPr>
        <p:spPr>
          <a:xfrm>
            <a:off x="4317892" y="3873403"/>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17892" y="4038499"/>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prof. dr. Kevin Deschamps</a:t>
            </a:r>
          </a:p>
        </p:txBody>
      </p:sp>
      <p:sp>
        <p:nvSpPr>
          <p:cNvPr id="15" name="TextBox 14"/>
          <p:cNvSpPr txBox="1"/>
          <p:nvPr/>
        </p:nvSpPr>
        <p:spPr>
          <a:xfrm>
            <a:off x="4330591" y="4508387"/>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PROMOTOR</a:t>
            </a:r>
          </a:p>
        </p:txBody>
      </p:sp>
      <p:sp>
        <p:nvSpPr>
          <p:cNvPr id="16" name="TextBox 15"/>
          <p:cNvSpPr txBox="1"/>
          <p:nvPr/>
        </p:nvSpPr>
        <p:spPr>
          <a:xfrm>
            <a:off x="4317892" y="4825879"/>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Wetenschappelijke vragen, de opzet van de studie en afspraken op het niveau van uw centrum.</a:t>
            </a:r>
          </a:p>
        </p:txBody>
      </p:sp>
      <p:sp>
        <p:nvSpPr>
          <p:cNvPr id="17" name="TextBox 16"/>
          <p:cNvSpPr txBox="1"/>
          <p:nvPr/>
        </p:nvSpPr>
        <p:spPr>
          <a:xfrm>
            <a:off x="4317892"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Revalidatiewetenschappen</a:t>
            </a:r>
          </a:p>
        </p:txBody>
      </p:sp>
      <p:sp>
        <p:nvSpPr>
          <p:cNvPr id="18" name="TextBox 17"/>
          <p:cNvSpPr txBox="1"/>
          <p:nvPr/>
        </p:nvSpPr>
        <p:spPr>
          <a:xfrm>
            <a:off x="7873803"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KU Leuven · Campus Brugge</a:t>
            </a:r>
          </a:p>
        </p:txBody>
      </p:sp>
      <p:sp>
        <p:nvSpPr>
          <p:cNvPr id="19" name="Rectangle 18"/>
          <p:cNvSpPr/>
          <p:nvPr/>
        </p:nvSpPr>
        <p:spPr>
          <a:xfrm>
            <a:off x="634984" y="596885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6108547"/>
            <a:ext cx="10921726" cy="380990"/>
          </a:xfrm>
          <a:prstGeom prst="rect">
            <a:avLst/>
          </a:prstGeom>
          <a:noFill/>
        </p:spPr>
        <p:txBody>
          <a:bodyPr wrap="square" anchor="t" lIns="0" rIns="0" tIns="0" bIns="0">
            <a:spAutoFit/>
          </a:bodyPr>
          <a:lstStyle/>
          <a:p>
            <a:pPr algn="l">
              <a:lnSpc>
                <a:spcPct val="135000"/>
              </a:lnSpc>
            </a:pPr>
            <a:r>
              <a:rPr sz="1300" b="0">
                <a:solidFill>
                  <a:srgbClr val="8FB6D0"/>
                </a:solidFill>
                <a:latin typeface="Segoe UI"/>
              </a:rPr>
              <a:t>Consortium: KU Leuven — Revalidatiewetenschappen (Musculoskeletal Research Group) en Volksgezondheid en Eerstelijnszorg · Vrije Universiteit Brussel — Geneeskunde en Farmacie. Co-promotoren: Fabienne Dobbels, Maaike Fobelets en Koen Putman.</a:t>
            </a:r>
          </a:p>
        </p:txBody>
      </p:sp>
      <p:sp>
        <p:nvSpPr>
          <p:cNvPr id="21" name="TextBox 2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27 / 28</a:t>
            </a:r>
          </a:p>
        </p:txBody>
      </p:sp>
      <p:pic>
        <p:nvPicPr>
          <p:cNvPr id="22"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WAAR DE CIJFERS VANDAAN KOMEN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Referenties</a:t>
            </a:r>
          </a:p>
        </p:txBody>
      </p:sp>
      <p:sp>
        <p:nvSpPr>
          <p:cNvPr id="5" name="TextBox 4"/>
          <p:cNvSpPr txBox="1"/>
          <p:nvPr/>
        </p:nvSpPr>
        <p:spPr>
          <a:xfrm>
            <a:off x="634984" y="18541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a:t>
            </a:r>
          </a:p>
        </p:txBody>
      </p:sp>
      <p:sp>
        <p:nvSpPr>
          <p:cNvPr id="6" name="TextBox 5"/>
          <p:cNvSpPr txBox="1"/>
          <p:nvPr/>
        </p:nvSpPr>
        <p:spPr>
          <a:xfrm>
            <a:off x="965175" y="18541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Armstrong DG et al. N Engl J Med. 2017;376(24):2367–75.</a:t>
            </a:r>
          </a:p>
        </p:txBody>
      </p:sp>
      <p:sp>
        <p:nvSpPr>
          <p:cNvPr id="7" name="TextBox 6"/>
          <p:cNvSpPr txBox="1"/>
          <p:nvPr/>
        </p:nvSpPr>
        <p:spPr>
          <a:xfrm>
            <a:off x="634984" y="218847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5</a:t>
            </a:r>
          </a:p>
        </p:txBody>
      </p:sp>
      <p:sp>
        <p:nvSpPr>
          <p:cNvPr id="8" name="TextBox 7"/>
          <p:cNvSpPr txBox="1"/>
          <p:nvPr/>
        </p:nvSpPr>
        <p:spPr>
          <a:xfrm>
            <a:off x="965175" y="218847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Metab Res Rev. 2016;32(Suppl 1):195–200.</a:t>
            </a:r>
          </a:p>
        </p:txBody>
      </p:sp>
      <p:sp>
        <p:nvSpPr>
          <p:cNvPr id="9" name="TextBox 8"/>
          <p:cNvSpPr txBox="1"/>
          <p:nvPr/>
        </p:nvSpPr>
        <p:spPr>
          <a:xfrm>
            <a:off x="634984" y="252278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6</a:t>
            </a:r>
          </a:p>
        </p:txBody>
      </p:sp>
      <p:sp>
        <p:nvSpPr>
          <p:cNvPr id="10" name="TextBox 9"/>
          <p:cNvSpPr txBox="1"/>
          <p:nvPr/>
        </p:nvSpPr>
        <p:spPr>
          <a:xfrm>
            <a:off x="965175" y="252278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Care. 2011;34(7):1595–600.</a:t>
            </a:r>
          </a:p>
        </p:txBody>
      </p:sp>
      <p:sp>
        <p:nvSpPr>
          <p:cNvPr id="11" name="TextBox 10"/>
          <p:cNvSpPr txBox="1"/>
          <p:nvPr/>
        </p:nvSpPr>
        <p:spPr>
          <a:xfrm>
            <a:off x="634984" y="285710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7</a:t>
            </a:r>
          </a:p>
        </p:txBody>
      </p:sp>
      <p:sp>
        <p:nvSpPr>
          <p:cNvPr id="12" name="TextBox 11"/>
          <p:cNvSpPr txBox="1"/>
          <p:nvPr/>
        </p:nvSpPr>
        <p:spPr>
          <a:xfrm>
            <a:off x="965175" y="285710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Metab Res Rev. 2020;36(S1):e3237.</a:t>
            </a:r>
          </a:p>
        </p:txBody>
      </p:sp>
      <p:sp>
        <p:nvSpPr>
          <p:cNvPr id="13" name="TextBox 12"/>
          <p:cNvSpPr txBox="1"/>
          <p:nvPr/>
        </p:nvSpPr>
        <p:spPr>
          <a:xfrm>
            <a:off x="634984" y="319142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8</a:t>
            </a:r>
          </a:p>
        </p:txBody>
      </p:sp>
      <p:sp>
        <p:nvSpPr>
          <p:cNvPr id="14" name="TextBox 13"/>
          <p:cNvSpPr txBox="1"/>
          <p:nvPr/>
        </p:nvSpPr>
        <p:spPr>
          <a:xfrm>
            <a:off x="965175" y="319142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Metab Res Rev. 2024;40(3):e3651.</a:t>
            </a:r>
          </a:p>
        </p:txBody>
      </p:sp>
      <p:sp>
        <p:nvSpPr>
          <p:cNvPr id="15" name="TextBox 14"/>
          <p:cNvSpPr txBox="1"/>
          <p:nvPr/>
        </p:nvSpPr>
        <p:spPr>
          <a:xfrm>
            <a:off x="634984" y="352573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9</a:t>
            </a:r>
          </a:p>
        </p:txBody>
      </p:sp>
      <p:sp>
        <p:nvSpPr>
          <p:cNvPr id="16" name="TextBox 15"/>
          <p:cNvSpPr txBox="1"/>
          <p:nvPr/>
        </p:nvSpPr>
        <p:spPr>
          <a:xfrm>
            <a:off x="965175" y="352573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Bus SA et al. Diabetes Care. 2013;36(12):4109–16.</a:t>
            </a:r>
          </a:p>
        </p:txBody>
      </p:sp>
      <p:sp>
        <p:nvSpPr>
          <p:cNvPr id="17" name="TextBox 16"/>
          <p:cNvSpPr txBox="1"/>
          <p:nvPr/>
        </p:nvSpPr>
        <p:spPr>
          <a:xfrm>
            <a:off x="634984" y="38600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13</a:t>
            </a:r>
          </a:p>
        </p:txBody>
      </p:sp>
      <p:sp>
        <p:nvSpPr>
          <p:cNvPr id="18" name="TextBox 17"/>
          <p:cNvSpPr txBox="1"/>
          <p:nvPr/>
        </p:nvSpPr>
        <p:spPr>
          <a:xfrm>
            <a:off x="965175" y="38600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Waaijman R et al. Diabetes Care. 2013;36(6):1613–8.</a:t>
            </a:r>
          </a:p>
        </p:txBody>
      </p:sp>
      <p:sp>
        <p:nvSpPr>
          <p:cNvPr id="19" name="TextBox 18"/>
          <p:cNvSpPr txBox="1"/>
          <p:nvPr/>
        </p:nvSpPr>
        <p:spPr>
          <a:xfrm>
            <a:off x="6171918" y="18541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14</a:t>
            </a:r>
          </a:p>
        </p:txBody>
      </p:sp>
      <p:sp>
        <p:nvSpPr>
          <p:cNvPr id="20" name="TextBox 19"/>
          <p:cNvSpPr txBox="1"/>
          <p:nvPr/>
        </p:nvSpPr>
        <p:spPr>
          <a:xfrm>
            <a:off x="6502110" y="18541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van Netten JJ et al. Clin Biomech. 2018;53:86–92.</a:t>
            </a:r>
          </a:p>
        </p:txBody>
      </p:sp>
      <p:sp>
        <p:nvSpPr>
          <p:cNvPr id="21" name="TextBox 20"/>
          <p:cNvSpPr txBox="1"/>
          <p:nvPr/>
        </p:nvSpPr>
        <p:spPr>
          <a:xfrm>
            <a:off x="6171918" y="218847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16</a:t>
            </a:r>
          </a:p>
        </p:txBody>
      </p:sp>
      <p:sp>
        <p:nvSpPr>
          <p:cNvPr id="22" name="TextBox 21"/>
          <p:cNvSpPr txBox="1"/>
          <p:nvPr/>
        </p:nvSpPr>
        <p:spPr>
          <a:xfrm>
            <a:off x="6502110" y="218847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Hulshof CM et al. Diabet Med. 2025;42:e70099.</a:t>
            </a:r>
          </a:p>
        </p:txBody>
      </p:sp>
      <p:sp>
        <p:nvSpPr>
          <p:cNvPr id="23" name="TextBox 22"/>
          <p:cNvSpPr txBox="1"/>
          <p:nvPr/>
        </p:nvSpPr>
        <p:spPr>
          <a:xfrm>
            <a:off x="6171918" y="252278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17</a:t>
            </a:r>
          </a:p>
        </p:txBody>
      </p:sp>
      <p:sp>
        <p:nvSpPr>
          <p:cNvPr id="24" name="TextBox 23"/>
          <p:cNvSpPr txBox="1"/>
          <p:nvPr/>
        </p:nvSpPr>
        <p:spPr>
          <a:xfrm>
            <a:off x="6502110" y="252278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Waaijman R et al. Diabetes Care. 2014;37(6):1697–705.</a:t>
            </a:r>
          </a:p>
        </p:txBody>
      </p:sp>
      <p:sp>
        <p:nvSpPr>
          <p:cNvPr id="25" name="TextBox 24"/>
          <p:cNvSpPr txBox="1"/>
          <p:nvPr/>
        </p:nvSpPr>
        <p:spPr>
          <a:xfrm>
            <a:off x="6171918" y="285710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18</a:t>
            </a:r>
          </a:p>
        </p:txBody>
      </p:sp>
      <p:sp>
        <p:nvSpPr>
          <p:cNvPr id="26" name="TextBox 25"/>
          <p:cNvSpPr txBox="1"/>
          <p:nvPr/>
        </p:nvSpPr>
        <p:spPr>
          <a:xfrm>
            <a:off x="6502110" y="285710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Lutjeboer T et al. J Rehabil Med. 2018;50(10):920–6.</a:t>
            </a:r>
          </a:p>
        </p:txBody>
      </p:sp>
      <p:sp>
        <p:nvSpPr>
          <p:cNvPr id="27" name="TextBox 26"/>
          <p:cNvSpPr txBox="1"/>
          <p:nvPr/>
        </p:nvSpPr>
        <p:spPr>
          <a:xfrm>
            <a:off x="6171918" y="3191420"/>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20</a:t>
            </a:r>
          </a:p>
        </p:txBody>
      </p:sp>
      <p:sp>
        <p:nvSpPr>
          <p:cNvPr id="28" name="TextBox 27"/>
          <p:cNvSpPr txBox="1"/>
          <p:nvPr/>
        </p:nvSpPr>
        <p:spPr>
          <a:xfrm>
            <a:off x="6502110" y="3191420"/>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Morbach S et al. Diabetes Metab Res Rev. 2016;32(Suppl 1):318–25.</a:t>
            </a:r>
          </a:p>
        </p:txBody>
      </p:sp>
      <p:sp>
        <p:nvSpPr>
          <p:cNvPr id="29" name="TextBox 28"/>
          <p:cNvSpPr txBox="1"/>
          <p:nvPr/>
        </p:nvSpPr>
        <p:spPr>
          <a:xfrm>
            <a:off x="6171918" y="3525736"/>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21</a:t>
            </a:r>
          </a:p>
        </p:txBody>
      </p:sp>
      <p:sp>
        <p:nvSpPr>
          <p:cNvPr id="30" name="TextBox 29"/>
          <p:cNvSpPr txBox="1"/>
          <p:nvPr/>
        </p:nvSpPr>
        <p:spPr>
          <a:xfrm>
            <a:off x="6502110" y="3525736"/>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Chan A-W et al. BMJ. 2025;389:e081477.</a:t>
            </a:r>
          </a:p>
        </p:txBody>
      </p:sp>
      <p:sp>
        <p:nvSpPr>
          <p:cNvPr id="31" name="TextBox 30"/>
          <p:cNvSpPr txBox="1"/>
          <p:nvPr/>
        </p:nvSpPr>
        <p:spPr>
          <a:xfrm>
            <a:off x="6171918" y="3860053"/>
            <a:ext cx="279393" cy="190495"/>
          </a:xfrm>
          <a:prstGeom prst="rect">
            <a:avLst/>
          </a:prstGeom>
          <a:noFill/>
        </p:spPr>
        <p:txBody>
          <a:bodyPr wrap="square" anchor="t" lIns="0" rIns="0" tIns="0" bIns="0">
            <a:spAutoFit/>
          </a:bodyPr>
          <a:lstStyle/>
          <a:p>
            <a:pPr algn="r">
              <a:lnSpc>
                <a:spcPct val="125000"/>
              </a:lnSpc>
            </a:pPr>
            <a:r>
              <a:rPr sz="1200" b="1">
                <a:solidFill>
                  <a:srgbClr val="52BDEC"/>
                </a:solidFill>
                <a:latin typeface="Consolas"/>
              </a:rPr>
              <a:t>27</a:t>
            </a:r>
          </a:p>
        </p:txBody>
      </p:sp>
      <p:sp>
        <p:nvSpPr>
          <p:cNvPr id="32" name="TextBox 31"/>
          <p:cNvSpPr txBox="1"/>
          <p:nvPr/>
        </p:nvSpPr>
        <p:spPr>
          <a:xfrm>
            <a:off x="6502110" y="3860053"/>
            <a:ext cx="5054346" cy="296217"/>
          </a:xfrm>
          <a:prstGeom prst="rect">
            <a:avLst/>
          </a:prstGeom>
          <a:noFill/>
        </p:spPr>
        <p:txBody>
          <a:bodyPr wrap="square" anchor="t" lIns="0" rIns="0" tIns="0" bIns="0">
            <a:spAutoFit/>
          </a:bodyPr>
          <a:lstStyle/>
          <a:p>
            <a:pPr algn="l">
              <a:lnSpc>
                <a:spcPct val="132000"/>
              </a:lnSpc>
            </a:pPr>
            <a:r>
              <a:rPr sz="1200" b="0">
                <a:solidFill>
                  <a:srgbClr val="8FB6D0"/>
                </a:solidFill>
                <a:latin typeface="Segoe UI"/>
              </a:rPr>
              <a:t>Zwaferink JBJ et al. Sensors. 2024;24(6):1795.</a:t>
            </a:r>
          </a:p>
        </p:txBody>
      </p:sp>
      <p:sp>
        <p:nvSpPr>
          <p:cNvPr id="33" name="TextBox 32"/>
          <p:cNvSpPr txBox="1"/>
          <p:nvPr/>
        </p:nvSpPr>
        <p:spPr>
          <a:xfrm>
            <a:off x="634984" y="6387940"/>
            <a:ext cx="9524761" cy="190495"/>
          </a:xfrm>
          <a:prstGeom prst="rect">
            <a:avLst/>
          </a:prstGeom>
          <a:noFill/>
        </p:spPr>
        <p:txBody>
          <a:bodyPr wrap="square" anchor="t" lIns="0" rIns="0" tIns="0" bIns="0">
            <a:spAutoFit/>
          </a:bodyPr>
          <a:lstStyle/>
          <a:p>
            <a:pPr algn="l">
              <a:lnSpc>
                <a:spcPct val="125000"/>
              </a:lnSpc>
            </a:pPr>
            <a:r>
              <a:rPr sz="1100" b="0">
                <a:solidFill>
                  <a:srgbClr val="8FB6D0"/>
                </a:solidFill>
                <a:latin typeface="Consolas"/>
              </a:rPr>
              <a:t>De nummering volgt die van het protocolmanuscript.</a:t>
            </a:r>
          </a:p>
        </p:txBody>
      </p:sp>
      <p:sp>
        <p:nvSpPr>
          <p:cNvPr id="34" name="TextBox 3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28 / 28</a:t>
            </a:r>
          </a:p>
        </p:txBody>
      </p:sp>
      <p:pic>
        <p:nvPicPr>
          <p:cNvPr id="35"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p:transition xmlns:p14="http://schemas.microsoft.com/office/powerpoint/2010/main" spd="slow" p14:dur="9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