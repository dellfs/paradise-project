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uw team ze zelf. Twijfelt u bij een van de zes, zeg dat dan gerust: begeleiding en vragen blijven mogelijk tijdens het hele project.</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Dezelfde meting in de schoen,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Opfrissing voor de centra</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doet uw team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Begeleiding en vragen tijdens het project blijven mogelijk.</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28</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28</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 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het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Screening vóór de toestemming: beoordeel de in- en exclusiecriteria en noteer de patiënt op de identificatielijst.</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Is de patiënt geschikt, overloop dan de informatie- en toestemmingsformulieren en laat tekenen.</a:t>
            </a:r>
          </a:p>
        </p:txBody>
      </p:sp>
      <p:sp>
        <p:nvSpPr>
          <p:cNvPr id="13" name="Oval 12"/>
          <p:cNvSpPr/>
          <p:nvPr/>
        </p:nvSpPr>
        <p:spPr>
          <a:xfrm>
            <a:off x="634984" y="31693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693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315663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Visite 0: bevestig de geschiktheid met het baselineformulier.</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 PI opent de volgende verzegelde envelop en deelt de patiënt in. Pas dan is bekend in welke arm hij zit.</a:t>
            </a:r>
          </a:p>
        </p:txBody>
      </p:sp>
      <p:sp>
        <p:nvSpPr>
          <p:cNvPr id="19" name="Oval 18"/>
          <p:cNvSpPr/>
          <p:nvPr/>
        </p:nvSpPr>
        <p:spPr>
          <a:xfrm>
            <a:off x="634984" y="408269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08269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4069994"/>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geschikt? Noteer de reden. Ook dat is studiedata.</a:t>
            </a:r>
          </a:p>
        </p:txBody>
      </p:sp>
      <p:sp>
        <p:nvSpPr>
          <p:cNvPr id="22" name="TextBox 21"/>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3" name="TextBox 22"/>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00   01   02   06</a:t>
            </a:r>
          </a:p>
        </p:txBody>
      </p:sp>
      <p:sp>
        <p:nvSpPr>
          <p:cNvPr id="24" name="Rounded Rectangle 23"/>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6" name="TextBox 25"/>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volgorde ligt vast: screenen, tekenen, geschiktheid bevestigen, dan pas loten. Vul geen enkel ander formulier in voordat de patiënt getekend heeft.</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28</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Demografie en voorgeschiedenis, inclusief nierfunctie, eGFR, hartaandoening en diabetesmedicatie.</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en klasseer een voorgaand ulcus.</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Drukmeting: drie metingen per voet.</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Bepaal de drie doelregio's en schrijf de zool voor, mét die regio's op het voorschrift.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Vragenlijsten vóór het educatiegesprek: NAFF en HLS-EU-6. Daarna tevredenheid, schoeiselgebruik en EQ-5D-5L.</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1: educatie op maat, voordoen, en de patiënt het zelf laten uitvoeren. Leg dat vast in het logboek.</a:t>
            </a:r>
          </a:p>
        </p:txBody>
      </p:sp>
      <p:sp>
        <p:nvSpPr>
          <p:cNvPr id="25" name="Oval 24"/>
          <p:cNvSpPr/>
          <p:nvPr/>
        </p:nvSpPr>
        <p:spPr>
          <a:xfrm>
            <a:off x="634984" y="4996055"/>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996055"/>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983355"/>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Geef de MoveMonitor mee voor zeven dagen en registreer het toestelnummer.</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07   08   09   10   12   13   14   15   16   18   19   20   21   48</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het onderzoeksteam verwerkt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26 · Lincoln 2007, NAFF</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Lever de zool af. Controleer de pasvorm in het bínnenschoeisel én het búitenschoeisel, en neem foto's.</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Meet de drukherverdeling en toets de norm per doelregio.</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gehaald? Pas aan en meet opnieuw. Is ze gehaald, laat dan een tweede, identiek paar maken.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Plaats en activeer de Orthotimer in de zool en registreer het toestelnummer.</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MoveMonitor terug en registreer de teruggave.</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2: bespreek het activiteitenprofiel, doe de teach-back en geef de sensorfolder mee.</a:t>
            </a:r>
          </a:p>
        </p:txBody>
      </p:sp>
      <p:sp>
        <p:nvSpPr>
          <p:cNvPr id="25" name="Oval 24"/>
          <p:cNvSpPr/>
          <p:nvPr/>
        </p:nvSpPr>
        <p:spPr>
          <a:xfrm>
            <a:off x="634984" y="47847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7847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77203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overtuigingen en gewoontes rond schoeisel.</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23   24   24b   25   26   27   28   29   30</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zoals bij de baseline.</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therapietrouw, lees de Orthotimer uit en bespreek het resultaat.</a:t>
            </a:r>
          </a:p>
        </p:txBody>
      </p:sp>
      <p:sp>
        <p:nvSpPr>
          <p:cNvPr id="13" name="Oval 12"/>
          <p:cNvSpPr/>
          <p:nvPr/>
        </p:nvSpPr>
        <p:spPr>
          <a:xfrm>
            <a:off x="634984" y="2746687"/>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746687"/>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733987"/>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Beoordeel beide paren zolen. Het paar dat onderhoud nodig heeft gaat naar de pedorthist, deklaag inbegrepen.</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Vervang zool of sensor als dat nodig is en leg dat vast.</a:t>
            </a:r>
          </a:p>
        </p:txBody>
      </p:sp>
      <p:sp>
        <p:nvSpPr>
          <p:cNvPr id="19" name="Oval 18"/>
          <p:cNvSpPr/>
          <p:nvPr/>
        </p:nvSpPr>
        <p:spPr>
          <a:xfrm>
            <a:off x="634984" y="36600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6600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64734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vragenlijsten af: levenskwaliteit, medische consumptie en productiviteit.</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6 een tweede week MoveMonitor.</a:t>
            </a:r>
          </a:p>
        </p:txBody>
      </p:sp>
      <p:sp>
        <p:nvSpPr>
          <p:cNvPr id="25" name="TextBox 24"/>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6" name="TextBox 25"/>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08   31   25   32   33   21   34   35   45b</a:t>
            </a:r>
          </a:p>
        </p:txBody>
      </p:sp>
      <p:sp>
        <p:nvSpPr>
          <p:cNvPr id="27" name="Rounded Rectangle 26"/>
          <p:cNvSpPr/>
          <p:nvPr/>
        </p:nvSpPr>
        <p:spPr>
          <a:xfrm>
            <a:off x="7746806" y="3301917"/>
            <a:ext cx="3809904" cy="145553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9" name="TextBox 28"/>
          <p:cNvSpPr txBox="1"/>
          <p:nvPr/>
        </p:nvSpPr>
        <p:spPr>
          <a:xfrm>
            <a:off x="7988100" y="3682907"/>
            <a:ext cx="3301917" cy="972948"/>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Uitlezen kan alleen ter plaatse. Koppel het aan een bezoek dat toch al gepland is.</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   |   29 · Dahmen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Herhaal de drukmeting en toets opnieuw per doelregio.</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Ligt de piekdruk boven 200 kPa, of is er nog winst haalbaar, pas dan opnieuw aan volgens dezelfde procedure.</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18 ook de tevredenheidsschaal opnieuw afnemen, zodat de verandering tegenover baseline gemeten kan worden.</a:t>
            </a:r>
          </a:p>
        </p:txBody>
      </p:sp>
      <p:sp>
        <p:nvSpPr>
          <p:cNvPr id="16" name="TextBox 15"/>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17" name="TextBox 16"/>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24   24b   12</a:t>
            </a:r>
          </a:p>
        </p:txBody>
      </p:sp>
      <p:sp>
        <p:nvSpPr>
          <p:cNvPr id="18" name="Rounded Rectangle 17"/>
          <p:cNvSpPr/>
          <p:nvPr/>
        </p:nvSpPr>
        <p:spPr>
          <a:xfrm>
            <a:off x="7746806" y="3301917"/>
            <a:ext cx="3809904" cy="145553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0" name="TextBox 19"/>
          <p:cNvSpPr txBox="1"/>
          <p:nvPr/>
        </p:nvSpPr>
        <p:spPr>
          <a:xfrm>
            <a:off x="7988100" y="3682907"/>
            <a:ext cx="3301917" cy="972948"/>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Drie extra meetmomenten. Maand 18 telt mee: het recidief wordt over de volle achttien maanden geteld.</a:t>
            </a:r>
          </a:p>
        </p:txBody>
      </p:sp>
      <p:sp>
        <p:nvSpPr>
          <p:cNvPr id="21" name="TextBox 2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4" name="TextBox 23"/>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Zeroing voor elke meting</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anders kunnen we de groepen niet vergelijken. Maar die getallen blijven beperkt tot uzelf.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28</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De draagtijd móét gemeten worden.</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Invoeren doet het onderzoeksteam. U bewaart of stuurt door.</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25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zelf.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Vanaf de eerste patiënt</a:t>
            </a:r>
          </a:p>
          <a:p>
            <a:pPr algn="l">
              <a:lnSpc>
                <a:spcPct val="106000"/>
              </a:lnSpc>
              <a:spcBef>
                <a:spcPts val="500"/>
              </a:spcBef>
            </a:pPr>
            <a:r>
              <a:rPr sz="7200" b="1">
                <a:solidFill>
                  <a:srgbClr val="FFFFFF"/>
                </a:solidFill>
                <a:latin typeface="Segoe UI"/>
              </a:rPr>
              <a:t>doet u dit zelf.</a:t>
            </a:r>
          </a:p>
        </p:txBody>
      </p:sp>
      <p:sp>
        <p:nvSpPr>
          <p:cNvPr id="7" name="TextBox 6"/>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F2F8FC"/>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25</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Diabetes Metab Res Rev. 2024;40(3):e3654.</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29</a:t>
            </a:r>
          </a:p>
        </p:txBody>
      </p:sp>
      <p:sp>
        <p:nvSpPr>
          <p:cNvPr id="34" name="TextBox 33"/>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Dahmen R et al. J Rehabil Med. 2018;50(6):569–74.</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28</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