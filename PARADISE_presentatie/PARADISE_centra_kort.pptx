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de zes titels traag door. Dit is de belofte van de dag en het is ook precies de bekwaamheidscheck op het eind.</a:t>
            </a:r>
          </a:p>
          <a:p/>
          <a:p>
            <a:r>
              <a:t>INTERACTIE</a:t>
            </a:r>
          </a:p>
          <a:p>
            <a:r>
              <a:t>Laat iedereen op een blad de zes overschrijven en aanduiden welke ze al beheersen. Op het eind vullen ze dat opnieuw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dat de loting door de PI gebeurt met verzegelde enveloppen, vier blokken van zes per centrum. Niemand kiest zelf.</a:t>
            </a:r>
          </a:p>
          <a:p/>
          <a:p>
            <a:r>
              <a:t>INTERACTIE</a:t>
            </a:r>
          </a:p>
          <a:p>
            <a:r>
              <a:t>Deel het screeningsformulier uit en laat ze het invullen voor een patiënt die ze vorige week zagen.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bezoek loopt uit. Zeg hoeveel tijd u ervoor moet inplannen en waarom de volgorde vastligt.</a:t>
            </a:r>
          </a:p>
          <a:p/>
          <a:p>
            <a:r>
              <a:t>INTERACTIE</a:t>
            </a:r>
          </a:p>
          <a:p>
            <a:r>
              <a:t>Laat ze in duo's de volgorde van de handelingen leggen met de formulieren op tafel.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de meeste tijd van de sessie voor. Dit bezoek bepaalt of de primaire uitkomst bruikbaar wordt.</a:t>
            </a:r>
          </a:p>
          <a:p/>
          <a:p>
            <a:r>
              <a:t>INTERACTIE</a:t>
            </a:r>
          </a:p>
          <a:p>
            <a:r>
              <a:t>Demonstreer het plaatsen en activeren van een Orthotimer op een losse zool.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zijn zes identieke bezoeken. Zeg dat expliciet: het ritme is elke drie maanden en de handelingen zijn elke keer dezelfde.</a:t>
            </a:r>
          </a:p>
          <a:p/>
          <a:p>
            <a:r>
              <a:t>INTERACTIE</a:t>
            </a:r>
          </a:p>
          <a:p>
            <a:r>
              <a:t>Vraag hoe zij een gemiste afspraak in de praktijk opvangen.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het vaakst vergeten wordt bij het inplannen. Zet de drie data nu al in de agenda van de patiënt.</a:t>
            </a:r>
          </a:p>
          <a:p/>
          <a:p>
            <a:r>
              <a:t>INTERACTIE</a:t>
            </a:r>
          </a:p>
          <a:p>
            <a:r>
              <a:t>Laat elk centrum benoemen wie de drukmeting op maand 18 zal doen.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de zaal ontspant én scherpt. Zeg het zinnetje onderaan letterlijk.</a:t>
            </a:r>
          </a:p>
          <a:p/>
          <a:p>
            <a:r>
              <a:t>INTERACTIE</a:t>
            </a:r>
          </a:p>
          <a:p>
            <a:r>
              <a:t>Vraag of iemand een situatie kan bedenken waarvan hij niet weet of het gemeld moet worden. Bespreek er twee.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rij. Namen noemen als u ze kent.</a:t>
            </a:r>
          </a:p>
          <a:p/>
          <a:p>
            <a:r>
              <a:t>INTERACTIE</a:t>
            </a:r>
          </a:p>
          <a:p>
            <a:r>
              <a:t>Vraag per rij: "herkenbaar, of mis ik iets?" Pas de taakverdeling ter plekke aan als dat nodig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 Vraagt iemand hoe de ingevulde formulieren bij ons raken: zeg dat daar bericht over volgt. Beloof geen werkwijze, want die ligt nog niet vast.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overgang naar de bekwaamheidscheck. Zeg het rustig; het is geen dreigement maar een vaststelling.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Opfrissing voor de centra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WAAROM U HIER ZIT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Na vandaag kunt u dit zelf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4984" y="1968450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984" y="1968450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74" y="1943051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Screenen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274" y="2273243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beoordelen of een patiënt in aanmerking komt, en de screening vastleggen vóór de toestemming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9841" y="1828754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49841" y="1968450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1" y="1968450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8132" y="1943051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Meten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8132" y="2273243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drukmeting uitvoeren die aan het protocol voldoet, en de drie doelregio's bepalen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984" y="2793930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4984" y="2933626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2933626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3274" y="2908227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Optimaliseren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3274" y="3238419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zool aanpassen tot de norm gehaald is, en vastleggen wat u aangepast hebt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9841" y="2793930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9841" y="2933626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1" y="2933626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8132" y="2908227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Uitlezen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8132" y="3238419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Orthotimer en de MoveMonitor correct instellen, uitlezen en terugkoppelen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4984" y="3759106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4984" y="3898802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984" y="3898802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274" y="3873403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Begeleiden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274" y="4203594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SEBIA-gesprek voeren, inclusief teach-back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49841" y="3759106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9841" y="3898802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3898802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8132" y="3873403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Vastleggen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8132" y="4203594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formulieren volledig invullen, en weten wat u meldt als er iets afwijkt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" y="4851278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76" y="5029074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Wie een van deze zes niet aandurft na vandaag, moet dat zeggen. Daar is deze sessie voor.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24</a:t>
            </a:r>
          </a:p>
        </p:txBody>
      </p:sp>
      <p:pic>
        <p:nvPicPr>
          <p:cNvPr id="3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24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24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SCREENING EN VISITE 0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Geschiktheid, toestemming, loting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Kort · in het gewone consult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Screening vóór de toestemming: beoordeel de in- en exclusiecriteria en noteer de patiënt op de identificatielijst.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Is de patiënt geschikt, overloop dan de informatie- en toestemmingsformulieren en laat tekenen.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3169332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69332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3156633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Visite 0: bevestig de geschiktheid met het baselineformulier.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De PI opent de volgende verzegelde envelop en deelt de patiënt in. Pas dan is bekend in welke arm hij zit.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408269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408269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4069994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Niet geschikt? Noteer de reden. Ook dat is studiedata.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00   01   02   06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46806" y="3301917"/>
            <a:ext cx="3809904" cy="20195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88100" y="3682907"/>
            <a:ext cx="3301917" cy="1536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De volgorde ligt vast: screenen, tekenen, geschiktheid bevestigen, dan pas loten. Vul geen enkel ander formulier in voordat de patiënt getekend heeft.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Arts bevestigt geschiktheid · PI loot · podoloog vult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 1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Baseline — meten en voorschrijven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Het langste bezoek van de studie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Demografie en voorgeschiedenis, inclusief nierfunctie, eGFR, hartaandoening en diabetesmedicatie.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Voet- en schoeiselscreening, en klasseer een eventueel ulcus.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Drukmeting blootsvoets: drie metingen per voet.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309029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309029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29632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Bepaal de drie doelregio's en schrijf de zool voor, mét die regio's op het voorschrift.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Vragenlijsten vóór het educatiegesprek: NAFF en HLS-EU-6. Daarna tevredenheid, schoeiselgebruik en EQ-5D-5L.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43371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43371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421013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SEBIA stap 1: educatie op maat, voordoen, en de patiënt het zelf laten uitvoeren. Leg dat vast in het logboek.</a:t>
            </a:r>
          </a:p>
        </p:txBody>
      </p:sp>
      <p:sp>
        <p:nvSpPr>
          <p:cNvPr id="25" name="Oval 24"/>
          <p:cNvSpPr/>
          <p:nvPr/>
        </p:nvSpPr>
        <p:spPr>
          <a:xfrm>
            <a:off x="634984" y="4996055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984" y="4996055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076" y="4983355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Geef de MoveMonitor mee voor zeven dagen en registreer het toestelnummer.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07   08   09   10   12   13   14   15   16   18   19   20   21   48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6806" y="3301917"/>
            <a:ext cx="3809904" cy="2301487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8100" y="3682907"/>
            <a:ext cx="3301917" cy="1818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Het voorschrift van de zool gebeurt hier, op de baseline — niet later. En NAFF en HLS-EU-6 gaan vóór de educatie, anders meet u uw eigen uitleg in plaats van de voorkennis van de patiënt.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meet · arts schrijft voor · het onderzoeksteam verwerkt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24</a:t>
            </a:r>
          </a:p>
        </p:txBody>
      </p:sp>
      <p:pic>
        <p:nvPicPr>
          <p:cNvPr id="3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 2 · VEERTIEN DAGEN TOT ÉÉN MAAND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Aflevering, optimalisatie en sensor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Het technisch zwaarste bezoek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Lever de zool af. Controleer de pasvorm in het bínnenschoeisel én het búitenschoeisel, en neem de foto's.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Meet de drukherverdeling en toets de norm per doelregio.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Niet gehaald? Pas aan en meet opnieuw. Is ze gehaald, laat dan een tweede, identiek paar maken.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Plaats en activeer de Orthotimer in de zool en registreer het toestelnummer.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Neem de MoveMonitor terug en registreer de teruggave.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2223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2223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20969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SEBIA stap 2: bespreek het activiteitenprofiel, doe de teach-back en geef de sensorfolder mee.</a:t>
            </a:r>
          </a:p>
        </p:txBody>
      </p:sp>
      <p:sp>
        <p:nvSpPr>
          <p:cNvPr id="25" name="Oval 24"/>
          <p:cNvSpPr/>
          <p:nvPr/>
        </p:nvSpPr>
        <p:spPr>
          <a:xfrm>
            <a:off x="634984" y="4784732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984" y="4784732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076" y="477203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Bevraag de overtuigingen en gewoontes rond schoeisel.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23   24   24b   25   26   27   28   29   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6806" y="3301917"/>
            <a:ext cx="3809904" cy="2301487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8100" y="3682907"/>
            <a:ext cx="3301917" cy="1818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De Orthotimer gaat pas in de zool nadat de norm gehaald is. En de uren per dag die u instelt komen uit het activiteitenprofiel van díe patiënt — daarom moet de MoveMonitor eerst terug zijn.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Pedorthist past aan · podoloog meet, plaatst de sensor en begeleidt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24</a:t>
            </a:r>
          </a:p>
        </p:txBody>
      </p:sp>
      <p:pic>
        <p:nvPicPr>
          <p:cNvPr id="3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VISITES 3 TOT 8 · MAAND 3 TOT 18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Driemaandelijkse opvolging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In het gewone consult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Voet- en schoeiselscreening, zoals bij de baseline.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39566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39566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382968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Bevraag de therapietrouw, lees de Orthotimer uit en bespreek de uitdraai niet-veroordelend.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Beoordeel beide paren zolen. Het paar dat onderhoud nodig heeft gaat naar de pedorthist, deklaag inbegrepen.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Vervang zool of sensor als dat nodig is en leg dat vast.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Neem de vragenlijsten af: levenskwaliteit, medische consumptie en productiviteit.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43371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43371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421013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Op maand 6 een tweede week MoveMonitor.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08   31   25   32   33   21   34   35   45b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6806" y="3301917"/>
            <a:ext cx="3809904" cy="20195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8100" y="3682907"/>
            <a:ext cx="3301917" cy="1536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Uitlezen kan alleen ter plaatse. Koppel het aan een bezoek dat toch al gepland is — een gemiste uitlezing verzwakt de draagtijd van die patiënt over de hele periode.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leest uit en begeleidt · arts beoordeelt laesies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24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VISITES 4, 6 EN 8 · MAAND 6, 12 EN 18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er drie keer extra bij komt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Bovenop de driemaandelijkse opvolging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Herhaal de drukmeting in de drie condities en toets opnieuw per doelregio.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39566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39566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382968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Ligt de piekdruk boven 200 kPa, of is er nog winst haalbaar, pas dan opnieuw aan volgens dezelfde procedure.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Op maand 18 ook de tevredenheidsschaal opnieuw afnemen, zodat de verandering tegenover baseline gemeten kan worden.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24   24b  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46806" y="3301917"/>
            <a:ext cx="3809904" cy="173751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8100" y="3682907"/>
            <a:ext cx="3301917" cy="1254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Drie extra meetmomenten, niet twee. Maand 18 telt mee: beide co-primaire uitkomsten worden op achttien maanden geëvalueerd.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meet · pedorthist past 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24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 en is die patiënt niet meer bruikbaar als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24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MELDT, EN HOE SNEL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Voorvallen en afwijkingen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Nieuw ulcus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Ulcus-vervolgformulier plus PEDIS- en WIfI-classificatie. Dit is de primaire uitkomst — meld het altijd.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47 · 36 ·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Ongewenst voorval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AE-SAE-formulier. Ernstige voorvallen binnen 24 uur na kennisname.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Protocolafwijking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Melden zoals ze gebeurd is. Wordt geregistreerd, niet afgestraft.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Toestel defect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Vervangingsformulier, met het oude en het nieuwe toestelnummer.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33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5371965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549761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Een afwijking die u meldt is een gegeven. Een afwijking die u niet meldt is een fout in de data van de hele studie.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drukmetingen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de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Plaatst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Houdt het opleidingsregister bij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24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SOP's en draaiboeken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Per handeling, met de eCRF-nummers erbij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Gegevensinvoer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Doet het onderzoeksteam. U vult de formulieren in, verder niets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24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Twee extra tests, dan noteert u wat wél bereikt 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En de ingevulde formulieren?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Daar volgt bericht over. Invoeren doet het onderzoeksteam.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24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52BDEC"/>
              </a:gs>
              <a:gs pos="100000">
                <a:srgbClr val="1D8DB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Vanaf de eerste patiënt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doet u dit zelf.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Wij leiden op, wij voeren in. De handelingen zijn van u.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24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