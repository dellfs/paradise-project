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lat voor vandaag. Zes handelingen, en na deze sessie doet u ze zelf. Herkent u er één waarvan u nu al denkt: dat durf ik niet — zeg het dan meteen. Daar is deze sessie voor.</a:t>
            </a:r>
          </a:p>
          <a:p/>
          <a:p>
            <a:r>
              <a:t>PRESENTATIETIP</a:t>
            </a:r>
          </a:p>
          <a:p>
            <a:r>
              <a:t>Loop de zes titels traag door. Dit is de belofte van de dag en het is ook precies de bekwaamheidscheck op het eind.</a:t>
            </a:r>
          </a:p>
          <a:p/>
          <a:p>
            <a:r>
              <a:t>INTERACTIE</a:t>
            </a:r>
          </a:p>
          <a:p>
            <a:r>
              <a:t>Laat iedereen op een blad de zes overschrijven en aanduiden welke ze al beheersen. Op het eind vullen ze dat opnieuw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 na een amputatie zelfs boven de zeventig procent. Dit is geen wondprobleem. Dit is een overlevingsprobleem.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dan het cijfer dat het onverdraaglijk maakt. Driekwart van deze ulcera is in principe te voorkomen. Toch komt veertig procent binnen het jaar terug. Dat gat tussen wat kan en wat gebeurt — daar gaat deze studie over.</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Een perfecte zool in de kast beschermt niets.</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Daarom doen wij het anders. Geen drie losse maatregelen, maar één dienst met twee normen: de zool moet de druk hálen, én hij moet gedragen wórden. Beide gemeten, beide bijgestuurd, en beide door uw eigen team. Dat is nog nooit samen getoetst.</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blootsvoets: driehonderdtwaalf kilopascal onder metatarsaal twee-drie. Drie metingen per voet, waar de software één beeld van maakt. Hiertegen wordt alles afgezet.</a:t>
            </a:r>
          </a:p>
          <a:p/>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het traject. Negen contactmomenten. Per moment: wat u doet en wat u invult.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visite nul. De volgorde ligt vast: screenen, tekenen, geschiktheid bevestigen, en pas dan loten. Vul geen enkel ander formulier in vóór de handtekening. Ook een afwijzing noteert u, want ook dat is studiedata.</a:t>
            </a:r>
          </a:p>
          <a:p/>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 één, het langste bezoek van de studie. Meten, voorschrijven, vragenlijsten en het eerste educatiegesprek. Twee dingen liggen vast: het voorschrift gebeurt hier en niet later, en NAFF en HLS gaan vóór de educatie.</a:t>
            </a:r>
          </a:p>
          <a:p/>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 twee, veertien dagen tot één maand later. Technisch het zwaarste bezoek: afleveren, pasvorm in binnen- én buitenschoeisel, meten, aanpassen tot de norm gehaald is. Pas dán gaat de Orthotimer in de zool, en pas dan bestelt u het tweede paar.</a:t>
            </a:r>
          </a:p>
          <a:p/>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Visites drie tot acht, elke drie maanden. Screenen, uitlezen, bespreken, en beide paren zolen beoordelen. Uitlezen kan alleen ter plaatse: een gemiste uitlezing verzwakt de draagtijd van die patiënt over de hele periode.</a:t>
            </a:r>
          </a:p>
          <a:p/>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Op maand zes, twaalf en achttien komt er een drukmeting bij. Drie keer, niet twee. Dezelfde drie condities, dezelfde toetsing per doelregio. Ligt de piekdruk er weer boven, dan past u opnieuw aan.</a:t>
            </a:r>
          </a:p>
          <a:p/>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Tien contactmomenten, één zorgpad. Het verschil met vandaag zit niet in hoe vaak u de patiënt ziet, maar in wat u bij elk bezoek wéét: wat de zool doet, en wat er gedragen is.</a:t>
            </a:r>
          </a:p>
          <a:p/>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enige regel die u écht moet onthouden. De controlegroep krijgt ook een meting en een sensor, maar die getallen blijven dicht. Bespreekt u ze, dan lévert u de interventie. Klinische bevindingen zijn géén meetwaarden: een laesie meldt en behandelt u meteen, in beide groepen.</a:t>
            </a:r>
          </a:p>
          <a:p/>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Wat u meldt, en hoe snel. Een nieuw ulcus is de primaire uitkomst, dus dat meldt u altijd. Ernstige voorvallen binnen vierentwintig uur na kennisname. En onthoud dit: een afwijking die u meldt is een gegeven, een afwijking die u niet meldt is een fout in de data van de hele studie.</a:t>
            </a:r>
          </a:p>
          <a:p/>
          <a:p>
            <a:r>
              <a:t>PRESENTATIETIP</a:t>
            </a:r>
          </a:p>
          <a:p>
            <a:r>
              <a:t>Dit is de dia die de zaal ontspant én scherpt. Zeg het zinnetje onderaan letterlijk.</a:t>
            </a:r>
          </a:p>
          <a:p/>
          <a:p>
            <a:r>
              <a:t>INTERACTIE</a:t>
            </a:r>
          </a:p>
          <a:p>
            <a:r>
              <a:t>Vraag of iemand een situatie kan bedenken waarvan hij niet weet of het gemeld moet worden. Bespreek er twee.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rollen. De podoloog meet, leest uit en begeleidt. De pedorthist maakt en past aan. De arts bevestigt geschiktheid en beoordeelt laesies. Het management houdt tijd vrij en bewaakt de vierentwintig.</a:t>
            </a:r>
          </a:p>
          <a:p/>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dit krijgt u van ons. Training in motiverende gespreksvoering, SOP's per handeling, één contactpunt, en het onderzoeksteam voert de gegevens in. Nul sancties: wijkt u af, dan meldt u het, en dat wordt geregistreerd, niet afgestraft.</a:t>
            </a:r>
          </a:p>
          <a:p/>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een vangnet, geen programma. Toon hem alleen als de vragen opdrogen, en beantwoord dan alleen wat nog niet aan bod kwam.</a:t>
            </a:r>
          </a:p>
          <a:p/>
          <a:p>
            <a:r>
              <a:t>PRESENTATIETIP</a:t>
            </a:r>
          </a:p>
          <a:p>
            <a:r>
              <a:t>Sla over wat al gevraagd is. Deze dia is een vangnet, geen programma.</a:t>
            </a:r>
          </a:p>
          <a:p/>
          <a:p>
            <a:r>
              <a:t>INTERACTIE</a:t>
            </a:r>
          </a:p>
          <a:p>
            <a:r>
              <a:t>Toon hem alleen als de vragen opdrogen.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Rustig zeggen; het is geen dreigement maar een vaststelling. Wij leiden op en wij voeren in. De handelingen zijn van u, vanaf de eerste patiënt.</a:t>
            </a:r>
          </a:p>
          <a:p/>
          <a:p>
            <a:r>
              <a:t>PRESENTATIETIP</a:t>
            </a:r>
          </a:p>
          <a:p>
            <a:r>
              <a:t>Dit is de overgang naar de bekwaamheidscheck. Zeg het rustig; het is geen dreigement maar een vaststelling.</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Deze dia laat u staan tijdens de vragen. Alles wat u genoemd hebt, staat hier met nummer en citaat, in dezelfde nummering als het protocolmanuscript.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Opfrissing voor de centra</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WAAROM U HIER ZIT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 vandaag kunt u dit zelf</a:t>
            </a:r>
          </a:p>
        </p:txBody>
      </p:sp>
      <p:sp>
        <p:nvSpPr>
          <p:cNvPr id="5" name="Rectangle 4"/>
          <p:cNvSpPr/>
          <p:nvPr/>
        </p:nvSpPr>
        <p:spPr>
          <a:xfrm>
            <a:off x="634984"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34984"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8" name="TextBox 7"/>
          <p:cNvSpPr txBox="1"/>
          <p:nvPr/>
        </p:nvSpPr>
        <p:spPr>
          <a:xfrm>
            <a:off x="1003274"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Screenen</a:t>
            </a:r>
          </a:p>
        </p:txBody>
      </p:sp>
      <p:sp>
        <p:nvSpPr>
          <p:cNvPr id="9" name="TextBox 8"/>
          <p:cNvSpPr txBox="1"/>
          <p:nvPr/>
        </p:nvSpPr>
        <p:spPr>
          <a:xfrm>
            <a:off x="1003274"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beoordelen of een patiënt in aanmerking komt, en de screening vastleggen vóór de toestemming</a:t>
            </a:r>
          </a:p>
        </p:txBody>
      </p:sp>
      <p:sp>
        <p:nvSpPr>
          <p:cNvPr id="10" name="Rectangle 9"/>
          <p:cNvSpPr/>
          <p:nvPr/>
        </p:nvSpPr>
        <p:spPr>
          <a:xfrm>
            <a:off x="6349841"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9841"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1"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13" name="TextBox 12"/>
          <p:cNvSpPr txBox="1"/>
          <p:nvPr/>
        </p:nvSpPr>
        <p:spPr>
          <a:xfrm>
            <a:off x="6718132"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Meten</a:t>
            </a:r>
          </a:p>
        </p:txBody>
      </p:sp>
      <p:sp>
        <p:nvSpPr>
          <p:cNvPr id="14" name="TextBox 13"/>
          <p:cNvSpPr txBox="1"/>
          <p:nvPr/>
        </p:nvSpPr>
        <p:spPr>
          <a:xfrm>
            <a:off x="6718132"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drukmeting uitvoeren die aan het protocol voldoet, en de drie doelregio's bepalen</a:t>
            </a:r>
          </a:p>
        </p:txBody>
      </p:sp>
      <p:sp>
        <p:nvSpPr>
          <p:cNvPr id="15" name="Rectangle 14"/>
          <p:cNvSpPr/>
          <p:nvPr/>
        </p:nvSpPr>
        <p:spPr>
          <a:xfrm>
            <a:off x="634984"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4984"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18" name="TextBox 17"/>
          <p:cNvSpPr txBox="1"/>
          <p:nvPr/>
        </p:nvSpPr>
        <p:spPr>
          <a:xfrm>
            <a:off x="1003274"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Optimaliseren</a:t>
            </a:r>
          </a:p>
        </p:txBody>
      </p:sp>
      <p:sp>
        <p:nvSpPr>
          <p:cNvPr id="19" name="TextBox 18"/>
          <p:cNvSpPr txBox="1"/>
          <p:nvPr/>
        </p:nvSpPr>
        <p:spPr>
          <a:xfrm>
            <a:off x="1003274"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zool aanpassen tot de norm gehaald is, en vastleggen wat u aangepast hebt</a:t>
            </a:r>
          </a:p>
        </p:txBody>
      </p:sp>
      <p:sp>
        <p:nvSpPr>
          <p:cNvPr id="20" name="Rectangle 19"/>
          <p:cNvSpPr/>
          <p:nvPr/>
        </p:nvSpPr>
        <p:spPr>
          <a:xfrm>
            <a:off x="6349841"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49841"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1"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23" name="TextBox 22"/>
          <p:cNvSpPr txBox="1"/>
          <p:nvPr/>
        </p:nvSpPr>
        <p:spPr>
          <a:xfrm>
            <a:off x="6718132"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Uitlezen</a:t>
            </a:r>
          </a:p>
        </p:txBody>
      </p:sp>
      <p:sp>
        <p:nvSpPr>
          <p:cNvPr id="24" name="TextBox 23"/>
          <p:cNvSpPr txBox="1"/>
          <p:nvPr/>
        </p:nvSpPr>
        <p:spPr>
          <a:xfrm>
            <a:off x="6718132"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Orthotimer en de MoveMonitor correct instellen, uitlezen en terugkoppelen</a:t>
            </a:r>
          </a:p>
        </p:txBody>
      </p:sp>
      <p:sp>
        <p:nvSpPr>
          <p:cNvPr id="25" name="Rectangle 24"/>
          <p:cNvSpPr/>
          <p:nvPr/>
        </p:nvSpPr>
        <p:spPr>
          <a:xfrm>
            <a:off x="634984"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4984"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28" name="TextBox 27"/>
          <p:cNvSpPr txBox="1"/>
          <p:nvPr/>
        </p:nvSpPr>
        <p:spPr>
          <a:xfrm>
            <a:off x="1003274"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Begeleiden</a:t>
            </a:r>
          </a:p>
        </p:txBody>
      </p:sp>
      <p:sp>
        <p:nvSpPr>
          <p:cNvPr id="29" name="TextBox 28"/>
          <p:cNvSpPr txBox="1"/>
          <p:nvPr/>
        </p:nvSpPr>
        <p:spPr>
          <a:xfrm>
            <a:off x="1003274"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SEBIA-gesprek voeren, inclusief teach-back</a:t>
            </a:r>
          </a:p>
        </p:txBody>
      </p:sp>
      <p:sp>
        <p:nvSpPr>
          <p:cNvPr id="30" name="Rectangle 29"/>
          <p:cNvSpPr/>
          <p:nvPr/>
        </p:nvSpPr>
        <p:spPr>
          <a:xfrm>
            <a:off x="6349841"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9841"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6</a:t>
            </a:r>
          </a:p>
        </p:txBody>
      </p:sp>
      <p:sp>
        <p:nvSpPr>
          <p:cNvPr id="33" name="TextBox 32"/>
          <p:cNvSpPr txBox="1"/>
          <p:nvPr/>
        </p:nvSpPr>
        <p:spPr>
          <a:xfrm>
            <a:off x="6718132"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Vastleggen</a:t>
            </a:r>
          </a:p>
        </p:txBody>
      </p:sp>
      <p:sp>
        <p:nvSpPr>
          <p:cNvPr id="34" name="TextBox 33"/>
          <p:cNvSpPr txBox="1"/>
          <p:nvPr/>
        </p:nvSpPr>
        <p:spPr>
          <a:xfrm>
            <a:off x="6718132"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formulieren volledig invullen, en weten wat u meldt als er iets afwijkt</a:t>
            </a:r>
          </a:p>
        </p:txBody>
      </p:sp>
      <p:sp>
        <p:nvSpPr>
          <p:cNvPr id="35" name="Rounded Rectangle 34"/>
          <p:cNvSpPr/>
          <p:nvPr/>
        </p:nvSpPr>
        <p:spPr>
          <a:xfrm>
            <a:off x="634984" y="4851278"/>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2476" y="5029074"/>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Wie een van deze zes niet aandurft na vandaag, moet dat zeggen. Daar is deze sessie voor.</a:t>
            </a:r>
          </a:p>
        </p:txBody>
      </p:sp>
      <p:sp>
        <p:nvSpPr>
          <p:cNvPr id="37" name="TextBox 3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27</a:t>
            </a:r>
          </a:p>
        </p:txBody>
      </p:sp>
      <p:pic>
        <p:nvPicPr>
          <p:cNvPr id="3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 draagtijd op 12</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27</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80" name="TextBox 17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STERFTE NA AMPUTATIE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27</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04182A"/>
                </a:solidFill>
                <a:latin typeface="Segoe UI"/>
              </a:rPr>
              <a:t>Driekwart is te voorkomen.</a:t>
            </a:r>
          </a:p>
          <a:p>
            <a:pPr algn="l">
              <a:lnSpc>
                <a:spcPct val="106000"/>
              </a:lnSpc>
              <a:spcBef>
                <a:spcPts val="500"/>
              </a:spcBef>
            </a:pPr>
            <a:r>
              <a:rPr sz="6200" b="1">
                <a:solidFill>
                  <a:srgbClr val="04182A"/>
                </a:solidFill>
                <a:latin typeface="Segoe UI"/>
              </a:rPr>
              <a:t>Veertig procent komt terug.</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gat is waar deze studie over gaat.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27</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14 · van Netten 2018   |   16 · Hulshof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Eén dienst, geen drie losse maatregelen</a:t>
            </a:r>
          </a:p>
        </p:txBody>
      </p:sp>
      <p:sp>
        <p:nvSpPr>
          <p:cNvPr id="5" name="Rounded Rectangle 4"/>
          <p:cNvSpPr/>
          <p:nvPr/>
        </p:nvSpPr>
        <p:spPr>
          <a:xfrm>
            <a:off x="634984"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Gemeten bij de aflevering, in drie condities.</a:t>
            </a:r>
          </a:p>
          <a:p>
            <a:pPr algn="l">
              <a:lnSpc>
                <a:spcPct val="132000"/>
              </a:lnSpc>
              <a:spcBef>
                <a:spcPts val="1200"/>
              </a:spcBef>
            </a:pPr>
            <a:r>
              <a:rPr sz="1450" b="0">
                <a:solidFill>
                  <a:srgbClr val="8FB6D0"/>
                </a:solidFill>
                <a:latin typeface="Segoe UI"/>
              </a:rPr>
              <a:t>Aangepast tot de norm gehaald is in elk van de drie doelregio's.</a:t>
            </a:r>
          </a:p>
          <a:p>
            <a:pPr algn="l">
              <a:lnSpc>
                <a:spcPct val="132000"/>
              </a:lnSpc>
              <a:spcBef>
                <a:spcPts val="1200"/>
              </a:spcBef>
            </a:pPr>
            <a:r>
              <a:rPr sz="1450" b="0">
                <a:solidFill>
                  <a:srgbClr val="8FB6D0"/>
                </a:solidFill>
                <a:latin typeface="Segoe UI"/>
              </a:rPr>
              <a:t>Herhaald op maand 6, 12 en 18.</a:t>
            </a:r>
          </a:p>
        </p:txBody>
      </p:sp>
      <p:sp>
        <p:nvSpPr>
          <p:cNvPr id="11" name="Rounded Rectangle 10"/>
          <p:cNvSpPr/>
          <p:nvPr/>
        </p:nvSpPr>
        <p:spPr>
          <a:xfrm>
            <a:off x="6171918"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van zijn eigen activiteitenprofiel</a:t>
            </a:r>
          </a:p>
        </p:txBody>
      </p:sp>
      <p:sp>
        <p:nvSpPr>
          <p:cNvPr id="16" name="TextBox 15"/>
          <p:cNvSpPr txBox="1"/>
          <p:nvPr/>
        </p:nvSpPr>
        <p:spPr>
          <a:xfrm>
            <a:off x="6425912"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sz="1450" b="0">
                <a:solidFill>
                  <a:srgbClr val="8FB6D0"/>
                </a:solidFill>
                <a:latin typeface="Segoe UI"/>
              </a:rPr>
              <a:t>Vijf gesprekken die op die data staan, niet op goede raad.</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27</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   |   17 · Waaijman 2014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27</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   |   27 · Zwaferink 2024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27</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27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27</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Geschiktheid, toestemming, loting</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Kort · in het gewone consult</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Screening vóór de toestemming: beoordeel de in- en exclusiecriteria en noteer de patiënt op de identificatielijst.</a:t>
            </a:r>
          </a:p>
        </p:txBody>
      </p:sp>
      <p:sp>
        <p:nvSpPr>
          <p:cNvPr id="10" name="Oval 9"/>
          <p:cNvSpPr/>
          <p:nvPr/>
        </p:nvSpPr>
        <p:spPr>
          <a:xfrm>
            <a:off x="634984" y="26069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6069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594291"/>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Is de patiënt geschikt, overloop dan de informatie- en toestemmingsformulieren en laat tekenen.</a:t>
            </a:r>
          </a:p>
        </p:txBody>
      </p:sp>
      <p:sp>
        <p:nvSpPr>
          <p:cNvPr id="13" name="Oval 12"/>
          <p:cNvSpPr/>
          <p:nvPr/>
        </p:nvSpPr>
        <p:spPr>
          <a:xfrm>
            <a:off x="634984" y="3169332"/>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69332"/>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3156633"/>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Visite 0: bevestig de geschiktheid met het baselineformulier.</a:t>
            </a:r>
          </a:p>
        </p:txBody>
      </p:sp>
      <p:sp>
        <p:nvSpPr>
          <p:cNvPr id="16" name="Oval 15"/>
          <p:cNvSpPr/>
          <p:nvPr/>
        </p:nvSpPr>
        <p:spPr>
          <a:xfrm>
            <a:off x="634984" y="352035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352035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8" name="TextBox 17"/>
          <p:cNvSpPr txBox="1"/>
          <p:nvPr/>
        </p:nvSpPr>
        <p:spPr>
          <a:xfrm>
            <a:off x="927076" y="3507652"/>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De PI opent de volgende verzegelde envelop en deelt de patiënt in. Pas dan is bekend in welke arm hij zit.</a:t>
            </a:r>
          </a:p>
        </p:txBody>
      </p:sp>
      <p:sp>
        <p:nvSpPr>
          <p:cNvPr id="19" name="Oval 18"/>
          <p:cNvSpPr/>
          <p:nvPr/>
        </p:nvSpPr>
        <p:spPr>
          <a:xfrm>
            <a:off x="634984" y="4082693"/>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4082693"/>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1" name="TextBox 20"/>
          <p:cNvSpPr txBox="1"/>
          <p:nvPr/>
        </p:nvSpPr>
        <p:spPr>
          <a:xfrm>
            <a:off x="927076" y="4069994"/>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Niet geschikt? Noteer de reden. Ook dat is studiedata.</a:t>
            </a:r>
          </a:p>
        </p:txBody>
      </p:sp>
      <p:sp>
        <p:nvSpPr>
          <p:cNvPr id="22" name="TextBox 21"/>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23" name="TextBox 22"/>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00   01   02   06</a:t>
            </a:r>
          </a:p>
        </p:txBody>
      </p:sp>
      <p:sp>
        <p:nvSpPr>
          <p:cNvPr id="24" name="Rounded Rectangle 23"/>
          <p:cNvSpPr/>
          <p:nvPr/>
        </p:nvSpPr>
        <p:spPr>
          <a:xfrm>
            <a:off x="7746806" y="3301917"/>
            <a:ext cx="3809904" cy="2019503"/>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26" name="TextBox 25"/>
          <p:cNvSpPr txBox="1"/>
          <p:nvPr/>
        </p:nvSpPr>
        <p:spPr>
          <a:xfrm>
            <a:off x="7988100" y="3682907"/>
            <a:ext cx="3301917" cy="1536915"/>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De volgorde ligt vast: screenen, tekenen, geschiktheid bevestigen, dan pas loten. Vul geen enkel ander formulier in voordat de patiënt getekend heeft.</a:t>
            </a:r>
          </a:p>
        </p:txBody>
      </p:sp>
      <p:sp>
        <p:nvSpPr>
          <p:cNvPr id="27" name="TextBox 26"/>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Arts bevestigt geschiktheid · PI loot · podoloog vult in</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27</a:t>
            </a:r>
          </a:p>
        </p:txBody>
      </p:sp>
      <p:pic>
        <p:nvPicPr>
          <p:cNvPr id="2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Baseline — meten en voorschrijven</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Het langste bezoek van de studie</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Demografie en voorgeschiedenis, inclusief nierfunctie, eGFR, hartaandoening en diabetesmedicatie.</a:t>
            </a:r>
          </a:p>
        </p:txBody>
      </p:sp>
      <p:sp>
        <p:nvSpPr>
          <p:cNvPr id="10" name="Oval 9"/>
          <p:cNvSpPr/>
          <p:nvPr/>
        </p:nvSpPr>
        <p:spPr>
          <a:xfrm>
            <a:off x="634984" y="26069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6069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594291"/>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Voet- en schoeiselscreening, en klasseer een eventueel ulcus.</a:t>
            </a:r>
          </a:p>
        </p:txBody>
      </p:sp>
      <p:sp>
        <p:nvSpPr>
          <p:cNvPr id="13" name="Oval 12"/>
          <p:cNvSpPr/>
          <p:nvPr/>
        </p:nvSpPr>
        <p:spPr>
          <a:xfrm>
            <a:off x="634984" y="295801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295801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2945310"/>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Drukmeting blootsvoets: drie metingen per voet.</a:t>
            </a:r>
          </a:p>
        </p:txBody>
      </p:sp>
      <p:sp>
        <p:nvSpPr>
          <p:cNvPr id="16" name="Oval 15"/>
          <p:cNvSpPr/>
          <p:nvPr/>
        </p:nvSpPr>
        <p:spPr>
          <a:xfrm>
            <a:off x="634984" y="3309029"/>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3309029"/>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8" name="TextBox 17"/>
          <p:cNvSpPr txBox="1"/>
          <p:nvPr/>
        </p:nvSpPr>
        <p:spPr>
          <a:xfrm>
            <a:off x="927076" y="3296329"/>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Bepaal de drie doelregio's en schrijf de zool voor, mét die regio's op het voorschrift.</a:t>
            </a:r>
          </a:p>
        </p:txBody>
      </p:sp>
      <p:sp>
        <p:nvSpPr>
          <p:cNvPr id="19" name="Oval 18"/>
          <p:cNvSpPr/>
          <p:nvPr/>
        </p:nvSpPr>
        <p:spPr>
          <a:xfrm>
            <a:off x="634984" y="387137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387137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1" name="TextBox 20"/>
          <p:cNvSpPr txBox="1"/>
          <p:nvPr/>
        </p:nvSpPr>
        <p:spPr>
          <a:xfrm>
            <a:off x="927076" y="3858671"/>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Vragenlijsten vóór het educatiegesprek: NAFF en HLS-EU-6. Daarna tevredenheid, schoeiselgebruik en EQ-5D-5L.</a:t>
            </a:r>
          </a:p>
        </p:txBody>
      </p:sp>
      <p:sp>
        <p:nvSpPr>
          <p:cNvPr id="22" name="Oval 21"/>
          <p:cNvSpPr/>
          <p:nvPr/>
        </p:nvSpPr>
        <p:spPr>
          <a:xfrm>
            <a:off x="634984" y="4433713"/>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4984" y="4433713"/>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4" name="TextBox 23"/>
          <p:cNvSpPr txBox="1"/>
          <p:nvPr/>
        </p:nvSpPr>
        <p:spPr>
          <a:xfrm>
            <a:off x="927076" y="4421013"/>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SEBIA stap 1: educatie op maat, voordoen, en de patiënt het zelf laten uitvoeren. Leg dat vast in het logboek.</a:t>
            </a:r>
          </a:p>
        </p:txBody>
      </p:sp>
      <p:sp>
        <p:nvSpPr>
          <p:cNvPr id="25" name="Oval 24"/>
          <p:cNvSpPr/>
          <p:nvPr/>
        </p:nvSpPr>
        <p:spPr>
          <a:xfrm>
            <a:off x="634984" y="4996055"/>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 y="4996055"/>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7</a:t>
            </a:r>
          </a:p>
        </p:txBody>
      </p:sp>
      <p:sp>
        <p:nvSpPr>
          <p:cNvPr id="27" name="TextBox 26"/>
          <p:cNvSpPr txBox="1"/>
          <p:nvPr/>
        </p:nvSpPr>
        <p:spPr>
          <a:xfrm>
            <a:off x="927076" y="4983355"/>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Geef de MoveMonitor mee voor zeven dagen en registreer het toestelnummer.</a:t>
            </a:r>
          </a:p>
        </p:txBody>
      </p:sp>
      <p:sp>
        <p:nvSpPr>
          <p:cNvPr id="28" name="TextBox 27"/>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29" name="TextBox 28"/>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07   08   09   10   12   13   14   15   16   18   19   20   21   48</a:t>
            </a:r>
          </a:p>
        </p:txBody>
      </p:sp>
      <p:sp>
        <p:nvSpPr>
          <p:cNvPr id="30" name="Rounded Rectangle 29"/>
          <p:cNvSpPr/>
          <p:nvPr/>
        </p:nvSpPr>
        <p:spPr>
          <a:xfrm>
            <a:off x="7746806" y="3301917"/>
            <a:ext cx="3809904" cy="2301487"/>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32" name="TextBox 31"/>
          <p:cNvSpPr txBox="1"/>
          <p:nvPr/>
        </p:nvSpPr>
        <p:spPr>
          <a:xfrm>
            <a:off x="7988100" y="3682907"/>
            <a:ext cx="3301917" cy="1818899"/>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Het voorschrift van de zool gebeurt hier, op de baseline — niet later. En NAFF en HLS-EU-6 gaan vóór de educatie, anders meet u uw eigen uitleg in plaats van de voorkennis van de patiënt.</a:t>
            </a:r>
          </a:p>
        </p:txBody>
      </p:sp>
      <p:sp>
        <p:nvSpPr>
          <p:cNvPr id="33" name="TextBox 32"/>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meet · arts schrijft voor · het onderzoeksteam verwerkt</a:t>
            </a:r>
          </a:p>
        </p:txBody>
      </p:sp>
      <p:sp>
        <p:nvSpPr>
          <p:cNvPr id="34" name="TextBox 3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27</a:t>
            </a:r>
          </a:p>
        </p:txBody>
      </p:sp>
      <p:pic>
        <p:nvPicPr>
          <p:cNvPr id="35"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6" name="TextBox 35"/>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   |   26 · Lincoln 2007, NAFF</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Aflevering, optimalisatie en sensor</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Het technisch zwaarste bezoek</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Lever de zool af. Controleer de pasvorm in het bínnenschoeisel én het búitenschoeisel, en neem de foto's.</a:t>
            </a:r>
          </a:p>
        </p:txBody>
      </p:sp>
      <p:sp>
        <p:nvSpPr>
          <p:cNvPr id="10" name="Oval 9"/>
          <p:cNvSpPr/>
          <p:nvPr/>
        </p:nvSpPr>
        <p:spPr>
          <a:xfrm>
            <a:off x="634984" y="26069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6069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594291"/>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Meet de drukherverdeling en toets de norm per doelregio.</a:t>
            </a:r>
          </a:p>
        </p:txBody>
      </p:sp>
      <p:sp>
        <p:nvSpPr>
          <p:cNvPr id="13" name="Oval 12"/>
          <p:cNvSpPr/>
          <p:nvPr/>
        </p:nvSpPr>
        <p:spPr>
          <a:xfrm>
            <a:off x="634984" y="295801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295801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2945310"/>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Niet gehaald? Pas aan en meet opnieuw. Is ze gehaald, laat dan een tweede, identiek paar maken.</a:t>
            </a:r>
          </a:p>
        </p:txBody>
      </p:sp>
      <p:sp>
        <p:nvSpPr>
          <p:cNvPr id="16" name="Oval 15"/>
          <p:cNvSpPr/>
          <p:nvPr/>
        </p:nvSpPr>
        <p:spPr>
          <a:xfrm>
            <a:off x="634984" y="352035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352035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8" name="TextBox 17"/>
          <p:cNvSpPr txBox="1"/>
          <p:nvPr/>
        </p:nvSpPr>
        <p:spPr>
          <a:xfrm>
            <a:off x="927076" y="3507652"/>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Plaats en activeer de Orthotimer in de zool en registreer het toestelnummer.</a:t>
            </a:r>
          </a:p>
        </p:txBody>
      </p:sp>
      <p:sp>
        <p:nvSpPr>
          <p:cNvPr id="19" name="Oval 18"/>
          <p:cNvSpPr/>
          <p:nvPr/>
        </p:nvSpPr>
        <p:spPr>
          <a:xfrm>
            <a:off x="634984" y="387137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387137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1" name="TextBox 20"/>
          <p:cNvSpPr txBox="1"/>
          <p:nvPr/>
        </p:nvSpPr>
        <p:spPr>
          <a:xfrm>
            <a:off x="927076" y="3858671"/>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Neem de MoveMonitor terug en registreer de teruggave.</a:t>
            </a:r>
          </a:p>
        </p:txBody>
      </p:sp>
      <p:sp>
        <p:nvSpPr>
          <p:cNvPr id="22" name="Oval 21"/>
          <p:cNvSpPr/>
          <p:nvPr/>
        </p:nvSpPr>
        <p:spPr>
          <a:xfrm>
            <a:off x="634984" y="42223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4984" y="42223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4" name="TextBox 23"/>
          <p:cNvSpPr txBox="1"/>
          <p:nvPr/>
        </p:nvSpPr>
        <p:spPr>
          <a:xfrm>
            <a:off x="927076" y="4209690"/>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SEBIA stap 2: bespreek het activiteitenprofiel, doe de teach-back en geef de sensorfolder mee.</a:t>
            </a:r>
          </a:p>
        </p:txBody>
      </p:sp>
      <p:sp>
        <p:nvSpPr>
          <p:cNvPr id="25" name="Oval 24"/>
          <p:cNvSpPr/>
          <p:nvPr/>
        </p:nvSpPr>
        <p:spPr>
          <a:xfrm>
            <a:off x="634984" y="4784732"/>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 y="4784732"/>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7</a:t>
            </a:r>
          </a:p>
        </p:txBody>
      </p:sp>
      <p:sp>
        <p:nvSpPr>
          <p:cNvPr id="27" name="TextBox 26"/>
          <p:cNvSpPr txBox="1"/>
          <p:nvPr/>
        </p:nvSpPr>
        <p:spPr>
          <a:xfrm>
            <a:off x="927076" y="4772032"/>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Bevraag de overtuigingen en gewoontes rond schoeisel.</a:t>
            </a:r>
          </a:p>
        </p:txBody>
      </p:sp>
      <p:sp>
        <p:nvSpPr>
          <p:cNvPr id="28" name="TextBox 27"/>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29" name="TextBox 28"/>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23   24   24b   25   26   27   28   29   30</a:t>
            </a:r>
          </a:p>
        </p:txBody>
      </p:sp>
      <p:sp>
        <p:nvSpPr>
          <p:cNvPr id="30" name="Rounded Rectangle 29"/>
          <p:cNvSpPr/>
          <p:nvPr/>
        </p:nvSpPr>
        <p:spPr>
          <a:xfrm>
            <a:off x="7746806" y="3301917"/>
            <a:ext cx="3809904" cy="2301487"/>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32" name="TextBox 31"/>
          <p:cNvSpPr txBox="1"/>
          <p:nvPr/>
        </p:nvSpPr>
        <p:spPr>
          <a:xfrm>
            <a:off x="7988100" y="3682907"/>
            <a:ext cx="3301917" cy="1818899"/>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De Orthotimer gaat pas in de zool nadat de norm gehaald is. En de uren per dag die u instelt komen uit het activiteitenprofiel van díe patiënt — daarom moet de MoveMonitor eerst terug zijn.</a:t>
            </a:r>
          </a:p>
        </p:txBody>
      </p:sp>
      <p:sp>
        <p:nvSpPr>
          <p:cNvPr id="33" name="TextBox 32"/>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Pedorthist past aan · podoloog meet, plaatst de sensor en begeleidt</a:t>
            </a:r>
          </a:p>
        </p:txBody>
      </p:sp>
      <p:sp>
        <p:nvSpPr>
          <p:cNvPr id="34" name="TextBox 3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27</a:t>
            </a:r>
          </a:p>
        </p:txBody>
      </p:sp>
      <p:pic>
        <p:nvPicPr>
          <p:cNvPr id="35"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6" name="TextBox 35"/>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Driemaandelijkse opvolging</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In het gewone consult</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Voet- en schoeiselscreening, zoals bij de baseline.</a:t>
            </a:r>
          </a:p>
        </p:txBody>
      </p:sp>
      <p:sp>
        <p:nvSpPr>
          <p:cNvPr id="10" name="Oval 9"/>
          <p:cNvSpPr/>
          <p:nvPr/>
        </p:nvSpPr>
        <p:spPr>
          <a:xfrm>
            <a:off x="634984" y="239566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39566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382968"/>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Bevraag de therapietrouw, lees de Orthotimer uit en bespreek de uitdraai niet-veroordelend.</a:t>
            </a:r>
          </a:p>
        </p:txBody>
      </p:sp>
      <p:sp>
        <p:nvSpPr>
          <p:cNvPr id="13" name="Oval 12"/>
          <p:cNvSpPr/>
          <p:nvPr/>
        </p:nvSpPr>
        <p:spPr>
          <a:xfrm>
            <a:off x="634984" y="295801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295801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2945310"/>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Beoordeel beide paren zolen. Het paar dat onderhoud nodig heeft gaat naar de pedorthist, deklaag inbegrepen.</a:t>
            </a:r>
          </a:p>
        </p:txBody>
      </p:sp>
      <p:sp>
        <p:nvSpPr>
          <p:cNvPr id="16" name="Oval 15"/>
          <p:cNvSpPr/>
          <p:nvPr/>
        </p:nvSpPr>
        <p:spPr>
          <a:xfrm>
            <a:off x="634984" y="352035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352035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8" name="TextBox 17"/>
          <p:cNvSpPr txBox="1"/>
          <p:nvPr/>
        </p:nvSpPr>
        <p:spPr>
          <a:xfrm>
            <a:off x="927076" y="3507652"/>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Vervang zool of sensor als dat nodig is en leg dat vast.</a:t>
            </a:r>
          </a:p>
        </p:txBody>
      </p:sp>
      <p:sp>
        <p:nvSpPr>
          <p:cNvPr id="19" name="Oval 18"/>
          <p:cNvSpPr/>
          <p:nvPr/>
        </p:nvSpPr>
        <p:spPr>
          <a:xfrm>
            <a:off x="634984" y="387137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387137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1" name="TextBox 20"/>
          <p:cNvSpPr txBox="1"/>
          <p:nvPr/>
        </p:nvSpPr>
        <p:spPr>
          <a:xfrm>
            <a:off x="927076" y="3858671"/>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Neem de vragenlijsten af: levenskwaliteit, medische consumptie en productiviteit.</a:t>
            </a:r>
          </a:p>
        </p:txBody>
      </p:sp>
      <p:sp>
        <p:nvSpPr>
          <p:cNvPr id="22" name="Oval 21"/>
          <p:cNvSpPr/>
          <p:nvPr/>
        </p:nvSpPr>
        <p:spPr>
          <a:xfrm>
            <a:off x="634984" y="4433713"/>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4984" y="4433713"/>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4" name="TextBox 23"/>
          <p:cNvSpPr txBox="1"/>
          <p:nvPr/>
        </p:nvSpPr>
        <p:spPr>
          <a:xfrm>
            <a:off x="927076" y="4421013"/>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Op maand 6 een tweede week MoveMonitor.</a:t>
            </a:r>
          </a:p>
        </p:txBody>
      </p:sp>
      <p:sp>
        <p:nvSpPr>
          <p:cNvPr id="25" name="TextBox 24"/>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26" name="TextBox 25"/>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08   31   25   32   33   21   34   35   45b</a:t>
            </a:r>
          </a:p>
        </p:txBody>
      </p:sp>
      <p:sp>
        <p:nvSpPr>
          <p:cNvPr id="27" name="Rounded Rectangle 26"/>
          <p:cNvSpPr/>
          <p:nvPr/>
        </p:nvSpPr>
        <p:spPr>
          <a:xfrm>
            <a:off x="7746806" y="3301917"/>
            <a:ext cx="3809904" cy="2019503"/>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29" name="TextBox 28"/>
          <p:cNvSpPr txBox="1"/>
          <p:nvPr/>
        </p:nvSpPr>
        <p:spPr>
          <a:xfrm>
            <a:off x="7988100" y="3682907"/>
            <a:ext cx="3301917" cy="1536915"/>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Uitlezen kan alleen ter plaatse. Koppel het aan een bezoek dat toch al gepland is — een gemiste uitlezing verzwakt de draagtijd van die patiënt over de hele periode.</a:t>
            </a:r>
          </a:p>
        </p:txBody>
      </p:sp>
      <p:sp>
        <p:nvSpPr>
          <p:cNvPr id="30" name="TextBox 29"/>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leest uit en begeleidt · arts beoordeelt laesies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27</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3" name="TextBox 32"/>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   |   29 · Dahmen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er drie keer extra bij komt</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Bovenop de driemaandelijkse opvolging</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Herhaal de drukmeting in de drie condities en toets opnieuw per doelregio.</a:t>
            </a:r>
          </a:p>
        </p:txBody>
      </p:sp>
      <p:sp>
        <p:nvSpPr>
          <p:cNvPr id="10" name="Oval 9"/>
          <p:cNvSpPr/>
          <p:nvPr/>
        </p:nvSpPr>
        <p:spPr>
          <a:xfrm>
            <a:off x="634984" y="239566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39566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382968"/>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Ligt de piekdruk boven 200 kPa, of is er nog winst haalbaar, pas dan opnieuw aan volgens dezelfde procedure.</a:t>
            </a:r>
          </a:p>
        </p:txBody>
      </p:sp>
      <p:sp>
        <p:nvSpPr>
          <p:cNvPr id="13" name="Oval 12"/>
          <p:cNvSpPr/>
          <p:nvPr/>
        </p:nvSpPr>
        <p:spPr>
          <a:xfrm>
            <a:off x="634984" y="295801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295801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2945310"/>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Op maand 18 ook de tevredenheidsschaal opnieuw afnemen, zodat de verandering tegenover baseline gemeten kan worden.</a:t>
            </a:r>
          </a:p>
        </p:txBody>
      </p:sp>
      <p:sp>
        <p:nvSpPr>
          <p:cNvPr id="16" name="TextBox 15"/>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17" name="TextBox 16"/>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24   24b   12</a:t>
            </a:r>
          </a:p>
        </p:txBody>
      </p:sp>
      <p:sp>
        <p:nvSpPr>
          <p:cNvPr id="18" name="Rounded Rectangle 17"/>
          <p:cNvSpPr/>
          <p:nvPr/>
        </p:nvSpPr>
        <p:spPr>
          <a:xfrm>
            <a:off x="7746806" y="3301917"/>
            <a:ext cx="3809904" cy="1737519"/>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20" name="TextBox 19"/>
          <p:cNvSpPr txBox="1"/>
          <p:nvPr/>
        </p:nvSpPr>
        <p:spPr>
          <a:xfrm>
            <a:off x="7988100" y="3682907"/>
            <a:ext cx="3301917" cy="1254931"/>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Drie extra meetmomenten, niet twee. Maand 18 telt mee: het recidief wordt over de volle achttien maanden geteld.</a:t>
            </a:r>
          </a:p>
        </p:txBody>
      </p:sp>
      <p:sp>
        <p:nvSpPr>
          <p:cNvPr id="21" name="TextBox 20"/>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meet · pedorthist past aan</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27</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4" name="TextBox 23"/>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27</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879553"/>
          </a:xfrm>
          <a:prstGeom prst="rect">
            <a:avLst/>
          </a:prstGeom>
          <a:noFill/>
        </p:spPr>
        <p:txBody>
          <a:bodyPr wrap="square" anchor="t" lIns="0" rIns="0" tIns="0" bIns="0">
            <a:spAutoFit/>
          </a:bodyPr>
          <a:lstStyle/>
          <a:p>
            <a:pPr algn="l">
              <a:lnSpc>
                <a:spcPct val="130000"/>
              </a:lnSpc>
            </a:pPr>
            <a:r>
              <a:rPr sz="1150" b="0">
                <a:solidFill>
                  <a:srgbClr val="8FB6D0"/>
                </a:solidFill>
                <a:latin typeface="Segoe UI"/>
              </a:rPr>
              <a:t>Blootsvoets met tape, en in de schoen met en zonder zool</a:t>
            </a:r>
          </a:p>
          <a:p>
            <a:pPr algn="l">
              <a:lnSpc>
                <a:spcPct val="130000"/>
              </a:lnSpc>
              <a:spcBef>
                <a:spcPts val="1000"/>
              </a:spcBef>
            </a:pPr>
            <a:r>
              <a:rPr sz="1150" b="0">
                <a:solidFill>
                  <a:srgbClr val="8FB6D0"/>
                </a:solidFill>
                <a:latin typeface="Segoe UI"/>
              </a:rPr>
              <a:t>Trublu-kalibratie minstens elke drie maanden</a:t>
            </a:r>
          </a:p>
          <a:p>
            <a:pPr algn="l">
              <a:lnSpc>
                <a:spcPct val="130000"/>
              </a:lnSpc>
              <a:spcBef>
                <a:spcPts val="1000"/>
              </a:spcBef>
            </a:pPr>
            <a:r>
              <a:rPr sz="11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387813" y="2629374"/>
            <a:ext cx="1600159" cy="595804"/>
          </a:xfrm>
          <a:prstGeom prst="rect">
            <a:avLst/>
          </a:prstGeom>
        </p:spPr>
      </p:pic>
      <p:sp>
        <p:nvSpPr>
          <p:cNvPr id="15" name="TextBox 14"/>
          <p:cNvSpPr txBox="1"/>
          <p:nvPr/>
        </p:nvSpPr>
        <p:spPr>
          <a:xfrm>
            <a:off x="8241966" y="2133546"/>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254666" y="2501837"/>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241966" y="2705032"/>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241966" y="3047923"/>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241966" y="3632109"/>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172715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387813" y="4567176"/>
            <a:ext cx="1600159" cy="885697"/>
          </a:xfrm>
          <a:prstGeom prst="rect">
            <a:avLst/>
          </a:prstGeom>
        </p:spPr>
      </p:pic>
      <p:sp>
        <p:nvSpPr>
          <p:cNvPr id="23" name="TextBox 22"/>
          <p:cNvSpPr txBox="1"/>
          <p:nvPr/>
        </p:nvSpPr>
        <p:spPr>
          <a:xfrm>
            <a:off x="8241966" y="4216294"/>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254666" y="4584585"/>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241966" y="4787780"/>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241966" y="5130671"/>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241966" y="5714857"/>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27</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
        <p:nvSpPr>
          <p:cNvPr id="30" name="TextBox 2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 anders kunnen we de groepen niet vergelijken. Maar die getallen blijven dicht.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27</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2" name="TextBox 1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MELDT, EN HOE SNEL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Voorvallen en afwijkingen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Nieuw ulcus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Ulcus-vervolgformulier plus PEDIS- en WIfI-classificatie. Dit is de primaire uitkomst — meld het altijd.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47 · 36 · 38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Ongewenst voorval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AE-SAE-formulier. Ernstige voorvallen binnen 24 uur na kennisname.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46</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Protocolafwijking</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Melden zoals ze gebeurd is. Wordt geregistreerd, niet afgestraft.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Toestel defect</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Vervangingsformulier, met het oude en het nieuwe toestelnummer.</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33</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Een afwijking die u meldt is een gegeven. Een afwijking die u niet meldt is een fout in de data van de hele studie.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27</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25 · IWGDF 2023, definities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27</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 name="TextBox 3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8 · IWGDF 2023, preventie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27</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GAAT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Vooruitlopend</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Patiënt wil de sensor niet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niet geschikt. Draagtijd ís een hoofduitkomst.</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Zool haalt de norm niet</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Twee extra tests, dan noteert u wat wél bereikt is.</a:t>
            </a:r>
          </a:p>
        </p:txBody>
      </p:sp>
      <p:sp>
        <p:nvSpPr>
          <p:cNvPr id="13" name="Rectangle 12"/>
          <p:cNvSpPr/>
          <p:nvPr/>
        </p:nvSpPr>
        <p:spPr>
          <a:xfrm>
            <a:off x="634984"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Mag ik nog adviseren?</a:t>
            </a:r>
          </a:p>
        </p:txBody>
      </p:sp>
      <p:sp>
        <p:nvSpPr>
          <p:cNvPr id="15" name="TextBox 14"/>
          <p:cNvSpPr txBox="1"/>
          <p:nvPr/>
        </p:nvSpPr>
        <p:spPr>
          <a:xfrm>
            <a:off x="634984"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3936901"/>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Alles wat u vandaag doet, blijft u doen.</a:t>
            </a:r>
          </a:p>
        </p:txBody>
      </p:sp>
      <p:sp>
        <p:nvSpPr>
          <p:cNvPr id="17" name="Rectangle 16"/>
          <p:cNvSpPr/>
          <p:nvPr/>
        </p:nvSpPr>
        <p:spPr>
          <a:xfrm>
            <a:off x="6171918"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En de ingevulde formulieren?</a:t>
            </a:r>
          </a:p>
        </p:txBody>
      </p:sp>
      <p:sp>
        <p:nvSpPr>
          <p:cNvPr id="19" name="TextBox 18"/>
          <p:cNvSpPr txBox="1"/>
          <p:nvPr/>
        </p:nvSpPr>
        <p:spPr>
          <a:xfrm>
            <a:off x="6171918"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3936901"/>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Daar volgt bericht over. Invoeren doet het onderzoeksteam.</a:t>
            </a:r>
          </a:p>
        </p:txBody>
      </p:sp>
      <p:sp>
        <p:nvSpPr>
          <p:cNvPr id="21" name="Rectangle 20"/>
          <p:cNvSpPr/>
          <p:nvPr/>
        </p:nvSpPr>
        <p:spPr>
          <a:xfrm>
            <a:off x="634984"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Onze data?</a:t>
            </a:r>
          </a:p>
        </p:txBody>
      </p:sp>
      <p:sp>
        <p:nvSpPr>
          <p:cNvPr id="23" name="TextBox 22"/>
          <p:cNvSpPr txBox="1"/>
          <p:nvPr/>
        </p:nvSpPr>
        <p:spPr>
          <a:xfrm>
            <a:off x="634984"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4" name="TextBox 23"/>
          <p:cNvSpPr txBox="1"/>
          <p:nvPr/>
        </p:nvSpPr>
        <p:spPr>
          <a:xfrm>
            <a:off x="888977" y="5371965"/>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Gepseudonimiseerd, tien jaar, binnen de toestemming.</a:t>
            </a:r>
          </a:p>
        </p:txBody>
      </p:sp>
      <p:sp>
        <p:nvSpPr>
          <p:cNvPr id="25" name="Rectangle 24"/>
          <p:cNvSpPr/>
          <p:nvPr/>
        </p:nvSpPr>
        <p:spPr>
          <a:xfrm>
            <a:off x="6171918"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1918"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Zien wij resultaten?</a:t>
            </a:r>
          </a:p>
        </p:txBody>
      </p:sp>
      <p:sp>
        <p:nvSpPr>
          <p:cNvPr id="27" name="TextBox 26"/>
          <p:cNvSpPr txBox="1"/>
          <p:nvPr/>
        </p:nvSpPr>
        <p:spPr>
          <a:xfrm>
            <a:off x="6171918"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8" name="TextBox 27"/>
          <p:cNvSpPr txBox="1"/>
          <p:nvPr/>
        </p:nvSpPr>
        <p:spPr>
          <a:xfrm>
            <a:off x="6425912" y="5371965"/>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Eén publicatie, ongeacht de uitkomst.</a:t>
            </a:r>
          </a:p>
        </p:txBody>
      </p:sp>
      <p:sp>
        <p:nvSpPr>
          <p:cNvPr id="29" name="TextBox 2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27</a:t>
            </a:r>
          </a:p>
        </p:txBody>
      </p:sp>
      <p:pic>
        <p:nvPicPr>
          <p:cNvPr id="3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52BDEC"/>
              </a:gs>
              <a:gs pos="100000">
                <a:srgbClr val="1D8DB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Vanaf de eerste patiënt</a:t>
            </a:r>
          </a:p>
          <a:p>
            <a:pPr algn="l">
              <a:lnSpc>
                <a:spcPct val="106000"/>
              </a:lnSpc>
              <a:spcBef>
                <a:spcPts val="500"/>
              </a:spcBef>
            </a:pPr>
            <a:r>
              <a:rPr sz="7200" b="1">
                <a:solidFill>
                  <a:srgbClr val="04182A"/>
                </a:solidFill>
                <a:latin typeface="Segoe UI"/>
              </a:rPr>
              <a:t>doet u dit zelf.</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Wij leiden op, wij voeren in. De handelingen zijn van u.</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27</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DE CIJFERS VANDAAN KOMEN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Referenties</a:t>
            </a:r>
          </a:p>
        </p:txBody>
      </p:sp>
      <p:sp>
        <p:nvSpPr>
          <p:cNvPr id="5" name="TextBox 4"/>
          <p:cNvSpPr txBox="1"/>
          <p:nvPr/>
        </p:nvSpPr>
        <p:spPr>
          <a:xfrm>
            <a:off x="634984"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a:t>
            </a:r>
          </a:p>
        </p:txBody>
      </p:sp>
      <p:sp>
        <p:nvSpPr>
          <p:cNvPr id="6" name="TextBox 5"/>
          <p:cNvSpPr txBox="1"/>
          <p:nvPr/>
        </p:nvSpPr>
        <p:spPr>
          <a:xfrm>
            <a:off x="965175"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Armstrong DG et al. N Engl J Med. 2017;376(24):2367–75.</a:t>
            </a:r>
          </a:p>
        </p:txBody>
      </p:sp>
      <p:sp>
        <p:nvSpPr>
          <p:cNvPr id="7" name="TextBox 6"/>
          <p:cNvSpPr txBox="1"/>
          <p:nvPr/>
        </p:nvSpPr>
        <p:spPr>
          <a:xfrm>
            <a:off x="634984"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5</a:t>
            </a:r>
          </a:p>
        </p:txBody>
      </p:sp>
      <p:sp>
        <p:nvSpPr>
          <p:cNvPr id="8" name="TextBox 7"/>
          <p:cNvSpPr txBox="1"/>
          <p:nvPr/>
        </p:nvSpPr>
        <p:spPr>
          <a:xfrm>
            <a:off x="965175"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2016;32(Suppl 1):195–200.</a:t>
            </a:r>
          </a:p>
        </p:txBody>
      </p:sp>
      <p:sp>
        <p:nvSpPr>
          <p:cNvPr id="9" name="TextBox 8"/>
          <p:cNvSpPr txBox="1"/>
          <p:nvPr/>
        </p:nvSpPr>
        <p:spPr>
          <a:xfrm>
            <a:off x="634984"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6</a:t>
            </a:r>
          </a:p>
        </p:txBody>
      </p:sp>
      <p:sp>
        <p:nvSpPr>
          <p:cNvPr id="10" name="TextBox 9"/>
          <p:cNvSpPr txBox="1"/>
          <p:nvPr/>
        </p:nvSpPr>
        <p:spPr>
          <a:xfrm>
            <a:off x="965175"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2011;34(7):1595–600.</a:t>
            </a:r>
          </a:p>
        </p:txBody>
      </p:sp>
      <p:sp>
        <p:nvSpPr>
          <p:cNvPr id="11" name="TextBox 10"/>
          <p:cNvSpPr txBox="1"/>
          <p:nvPr/>
        </p:nvSpPr>
        <p:spPr>
          <a:xfrm>
            <a:off x="634984"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7</a:t>
            </a:r>
          </a:p>
        </p:txBody>
      </p:sp>
      <p:sp>
        <p:nvSpPr>
          <p:cNvPr id="12" name="TextBox 11"/>
          <p:cNvSpPr txBox="1"/>
          <p:nvPr/>
        </p:nvSpPr>
        <p:spPr>
          <a:xfrm>
            <a:off x="965175"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2020;36(S1):e3237.</a:t>
            </a:r>
          </a:p>
        </p:txBody>
      </p:sp>
      <p:sp>
        <p:nvSpPr>
          <p:cNvPr id="13" name="TextBox 12"/>
          <p:cNvSpPr txBox="1"/>
          <p:nvPr/>
        </p:nvSpPr>
        <p:spPr>
          <a:xfrm>
            <a:off x="634984"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8</a:t>
            </a:r>
          </a:p>
        </p:txBody>
      </p:sp>
      <p:sp>
        <p:nvSpPr>
          <p:cNvPr id="14" name="TextBox 13"/>
          <p:cNvSpPr txBox="1"/>
          <p:nvPr/>
        </p:nvSpPr>
        <p:spPr>
          <a:xfrm>
            <a:off x="965175"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2024;40(3):e3651.</a:t>
            </a:r>
          </a:p>
        </p:txBody>
      </p:sp>
      <p:sp>
        <p:nvSpPr>
          <p:cNvPr id="15" name="TextBox 14"/>
          <p:cNvSpPr txBox="1"/>
          <p:nvPr/>
        </p:nvSpPr>
        <p:spPr>
          <a:xfrm>
            <a:off x="634984" y="352573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9</a:t>
            </a:r>
          </a:p>
        </p:txBody>
      </p:sp>
      <p:sp>
        <p:nvSpPr>
          <p:cNvPr id="16" name="TextBox 15"/>
          <p:cNvSpPr txBox="1"/>
          <p:nvPr/>
        </p:nvSpPr>
        <p:spPr>
          <a:xfrm>
            <a:off x="965175" y="352573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2013;36(12):4109–16.</a:t>
            </a:r>
          </a:p>
        </p:txBody>
      </p:sp>
      <p:sp>
        <p:nvSpPr>
          <p:cNvPr id="17" name="TextBox 16"/>
          <p:cNvSpPr txBox="1"/>
          <p:nvPr/>
        </p:nvSpPr>
        <p:spPr>
          <a:xfrm>
            <a:off x="634984" y="38600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14</a:t>
            </a:r>
          </a:p>
        </p:txBody>
      </p:sp>
      <p:sp>
        <p:nvSpPr>
          <p:cNvPr id="18" name="TextBox 17"/>
          <p:cNvSpPr txBox="1"/>
          <p:nvPr/>
        </p:nvSpPr>
        <p:spPr>
          <a:xfrm>
            <a:off x="965175" y="38600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van Netten JJ et al. Clin Biomech. 2018;53:86–92.</a:t>
            </a:r>
          </a:p>
        </p:txBody>
      </p:sp>
      <p:sp>
        <p:nvSpPr>
          <p:cNvPr id="19" name="TextBox 18"/>
          <p:cNvSpPr txBox="1"/>
          <p:nvPr/>
        </p:nvSpPr>
        <p:spPr>
          <a:xfrm>
            <a:off x="634984" y="4194369"/>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16</a:t>
            </a:r>
          </a:p>
        </p:txBody>
      </p:sp>
      <p:sp>
        <p:nvSpPr>
          <p:cNvPr id="20" name="TextBox 19"/>
          <p:cNvSpPr txBox="1"/>
          <p:nvPr/>
        </p:nvSpPr>
        <p:spPr>
          <a:xfrm>
            <a:off x="965175" y="4194369"/>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Hulshof CM et al. Diabet Med. 2025;42:e70099.</a:t>
            </a:r>
          </a:p>
        </p:txBody>
      </p:sp>
      <p:sp>
        <p:nvSpPr>
          <p:cNvPr id="21" name="TextBox 20"/>
          <p:cNvSpPr txBox="1"/>
          <p:nvPr/>
        </p:nvSpPr>
        <p:spPr>
          <a:xfrm>
            <a:off x="6171918"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17</a:t>
            </a:r>
          </a:p>
        </p:txBody>
      </p:sp>
      <p:sp>
        <p:nvSpPr>
          <p:cNvPr id="22" name="TextBox 21"/>
          <p:cNvSpPr txBox="1"/>
          <p:nvPr/>
        </p:nvSpPr>
        <p:spPr>
          <a:xfrm>
            <a:off x="6502110"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Waaijman R et al. Diabetes Care. 2014;37(6):1697–705.</a:t>
            </a:r>
          </a:p>
        </p:txBody>
      </p:sp>
      <p:sp>
        <p:nvSpPr>
          <p:cNvPr id="23" name="TextBox 22"/>
          <p:cNvSpPr txBox="1"/>
          <p:nvPr/>
        </p:nvSpPr>
        <p:spPr>
          <a:xfrm>
            <a:off x="6171918"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18</a:t>
            </a:r>
          </a:p>
        </p:txBody>
      </p:sp>
      <p:sp>
        <p:nvSpPr>
          <p:cNvPr id="24" name="TextBox 23"/>
          <p:cNvSpPr txBox="1"/>
          <p:nvPr/>
        </p:nvSpPr>
        <p:spPr>
          <a:xfrm>
            <a:off x="6502110"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Lutjeboer T et al. J Rehabil Med. 2018;50(10):920–6.</a:t>
            </a:r>
          </a:p>
        </p:txBody>
      </p:sp>
      <p:sp>
        <p:nvSpPr>
          <p:cNvPr id="25" name="TextBox 24"/>
          <p:cNvSpPr txBox="1"/>
          <p:nvPr/>
        </p:nvSpPr>
        <p:spPr>
          <a:xfrm>
            <a:off x="6171918"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20</a:t>
            </a:r>
          </a:p>
        </p:txBody>
      </p:sp>
      <p:sp>
        <p:nvSpPr>
          <p:cNvPr id="26" name="TextBox 25"/>
          <p:cNvSpPr txBox="1"/>
          <p:nvPr/>
        </p:nvSpPr>
        <p:spPr>
          <a:xfrm>
            <a:off x="6502110"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Morbach S et al. Diabetes Metab Res Rev. 2016;32(Suppl 1):318–25.</a:t>
            </a:r>
          </a:p>
        </p:txBody>
      </p:sp>
      <p:sp>
        <p:nvSpPr>
          <p:cNvPr id="27" name="TextBox 26"/>
          <p:cNvSpPr txBox="1"/>
          <p:nvPr/>
        </p:nvSpPr>
        <p:spPr>
          <a:xfrm>
            <a:off x="6171918"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25</a:t>
            </a:r>
          </a:p>
        </p:txBody>
      </p:sp>
      <p:sp>
        <p:nvSpPr>
          <p:cNvPr id="28" name="TextBox 27"/>
          <p:cNvSpPr txBox="1"/>
          <p:nvPr/>
        </p:nvSpPr>
        <p:spPr>
          <a:xfrm>
            <a:off x="6502110"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van Netten JJ et al. Diabetes Metab Res Rev. 2024;40(3):e3654.</a:t>
            </a:r>
          </a:p>
        </p:txBody>
      </p:sp>
      <p:sp>
        <p:nvSpPr>
          <p:cNvPr id="29" name="TextBox 28"/>
          <p:cNvSpPr txBox="1"/>
          <p:nvPr/>
        </p:nvSpPr>
        <p:spPr>
          <a:xfrm>
            <a:off x="6171918"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26</a:t>
            </a:r>
          </a:p>
        </p:txBody>
      </p:sp>
      <p:sp>
        <p:nvSpPr>
          <p:cNvPr id="30" name="TextBox 29"/>
          <p:cNvSpPr txBox="1"/>
          <p:nvPr/>
        </p:nvSpPr>
        <p:spPr>
          <a:xfrm>
            <a:off x="6502110"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Lincoln NB et al. Pract Diabetes Int. 2007;24(4):207–11.</a:t>
            </a:r>
          </a:p>
        </p:txBody>
      </p:sp>
      <p:sp>
        <p:nvSpPr>
          <p:cNvPr id="31" name="TextBox 30"/>
          <p:cNvSpPr txBox="1"/>
          <p:nvPr/>
        </p:nvSpPr>
        <p:spPr>
          <a:xfrm>
            <a:off x="6171918" y="352573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27</a:t>
            </a:r>
          </a:p>
        </p:txBody>
      </p:sp>
      <p:sp>
        <p:nvSpPr>
          <p:cNvPr id="32" name="TextBox 31"/>
          <p:cNvSpPr txBox="1"/>
          <p:nvPr/>
        </p:nvSpPr>
        <p:spPr>
          <a:xfrm>
            <a:off x="6502110" y="352573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Zwaferink JBJ et al. Sensors. 2024;24(6):1795.</a:t>
            </a:r>
          </a:p>
        </p:txBody>
      </p:sp>
      <p:sp>
        <p:nvSpPr>
          <p:cNvPr id="33" name="TextBox 32"/>
          <p:cNvSpPr txBox="1"/>
          <p:nvPr/>
        </p:nvSpPr>
        <p:spPr>
          <a:xfrm>
            <a:off x="6171918" y="38600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29</a:t>
            </a:r>
          </a:p>
        </p:txBody>
      </p:sp>
      <p:sp>
        <p:nvSpPr>
          <p:cNvPr id="34" name="TextBox 33"/>
          <p:cNvSpPr txBox="1"/>
          <p:nvPr/>
        </p:nvSpPr>
        <p:spPr>
          <a:xfrm>
            <a:off x="6502110" y="38600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Dahmen R et al. J Rehabil Med. 2018;50(6):569–74.</a:t>
            </a:r>
          </a:p>
        </p:txBody>
      </p:sp>
      <p:sp>
        <p:nvSpPr>
          <p:cNvPr id="35" name="TextBox 34"/>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De nummering volgt die van het protocolmanuscript.</a:t>
            </a:r>
          </a:p>
        </p:txBody>
      </p:sp>
      <p:sp>
        <p:nvSpPr>
          <p:cNvPr id="36" name="TextBox 3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27</a:t>
            </a:r>
          </a:p>
        </p:txBody>
      </p:sp>
      <p:pic>
        <p:nvPicPr>
          <p:cNvPr id="3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p:transition xmlns:p14="http://schemas.microsoft.com/office/powerpoint/2010/main" spd="slow" p14:dur="9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