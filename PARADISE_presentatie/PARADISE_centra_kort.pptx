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lat voor vandaag. Zes handelingen, en na deze sessie doet uw team ze zelf. Twijfelt u bij een van de zes, zeg dat dan gerust: begeleiding en vragen blijven mogelijk tijdens het hele project.</a:t>
            </a:r>
          </a:p>
          <a:p/>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majeure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 die cijfers vandaan komen, ziet u hier. Elk punt is een cohort; de lijn erdoorheen is de trend. Na één jaar veertig procent, na vijf jaar vijfenzestig. Het risico verdwijnt niet, het stapelt op.</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in de schoen: driehonderdtwaalf kilopascal onder metatarsaal twee-drie. Drie loopproeven per voet, waarvan de middelste twaalf passen tellen. Hiertegen wordt alles afgezet.</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drie: het traject. Negen contactmomenten. Per moment: wat u doet en wat u invult.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visite nul. De volgorde ligt vast: screenen, tekenen, geschiktheid bevestigen, en pas dan loten. Vul geen enkel ander formulier in vóór de handtekening. Ook een afwijzing noteert u, want ook dat is studiedata.</a:t>
            </a:r>
          </a:p>
          <a:p/>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één, het langste bezoek van de studie. Meten, voorschrijven, vragenlijsten en het eerste educatiegesprek. Twee dingen liggen vast: het voorschrift gebeurt hier en niet later, en NAFF en HLS gaan vóór de educatie.</a:t>
            </a:r>
          </a:p>
          <a:p/>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 twee, veertien dagen tot één maand later. Technisch het zwaarste bezoek: afleveren, pasvorm in binnen- én buitenschoeisel, meten, aanpassen tot de norm gehaald is. Pas dán gaat de Orthotimer in de zool, en pas dan bestelt u het tweede paar.</a:t>
            </a:r>
          </a:p>
          <a:p/>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Visites drie tot acht, elke drie maanden. Screenen, uitlezen, bespreken, en beide paren zolen beoordelen. Uitlezen kan alleen ter plaatse: een gemiste uitlezing verzwakt de draagtijd van die patiënt over de hele periode.</a:t>
            </a:r>
          </a:p>
          <a:p/>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Op maand zes, twaalf en achttien komt er een drukmeting bij. Drie keer. Dezelfde meting in de schoen, dezelfde toetsing per doelregio. Ligt de piekdruk er weer boven, dan past u opnieuw aan.</a:t>
            </a:r>
          </a:p>
          <a:p/>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Tien contactmomenten, één zorgpad. Het verschil met vandaag zit niet in hoe vaak u de patiënt ziet, maar in wat u bij elk bezoek wéét: wat de zool doet, en wat er gedragen is.</a:t>
            </a:r>
          </a:p>
          <a:p/>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de enige regel die u écht moet onthouden. De controlegroep krijgt ook een meting en een sensor, maar die getallen blijven dicht. Bespreekt u ze, dan lévert u de interventie. Klinische bevindingen zijn géén meetwaarden: een laesie meldt en behandelt u meteen, in beide groepen.</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Wat u meldt, en hoe snel. Een nieuw ulcus is de primaire uitkomst, dus dat meldt u altijd. Ernstige voorvallen binnen vierentwintig uur na kennisname. En onthoud dit: een afwijking die u meldt is een gegeven, een afwijking die u niet meldt is een fout in de data van de hele studie.</a:t>
            </a:r>
          </a:p>
          <a:p/>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Vier rollen. De podoloog meet, leest uit en begeleidt. De pedorthist maakt en past aan. De arts bevestigt geschiktheid en beoordeelt laesies. Het management houdt tijd vrij en bewaakt de vierentwintig.</a:t>
            </a:r>
          </a:p>
          <a:p/>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dit krijgt u van ons. Training in motiverende gespreksvoering, SOP's per handeling, één contactpunt, en het onderzoeksteam voert de gegevens in. Nul sancties: wijkt u af, dan meldt u het, en dat wordt geregistreerd, niet afgestraft.</a:t>
            </a:r>
          </a:p>
          <a:p/>
          <a:p>
            <a:r>
              <a:t>PRESENTATIETIP</a:t>
            </a:r>
          </a:p>
          <a:p>
            <a:r>
              <a:t>Het cijfer rechts ontspant de zaal. Zeg het expliciet en wacht even. Vraagt iemand hoe de ingevulde formulieren bij ons raken: zeg dat daar bericht over volgt. Beloof geen werkwijze, want die ligt nog niet vast.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Dit is een vangnet, geen programma. Toon hem alleen als de vragen opdrogen, en beantwoord dan alleen wat nog niet aan bod kwam.</a:t>
            </a:r>
          </a:p>
          <a:p/>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Rustig zeggen; het is geen dreigement maar een vaststelling. Wij leiden op en wij voeren in. De handelingen zijn van u, vanaf de eerste patiënt.</a:t>
            </a:r>
          </a:p>
          <a:p/>
          <a:p>
            <a:r>
              <a:t>PRESENTATIETIP</a:t>
            </a:r>
          </a:p>
          <a:p>
            <a:r>
              <a:t>Dit is de overgang naar de bekwaamheidscheck. Zeg het rustig; het is geen dreigement maar een vaststelling.</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Opfrissing voor de centra</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doet uw team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Vastleggen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formulieren volledig invullen,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Begeleiding en vragen tijdens het project blijven mogelijk.</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28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het eindpunt behaald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28</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28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RISICO NA GENEZING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derde recidiveert binnen vijf jaar</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1 JAAR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5 JAAR</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Incidentie van recidief tegenover follow-upduur</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Gepoolde data uit negen prospectieve studies, één retrospectieve studie en de controlegroepen van negen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28</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 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28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de eigen waaktijd</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steunen.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28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pedar®-sensorinsole in de schoen geplaatst, drie loopproeven uitgevoerd.</a:t>
            </a:r>
          </a:p>
          <a:p>
            <a:pPr algn="l">
              <a:lnSpc>
                <a:spcPct val="135000"/>
              </a:lnSpc>
              <a:spcBef>
                <a:spcPts val="1200"/>
              </a:spcBef>
            </a:pPr>
            <a:r>
              <a:rPr sz="1700" b="0">
                <a:solidFill>
                  <a:srgbClr val="8FB6D0"/>
                </a:solidFill>
                <a:latin typeface="Segoe UI"/>
              </a:rPr>
              <a:t>De middelste twaalf passen per voet geanalyseerd; daaruit berekent de software de gemiddelde piekdruk per voet.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28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28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28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28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Geschiktheid, toestemming, loting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Screening vóór de toestemming: beoordeel de in- en exclusiecriteria en noteer de patiënt op de identificatielijst.</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Is de patiënt geschikt, overloop dan de informatie- en toestemmingsformulieren en laat tekenen.</a:t>
            </a:r>
          </a:p>
        </p:txBody>
      </p:sp>
      <p:sp>
        <p:nvSpPr>
          <p:cNvPr id="13" name="Oval 12"/>
          <p:cNvSpPr/>
          <p:nvPr/>
        </p:nvSpPr>
        <p:spPr>
          <a:xfrm>
            <a:off x="634984" y="31693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693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3156633"/>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Visite 0: bevestig de geschiktheid met het baselineformulier.</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 PI opent de volgende verzegelde envelop en deelt de patiënt in. Pas dan is bekend in welke arm hij zit.</a:t>
            </a:r>
          </a:p>
        </p:txBody>
      </p:sp>
      <p:sp>
        <p:nvSpPr>
          <p:cNvPr id="19" name="Oval 18"/>
          <p:cNvSpPr/>
          <p:nvPr/>
        </p:nvSpPr>
        <p:spPr>
          <a:xfrm>
            <a:off x="634984" y="408269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08269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4069994"/>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geschikt? Noteer de reden. Ook dat is studiedata.</a:t>
            </a:r>
          </a:p>
        </p:txBody>
      </p:sp>
      <p:sp>
        <p:nvSpPr>
          <p:cNvPr id="22" name="TextBox 21"/>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3" name="TextBox 22"/>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00   01   02   06</a:t>
            </a:r>
          </a:p>
        </p:txBody>
      </p:sp>
      <p:sp>
        <p:nvSpPr>
          <p:cNvPr id="24" name="Rounded Rectangle 23"/>
          <p:cNvSpPr/>
          <p:nvPr/>
        </p:nvSpPr>
        <p:spPr>
          <a:xfrm>
            <a:off x="7746806" y="3301917"/>
            <a:ext cx="3809904" cy="2019503"/>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6" name="TextBox 25"/>
          <p:cNvSpPr txBox="1"/>
          <p:nvPr/>
        </p:nvSpPr>
        <p:spPr>
          <a:xfrm>
            <a:off x="7988100" y="3682907"/>
            <a:ext cx="3301917" cy="1536915"/>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volgorde ligt vast: screenen, tekenen, geschiktheid bevestigen, dan pas loten. Vul geen enkel ander formulier in voordat de patiënt getekend heeft.</a:t>
            </a:r>
          </a:p>
        </p:txBody>
      </p:sp>
      <p:sp>
        <p:nvSpPr>
          <p:cNvPr id="27" name="TextBox 2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PI loot · podoloog vult in</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28</a:t>
            </a:r>
          </a:p>
        </p:txBody>
      </p:sp>
      <p:pic>
        <p:nvPicPr>
          <p:cNvPr id="2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 — meten en voorschrijven</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Demografie en voorgeschiedenis, inclusief nierfunctie, eGFR, hartaandoening en diabetesmedicatie.</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en klasseer een voorgaand ulcus.</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Drukmeting: drie metingen per voet.</a:t>
            </a:r>
          </a:p>
        </p:txBody>
      </p:sp>
      <p:sp>
        <p:nvSpPr>
          <p:cNvPr id="16" name="Oval 15"/>
          <p:cNvSpPr/>
          <p:nvPr/>
        </p:nvSpPr>
        <p:spPr>
          <a:xfrm>
            <a:off x="634984" y="3309029"/>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309029"/>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29632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Bepaal de drie doelregio's en schrijf de zool voor, mét die regio's op het voorschrift.</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Vragenlijsten vóór het educatiegesprek: NAFF en HLS-EU-6. Daarna tevredenheid, schoeiselgebruik en EQ-5D-5L.</a:t>
            </a:r>
          </a:p>
        </p:txBody>
      </p:sp>
      <p:sp>
        <p:nvSpPr>
          <p:cNvPr id="22" name="Oval 21"/>
          <p:cNvSpPr/>
          <p:nvPr/>
        </p:nvSpPr>
        <p:spPr>
          <a:xfrm>
            <a:off x="634984" y="4433713"/>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433713"/>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421013"/>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1: educatie op maat, voordoen, en de patiënt het zelf laten uitvoeren. Leg dat vast in het logboek.</a:t>
            </a:r>
          </a:p>
        </p:txBody>
      </p:sp>
      <p:sp>
        <p:nvSpPr>
          <p:cNvPr id="25" name="Oval 24"/>
          <p:cNvSpPr/>
          <p:nvPr/>
        </p:nvSpPr>
        <p:spPr>
          <a:xfrm>
            <a:off x="634984" y="4996055"/>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996055"/>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983355"/>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Geef de MoveMonitor mee voor zeven dagen en registreer het toestelnummer.</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07   08   09   10   12   13   14   15   16   18   19   20   21   48</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arts schrijft voor · het onderzoeksteam verwerkt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28</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 name="TextBox 3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26 · Lincoln 2007, NAFF</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Lever de zool af. Controleer de pasvorm in het bínnenschoeisel én het búitenschoeisel, en neem foto's.</a:t>
            </a:r>
          </a:p>
        </p:txBody>
      </p:sp>
      <p:sp>
        <p:nvSpPr>
          <p:cNvPr id="10" name="Oval 9"/>
          <p:cNvSpPr/>
          <p:nvPr/>
        </p:nvSpPr>
        <p:spPr>
          <a:xfrm>
            <a:off x="634984" y="26069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6069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59429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Meet de drukherverdeling en toets de norm per doelregio.</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Niet gehaald? Pas aan en meet opnieuw. Is ze gehaald, laat dan een tweede, identiek paar maken.</a:t>
            </a:r>
          </a:p>
        </p:txBody>
      </p:sp>
      <p:sp>
        <p:nvSpPr>
          <p:cNvPr id="16" name="Oval 15"/>
          <p:cNvSpPr/>
          <p:nvPr/>
        </p:nvSpPr>
        <p:spPr>
          <a:xfrm>
            <a:off x="634984" y="352035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52035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50765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Plaats en activeer de Orthotimer in de zool en registreer het toestelnummer.</a:t>
            </a:r>
          </a:p>
        </p:txBody>
      </p:sp>
      <p:sp>
        <p:nvSpPr>
          <p:cNvPr id="19" name="Oval 18"/>
          <p:cNvSpPr/>
          <p:nvPr/>
        </p:nvSpPr>
        <p:spPr>
          <a:xfrm>
            <a:off x="634984" y="3871371"/>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871371"/>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858671"/>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MoveMonitor terug en registreer de teruggave.</a:t>
            </a:r>
          </a:p>
        </p:txBody>
      </p:sp>
      <p:sp>
        <p:nvSpPr>
          <p:cNvPr id="22" name="Oval 21"/>
          <p:cNvSpPr/>
          <p:nvPr/>
        </p:nvSpPr>
        <p:spPr>
          <a:xfrm>
            <a:off x="634984" y="42223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2223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20969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SEBIA stap 2: bespreek het activiteitenprofiel, doe de teach-back en geef de sensorfolder mee.</a:t>
            </a:r>
          </a:p>
        </p:txBody>
      </p:sp>
      <p:sp>
        <p:nvSpPr>
          <p:cNvPr id="25" name="Oval 24"/>
          <p:cNvSpPr/>
          <p:nvPr/>
        </p:nvSpPr>
        <p:spPr>
          <a:xfrm>
            <a:off x="634984" y="4784732"/>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 y="4784732"/>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7" name="TextBox 26"/>
          <p:cNvSpPr txBox="1"/>
          <p:nvPr/>
        </p:nvSpPr>
        <p:spPr>
          <a:xfrm>
            <a:off x="927076" y="4772032"/>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overtuigingen en gewoontes rond schoeisel.</a:t>
            </a:r>
          </a:p>
        </p:txBody>
      </p:sp>
      <p:sp>
        <p:nvSpPr>
          <p:cNvPr id="28" name="TextBox 27"/>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9" name="TextBox 28"/>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23   24   24b   25   26   27   28   29   30</a:t>
            </a:r>
          </a:p>
        </p:txBody>
      </p:sp>
      <p:sp>
        <p:nvSpPr>
          <p:cNvPr id="30" name="Rounded Rectangle 29"/>
          <p:cNvSpPr/>
          <p:nvPr/>
        </p:nvSpPr>
        <p:spPr>
          <a:xfrm>
            <a:off x="7746806" y="3301917"/>
            <a:ext cx="3809904" cy="230148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32" name="TextBox 31"/>
          <p:cNvSpPr txBox="1"/>
          <p:nvPr/>
        </p:nvSpPr>
        <p:spPr>
          <a:xfrm>
            <a:off x="7988100" y="3682907"/>
            <a:ext cx="3301917" cy="1818899"/>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plaatst de sensor en begeleidt</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28</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 name="TextBox 35"/>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Driemaandelijkse opvolging</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Voet- en schoeiselscreening, zoals bij de baseline.</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Bevraag de therapietrouw, lees de Orthotimer uit en bespreek het resultaat.</a:t>
            </a:r>
          </a:p>
        </p:txBody>
      </p:sp>
      <p:sp>
        <p:nvSpPr>
          <p:cNvPr id="13" name="Oval 12"/>
          <p:cNvSpPr/>
          <p:nvPr/>
        </p:nvSpPr>
        <p:spPr>
          <a:xfrm>
            <a:off x="634984" y="2746687"/>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746687"/>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733987"/>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Beoordeel beide paren zolen. Het paar dat onderhoud nodig heeft gaat naar de pedorthist, deklaag inbegrepen.</a:t>
            </a:r>
          </a:p>
        </p:txBody>
      </p:sp>
      <p:sp>
        <p:nvSpPr>
          <p:cNvPr id="16" name="Oval 15"/>
          <p:cNvSpPr/>
          <p:nvPr/>
        </p:nvSpPr>
        <p:spPr>
          <a:xfrm>
            <a:off x="634984" y="3309029"/>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3309029"/>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8" name="TextBox 17"/>
          <p:cNvSpPr txBox="1"/>
          <p:nvPr/>
        </p:nvSpPr>
        <p:spPr>
          <a:xfrm>
            <a:off x="927076" y="329632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Vervang zool of sensor als dat nodig is en leg dat vast.</a:t>
            </a:r>
          </a:p>
        </p:txBody>
      </p:sp>
      <p:sp>
        <p:nvSpPr>
          <p:cNvPr id="19" name="Oval 18"/>
          <p:cNvSpPr/>
          <p:nvPr/>
        </p:nvSpPr>
        <p:spPr>
          <a:xfrm>
            <a:off x="634984" y="36600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36600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1" name="TextBox 20"/>
          <p:cNvSpPr txBox="1"/>
          <p:nvPr/>
        </p:nvSpPr>
        <p:spPr>
          <a:xfrm>
            <a:off x="927076" y="364734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Neem de vragenlijsten af: levenskwaliteit, medische consumptie en productiviteit.</a:t>
            </a:r>
          </a:p>
        </p:txBody>
      </p:sp>
      <p:sp>
        <p:nvSpPr>
          <p:cNvPr id="22" name="Oval 21"/>
          <p:cNvSpPr/>
          <p:nvPr/>
        </p:nvSpPr>
        <p:spPr>
          <a:xfrm>
            <a:off x="634984" y="422239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984" y="422239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4" name="TextBox 23"/>
          <p:cNvSpPr txBox="1"/>
          <p:nvPr/>
        </p:nvSpPr>
        <p:spPr>
          <a:xfrm>
            <a:off x="927076" y="4209690"/>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6 een tweede week MoveMonitor.</a:t>
            </a:r>
          </a:p>
        </p:txBody>
      </p:sp>
      <p:sp>
        <p:nvSpPr>
          <p:cNvPr id="25" name="TextBox 24"/>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26" name="TextBox 25"/>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08   31   25   32   33   21   34   35   45b</a:t>
            </a:r>
          </a:p>
        </p:txBody>
      </p:sp>
      <p:sp>
        <p:nvSpPr>
          <p:cNvPr id="27" name="Rounded Rectangle 26"/>
          <p:cNvSpPr/>
          <p:nvPr/>
        </p:nvSpPr>
        <p:spPr>
          <a:xfrm>
            <a:off x="7746806" y="3301917"/>
            <a:ext cx="3809904" cy="145553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9" name="TextBox 28"/>
          <p:cNvSpPr txBox="1"/>
          <p:nvPr/>
        </p:nvSpPr>
        <p:spPr>
          <a:xfrm>
            <a:off x="7988100" y="3682907"/>
            <a:ext cx="3301917" cy="972948"/>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Uitlezen kan alleen ter plaatse. Koppel het aan een bezoek dat toch al gepland is.</a:t>
            </a:r>
          </a:p>
        </p:txBody>
      </p:sp>
      <p:sp>
        <p:nvSpPr>
          <p:cNvPr id="30" name="TextBox 29"/>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28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   |   29 · Dahmen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er drie keer extra bij komt</a:t>
            </a:r>
          </a:p>
        </p:txBody>
      </p:sp>
      <p:sp>
        <p:nvSpPr>
          <p:cNvPr id="5" name="Rounded Rectangle 4"/>
          <p:cNvSpPr/>
          <p:nvPr/>
        </p:nvSpPr>
        <p:spPr>
          <a:xfrm>
            <a:off x="634984" y="1498562"/>
            <a:ext cx="3555911"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555911"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Bovenop de driemaandelijkse opvolging</a:t>
            </a:r>
          </a:p>
        </p:txBody>
      </p:sp>
      <p:sp>
        <p:nvSpPr>
          <p:cNvPr id="7" name="Oval 6"/>
          <p:cNvSpPr/>
          <p:nvPr/>
        </p:nvSpPr>
        <p:spPr>
          <a:xfrm>
            <a:off x="634984" y="204464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4984" y="204464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9" name="TextBox 8"/>
          <p:cNvSpPr txBox="1"/>
          <p:nvPr/>
        </p:nvSpPr>
        <p:spPr>
          <a:xfrm>
            <a:off x="927076" y="2031949"/>
            <a:ext cx="6476838" cy="274821"/>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Herhaal de drukmeting en toets opnieuw per doelregio.</a:t>
            </a:r>
          </a:p>
        </p:txBody>
      </p:sp>
      <p:sp>
        <p:nvSpPr>
          <p:cNvPr id="10" name="Oval 9"/>
          <p:cNvSpPr/>
          <p:nvPr/>
        </p:nvSpPr>
        <p:spPr>
          <a:xfrm>
            <a:off x="634984" y="2395668"/>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984" y="2395668"/>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2" name="TextBox 11"/>
          <p:cNvSpPr txBox="1"/>
          <p:nvPr/>
        </p:nvSpPr>
        <p:spPr>
          <a:xfrm>
            <a:off x="927076" y="2382968"/>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Ligt de piekdruk boven 200 kPa, of is er nog winst haalbaar, pas dan opnieuw aan volgens dezelfde procedure.</a:t>
            </a:r>
          </a:p>
        </p:txBody>
      </p:sp>
      <p:sp>
        <p:nvSpPr>
          <p:cNvPr id="13" name="Oval 12"/>
          <p:cNvSpPr/>
          <p:nvPr/>
        </p:nvSpPr>
        <p:spPr>
          <a:xfrm>
            <a:off x="634984" y="2958010"/>
            <a:ext cx="190495" cy="190495"/>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2958010"/>
            <a:ext cx="190495" cy="190495"/>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5" name="TextBox 14"/>
          <p:cNvSpPr txBox="1"/>
          <p:nvPr/>
        </p:nvSpPr>
        <p:spPr>
          <a:xfrm>
            <a:off x="927076" y="2945310"/>
            <a:ext cx="6476838" cy="486143"/>
          </a:xfrm>
          <a:prstGeom prst="rect">
            <a:avLst/>
          </a:prstGeom>
          <a:noFill/>
        </p:spPr>
        <p:txBody>
          <a:bodyPr wrap="square" anchor="t" lIns="0" rIns="0" tIns="0" bIns="0">
            <a:spAutoFit/>
          </a:bodyPr>
          <a:lstStyle/>
          <a:p>
            <a:pPr algn="l">
              <a:lnSpc>
                <a:spcPct val="128000"/>
              </a:lnSpc>
            </a:pPr>
            <a:r>
              <a:rPr sz="1300" b="0">
                <a:solidFill>
                  <a:srgbClr val="F2F8FC"/>
                </a:solidFill>
                <a:latin typeface="Segoe UI"/>
              </a:rPr>
              <a:t>Op maand 18 ook de tevredenheidsschaal opnieuw afnemen, zodat de verandering tegenover baseline gemeten kan worden.</a:t>
            </a:r>
          </a:p>
        </p:txBody>
      </p:sp>
      <p:sp>
        <p:nvSpPr>
          <p:cNvPr id="16" name="TextBox 15"/>
          <p:cNvSpPr txBox="1"/>
          <p:nvPr/>
        </p:nvSpPr>
        <p:spPr>
          <a:xfrm>
            <a:off x="7746806" y="2044648"/>
            <a:ext cx="3809904" cy="215894"/>
          </a:xfrm>
          <a:prstGeom prst="rect">
            <a:avLst/>
          </a:prstGeom>
          <a:noFill/>
        </p:spPr>
        <p:txBody>
          <a:bodyPr wrap="square" anchor="t" lIns="0" rIns="0" tIns="0" bIns="0">
            <a:spAutoFit/>
          </a:bodyPr>
          <a:lstStyle/>
          <a:p>
            <a:pPr algn="l">
              <a:lnSpc>
                <a:spcPct val="125000"/>
              </a:lnSpc>
            </a:pPr>
            <a:r>
              <a:rPr sz="1200" b="1" spc="150">
                <a:solidFill>
                  <a:srgbClr val="8FB6D0"/>
                </a:solidFill>
                <a:latin typeface="Consolas"/>
              </a:rPr>
              <a:t>WAT U INVULT</a:t>
            </a:r>
          </a:p>
        </p:txBody>
      </p:sp>
      <p:sp>
        <p:nvSpPr>
          <p:cNvPr id="17" name="TextBox 16"/>
          <p:cNvSpPr txBox="1"/>
          <p:nvPr/>
        </p:nvSpPr>
        <p:spPr>
          <a:xfrm>
            <a:off x="7746806" y="2324041"/>
            <a:ext cx="3809904" cy="761980"/>
          </a:xfrm>
          <a:prstGeom prst="rect">
            <a:avLst/>
          </a:prstGeom>
          <a:noFill/>
        </p:spPr>
        <p:txBody>
          <a:bodyPr wrap="square" anchor="t" lIns="0" rIns="0" tIns="0" bIns="0">
            <a:spAutoFit/>
          </a:bodyPr>
          <a:lstStyle/>
          <a:p>
            <a:pPr algn="l">
              <a:lnSpc>
                <a:spcPct val="140000"/>
              </a:lnSpc>
            </a:pPr>
            <a:r>
              <a:rPr sz="1900" b="1">
                <a:solidFill>
                  <a:srgbClr val="52BDEC"/>
                </a:solidFill>
                <a:latin typeface="Consolas"/>
              </a:rPr>
              <a:t>24   24b   12</a:t>
            </a:r>
          </a:p>
        </p:txBody>
      </p:sp>
      <p:sp>
        <p:nvSpPr>
          <p:cNvPr id="18" name="Rounded Rectangle 17"/>
          <p:cNvSpPr/>
          <p:nvPr/>
        </p:nvSpPr>
        <p:spPr>
          <a:xfrm>
            <a:off x="7746806" y="3301917"/>
            <a:ext cx="3809904" cy="145553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88100" y="3441613"/>
            <a:ext cx="3301917" cy="215894"/>
          </a:xfrm>
          <a:prstGeom prst="rect">
            <a:avLst/>
          </a:prstGeom>
          <a:noFill/>
        </p:spPr>
        <p:txBody>
          <a:bodyPr wrap="square" anchor="t" lIns="0" rIns="0" tIns="0" bIns="0">
            <a:spAutoFit/>
          </a:bodyPr>
          <a:lstStyle/>
          <a:p>
            <a:pPr algn="l">
              <a:lnSpc>
                <a:spcPct val="125000"/>
              </a:lnSpc>
            </a:pPr>
            <a:r>
              <a:rPr sz="1200" b="1" spc="150">
                <a:solidFill>
                  <a:srgbClr val="FF7A00"/>
                </a:solidFill>
                <a:latin typeface="Consolas"/>
              </a:rPr>
              <a:t>LET OP</a:t>
            </a:r>
          </a:p>
        </p:txBody>
      </p:sp>
      <p:sp>
        <p:nvSpPr>
          <p:cNvPr id="20" name="TextBox 19"/>
          <p:cNvSpPr txBox="1"/>
          <p:nvPr/>
        </p:nvSpPr>
        <p:spPr>
          <a:xfrm>
            <a:off x="7988100" y="3682907"/>
            <a:ext cx="3301917" cy="972948"/>
          </a:xfrm>
          <a:prstGeom prst="rect">
            <a:avLst/>
          </a:prstGeom>
          <a:noFill/>
        </p:spPr>
        <p:txBody>
          <a:bodyPr wrap="square" anchor="t" lIns="0" rIns="0" tIns="0" bIns="0">
            <a:spAutoFit/>
          </a:bodyPr>
          <a:lstStyle/>
          <a:p>
            <a:pPr algn="l">
              <a:lnSpc>
                <a:spcPct val="130000"/>
              </a:lnSpc>
            </a:pPr>
            <a:r>
              <a:rPr sz="1400" b="0">
                <a:solidFill>
                  <a:srgbClr val="F2F8FC"/>
                </a:solidFill>
                <a:latin typeface="Segoe UI"/>
              </a:rPr>
              <a:t>Drie extra meetmomenten. Maand 18 telt mee: het recidief wordt over de volle achttien maanden geteld.</a:t>
            </a:r>
          </a:p>
        </p:txBody>
      </p:sp>
      <p:sp>
        <p:nvSpPr>
          <p:cNvPr id="21" name="TextBox 20"/>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 pedorthist past aan</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28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4" name="TextBox 23"/>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28</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Nulstellen: één keer per sessie</a:t>
            </a:r>
          </a:p>
          <a:p>
            <a:pPr algn="l">
              <a:lnSpc>
                <a:spcPct val="130000"/>
              </a:lnSpc>
              <a:spcBef>
                <a:spcPts val="1000"/>
              </a:spcBef>
            </a:pPr>
            <a:r>
              <a:rPr sz="13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Geheugen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28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anders kunnen we de groepen niet vergelijken. Maar die getallen blijven beperkt tot uzelf.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28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28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Rectangle 18"/>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1" name="Oval 20"/>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3" name="Oval 22"/>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5" name="Oval 24"/>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7" name="Rectangle 26"/>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29" name="Oval 28"/>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1" name="Oval 30"/>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3" name="Oval 32"/>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5" name="Rectangle 34"/>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28</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8" name="TextBox 37"/>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28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De draagtijd móét gemeten worden.</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En de ingevulde formulieren?</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Invoeren doet het onderzoeksteam. U bewaart of stuurt door.</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25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736581"/>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28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zelf.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Vanaf de eerste patiënt</a:t>
            </a:r>
          </a:p>
          <a:p>
            <a:pPr algn="l">
              <a:lnSpc>
                <a:spcPct val="106000"/>
              </a:lnSpc>
              <a:spcBef>
                <a:spcPts val="500"/>
              </a:spcBef>
            </a:pPr>
            <a:r>
              <a:rPr sz="7200" b="1">
                <a:solidFill>
                  <a:srgbClr val="FFFFFF"/>
                </a:solidFill>
                <a:latin typeface="Segoe UI"/>
              </a:rPr>
              <a:t>doet u dit zelf.</a:t>
            </a:r>
          </a:p>
        </p:txBody>
      </p:sp>
      <p:sp>
        <p:nvSpPr>
          <p:cNvPr id="7" name="TextBox 6"/>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F2F8FC"/>
                </a:solidFill>
                <a:latin typeface="Consolas"/>
              </a:rPr>
              <a:t>Wij leiden op, wij voeren in. De handelingen zijn van u.</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28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34984"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8" name="TextBox 17"/>
          <p:cNvSpPr txBox="1"/>
          <p:nvPr/>
        </p:nvSpPr>
        <p:spPr>
          <a:xfrm>
            <a:off x="965175"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9" name="TextBox 18"/>
          <p:cNvSpPr txBox="1"/>
          <p:nvPr/>
        </p:nvSpPr>
        <p:spPr>
          <a:xfrm>
            <a:off x="634984" y="4194369"/>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20" name="TextBox 19"/>
          <p:cNvSpPr txBox="1"/>
          <p:nvPr/>
        </p:nvSpPr>
        <p:spPr>
          <a:xfrm>
            <a:off x="965175" y="4194369"/>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21" name="TextBox 20"/>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22" name="TextBox 21"/>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23" name="TextBox 22"/>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4" name="TextBox 23"/>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5" name="TextBox 24"/>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6" name="TextBox 25"/>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7" name="TextBox 26"/>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25</a:t>
            </a:r>
          </a:p>
        </p:txBody>
      </p:sp>
      <p:sp>
        <p:nvSpPr>
          <p:cNvPr id="28" name="TextBox 27"/>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Diabetes Metab Res Rev. 2024;40(3):e3654.</a:t>
            </a:r>
          </a:p>
        </p:txBody>
      </p:sp>
      <p:sp>
        <p:nvSpPr>
          <p:cNvPr id="29" name="TextBox 28"/>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26</a:t>
            </a:r>
          </a:p>
        </p:txBody>
      </p:sp>
      <p:sp>
        <p:nvSpPr>
          <p:cNvPr id="30" name="TextBox 29"/>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Lincoln NB et al. Pract Diabetes Int. 2007;24(4):207–11.</a:t>
            </a:r>
          </a:p>
        </p:txBody>
      </p:sp>
      <p:sp>
        <p:nvSpPr>
          <p:cNvPr id="31" name="TextBox 30"/>
          <p:cNvSpPr txBox="1"/>
          <p:nvPr/>
        </p:nvSpPr>
        <p:spPr>
          <a:xfrm>
            <a:off x="6171918" y="352573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32" name="TextBox 31"/>
          <p:cNvSpPr txBox="1"/>
          <p:nvPr/>
        </p:nvSpPr>
        <p:spPr>
          <a:xfrm>
            <a:off x="6502110" y="352573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33" name="TextBox 32"/>
          <p:cNvSpPr txBox="1"/>
          <p:nvPr/>
        </p:nvSpPr>
        <p:spPr>
          <a:xfrm>
            <a:off x="6171918" y="38600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29</a:t>
            </a:r>
          </a:p>
        </p:txBody>
      </p:sp>
      <p:sp>
        <p:nvSpPr>
          <p:cNvPr id="34" name="TextBox 33"/>
          <p:cNvSpPr txBox="1"/>
          <p:nvPr/>
        </p:nvSpPr>
        <p:spPr>
          <a:xfrm>
            <a:off x="6502110" y="38600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Dahmen R et al. J Rehabil Med. 2018;50(6):569–74.</a:t>
            </a:r>
          </a:p>
        </p:txBody>
      </p:sp>
      <p:sp>
        <p:nvSpPr>
          <p:cNvPr id="35" name="TextBox 3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36" name="TextBox 3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28</a:t>
            </a:r>
          </a:p>
        </p:txBody>
      </p:sp>
      <p:pic>
        <p:nvPicPr>
          <p:cNvPr id="3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