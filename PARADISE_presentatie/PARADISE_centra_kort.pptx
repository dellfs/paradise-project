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beeld draagt deze dia, dus de foto moet raak zijn. Zet hem in beeld\stock\, draai verwerk_stock.py, en vervang het kader met rechtsklik en Afbeelding wijzigen. Liggend, koele tonen, en rustig onderaan — daar staat de titel.</a:t>
            </a:r>
          </a:p>
          <a:p/>
          <a:p>
            <a:r>
              <a:t>INTERACTIE</a:t>
            </a:r>
          </a:p>
          <a:p>
            <a:r>
              <a:t>Laat de dia staan terwijl de zaal binnenkomt. Zeg pas iets als iedereen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Loop de zes titels traag door. Dit is de belofte van de dag en het is ook precies de bekwaamheidscheck op het eind.</a:t>
            </a:r>
          </a:p>
          <a:p/>
          <a:p>
            <a:r>
              <a:t>INTERACTIE</a:t>
            </a:r>
          </a:p>
          <a:p>
            <a:r>
              <a:t>Laat iedereen op een blad de zes overschrijven en aanduiden welke ze al beheersen. Op het eind vullen ze dat opnieuw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Wijs hun eigen centrum aan: 24 van die 144 stippen zijn van hen. Zes keer 24 is 144 — als één centrum achterblijft, haalt de studie het niet.</a:t>
            </a:r>
          </a:p>
          <a:p/>
          <a:p>
            <a:r>
              <a:t>INTERACTIE</a:t>
            </a:r>
          </a:p>
          <a:p>
            <a:r>
              <a:t>Vraag of ze de andere vijf centra kennen. Het maakt van zes losse klinieken één netwerk.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probleem waar de hele studie op staat. Eén dia, dan door.</a:t>
            </a:r>
          </a:p>
          <a:p/>
          <a:p>
            <a:r>
              <a:t>INTERACTIE</a:t>
            </a:r>
          </a:p>
          <a:p>
            <a:r>
              <a:t>Geen. Dit is context, geen discussie.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het scharnier van blok 1. Wie dit snapt, snapt waarom de meting én de sensor allebei moeten kloppen.</a:t>
            </a:r>
          </a:p>
          <a:p/>
          <a:p>
            <a:r>
              <a:t>INTERACTIE</a:t>
            </a:r>
          </a:p>
          <a:p>
            <a:r>
              <a:t>Morph: de drie tegels komen samen uit één punt.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De meest gemaakte fout is één meting per voet. Het protocol vraagt er drie, en het gemiddelde telt.</a:t>
            </a:r>
          </a:p>
          <a:p/>
          <a:p>
            <a:r>
              <a:t>INTERACTIE</a:t>
            </a:r>
          </a:p>
          <a:p>
            <a:r>
              <a:t>Vraag wie al blootsvoets gemeten heeft met sensoren op de voet.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expliciet: "óf". Twee wegen naar dezelfde norm, geen dubbele eis. En de vergelijking gebeurt per regio, niet over de hele voet.</a:t>
            </a:r>
          </a:p>
          <a:p/>
          <a:p>
            <a:r>
              <a:t>INTERACTIE</a:t>
            </a:r>
          </a:p>
          <a:p>
            <a:r>
              <a:t>Vraag de pedorthisten hoeveel aanpassingsrondes realistisch zijn.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Zeg deze twee zinnen en zwijg dan. Laat de dia staan tot iemand ongemakkelijk wordt. Dit is het enige moment in blok 2 waarop de zaal niets te lezen heeft.</a:t>
            </a:r>
          </a:p>
          <a:p/>
          <a:p>
            <a:r>
              <a:t>INTERACTIE</a:t>
            </a:r>
          </a:p>
          <a:p>
            <a:r>
              <a:t>Geen. Bewust 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/>
          <a:p/>
          <a:p>
            <a:r>
              <a:t>INTERACTIE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Geef eerst het overzicht. De volgende dia's lopen elk moment af.</a:t>
            </a:r>
          </a:p>
          <a:p/>
          <a:p>
            <a:r>
              <a:t>INTERACTIE</a:t>
            </a:r>
          </a:p>
          <a:p>
            <a:r>
              <a:t>Geen. De detaildia's komen hierna.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Benadruk dat de loting door de PI gebeurt met verzegelde enveloppen, vier blokken van zes per centrum. Niemand kiest zelf.</a:t>
            </a:r>
          </a:p>
          <a:p/>
          <a:p>
            <a:r>
              <a:t>INTERACTIE</a:t>
            </a:r>
          </a:p>
          <a:p>
            <a:r>
              <a:t>Deel het screeningsformulier uit en laat ze het invullen voor een patiënt die ze vorige week zagen.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bezoek loopt uit. Zeg hoeveel tijd u ervoor moet inplannen en waarom de volgorde vastligt.</a:t>
            </a:r>
          </a:p>
          <a:p/>
          <a:p>
            <a:r>
              <a:t>INTERACTIE</a:t>
            </a:r>
          </a:p>
          <a:p>
            <a:r>
              <a:t>Laat ze in duo's de volgorde van de handelingen leggen met de formulieren op tafel.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Plan hier de meeste tijd van de sessie voor. Dit bezoek bepaalt of de primaire uitkomst bruikbaar wordt.</a:t>
            </a:r>
          </a:p>
          <a:p/>
          <a:p>
            <a:r>
              <a:t>INTERACTIE</a:t>
            </a:r>
          </a:p>
          <a:p>
            <a:r>
              <a:t>Demonstreer het plaatsen en activeren van een Orthotimer op een losse zool.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zijn zes identieke bezoeken. Zeg dat expliciet: het ritme is elke drie maanden en de handelingen zijn elke keer dezelfde.</a:t>
            </a:r>
          </a:p>
          <a:p/>
          <a:p>
            <a:r>
              <a:t>INTERACTIE</a:t>
            </a:r>
          </a:p>
          <a:p>
            <a:r>
              <a:t>Vraag hoe zij een gemiste afspraak in de praktijk opvangen.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het vaakst vergeten wordt bij het inplannen. Zet de drie data nu al in de agenda van de patiënt.</a:t>
            </a:r>
          </a:p>
          <a:p/>
          <a:p>
            <a:r>
              <a:t>INTERACTIE</a:t>
            </a:r>
          </a:p>
          <a:p>
            <a:r>
              <a:t>Laat elk centrum benoemen wie de drukmeting op maand 18 zal doen.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Sluit blok 3 hiermee af. De zaal herkent de dia van het begin.</a:t>
            </a:r>
          </a:p>
          <a:p/>
          <a:p>
            <a:r>
              <a:t>INTERACTIE</a:t>
            </a:r>
          </a:p>
          <a:p>
            <a:r>
              <a:t>Vraag welk moment hun het meest zorgen baart.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Benoem dat de Orthotimer géén GPS, microfoon of camera heeft. Die vraag komt gegarandeerd.</a:t>
            </a:r>
          </a:p>
          <a:p/>
          <a:p>
            <a:r>
              <a:t>INTERACTIE</a:t>
            </a:r>
          </a:p>
          <a:p>
            <a:r>
              <a:t>Laat de toestellen rondgaan. Fysiek werkt beter dan een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waar u stilvalt. Geen haast. Vraag of het helder is voordat u doorgaat.</a:t>
            </a:r>
          </a:p>
          <a:p/>
          <a:p>
            <a:r>
              <a:t>INTERACTIE</a:t>
            </a:r>
          </a:p>
          <a:p>
            <a:r>
              <a:t>Laat iemand het in eigen woorden herhalen. Zo weet u of het zit.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dia die de zaal ontspant én scherpt. Zeg het zinnetje onderaan letterlijk.</a:t>
            </a:r>
          </a:p>
          <a:p/>
          <a:p>
            <a:r>
              <a:t>INTERACTIE</a:t>
            </a:r>
          </a:p>
          <a:p>
            <a:r>
              <a:t>Vraag of iemand een situatie kan bedenken waarvan hij niet weet of het gemeld moet worden. Bespreek er twee.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Kijk elke groep aan bij hun rij. Namen noemen als u ze kent.</a:t>
            </a:r>
          </a:p>
          <a:p/>
          <a:p>
            <a:r>
              <a:t>INTERACTIE</a:t>
            </a:r>
          </a:p>
          <a:p>
            <a:r>
              <a:t>Vraag per rij: "herkenbaar, of mis ik iets?" Pas de taakverdeling ter plekke aan als dat nodig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Het cijfer rechts ontspant de zaal. Zeg het expliciet en wacht even. Vraagt iemand hoe de ingevulde formulieren bij ons raken: zeg dat daar bericht over volgt. Beloof geen werkwijze, want die ligt nog niet vast.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Sla over wat al gevraagd is. Deze dia is een vangnet, geen programma.</a:t>
            </a:r>
          </a:p>
          <a:p/>
          <a:p>
            <a:r>
              <a:t>INTERACTIE</a:t>
            </a:r>
          </a:p>
          <a:p>
            <a:r>
              <a:t>Toon hem alleen als de vragen opdrogen.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Dit is de overgang naar de bekwaamheidscheck. Zeg het rustig; het is geen dreigement maar een vaststelling.</a:t>
            </a:r>
          </a:p>
          <a:p/>
          <a:p>
            <a:r>
              <a:t>INTERACTIE</a:t>
            </a:r>
          </a:p>
          <a:p>
            <a:r>
              <a:t>Geen.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PRESENTATIETIP</a:t>
            </a:r>
          </a:p>
          <a:p>
            <a:r>
              <a:t>Laat deze dia staan tijdens het napraten. Zeg erbij dat kleine dingen ook mogen — een sensor die niet uitleest is geen domme vraag.</a:t>
            </a:r>
          </a:p>
          <a:p/>
          <a:p>
            <a:r>
              <a:t>INTERACTIE</a:t>
            </a:r>
          </a:p>
          <a:p>
            <a:r>
              <a:t>Loop rond terwijl de dia staat. Wie een vraag heeft, komt naar het gezicht dat op het scherm staat.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fotokader" descr="plaatshou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380990"/>
            <a:ext cx="12191695" cy="761980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4182A">
                  <a:alpha val="10000"/>
                </a:srgbClr>
              </a:gs>
              <a:gs pos="62000">
                <a:srgbClr val="04182A">
                  <a:alpha val="96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87" y="609584"/>
            <a:ext cx="801273" cy="927076"/>
          </a:xfrm>
          <a:prstGeom prst="rect">
            <a:avLst/>
          </a:prstGeom>
        </p:spPr>
      </p:pic>
      <p:sp>
        <p:nvSpPr>
          <p:cNvPr id="6" name="hero"/>
          <p:cNvSpPr txBox="1"/>
          <p:nvPr/>
        </p:nvSpPr>
        <p:spPr>
          <a:xfrm>
            <a:off x="634984" y="3848003"/>
            <a:ext cx="8889777" cy="165095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400" b="1">
                <a:solidFill>
                  <a:srgbClr val="F2F8FC"/>
                </a:solidFill>
                <a:latin typeface="Segoe UI"/>
              </a:rPr>
              <a:t>PARADISE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3083" y="5397365"/>
            <a:ext cx="888977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1">
                <a:solidFill>
                  <a:srgbClr val="52BDEC"/>
                </a:solidFill>
                <a:latin typeface="Segoe UI"/>
              </a:rPr>
              <a:t>Opfrissing voor de centra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587995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4984" y="6045048"/>
            <a:ext cx="1685893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uleuv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7380" y="6152996"/>
            <a:ext cx="1381100" cy="39369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2574870" y="6045048"/>
            <a:ext cx="1420884" cy="609584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vu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7267" y="6152996"/>
            <a:ext cx="1116092" cy="39369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9749" y="6095847"/>
            <a:ext cx="215894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FWO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2449" y="6349841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FB6D0"/>
                </a:solidFill>
                <a:latin typeface="Consolas"/>
              </a:rPr>
              <a:t>TBM T000226N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1822" y="6565735"/>
            <a:ext cx="4571885" cy="19049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Protocolversie 1.0 · 17 mei 2026 · S71769</a:t>
            </a:r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WAAROM U HIER ZIT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Na vandaag kunt u dit zelf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34984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4984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3274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Screenen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3274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beoordelen of een patiënt in aanmerking komt, en de screening vastleggen vóór de toestemming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49841" y="1828754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49841" y="1968450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1" y="1968450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8132" y="1943051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Meten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18132" y="2273243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drukmeting uitvoeren die aan het protocol voldoet, en de drie doelregio's bepalen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4984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34984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3274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Optimaliseren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3274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zool aanpassen tot de norm gehaald is, en vastleggen wat u aangepast hebt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49841" y="2793930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49841" y="2933626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1" y="2933626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18132" y="2908227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Uitlezen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18132" y="3238419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Orthotimer en de MoveMonitor correct instellen, uitlezen en terugkoppelen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4984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34984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984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3274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Begeleiden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3274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een SEBIA-gesprek voeren, inclusief teach-back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49841" y="3759106"/>
            <a:ext cx="520686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9841" y="3898802"/>
            <a:ext cx="241293" cy="241293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49841" y="3898802"/>
            <a:ext cx="241293" cy="24129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18132" y="3873403"/>
            <a:ext cx="4825879" cy="304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Vastleggen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18132" y="4203594"/>
            <a:ext cx="4825879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de formulieren volledig invullen, en weten wat u meldt als er iets afwijkt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4984" y="4851278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476" y="5029074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Wie een van deze zes niet aandurft na vandaag, moet dat zeggen. Daar is deze sessie voor.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02 / 24</a:t>
            </a:r>
          </a:p>
        </p:txBody>
      </p:sp>
      <p:pic>
        <p:nvPicPr>
          <p:cNvPr id="3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WAAR WE STAAN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144 patiënten, 24 per centrum</a:t>
            </a:r>
          </a:p>
        </p:txBody>
      </p:sp>
      <p:sp>
        <p:nvSpPr>
          <p:cNvPr id="5" name="Oval 4"/>
          <p:cNvSpPr/>
          <p:nvPr/>
        </p:nvSpPr>
        <p:spPr>
          <a:xfrm>
            <a:off x="634984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76278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7572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8866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15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84145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08274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32404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56533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80662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04792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28921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53051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77180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1309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25439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9568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73698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97827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219569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5460863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702157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943451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184745" y="1904952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984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76278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117572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58866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0015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4145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08274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232404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256533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80662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04792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328921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53051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377180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01309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425439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49568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73698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97827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219569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460863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5702157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5943451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184745" y="2146246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34984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76278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117572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358866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60015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84145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208274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32404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256533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280662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304792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28921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353051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377180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01309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25439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49568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473698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497827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5219569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5460863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5702157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943451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184745" y="2387540"/>
            <a:ext cx="165095" cy="165095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34984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76278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117572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58866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60015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184145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208274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232404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56533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280662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304792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328921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353051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377180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401309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425439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449568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473698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497827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5219569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5460863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5702157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5943451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184745" y="2628834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34984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76278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117572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358866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60015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184145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08274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32404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56533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280662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304792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328921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353051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377180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401309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425439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49568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473698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497827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5219569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460863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5702157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5943451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184745" y="2870128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34984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76278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117572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358866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60015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184145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208274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232404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256533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80662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304792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328921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53051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77180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401309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425439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449568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473698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497827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5219569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5460863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5702157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5943451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184745" y="3111422"/>
            <a:ext cx="165095" cy="165095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4984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52BDEC"/>
                </a:solidFill>
                <a:latin typeface="Consolas"/>
              </a:rPr>
              <a:t>72 PARADISE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12939" y="3301917"/>
            <a:ext cx="2539936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40">
                <a:solidFill>
                  <a:srgbClr val="FF7A00"/>
                </a:solidFill>
                <a:latin typeface="Consolas"/>
              </a:rPr>
              <a:t>72 GEBRUIKELIJKE ZORG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857828" y="1816054"/>
            <a:ext cx="4698882" cy="15874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Elke stip is een patiënt die u zelf includeert.</a:t>
            </a:r>
          </a:p>
          <a:p>
            <a:pPr algn="l">
              <a:lnSpc>
                <a:spcPct val="130000"/>
              </a:lnSpc>
              <a:spcBef>
                <a:spcPts val="500"/>
              </a:spcBef>
            </a:pPr>
            <a:r>
              <a:rPr sz="3000" b="1">
                <a:solidFill>
                  <a:srgbClr val="F2F8FC"/>
                </a:solidFill>
                <a:latin typeface="Segoe UI"/>
              </a:rPr>
              <a:t>24 per kliniek.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634984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25479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PER CENTRUM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5479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24 deelnemers — 12 PARADISE en 12 gebruikelijke zorg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6171918" y="373370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6362413" y="384800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CONTROLEGROEP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6362413" y="408929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Gebruikelijke zorg, onveranderd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634984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825479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CO-PRIMAIR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5479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Recidief én draagtijd, beide op 18 maanden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171918" y="4533786"/>
            <a:ext cx="5384538" cy="69848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362413" y="4648083"/>
            <a:ext cx="500354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52BDEC"/>
                </a:solidFill>
                <a:latin typeface="Consolas"/>
              </a:rPr>
              <a:t>POSITIEF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362413" y="4889377"/>
            <a:ext cx="5003547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50" b="0">
                <a:solidFill>
                  <a:srgbClr val="F2F8FC"/>
                </a:solidFill>
                <a:latin typeface="Segoe UI"/>
              </a:rPr>
              <a:t>Alleen als béíde eindpunten halen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34984" y="544816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634984" y="5575160"/>
            <a:ext cx="571485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40">
                <a:solidFill>
                  <a:srgbClr val="8FB6D0"/>
                </a:solidFill>
                <a:latin typeface="Consolas"/>
              </a:rPr>
              <a:t>DE ZES DEELNEMENDE VOETKLINIEKEN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634984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4984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AZORG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463738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2463738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Sint-Jan Brugge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4292492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4292492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AZ Groeninge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6121246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121246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Gent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7950001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7950001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Leuven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9778755" y="5879952"/>
            <a:ext cx="1752556" cy="33019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9778755" y="5975200"/>
            <a:ext cx="1752556" cy="21589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F2F8FC"/>
                </a:solidFill>
                <a:latin typeface="Segoe UI"/>
              </a:rPr>
              <a:t>UZ Antwerpen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03 / 24</a:t>
            </a:r>
          </a:p>
        </p:txBody>
      </p:sp>
      <p:pic>
        <p:nvPicPr>
          <p:cNvPr id="17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15974" y="253993"/>
            <a:ext cx="5206869" cy="5206869"/>
          </a:xfrm>
          <a:prstGeom prst="ellipse">
            <a:avLst/>
          </a:prstGeom>
          <a:solidFill>
            <a:srgbClr val="FF7A00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hero"/>
          <p:cNvSpPr txBox="1"/>
          <p:nvPr/>
        </p:nvSpPr>
        <p:spPr>
          <a:xfrm>
            <a:off x="380990" y="761980"/>
            <a:ext cx="7619809" cy="330191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5000" b="1">
                <a:solidFill>
                  <a:srgbClr val="FF7A00"/>
                </a:solidFill>
                <a:latin typeface="Segoe UI"/>
              </a:rP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44888" y="1320766"/>
            <a:ext cx="1523961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F7A00"/>
                </a:solidFill>
                <a:latin typeface="Segoe UI Light"/>
              </a:rPr>
              <a:t>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3975000"/>
            <a:ext cx="5460863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krijgt binnen een jaar</a:t>
            </a:r>
          </a:p>
          <a:p>
            <a:pPr algn="l">
              <a:lnSpc>
                <a:spcPct val="120000"/>
              </a:lnSpc>
              <a:spcBef>
                <a:spcPts val="500"/>
              </a:spcBef>
            </a:pPr>
            <a:r>
              <a:rPr sz="3200" b="1">
                <a:solidFill>
                  <a:srgbClr val="F2F8FC"/>
                </a:solidFill>
                <a:latin typeface="Segoe UI"/>
              </a:rPr>
              <a:t>een nieuw ulcus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17563" y="1142971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0758" y="1320766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33458" y="1930351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DRIE JAAR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17563" y="2514537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0758" y="2692332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65%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3458" y="3301917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NA VIJF JAAR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7563" y="3886102"/>
            <a:ext cx="3538893" cy="120646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0758" y="4063898"/>
            <a:ext cx="3157903" cy="609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>
                <a:solidFill>
                  <a:srgbClr val="F2F8FC"/>
                </a:solidFill>
                <a:latin typeface="Segoe UI"/>
              </a:rPr>
              <a:t>2,5×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33458" y="4673483"/>
            <a:ext cx="3157903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spc="130">
                <a:solidFill>
                  <a:srgbClr val="8FB6D0"/>
                </a:solidFill>
                <a:latin typeface="Consolas"/>
              </a:rPr>
              <a:t>HOGERE STERFTE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Armstrong, Boulton &amp; Bus · N Engl J Med 2017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04 / 24</a:t>
            </a:r>
          </a:p>
        </p:txBody>
      </p:sp>
      <p:pic>
        <p:nvPicPr>
          <p:cNvPr id="18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MECHANISME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Belasting is een product,</a:t>
            </a:r>
          </a:p>
          <a:p>
            <a:pPr algn="l">
              <a:lnSpc>
                <a:spcPct val="110000"/>
              </a:lnSpc>
              <a:spcBef>
                <a:spcPts val="500"/>
              </a:spcBef>
            </a:pPr>
            <a:r>
              <a:rPr sz="4000" b="1">
                <a:solidFill>
                  <a:srgbClr val="F2F8FC"/>
                </a:solidFill>
                <a:latin typeface="Segoe UI"/>
              </a:rPr>
              <a:t>geen optelsom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547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Piekdruk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547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per stap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547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547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69085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627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16769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Activiteit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16769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stappen per dag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16769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6769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8FB6D0"/>
                </a:solidFill>
                <a:latin typeface="Consolas"/>
              </a:rPr>
              <a:t>GEMETEN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60374" y="3251118"/>
            <a:ext cx="406389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400" b="0">
                <a:solidFill>
                  <a:srgbClr val="8FB6D0"/>
                </a:solidFill>
                <a:latin typeface="Segoe UI Light"/>
              </a:rPr>
              <a:t>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7563" y="2539936"/>
            <a:ext cx="3284899" cy="1968450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08058" y="2768530"/>
            <a:ext cx="2903909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Draagtijd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08058" y="3200319"/>
            <a:ext cx="2903909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wérd hij gedragen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08058" y="3797205"/>
            <a:ext cx="1015974" cy="279393"/>
          </a:xfrm>
          <a:prstGeom prst="roundRect">
            <a:avLst>
              <a:gd name="adj" fmla="val 4500"/>
            </a:avLst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08058" y="3873403"/>
            <a:ext cx="1015974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spc="120">
                <a:solidFill>
                  <a:srgbClr val="04182A"/>
                </a:solidFill>
                <a:latin typeface="Consolas"/>
              </a:rPr>
              <a:t>BIJGESTUURD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984" y="4889377"/>
            <a:ext cx="10921726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>
                <a:solidFill>
                  <a:srgbClr val="8FB6D0"/>
                </a:solidFill>
                <a:latin typeface="Segoe UI"/>
              </a:rPr>
              <a:t>Eén factor op nul maakt het product nul. Daarom heeft PARADISE twee normen: een druknorm én een draagtijdnorm.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05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BASELINE · BLOOTSVOETS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Elke sensor een cijfer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C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4AB6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4B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1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57B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5A3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9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42AE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B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9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4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1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70C1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51BC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D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62BF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E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4D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2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5DBE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DBCE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9CC6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D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A9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6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1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7DC2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BDC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FB3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F7D1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D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85C3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4FB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0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312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F7A00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op metatarsaal 2-3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Norm:  &lt; 200 kPa   óf   ≥ 25% lager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Baseline meet u blootsvoets: de sensoren gaan met dubbelzijdige tape rechtstreeks op de voet, daarover een standaardkous.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Drie metingen per voet, links en rechts apart. Daaruit berekent de software één gemiddeld piekdrukbeeld.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09 · Meting plantaire druk, baseline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06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NA OPTIMALISATIE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Wanneer is het goed genoeg</a:t>
            </a:r>
          </a:p>
        </p:txBody>
      </p:sp>
      <p:sp>
        <p:nvSpPr>
          <p:cNvPr id="5" name="!!p00_07"/>
          <p:cNvSpPr/>
          <p:nvPr/>
        </p:nvSpPr>
        <p:spPr>
          <a:xfrm>
            <a:off x="1585505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p00_08"/>
          <p:cNvSpPr/>
          <p:nvPr/>
        </p:nvSpPr>
        <p:spPr>
          <a:xfrm>
            <a:off x="1744251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p00_09"/>
          <p:cNvSpPr/>
          <p:nvPr/>
        </p:nvSpPr>
        <p:spPr>
          <a:xfrm>
            <a:off x="1902997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p00_10"/>
          <p:cNvSpPr/>
          <p:nvPr/>
        </p:nvSpPr>
        <p:spPr>
          <a:xfrm>
            <a:off x="2061743" y="56457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p01_06"/>
          <p:cNvSpPr/>
          <p:nvPr/>
        </p:nvSpPr>
        <p:spPr>
          <a:xfrm>
            <a:off x="142675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!!p01_07"/>
          <p:cNvSpPr/>
          <p:nvPr/>
        </p:nvSpPr>
        <p:spPr>
          <a:xfrm>
            <a:off x="1585505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p01_08"/>
          <p:cNvSpPr/>
          <p:nvPr/>
        </p:nvSpPr>
        <p:spPr>
          <a:xfrm>
            <a:off x="1744251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!!p01_09"/>
          <p:cNvSpPr/>
          <p:nvPr/>
        </p:nvSpPr>
        <p:spPr>
          <a:xfrm>
            <a:off x="1902997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!!p01_10"/>
          <p:cNvSpPr/>
          <p:nvPr/>
        </p:nvSpPr>
        <p:spPr>
          <a:xfrm>
            <a:off x="2061743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p01_11"/>
          <p:cNvSpPr/>
          <p:nvPr/>
        </p:nvSpPr>
        <p:spPr>
          <a:xfrm>
            <a:off x="2220489" y="55304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!!p02_05"/>
          <p:cNvSpPr/>
          <p:nvPr/>
        </p:nvSpPr>
        <p:spPr>
          <a:xfrm>
            <a:off x="126801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!!p02_06"/>
          <p:cNvSpPr/>
          <p:nvPr/>
        </p:nvSpPr>
        <p:spPr>
          <a:xfrm>
            <a:off x="142675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p02_07"/>
          <p:cNvSpPr/>
          <p:nvPr/>
        </p:nvSpPr>
        <p:spPr>
          <a:xfrm>
            <a:off x="158550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!!p02_08"/>
          <p:cNvSpPr/>
          <p:nvPr/>
        </p:nvSpPr>
        <p:spPr>
          <a:xfrm>
            <a:off x="1744251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!!p02_09"/>
          <p:cNvSpPr/>
          <p:nvPr/>
        </p:nvSpPr>
        <p:spPr>
          <a:xfrm>
            <a:off x="1902997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p02_10"/>
          <p:cNvSpPr/>
          <p:nvPr/>
        </p:nvSpPr>
        <p:spPr>
          <a:xfrm>
            <a:off x="2061743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!!p02_11"/>
          <p:cNvSpPr/>
          <p:nvPr/>
        </p:nvSpPr>
        <p:spPr>
          <a:xfrm>
            <a:off x="2220489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!!p02_12"/>
          <p:cNvSpPr/>
          <p:nvPr/>
        </p:nvSpPr>
        <p:spPr>
          <a:xfrm>
            <a:off x="2379235" y="5415127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p03_05"/>
          <p:cNvSpPr/>
          <p:nvPr/>
        </p:nvSpPr>
        <p:spPr>
          <a:xfrm>
            <a:off x="126801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!!p03_06"/>
          <p:cNvSpPr/>
          <p:nvPr/>
        </p:nvSpPr>
        <p:spPr>
          <a:xfrm>
            <a:off x="142675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!!p03_07"/>
          <p:cNvSpPr/>
          <p:nvPr/>
        </p:nvSpPr>
        <p:spPr>
          <a:xfrm>
            <a:off x="158550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p03_08"/>
          <p:cNvSpPr/>
          <p:nvPr/>
        </p:nvSpPr>
        <p:spPr>
          <a:xfrm>
            <a:off x="1744251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!!p03_09"/>
          <p:cNvSpPr/>
          <p:nvPr/>
        </p:nvSpPr>
        <p:spPr>
          <a:xfrm>
            <a:off x="1902997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!!p03_10"/>
          <p:cNvSpPr/>
          <p:nvPr/>
        </p:nvSpPr>
        <p:spPr>
          <a:xfrm>
            <a:off x="2061743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p03_11"/>
          <p:cNvSpPr/>
          <p:nvPr/>
        </p:nvSpPr>
        <p:spPr>
          <a:xfrm>
            <a:off x="2220489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!!p03_12"/>
          <p:cNvSpPr/>
          <p:nvPr/>
        </p:nvSpPr>
        <p:spPr>
          <a:xfrm>
            <a:off x="2379235" y="52998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A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!!p04_05"/>
          <p:cNvSpPr/>
          <p:nvPr/>
        </p:nvSpPr>
        <p:spPr>
          <a:xfrm>
            <a:off x="126801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p04_06"/>
          <p:cNvSpPr/>
          <p:nvPr/>
        </p:nvSpPr>
        <p:spPr>
          <a:xfrm>
            <a:off x="142675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!!p04_07"/>
          <p:cNvSpPr/>
          <p:nvPr/>
        </p:nvSpPr>
        <p:spPr>
          <a:xfrm>
            <a:off x="158550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!!p04_08"/>
          <p:cNvSpPr/>
          <p:nvPr/>
        </p:nvSpPr>
        <p:spPr>
          <a:xfrm>
            <a:off x="1744251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p04_09"/>
          <p:cNvSpPr/>
          <p:nvPr/>
        </p:nvSpPr>
        <p:spPr>
          <a:xfrm>
            <a:off x="1902997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9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!!p04_10"/>
          <p:cNvSpPr/>
          <p:nvPr/>
        </p:nvSpPr>
        <p:spPr>
          <a:xfrm>
            <a:off x="2061743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!!p04_11"/>
          <p:cNvSpPr/>
          <p:nvPr/>
        </p:nvSpPr>
        <p:spPr>
          <a:xfrm>
            <a:off x="2220489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!!p04_12"/>
          <p:cNvSpPr/>
          <p:nvPr/>
        </p:nvSpPr>
        <p:spPr>
          <a:xfrm>
            <a:off x="2379235" y="51845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!!p05_05"/>
          <p:cNvSpPr/>
          <p:nvPr/>
        </p:nvSpPr>
        <p:spPr>
          <a:xfrm>
            <a:off x="126801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!!p05_06"/>
          <p:cNvSpPr/>
          <p:nvPr/>
        </p:nvSpPr>
        <p:spPr>
          <a:xfrm>
            <a:off x="142675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!!p05_07"/>
          <p:cNvSpPr/>
          <p:nvPr/>
        </p:nvSpPr>
        <p:spPr>
          <a:xfrm>
            <a:off x="158550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!!p05_08"/>
          <p:cNvSpPr/>
          <p:nvPr/>
        </p:nvSpPr>
        <p:spPr>
          <a:xfrm>
            <a:off x="1744251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!!p05_09"/>
          <p:cNvSpPr/>
          <p:nvPr/>
        </p:nvSpPr>
        <p:spPr>
          <a:xfrm>
            <a:off x="1902997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BA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!!p05_10"/>
          <p:cNvSpPr/>
          <p:nvPr/>
        </p:nvSpPr>
        <p:spPr>
          <a:xfrm>
            <a:off x="2061743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!!p05_11"/>
          <p:cNvSpPr/>
          <p:nvPr/>
        </p:nvSpPr>
        <p:spPr>
          <a:xfrm>
            <a:off x="2220489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!!p05_12"/>
          <p:cNvSpPr/>
          <p:nvPr/>
        </p:nvSpPr>
        <p:spPr>
          <a:xfrm>
            <a:off x="2379235" y="50692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!!p06_05"/>
          <p:cNvSpPr/>
          <p:nvPr/>
        </p:nvSpPr>
        <p:spPr>
          <a:xfrm>
            <a:off x="126801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!!p06_06"/>
          <p:cNvSpPr/>
          <p:nvPr/>
        </p:nvSpPr>
        <p:spPr>
          <a:xfrm>
            <a:off x="142675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!!p06_07"/>
          <p:cNvSpPr/>
          <p:nvPr/>
        </p:nvSpPr>
        <p:spPr>
          <a:xfrm>
            <a:off x="158550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!!p06_08"/>
          <p:cNvSpPr/>
          <p:nvPr/>
        </p:nvSpPr>
        <p:spPr>
          <a:xfrm>
            <a:off x="1744251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7A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!!p06_09"/>
          <p:cNvSpPr/>
          <p:nvPr/>
        </p:nvSpPr>
        <p:spPr>
          <a:xfrm>
            <a:off x="1902997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!!p06_10"/>
          <p:cNvSpPr/>
          <p:nvPr/>
        </p:nvSpPr>
        <p:spPr>
          <a:xfrm>
            <a:off x="2061743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!!p06_11"/>
          <p:cNvSpPr/>
          <p:nvPr/>
        </p:nvSpPr>
        <p:spPr>
          <a:xfrm>
            <a:off x="2220489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!!p06_12"/>
          <p:cNvSpPr/>
          <p:nvPr/>
        </p:nvSpPr>
        <p:spPr>
          <a:xfrm>
            <a:off x="2379235" y="4953928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!!p07_05"/>
          <p:cNvSpPr/>
          <p:nvPr/>
        </p:nvSpPr>
        <p:spPr>
          <a:xfrm>
            <a:off x="126801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!!p07_06"/>
          <p:cNvSpPr/>
          <p:nvPr/>
        </p:nvSpPr>
        <p:spPr>
          <a:xfrm>
            <a:off x="142675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38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!!p07_07"/>
          <p:cNvSpPr/>
          <p:nvPr/>
        </p:nvSpPr>
        <p:spPr>
          <a:xfrm>
            <a:off x="158550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!!p07_08"/>
          <p:cNvSpPr/>
          <p:nvPr/>
        </p:nvSpPr>
        <p:spPr>
          <a:xfrm>
            <a:off x="1744251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3A1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!!p07_09"/>
          <p:cNvSpPr/>
          <p:nvPr/>
        </p:nvSpPr>
        <p:spPr>
          <a:xfrm>
            <a:off x="1902997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6A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!!p07_10"/>
          <p:cNvSpPr/>
          <p:nvPr/>
        </p:nvSpPr>
        <p:spPr>
          <a:xfrm>
            <a:off x="2061743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!!p07_11"/>
          <p:cNvSpPr/>
          <p:nvPr/>
        </p:nvSpPr>
        <p:spPr>
          <a:xfrm>
            <a:off x="2220489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!!p07_12"/>
          <p:cNvSpPr/>
          <p:nvPr/>
        </p:nvSpPr>
        <p:spPr>
          <a:xfrm>
            <a:off x="2379235" y="48386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!!p08_05"/>
          <p:cNvSpPr/>
          <p:nvPr/>
        </p:nvSpPr>
        <p:spPr>
          <a:xfrm>
            <a:off x="126801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!!p08_06"/>
          <p:cNvSpPr/>
          <p:nvPr/>
        </p:nvSpPr>
        <p:spPr>
          <a:xfrm>
            <a:off x="142675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!!p08_07"/>
          <p:cNvSpPr/>
          <p:nvPr/>
        </p:nvSpPr>
        <p:spPr>
          <a:xfrm>
            <a:off x="158550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!!p08_08"/>
          <p:cNvSpPr/>
          <p:nvPr/>
        </p:nvSpPr>
        <p:spPr>
          <a:xfrm>
            <a:off x="1744251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!!p08_09"/>
          <p:cNvSpPr/>
          <p:nvPr/>
        </p:nvSpPr>
        <p:spPr>
          <a:xfrm>
            <a:off x="1902997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!!p08_10"/>
          <p:cNvSpPr/>
          <p:nvPr/>
        </p:nvSpPr>
        <p:spPr>
          <a:xfrm>
            <a:off x="2061743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!!p08_11"/>
          <p:cNvSpPr/>
          <p:nvPr/>
        </p:nvSpPr>
        <p:spPr>
          <a:xfrm>
            <a:off x="2220489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!!p08_12"/>
          <p:cNvSpPr/>
          <p:nvPr/>
        </p:nvSpPr>
        <p:spPr>
          <a:xfrm>
            <a:off x="2379235" y="47233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!!p09_05"/>
          <p:cNvSpPr/>
          <p:nvPr/>
        </p:nvSpPr>
        <p:spPr>
          <a:xfrm>
            <a:off x="126801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!!p09_06"/>
          <p:cNvSpPr/>
          <p:nvPr/>
        </p:nvSpPr>
        <p:spPr>
          <a:xfrm>
            <a:off x="142675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!!p09_07"/>
          <p:cNvSpPr/>
          <p:nvPr/>
        </p:nvSpPr>
        <p:spPr>
          <a:xfrm>
            <a:off x="158550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!!p09_08"/>
          <p:cNvSpPr/>
          <p:nvPr/>
        </p:nvSpPr>
        <p:spPr>
          <a:xfrm>
            <a:off x="1744251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!!p09_09"/>
          <p:cNvSpPr/>
          <p:nvPr/>
        </p:nvSpPr>
        <p:spPr>
          <a:xfrm>
            <a:off x="1902997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!!p09_10"/>
          <p:cNvSpPr/>
          <p:nvPr/>
        </p:nvSpPr>
        <p:spPr>
          <a:xfrm>
            <a:off x="2061743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!!p09_11"/>
          <p:cNvSpPr/>
          <p:nvPr/>
        </p:nvSpPr>
        <p:spPr>
          <a:xfrm>
            <a:off x="2220489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99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!!p09_12"/>
          <p:cNvSpPr/>
          <p:nvPr/>
        </p:nvSpPr>
        <p:spPr>
          <a:xfrm>
            <a:off x="2379235" y="46080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6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!!p10_06"/>
          <p:cNvSpPr/>
          <p:nvPr/>
        </p:nvSpPr>
        <p:spPr>
          <a:xfrm>
            <a:off x="142675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!!p10_07"/>
          <p:cNvSpPr/>
          <p:nvPr/>
        </p:nvSpPr>
        <p:spPr>
          <a:xfrm>
            <a:off x="158550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!!p10_08"/>
          <p:cNvSpPr/>
          <p:nvPr/>
        </p:nvSpPr>
        <p:spPr>
          <a:xfrm>
            <a:off x="1744251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!!p10_09"/>
          <p:cNvSpPr/>
          <p:nvPr/>
        </p:nvSpPr>
        <p:spPr>
          <a:xfrm>
            <a:off x="1902997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!!p10_10"/>
          <p:cNvSpPr/>
          <p:nvPr/>
        </p:nvSpPr>
        <p:spPr>
          <a:xfrm>
            <a:off x="2061743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!!p10_11"/>
          <p:cNvSpPr/>
          <p:nvPr/>
        </p:nvSpPr>
        <p:spPr>
          <a:xfrm>
            <a:off x="2220489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!!p10_12"/>
          <p:cNvSpPr/>
          <p:nvPr/>
        </p:nvSpPr>
        <p:spPr>
          <a:xfrm>
            <a:off x="2379235" y="4492729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C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!!p11_06"/>
          <p:cNvSpPr/>
          <p:nvPr/>
        </p:nvSpPr>
        <p:spPr>
          <a:xfrm>
            <a:off x="142675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!!p11_07"/>
          <p:cNvSpPr/>
          <p:nvPr/>
        </p:nvSpPr>
        <p:spPr>
          <a:xfrm>
            <a:off x="158550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1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!!p11_08"/>
          <p:cNvSpPr/>
          <p:nvPr/>
        </p:nvSpPr>
        <p:spPr>
          <a:xfrm>
            <a:off x="1744251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!!p11_09"/>
          <p:cNvSpPr/>
          <p:nvPr/>
        </p:nvSpPr>
        <p:spPr>
          <a:xfrm>
            <a:off x="1902997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!!p11_10"/>
          <p:cNvSpPr/>
          <p:nvPr/>
        </p:nvSpPr>
        <p:spPr>
          <a:xfrm>
            <a:off x="2061743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!!p11_11"/>
          <p:cNvSpPr/>
          <p:nvPr/>
        </p:nvSpPr>
        <p:spPr>
          <a:xfrm>
            <a:off x="2220489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!!p11_12"/>
          <p:cNvSpPr/>
          <p:nvPr/>
        </p:nvSpPr>
        <p:spPr>
          <a:xfrm>
            <a:off x="2379235" y="43774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!!p12_06"/>
          <p:cNvSpPr/>
          <p:nvPr/>
        </p:nvSpPr>
        <p:spPr>
          <a:xfrm>
            <a:off x="142675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!!p12_07"/>
          <p:cNvSpPr/>
          <p:nvPr/>
        </p:nvSpPr>
        <p:spPr>
          <a:xfrm>
            <a:off x="158550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!!p12_08"/>
          <p:cNvSpPr/>
          <p:nvPr/>
        </p:nvSpPr>
        <p:spPr>
          <a:xfrm>
            <a:off x="1744251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!!p12_09"/>
          <p:cNvSpPr/>
          <p:nvPr/>
        </p:nvSpPr>
        <p:spPr>
          <a:xfrm>
            <a:off x="1902997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!!p12_10"/>
          <p:cNvSpPr/>
          <p:nvPr/>
        </p:nvSpPr>
        <p:spPr>
          <a:xfrm>
            <a:off x="2061743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!!p12_11"/>
          <p:cNvSpPr/>
          <p:nvPr/>
        </p:nvSpPr>
        <p:spPr>
          <a:xfrm>
            <a:off x="2220489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!!p12_12"/>
          <p:cNvSpPr/>
          <p:nvPr/>
        </p:nvSpPr>
        <p:spPr>
          <a:xfrm>
            <a:off x="2379235" y="42621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B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!!p13_06"/>
          <p:cNvSpPr/>
          <p:nvPr/>
        </p:nvSpPr>
        <p:spPr>
          <a:xfrm>
            <a:off x="142675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!!p13_07"/>
          <p:cNvSpPr/>
          <p:nvPr/>
        </p:nvSpPr>
        <p:spPr>
          <a:xfrm>
            <a:off x="158550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!!p13_08"/>
          <p:cNvSpPr/>
          <p:nvPr/>
        </p:nvSpPr>
        <p:spPr>
          <a:xfrm>
            <a:off x="1744251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!!p13_09"/>
          <p:cNvSpPr/>
          <p:nvPr/>
        </p:nvSpPr>
        <p:spPr>
          <a:xfrm>
            <a:off x="1902997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A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!!p13_10"/>
          <p:cNvSpPr/>
          <p:nvPr/>
        </p:nvSpPr>
        <p:spPr>
          <a:xfrm>
            <a:off x="2061743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!!p13_11"/>
          <p:cNvSpPr/>
          <p:nvPr/>
        </p:nvSpPr>
        <p:spPr>
          <a:xfrm>
            <a:off x="2220489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!!p13_12"/>
          <p:cNvSpPr/>
          <p:nvPr/>
        </p:nvSpPr>
        <p:spPr>
          <a:xfrm>
            <a:off x="2379235" y="41468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!!p14_06"/>
          <p:cNvSpPr/>
          <p:nvPr/>
        </p:nvSpPr>
        <p:spPr>
          <a:xfrm>
            <a:off x="142675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F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!!p14_07"/>
          <p:cNvSpPr/>
          <p:nvPr/>
        </p:nvSpPr>
        <p:spPr>
          <a:xfrm>
            <a:off x="158550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!!p14_08"/>
          <p:cNvSpPr/>
          <p:nvPr/>
        </p:nvSpPr>
        <p:spPr>
          <a:xfrm>
            <a:off x="1744251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!!p14_09"/>
          <p:cNvSpPr/>
          <p:nvPr/>
        </p:nvSpPr>
        <p:spPr>
          <a:xfrm>
            <a:off x="1902997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B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!!p14_10"/>
          <p:cNvSpPr/>
          <p:nvPr/>
        </p:nvSpPr>
        <p:spPr>
          <a:xfrm>
            <a:off x="2061743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!!p14_11"/>
          <p:cNvSpPr/>
          <p:nvPr/>
        </p:nvSpPr>
        <p:spPr>
          <a:xfrm>
            <a:off x="2220489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!!p14_12"/>
          <p:cNvSpPr/>
          <p:nvPr/>
        </p:nvSpPr>
        <p:spPr>
          <a:xfrm>
            <a:off x="2379235" y="4031530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8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!!p15_07"/>
          <p:cNvSpPr/>
          <p:nvPr/>
        </p:nvSpPr>
        <p:spPr>
          <a:xfrm>
            <a:off x="158550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!!p15_08"/>
          <p:cNvSpPr/>
          <p:nvPr/>
        </p:nvSpPr>
        <p:spPr>
          <a:xfrm>
            <a:off x="174425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!!p15_09"/>
          <p:cNvSpPr/>
          <p:nvPr/>
        </p:nvSpPr>
        <p:spPr>
          <a:xfrm>
            <a:off x="1902997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D9C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!!p15_10"/>
          <p:cNvSpPr/>
          <p:nvPr/>
        </p:nvSpPr>
        <p:spPr>
          <a:xfrm>
            <a:off x="2061743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!!p15_11"/>
          <p:cNvSpPr/>
          <p:nvPr/>
        </p:nvSpPr>
        <p:spPr>
          <a:xfrm>
            <a:off x="2220489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!!p15_12"/>
          <p:cNvSpPr/>
          <p:nvPr/>
        </p:nvSpPr>
        <p:spPr>
          <a:xfrm>
            <a:off x="2379235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!!p15_13"/>
          <p:cNvSpPr/>
          <p:nvPr/>
        </p:nvSpPr>
        <p:spPr>
          <a:xfrm>
            <a:off x="2537981" y="39162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!!p16_07"/>
          <p:cNvSpPr/>
          <p:nvPr/>
        </p:nvSpPr>
        <p:spPr>
          <a:xfrm>
            <a:off x="158550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C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!!p16_08"/>
          <p:cNvSpPr/>
          <p:nvPr/>
        </p:nvSpPr>
        <p:spPr>
          <a:xfrm>
            <a:off x="174425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C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!!p16_09"/>
          <p:cNvSpPr/>
          <p:nvPr/>
        </p:nvSpPr>
        <p:spPr>
          <a:xfrm>
            <a:off x="1902997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!!p16_10"/>
          <p:cNvSpPr/>
          <p:nvPr/>
        </p:nvSpPr>
        <p:spPr>
          <a:xfrm>
            <a:off x="2061743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!!p16_11"/>
          <p:cNvSpPr/>
          <p:nvPr/>
        </p:nvSpPr>
        <p:spPr>
          <a:xfrm>
            <a:off x="2220489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!!p16_12"/>
          <p:cNvSpPr/>
          <p:nvPr/>
        </p:nvSpPr>
        <p:spPr>
          <a:xfrm>
            <a:off x="2379235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!!p16_13"/>
          <p:cNvSpPr/>
          <p:nvPr/>
        </p:nvSpPr>
        <p:spPr>
          <a:xfrm>
            <a:off x="2537981" y="38009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9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!!p17_07"/>
          <p:cNvSpPr/>
          <p:nvPr/>
        </p:nvSpPr>
        <p:spPr>
          <a:xfrm>
            <a:off x="158550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!!p17_08"/>
          <p:cNvSpPr/>
          <p:nvPr/>
        </p:nvSpPr>
        <p:spPr>
          <a:xfrm>
            <a:off x="174425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B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!!p17_09"/>
          <p:cNvSpPr/>
          <p:nvPr/>
        </p:nvSpPr>
        <p:spPr>
          <a:xfrm>
            <a:off x="1902997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!!p17_10"/>
          <p:cNvSpPr/>
          <p:nvPr/>
        </p:nvSpPr>
        <p:spPr>
          <a:xfrm>
            <a:off x="2061743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E9C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!!p17_11"/>
          <p:cNvSpPr/>
          <p:nvPr/>
        </p:nvSpPr>
        <p:spPr>
          <a:xfrm>
            <a:off x="2220489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!!p17_12"/>
          <p:cNvSpPr/>
          <p:nvPr/>
        </p:nvSpPr>
        <p:spPr>
          <a:xfrm>
            <a:off x="2379235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!!p17_13"/>
          <p:cNvSpPr/>
          <p:nvPr/>
        </p:nvSpPr>
        <p:spPr>
          <a:xfrm>
            <a:off x="2537981" y="36856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!!p18_06"/>
          <p:cNvSpPr/>
          <p:nvPr/>
        </p:nvSpPr>
        <p:spPr>
          <a:xfrm>
            <a:off x="142675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3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!!p18_07"/>
          <p:cNvSpPr/>
          <p:nvPr/>
        </p:nvSpPr>
        <p:spPr>
          <a:xfrm>
            <a:off x="158550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!!p18_08"/>
          <p:cNvSpPr/>
          <p:nvPr/>
        </p:nvSpPr>
        <p:spPr>
          <a:xfrm>
            <a:off x="174425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!!p18_09"/>
          <p:cNvSpPr/>
          <p:nvPr/>
        </p:nvSpPr>
        <p:spPr>
          <a:xfrm>
            <a:off x="1902997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7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!!p18_10"/>
          <p:cNvSpPr/>
          <p:nvPr/>
        </p:nvSpPr>
        <p:spPr>
          <a:xfrm>
            <a:off x="2061743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!!p18_11"/>
          <p:cNvSpPr/>
          <p:nvPr/>
        </p:nvSpPr>
        <p:spPr>
          <a:xfrm>
            <a:off x="2220489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!!p18_12"/>
          <p:cNvSpPr/>
          <p:nvPr/>
        </p:nvSpPr>
        <p:spPr>
          <a:xfrm>
            <a:off x="2379235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!!p18_13"/>
          <p:cNvSpPr/>
          <p:nvPr/>
        </p:nvSpPr>
        <p:spPr>
          <a:xfrm>
            <a:off x="2537981" y="3570331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E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!!p19_06"/>
          <p:cNvSpPr/>
          <p:nvPr/>
        </p:nvSpPr>
        <p:spPr>
          <a:xfrm>
            <a:off x="142675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A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!!p19_07"/>
          <p:cNvSpPr/>
          <p:nvPr/>
        </p:nvSpPr>
        <p:spPr>
          <a:xfrm>
            <a:off x="158550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976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!!p19_08"/>
          <p:cNvSpPr/>
          <p:nvPr/>
        </p:nvSpPr>
        <p:spPr>
          <a:xfrm>
            <a:off x="174425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!!p19_09"/>
          <p:cNvSpPr/>
          <p:nvPr/>
        </p:nvSpPr>
        <p:spPr>
          <a:xfrm>
            <a:off x="1902997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!!p19_10"/>
          <p:cNvSpPr/>
          <p:nvPr/>
        </p:nvSpPr>
        <p:spPr>
          <a:xfrm>
            <a:off x="2061743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!!p19_11"/>
          <p:cNvSpPr/>
          <p:nvPr/>
        </p:nvSpPr>
        <p:spPr>
          <a:xfrm>
            <a:off x="2220489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!!p19_12"/>
          <p:cNvSpPr/>
          <p:nvPr/>
        </p:nvSpPr>
        <p:spPr>
          <a:xfrm>
            <a:off x="2379235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!!p19_13"/>
          <p:cNvSpPr/>
          <p:nvPr/>
        </p:nvSpPr>
        <p:spPr>
          <a:xfrm>
            <a:off x="2537981" y="34550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!!p20_06"/>
          <p:cNvSpPr/>
          <p:nvPr/>
        </p:nvSpPr>
        <p:spPr>
          <a:xfrm>
            <a:off x="142675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8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!!p20_07"/>
          <p:cNvSpPr/>
          <p:nvPr/>
        </p:nvSpPr>
        <p:spPr>
          <a:xfrm>
            <a:off x="158550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!!p20_08"/>
          <p:cNvSpPr/>
          <p:nvPr/>
        </p:nvSpPr>
        <p:spPr>
          <a:xfrm>
            <a:off x="174425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!!p20_09"/>
          <p:cNvSpPr/>
          <p:nvPr/>
        </p:nvSpPr>
        <p:spPr>
          <a:xfrm>
            <a:off x="1902997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!!p20_10"/>
          <p:cNvSpPr/>
          <p:nvPr/>
        </p:nvSpPr>
        <p:spPr>
          <a:xfrm>
            <a:off x="2061743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!!p20_11"/>
          <p:cNvSpPr/>
          <p:nvPr/>
        </p:nvSpPr>
        <p:spPr>
          <a:xfrm>
            <a:off x="2220489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6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!!p20_12"/>
          <p:cNvSpPr/>
          <p:nvPr/>
        </p:nvSpPr>
        <p:spPr>
          <a:xfrm>
            <a:off x="2379235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!!p20_13"/>
          <p:cNvSpPr/>
          <p:nvPr/>
        </p:nvSpPr>
        <p:spPr>
          <a:xfrm>
            <a:off x="2537981" y="33397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!!p21_05"/>
          <p:cNvSpPr/>
          <p:nvPr/>
        </p:nvSpPr>
        <p:spPr>
          <a:xfrm>
            <a:off x="126801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!!p21_06"/>
          <p:cNvSpPr/>
          <p:nvPr/>
        </p:nvSpPr>
        <p:spPr>
          <a:xfrm>
            <a:off x="142675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!!p21_07"/>
          <p:cNvSpPr/>
          <p:nvPr/>
        </p:nvSpPr>
        <p:spPr>
          <a:xfrm>
            <a:off x="158550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!!p21_08"/>
          <p:cNvSpPr/>
          <p:nvPr/>
        </p:nvSpPr>
        <p:spPr>
          <a:xfrm>
            <a:off x="174425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9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!!p21_09"/>
          <p:cNvSpPr/>
          <p:nvPr/>
        </p:nvSpPr>
        <p:spPr>
          <a:xfrm>
            <a:off x="1902997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!!p21_10"/>
          <p:cNvSpPr/>
          <p:nvPr/>
        </p:nvSpPr>
        <p:spPr>
          <a:xfrm>
            <a:off x="2061743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190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!!p21_11"/>
          <p:cNvSpPr/>
          <p:nvPr/>
        </p:nvSpPr>
        <p:spPr>
          <a:xfrm>
            <a:off x="2220489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!!p21_12"/>
          <p:cNvSpPr/>
          <p:nvPr/>
        </p:nvSpPr>
        <p:spPr>
          <a:xfrm>
            <a:off x="2379235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A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!!p21_13"/>
          <p:cNvSpPr/>
          <p:nvPr/>
        </p:nvSpPr>
        <p:spPr>
          <a:xfrm>
            <a:off x="2537981" y="32244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B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!!p22_05"/>
          <p:cNvSpPr/>
          <p:nvPr/>
        </p:nvSpPr>
        <p:spPr>
          <a:xfrm>
            <a:off x="126801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!!p22_06"/>
          <p:cNvSpPr/>
          <p:nvPr/>
        </p:nvSpPr>
        <p:spPr>
          <a:xfrm>
            <a:off x="142675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!!p22_07"/>
          <p:cNvSpPr/>
          <p:nvPr/>
        </p:nvSpPr>
        <p:spPr>
          <a:xfrm>
            <a:off x="158550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!!p22_08"/>
          <p:cNvSpPr/>
          <p:nvPr/>
        </p:nvSpPr>
        <p:spPr>
          <a:xfrm>
            <a:off x="174425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!!p22_09"/>
          <p:cNvSpPr/>
          <p:nvPr/>
        </p:nvSpPr>
        <p:spPr>
          <a:xfrm>
            <a:off x="1902997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594B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!!p22_10"/>
          <p:cNvSpPr/>
          <p:nvPr/>
        </p:nvSpPr>
        <p:spPr>
          <a:xfrm>
            <a:off x="2061743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F8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!!p22_11"/>
          <p:cNvSpPr/>
          <p:nvPr/>
        </p:nvSpPr>
        <p:spPr>
          <a:xfrm>
            <a:off x="2220489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2B99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!!p22_12"/>
          <p:cNvSpPr/>
          <p:nvPr/>
        </p:nvSpPr>
        <p:spPr>
          <a:xfrm>
            <a:off x="2379235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!!p22_13"/>
          <p:cNvSpPr/>
          <p:nvPr/>
        </p:nvSpPr>
        <p:spPr>
          <a:xfrm>
            <a:off x="2537981" y="3109132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!!p23_04"/>
          <p:cNvSpPr/>
          <p:nvPr/>
        </p:nvSpPr>
        <p:spPr>
          <a:xfrm>
            <a:off x="110926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D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!!p23_05"/>
          <p:cNvSpPr/>
          <p:nvPr/>
        </p:nvSpPr>
        <p:spPr>
          <a:xfrm>
            <a:off x="126801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897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!!p23_06"/>
          <p:cNvSpPr/>
          <p:nvPr/>
        </p:nvSpPr>
        <p:spPr>
          <a:xfrm>
            <a:off x="142675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!!p23_07"/>
          <p:cNvSpPr/>
          <p:nvPr/>
        </p:nvSpPr>
        <p:spPr>
          <a:xfrm>
            <a:off x="158550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4B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!!p23_08"/>
          <p:cNvSpPr/>
          <p:nvPr/>
        </p:nvSpPr>
        <p:spPr>
          <a:xfrm>
            <a:off x="174425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!!p23_09"/>
          <p:cNvSpPr/>
          <p:nvPr/>
        </p:nvSpPr>
        <p:spPr>
          <a:xfrm>
            <a:off x="190299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695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!!p23_10"/>
          <p:cNvSpPr/>
          <p:nvPr/>
        </p:nvSpPr>
        <p:spPr>
          <a:xfrm>
            <a:off x="2061743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A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!!p23_11"/>
          <p:cNvSpPr/>
          <p:nvPr/>
        </p:nvSpPr>
        <p:spPr>
          <a:xfrm>
            <a:off x="2220489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!!p23_12"/>
          <p:cNvSpPr/>
          <p:nvPr/>
        </p:nvSpPr>
        <p:spPr>
          <a:xfrm>
            <a:off x="2379235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2A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!!p23_13"/>
          <p:cNvSpPr/>
          <p:nvPr/>
        </p:nvSpPr>
        <p:spPr>
          <a:xfrm>
            <a:off x="2537981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9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!!p23_14"/>
          <p:cNvSpPr/>
          <p:nvPr/>
        </p:nvSpPr>
        <p:spPr>
          <a:xfrm>
            <a:off x="2696727" y="29938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!!p24_04"/>
          <p:cNvSpPr/>
          <p:nvPr/>
        </p:nvSpPr>
        <p:spPr>
          <a:xfrm>
            <a:off x="110926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F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!!p24_05"/>
          <p:cNvSpPr/>
          <p:nvPr/>
        </p:nvSpPr>
        <p:spPr>
          <a:xfrm>
            <a:off x="126801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8A6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!!p24_06"/>
          <p:cNvSpPr/>
          <p:nvPr/>
        </p:nvSpPr>
        <p:spPr>
          <a:xfrm>
            <a:off x="142675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8B4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!!p24_07"/>
          <p:cNvSpPr/>
          <p:nvPr/>
        </p:nvSpPr>
        <p:spPr>
          <a:xfrm>
            <a:off x="158550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DB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!!p24_08"/>
          <p:cNvSpPr/>
          <p:nvPr/>
        </p:nvSpPr>
        <p:spPr>
          <a:xfrm>
            <a:off x="174425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1A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!!p24_09"/>
          <p:cNvSpPr/>
          <p:nvPr/>
        </p:nvSpPr>
        <p:spPr>
          <a:xfrm>
            <a:off x="190299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49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!!p24_10"/>
          <p:cNvSpPr/>
          <p:nvPr/>
        </p:nvSpPr>
        <p:spPr>
          <a:xfrm>
            <a:off x="2061743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!!p24_11"/>
          <p:cNvSpPr/>
          <p:nvPr/>
        </p:nvSpPr>
        <p:spPr>
          <a:xfrm>
            <a:off x="2220489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29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!!p24_12"/>
          <p:cNvSpPr/>
          <p:nvPr/>
        </p:nvSpPr>
        <p:spPr>
          <a:xfrm>
            <a:off x="2379235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B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!!p24_13"/>
          <p:cNvSpPr/>
          <p:nvPr/>
        </p:nvSpPr>
        <p:spPr>
          <a:xfrm>
            <a:off x="2537981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2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!!p24_14"/>
          <p:cNvSpPr/>
          <p:nvPr/>
        </p:nvSpPr>
        <p:spPr>
          <a:xfrm>
            <a:off x="2696727" y="28785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!!p25_04"/>
          <p:cNvSpPr/>
          <p:nvPr/>
        </p:nvSpPr>
        <p:spPr>
          <a:xfrm>
            <a:off x="110926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C88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!!p25_05"/>
          <p:cNvSpPr/>
          <p:nvPr/>
        </p:nvSpPr>
        <p:spPr>
          <a:xfrm>
            <a:off x="126801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!!p25_06"/>
          <p:cNvSpPr/>
          <p:nvPr/>
        </p:nvSpPr>
        <p:spPr>
          <a:xfrm>
            <a:off x="142675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7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!!p25_07"/>
          <p:cNvSpPr/>
          <p:nvPr/>
        </p:nvSpPr>
        <p:spPr>
          <a:xfrm>
            <a:off x="158550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CB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!!p25_08"/>
          <p:cNvSpPr/>
          <p:nvPr/>
        </p:nvSpPr>
        <p:spPr>
          <a:xfrm>
            <a:off x="174425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D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!!p25_09"/>
          <p:cNvSpPr/>
          <p:nvPr/>
        </p:nvSpPr>
        <p:spPr>
          <a:xfrm>
            <a:off x="190299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!!p25_10"/>
          <p:cNvSpPr/>
          <p:nvPr/>
        </p:nvSpPr>
        <p:spPr>
          <a:xfrm>
            <a:off x="2061743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!!p25_11"/>
          <p:cNvSpPr/>
          <p:nvPr/>
        </p:nvSpPr>
        <p:spPr>
          <a:xfrm>
            <a:off x="2220489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!!p25_12"/>
          <p:cNvSpPr/>
          <p:nvPr/>
        </p:nvSpPr>
        <p:spPr>
          <a:xfrm>
            <a:off x="2379235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!!p25_13"/>
          <p:cNvSpPr/>
          <p:nvPr/>
        </p:nvSpPr>
        <p:spPr>
          <a:xfrm>
            <a:off x="2537981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!!p25_14"/>
          <p:cNvSpPr/>
          <p:nvPr/>
        </p:nvSpPr>
        <p:spPr>
          <a:xfrm>
            <a:off x="2696727" y="27632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E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!!p26_03"/>
          <p:cNvSpPr/>
          <p:nvPr/>
        </p:nvSpPr>
        <p:spPr>
          <a:xfrm>
            <a:off x="95052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!!p26_04"/>
          <p:cNvSpPr/>
          <p:nvPr/>
        </p:nvSpPr>
        <p:spPr>
          <a:xfrm>
            <a:off x="110926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!!p26_05"/>
          <p:cNvSpPr/>
          <p:nvPr/>
        </p:nvSpPr>
        <p:spPr>
          <a:xfrm>
            <a:off x="126801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!!p26_06"/>
          <p:cNvSpPr/>
          <p:nvPr/>
        </p:nvSpPr>
        <p:spPr>
          <a:xfrm>
            <a:off x="142675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3A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!!p26_07"/>
          <p:cNvSpPr/>
          <p:nvPr/>
        </p:nvSpPr>
        <p:spPr>
          <a:xfrm>
            <a:off x="158550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40AD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!!p26_08"/>
          <p:cNvSpPr/>
          <p:nvPr/>
        </p:nvSpPr>
        <p:spPr>
          <a:xfrm>
            <a:off x="174425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319F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!!p26_09"/>
          <p:cNvSpPr/>
          <p:nvPr/>
        </p:nvSpPr>
        <p:spPr>
          <a:xfrm>
            <a:off x="190299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D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!!p26_10"/>
          <p:cNvSpPr/>
          <p:nvPr/>
        </p:nvSpPr>
        <p:spPr>
          <a:xfrm>
            <a:off x="2061743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!!p26_11"/>
          <p:cNvSpPr/>
          <p:nvPr/>
        </p:nvSpPr>
        <p:spPr>
          <a:xfrm>
            <a:off x="2220489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!!p26_12"/>
          <p:cNvSpPr/>
          <p:nvPr/>
        </p:nvSpPr>
        <p:spPr>
          <a:xfrm>
            <a:off x="2379235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3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!!p26_13"/>
          <p:cNvSpPr/>
          <p:nvPr/>
        </p:nvSpPr>
        <p:spPr>
          <a:xfrm>
            <a:off x="2537981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!!p26_14"/>
          <p:cNvSpPr/>
          <p:nvPr/>
        </p:nvSpPr>
        <p:spPr>
          <a:xfrm>
            <a:off x="2696727" y="2647933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!!p27_03"/>
          <p:cNvSpPr/>
          <p:nvPr/>
        </p:nvSpPr>
        <p:spPr>
          <a:xfrm>
            <a:off x="95052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!!p27_04"/>
          <p:cNvSpPr/>
          <p:nvPr/>
        </p:nvSpPr>
        <p:spPr>
          <a:xfrm>
            <a:off x="110926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2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!!p27_05"/>
          <p:cNvSpPr/>
          <p:nvPr/>
        </p:nvSpPr>
        <p:spPr>
          <a:xfrm>
            <a:off x="126801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998B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!!p27_06"/>
          <p:cNvSpPr/>
          <p:nvPr/>
        </p:nvSpPr>
        <p:spPr>
          <a:xfrm>
            <a:off x="142675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309E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!!p27_07"/>
          <p:cNvSpPr/>
          <p:nvPr/>
        </p:nvSpPr>
        <p:spPr>
          <a:xfrm>
            <a:off x="158550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2C9A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!!p27_08"/>
          <p:cNvSpPr/>
          <p:nvPr/>
        </p:nvSpPr>
        <p:spPr>
          <a:xfrm>
            <a:off x="174425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!!p27_09"/>
          <p:cNvSpPr/>
          <p:nvPr/>
        </p:nvSpPr>
        <p:spPr>
          <a:xfrm>
            <a:off x="190299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7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!!p27_10"/>
          <p:cNvSpPr/>
          <p:nvPr/>
        </p:nvSpPr>
        <p:spPr>
          <a:xfrm>
            <a:off x="2061743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!!p27_11"/>
          <p:cNvSpPr/>
          <p:nvPr/>
        </p:nvSpPr>
        <p:spPr>
          <a:xfrm>
            <a:off x="2220489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!!p27_12"/>
          <p:cNvSpPr/>
          <p:nvPr/>
        </p:nvSpPr>
        <p:spPr>
          <a:xfrm>
            <a:off x="2379235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5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!!p27_13"/>
          <p:cNvSpPr/>
          <p:nvPr/>
        </p:nvSpPr>
        <p:spPr>
          <a:xfrm>
            <a:off x="2537981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!!p27_14"/>
          <p:cNvSpPr/>
          <p:nvPr/>
        </p:nvSpPr>
        <p:spPr>
          <a:xfrm>
            <a:off x="2696727" y="25326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!!p28_03"/>
          <p:cNvSpPr/>
          <p:nvPr/>
        </p:nvSpPr>
        <p:spPr>
          <a:xfrm>
            <a:off x="95052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!!p28_04"/>
          <p:cNvSpPr/>
          <p:nvPr/>
        </p:nvSpPr>
        <p:spPr>
          <a:xfrm>
            <a:off x="110926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!!p28_05"/>
          <p:cNvSpPr/>
          <p:nvPr/>
        </p:nvSpPr>
        <p:spPr>
          <a:xfrm>
            <a:off x="126801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!!p28_06"/>
          <p:cNvSpPr/>
          <p:nvPr/>
        </p:nvSpPr>
        <p:spPr>
          <a:xfrm>
            <a:off x="142675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B84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!!p28_07"/>
          <p:cNvSpPr/>
          <p:nvPr/>
        </p:nvSpPr>
        <p:spPr>
          <a:xfrm>
            <a:off x="158550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A7E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!!p28_08"/>
          <p:cNvSpPr/>
          <p:nvPr/>
        </p:nvSpPr>
        <p:spPr>
          <a:xfrm>
            <a:off x="174425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E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!!p28_09"/>
          <p:cNvSpPr/>
          <p:nvPr/>
        </p:nvSpPr>
        <p:spPr>
          <a:xfrm>
            <a:off x="190299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!!p28_10"/>
          <p:cNvSpPr/>
          <p:nvPr/>
        </p:nvSpPr>
        <p:spPr>
          <a:xfrm>
            <a:off x="2061743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!!p28_11"/>
          <p:cNvSpPr/>
          <p:nvPr/>
        </p:nvSpPr>
        <p:spPr>
          <a:xfrm>
            <a:off x="2220489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B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!!p28_12"/>
          <p:cNvSpPr/>
          <p:nvPr/>
        </p:nvSpPr>
        <p:spPr>
          <a:xfrm>
            <a:off x="2379235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!!p28_13"/>
          <p:cNvSpPr/>
          <p:nvPr/>
        </p:nvSpPr>
        <p:spPr>
          <a:xfrm>
            <a:off x="2537981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!!p28_14"/>
          <p:cNvSpPr/>
          <p:nvPr/>
        </p:nvSpPr>
        <p:spPr>
          <a:xfrm>
            <a:off x="2696727" y="24173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!!p29_03"/>
          <p:cNvSpPr/>
          <p:nvPr/>
        </p:nvSpPr>
        <p:spPr>
          <a:xfrm>
            <a:off x="95052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!!p29_04"/>
          <p:cNvSpPr/>
          <p:nvPr/>
        </p:nvSpPr>
        <p:spPr>
          <a:xfrm>
            <a:off x="110926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!!p29_05"/>
          <p:cNvSpPr/>
          <p:nvPr/>
        </p:nvSpPr>
        <p:spPr>
          <a:xfrm>
            <a:off x="126801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0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!!p29_06"/>
          <p:cNvSpPr/>
          <p:nvPr/>
        </p:nvSpPr>
        <p:spPr>
          <a:xfrm>
            <a:off x="142675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61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!!p29_07"/>
          <p:cNvSpPr/>
          <p:nvPr/>
        </p:nvSpPr>
        <p:spPr>
          <a:xfrm>
            <a:off x="158550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B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!!p29_08"/>
          <p:cNvSpPr/>
          <p:nvPr/>
        </p:nvSpPr>
        <p:spPr>
          <a:xfrm>
            <a:off x="174425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!!p29_09"/>
          <p:cNvSpPr/>
          <p:nvPr/>
        </p:nvSpPr>
        <p:spPr>
          <a:xfrm>
            <a:off x="1902997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D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!!p29_10"/>
          <p:cNvSpPr/>
          <p:nvPr/>
        </p:nvSpPr>
        <p:spPr>
          <a:xfrm>
            <a:off x="2061743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!!p29_11"/>
          <p:cNvSpPr/>
          <p:nvPr/>
        </p:nvSpPr>
        <p:spPr>
          <a:xfrm>
            <a:off x="2220489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!!p29_12"/>
          <p:cNvSpPr/>
          <p:nvPr/>
        </p:nvSpPr>
        <p:spPr>
          <a:xfrm>
            <a:off x="2379235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!!p29_13"/>
          <p:cNvSpPr/>
          <p:nvPr/>
        </p:nvSpPr>
        <p:spPr>
          <a:xfrm>
            <a:off x="2537981" y="23020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!!p30_03"/>
          <p:cNvSpPr/>
          <p:nvPr/>
        </p:nvSpPr>
        <p:spPr>
          <a:xfrm>
            <a:off x="95052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!!p30_04"/>
          <p:cNvSpPr/>
          <p:nvPr/>
        </p:nvSpPr>
        <p:spPr>
          <a:xfrm>
            <a:off x="110926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!!p30_05"/>
          <p:cNvSpPr/>
          <p:nvPr/>
        </p:nvSpPr>
        <p:spPr>
          <a:xfrm>
            <a:off x="126801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0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!!p30_06"/>
          <p:cNvSpPr/>
          <p:nvPr/>
        </p:nvSpPr>
        <p:spPr>
          <a:xfrm>
            <a:off x="142675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!!p30_07"/>
          <p:cNvSpPr/>
          <p:nvPr/>
        </p:nvSpPr>
        <p:spPr>
          <a:xfrm>
            <a:off x="158550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40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!!p30_08"/>
          <p:cNvSpPr/>
          <p:nvPr/>
        </p:nvSpPr>
        <p:spPr>
          <a:xfrm>
            <a:off x="174425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!!p30_09"/>
          <p:cNvSpPr/>
          <p:nvPr/>
        </p:nvSpPr>
        <p:spPr>
          <a:xfrm>
            <a:off x="1902997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!!p30_10"/>
          <p:cNvSpPr/>
          <p:nvPr/>
        </p:nvSpPr>
        <p:spPr>
          <a:xfrm>
            <a:off x="2061743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!!p30_11"/>
          <p:cNvSpPr/>
          <p:nvPr/>
        </p:nvSpPr>
        <p:spPr>
          <a:xfrm>
            <a:off x="2220489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1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!!p30_12"/>
          <p:cNvSpPr/>
          <p:nvPr/>
        </p:nvSpPr>
        <p:spPr>
          <a:xfrm>
            <a:off x="2379235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!!p30_13"/>
          <p:cNvSpPr/>
          <p:nvPr/>
        </p:nvSpPr>
        <p:spPr>
          <a:xfrm>
            <a:off x="2537981" y="2186734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!!p31_03"/>
          <p:cNvSpPr/>
          <p:nvPr/>
        </p:nvSpPr>
        <p:spPr>
          <a:xfrm>
            <a:off x="95052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!!p31_04"/>
          <p:cNvSpPr/>
          <p:nvPr/>
        </p:nvSpPr>
        <p:spPr>
          <a:xfrm>
            <a:off x="110926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F47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!!p31_05"/>
          <p:cNvSpPr/>
          <p:nvPr/>
        </p:nvSpPr>
        <p:spPr>
          <a:xfrm>
            <a:off x="126801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!!p31_06"/>
          <p:cNvSpPr/>
          <p:nvPr/>
        </p:nvSpPr>
        <p:spPr>
          <a:xfrm>
            <a:off x="142675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!!p31_07"/>
          <p:cNvSpPr/>
          <p:nvPr/>
        </p:nvSpPr>
        <p:spPr>
          <a:xfrm>
            <a:off x="158550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!!p31_08"/>
          <p:cNvSpPr/>
          <p:nvPr/>
        </p:nvSpPr>
        <p:spPr>
          <a:xfrm>
            <a:off x="174425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!!p31_09"/>
          <p:cNvSpPr/>
          <p:nvPr/>
        </p:nvSpPr>
        <p:spPr>
          <a:xfrm>
            <a:off x="1902997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!!p31_10"/>
          <p:cNvSpPr/>
          <p:nvPr/>
        </p:nvSpPr>
        <p:spPr>
          <a:xfrm>
            <a:off x="2061743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!!p31_11"/>
          <p:cNvSpPr/>
          <p:nvPr/>
        </p:nvSpPr>
        <p:spPr>
          <a:xfrm>
            <a:off x="2220489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!!p31_12"/>
          <p:cNvSpPr/>
          <p:nvPr/>
        </p:nvSpPr>
        <p:spPr>
          <a:xfrm>
            <a:off x="2379235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!!p31_13"/>
          <p:cNvSpPr/>
          <p:nvPr/>
        </p:nvSpPr>
        <p:spPr>
          <a:xfrm>
            <a:off x="2537981" y="20714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!!p32_03"/>
          <p:cNvSpPr/>
          <p:nvPr/>
        </p:nvSpPr>
        <p:spPr>
          <a:xfrm>
            <a:off x="95052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!!p32_04"/>
          <p:cNvSpPr/>
          <p:nvPr/>
        </p:nvSpPr>
        <p:spPr>
          <a:xfrm>
            <a:off x="110926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358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!!p32_05"/>
          <p:cNvSpPr/>
          <p:nvPr/>
        </p:nvSpPr>
        <p:spPr>
          <a:xfrm>
            <a:off x="126801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45F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!!p32_06"/>
          <p:cNvSpPr/>
          <p:nvPr/>
        </p:nvSpPr>
        <p:spPr>
          <a:xfrm>
            <a:off x="142675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C6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!!p32_07"/>
          <p:cNvSpPr/>
          <p:nvPr/>
        </p:nvSpPr>
        <p:spPr>
          <a:xfrm>
            <a:off x="158550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B32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!!p32_08"/>
          <p:cNvSpPr/>
          <p:nvPr/>
        </p:nvSpPr>
        <p:spPr>
          <a:xfrm>
            <a:off x="1744251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!!p32_09"/>
          <p:cNvSpPr/>
          <p:nvPr/>
        </p:nvSpPr>
        <p:spPr>
          <a:xfrm>
            <a:off x="1902997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E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!!p32_10"/>
          <p:cNvSpPr/>
          <p:nvPr/>
        </p:nvSpPr>
        <p:spPr>
          <a:xfrm>
            <a:off x="2061743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!!p32_11"/>
          <p:cNvSpPr/>
          <p:nvPr/>
        </p:nvSpPr>
        <p:spPr>
          <a:xfrm>
            <a:off x="2220489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!!p32_12"/>
          <p:cNvSpPr/>
          <p:nvPr/>
        </p:nvSpPr>
        <p:spPr>
          <a:xfrm>
            <a:off x="2379235" y="19561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!!p33_03"/>
          <p:cNvSpPr/>
          <p:nvPr/>
        </p:nvSpPr>
        <p:spPr>
          <a:xfrm>
            <a:off x="95052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!!p33_04"/>
          <p:cNvSpPr/>
          <p:nvPr/>
        </p:nvSpPr>
        <p:spPr>
          <a:xfrm>
            <a:off x="110926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9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!!p33_05"/>
          <p:cNvSpPr/>
          <p:nvPr/>
        </p:nvSpPr>
        <p:spPr>
          <a:xfrm>
            <a:off x="126801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70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!!p33_06"/>
          <p:cNvSpPr/>
          <p:nvPr/>
        </p:nvSpPr>
        <p:spPr>
          <a:xfrm>
            <a:off x="142675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!!p33_07"/>
          <p:cNvSpPr/>
          <p:nvPr/>
        </p:nvSpPr>
        <p:spPr>
          <a:xfrm>
            <a:off x="158550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30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!!p33_08"/>
          <p:cNvSpPr/>
          <p:nvPr/>
        </p:nvSpPr>
        <p:spPr>
          <a:xfrm>
            <a:off x="1744251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!!p33_09"/>
          <p:cNvSpPr/>
          <p:nvPr/>
        </p:nvSpPr>
        <p:spPr>
          <a:xfrm>
            <a:off x="1902997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!!p33_10"/>
          <p:cNvSpPr/>
          <p:nvPr/>
        </p:nvSpPr>
        <p:spPr>
          <a:xfrm>
            <a:off x="2061743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!!p33_11"/>
          <p:cNvSpPr/>
          <p:nvPr/>
        </p:nvSpPr>
        <p:spPr>
          <a:xfrm>
            <a:off x="2220489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!!p33_12"/>
          <p:cNvSpPr/>
          <p:nvPr/>
        </p:nvSpPr>
        <p:spPr>
          <a:xfrm>
            <a:off x="2379235" y="18408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!!p34_03"/>
          <p:cNvSpPr/>
          <p:nvPr/>
        </p:nvSpPr>
        <p:spPr>
          <a:xfrm>
            <a:off x="95052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!!p34_04"/>
          <p:cNvSpPr/>
          <p:nvPr/>
        </p:nvSpPr>
        <p:spPr>
          <a:xfrm>
            <a:off x="110926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76F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!!p34_05"/>
          <p:cNvSpPr/>
          <p:nvPr/>
        </p:nvSpPr>
        <p:spPr>
          <a:xfrm>
            <a:off x="126801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1875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!!p34_06"/>
          <p:cNvSpPr/>
          <p:nvPr/>
        </p:nvSpPr>
        <p:spPr>
          <a:xfrm>
            <a:off x="142675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!!p34_07"/>
          <p:cNvSpPr/>
          <p:nvPr/>
        </p:nvSpPr>
        <p:spPr>
          <a:xfrm>
            <a:off x="1585505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!!p34_08"/>
          <p:cNvSpPr/>
          <p:nvPr/>
        </p:nvSpPr>
        <p:spPr>
          <a:xfrm>
            <a:off x="1744251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C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!!p34_09"/>
          <p:cNvSpPr/>
          <p:nvPr/>
        </p:nvSpPr>
        <p:spPr>
          <a:xfrm>
            <a:off x="1902997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!!p34_10"/>
          <p:cNvSpPr/>
          <p:nvPr/>
        </p:nvSpPr>
        <p:spPr>
          <a:xfrm>
            <a:off x="2061743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!!p34_11"/>
          <p:cNvSpPr/>
          <p:nvPr/>
        </p:nvSpPr>
        <p:spPr>
          <a:xfrm>
            <a:off x="2220489" y="1725535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!!p35_04"/>
          <p:cNvSpPr/>
          <p:nvPr/>
        </p:nvSpPr>
        <p:spPr>
          <a:xfrm>
            <a:off x="110926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56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!!p35_05"/>
          <p:cNvSpPr/>
          <p:nvPr/>
        </p:nvSpPr>
        <p:spPr>
          <a:xfrm>
            <a:off x="126801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66A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!!p35_06"/>
          <p:cNvSpPr/>
          <p:nvPr/>
        </p:nvSpPr>
        <p:spPr>
          <a:xfrm>
            <a:off x="142675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D39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!!p35_07"/>
          <p:cNvSpPr/>
          <p:nvPr/>
        </p:nvSpPr>
        <p:spPr>
          <a:xfrm>
            <a:off x="1585505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!!p35_08"/>
          <p:cNvSpPr/>
          <p:nvPr/>
        </p:nvSpPr>
        <p:spPr>
          <a:xfrm>
            <a:off x="1744251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!!p35_09"/>
          <p:cNvSpPr/>
          <p:nvPr/>
        </p:nvSpPr>
        <p:spPr>
          <a:xfrm>
            <a:off x="1902997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!!p35_10"/>
          <p:cNvSpPr/>
          <p:nvPr/>
        </p:nvSpPr>
        <p:spPr>
          <a:xfrm>
            <a:off x="2061743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!!p35_11"/>
          <p:cNvSpPr/>
          <p:nvPr/>
        </p:nvSpPr>
        <p:spPr>
          <a:xfrm>
            <a:off x="2220489" y="16102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!!p36_04"/>
          <p:cNvSpPr/>
          <p:nvPr/>
        </p:nvSpPr>
        <p:spPr>
          <a:xfrm>
            <a:off x="110926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14D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!!p36_05"/>
          <p:cNvSpPr/>
          <p:nvPr/>
        </p:nvSpPr>
        <p:spPr>
          <a:xfrm>
            <a:off x="126801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1252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!!p36_06"/>
          <p:cNvSpPr/>
          <p:nvPr/>
        </p:nvSpPr>
        <p:spPr>
          <a:xfrm>
            <a:off x="1426759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!!p36_07"/>
          <p:cNvSpPr/>
          <p:nvPr/>
        </p:nvSpPr>
        <p:spPr>
          <a:xfrm>
            <a:off x="1585505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92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!!p36_08"/>
          <p:cNvSpPr/>
          <p:nvPr/>
        </p:nvSpPr>
        <p:spPr>
          <a:xfrm>
            <a:off x="1744251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!!p36_09"/>
          <p:cNvSpPr/>
          <p:nvPr/>
        </p:nvSpPr>
        <p:spPr>
          <a:xfrm>
            <a:off x="1902997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!!p36_10"/>
          <p:cNvSpPr/>
          <p:nvPr/>
        </p:nvSpPr>
        <p:spPr>
          <a:xfrm>
            <a:off x="2061743" y="14949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!!p37_04"/>
          <p:cNvSpPr/>
          <p:nvPr/>
        </p:nvSpPr>
        <p:spPr>
          <a:xfrm>
            <a:off x="110926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!!p37_05"/>
          <p:cNvSpPr/>
          <p:nvPr/>
        </p:nvSpPr>
        <p:spPr>
          <a:xfrm>
            <a:off x="1268013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C3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!!p37_06"/>
          <p:cNvSpPr/>
          <p:nvPr/>
        </p:nvSpPr>
        <p:spPr>
          <a:xfrm>
            <a:off x="1426759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A2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!!p37_07"/>
          <p:cNvSpPr/>
          <p:nvPr/>
        </p:nvSpPr>
        <p:spPr>
          <a:xfrm>
            <a:off x="1585505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9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!!p37_08"/>
          <p:cNvSpPr/>
          <p:nvPr/>
        </p:nvSpPr>
        <p:spPr>
          <a:xfrm>
            <a:off x="1744251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!!p37_09"/>
          <p:cNvSpPr/>
          <p:nvPr/>
        </p:nvSpPr>
        <p:spPr>
          <a:xfrm>
            <a:off x="1902997" y="1379636"/>
            <a:ext cx="99157" cy="99157"/>
          </a:xfrm>
          <a:prstGeom prst="roundRect">
            <a:avLst>
              <a:gd name="adj" fmla="val 30000"/>
            </a:avLst>
          </a:prstGeom>
          <a:solidFill>
            <a:srgbClr val="082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Rectangle 328"/>
          <p:cNvSpPr/>
          <p:nvPr/>
        </p:nvSpPr>
        <p:spPr>
          <a:xfrm>
            <a:off x="920726" y="5905352"/>
            <a:ext cx="38099" cy="101597"/>
          </a:xfrm>
          <a:prstGeom prst="rect">
            <a:avLst/>
          </a:prstGeom>
          <a:solidFill>
            <a:srgbClr val="051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Rectangle 329"/>
          <p:cNvSpPr/>
          <p:nvPr/>
        </p:nvSpPr>
        <p:spPr>
          <a:xfrm>
            <a:off x="952476" y="5905352"/>
            <a:ext cx="38099" cy="101597"/>
          </a:xfrm>
          <a:prstGeom prst="rect">
            <a:avLst/>
          </a:prstGeom>
          <a:solidFill>
            <a:srgbClr val="062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Rectangle 330"/>
          <p:cNvSpPr/>
          <p:nvPr/>
        </p:nvSpPr>
        <p:spPr>
          <a:xfrm>
            <a:off x="984225" y="5905352"/>
            <a:ext cx="38099" cy="101597"/>
          </a:xfrm>
          <a:prstGeom prst="rect">
            <a:avLst/>
          </a:prstGeom>
          <a:solidFill>
            <a:srgbClr val="072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Rectangle 331"/>
          <p:cNvSpPr/>
          <p:nvPr/>
        </p:nvSpPr>
        <p:spPr>
          <a:xfrm>
            <a:off x="1015974" y="5905352"/>
            <a:ext cx="38099" cy="101597"/>
          </a:xfrm>
          <a:prstGeom prst="rect">
            <a:avLst/>
          </a:prstGeom>
          <a:solidFill>
            <a:srgbClr val="0826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Rectangle 332"/>
          <p:cNvSpPr/>
          <p:nvPr/>
        </p:nvSpPr>
        <p:spPr>
          <a:xfrm>
            <a:off x="1047723" y="5905352"/>
            <a:ext cx="38099" cy="101597"/>
          </a:xfrm>
          <a:prstGeom prst="rect">
            <a:avLst/>
          </a:prstGeom>
          <a:solidFill>
            <a:srgbClr val="0829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Rectangle 333"/>
          <p:cNvSpPr/>
          <p:nvPr/>
        </p:nvSpPr>
        <p:spPr>
          <a:xfrm>
            <a:off x="1079473" y="5905352"/>
            <a:ext cx="38099" cy="101597"/>
          </a:xfrm>
          <a:prstGeom prst="rect">
            <a:avLst/>
          </a:prstGeom>
          <a:solidFill>
            <a:srgbClr val="092C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Rectangle 334"/>
          <p:cNvSpPr/>
          <p:nvPr/>
        </p:nvSpPr>
        <p:spPr>
          <a:xfrm>
            <a:off x="1111222" y="5905352"/>
            <a:ext cx="38099" cy="101597"/>
          </a:xfrm>
          <a:prstGeom prst="rect">
            <a:avLst/>
          </a:prstGeom>
          <a:solidFill>
            <a:srgbClr val="0A2F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Rectangle 335"/>
          <p:cNvSpPr/>
          <p:nvPr/>
        </p:nvSpPr>
        <p:spPr>
          <a:xfrm>
            <a:off x="1142971" y="5905352"/>
            <a:ext cx="38099" cy="101597"/>
          </a:xfrm>
          <a:prstGeom prst="rect">
            <a:avLst/>
          </a:prstGeom>
          <a:solidFill>
            <a:srgbClr val="0B33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Rectangle 336"/>
          <p:cNvSpPr/>
          <p:nvPr/>
        </p:nvSpPr>
        <p:spPr>
          <a:xfrm>
            <a:off x="1174720" y="5905352"/>
            <a:ext cx="38099" cy="101597"/>
          </a:xfrm>
          <a:prstGeom prst="rect">
            <a:avLst/>
          </a:prstGeom>
          <a:solidFill>
            <a:srgbClr val="0C3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Rectangle 337"/>
          <p:cNvSpPr/>
          <p:nvPr/>
        </p:nvSpPr>
        <p:spPr>
          <a:xfrm>
            <a:off x="1206469" y="5905352"/>
            <a:ext cx="38099" cy="101597"/>
          </a:xfrm>
          <a:prstGeom prst="rect">
            <a:avLst/>
          </a:prstGeom>
          <a:solidFill>
            <a:srgbClr val="0D3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Rectangle 338"/>
          <p:cNvSpPr/>
          <p:nvPr/>
        </p:nvSpPr>
        <p:spPr>
          <a:xfrm>
            <a:off x="1238219" y="5905352"/>
            <a:ext cx="38099" cy="101597"/>
          </a:xfrm>
          <a:prstGeom prst="rect">
            <a:avLst/>
          </a:prstGeom>
          <a:solidFill>
            <a:srgbClr val="0E3F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Rectangle 339"/>
          <p:cNvSpPr/>
          <p:nvPr/>
        </p:nvSpPr>
        <p:spPr>
          <a:xfrm>
            <a:off x="1269968" y="5905352"/>
            <a:ext cx="38099" cy="101597"/>
          </a:xfrm>
          <a:prstGeom prst="rect">
            <a:avLst/>
          </a:prstGeom>
          <a:solidFill>
            <a:srgbClr val="104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Rectangle 340"/>
          <p:cNvSpPr/>
          <p:nvPr/>
        </p:nvSpPr>
        <p:spPr>
          <a:xfrm>
            <a:off x="1301717" y="5905352"/>
            <a:ext cx="38099" cy="101597"/>
          </a:xfrm>
          <a:prstGeom prst="rect">
            <a:avLst/>
          </a:prstGeom>
          <a:solidFill>
            <a:srgbClr val="1151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Rectangle 341"/>
          <p:cNvSpPr/>
          <p:nvPr/>
        </p:nvSpPr>
        <p:spPr>
          <a:xfrm>
            <a:off x="1333466" y="5905352"/>
            <a:ext cx="38099" cy="101597"/>
          </a:xfrm>
          <a:prstGeom prst="rect">
            <a:avLst/>
          </a:prstGeom>
          <a:solidFill>
            <a:srgbClr val="1359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Rectangle 342"/>
          <p:cNvSpPr/>
          <p:nvPr/>
        </p:nvSpPr>
        <p:spPr>
          <a:xfrm>
            <a:off x="1365215" y="5905352"/>
            <a:ext cx="38099" cy="101597"/>
          </a:xfrm>
          <a:prstGeom prst="rect">
            <a:avLst/>
          </a:prstGeom>
          <a:solidFill>
            <a:srgbClr val="1562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Rectangle 343"/>
          <p:cNvSpPr/>
          <p:nvPr/>
        </p:nvSpPr>
        <p:spPr>
          <a:xfrm>
            <a:off x="1396965" y="5905352"/>
            <a:ext cx="38099" cy="101597"/>
          </a:xfrm>
          <a:prstGeom prst="rect">
            <a:avLst/>
          </a:prstGeom>
          <a:solidFill>
            <a:srgbClr val="166B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Rectangle 344"/>
          <p:cNvSpPr/>
          <p:nvPr/>
        </p:nvSpPr>
        <p:spPr>
          <a:xfrm>
            <a:off x="1428714" y="5905352"/>
            <a:ext cx="38099" cy="101597"/>
          </a:xfrm>
          <a:prstGeom prst="rect">
            <a:avLst/>
          </a:prstGeom>
          <a:solidFill>
            <a:srgbClr val="187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Rectangle 345"/>
          <p:cNvSpPr/>
          <p:nvPr/>
        </p:nvSpPr>
        <p:spPr>
          <a:xfrm>
            <a:off x="1460463" y="5905352"/>
            <a:ext cx="38099" cy="101597"/>
          </a:xfrm>
          <a:prstGeom prst="rect">
            <a:avLst/>
          </a:prstGeom>
          <a:solidFill>
            <a:srgbClr val="1A7CA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Rectangle 346"/>
          <p:cNvSpPr/>
          <p:nvPr/>
        </p:nvSpPr>
        <p:spPr>
          <a:xfrm>
            <a:off x="1492212" y="5905352"/>
            <a:ext cx="38099" cy="101597"/>
          </a:xfrm>
          <a:prstGeom prst="rect">
            <a:avLst/>
          </a:prstGeom>
          <a:solidFill>
            <a:srgbClr val="1C85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Rectangle 347"/>
          <p:cNvSpPr/>
          <p:nvPr/>
        </p:nvSpPr>
        <p:spPr>
          <a:xfrm>
            <a:off x="1523961" y="5905352"/>
            <a:ext cx="38099" cy="101597"/>
          </a:xfrm>
          <a:prstGeom prst="rect">
            <a:avLst/>
          </a:prstGeom>
          <a:solidFill>
            <a:srgbClr val="1E8E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9" name="Rectangle 348"/>
          <p:cNvSpPr/>
          <p:nvPr/>
        </p:nvSpPr>
        <p:spPr>
          <a:xfrm>
            <a:off x="1555711" y="5905352"/>
            <a:ext cx="38099" cy="101597"/>
          </a:xfrm>
          <a:prstGeom prst="rect">
            <a:avLst/>
          </a:prstGeom>
          <a:solidFill>
            <a:srgbClr val="2393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Rectangle 349"/>
          <p:cNvSpPr/>
          <p:nvPr/>
        </p:nvSpPr>
        <p:spPr>
          <a:xfrm>
            <a:off x="1587460" y="5905352"/>
            <a:ext cx="38099" cy="101597"/>
          </a:xfrm>
          <a:prstGeom prst="rect">
            <a:avLst/>
          </a:prstGeom>
          <a:solidFill>
            <a:srgbClr val="299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1" name="Rectangle 350"/>
          <p:cNvSpPr/>
          <p:nvPr/>
        </p:nvSpPr>
        <p:spPr>
          <a:xfrm>
            <a:off x="1619209" y="5905352"/>
            <a:ext cx="38099" cy="101597"/>
          </a:xfrm>
          <a:prstGeom prst="rect">
            <a:avLst/>
          </a:prstGeom>
          <a:solidFill>
            <a:srgbClr val="2F9D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Rectangle 351"/>
          <p:cNvSpPr/>
          <p:nvPr/>
        </p:nvSpPr>
        <p:spPr>
          <a:xfrm>
            <a:off x="1650958" y="5905352"/>
            <a:ext cx="38099" cy="101597"/>
          </a:xfrm>
          <a:prstGeom prst="rect">
            <a:avLst/>
          </a:prstGeom>
          <a:solidFill>
            <a:srgbClr val="34A2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3" name="Rectangle 352"/>
          <p:cNvSpPr/>
          <p:nvPr/>
        </p:nvSpPr>
        <p:spPr>
          <a:xfrm>
            <a:off x="1682707" y="5905352"/>
            <a:ext cx="38099" cy="101597"/>
          </a:xfrm>
          <a:prstGeom prst="rect">
            <a:avLst/>
          </a:prstGeom>
          <a:solidFill>
            <a:srgbClr val="3AA7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4" name="Rectangle 353"/>
          <p:cNvSpPr/>
          <p:nvPr/>
        </p:nvSpPr>
        <p:spPr>
          <a:xfrm>
            <a:off x="1714457" y="5905352"/>
            <a:ext cx="38099" cy="101597"/>
          </a:xfrm>
          <a:prstGeom prst="rect">
            <a:avLst/>
          </a:prstGeom>
          <a:solidFill>
            <a:srgbClr val="3FACD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1746206" y="5905352"/>
            <a:ext cx="38099" cy="101597"/>
          </a:xfrm>
          <a:prstGeom prst="rect">
            <a:avLst/>
          </a:prstGeom>
          <a:solidFill>
            <a:srgbClr val="45B1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Rectangle 355"/>
          <p:cNvSpPr/>
          <p:nvPr/>
        </p:nvSpPr>
        <p:spPr>
          <a:xfrm>
            <a:off x="1777955" y="5905352"/>
            <a:ext cx="38099" cy="101597"/>
          </a:xfrm>
          <a:prstGeom prst="rect">
            <a:avLst/>
          </a:prstGeom>
          <a:solidFill>
            <a:srgbClr val="4BB6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Rectangle 356"/>
          <p:cNvSpPr/>
          <p:nvPr/>
        </p:nvSpPr>
        <p:spPr>
          <a:xfrm>
            <a:off x="1809704" y="5905352"/>
            <a:ext cx="38099" cy="101597"/>
          </a:xfrm>
          <a:prstGeom prst="rect">
            <a:avLst/>
          </a:prstGeom>
          <a:solidFill>
            <a:srgbClr val="50BB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Rectangle 357"/>
          <p:cNvSpPr/>
          <p:nvPr/>
        </p:nvSpPr>
        <p:spPr>
          <a:xfrm>
            <a:off x="1841453" y="5905352"/>
            <a:ext cx="38099" cy="101597"/>
          </a:xfrm>
          <a:prstGeom prst="rect">
            <a:avLst/>
          </a:prstGeom>
          <a:solidFill>
            <a:srgbClr val="60BF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Rectangle 358"/>
          <p:cNvSpPr/>
          <p:nvPr/>
        </p:nvSpPr>
        <p:spPr>
          <a:xfrm>
            <a:off x="1873203" y="5905352"/>
            <a:ext cx="38099" cy="101597"/>
          </a:xfrm>
          <a:prstGeom prst="rect">
            <a:avLst/>
          </a:prstGeom>
          <a:solidFill>
            <a:srgbClr val="75C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Rectangle 359"/>
          <p:cNvSpPr/>
          <p:nvPr/>
        </p:nvSpPr>
        <p:spPr>
          <a:xfrm>
            <a:off x="1904952" y="5905352"/>
            <a:ext cx="38099" cy="101597"/>
          </a:xfrm>
          <a:prstGeom prst="rect">
            <a:avLst/>
          </a:prstGeom>
          <a:solidFill>
            <a:srgbClr val="8AC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Rectangle 360"/>
          <p:cNvSpPr/>
          <p:nvPr/>
        </p:nvSpPr>
        <p:spPr>
          <a:xfrm>
            <a:off x="1936701" y="5905352"/>
            <a:ext cx="38099" cy="101597"/>
          </a:xfrm>
          <a:prstGeom prst="rect">
            <a:avLst/>
          </a:prstGeom>
          <a:solidFill>
            <a:srgbClr val="9FC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Rectangle 361"/>
          <p:cNvSpPr/>
          <p:nvPr/>
        </p:nvSpPr>
        <p:spPr>
          <a:xfrm>
            <a:off x="1968450" y="5905352"/>
            <a:ext cx="38099" cy="101597"/>
          </a:xfrm>
          <a:prstGeom prst="rect">
            <a:avLst/>
          </a:prstGeom>
          <a:solidFill>
            <a:srgbClr val="B4C9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Rectangle 362"/>
          <p:cNvSpPr/>
          <p:nvPr/>
        </p:nvSpPr>
        <p:spPr>
          <a:xfrm>
            <a:off x="2000199" y="5905352"/>
            <a:ext cx="38099" cy="101597"/>
          </a:xfrm>
          <a:prstGeom prst="rect">
            <a:avLst/>
          </a:prstGeom>
          <a:solidFill>
            <a:srgbClr val="C9CB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Rectangle 363"/>
          <p:cNvSpPr/>
          <p:nvPr/>
        </p:nvSpPr>
        <p:spPr>
          <a:xfrm>
            <a:off x="2031949" y="5905352"/>
            <a:ext cx="38099" cy="101597"/>
          </a:xfrm>
          <a:prstGeom prst="rect">
            <a:avLst/>
          </a:prstGeom>
          <a:solidFill>
            <a:srgbClr val="DEC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Rectangle 364"/>
          <p:cNvSpPr/>
          <p:nvPr/>
        </p:nvSpPr>
        <p:spPr>
          <a:xfrm>
            <a:off x="2063698" y="5905352"/>
            <a:ext cx="38099" cy="101597"/>
          </a:xfrm>
          <a:prstGeom prst="rect">
            <a:avLst/>
          </a:prstGeom>
          <a:solidFill>
            <a:srgbClr val="F3D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Rectangle 365"/>
          <p:cNvSpPr/>
          <p:nvPr/>
        </p:nvSpPr>
        <p:spPr>
          <a:xfrm>
            <a:off x="2095447" y="5905352"/>
            <a:ext cx="38099" cy="101597"/>
          </a:xfrm>
          <a:prstGeom prst="rect">
            <a:avLst/>
          </a:prstGeom>
          <a:solidFill>
            <a:srgbClr val="FFCF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Rectangle 366"/>
          <p:cNvSpPr/>
          <p:nvPr/>
        </p:nvSpPr>
        <p:spPr>
          <a:xfrm>
            <a:off x="2127196" y="5905352"/>
            <a:ext cx="38099" cy="101597"/>
          </a:xfrm>
          <a:prstGeom prst="rect">
            <a:avLst/>
          </a:prstGeom>
          <a:solidFill>
            <a:srgbClr val="FFC6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Rectangle 367"/>
          <p:cNvSpPr/>
          <p:nvPr/>
        </p:nvSpPr>
        <p:spPr>
          <a:xfrm>
            <a:off x="2158946" y="5905352"/>
            <a:ext cx="38099" cy="101597"/>
          </a:xfrm>
          <a:prstGeom prst="rect">
            <a:avLst/>
          </a:prstGeom>
          <a:solidFill>
            <a:srgbClr val="FFBE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Rectangle 368"/>
          <p:cNvSpPr/>
          <p:nvPr/>
        </p:nvSpPr>
        <p:spPr>
          <a:xfrm>
            <a:off x="2190695" y="5905352"/>
            <a:ext cx="38099" cy="101597"/>
          </a:xfrm>
          <a:prstGeom prst="rect">
            <a:avLst/>
          </a:prstGeom>
          <a:solidFill>
            <a:srgbClr val="FFB6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Rectangle 369"/>
          <p:cNvSpPr/>
          <p:nvPr/>
        </p:nvSpPr>
        <p:spPr>
          <a:xfrm>
            <a:off x="2222444" y="5905352"/>
            <a:ext cx="38099" cy="101597"/>
          </a:xfrm>
          <a:prstGeom prst="rect">
            <a:avLst/>
          </a:prstGeom>
          <a:solidFill>
            <a:srgbClr val="FFAD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Rectangle 370"/>
          <p:cNvSpPr/>
          <p:nvPr/>
        </p:nvSpPr>
        <p:spPr>
          <a:xfrm>
            <a:off x="2254193" y="5905352"/>
            <a:ext cx="38099" cy="101597"/>
          </a:xfrm>
          <a:prstGeom prst="rect">
            <a:avLst/>
          </a:prstGeom>
          <a:solidFill>
            <a:srgbClr val="FF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Rectangle 371"/>
          <p:cNvSpPr/>
          <p:nvPr/>
        </p:nvSpPr>
        <p:spPr>
          <a:xfrm>
            <a:off x="2285942" y="5905352"/>
            <a:ext cx="38099" cy="101597"/>
          </a:xfrm>
          <a:prstGeom prst="rect">
            <a:avLst/>
          </a:prstGeom>
          <a:solidFill>
            <a:srgbClr val="FF9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Rectangle 372"/>
          <p:cNvSpPr/>
          <p:nvPr/>
        </p:nvSpPr>
        <p:spPr>
          <a:xfrm>
            <a:off x="2317692" y="5905352"/>
            <a:ext cx="38099" cy="101597"/>
          </a:xfrm>
          <a:prstGeom prst="rect">
            <a:avLst/>
          </a:prstGeom>
          <a:solidFill>
            <a:srgbClr val="FF9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Rectangle 373"/>
          <p:cNvSpPr/>
          <p:nvPr/>
        </p:nvSpPr>
        <p:spPr>
          <a:xfrm>
            <a:off x="2349441" y="5905352"/>
            <a:ext cx="38099" cy="101597"/>
          </a:xfrm>
          <a:prstGeom prst="rect">
            <a:avLst/>
          </a:prstGeom>
          <a:solidFill>
            <a:srgbClr val="FF8C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Rectangle 374"/>
          <p:cNvSpPr/>
          <p:nvPr/>
        </p:nvSpPr>
        <p:spPr>
          <a:xfrm>
            <a:off x="2381190" y="5905352"/>
            <a:ext cx="38099" cy="101597"/>
          </a:xfrm>
          <a:prstGeom prst="rect">
            <a:avLst/>
          </a:prstGeom>
          <a:solidFill>
            <a:srgbClr val="FF84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Rectangle 375"/>
          <p:cNvSpPr/>
          <p:nvPr/>
        </p:nvSpPr>
        <p:spPr>
          <a:xfrm>
            <a:off x="2412939" y="5905352"/>
            <a:ext cx="38099" cy="101597"/>
          </a:xfrm>
          <a:prstGeom prst="rect">
            <a:avLst/>
          </a:prstGeom>
          <a:solidFill>
            <a:srgbClr val="FF7C0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Rectangle 376"/>
          <p:cNvSpPr/>
          <p:nvPr/>
        </p:nvSpPr>
        <p:spPr>
          <a:xfrm>
            <a:off x="2444688" y="5905352"/>
            <a:ext cx="38099" cy="101597"/>
          </a:xfrm>
          <a:prstGeom prst="rect">
            <a:avLst/>
          </a:prstGeom>
          <a:solidFill>
            <a:srgbClr val="FD75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Rectangle 377"/>
          <p:cNvSpPr/>
          <p:nvPr/>
        </p:nvSpPr>
        <p:spPr>
          <a:xfrm>
            <a:off x="2476438" y="5905352"/>
            <a:ext cx="38099" cy="101597"/>
          </a:xfrm>
          <a:prstGeom prst="rect">
            <a:avLst/>
          </a:prstGeom>
          <a:solidFill>
            <a:srgbClr val="FB6F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Rectangle 378"/>
          <p:cNvSpPr/>
          <p:nvPr/>
        </p:nvSpPr>
        <p:spPr>
          <a:xfrm>
            <a:off x="2508187" y="5905352"/>
            <a:ext cx="38099" cy="101597"/>
          </a:xfrm>
          <a:prstGeom prst="rect">
            <a:avLst/>
          </a:prstGeom>
          <a:solidFill>
            <a:srgbClr val="FA69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Rectangle 379"/>
          <p:cNvSpPr/>
          <p:nvPr/>
        </p:nvSpPr>
        <p:spPr>
          <a:xfrm>
            <a:off x="2539936" y="5905352"/>
            <a:ext cx="38099" cy="101597"/>
          </a:xfrm>
          <a:prstGeom prst="rect">
            <a:avLst/>
          </a:prstGeom>
          <a:solidFill>
            <a:srgbClr val="F86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Rectangle 380"/>
          <p:cNvSpPr/>
          <p:nvPr/>
        </p:nvSpPr>
        <p:spPr>
          <a:xfrm>
            <a:off x="2571685" y="5905352"/>
            <a:ext cx="38099" cy="101597"/>
          </a:xfrm>
          <a:prstGeom prst="rect">
            <a:avLst/>
          </a:prstGeom>
          <a:solidFill>
            <a:srgbClr val="F65D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Rectangle 381"/>
          <p:cNvSpPr/>
          <p:nvPr/>
        </p:nvSpPr>
        <p:spPr>
          <a:xfrm>
            <a:off x="2603434" y="5905352"/>
            <a:ext cx="38099" cy="101597"/>
          </a:xfrm>
          <a:prstGeom prst="rect">
            <a:avLst/>
          </a:prstGeom>
          <a:solidFill>
            <a:srgbClr val="F45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Rectangle 382"/>
          <p:cNvSpPr/>
          <p:nvPr/>
        </p:nvSpPr>
        <p:spPr>
          <a:xfrm>
            <a:off x="2635184" y="5905352"/>
            <a:ext cx="38099" cy="101597"/>
          </a:xfrm>
          <a:prstGeom prst="rect">
            <a:avLst/>
          </a:prstGeom>
          <a:solidFill>
            <a:srgbClr val="F25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Rectangle 383"/>
          <p:cNvSpPr/>
          <p:nvPr/>
        </p:nvSpPr>
        <p:spPr>
          <a:xfrm>
            <a:off x="2666933" y="5905352"/>
            <a:ext cx="38099" cy="101597"/>
          </a:xfrm>
          <a:prstGeom prst="rect">
            <a:avLst/>
          </a:prstGeom>
          <a:solidFill>
            <a:srgbClr val="F04B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Rectangle 384"/>
          <p:cNvSpPr/>
          <p:nvPr/>
        </p:nvSpPr>
        <p:spPr>
          <a:xfrm>
            <a:off x="2698682" y="5905352"/>
            <a:ext cx="38099" cy="101597"/>
          </a:xfrm>
          <a:prstGeom prst="rect">
            <a:avLst/>
          </a:prstGeom>
          <a:solidFill>
            <a:srgbClr val="EE45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Rectangle 385"/>
          <p:cNvSpPr/>
          <p:nvPr/>
        </p:nvSpPr>
        <p:spPr>
          <a:xfrm>
            <a:off x="2730431" y="5905352"/>
            <a:ext cx="38099" cy="101597"/>
          </a:xfrm>
          <a:prstGeom prst="rect">
            <a:avLst/>
          </a:prstGeom>
          <a:solidFill>
            <a:srgbClr val="EC3F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Rectangle 386"/>
          <p:cNvSpPr/>
          <p:nvPr/>
        </p:nvSpPr>
        <p:spPr>
          <a:xfrm>
            <a:off x="2762180" y="5905352"/>
            <a:ext cx="38099" cy="101597"/>
          </a:xfrm>
          <a:prstGeom prst="rect">
            <a:avLst/>
          </a:prstGeom>
          <a:solidFill>
            <a:srgbClr val="EA39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Rectangle 387"/>
          <p:cNvSpPr/>
          <p:nvPr/>
        </p:nvSpPr>
        <p:spPr>
          <a:xfrm>
            <a:off x="2793930" y="5905352"/>
            <a:ext cx="38099" cy="101597"/>
          </a:xfrm>
          <a:prstGeom prst="rect">
            <a:avLst/>
          </a:prstGeom>
          <a:solidFill>
            <a:srgbClr val="E833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539736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0</a:t>
            </a:r>
          </a:p>
        </p:txBody>
      </p:sp>
      <p:sp>
        <p:nvSpPr>
          <p:cNvPr id="390" name="TextBox 389"/>
          <p:cNvSpPr txBox="1"/>
          <p:nvPr/>
        </p:nvSpPr>
        <p:spPr>
          <a:xfrm>
            <a:off x="1492212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200</a:t>
            </a:r>
          </a:p>
        </p:txBody>
      </p:sp>
      <p:sp>
        <p:nvSpPr>
          <p:cNvPr id="391" name="TextBox 390"/>
          <p:cNvSpPr txBox="1"/>
          <p:nvPr/>
        </p:nvSpPr>
        <p:spPr>
          <a:xfrm>
            <a:off x="2444688" y="6070448"/>
            <a:ext cx="761980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400</a:t>
            </a:r>
          </a:p>
        </p:txBody>
      </p:sp>
      <p:sp>
        <p:nvSpPr>
          <p:cNvPr id="392" name="TextBox 391"/>
          <p:cNvSpPr txBox="1"/>
          <p:nvPr/>
        </p:nvSpPr>
        <p:spPr>
          <a:xfrm>
            <a:off x="2978075" y="5892652"/>
            <a:ext cx="1269968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8FB6D0"/>
                </a:solidFill>
                <a:latin typeface="Consolas"/>
              </a:rPr>
              <a:t>kPa</a:t>
            </a:r>
          </a:p>
        </p:txBody>
      </p:sp>
      <p:sp>
        <p:nvSpPr>
          <p:cNvPr id="393" name="!!piek"/>
          <p:cNvSpPr txBox="1"/>
          <p:nvPr/>
        </p:nvSpPr>
        <p:spPr>
          <a:xfrm>
            <a:off x="3555911" y="1587460"/>
            <a:ext cx="4444888" cy="190495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5000" b="1">
                <a:solidFill>
                  <a:srgbClr val="52BDEC"/>
                </a:solidFill>
                <a:latin typeface="Segoe UI"/>
              </a:rPr>
              <a:t>186</a:t>
            </a:r>
          </a:p>
        </p:txBody>
      </p:sp>
      <p:sp>
        <p:nvSpPr>
          <p:cNvPr id="394" name="!!eenheid"/>
          <p:cNvSpPr txBox="1"/>
          <p:nvPr/>
        </p:nvSpPr>
        <p:spPr>
          <a:xfrm>
            <a:off x="6857828" y="1904952"/>
            <a:ext cx="1269968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52BDEC"/>
                </a:solidFill>
                <a:latin typeface="Segoe UI Light"/>
              </a:rPr>
              <a:t>kPa</a:t>
            </a:r>
          </a:p>
        </p:txBody>
      </p:sp>
      <p:sp>
        <p:nvSpPr>
          <p:cNvPr id="395" name="!!plek"/>
          <p:cNvSpPr txBox="1"/>
          <p:nvPr/>
        </p:nvSpPr>
        <p:spPr>
          <a:xfrm>
            <a:off x="3581310" y="3352716"/>
            <a:ext cx="761980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F2F8FC"/>
                </a:solidFill>
                <a:latin typeface="Segoe UI"/>
              </a:rPr>
              <a:t>piekdruk in de doelregio na aanpassing</a:t>
            </a:r>
          </a:p>
        </p:txBody>
      </p:sp>
      <p:sp>
        <p:nvSpPr>
          <p:cNvPr id="396" name="!!norm"/>
          <p:cNvSpPr/>
          <p:nvPr/>
        </p:nvSpPr>
        <p:spPr>
          <a:xfrm>
            <a:off x="3555911" y="3924201"/>
            <a:ext cx="8000799" cy="609584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!!normtekst"/>
          <p:cNvSpPr txBox="1"/>
          <p:nvPr/>
        </p:nvSpPr>
        <p:spPr>
          <a:xfrm>
            <a:off x="3555911" y="4101997"/>
            <a:ext cx="8000799" cy="2920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>
                <a:solidFill>
                  <a:srgbClr val="FF7A00"/>
                </a:solidFill>
                <a:latin typeface="Consolas"/>
              </a:rPr>
              <a:t>40% lager  ·  onder 200 kPa  ·  beide criteria gehaald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3555911" y="4825879"/>
            <a:ext cx="8000799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8FB6D0"/>
                </a:solidFill>
                <a:latin typeface="Segoe UI"/>
              </a:rPr>
              <a:t>De norm geldt per doelregio: piekdruk onder 200 kPa óf minstens 25% lager dan de baselinemeting van diezelfde regio.</a:t>
            </a:r>
          </a:p>
          <a:p>
            <a:pPr algn="l">
              <a:lnSpc>
                <a:spcPct val="135000"/>
              </a:lnSpc>
              <a:spcBef>
                <a:spcPts val="1200"/>
              </a:spcBef>
            </a:pPr>
            <a:r>
              <a:rPr sz="1700" b="0">
                <a:solidFill>
                  <a:srgbClr val="8FB6D0"/>
                </a:solidFill>
                <a:latin typeface="Segoe UI"/>
              </a:rPr>
              <a:t>Haalt u de norm niet, dan past u aan en meet u opnieuw. Het formulier voorziet twee extra ontlastingstests.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634984" y="6387940"/>
            <a:ext cx="8889777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eCRF-document 24 · Meting drukherverdeling voetorthese</a:t>
            </a:r>
          </a:p>
        </p:txBody>
      </p:sp>
      <p:sp>
        <p:nvSpPr>
          <p:cNvPr id="400" name="TextBox 39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07 / 24</a:t>
            </a:r>
          </a:p>
        </p:txBody>
      </p:sp>
      <p:pic>
        <p:nvPicPr>
          <p:cNvPr id="40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FF7A00"/>
              </a:gs>
              <a:gs pos="100000">
                <a:srgbClr val="FF7A0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Niet minder belasting.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Belasting op een plek die het aankan.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Dat is de hele interventie.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merkgroot" descr="merk.png"/>
          <p:cNvPicPr>
            <a:picLocks noChangeAspect="1"/>
          </p:cNvPicPr>
          <p:nvPr/>
        </p:nvPicPr>
        <p:blipFill>
          <a:blip r:embed="rId2">
            <a:alphaModFix amt="14000"/>
          </a:blip>
          <a:stretch>
            <a:fillRect/>
          </a:stretch>
        </p:blipFill>
        <p:spPr>
          <a:xfrm>
            <a:off x="6603834" y="-1126099"/>
            <a:ext cx="7873803" cy="9110028"/>
          </a:xfrm>
          <a:prstGeom prst="rect">
            <a:avLst/>
          </a:prstGeom>
        </p:spPr>
      </p:pic>
      <p:sp>
        <p:nvSpPr>
          <p:cNvPr id="4" name="hero"/>
          <p:cNvSpPr txBox="1"/>
          <p:nvPr/>
        </p:nvSpPr>
        <p:spPr>
          <a:xfrm>
            <a:off x="571485" y="-444488"/>
            <a:ext cx="5714857" cy="2920926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82000"/>
              </a:lnSpc>
            </a:pPr>
            <a:r>
              <a:rPr sz="26000" b="1">
                <a:gradFill>
                  <a:gsLst>
                    <a:gs pos="0">
                      <a:srgbClr val="52BDEC"/>
                    </a:gs>
                    <a:gs pos="100000">
                      <a:srgbClr val="FF7A00"/>
                    </a:gs>
                  </a:gsLst>
                  <a:lin ang="2700000" scaled="0"/>
                </a:gradFill>
                <a:latin typeface="Segoe UI"/>
              </a:rPr>
              <a:t>03</a:t>
            </a:r>
          </a:p>
        </p:txBody>
      </p:sp>
      <p:sp>
        <p:nvSpPr>
          <p:cNvPr id="5" name="sectietitel"/>
          <p:cNvSpPr txBox="1"/>
          <p:nvPr/>
        </p:nvSpPr>
        <p:spPr>
          <a:xfrm>
            <a:off x="634984" y="3555911"/>
            <a:ext cx="8889777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7600" b="1">
                <a:solidFill>
                  <a:srgbClr val="F2F8FC"/>
                </a:solidFill>
                <a:latin typeface="Segoe UI"/>
              </a:rPr>
              <a:t>Het traject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0383" y="4825879"/>
            <a:ext cx="8254793" cy="5079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300" b="0">
                <a:solidFill>
                  <a:srgbClr val="8FB6D0"/>
                </a:solidFill>
                <a:latin typeface="Segoe UI Light"/>
              </a:rPr>
              <a:t>Negen contactmomenten. Per moment: wat u doet en wat u invult.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09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Screening plus negen visites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maanden, van screening tot afronding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Visite 0 tot 2 liggen dicht op elkaar: toestemming, baseline, en de zool binnen de maand. Daarna is het ritme elke drie maanden, hetzelfde ritme als de controle die deze patiënten al krijgen.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10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SCREENING EN VISITE 0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Geschiktheid, toestemming, loting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Kort · 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Screening vóór de toestemming: beoordeel de in- en exclusiecriteria en noteer de patiënt op de identificatielijst.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Is de patiënt geschikt, overloop dan de informatie- en toestemmingsformulieren en laat tekenen.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31693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693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315663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Visite 0: bevestig de geschiktheid met het baselineformulier.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 PI opent de volgende verzegelde envelop en deelt de patiënt in. Pas dan is bekend in welke arm hij zit.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408269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408269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4069994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geschikt? Noteer de reden. Ook dat is studiedata.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00   01   02   06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volgorde ligt vast: screenen, tekenen, geschiktheid bevestigen, dan pas loten. Vul geen enkel ander formulier in voordat de patiënt getekend heeft.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Arts bevestigt geschiktheid · PI loot · podoloog vult 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11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1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Baseline — meten en voorschrijven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langste bezoek van de studie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Demografie en voorgeschiedenis, inclusief nierfunctie, eGFR, hartaandoening en diabetesmedicatie.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en klasseer een eventueel ulcus.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Drukmeting blootsvoets: drie metingen per voet.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309029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309029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29632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Bepaal de drie doelregio's en schrijf de zool voor, mét die regio's op het voorschrift.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Vragenlijsten vóór het educatiegesprek: NAFF en HLS-EU-6. Daarna tevredenheid, schoeiselgebruik en EQ-5D-5L.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1: educatie op maat, voordoen, en de patiënt het zelf laten uitvoeren. Leg dat vast in het logboek.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996055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996055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983355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Geef de MoveMonitor mee voor zeven dagen en registreer het toestelnummer.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07   08   09   10   12   13   14   15   16   18   19   20   21   48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Het voorschrift van de zool gebeurt hier, op de baseline — niet later. En NAFF en HLS-EU-6 gaan vóór de educatie, anders meet u uw eigen uitleg in plaats van de voorkennis van de patiënt.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arts schrijft voor · het onderzoeksteam verwerkt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12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 2 · VEERTIEN DAGEN TOT ÉÉN MAAND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Aflevering, optimalisatie en sensor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Het technisch zwaarste bezoek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Lever de zool af. Controleer de pasvorm in het bínnenschoeisel én het búitenschoeisel, en neem de foto's.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6069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6069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59429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Meet de drukherverdeling en toets de norm per doelregio.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Niet gehaald? Pas aan en meet opnieuw. Is ze gehaald, laat dan een tweede, identiek paar maken.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Plaats en activeer de Orthotimer in de zool en registreer het toestelnummer.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MoveMonitor terug en registreer de teruggave.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22239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22239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20969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SEBIA stap 2: bespreek het activiteitenprofiel, doe de teach-back en geef de sensorfolder mee.</a:t>
            </a:r>
          </a:p>
        </p:txBody>
      </p:sp>
      <p:sp>
        <p:nvSpPr>
          <p:cNvPr id="25" name="Oval 24"/>
          <p:cNvSpPr/>
          <p:nvPr/>
        </p:nvSpPr>
        <p:spPr>
          <a:xfrm>
            <a:off x="634984" y="4784732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984" y="4784732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7076" y="477203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overtuigingen en gewoontes rond schoeisel.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23   24   24b   25   26   27   28   29   30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6806" y="3301917"/>
            <a:ext cx="3809904" cy="2301487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88100" y="3682907"/>
            <a:ext cx="3301917" cy="18188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De Orthotimer gaat pas in de zool nadat de norm gehaald is. En de uren per dag die u instelt komen uit het activiteitenprofiel van díe patiënt — daarom moet de MoveMonitor eerst terug zijn.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Pedorthist past aan · podoloog meet, plaatst de sensor en begeleidt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13 / 24</a:t>
            </a:r>
          </a:p>
        </p:txBody>
      </p:sp>
      <p:pic>
        <p:nvPicPr>
          <p:cNvPr id="35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3 TOT 8 · MAAND 3 TOT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Driemaandelijkse opvolging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In het gewone consult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Voet- en schoeiselscreening, zoals bij de baseline.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Bevraag de therapietrouw, lees de Orthotimer uit en bespreek de uitdraai niet-veroordelend.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Beoordeel beide paren zolen. Het paar dat onderhoud nodig heeft gaat naar de pedorthist, deklaag inbegrepen.</a:t>
            </a:r>
          </a:p>
        </p:txBody>
      </p:sp>
      <p:sp>
        <p:nvSpPr>
          <p:cNvPr id="16" name="Oval 15"/>
          <p:cNvSpPr/>
          <p:nvPr/>
        </p:nvSpPr>
        <p:spPr>
          <a:xfrm>
            <a:off x="634984" y="352035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984" y="352035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7076" y="3507652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Vervang zool of sensor als dat nodig is en leg dat vast.</a:t>
            </a:r>
          </a:p>
        </p:txBody>
      </p:sp>
      <p:sp>
        <p:nvSpPr>
          <p:cNvPr id="19" name="Oval 18"/>
          <p:cNvSpPr/>
          <p:nvPr/>
        </p:nvSpPr>
        <p:spPr>
          <a:xfrm>
            <a:off x="634984" y="3871371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3871371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076" y="3858671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Neem de vragenlijsten af: levenskwaliteit, medische consumptie en productiviteit.</a:t>
            </a:r>
          </a:p>
        </p:txBody>
      </p:sp>
      <p:sp>
        <p:nvSpPr>
          <p:cNvPr id="22" name="Oval 21"/>
          <p:cNvSpPr/>
          <p:nvPr/>
        </p:nvSpPr>
        <p:spPr>
          <a:xfrm>
            <a:off x="634984" y="4433713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984" y="4433713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076" y="4421013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6 een tweede week MoveMonitor.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08   31   25   32   33   21   34   35   45b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46806" y="3301917"/>
            <a:ext cx="3809904" cy="2019503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88100" y="3682907"/>
            <a:ext cx="3301917" cy="15369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Uitlezen kan alleen ter plaatse. Koppel het aan een bezoek dat toch al gepland is — een gemiste uitlezing verzwakt de draagtijd van die patiënt over de hele periode.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leest uit en begeleidt · arts beoordeelt laesies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14 / 24</a:t>
            </a:r>
          </a:p>
        </p:txBody>
      </p:sp>
      <p:pic>
        <p:nvPicPr>
          <p:cNvPr id="32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VISITES 4, 6 EN 8 · MAAND 6, 12 EN 18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er drie keer extra bij komt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498562"/>
            <a:ext cx="3555911" cy="279393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1568410"/>
            <a:ext cx="3555911" cy="2031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Bovenop de driemaandelijkse opvolging</a:t>
            </a:r>
          </a:p>
        </p:txBody>
      </p:sp>
      <p:sp>
        <p:nvSpPr>
          <p:cNvPr id="7" name="Oval 6"/>
          <p:cNvSpPr/>
          <p:nvPr/>
        </p:nvSpPr>
        <p:spPr>
          <a:xfrm>
            <a:off x="634984" y="204464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4984" y="204464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7076" y="2031949"/>
            <a:ext cx="6476838" cy="274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Herhaal de drukmeting in de drie condities en toets opnieuw per doelregio.</a:t>
            </a:r>
          </a:p>
        </p:txBody>
      </p:sp>
      <p:sp>
        <p:nvSpPr>
          <p:cNvPr id="10" name="Oval 9"/>
          <p:cNvSpPr/>
          <p:nvPr/>
        </p:nvSpPr>
        <p:spPr>
          <a:xfrm>
            <a:off x="634984" y="2395668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4984" y="2395668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7076" y="2382968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Ligt de piekdruk boven 200 kPa, of is er nog winst haalbaar, pas dan opnieuw aan volgens dezelfde procedure.</a:t>
            </a:r>
          </a:p>
        </p:txBody>
      </p:sp>
      <p:sp>
        <p:nvSpPr>
          <p:cNvPr id="13" name="Oval 12"/>
          <p:cNvSpPr/>
          <p:nvPr/>
        </p:nvSpPr>
        <p:spPr>
          <a:xfrm>
            <a:off x="634984" y="2958010"/>
            <a:ext cx="190495" cy="190495"/>
          </a:xfrm>
          <a:prstGeom prst="ellipse">
            <a:avLst/>
          </a:prstGeom>
          <a:solidFill>
            <a:srgbClr val="113A57"/>
          </a:solidFill>
          <a:ln w="12700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2958010"/>
            <a:ext cx="190495" cy="1904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>
                <a:solidFill>
                  <a:srgbClr val="52BDEC"/>
                </a:solidFill>
                <a:latin typeface="Consola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076" y="2945310"/>
            <a:ext cx="6476838" cy="4861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F2F8FC"/>
                </a:solidFill>
                <a:latin typeface="Segoe UI"/>
              </a:rPr>
              <a:t>Op maand 18 ook de tevredenheidsschaal opnieuw afnemen, zodat de verandering tegenover baseline gemeten kan worden.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46806" y="2044648"/>
            <a:ext cx="3809904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8FB6D0"/>
                </a:solidFill>
                <a:latin typeface="Consolas"/>
              </a:rPr>
              <a:t>WAT U INVULT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46806" y="2324041"/>
            <a:ext cx="3809904" cy="7619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52BDEC"/>
                </a:solidFill>
                <a:latin typeface="Consolas"/>
              </a:rPr>
              <a:t>24   24b  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46806" y="3301917"/>
            <a:ext cx="3809904" cy="173751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88100" y="3441613"/>
            <a:ext cx="3301917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FF7A00"/>
                </a:solidFill>
                <a:latin typeface="Consolas"/>
              </a:rPr>
              <a:t>LET OP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88100" y="3682907"/>
            <a:ext cx="3301917" cy="12549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F2F8FC"/>
                </a:solidFill>
                <a:latin typeface="Segoe UI"/>
              </a:rPr>
              <a:t>Drie extra meetmomenten, niet twee. Maand 18 telt mee: beide co-primaire uitkomsten worden op achttien maanden geëvalueerd.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984" y="6387940"/>
            <a:ext cx="9524761" cy="1904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8FB6D0"/>
                </a:solidFill>
                <a:latin typeface="Consolas"/>
              </a:rPr>
              <a:t>Podoloog meet · pedorthist past aan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15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355591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HET TRAJECT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609584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Terug naar het geheel</a:t>
            </a:r>
          </a:p>
        </p:txBody>
      </p:sp>
      <p:sp>
        <p:nvSpPr>
          <p:cNvPr id="5" name="!!band"/>
          <p:cNvSpPr/>
          <p:nvPr/>
        </p:nvSpPr>
        <p:spPr>
          <a:xfrm>
            <a:off x="0" y="1206469"/>
            <a:ext cx="12191695" cy="3301917"/>
          </a:xfrm>
          <a:prstGeom prst="rect">
            <a:avLst/>
          </a:prstGeom>
          <a:solidFill>
            <a:srgbClr val="0A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!!as"/>
          <p:cNvSpPr/>
          <p:nvPr/>
        </p:nvSpPr>
        <p:spPr>
          <a:xfrm>
            <a:off x="634984" y="2920926"/>
            <a:ext cx="10921726" cy="19049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stip0"/>
          <p:cNvSpPr/>
          <p:nvPr/>
        </p:nvSpPr>
        <p:spPr>
          <a:xfrm>
            <a:off x="1085822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!!maand0"/>
          <p:cNvSpPr txBox="1"/>
          <p:nvPr/>
        </p:nvSpPr>
        <p:spPr>
          <a:xfrm>
            <a:off x="63498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>
                <a:solidFill>
                  <a:srgbClr val="F2F8FC"/>
                </a:solidFill>
                <a:latin typeface="Consolas"/>
              </a:rPr>
              <a:t>Screen</a:t>
            </a:r>
          </a:p>
        </p:txBody>
      </p:sp>
      <p:sp>
        <p:nvSpPr>
          <p:cNvPr id="9" name="!!taak0"/>
          <p:cNvSpPr txBox="1"/>
          <p:nvPr/>
        </p:nvSpPr>
        <p:spPr>
          <a:xfrm>
            <a:off x="698482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geschiktheid</a:t>
            </a:r>
          </a:p>
        </p:txBody>
      </p:sp>
      <p:sp>
        <p:nvSpPr>
          <p:cNvPr id="10" name="!!stip1"/>
          <p:cNvSpPr/>
          <p:nvPr/>
        </p:nvSpPr>
        <p:spPr>
          <a:xfrm>
            <a:off x="2177995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maand1"/>
          <p:cNvSpPr txBox="1"/>
          <p:nvPr/>
        </p:nvSpPr>
        <p:spPr>
          <a:xfrm>
            <a:off x="1727156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V0</a:t>
            </a:r>
          </a:p>
        </p:txBody>
      </p:sp>
      <p:sp>
        <p:nvSpPr>
          <p:cNvPr id="12" name="!!taak1"/>
          <p:cNvSpPr txBox="1"/>
          <p:nvPr/>
        </p:nvSpPr>
        <p:spPr>
          <a:xfrm>
            <a:off x="1790655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loting</a:t>
            </a:r>
          </a:p>
        </p:txBody>
      </p:sp>
      <p:sp>
        <p:nvSpPr>
          <p:cNvPr id="13" name="!!stip2"/>
          <p:cNvSpPr/>
          <p:nvPr/>
        </p:nvSpPr>
        <p:spPr>
          <a:xfrm>
            <a:off x="3289217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!!maand2"/>
          <p:cNvSpPr txBox="1"/>
          <p:nvPr/>
        </p:nvSpPr>
        <p:spPr>
          <a:xfrm>
            <a:off x="2819329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V1</a:t>
            </a:r>
          </a:p>
        </p:txBody>
      </p:sp>
      <p:sp>
        <p:nvSpPr>
          <p:cNvPr id="15" name="!!taak2"/>
          <p:cNvSpPr txBox="1"/>
          <p:nvPr/>
        </p:nvSpPr>
        <p:spPr>
          <a:xfrm>
            <a:off x="2882827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baseline</a:t>
            </a:r>
          </a:p>
        </p:txBody>
      </p:sp>
      <p:sp>
        <p:nvSpPr>
          <p:cNvPr id="16" name="!!stip3"/>
          <p:cNvSpPr/>
          <p:nvPr/>
        </p:nvSpPr>
        <p:spPr>
          <a:xfrm>
            <a:off x="4381390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!!maand3"/>
          <p:cNvSpPr txBox="1"/>
          <p:nvPr/>
        </p:nvSpPr>
        <p:spPr>
          <a:xfrm>
            <a:off x="391150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V2</a:t>
            </a:r>
          </a:p>
        </p:txBody>
      </p:sp>
      <p:sp>
        <p:nvSpPr>
          <p:cNvPr id="18" name="!!taak3"/>
          <p:cNvSpPr txBox="1"/>
          <p:nvPr/>
        </p:nvSpPr>
        <p:spPr>
          <a:xfrm>
            <a:off x="3975000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zool + sensor</a:t>
            </a:r>
          </a:p>
        </p:txBody>
      </p:sp>
      <p:sp>
        <p:nvSpPr>
          <p:cNvPr id="19" name="!!stip4"/>
          <p:cNvSpPr/>
          <p:nvPr/>
        </p:nvSpPr>
        <p:spPr>
          <a:xfrm>
            <a:off x="547356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!!maand4"/>
          <p:cNvSpPr txBox="1"/>
          <p:nvPr/>
        </p:nvSpPr>
        <p:spPr>
          <a:xfrm>
            <a:off x="5003674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M3</a:t>
            </a:r>
          </a:p>
        </p:txBody>
      </p:sp>
      <p:sp>
        <p:nvSpPr>
          <p:cNvPr id="21" name="!!taak4"/>
          <p:cNvSpPr txBox="1"/>
          <p:nvPr/>
        </p:nvSpPr>
        <p:spPr>
          <a:xfrm>
            <a:off x="5067173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2" name="!!stip5"/>
          <p:cNvSpPr/>
          <p:nvPr/>
        </p:nvSpPr>
        <p:spPr>
          <a:xfrm>
            <a:off x="6565735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!!maand5"/>
          <p:cNvSpPr txBox="1"/>
          <p:nvPr/>
        </p:nvSpPr>
        <p:spPr>
          <a:xfrm>
            <a:off x="6095847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M6</a:t>
            </a:r>
          </a:p>
        </p:txBody>
      </p:sp>
      <p:sp>
        <p:nvSpPr>
          <p:cNvPr id="24" name="!!taak5"/>
          <p:cNvSpPr txBox="1"/>
          <p:nvPr/>
        </p:nvSpPr>
        <p:spPr>
          <a:xfrm>
            <a:off x="615934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25" name="!!stip6"/>
          <p:cNvSpPr/>
          <p:nvPr/>
        </p:nvSpPr>
        <p:spPr>
          <a:xfrm>
            <a:off x="7657908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!!maand6"/>
          <p:cNvSpPr txBox="1"/>
          <p:nvPr/>
        </p:nvSpPr>
        <p:spPr>
          <a:xfrm>
            <a:off x="7188020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M9</a:t>
            </a:r>
          </a:p>
        </p:txBody>
      </p:sp>
      <p:sp>
        <p:nvSpPr>
          <p:cNvPr id="27" name="!!taak6"/>
          <p:cNvSpPr txBox="1"/>
          <p:nvPr/>
        </p:nvSpPr>
        <p:spPr>
          <a:xfrm>
            <a:off x="7251518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28" name="!!stip7"/>
          <p:cNvSpPr/>
          <p:nvPr/>
        </p:nvSpPr>
        <p:spPr>
          <a:xfrm>
            <a:off x="8750081" y="2857428"/>
            <a:ext cx="152396" cy="152396"/>
          </a:xfrm>
          <a:prstGeom prst="ellipse">
            <a:avLst/>
          </a:prstGeom>
          <a:solidFill>
            <a:srgbClr val="52BDEC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!!maand7"/>
          <p:cNvSpPr txBox="1"/>
          <p:nvPr/>
        </p:nvSpPr>
        <p:spPr>
          <a:xfrm>
            <a:off x="8280192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M12</a:t>
            </a:r>
          </a:p>
        </p:txBody>
      </p:sp>
      <p:sp>
        <p:nvSpPr>
          <p:cNvPr id="30" name="!!taak7"/>
          <p:cNvSpPr txBox="1"/>
          <p:nvPr/>
        </p:nvSpPr>
        <p:spPr>
          <a:xfrm>
            <a:off x="8343691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</a:t>
            </a:r>
          </a:p>
        </p:txBody>
      </p:sp>
      <p:sp>
        <p:nvSpPr>
          <p:cNvPr id="31" name="!!stip8"/>
          <p:cNvSpPr/>
          <p:nvPr/>
        </p:nvSpPr>
        <p:spPr>
          <a:xfrm>
            <a:off x="9842253" y="2857428"/>
            <a:ext cx="152396" cy="152396"/>
          </a:xfrm>
          <a:prstGeom prst="ellipse">
            <a:avLst/>
          </a:prstGeom>
          <a:solidFill>
            <a:srgbClr val="1D8DB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!!maand8"/>
          <p:cNvSpPr txBox="1"/>
          <p:nvPr/>
        </p:nvSpPr>
        <p:spPr>
          <a:xfrm>
            <a:off x="9372365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M15</a:t>
            </a:r>
          </a:p>
        </p:txBody>
      </p:sp>
      <p:sp>
        <p:nvSpPr>
          <p:cNvPr id="33" name="!!taak8"/>
          <p:cNvSpPr txBox="1"/>
          <p:nvPr/>
        </p:nvSpPr>
        <p:spPr>
          <a:xfrm>
            <a:off x="9435864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opvolging</a:t>
            </a:r>
          </a:p>
        </p:txBody>
      </p:sp>
      <p:sp>
        <p:nvSpPr>
          <p:cNvPr id="34" name="!!stip9"/>
          <p:cNvSpPr/>
          <p:nvPr/>
        </p:nvSpPr>
        <p:spPr>
          <a:xfrm>
            <a:off x="10915377" y="2838379"/>
            <a:ext cx="190495" cy="190495"/>
          </a:xfrm>
          <a:prstGeom prst="ellipse">
            <a:avLst/>
          </a:prstGeom>
          <a:solidFill>
            <a:srgbClr val="FF7A00"/>
          </a:solidFill>
          <a:ln w="38100">
            <a:solidFill>
              <a:srgbClr val="0A2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!!maand9"/>
          <p:cNvSpPr txBox="1"/>
          <p:nvPr/>
        </p:nvSpPr>
        <p:spPr>
          <a:xfrm>
            <a:off x="10464538" y="2133546"/>
            <a:ext cx="1092172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700" b="1">
                <a:solidFill>
                  <a:srgbClr val="F2F8FC"/>
                </a:solidFill>
                <a:latin typeface="Consolas"/>
              </a:rPr>
              <a:t>M18</a:t>
            </a:r>
          </a:p>
        </p:txBody>
      </p:sp>
      <p:sp>
        <p:nvSpPr>
          <p:cNvPr id="36" name="!!taak9"/>
          <p:cNvSpPr txBox="1"/>
          <p:nvPr/>
        </p:nvSpPr>
        <p:spPr>
          <a:xfrm>
            <a:off x="10528036" y="3251118"/>
            <a:ext cx="965175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50" b="0">
                <a:solidFill>
                  <a:srgbClr val="8FB6D0"/>
                </a:solidFill>
                <a:latin typeface="Segoe UI"/>
              </a:rPr>
              <a:t>meting + einde</a:t>
            </a:r>
          </a:p>
        </p:txBody>
      </p:sp>
      <p:sp>
        <p:nvSpPr>
          <p:cNvPr id="37" name="Oval 36"/>
          <p:cNvSpPr/>
          <p:nvPr/>
        </p:nvSpPr>
        <p:spPr>
          <a:xfrm>
            <a:off x="660383" y="4013099"/>
            <a:ext cx="114297" cy="114297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50878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meetmoment</a:t>
            </a:r>
          </a:p>
        </p:txBody>
      </p:sp>
      <p:sp>
        <p:nvSpPr>
          <p:cNvPr id="39" name="Oval 38"/>
          <p:cNvSpPr/>
          <p:nvPr/>
        </p:nvSpPr>
        <p:spPr>
          <a:xfrm>
            <a:off x="3200319" y="4013099"/>
            <a:ext cx="114297" cy="114297"/>
          </a:xfrm>
          <a:prstGeom prst="ellipse">
            <a:avLst/>
          </a:prstGeom>
          <a:solidFill>
            <a:srgbClr val="1D8D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90815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begeleiding</a:t>
            </a:r>
          </a:p>
        </p:txBody>
      </p:sp>
      <p:sp>
        <p:nvSpPr>
          <p:cNvPr id="41" name="Oval 40"/>
          <p:cNvSpPr/>
          <p:nvPr/>
        </p:nvSpPr>
        <p:spPr>
          <a:xfrm>
            <a:off x="5740256" y="4013099"/>
            <a:ext cx="114297" cy="114297"/>
          </a:xfrm>
          <a:prstGeom prst="ellipse">
            <a:avLst/>
          </a:prstGeom>
          <a:solidFill>
            <a:srgbClr val="FF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0751" y="3975000"/>
            <a:ext cx="2285942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FB6D0"/>
                </a:solidFill>
                <a:latin typeface="Consolas"/>
              </a:rPr>
              <a:t>start en afronding</a:t>
            </a:r>
          </a:p>
        </p:txBody>
      </p:sp>
      <p:sp>
        <p:nvSpPr>
          <p:cNvPr id="43" name="!!camera"/>
          <p:cNvSpPr txBox="1"/>
          <p:nvPr/>
        </p:nvSpPr>
        <p:spPr>
          <a:xfrm>
            <a:off x="634984" y="4711582"/>
            <a:ext cx="2031949" cy="146046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600" b="1">
                <a:solidFill>
                  <a:srgbClr val="52BDEC"/>
                </a:solidFill>
                <a:latin typeface="Segoe UI"/>
              </a:rPr>
              <a:t>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39936" y="4813179"/>
            <a:ext cx="8889777" cy="41908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contactmomenten, één zorgpad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52636" y="5283067"/>
            <a:ext cx="8889777" cy="9524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8FB6D0"/>
                </a:solidFill>
                <a:latin typeface="Segoe UI"/>
              </a:rPr>
              <a:t>Het verschil met vandaag zit niet in hoe vaak u de patiënt ziet, maar in wat u bij elk bezoek wéét: wat de zool doet en wat er gedragen is.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16 / 24</a:t>
            </a:r>
          </a:p>
        </p:txBody>
      </p:sp>
      <p:pic>
        <p:nvPicPr>
          <p:cNvPr id="47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DE TECHNIEK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Drie toestellen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68450"/>
            <a:ext cx="5384538" cy="4000399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4719" y="2184345"/>
            <a:ext cx="1965067" cy="16636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377" y="3975000"/>
            <a:ext cx="2412939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F2F8FC"/>
                </a:solidFill>
                <a:latin typeface="Segoe UI"/>
              </a:rPr>
              <a:t>Novel pedar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7076" y="4444888"/>
            <a:ext cx="2412939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52BDEC"/>
                </a:solidFill>
                <a:latin typeface="Consolas"/>
              </a:rPr>
              <a:t>DRUK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377" y="4660783"/>
            <a:ext cx="2412939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2BDEC"/>
                </a:solidFill>
                <a:latin typeface="Segoe UI"/>
              </a:rPr>
              <a:t>8  voetregio's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377" y="5079873"/>
            <a:ext cx="2412939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30">
                <a:solidFill>
                  <a:srgbClr val="FF7A00"/>
                </a:solidFill>
                <a:latin typeface="Consolas"/>
              </a:rPr>
              <a:t>UW TEAM MEET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9713" y="3975000"/>
            <a:ext cx="2260416" cy="17779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0">
                <a:solidFill>
                  <a:srgbClr val="8FB6D0"/>
                </a:solidFill>
                <a:latin typeface="Segoe UI"/>
              </a:rPr>
              <a:t>Blootsvoets met tape, en in de schoen met en zonder zool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Trublu-kalibratie minstens elke drie maanden</a:t>
            </a:r>
          </a:p>
          <a:p>
            <a:pPr algn="l">
              <a:lnSpc>
                <a:spcPct val="130000"/>
              </a:lnSpc>
              <a:spcBef>
                <a:spcPts val="1000"/>
              </a:spcBef>
            </a:pPr>
            <a:r>
              <a:rPr sz="1450" b="0">
                <a:solidFill>
                  <a:srgbClr val="8FB6D0"/>
                </a:solidFill>
                <a:latin typeface="Segoe UI"/>
              </a:rPr>
              <a:t>De F-Scan GO is een aparte meting van het studieteam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1918" y="1968450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24314" y="2120846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rthoti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512" y="2553717"/>
            <a:ext cx="2006549" cy="74711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711855" y="2158946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Orthotimer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24554" y="2527236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DRAAGTIJD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1855" y="2730431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15  minuten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11855" y="3073323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In de zool, 9 × 13 × 4,5 mm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Batterij 100 dagen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1855" y="3644808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HEET: UW SENSOR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1918" y="4051198"/>
            <a:ext cx="5384538" cy="1917652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24314" y="4203594"/>
            <a:ext cx="2158946" cy="1612859"/>
          </a:xfrm>
          <a:prstGeom prst="roundRect">
            <a:avLst>
              <a:gd name="adj" fmla="val 4500"/>
            </a:avLst>
          </a:prstGeom>
          <a:solidFill>
            <a:srgbClr val="174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ovemonit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512" y="4454706"/>
            <a:ext cx="2006549" cy="11106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8711855" y="4241693"/>
            <a:ext cx="2666933" cy="342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1">
                <a:solidFill>
                  <a:srgbClr val="F2F8FC"/>
                </a:solidFill>
                <a:latin typeface="Segoe UI"/>
              </a:rPr>
              <a:t>MoveMonitor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24554" y="4609984"/>
            <a:ext cx="2666933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spc="150">
                <a:solidFill>
                  <a:srgbClr val="52BDEC"/>
                </a:solidFill>
                <a:latin typeface="Consolas"/>
              </a:rPr>
              <a:t>ACTIVITEIT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11855" y="4813179"/>
            <a:ext cx="2666933" cy="3555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52BDEC"/>
                </a:solidFill>
                <a:latin typeface="Segoe UI"/>
              </a:rPr>
              <a:t>7  dagen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11855" y="5156071"/>
            <a:ext cx="2590608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8FB6D0"/>
                </a:solidFill>
                <a:latin typeface="Segoe UI"/>
              </a:rPr>
              <a:t>Om het middel, op de onderrug</a:t>
            </a:r>
          </a:p>
          <a:p>
            <a:pPr algn="l">
              <a:lnSpc>
                <a:spcPct val="128000"/>
              </a:lnSpc>
              <a:spcBef>
                <a:spcPts val="600"/>
              </a:spcBef>
            </a:pPr>
            <a:r>
              <a:rPr sz="1400" b="0">
                <a:solidFill>
                  <a:srgbClr val="8FB6D0"/>
                </a:solidFill>
                <a:latin typeface="Segoe UI"/>
              </a:rPr>
              <a:t>Baseline en 6 maanden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1855" y="5727556"/>
            <a:ext cx="2666933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30">
                <a:solidFill>
                  <a:srgbClr val="FF7A00"/>
                </a:solidFill>
                <a:latin typeface="Consolas"/>
              </a:rPr>
              <a:t>ZET DE NORM PER PATIËNT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17 / 24</a:t>
            </a:r>
          </a:p>
        </p:txBody>
      </p:sp>
      <p:pic>
        <p:nvPicPr>
          <p:cNvPr id="29" name="merk" descr="me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FF7A00"/>
                </a:solidFill>
                <a:latin typeface="Consolas"/>
              </a:rPr>
              <a:t>DE ENIGE REGEL DIE U ÉCHT MOET ONTHOUDEN</a:t>
            </a:r>
          </a:p>
        </p:txBody>
      </p:sp>
      <p:sp>
        <p:nvSpPr>
          <p:cNvPr id="4" name="hero"/>
          <p:cNvSpPr txBox="1"/>
          <p:nvPr/>
        </p:nvSpPr>
        <p:spPr>
          <a:xfrm>
            <a:off x="634984" y="1066773"/>
            <a:ext cx="6857828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5400" b="1">
                <a:solidFill>
                  <a:srgbClr val="F2F8FC"/>
                </a:solidFill>
                <a:latin typeface="Segoe UI"/>
              </a:rPr>
              <a:t>Meetwaarden gaan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niet naar de</a:t>
            </a:r>
          </a:p>
          <a:p>
            <a:pPr algn="l">
              <a:lnSpc>
                <a:spcPct val="108000"/>
              </a:lnSpc>
              <a:spcBef>
                <a:spcPts val="500"/>
              </a:spcBef>
            </a:pPr>
            <a:r>
              <a:rPr sz="5400" b="1">
                <a:solidFill>
                  <a:srgbClr val="F2F8FC"/>
                </a:solidFill>
                <a:latin typeface="Segoe UI"/>
              </a:rPr>
              <a:t>controlegroep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4101997"/>
            <a:ext cx="6857828" cy="154936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377" y="4381390"/>
            <a:ext cx="6349841" cy="12064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750" b="0">
                <a:solidFill>
                  <a:srgbClr val="8FB6D0"/>
                </a:solidFill>
                <a:latin typeface="Segoe UI"/>
              </a:rPr>
              <a:t>Ook zij krijgen een drukmeting en dragen een sensor — anders kunnen we de groepen niet vergelijken. Maar die getallen blijven dicht. Bespreekt u ze, dan lévert u de interventie en is die patiënt niet meer bruikbaar als controle.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73803" y="2031949"/>
            <a:ext cx="3682907" cy="3517812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78595" y="2324041"/>
            <a:ext cx="3111422" cy="2412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160">
                <a:solidFill>
                  <a:srgbClr val="FF7A00"/>
                </a:solidFill>
                <a:latin typeface="Consolas"/>
              </a:rPr>
              <a:t>UITZONDERING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78595" y="2730431"/>
            <a:ext cx="3111422" cy="253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F2F8FC"/>
                </a:solidFill>
                <a:latin typeface="Segoe UI"/>
              </a:rPr>
              <a:t>Klinische bevindingen zijn géén meetwaarden. Elke laesie of huiddefect meldt en behandelt u meteen. In beide groepen.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18 / 24</a:t>
            </a:r>
          </a:p>
        </p:txBody>
      </p:sp>
      <p:pic>
        <p:nvPicPr>
          <p:cNvPr id="11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MELDT, EN HOE SNEL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Voorvallen en afwijkingen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87955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31949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Nieuw ulcus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01917" y="2031949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Ulcus-vervolgformulier plus PEDIS- en WIfI-classificatie. Dit is de primaire uitkomst — meld het altijd.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05752" y="2044648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47 · 36 ·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984" y="2717732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984" y="2870128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Ongewenst voorval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1917" y="2870128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AE-SAE-formulier. Ernstige voorvallen binnen 24 uur na kennisname.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05752" y="2882827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46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55591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708307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Protocolafwijking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01917" y="3708307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Melden zoals ze gebeurd is. Wordt geregistreerd, niet afgestraft.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5752" y="372100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984" y="439409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984" y="4546486"/>
            <a:ext cx="2412939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F2F8FC"/>
                </a:solidFill>
                <a:latin typeface="Segoe UI"/>
              </a:rPr>
              <a:t>Toestel defect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01917" y="4546486"/>
            <a:ext cx="6222844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2000"/>
              </a:lnSpc>
            </a:pPr>
            <a:r>
              <a:rPr sz="1500" b="0">
                <a:solidFill>
                  <a:srgbClr val="8FB6D0"/>
                </a:solidFill>
                <a:latin typeface="Segoe UI"/>
              </a:rPr>
              <a:t>Vervangingsformulier, met het oude en het nieuwe toestelnummer.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05752" y="4559186"/>
            <a:ext cx="1650958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>
                <a:solidFill>
                  <a:srgbClr val="52BDEC"/>
                </a:solidFill>
                <a:latin typeface="Consolas"/>
              </a:rPr>
              <a:t>33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4984" y="5371965"/>
            <a:ext cx="10921726" cy="736581"/>
          </a:xfrm>
          <a:prstGeom prst="roundRect">
            <a:avLst>
              <a:gd name="adj" fmla="val 4500"/>
            </a:avLst>
          </a:prstGeom>
          <a:solidFill>
            <a:srgbClr val="0A2A44"/>
          </a:solidFill>
          <a:ln w="9525">
            <a:solidFill>
              <a:srgbClr val="52BD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52476" y="5549761"/>
            <a:ext cx="10286742" cy="444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>
                <a:solidFill>
                  <a:srgbClr val="F2F8FC"/>
                </a:solidFill>
                <a:latin typeface="Segoe UI"/>
              </a:rPr>
              <a:t>Een afwijking die u meldt is een gegeven. Een afwijking die u niet meldt is een fout in de data van de hele studie.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19 / 24</a:t>
            </a:r>
          </a:p>
        </p:txBody>
      </p:sp>
      <p:pic>
        <p:nvPicPr>
          <p:cNvPr id="24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VERDELING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Wie doet wat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30351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46246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Podoloog</a:t>
            </a:r>
          </a:p>
        </p:txBody>
      </p:sp>
      <p:sp>
        <p:nvSpPr>
          <p:cNvPr id="7" name="Oval 6"/>
          <p:cNvSpPr/>
          <p:nvPr/>
        </p:nvSpPr>
        <p:spPr>
          <a:xfrm>
            <a:off x="3555911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721006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Voert de drukmetingen uit</a:t>
            </a:r>
          </a:p>
        </p:txBody>
      </p:sp>
      <p:sp>
        <p:nvSpPr>
          <p:cNvPr id="9" name="Oval 8"/>
          <p:cNvSpPr/>
          <p:nvPr/>
        </p:nvSpPr>
        <p:spPr>
          <a:xfrm>
            <a:off x="6273643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8739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Levert SEBIA</a:t>
            </a:r>
          </a:p>
        </p:txBody>
      </p:sp>
      <p:sp>
        <p:nvSpPr>
          <p:cNvPr id="11" name="Oval 10"/>
          <p:cNvSpPr/>
          <p:nvPr/>
        </p:nvSpPr>
        <p:spPr>
          <a:xfrm>
            <a:off x="8991375" y="2235144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56471" y="2158946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Leest de sensoren uit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2971725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187620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Pedorthist</a:t>
            </a:r>
          </a:p>
        </p:txBody>
      </p:sp>
      <p:sp>
        <p:nvSpPr>
          <p:cNvPr id="15" name="Oval 14"/>
          <p:cNvSpPr/>
          <p:nvPr/>
        </p:nvSpPr>
        <p:spPr>
          <a:xfrm>
            <a:off x="3555911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1006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de zool</a:t>
            </a:r>
          </a:p>
        </p:txBody>
      </p:sp>
      <p:sp>
        <p:nvSpPr>
          <p:cNvPr id="17" name="Oval 16"/>
          <p:cNvSpPr/>
          <p:nvPr/>
        </p:nvSpPr>
        <p:spPr>
          <a:xfrm>
            <a:off x="6273643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8739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Past aan tot de norm</a:t>
            </a:r>
          </a:p>
        </p:txBody>
      </p:sp>
      <p:sp>
        <p:nvSpPr>
          <p:cNvPr id="19" name="Oval 18"/>
          <p:cNvSpPr/>
          <p:nvPr/>
        </p:nvSpPr>
        <p:spPr>
          <a:xfrm>
            <a:off x="8991375" y="3276518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6471" y="3200319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Plaatst de sensor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013099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228994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Arts</a:t>
            </a:r>
          </a:p>
        </p:txBody>
      </p:sp>
      <p:sp>
        <p:nvSpPr>
          <p:cNvPr id="23" name="Oval 22"/>
          <p:cNvSpPr/>
          <p:nvPr/>
        </p:nvSpPr>
        <p:spPr>
          <a:xfrm>
            <a:off x="3555911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721006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Bevestigt geschiktheid</a:t>
            </a:r>
          </a:p>
        </p:txBody>
      </p:sp>
      <p:sp>
        <p:nvSpPr>
          <p:cNvPr id="25" name="Oval 24"/>
          <p:cNvSpPr/>
          <p:nvPr/>
        </p:nvSpPr>
        <p:spPr>
          <a:xfrm>
            <a:off x="6273643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8739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Beoordeelt laesies</a:t>
            </a:r>
          </a:p>
        </p:txBody>
      </p:sp>
      <p:sp>
        <p:nvSpPr>
          <p:cNvPr id="27" name="Oval 26"/>
          <p:cNvSpPr/>
          <p:nvPr/>
        </p:nvSpPr>
        <p:spPr>
          <a:xfrm>
            <a:off x="8991375" y="4317892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6471" y="4241693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Meldt voorvallen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984" y="5054473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984" y="5270368"/>
            <a:ext cx="2666933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700" b="1">
                <a:solidFill>
                  <a:srgbClr val="F2F8FC"/>
                </a:solidFill>
                <a:latin typeface="Segoe UI"/>
              </a:rPr>
              <a:t>Management</a:t>
            </a:r>
          </a:p>
        </p:txBody>
      </p:sp>
      <p:sp>
        <p:nvSpPr>
          <p:cNvPr id="31" name="Oval 30"/>
          <p:cNvSpPr/>
          <p:nvPr/>
        </p:nvSpPr>
        <p:spPr>
          <a:xfrm>
            <a:off x="3555911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21006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Maakt tijd vrij</a:t>
            </a:r>
          </a:p>
        </p:txBody>
      </p:sp>
      <p:sp>
        <p:nvSpPr>
          <p:cNvPr id="33" name="Oval 32"/>
          <p:cNvSpPr/>
          <p:nvPr/>
        </p:nvSpPr>
        <p:spPr>
          <a:xfrm>
            <a:off x="6273643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38739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Bewaakt 24 inclusies</a:t>
            </a:r>
          </a:p>
        </p:txBody>
      </p:sp>
      <p:sp>
        <p:nvSpPr>
          <p:cNvPr id="35" name="Oval 34"/>
          <p:cNvSpPr/>
          <p:nvPr/>
        </p:nvSpPr>
        <p:spPr>
          <a:xfrm>
            <a:off x="8991375" y="5359266"/>
            <a:ext cx="69848" cy="69848"/>
          </a:xfrm>
          <a:prstGeom prst="ellipse">
            <a:avLst/>
          </a:prstGeom>
          <a:solidFill>
            <a:srgbClr val="52BD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56471" y="5283067"/>
            <a:ext cx="2362140" cy="57148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Houdt het opleidingsregister bij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984" y="6095847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20 / 24</a:t>
            </a:r>
          </a:p>
        </p:txBody>
      </p:sp>
      <p:pic>
        <p:nvPicPr>
          <p:cNvPr id="39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ONDERSTEUNING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Wat u van ons krijgt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93850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158946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Motiverende gespreksvoering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7683" y="2476438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Training door een psycholoog — alle centra dezelfde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984" y="2959026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4984" y="3124121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SOP's en draaiboeken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683" y="3441613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Per handeling, met de eCRF-nummers erbij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4984" y="3924201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984" y="4089297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Gegevensinvoer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683" y="4406789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Doet het onderzoeksteam. U vult de formulieren in, verder niets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4984" y="4889377"/>
            <a:ext cx="6222844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4984" y="5054473"/>
            <a:ext cx="6222844" cy="3174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F2F8FC"/>
                </a:solidFill>
                <a:latin typeface="Segoe UI"/>
              </a:rPr>
              <a:t>Eén contactpunt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683" y="5371965"/>
            <a:ext cx="6095847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nummer, één mailadres, voor alles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2812" y="1904952"/>
            <a:ext cx="4063898" cy="39496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FF7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00799" y="2044648"/>
            <a:ext cx="3047923" cy="3047923"/>
          </a:xfrm>
          <a:prstGeom prst="ellipse">
            <a:avLst/>
          </a:prstGeom>
          <a:solidFill>
            <a:srgbClr val="FF7A00">
              <a:alpha val="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ero"/>
          <p:cNvSpPr txBox="1"/>
          <p:nvPr/>
        </p:nvSpPr>
        <p:spPr>
          <a:xfrm>
            <a:off x="7772205" y="2158946"/>
            <a:ext cx="3555911" cy="19049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0000"/>
              </a:lnSpc>
            </a:pPr>
            <a:r>
              <a:rPr sz="15000" b="1">
                <a:solidFill>
                  <a:srgbClr val="FF7A00"/>
                </a:solidFill>
                <a:latin typeface="Segoe UI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205" y="4063898"/>
            <a:ext cx="3555911" cy="3936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sancties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0304" y="4584585"/>
            <a:ext cx="3428914" cy="101597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600" b="0">
                <a:solidFill>
                  <a:srgbClr val="8FB6D0"/>
                </a:solidFill>
                <a:latin typeface="Segoe UI"/>
              </a:rPr>
              <a:t>Wijkt u af van het protocol, dan meldt u dat. Het wordt geregistreerd, niet afgestraft.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21 / 24</a:t>
            </a:r>
          </a:p>
        </p:txBody>
      </p:sp>
      <p:pic>
        <p:nvPicPr>
          <p:cNvPr id="23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WAT U GAAT VRAGEN</a:t>
            </a:r>
          </a:p>
        </p:txBody>
      </p:sp>
      <p:sp>
        <p:nvSpPr>
          <p:cNvPr id="4" name="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Vooruitlopend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634984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4984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Patiënt wil de sensor niet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4984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8977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Dan niet geschikt. Draagtijd ís een hoofduitkomst.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1918" y="1904952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1918" y="2070048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Zool haalt de norm niet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1918" y="2514537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5912" y="2501837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Twee extra tests, dan noteert u wat wél bereikt 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984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4984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Mag ik nog adviseren?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84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8977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Alles wat u vandaag doet, blijft u doen.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1918" y="3340016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1918" y="3505112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En de ingevulde formulieren?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1918" y="3949601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25912" y="3936901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Daar volgt bericht over. Invoeren doet het onderzoeksteam.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4984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4984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Onze data?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84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8977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Gepseudonimiseerd, tien jaar, binnen de toestemming.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1918" y="4775080"/>
            <a:ext cx="5384538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1918" y="4940176"/>
            <a:ext cx="5384538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>
                <a:solidFill>
                  <a:srgbClr val="F2F8FC"/>
                </a:solidFill>
                <a:latin typeface="Segoe UI"/>
              </a:rPr>
              <a:t>Zien wij resultaten?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71918" y="5384665"/>
            <a:ext cx="190495" cy="2539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52BDEC"/>
                </a:solidFill>
                <a:latin typeface="Segoe UI"/>
              </a:rP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25912" y="5371965"/>
            <a:ext cx="5130544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50" b="0">
                <a:solidFill>
                  <a:srgbClr val="8FB6D0"/>
                </a:solidFill>
                <a:latin typeface="Segoe UI"/>
              </a:rPr>
              <a:t>Eén publicatie, ongeacht de uitkomst.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22 / 24</a:t>
            </a:r>
          </a:p>
        </p:txBody>
      </p:sp>
      <p:pic>
        <p:nvPicPr>
          <p:cNvPr id="30" name="merk" descr="me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52BDEC"/>
              </a:gs>
              <a:gs pos="100000">
                <a:srgbClr val="1D8DB0"/>
              </a:gs>
            </a:gsLst>
            <a:lin ang="27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!!knal"/>
          <p:cNvSpPr txBox="1"/>
          <p:nvPr/>
        </p:nvSpPr>
        <p:spPr>
          <a:xfrm>
            <a:off x="952476" y="1523961"/>
            <a:ext cx="10286742" cy="41908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</a:pPr>
            <a:r>
              <a:rPr sz="7200" b="1">
                <a:solidFill>
                  <a:srgbClr val="04182A"/>
                </a:solidFill>
                <a:latin typeface="Segoe UI"/>
              </a:rPr>
              <a:t>Vanaf de eerste patiënt</a:t>
            </a:r>
          </a:p>
          <a:p>
            <a:pPr algn="l">
              <a:lnSpc>
                <a:spcPct val="106000"/>
              </a:lnSpc>
              <a:spcBef>
                <a:spcPts val="500"/>
              </a:spcBef>
            </a:pPr>
            <a:r>
              <a:rPr sz="7200" b="1">
                <a:solidFill>
                  <a:srgbClr val="04182A"/>
                </a:solidFill>
                <a:latin typeface="Segoe UI"/>
              </a:rPr>
              <a:t>doet u dit zelf.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7875" y="6006949"/>
            <a:ext cx="9524761" cy="2793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04182A"/>
                </a:solidFill>
                <a:latin typeface="Consolas"/>
              </a:rPr>
              <a:t>Wij leiden op, wij voeren in. De handelingen zijn van u.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7828"/>
          </a:xfrm>
          <a:prstGeom prst="rect">
            <a:avLst/>
          </a:prstGeom>
          <a:gradFill rotWithShape="1">
            <a:gsLst>
              <a:gs pos="0">
                <a:srgbClr val="072138"/>
              </a:gs>
              <a:gs pos="100000">
                <a:srgbClr val="04182A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34984" y="571485"/>
            <a:ext cx="9524761" cy="2158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spc="240">
                <a:solidFill>
                  <a:srgbClr val="52BDEC"/>
                </a:solidFill>
                <a:latin typeface="Consolas"/>
              </a:rPr>
              <a:t>WIE U AANSPREEKT</a:t>
            </a:r>
          </a:p>
        </p:txBody>
      </p:sp>
      <p:sp>
        <p:nvSpPr>
          <p:cNvPr id="4" name="!!sectietitel"/>
          <p:cNvSpPr txBox="1"/>
          <p:nvPr/>
        </p:nvSpPr>
        <p:spPr>
          <a:xfrm>
            <a:off x="634984" y="838179"/>
            <a:ext cx="9905752" cy="12699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2F8FC"/>
                </a:solidFill>
                <a:latin typeface="Segoe UI"/>
              </a:rPr>
              <a:t>Voor als er iets misloopt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4984" y="1904952"/>
            <a:ext cx="3174920" cy="3936901"/>
          </a:xfrm>
          <a:prstGeom prst="roundRect">
            <a:avLst>
              <a:gd name="adj" fmla="val 4500"/>
            </a:avLst>
          </a:prstGeom>
          <a:solidFill>
            <a:srgbClr val="113A57"/>
          </a:solidFill>
          <a:ln w="9525">
            <a:solidFill>
              <a:srgbClr val="215B8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ortret" descr="jan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02" y="2006549"/>
            <a:ext cx="2889883" cy="373370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317892" y="1904952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17892" y="2070048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Janou De Buyser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0591" y="2539936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DOCTORAATSONDERZOEKER · DAGELIJKSE OPVOLGING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17892" y="2857428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Uw eerste aanspreekpunt: inclusies, metingen, formulieren, sensoren en alles wat in de praktijk vastloopt.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7892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janou.debuyser@kuleuven.be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3803" y="3530511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Spoorwegstraat 12 · Brugge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7892" y="3873403"/>
            <a:ext cx="7238819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17892" y="4038499"/>
            <a:ext cx="6349841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2F8FC"/>
                </a:solidFill>
                <a:latin typeface="Segoe UI"/>
              </a:rPr>
              <a:t>prof. dr. Kevin Deschamps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0591" y="4508387"/>
            <a:ext cx="5714857" cy="22859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spc="150">
                <a:solidFill>
                  <a:srgbClr val="52BDEC"/>
                </a:solidFill>
                <a:latin typeface="Consolas"/>
              </a:rPr>
              <a:t>PROMOTOR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17892" y="4825879"/>
            <a:ext cx="7238819" cy="6349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650" b="0">
                <a:solidFill>
                  <a:srgbClr val="8FB6D0"/>
                </a:solidFill>
                <a:latin typeface="Segoe UI"/>
              </a:rPr>
              <a:t>Wetenschappelijke vragen, de opzet van de studie en afspraken op het niveau van uw centrum.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17892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Revalidatiewetenschappen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3803" y="5498962"/>
            <a:ext cx="3682907" cy="253993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F2F8FC"/>
                </a:solidFill>
                <a:latin typeface="Consolas"/>
              </a:rPr>
              <a:t>KU Leuven · Campus Brugge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4984" y="5968850"/>
            <a:ext cx="10921726" cy="9524"/>
          </a:xfrm>
          <a:prstGeom prst="rect">
            <a:avLst/>
          </a:prstGeom>
          <a:solidFill>
            <a:srgbClr val="215B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984" y="6108547"/>
            <a:ext cx="10921726" cy="38099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8FB6D0"/>
                </a:solidFill>
                <a:latin typeface="Segoe UI"/>
              </a:rPr>
              <a:t>Consortium: KU Leuven — Revalidatiewetenschappen (Musculoskeletal Research Group) en Volksgezondheid en Eerstelijnszorg · Vrije Universiteit Brussel — Geneeskunde en Farmacie. Co-promotoren: Fabienne Dobbels, Maaike Fobelets en Koen Putman.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0736" y="6387940"/>
            <a:ext cx="1015974" cy="1777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050" b="0">
                <a:solidFill>
                  <a:srgbClr val="8FB6D0"/>
                </a:solidFill>
                <a:latin typeface="Consolas"/>
              </a:rPr>
              <a:t>24 / 24</a:t>
            </a:r>
          </a:p>
        </p:txBody>
      </p:sp>
      <p:pic>
        <p:nvPicPr>
          <p:cNvPr id="22" name="merk" descr="me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4166" y="368290"/>
            <a:ext cx="417101" cy="4825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200">
        <p159:morph option="byObject"/>
      </p:transition>
    </mc:Choice>
    <mc:Fallback>
      <p:transition xmlns:p14="http://schemas.microsoft.com/office/powerpoint/2010/main" spd="slow" p14:dur="9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