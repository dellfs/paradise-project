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 ze zelf. Herkent u er één waarvan u nu al denkt: dat durf ik niet — zeg het dan meteen. Daar is deze sessie voor.</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Genezing is dus geen eindpunt maar remissie.</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Daarom heeft PARADISE twee normen en niet één.</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niet twee. Dezelfde drie condities,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Opfrissing voor de centra</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24</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24</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24</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24</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Geschiktheid, toestemming, loting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Screening vóór de toestemming: beoordeel de in- en exclusiecriteria en noteer de patiënt op de identificatielijst.</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Is de patiënt geschikt, overloop dan de informatie- en toestemmingsformulieren en laat tekenen.</a:t>
            </a:r>
          </a:p>
        </p:txBody>
      </p:sp>
      <p:sp>
        <p:nvSpPr>
          <p:cNvPr id="13" name="Oval 12"/>
          <p:cNvSpPr/>
          <p:nvPr/>
        </p:nvSpPr>
        <p:spPr>
          <a:xfrm>
            <a:off x="634984" y="31693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693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315663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Visite 0: bevestig de geschiktheid met het baselineformulier.</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 PI opent de volgende verzegelde envelop en deelt de patiënt in. Pas dan is bekend in welke arm hij zit.</a:t>
            </a:r>
          </a:p>
        </p:txBody>
      </p:sp>
      <p:sp>
        <p:nvSpPr>
          <p:cNvPr id="19" name="Oval 18"/>
          <p:cNvSpPr/>
          <p:nvPr/>
        </p:nvSpPr>
        <p:spPr>
          <a:xfrm>
            <a:off x="634984" y="408269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08269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4069994"/>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geschikt? Noteer de reden. Ook dat is studiedata.</a:t>
            </a:r>
          </a:p>
        </p:txBody>
      </p:sp>
      <p:sp>
        <p:nvSpPr>
          <p:cNvPr id="22" name="TextBox 21"/>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3" name="TextBox 22"/>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00   01   02   06</a:t>
            </a:r>
          </a:p>
        </p:txBody>
      </p:sp>
      <p:sp>
        <p:nvSpPr>
          <p:cNvPr id="24" name="Rounded Rectangle 23"/>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6" name="TextBox 25"/>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volgorde ligt vast: screenen, tekenen, geschiktheid bevestigen, dan pas loten. Vul geen enkel ander formulier in voordat de patiënt getekend heeft.</a:t>
            </a:r>
          </a:p>
        </p:txBody>
      </p:sp>
      <p:sp>
        <p:nvSpPr>
          <p:cNvPr id="27" name="TextBox 2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PI loot · podoloog vult in</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24</a:t>
            </a:r>
          </a:p>
        </p:txBody>
      </p:sp>
      <p:pic>
        <p:nvPicPr>
          <p:cNvPr id="2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 — meten en voorschrijven</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Demografie en voorgeschiedenis, inclusief nierfunctie, eGFR, hartaandoening en diabetesmedicatie.</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en klasseer een eventueel ulcus.</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Drukmeting blootsvoets: drie metingen per voet.</a:t>
            </a:r>
          </a:p>
        </p:txBody>
      </p:sp>
      <p:sp>
        <p:nvSpPr>
          <p:cNvPr id="16" name="Oval 15"/>
          <p:cNvSpPr/>
          <p:nvPr/>
        </p:nvSpPr>
        <p:spPr>
          <a:xfrm>
            <a:off x="634984" y="3309029"/>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309029"/>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29632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Bepaal de drie doelregio's en schrijf de zool voor, mét die regio's op het voorschrift.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Vragenlijsten vóór het educatiegesprek: NAFF en HLS-EU-6. Daarna tevredenheid, schoeiselgebruik en EQ-5D-5L.</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1: educatie op maat, voordoen, en de patiënt het zelf laten uitvoeren. Leg dat vast in het logboek.</a:t>
            </a:r>
          </a:p>
        </p:txBody>
      </p:sp>
      <p:sp>
        <p:nvSpPr>
          <p:cNvPr id="25" name="Oval 24"/>
          <p:cNvSpPr/>
          <p:nvPr/>
        </p:nvSpPr>
        <p:spPr>
          <a:xfrm>
            <a:off x="634984" y="4996055"/>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996055"/>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983355"/>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Geef de MoveMonitor mee voor zeven dagen en registreer het toestelnummer.</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07   08   09   10   12   13   14   15   16   18   19   20   21   48</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arts schrijft voor · het onderzoeksteam verwerkt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24</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Lever de zool af. Controleer de pasvorm in het bínnenschoeisel én het búitenschoeisel, en neem de foto's.</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Meet de drukherverdeling en toets de norm per doelregio.</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gehaald? Pas aan en meet opnieuw. Is ze gehaald, laat dan een tweede, identiek paar maken.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Plaats en activeer de Orthotimer in de zool en registreer het toestelnummer.</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MoveMonitor terug en registreer de teruggave.</a:t>
            </a:r>
          </a:p>
        </p:txBody>
      </p:sp>
      <p:sp>
        <p:nvSpPr>
          <p:cNvPr id="22" name="Oval 21"/>
          <p:cNvSpPr/>
          <p:nvPr/>
        </p:nvSpPr>
        <p:spPr>
          <a:xfrm>
            <a:off x="634984" y="42223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2223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20969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2: bespreek het activiteitenprofiel, doe de teach-back en geef de sensorfolder mee.</a:t>
            </a:r>
          </a:p>
        </p:txBody>
      </p:sp>
      <p:sp>
        <p:nvSpPr>
          <p:cNvPr id="25" name="Oval 24"/>
          <p:cNvSpPr/>
          <p:nvPr/>
        </p:nvSpPr>
        <p:spPr>
          <a:xfrm>
            <a:off x="634984" y="47847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7847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77203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overtuigingen en gewoontes rond schoeisel.</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23   24   24b   25   26   27   28   29   30</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plaatst de sensor en begeleidt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24</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Driemaandelijkse opvolging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zoals bij de baseline.</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therapietrouw, lees de Orthotimer uit en bespreek de uitdraai niet-veroordelend.</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Beoordeel beide paren zolen. Het paar dat onderhoud nodig heeft gaat naar de pedorthist, deklaag inbegrepen.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Vervang zool of sensor als dat nodig is en leg dat vast.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vragenlijsten af: levenskwaliteit, medische consumptie en productiviteit.</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6 een tweede week MoveMonitor.</a:t>
            </a:r>
          </a:p>
        </p:txBody>
      </p:sp>
      <p:sp>
        <p:nvSpPr>
          <p:cNvPr id="25" name="TextBox 24"/>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6" name="TextBox 25"/>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08   31   25   32   33   21   34   35   45b</a:t>
            </a:r>
          </a:p>
        </p:txBody>
      </p:sp>
      <p:sp>
        <p:nvSpPr>
          <p:cNvPr id="27" name="Rounded Rectangle 26"/>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9" name="TextBox 28"/>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0" name="TextBox 29"/>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24</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drie keer extra bij komt</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Bovenop de driemaandelijkse opvolging</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Herhaal de drukmeting in de drie condities en toets opnieuw per doelregio.</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Ligt de piekdruk boven 200 kPa, of is er nog winst haalbaar, pas dan opnieuw aan volgens dezelfde procedure.</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18 ook de tevredenheidsschaal opnieuw afnemen, zodat de verandering tegenover baseline gemeten kan worden.</a:t>
            </a:r>
          </a:p>
        </p:txBody>
      </p:sp>
      <p:sp>
        <p:nvSpPr>
          <p:cNvPr id="16" name="TextBox 15"/>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17" name="TextBox 16"/>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24   24b   12</a:t>
            </a:r>
          </a:p>
        </p:txBody>
      </p:sp>
      <p:sp>
        <p:nvSpPr>
          <p:cNvPr id="18" name="Rounded Rectangle 17"/>
          <p:cNvSpPr/>
          <p:nvPr/>
        </p:nvSpPr>
        <p:spPr>
          <a:xfrm>
            <a:off x="7746806" y="3301917"/>
            <a:ext cx="3809904" cy="1737519"/>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0" name="TextBox 19"/>
          <p:cNvSpPr txBox="1"/>
          <p:nvPr/>
        </p:nvSpPr>
        <p:spPr>
          <a:xfrm>
            <a:off x="7988100" y="3682907"/>
            <a:ext cx="3301917" cy="1254931"/>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Drie extra meetmomenten, niet twee. Maand 18 telt mee: het recidief wordt over de volle achttien maanden geteld.</a:t>
            </a:r>
          </a:p>
        </p:txBody>
      </p:sp>
      <p:sp>
        <p:nvSpPr>
          <p:cNvPr id="21" name="TextBox 2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pedorthist past aan</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24</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24</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24</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24</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24</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24</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24</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Daar volgt bericht over. Invoeren doet het onderzoeksteam.</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24</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Vanaf de eerste patiënt</a:t>
            </a:r>
          </a:p>
          <a:p>
            <a:pPr algn="l">
              <a:lnSpc>
                <a:spcPct val="106000"/>
              </a:lnSpc>
              <a:spcBef>
                <a:spcPts val="500"/>
              </a:spcBef>
            </a:pPr>
            <a:r>
              <a:rPr sz="7200" b="1">
                <a:solidFill>
                  <a:srgbClr val="04182A"/>
                </a:solidFill>
                <a:latin typeface="Segoe UI"/>
              </a:rPr>
              <a:t>doet u dit zelf.</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24</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