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lat voor vandaag. Zes handelingen, en na deze sessie doet u ze zelf. Herkent u er één waarvan u nu al denkt: dat durf ik niet — zeg het dan meteen. Daar is deze sessie voor.</a:t>
            </a:r>
          </a:p>
          <a:p/>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visite nul. De volgorde ligt vast: screenen, tekenen, geschiktheid bevestigen, en pas dan loten. Vul geen enkel ander formulier in vóór de handtekening. Ook een afwijzing noteert u, want ook dat is studiedata.</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één, het langste bezoek van de studie. Meten, voorschrijven, vragenlijsten en het eerste educatiegesprek. Twee dingen liggen vast: het voorschrift gebeurt hier en niet later, en NAFF en HLS gaan vóór de educatie.</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twee, veertien dagen tot één maand later. Technisch het zwaarste bezoek: afleveren, pasvorm in binnen- én buitenschoeisel, meten, aanpassen tot de norm gehaald is. Pas dán gaat de Orthotimer in de zool, en pas dan bestelt u het tweede paar.</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Visites drie tot acht, elke drie maanden. Screenen, uitlezen, bespreken, en beide paren zolen beoordelen. Uitlezen kan alleen ter plaatse: een gemiste uitlezing verzwakt de draagtijd van die patiënt over de hele periode.</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Op maand zes, twaalf en achttien komt er een drukmeting bij. Drie keer, niet twee. Dezelfde drie condities, dezelfde toetsing per doelregio. Ligt de piekdruk er weer boven, dan past u opnieuw aan.</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Wat u meldt, en hoe snel. Een nieuw ulcus is de primaire uitkomst, dus dat meldt u altijd. Ernstige voorvallen binnen vierentwintig uur na kennisname. En onthoud dit: een afwijking die u meldt is een gegeven, een afwijking die u niet meldt is een fout in de data van de hele studie.</a:t>
            </a:r>
          </a:p>
          <a:p/>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vangnet, geen programma. Toon hem alleen als de vragen opdrogen, en beantwoord dan alleen wat nog niet aan bod kwam.</a:t>
            </a:r>
          </a:p>
          <a:p/>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het is geen dreigement maar een vaststelling. Wij leiden op en wij voeren in. De handelingen zijn van u, vanaf de eerste patiënt.</a:t>
            </a:r>
          </a:p>
          <a:p/>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Opfrissing voor de centra</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27</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27</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80" name="TextBox 17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27</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Geschiktheid, toestemming, loting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Screening vóór de toestemming: beoordeel de in- en exclusiecriteria en noteer de patiënt op de identificatielijst.</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Is de patiënt geschikt, overloop dan de informatie- en toestemmingsformulieren en laat tekenen.</a:t>
            </a:r>
          </a:p>
        </p:txBody>
      </p:sp>
      <p:sp>
        <p:nvSpPr>
          <p:cNvPr id="13" name="Oval 12"/>
          <p:cNvSpPr/>
          <p:nvPr/>
        </p:nvSpPr>
        <p:spPr>
          <a:xfrm>
            <a:off x="634984" y="31693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693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3156633"/>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Visite 0: bevestig de geschiktheid met het baselineformulier.</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 PI opent de volgende verzegelde envelop en deelt de patiënt in. Pas dan is bekend in welke arm hij zit.</a:t>
            </a:r>
          </a:p>
        </p:txBody>
      </p:sp>
      <p:sp>
        <p:nvSpPr>
          <p:cNvPr id="19" name="Oval 18"/>
          <p:cNvSpPr/>
          <p:nvPr/>
        </p:nvSpPr>
        <p:spPr>
          <a:xfrm>
            <a:off x="634984" y="408269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08269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4069994"/>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geschikt? Noteer de reden. Ook dat is studiedata.</a:t>
            </a:r>
          </a:p>
        </p:txBody>
      </p:sp>
      <p:sp>
        <p:nvSpPr>
          <p:cNvPr id="22" name="TextBox 21"/>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3" name="TextBox 22"/>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00   01   02   06</a:t>
            </a:r>
          </a:p>
        </p:txBody>
      </p:sp>
      <p:sp>
        <p:nvSpPr>
          <p:cNvPr id="24" name="Rounded Rectangle 23"/>
          <p:cNvSpPr/>
          <p:nvPr/>
        </p:nvSpPr>
        <p:spPr>
          <a:xfrm>
            <a:off x="7746806" y="3301917"/>
            <a:ext cx="3809904" cy="2019503"/>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6" name="TextBox 25"/>
          <p:cNvSpPr txBox="1"/>
          <p:nvPr/>
        </p:nvSpPr>
        <p:spPr>
          <a:xfrm>
            <a:off x="7988100" y="3682907"/>
            <a:ext cx="3301917" cy="1536915"/>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volgorde ligt vast: screenen, tekenen, geschiktheid bevestigen, dan pas loten. Vul geen enkel ander formulier in voordat de patiënt getekend heeft.</a:t>
            </a:r>
          </a:p>
        </p:txBody>
      </p:sp>
      <p:sp>
        <p:nvSpPr>
          <p:cNvPr id="27" name="TextBox 2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PI loot · podoloog vult in</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27</a:t>
            </a:r>
          </a:p>
        </p:txBody>
      </p:sp>
      <p:pic>
        <p:nvPicPr>
          <p:cNvPr id="2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 — meten en voorschrijven</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Demografie en voorgeschiedenis, inclusief nierfunctie, eGFR, hartaandoening en diabetesmedicatie.</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en klasseer een eventueel ulcus.</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Drukmeting blootsvoets: drie metingen per voet.</a:t>
            </a:r>
          </a:p>
        </p:txBody>
      </p:sp>
      <p:sp>
        <p:nvSpPr>
          <p:cNvPr id="16" name="Oval 15"/>
          <p:cNvSpPr/>
          <p:nvPr/>
        </p:nvSpPr>
        <p:spPr>
          <a:xfrm>
            <a:off x="634984" y="3309029"/>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309029"/>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29632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Bepaal de drie doelregio's en schrijf de zool voor, mét die regio's op het voorschrift.</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Vragenlijsten vóór het educatiegesprek: NAFF en HLS-EU-6. Daarna tevredenheid, schoeiselgebruik en EQ-5D-5L.</a:t>
            </a:r>
          </a:p>
        </p:txBody>
      </p:sp>
      <p:sp>
        <p:nvSpPr>
          <p:cNvPr id="22" name="Oval 21"/>
          <p:cNvSpPr/>
          <p:nvPr/>
        </p:nvSpPr>
        <p:spPr>
          <a:xfrm>
            <a:off x="634984" y="443371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43371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421013"/>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1: educatie op maat, voordoen, en de patiënt het zelf laten uitvoeren. Leg dat vast in het logboek.</a:t>
            </a:r>
          </a:p>
        </p:txBody>
      </p:sp>
      <p:sp>
        <p:nvSpPr>
          <p:cNvPr id="25" name="Oval 24"/>
          <p:cNvSpPr/>
          <p:nvPr/>
        </p:nvSpPr>
        <p:spPr>
          <a:xfrm>
            <a:off x="634984" y="4996055"/>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996055"/>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983355"/>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Geef de MoveMonitor mee voor zeven dagen en registreer het toestelnummer.</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07   08   09   10   12   13   14   15   16   18   19   20   21   48</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arts schrijft voor · het onderzoeksteam verwerkt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27</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 name="TextBox 3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26 · Lincoln 2007, NAFF</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Lever de zool af. Controleer de pasvorm in het bínnenschoeisel én het búitenschoeisel, en neem de foto's.</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Meet de drukherverdeling en toets de norm per doelregio.</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gehaald? Pas aan en meet opnieuw. Is ze gehaald, laat dan een tweede, identiek paar maken.</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Plaats en activeer de Orthotimer in de zool en registreer het toestelnummer.</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MoveMonitor terug en registreer de teruggave.</a:t>
            </a:r>
          </a:p>
        </p:txBody>
      </p:sp>
      <p:sp>
        <p:nvSpPr>
          <p:cNvPr id="22" name="Oval 21"/>
          <p:cNvSpPr/>
          <p:nvPr/>
        </p:nvSpPr>
        <p:spPr>
          <a:xfrm>
            <a:off x="634984" y="42223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2223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20969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2: bespreek het activiteitenprofiel, doe de teach-back en geef de sensorfolder mee.</a:t>
            </a:r>
          </a:p>
        </p:txBody>
      </p:sp>
      <p:sp>
        <p:nvSpPr>
          <p:cNvPr id="25" name="Oval 24"/>
          <p:cNvSpPr/>
          <p:nvPr/>
        </p:nvSpPr>
        <p:spPr>
          <a:xfrm>
            <a:off x="634984" y="47847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7847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77203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overtuigingen en gewoontes rond schoeisel.</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23   24   24b   25   26   27   28   29   30</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plaatst de sensor en begeleidt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27</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 name="TextBox 3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Driemaandelijkse opvolging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zoals bij de baseline.</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therapietrouw, lees de Orthotimer uit en bespreek de uitdraai niet-veroordelend.</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Beoordeel beide paren zolen. Het paar dat onderhoud nodig heeft gaat naar de pedorthist, deklaag inbegrepen.</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Vervang zool of sensor als dat nodig is en leg dat vast.</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vragenlijsten af: levenskwaliteit, medische consumptie en productiviteit.</a:t>
            </a:r>
          </a:p>
        </p:txBody>
      </p:sp>
      <p:sp>
        <p:nvSpPr>
          <p:cNvPr id="22" name="Oval 21"/>
          <p:cNvSpPr/>
          <p:nvPr/>
        </p:nvSpPr>
        <p:spPr>
          <a:xfrm>
            <a:off x="634984" y="443371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43371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421013"/>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6 een tweede week MoveMonitor.</a:t>
            </a:r>
          </a:p>
        </p:txBody>
      </p:sp>
      <p:sp>
        <p:nvSpPr>
          <p:cNvPr id="25" name="TextBox 24"/>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6" name="TextBox 25"/>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08   31   25   32   33   21   34   35   45b</a:t>
            </a:r>
          </a:p>
        </p:txBody>
      </p:sp>
      <p:sp>
        <p:nvSpPr>
          <p:cNvPr id="27" name="Rounded Rectangle 26"/>
          <p:cNvSpPr/>
          <p:nvPr/>
        </p:nvSpPr>
        <p:spPr>
          <a:xfrm>
            <a:off x="7746806" y="3301917"/>
            <a:ext cx="3809904" cy="2019503"/>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9" name="TextBox 28"/>
          <p:cNvSpPr txBox="1"/>
          <p:nvPr/>
        </p:nvSpPr>
        <p:spPr>
          <a:xfrm>
            <a:off x="7988100" y="3682907"/>
            <a:ext cx="3301917" cy="1536915"/>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0" name="TextBox 29"/>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27</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   |   29 · Dahmen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drie keer extra bij komt</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Bovenop de driemaandelijkse opvolging</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Herhaal de drukmeting in de drie condities en toets opnieuw per doelregio.</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Ligt de piekdruk boven 200 kPa, of is er nog winst haalbaar, pas dan opnieuw aan volgens dezelfde procedure.</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18 ook de tevredenheidsschaal opnieuw afnemen, zodat de verandering tegenover baseline gemeten kan worden.</a:t>
            </a:r>
          </a:p>
        </p:txBody>
      </p:sp>
      <p:sp>
        <p:nvSpPr>
          <p:cNvPr id="16" name="TextBox 15"/>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17" name="TextBox 16"/>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24   24b   12</a:t>
            </a:r>
          </a:p>
        </p:txBody>
      </p:sp>
      <p:sp>
        <p:nvSpPr>
          <p:cNvPr id="18" name="Rounded Rectangle 17"/>
          <p:cNvSpPr/>
          <p:nvPr/>
        </p:nvSpPr>
        <p:spPr>
          <a:xfrm>
            <a:off x="7746806" y="3301917"/>
            <a:ext cx="3809904" cy="1737519"/>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0" name="TextBox 19"/>
          <p:cNvSpPr txBox="1"/>
          <p:nvPr/>
        </p:nvSpPr>
        <p:spPr>
          <a:xfrm>
            <a:off x="7988100" y="3682907"/>
            <a:ext cx="3301917" cy="1254931"/>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Drie extra meetmomenten, niet twee. Maand 18 telt mee: het recidief wordt over de volle achttien maanden geteld.</a:t>
            </a:r>
          </a:p>
        </p:txBody>
      </p:sp>
      <p:sp>
        <p:nvSpPr>
          <p:cNvPr id="21" name="TextBox 20"/>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pedorthist past aan</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27</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4" name="TextBox 23"/>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27</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27</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27</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27</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 name="TextBox 3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27</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27</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27</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34984"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18" name="TextBox 17"/>
          <p:cNvSpPr txBox="1"/>
          <p:nvPr/>
        </p:nvSpPr>
        <p:spPr>
          <a:xfrm>
            <a:off x="965175"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19" name="TextBox 18"/>
          <p:cNvSpPr txBox="1"/>
          <p:nvPr/>
        </p:nvSpPr>
        <p:spPr>
          <a:xfrm>
            <a:off x="634984" y="4194369"/>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20" name="TextBox 19"/>
          <p:cNvSpPr txBox="1"/>
          <p:nvPr/>
        </p:nvSpPr>
        <p:spPr>
          <a:xfrm>
            <a:off x="965175" y="4194369"/>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21" name="TextBox 20"/>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2" name="TextBox 21"/>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3" name="TextBox 22"/>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4" name="TextBox 23"/>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5" name="TextBox 24"/>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6" name="TextBox 25"/>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7" name="TextBox 26"/>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25</a:t>
            </a:r>
          </a:p>
        </p:txBody>
      </p:sp>
      <p:sp>
        <p:nvSpPr>
          <p:cNvPr id="28" name="TextBox 27"/>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Diabetes Metab Res Rev. 2024;40(3):e3654.</a:t>
            </a:r>
          </a:p>
        </p:txBody>
      </p:sp>
      <p:sp>
        <p:nvSpPr>
          <p:cNvPr id="29" name="TextBox 28"/>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26</a:t>
            </a:r>
          </a:p>
        </p:txBody>
      </p:sp>
      <p:sp>
        <p:nvSpPr>
          <p:cNvPr id="30" name="TextBox 29"/>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Lincoln NB et al. Pract Diabetes Int. 2007;24(4):207–11.</a:t>
            </a:r>
          </a:p>
        </p:txBody>
      </p:sp>
      <p:sp>
        <p:nvSpPr>
          <p:cNvPr id="31" name="TextBox 30"/>
          <p:cNvSpPr txBox="1"/>
          <p:nvPr/>
        </p:nvSpPr>
        <p:spPr>
          <a:xfrm>
            <a:off x="6171918"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32" name="TextBox 31"/>
          <p:cNvSpPr txBox="1"/>
          <p:nvPr/>
        </p:nvSpPr>
        <p:spPr>
          <a:xfrm>
            <a:off x="6502110"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33" name="TextBox 32"/>
          <p:cNvSpPr txBox="1"/>
          <p:nvPr/>
        </p:nvSpPr>
        <p:spPr>
          <a:xfrm>
            <a:off x="6171918"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29</a:t>
            </a:r>
          </a:p>
        </p:txBody>
      </p:sp>
      <p:sp>
        <p:nvSpPr>
          <p:cNvPr id="34" name="TextBox 33"/>
          <p:cNvSpPr txBox="1"/>
          <p:nvPr/>
        </p:nvSpPr>
        <p:spPr>
          <a:xfrm>
            <a:off x="6502110"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Dahmen R et al. J Rehabil Med. 2018;50(6):569–74.</a:t>
            </a:r>
          </a:p>
        </p:txBody>
      </p:sp>
      <p:sp>
        <p:nvSpPr>
          <p:cNvPr id="35" name="TextBox 3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27</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