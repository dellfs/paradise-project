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PARADISE gaat niet over genezen maar over terugkomen. Zes Belgische voetklinieken, honderdvierenveertig patiënten, achttien maanden per patiënt. Ik neem u mee langs het waarom, de meting en het traject. Onderbreek me gerust.</a:t>
            </a:r>
          </a:p>
          <a:p/>
          <a:p>
            <a:r>
              <a:t>PRESENTATIETIP</a:t>
            </a:r>
          </a:p>
          <a:p>
            <a:r>
              <a:t>Het beeld draagt deze dia. Wilt u een ander beeld: zet het in beeld\stock\, draai verwerk_stock.py en zet de bestandsnaam hier. Liggend, koele tonen, en rustig onderaan — daar staat de titel.</a:t>
            </a:r>
          </a:p>
          <a:p/>
          <a:p>
            <a:r>
              <a:t>INTERACTIE</a:t>
            </a:r>
          </a:p>
          <a:p>
            <a:r>
              <a:t>Laat de dia staan terwijl de zaal binnenkomt. Zeg pas iets als iedereen zit.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Dit is de lat voor vandaag. Zes handelingen, en na deze sessie doet uw team ze zelf. Twijfelt u bij een van de zes, zeg dat dan gerust: begeleiding en vragen blijven mogelijk tijdens het hele project.</a:t>
            </a:r>
          </a:p>
          <a:p/>
          <a:p>
            <a:r>
              <a:t>PRESENTATIETIP</a:t>
            </a:r>
          </a:p>
          <a:p>
            <a:r>
              <a:t>Loop de zes titels traag door. Dit is de belofte van de dag en het is ook precies de bekwaamheidscheck op het eind.</a:t>
            </a:r>
          </a:p>
          <a:p/>
          <a:p>
            <a:r>
              <a:t>INTERACTIE</a:t>
            </a:r>
          </a:p>
          <a:p>
            <a:r>
              <a:t>Laat iedereen op een blad de zes overschrijven en aanduiden welke ze al beheersen. Op het eind vullen ze dat opnieuw in.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Elke stip is een patiënt. Vierentwintig daarvan komen uit úw kliniek, twaalf in elke arm. Zes keer vierentwintig is honderdvierenveertig. Blijft één centrum achter, dan haalt de studie het niet.</a:t>
            </a:r>
          </a:p>
          <a:p/>
          <a:p>
            <a:r>
              <a:t>PRESENTATIETIP</a:t>
            </a:r>
          </a:p>
          <a:p>
            <a:r>
              <a:t>Wijs hun eigen centrum aan: 24 van die 144 stippen zijn van hen. Zes keer 24 is 144 — als één centrum achterblijft, haalt de studie het niet.</a:t>
            </a:r>
          </a:p>
          <a:p/>
          <a:p>
            <a:r>
              <a:t>INTERACTIE</a:t>
            </a:r>
          </a:p>
          <a:p>
            <a:r>
              <a:t>Vraag of ze de andere vijf centra kennen. Het maakt van zes losse klinieken één netwerk.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Veertig procent krijgt binnen één jaar een nieuw ulcus. Na vijf jaar is dat vijfenzestig. En de sterfte ligt tweeënhalf keer hoger dan bij diabetes zonder ulcus — na een majeure amputatie zelfs boven de zeventig procent. Dit is geen wondprobleem. Dit is een overlevingsprobleem.</a:t>
            </a:r>
          </a:p>
          <a:p/>
          <a:p>
            <a:r>
              <a:t>PRESENTATIETIP</a:t>
            </a:r>
          </a:p>
          <a:p>
            <a:r>
              <a:t>Dit is het probleem waar de hele studie op staat. Eén dia, dan door.</a:t>
            </a:r>
          </a:p>
          <a:p/>
          <a:p>
            <a:r>
              <a:t>INTERACTIE</a:t>
            </a:r>
          </a:p>
          <a:p>
            <a:r>
              <a:t>Geen. Dit is context, geen discussie.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Waar die cijfers vandaan komen, ziet u hier. Elk punt is een cohort; de lijn erdoorheen is de trend. Na één jaar veertig procent, na vijf jaar vijfenzestig. Het risico verdwijnt niet, het stapelt op.</a:t>
            </a:r>
          </a:p>
          <a:p/>
          <a:p>
            <a:r>
              <a:t>PRESENTATIETIP</a:t>
            </a:r>
          </a:p>
          <a:p>
            <a:r>
              <a:t>De vorige dia noemt de cijfers; deze laat zien waar ze vandaan komen. Wijs de trendlijn aan, niet de losse punten.</a:t>
            </a:r>
          </a:p>
          <a:p/>
          <a:p>
            <a:r>
              <a:t>INTERACTIE</a:t>
            </a:r>
          </a:p>
          <a:p>
            <a:r>
              <a:t>Geen. Laat de spreiding het werk doen.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En dan het cijfer dat het onverdraaglijk maakt. Driekwart van deze ulcera is in principe te voorkomen. Toch komt veertig procent binnen het jaar terug. Dat gat tussen wat kan en wat gebeurt — daar gaat deze studie over.</a:t>
            </a:r>
          </a:p>
          <a:p/>
          <a:p>
            <a:r>
              <a:t>PRESENTATIETIP</a:t>
            </a:r>
          </a:p>
          <a:p>
            <a:r>
              <a:t>Zeg dit traag en zwijg dan twee tellen. Dit is de enige dia in blok 1 waar de zaal niet leest maar luistert.</a:t>
            </a:r>
          </a:p>
          <a:p/>
          <a:p>
            <a:r>
              <a:t>INTERACTIE</a:t>
            </a:r>
          </a:p>
          <a:p>
            <a:r>
              <a:t>Geen. De stilte doet het werk.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Belasting is een product, geen optelsom. Piekdruk maal activiteit maal draagtijd. Eén factor op nul maakt het hele product nul. Een perfecte zool in de kast beschermt niets.</a:t>
            </a:r>
          </a:p>
          <a:p/>
          <a:p>
            <a:r>
              <a:t>PRESENTATIETIP</a:t>
            </a:r>
          </a:p>
          <a:p>
            <a:r>
              <a:t>Dit is het scharnier van blok 1. Wie dit snapt, snapt waarom de meting én de sensor allebei moeten kloppen.</a:t>
            </a:r>
          </a:p>
          <a:p/>
          <a:p>
            <a:r>
              <a:t>INTERACTIE</a:t>
            </a:r>
          </a:p>
          <a:p>
            <a:r>
              <a:t>Morph: de drie tegels komen samen uit één punt.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Daarom doen wij het anders. Geen drie losse maatregelen, maar één dienst met twee normen: de zool moet de druk hálen, én hij moet gedragen wórden. Beide gemeten, beide bijgestuurd, en beide door uw eigen team. Dat is nog nooit samen getoetst.</a:t>
            </a:r>
          </a:p>
          <a:p/>
          <a:p>
            <a:r>
              <a:t>PRESENTATIETIP</a:t>
            </a:r>
          </a:p>
          <a:p>
            <a:r>
              <a:t>Dit is de kanteldia. Alles ervoor is het probleem, alles erna is de uitvoering. Zeg met zoveel woorden dat dit nog nooit samen getoetst is.</a:t>
            </a:r>
          </a:p>
          <a:p/>
          <a:p>
            <a:r>
              <a:t>INTERACTIE</a:t>
            </a:r>
          </a:p>
          <a:p>
            <a:r>
              <a:t>Vraag welke van de twee normen zij het moeilijkst achten. Het antwoord is bijna altijd de tweede.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Elke sensor geeft een cijfer. Dit is de baseline, in de schoen: driehonderdtwaalf kilopascal onder metatarsaal twee-drie. Drie loopproeven per voet, waarvan de middelste twaalf passen tellen. Hiertegen wordt alles afgezet.</a:t>
            </a:r>
          </a:p>
          <a:p/>
          <a:p>
            <a:r>
              <a:t>PRESENTATIETIP</a:t>
            </a:r>
          </a:p>
          <a:p>
            <a:r>
              <a:t>De meest gemaakte fout is één loopproef per voet. Het protocol vraagt er drie, en het gemiddelde telt.</a:t>
            </a:r>
          </a:p>
          <a:p/>
          <a:p>
            <a:r>
              <a:t>INTERACTIE</a:t>
            </a:r>
          </a:p>
          <a:p>
            <a:r>
              <a:t>Vraag wie er vandaag al in de schoen meet.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Zelfde voet, na aanpassing. Honderdzesentachtig kilopascal: veertig procent lager én onder de tweehonderd. De norm geldt per doelregio. Haalt u ze niet, dan past u aan en meet u opnieuw.</a:t>
            </a:r>
          </a:p>
          <a:p/>
          <a:p>
            <a:r>
              <a:t>PRESENTATIETIP</a:t>
            </a:r>
          </a:p>
          <a:p>
            <a:r>
              <a:t>Zeg expliciet: "óf". Twee wegen naar dezelfde norm, geen dubbele eis. En de vergelijking gebeurt per regio, niet over de hele voet.</a:t>
            </a:r>
          </a:p>
          <a:p/>
          <a:p>
            <a:r>
              <a:t>INTERACTIE</a:t>
            </a:r>
          </a:p>
          <a:p>
            <a:r>
              <a:t>Vraag de pedorthisten hoeveel aanpassingsrondes realistisch zijn.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Even stilstaan. Het doel is niet minder belasting. Het doel is belasting op een plek die het aankan. Dat is de hele interventie.</a:t>
            </a:r>
          </a:p>
          <a:p/>
          <a:p>
            <a:r>
              <a:t>PRESENTATIETIP</a:t>
            </a:r>
          </a:p>
          <a:p>
            <a:r>
              <a:t>Zeg deze twee zinnen en zwijg dan. Laat de dia staan tot iemand ongemakkelijk wordt. Dit is het enige moment in blok 2 waarop de zaal niets te lezen heeft.</a:t>
            </a:r>
          </a:p>
          <a:p/>
          <a:p>
            <a:r>
              <a:t>INTERACTIE</a:t>
            </a:r>
          </a:p>
          <a:p>
            <a:r>
              <a:t>Geen. Bewust geen.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Blok drie: het traject. Negen contactmomenten. Per moment: wat u doet en wat u invult.</a:t>
            </a:r>
          </a:p>
          <a:p/>
          <a:p>
            <a:r>
              <a:t>PRESENTATIETIP</a:t>
            </a:r>
          </a:p>
          <a:p/>
          <a:p/>
          <a:p>
            <a:r>
              <a:t>INTERACTIE</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Screening en negen visites over achttien maanden. De eerste drie liggen dicht op elkaar. Daarna is het ritme elke drie maanden — hetzelfde ritme als de controle die deze patiënten toch al krijgen.</a:t>
            </a:r>
          </a:p>
          <a:p/>
          <a:p>
            <a:r>
              <a:t>PRESENTATIETIP</a:t>
            </a:r>
          </a:p>
          <a:p>
            <a:r>
              <a:t>Geef eerst het overzicht. De volgende dia's lopen elk moment af.</a:t>
            </a:r>
          </a:p>
          <a:p/>
          <a:p>
            <a:r>
              <a:t>INTERACTIE</a:t>
            </a:r>
          </a:p>
          <a:p>
            <a:r>
              <a:t>Geen. De detaildia's komen hierna.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Screening en visite nul. De volgorde ligt vast: screenen, tekenen, geschiktheid bevestigen, en pas dan loten. Vul geen enkel ander formulier in vóór de handtekening. Ook een afwijzing noteert u, want ook dat is studiedata.</a:t>
            </a:r>
          </a:p>
          <a:p/>
          <a:p>
            <a:r>
              <a:t>PRESENTATIETIP</a:t>
            </a:r>
          </a:p>
          <a:p>
            <a:r>
              <a:t>Benadruk dat de loting door de PI gebeurt met verzegelde enveloppen, vier blokken van zes per centrum. Niemand kiest zelf.</a:t>
            </a:r>
          </a:p>
          <a:p/>
          <a:p>
            <a:r>
              <a:t>INTERACTIE</a:t>
            </a:r>
          </a:p>
          <a:p>
            <a:r>
              <a:t>Deel het screeningsformulier uit en laat ze het invullen voor een patiënt die ze vorige week zagen.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Visite één, het langste bezoek van de studie. Meten, voorschrijven, vragenlijsten en het eerste educatiegesprek. Twee dingen liggen vast: het voorschrift gebeurt hier en niet later, en NAFF en HLS gaan vóór de educatie.</a:t>
            </a:r>
          </a:p>
          <a:p/>
          <a:p>
            <a:r>
              <a:t>PRESENTATIETIP</a:t>
            </a:r>
          </a:p>
          <a:p>
            <a:r>
              <a:t>Dit bezoek loopt uit. Zeg hoeveel tijd u ervoor moet inplannen en waarom de volgorde vastligt.</a:t>
            </a:r>
          </a:p>
          <a:p/>
          <a:p>
            <a:r>
              <a:t>INTERACTIE</a:t>
            </a:r>
          </a:p>
          <a:p>
            <a:r>
              <a:t>Laat ze in duo's de volgorde van de handelingen leggen met de formulieren op tafel.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Visite twee, veertien dagen tot één maand later. Technisch het zwaarste bezoek: afleveren, pasvorm in binnen- én buitenschoeisel, meten, aanpassen tot de norm gehaald is. Pas dán gaat de Orthotimer in de zool, en pas dan bestelt u het tweede paar.</a:t>
            </a:r>
          </a:p>
          <a:p/>
          <a:p>
            <a:r>
              <a:t>PRESENTATIETIP</a:t>
            </a:r>
          </a:p>
          <a:p>
            <a:r>
              <a:t>Plan hier de meeste tijd van de sessie voor. Dit bezoek bepaalt of de primaire uitkomst bruikbaar wordt.</a:t>
            </a:r>
          </a:p>
          <a:p/>
          <a:p>
            <a:r>
              <a:t>INTERACTIE</a:t>
            </a:r>
          </a:p>
          <a:p>
            <a:r>
              <a:t>Demonstreer het plaatsen en activeren van een Orthotimer op een losse zool.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Visites drie tot acht, elke drie maanden. Screenen, uitlezen, bespreken, en beide paren zolen beoordelen. Uitlezen kan alleen ter plaatse: een gemiste uitlezing verzwakt de draagtijd van die patiënt over de hele periode.</a:t>
            </a:r>
          </a:p>
          <a:p/>
          <a:p>
            <a:r>
              <a:t>PRESENTATIETIP</a:t>
            </a:r>
          </a:p>
          <a:p>
            <a:r>
              <a:t>Dit zijn zes identieke bezoeken. Zeg dat expliciet: het ritme is elke drie maanden en de handelingen zijn elke keer dezelfde.</a:t>
            </a:r>
          </a:p>
          <a:p/>
          <a:p>
            <a:r>
              <a:t>INTERACTIE</a:t>
            </a:r>
          </a:p>
          <a:p>
            <a:r>
              <a:t>Vraag hoe zij een gemiste afspraak in de praktijk opvangen.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Op maand zes, twaalf en achttien komt er een drukmeting bij. Drie keer. Dezelfde meting in de schoen, dezelfde toetsing per doelregio. Ligt de piekdruk er weer boven, dan past u opnieuw aan.</a:t>
            </a:r>
          </a:p>
          <a:p/>
          <a:p>
            <a:r>
              <a:t>PRESENTATIETIP</a:t>
            </a:r>
          </a:p>
          <a:p>
            <a:r>
              <a:t>Dit is de dia die het vaakst vergeten wordt bij het inplannen. Zet de drie data nu al in de agenda van de patiënt.</a:t>
            </a:r>
          </a:p>
          <a:p/>
          <a:p>
            <a:r>
              <a:t>INTERACTIE</a:t>
            </a:r>
          </a:p>
          <a:p>
            <a:r>
              <a:t>Laat elk centrum benoemen wie de drukmeting op maand 18 zal doen.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Tien contactmomenten, één zorgpad. Het verschil met vandaag zit niet in hoe vaak u de patiënt ziet, maar in wat u bij elk bezoek wéét: wat de zool doet, en wat er gedragen is.</a:t>
            </a:r>
          </a:p>
          <a:p/>
          <a:p>
            <a:r>
              <a:t>PRESENTATIETIP</a:t>
            </a:r>
          </a:p>
          <a:p>
            <a:r>
              <a:t>Sluit blok 3 hiermee af. De zaal herkent de dia van het begin.</a:t>
            </a:r>
          </a:p>
          <a:p/>
          <a:p>
            <a:r>
              <a:t>INTERACTIE</a:t>
            </a:r>
          </a:p>
          <a:p>
            <a:r>
              <a:t>Vraag welk moment hun het meest zorgen baart.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Drie toestellen, drie taken. De pedar meet druk, de Orthotimer meet of de zool gedragen is, de MoveMonitor meet hoeveel er gestapt wordt. Alleen de pedar bedient u bij elke meting; de andere twee plaatst u één keer en leest u uit.</a:t>
            </a:r>
          </a:p>
          <a:p/>
          <a:p>
            <a:r>
              <a:t>PRESENTATIETIP</a:t>
            </a:r>
          </a:p>
          <a:p>
            <a:r>
              <a:t>Benoem dat de Orthotimer géén GPS, microfoon of camera heeft. Die vraag komt gegarandeerd.</a:t>
            </a:r>
          </a:p>
          <a:p/>
          <a:p>
            <a:r>
              <a:t>INTERACTIE</a:t>
            </a:r>
          </a:p>
          <a:p>
            <a:r>
              <a:t>Laat de toestellen rondgaan. Fysiek werkt beter dan een dia.</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Dit is de enige regel die u écht moet onthouden. De controlegroep krijgt ook een meting en een sensor, maar die getallen blijven dicht. Bespreekt u ze, dan lévert u de interventie. Klinische bevindingen zijn géén meetwaarden: een laesie meldt en behandelt u meteen, in beide groepen.</a:t>
            </a:r>
          </a:p>
          <a:p/>
          <a:p>
            <a:r>
              <a:t>PRESENTATIETIP</a:t>
            </a:r>
          </a:p>
          <a:p>
            <a:r>
              <a:t>Dit is de dia waar u stilvalt. Geen haast. Vraag of het helder is voordat u doorgaat.</a:t>
            </a:r>
          </a:p>
          <a:p/>
          <a:p>
            <a:r>
              <a:t>INTERACTIE</a:t>
            </a:r>
          </a:p>
          <a:p>
            <a:r>
              <a:t>Laat iemand het in eigen woorden herhalen. Zo weet u of het zit.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Wat u meldt, en hoe snel. Een nieuw ulcus is de primaire uitkomst, dus dat meldt u altijd. Ernstige voorvallen binnen tweeënzeventig uur na kennisname. En onthoud dit: een afwijking die u meldt is een gegeven, een afwijking die u niet meldt is een fout in de data van de hele studie.</a:t>
            </a:r>
          </a:p>
          <a:p/>
          <a:p>
            <a:r>
              <a:t>PRESENTATIETIP</a:t>
            </a:r>
          </a:p>
          <a:p>
            <a:r>
              <a:t>Dit is de dia die de zaal ontspant én scherpt. Zeg het zinnetje onderaan letterlijk.</a:t>
            </a:r>
          </a:p>
          <a:p/>
          <a:p>
            <a:r>
              <a:t>INTERACTIE</a:t>
            </a:r>
          </a:p>
          <a:p>
            <a:r>
              <a:t>Vraag of iemand een situatie kan bedenken waarvan hij niet weet of het gemeld moet worden. Bespreek er twee.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Vier rollen. De podoloog meet, leest uit en begeleidt. De pedorthist maakt en past aan. De arts bevestigt geschiktheid en beoordeelt laesies. Het management houdt tijd vrij en bewaakt de vierentwintig.</a:t>
            </a:r>
          </a:p>
          <a:p/>
          <a:p>
            <a:r>
              <a:t>PRESENTATIETIP</a:t>
            </a:r>
          </a:p>
          <a:p>
            <a:r>
              <a:t>Kijk elke groep aan bij hun rij. Namen noemen als u ze kent.</a:t>
            </a:r>
          </a:p>
          <a:p/>
          <a:p>
            <a:r>
              <a:t>INTERACTIE</a:t>
            </a:r>
          </a:p>
          <a:p>
            <a:r>
              <a:t>Vraag per rij: "herkenbaar, of mis ik iets?" Pas de taakverdeling ter plekke aan als dat nodig is.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En dit krijgt u van ons. Training in motiverende gespreksvoering, SOP's per handeling, één contactpunt, en het onderzoeksteam voert de gegevens in. Nul sancties: wijkt u af, dan meldt u het, en dat wordt geregistreerd, niet afgestraft.</a:t>
            </a:r>
          </a:p>
          <a:p/>
          <a:p>
            <a:r>
              <a:t>PRESENTATIETIP</a:t>
            </a:r>
          </a:p>
          <a:p>
            <a:r>
              <a:t>Het cijfer rechts ontspant de zaal. Zeg het expliciet en wacht even. Vraagt iemand hoe de ingevulde formulieren bij ons raken: zeg dat daar bericht over volgt. Beloof geen werkwijze, want die ligt nog niet vast.</a:t>
            </a:r>
          </a:p>
          <a:p/>
          <a:p>
            <a:r>
              <a:t>INTERACTIE</a:t>
            </a:r>
          </a:p>
          <a:p>
            <a:r>
              <a:t>Geen.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Dit is een vangnet, geen programma. Toon hem alleen als de vragen opdrogen, en beantwoord dan alleen wat nog niet aan bod kwam.</a:t>
            </a:r>
          </a:p>
          <a:p/>
          <a:p>
            <a:r>
              <a:t>PRESENTATIETIP</a:t>
            </a:r>
          </a:p>
          <a:p>
            <a:r>
              <a:t>Sla over wat al gevraagd is. Deze dia is een vangnet, geen programma.</a:t>
            </a:r>
          </a:p>
          <a:p/>
          <a:p>
            <a:r>
              <a:t>INTERACTIE</a:t>
            </a:r>
          </a:p>
          <a:p>
            <a:r>
              <a:t>Toon hem alleen als de vragen opdrogen.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Rustig zeggen; het is geen dreigement maar een vaststelling. Wij leiden op en wij voeren in. De handelingen zijn van u, vanaf de eerste patiënt.</a:t>
            </a:r>
          </a:p>
          <a:p/>
          <a:p>
            <a:r>
              <a:t>PRESENTATIETIP</a:t>
            </a:r>
          </a:p>
          <a:p>
            <a:r>
              <a:t>Dit is de overgang naar de bekwaamheidscheck. Zeg het rustig; het is geen dreigement maar een vaststelling.</a:t>
            </a:r>
          </a:p>
          <a:p/>
          <a:p>
            <a:r>
              <a:t>INTERACTIE</a:t>
            </a:r>
          </a:p>
          <a:p>
            <a:r>
              <a:t>Geen.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Tot slot: wie u aanspreekt. Praktische vragen — inclusies, metingen, formulieren, sensoren — komen bij mij. Wetenschappelijke vragen en afspraken op het niveau van uw centrum bij professor Deschamps. Dank u wel.</a:t>
            </a:r>
          </a:p>
          <a:p/>
          <a:p>
            <a:r>
              <a:t>PRESENTATIETIP</a:t>
            </a:r>
          </a:p>
          <a:p>
            <a:r>
              <a:t>Laat deze dia staan tijdens het napraten. Zeg erbij dat kleine dingen ook mogen — een sensor die niet uitleest is geen domme vraag.</a:t>
            </a:r>
          </a:p>
          <a:p/>
          <a:p>
            <a:r>
              <a:t>INTERACTIE</a:t>
            </a:r>
          </a:p>
          <a:p>
            <a:r>
              <a:t>Loop rond terwijl de dia staat. Wie een vraag heeft, komt naar het gezicht dat op het scherm staat.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Deze dia laat u staan tijdens de vragen. Alles wat u genoemd hebt, staat hier met nummer en citaat, in dezelfde nummering als het protocolmanuscript.</a:t>
            </a:r>
          </a:p>
          <a:p/>
          <a:p>
            <a:r>
              <a:t>PRESENTATIETIP</a:t>
            </a:r>
          </a:p>
          <a:p/>
          <a:p/>
          <a:p>
            <a:r>
              <a:t>INTERACTIE</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5.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5.png"/><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5.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fotokader" descr="titel_voetonderzoek.jpg"/>
          <p:cNvPicPr>
            <a:picLocks noChangeAspect="1"/>
          </p:cNvPicPr>
          <p:nvPr/>
        </p:nvPicPr>
        <p:blipFill>
          <a:blip r:embed="rId2"/>
          <a:stretch>
            <a:fillRect/>
          </a:stretch>
        </p:blipFill>
        <p:spPr>
          <a:xfrm>
            <a:off x="-45491" y="0"/>
            <a:ext cx="12282678" cy="6857828"/>
          </a:xfrm>
          <a:prstGeom prst="rect">
            <a:avLst/>
          </a:prstGeom>
        </p:spPr>
      </p:pic>
      <p:sp>
        <p:nvSpPr>
          <p:cNvPr id="4" name="Rectangle 3"/>
          <p:cNvSpPr/>
          <p:nvPr/>
        </p:nvSpPr>
        <p:spPr>
          <a:xfrm>
            <a:off x="0" y="0"/>
            <a:ext cx="12191695" cy="6857828"/>
          </a:xfrm>
          <a:prstGeom prst="rect">
            <a:avLst/>
          </a:prstGeom>
          <a:gradFill rotWithShape="1">
            <a:gsLst>
              <a:gs pos="0">
                <a:srgbClr val="04182A">
                  <a:alpha val="10000"/>
                </a:srgbClr>
              </a:gs>
              <a:gs pos="62000">
                <a:srgbClr val="04182A">
                  <a:alpha val="96000"/>
                </a:srgbClr>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aradise_merk.png"/>
          <p:cNvPicPr>
            <a:picLocks noChangeAspect="1"/>
          </p:cNvPicPr>
          <p:nvPr/>
        </p:nvPicPr>
        <p:blipFill>
          <a:blip r:embed="rId3"/>
          <a:stretch>
            <a:fillRect/>
          </a:stretch>
        </p:blipFill>
        <p:spPr>
          <a:xfrm>
            <a:off x="516169" y="482587"/>
            <a:ext cx="1177404" cy="1346166"/>
          </a:xfrm>
          <a:prstGeom prst="rect">
            <a:avLst/>
          </a:prstGeom>
        </p:spPr>
      </p:pic>
      <p:sp>
        <p:nvSpPr>
          <p:cNvPr id="6" name="hero"/>
          <p:cNvSpPr txBox="1"/>
          <p:nvPr/>
        </p:nvSpPr>
        <p:spPr>
          <a:xfrm>
            <a:off x="634984" y="3848003"/>
            <a:ext cx="8889777" cy="1650958"/>
          </a:xfrm>
          <a:prstGeom prst="rect">
            <a:avLst/>
          </a:prstGeom>
          <a:noFill/>
        </p:spPr>
        <p:txBody>
          <a:bodyPr wrap="none" anchor="t" lIns="0" rIns="0" tIns="0" bIns="0">
            <a:spAutoFit/>
          </a:bodyPr>
          <a:lstStyle/>
          <a:p>
            <a:pPr algn="l">
              <a:lnSpc>
                <a:spcPct val="90000"/>
              </a:lnSpc>
            </a:pPr>
            <a:r>
              <a:rPr sz="12400" b="1">
                <a:solidFill>
                  <a:srgbClr val="F2F8FC"/>
                </a:solidFill>
                <a:latin typeface="Segoe UI"/>
              </a:rPr>
              <a:t>PARADISE</a:t>
            </a:r>
          </a:p>
        </p:txBody>
      </p:sp>
      <p:sp>
        <p:nvSpPr>
          <p:cNvPr id="7" name="TextBox 6"/>
          <p:cNvSpPr txBox="1"/>
          <p:nvPr/>
        </p:nvSpPr>
        <p:spPr>
          <a:xfrm>
            <a:off x="673083" y="5397365"/>
            <a:ext cx="8889777" cy="380990"/>
          </a:xfrm>
          <a:prstGeom prst="rect">
            <a:avLst/>
          </a:prstGeom>
          <a:noFill/>
        </p:spPr>
        <p:txBody>
          <a:bodyPr wrap="square" anchor="t" lIns="0" rIns="0" tIns="0" bIns="0">
            <a:spAutoFit/>
          </a:bodyPr>
          <a:lstStyle/>
          <a:p>
            <a:pPr algn="l">
              <a:lnSpc>
                <a:spcPct val="125000"/>
              </a:lnSpc>
            </a:pPr>
            <a:r>
              <a:rPr sz="2800" b="1">
                <a:solidFill>
                  <a:srgbClr val="52BDEC"/>
                </a:solidFill>
                <a:latin typeface="Segoe UI"/>
              </a:rPr>
              <a:t>Opfrissing voor de centra</a:t>
            </a:r>
          </a:p>
        </p:txBody>
      </p:sp>
      <p:sp>
        <p:nvSpPr>
          <p:cNvPr id="8" name="Rectangle 7"/>
          <p:cNvSpPr/>
          <p:nvPr/>
        </p:nvSpPr>
        <p:spPr>
          <a:xfrm>
            <a:off x="634984" y="5879952"/>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4984" y="6045048"/>
            <a:ext cx="1685893" cy="609584"/>
          </a:xfrm>
          <a:prstGeom prst="roundRect">
            <a:avLst>
              <a:gd name="adj" fmla="val 4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kuleuven.png"/>
          <p:cNvPicPr>
            <a:picLocks noChangeAspect="1"/>
          </p:cNvPicPr>
          <p:nvPr/>
        </p:nvPicPr>
        <p:blipFill>
          <a:blip r:embed="rId4"/>
          <a:stretch>
            <a:fillRect/>
          </a:stretch>
        </p:blipFill>
        <p:spPr>
          <a:xfrm>
            <a:off x="787380" y="6152996"/>
            <a:ext cx="1381100" cy="393690"/>
          </a:xfrm>
          <a:prstGeom prst="rect">
            <a:avLst/>
          </a:prstGeom>
        </p:spPr>
      </p:pic>
      <p:sp>
        <p:nvSpPr>
          <p:cNvPr id="11" name="Rounded Rectangle 10"/>
          <p:cNvSpPr/>
          <p:nvPr/>
        </p:nvSpPr>
        <p:spPr>
          <a:xfrm>
            <a:off x="2574870" y="6045048"/>
            <a:ext cx="1420884" cy="609584"/>
          </a:xfrm>
          <a:prstGeom prst="roundRect">
            <a:avLst>
              <a:gd name="adj" fmla="val 4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vub.png"/>
          <p:cNvPicPr>
            <a:picLocks noChangeAspect="1"/>
          </p:cNvPicPr>
          <p:nvPr/>
        </p:nvPicPr>
        <p:blipFill>
          <a:blip r:embed="rId5"/>
          <a:stretch>
            <a:fillRect/>
          </a:stretch>
        </p:blipFill>
        <p:spPr>
          <a:xfrm>
            <a:off x="2727267" y="6152996"/>
            <a:ext cx="1116092" cy="393690"/>
          </a:xfrm>
          <a:prstGeom prst="rect">
            <a:avLst/>
          </a:prstGeom>
        </p:spPr>
      </p:pic>
      <p:sp>
        <p:nvSpPr>
          <p:cNvPr id="13" name="TextBox 12"/>
          <p:cNvSpPr txBox="1"/>
          <p:nvPr/>
        </p:nvSpPr>
        <p:spPr>
          <a:xfrm>
            <a:off x="4249749" y="6095847"/>
            <a:ext cx="2158946" cy="253993"/>
          </a:xfrm>
          <a:prstGeom prst="rect">
            <a:avLst/>
          </a:prstGeom>
          <a:noFill/>
        </p:spPr>
        <p:txBody>
          <a:bodyPr wrap="square" anchor="t" lIns="0" rIns="0" tIns="0" bIns="0">
            <a:spAutoFit/>
          </a:bodyPr>
          <a:lstStyle/>
          <a:p>
            <a:pPr algn="l">
              <a:lnSpc>
                <a:spcPct val="125000"/>
              </a:lnSpc>
            </a:pPr>
            <a:r>
              <a:rPr sz="2100" b="1">
                <a:solidFill>
                  <a:srgbClr val="F2F8FC"/>
                </a:solidFill>
                <a:latin typeface="Segoe UI"/>
              </a:rPr>
              <a:t>FWO</a:t>
            </a:r>
          </a:p>
        </p:txBody>
      </p:sp>
      <p:sp>
        <p:nvSpPr>
          <p:cNvPr id="14" name="TextBox 13"/>
          <p:cNvSpPr txBox="1"/>
          <p:nvPr/>
        </p:nvSpPr>
        <p:spPr>
          <a:xfrm>
            <a:off x="4262449" y="6349841"/>
            <a:ext cx="2666933" cy="215894"/>
          </a:xfrm>
          <a:prstGeom prst="rect">
            <a:avLst/>
          </a:prstGeom>
          <a:noFill/>
        </p:spPr>
        <p:txBody>
          <a:bodyPr wrap="square" anchor="t" lIns="0" rIns="0" tIns="0" bIns="0">
            <a:spAutoFit/>
          </a:bodyPr>
          <a:lstStyle/>
          <a:p>
            <a:pPr algn="l">
              <a:lnSpc>
                <a:spcPct val="125000"/>
              </a:lnSpc>
            </a:pPr>
            <a:r>
              <a:rPr sz="1200" b="0">
                <a:solidFill>
                  <a:srgbClr val="8FB6D0"/>
                </a:solidFill>
                <a:latin typeface="Consolas"/>
              </a:rPr>
              <a:t>TBM T000226N</a:t>
            </a:r>
          </a:p>
        </p:txBody>
      </p:sp>
      <p:sp>
        <p:nvSpPr>
          <p:cNvPr id="15" name="TextBox 14"/>
          <p:cNvSpPr txBox="1"/>
          <p:nvPr/>
        </p:nvSpPr>
        <p:spPr>
          <a:xfrm>
            <a:off x="7111822" y="6565735"/>
            <a:ext cx="4571885" cy="190495"/>
          </a:xfrm>
          <a:prstGeom prst="rect">
            <a:avLst/>
          </a:prstGeom>
          <a:noFill/>
        </p:spPr>
        <p:txBody>
          <a:bodyPr wrap="none" anchor="t" lIns="0" rIns="0" tIns="0" bIns="0">
            <a:spAutoFit/>
          </a:bodyPr>
          <a:lstStyle/>
          <a:p>
            <a:pPr algn="r">
              <a:lnSpc>
                <a:spcPct val="125000"/>
              </a:lnSpc>
            </a:pPr>
            <a:r>
              <a:rPr sz="1100" b="0">
                <a:solidFill>
                  <a:srgbClr val="8FB6D0"/>
                </a:solidFill>
                <a:latin typeface="Consolas"/>
              </a:rPr>
              <a:t>Protocolversie 1.0 · 17 mei 2026 · S71769</a:t>
            </a:r>
          </a:p>
        </p:txBody>
      </p:sp>
    </p:spTree>
  </p:cSld>
  <p:clrMapOvr>
    <a:masterClrMapping/>
  </p:clrMapOvr>
  <p:transition xmlns:p14="http://schemas.microsoft.com/office/powerpoint/2010/main" spd="slow" p14:dur="900">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WAAROM U HIER ZIT</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Na vandaag doet uw team dit zelf</a:t>
            </a:r>
          </a:p>
        </p:txBody>
      </p:sp>
      <p:sp>
        <p:nvSpPr>
          <p:cNvPr id="5" name="Rectangle 4"/>
          <p:cNvSpPr/>
          <p:nvPr/>
        </p:nvSpPr>
        <p:spPr>
          <a:xfrm>
            <a:off x="634984" y="1828754"/>
            <a:ext cx="5206869"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34984" y="1968450"/>
            <a:ext cx="241293" cy="241293"/>
          </a:xfrm>
          <a:prstGeom prst="ellipse">
            <a:avLst/>
          </a:prstGeom>
          <a:solidFill>
            <a:srgbClr val="113A57"/>
          </a:solidFill>
          <a:ln w="12700">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4984" y="1968450"/>
            <a:ext cx="241293" cy="241293"/>
          </a:xfrm>
          <a:prstGeom prst="rect">
            <a:avLst/>
          </a:prstGeom>
          <a:noFill/>
        </p:spPr>
        <p:txBody>
          <a:bodyPr wrap="square" anchor="ctr" lIns="0" rIns="0" tIns="0" bIns="0">
            <a:spAutoFit/>
          </a:bodyPr>
          <a:lstStyle/>
          <a:p>
            <a:pPr algn="ctr">
              <a:lnSpc>
                <a:spcPct val="100000"/>
              </a:lnSpc>
            </a:pPr>
            <a:r>
              <a:rPr sz="1500" b="1">
                <a:solidFill>
                  <a:srgbClr val="52BDEC"/>
                </a:solidFill>
                <a:latin typeface="Consolas"/>
              </a:rPr>
              <a:t>1</a:t>
            </a:r>
          </a:p>
        </p:txBody>
      </p:sp>
      <p:sp>
        <p:nvSpPr>
          <p:cNvPr id="8" name="TextBox 7"/>
          <p:cNvSpPr txBox="1"/>
          <p:nvPr/>
        </p:nvSpPr>
        <p:spPr>
          <a:xfrm>
            <a:off x="1003274" y="1943051"/>
            <a:ext cx="4825879" cy="304792"/>
          </a:xfrm>
          <a:prstGeom prst="rect">
            <a:avLst/>
          </a:prstGeom>
          <a:noFill/>
        </p:spPr>
        <p:txBody>
          <a:bodyPr wrap="square" anchor="t" lIns="0" rIns="0" tIns="0" bIns="0">
            <a:spAutoFit/>
          </a:bodyPr>
          <a:lstStyle/>
          <a:p>
            <a:pPr algn="l">
              <a:lnSpc>
                <a:spcPct val="125000"/>
              </a:lnSpc>
            </a:pPr>
            <a:r>
              <a:rPr sz="2100" b="1">
                <a:solidFill>
                  <a:srgbClr val="F2F8FC"/>
                </a:solidFill>
                <a:latin typeface="Segoe UI"/>
              </a:rPr>
              <a:t>Screenen</a:t>
            </a:r>
          </a:p>
        </p:txBody>
      </p:sp>
      <p:sp>
        <p:nvSpPr>
          <p:cNvPr id="9" name="TextBox 8"/>
          <p:cNvSpPr txBox="1"/>
          <p:nvPr/>
        </p:nvSpPr>
        <p:spPr>
          <a:xfrm>
            <a:off x="1003274" y="2273243"/>
            <a:ext cx="4825879" cy="507987"/>
          </a:xfrm>
          <a:prstGeom prst="rect">
            <a:avLst/>
          </a:prstGeom>
          <a:noFill/>
        </p:spPr>
        <p:txBody>
          <a:bodyPr wrap="square" anchor="t" lIns="0" rIns="0" tIns="0" bIns="0">
            <a:spAutoFit/>
          </a:bodyPr>
          <a:lstStyle/>
          <a:p>
            <a:pPr algn="l">
              <a:lnSpc>
                <a:spcPct val="130000"/>
              </a:lnSpc>
            </a:pPr>
            <a:r>
              <a:rPr sz="1450" b="0">
                <a:solidFill>
                  <a:srgbClr val="8FB6D0"/>
                </a:solidFill>
                <a:latin typeface="Segoe UI"/>
              </a:rPr>
              <a:t>beoordelen of een patiënt in aanmerking komt, en de screening vastleggen vóór de toestemming</a:t>
            </a:r>
          </a:p>
        </p:txBody>
      </p:sp>
      <p:sp>
        <p:nvSpPr>
          <p:cNvPr id="10" name="Rectangle 9"/>
          <p:cNvSpPr/>
          <p:nvPr/>
        </p:nvSpPr>
        <p:spPr>
          <a:xfrm>
            <a:off x="6349841" y="1828754"/>
            <a:ext cx="5206869"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349841" y="1968450"/>
            <a:ext cx="241293" cy="241293"/>
          </a:xfrm>
          <a:prstGeom prst="ellipse">
            <a:avLst/>
          </a:prstGeom>
          <a:solidFill>
            <a:srgbClr val="113A57"/>
          </a:solidFill>
          <a:ln w="12700">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49841" y="1968450"/>
            <a:ext cx="241293" cy="241293"/>
          </a:xfrm>
          <a:prstGeom prst="rect">
            <a:avLst/>
          </a:prstGeom>
          <a:noFill/>
        </p:spPr>
        <p:txBody>
          <a:bodyPr wrap="square" anchor="ctr" lIns="0" rIns="0" tIns="0" bIns="0">
            <a:spAutoFit/>
          </a:bodyPr>
          <a:lstStyle/>
          <a:p>
            <a:pPr algn="ctr">
              <a:lnSpc>
                <a:spcPct val="100000"/>
              </a:lnSpc>
            </a:pPr>
            <a:r>
              <a:rPr sz="1500" b="1">
                <a:solidFill>
                  <a:srgbClr val="52BDEC"/>
                </a:solidFill>
                <a:latin typeface="Consolas"/>
              </a:rPr>
              <a:t>2</a:t>
            </a:r>
          </a:p>
        </p:txBody>
      </p:sp>
      <p:sp>
        <p:nvSpPr>
          <p:cNvPr id="13" name="TextBox 12"/>
          <p:cNvSpPr txBox="1"/>
          <p:nvPr/>
        </p:nvSpPr>
        <p:spPr>
          <a:xfrm>
            <a:off x="6718132" y="1943051"/>
            <a:ext cx="4825879" cy="304792"/>
          </a:xfrm>
          <a:prstGeom prst="rect">
            <a:avLst/>
          </a:prstGeom>
          <a:noFill/>
        </p:spPr>
        <p:txBody>
          <a:bodyPr wrap="square" anchor="t" lIns="0" rIns="0" tIns="0" bIns="0">
            <a:spAutoFit/>
          </a:bodyPr>
          <a:lstStyle/>
          <a:p>
            <a:pPr algn="l">
              <a:lnSpc>
                <a:spcPct val="125000"/>
              </a:lnSpc>
            </a:pPr>
            <a:r>
              <a:rPr sz="2100" b="1">
                <a:solidFill>
                  <a:srgbClr val="F2F8FC"/>
                </a:solidFill>
                <a:latin typeface="Segoe UI"/>
              </a:rPr>
              <a:t>Meten</a:t>
            </a:r>
          </a:p>
        </p:txBody>
      </p:sp>
      <p:sp>
        <p:nvSpPr>
          <p:cNvPr id="14" name="TextBox 13"/>
          <p:cNvSpPr txBox="1"/>
          <p:nvPr/>
        </p:nvSpPr>
        <p:spPr>
          <a:xfrm>
            <a:off x="6718132" y="2273243"/>
            <a:ext cx="4825879" cy="507987"/>
          </a:xfrm>
          <a:prstGeom prst="rect">
            <a:avLst/>
          </a:prstGeom>
          <a:noFill/>
        </p:spPr>
        <p:txBody>
          <a:bodyPr wrap="square" anchor="t" lIns="0" rIns="0" tIns="0" bIns="0">
            <a:spAutoFit/>
          </a:bodyPr>
          <a:lstStyle/>
          <a:p>
            <a:pPr algn="l">
              <a:lnSpc>
                <a:spcPct val="130000"/>
              </a:lnSpc>
            </a:pPr>
            <a:r>
              <a:rPr sz="1450" b="0">
                <a:solidFill>
                  <a:srgbClr val="8FB6D0"/>
                </a:solidFill>
                <a:latin typeface="Segoe UI"/>
              </a:rPr>
              <a:t>een drukmeting uitvoeren die aan het protocol voldoet, en de drie doelregio's bepalen</a:t>
            </a:r>
          </a:p>
        </p:txBody>
      </p:sp>
      <p:sp>
        <p:nvSpPr>
          <p:cNvPr id="15" name="Rectangle 14"/>
          <p:cNvSpPr/>
          <p:nvPr/>
        </p:nvSpPr>
        <p:spPr>
          <a:xfrm>
            <a:off x="634984" y="2793930"/>
            <a:ext cx="5206869"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34984" y="2933626"/>
            <a:ext cx="241293" cy="241293"/>
          </a:xfrm>
          <a:prstGeom prst="ellipse">
            <a:avLst/>
          </a:prstGeom>
          <a:solidFill>
            <a:srgbClr val="113A57"/>
          </a:solidFill>
          <a:ln w="12700">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4984" y="2933626"/>
            <a:ext cx="241293" cy="241293"/>
          </a:xfrm>
          <a:prstGeom prst="rect">
            <a:avLst/>
          </a:prstGeom>
          <a:noFill/>
        </p:spPr>
        <p:txBody>
          <a:bodyPr wrap="square" anchor="ctr" lIns="0" rIns="0" tIns="0" bIns="0">
            <a:spAutoFit/>
          </a:bodyPr>
          <a:lstStyle/>
          <a:p>
            <a:pPr algn="ctr">
              <a:lnSpc>
                <a:spcPct val="100000"/>
              </a:lnSpc>
            </a:pPr>
            <a:r>
              <a:rPr sz="1500" b="1">
                <a:solidFill>
                  <a:srgbClr val="52BDEC"/>
                </a:solidFill>
                <a:latin typeface="Consolas"/>
              </a:rPr>
              <a:t>3</a:t>
            </a:r>
          </a:p>
        </p:txBody>
      </p:sp>
      <p:sp>
        <p:nvSpPr>
          <p:cNvPr id="18" name="TextBox 17"/>
          <p:cNvSpPr txBox="1"/>
          <p:nvPr/>
        </p:nvSpPr>
        <p:spPr>
          <a:xfrm>
            <a:off x="1003274" y="2908227"/>
            <a:ext cx="4825879" cy="304792"/>
          </a:xfrm>
          <a:prstGeom prst="rect">
            <a:avLst/>
          </a:prstGeom>
          <a:noFill/>
        </p:spPr>
        <p:txBody>
          <a:bodyPr wrap="square" anchor="t" lIns="0" rIns="0" tIns="0" bIns="0">
            <a:spAutoFit/>
          </a:bodyPr>
          <a:lstStyle/>
          <a:p>
            <a:pPr algn="l">
              <a:lnSpc>
                <a:spcPct val="125000"/>
              </a:lnSpc>
            </a:pPr>
            <a:r>
              <a:rPr sz="2100" b="1">
                <a:solidFill>
                  <a:srgbClr val="F2F8FC"/>
                </a:solidFill>
                <a:latin typeface="Segoe UI"/>
              </a:rPr>
              <a:t>Optimaliseren</a:t>
            </a:r>
          </a:p>
        </p:txBody>
      </p:sp>
      <p:sp>
        <p:nvSpPr>
          <p:cNvPr id="19" name="TextBox 18"/>
          <p:cNvSpPr txBox="1"/>
          <p:nvPr/>
        </p:nvSpPr>
        <p:spPr>
          <a:xfrm>
            <a:off x="1003274" y="3238419"/>
            <a:ext cx="4825879" cy="507987"/>
          </a:xfrm>
          <a:prstGeom prst="rect">
            <a:avLst/>
          </a:prstGeom>
          <a:noFill/>
        </p:spPr>
        <p:txBody>
          <a:bodyPr wrap="square" anchor="t" lIns="0" rIns="0" tIns="0" bIns="0">
            <a:spAutoFit/>
          </a:bodyPr>
          <a:lstStyle/>
          <a:p>
            <a:pPr algn="l">
              <a:lnSpc>
                <a:spcPct val="130000"/>
              </a:lnSpc>
            </a:pPr>
            <a:r>
              <a:rPr sz="1450" b="0">
                <a:solidFill>
                  <a:srgbClr val="8FB6D0"/>
                </a:solidFill>
                <a:latin typeface="Segoe UI"/>
              </a:rPr>
              <a:t>de zool aanpassen tot de norm gehaald is, en vastleggen wat u aangepast hebt</a:t>
            </a:r>
          </a:p>
        </p:txBody>
      </p:sp>
      <p:sp>
        <p:nvSpPr>
          <p:cNvPr id="20" name="Rectangle 19"/>
          <p:cNvSpPr/>
          <p:nvPr/>
        </p:nvSpPr>
        <p:spPr>
          <a:xfrm>
            <a:off x="6349841" y="2793930"/>
            <a:ext cx="5206869"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49841" y="2933626"/>
            <a:ext cx="241293" cy="241293"/>
          </a:xfrm>
          <a:prstGeom prst="ellipse">
            <a:avLst/>
          </a:prstGeom>
          <a:solidFill>
            <a:srgbClr val="113A57"/>
          </a:solidFill>
          <a:ln w="12700">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9841" y="2933626"/>
            <a:ext cx="241293" cy="241293"/>
          </a:xfrm>
          <a:prstGeom prst="rect">
            <a:avLst/>
          </a:prstGeom>
          <a:noFill/>
        </p:spPr>
        <p:txBody>
          <a:bodyPr wrap="square" anchor="ctr" lIns="0" rIns="0" tIns="0" bIns="0">
            <a:spAutoFit/>
          </a:bodyPr>
          <a:lstStyle/>
          <a:p>
            <a:pPr algn="ctr">
              <a:lnSpc>
                <a:spcPct val="100000"/>
              </a:lnSpc>
            </a:pPr>
            <a:r>
              <a:rPr sz="1500" b="1">
                <a:solidFill>
                  <a:srgbClr val="52BDEC"/>
                </a:solidFill>
                <a:latin typeface="Consolas"/>
              </a:rPr>
              <a:t>4</a:t>
            </a:r>
          </a:p>
        </p:txBody>
      </p:sp>
      <p:sp>
        <p:nvSpPr>
          <p:cNvPr id="23" name="TextBox 22"/>
          <p:cNvSpPr txBox="1"/>
          <p:nvPr/>
        </p:nvSpPr>
        <p:spPr>
          <a:xfrm>
            <a:off x="6718132" y="2908227"/>
            <a:ext cx="4825879" cy="304792"/>
          </a:xfrm>
          <a:prstGeom prst="rect">
            <a:avLst/>
          </a:prstGeom>
          <a:noFill/>
        </p:spPr>
        <p:txBody>
          <a:bodyPr wrap="square" anchor="t" lIns="0" rIns="0" tIns="0" bIns="0">
            <a:spAutoFit/>
          </a:bodyPr>
          <a:lstStyle/>
          <a:p>
            <a:pPr algn="l">
              <a:lnSpc>
                <a:spcPct val="125000"/>
              </a:lnSpc>
            </a:pPr>
            <a:r>
              <a:rPr sz="2100" b="1">
                <a:solidFill>
                  <a:srgbClr val="F2F8FC"/>
                </a:solidFill>
                <a:latin typeface="Segoe UI"/>
              </a:rPr>
              <a:t>Uitlezen</a:t>
            </a:r>
          </a:p>
        </p:txBody>
      </p:sp>
      <p:sp>
        <p:nvSpPr>
          <p:cNvPr id="24" name="TextBox 23"/>
          <p:cNvSpPr txBox="1"/>
          <p:nvPr/>
        </p:nvSpPr>
        <p:spPr>
          <a:xfrm>
            <a:off x="6718132" y="3238419"/>
            <a:ext cx="4825879" cy="507987"/>
          </a:xfrm>
          <a:prstGeom prst="rect">
            <a:avLst/>
          </a:prstGeom>
          <a:noFill/>
        </p:spPr>
        <p:txBody>
          <a:bodyPr wrap="square" anchor="t" lIns="0" rIns="0" tIns="0" bIns="0">
            <a:spAutoFit/>
          </a:bodyPr>
          <a:lstStyle/>
          <a:p>
            <a:pPr algn="l">
              <a:lnSpc>
                <a:spcPct val="130000"/>
              </a:lnSpc>
            </a:pPr>
            <a:r>
              <a:rPr sz="1450" b="0">
                <a:solidFill>
                  <a:srgbClr val="8FB6D0"/>
                </a:solidFill>
                <a:latin typeface="Segoe UI"/>
              </a:rPr>
              <a:t>de Orthotimer en de MoveMonitor correct instellen, uitlezen en terugkoppelen</a:t>
            </a:r>
          </a:p>
        </p:txBody>
      </p:sp>
      <p:sp>
        <p:nvSpPr>
          <p:cNvPr id="25" name="Rectangle 24"/>
          <p:cNvSpPr/>
          <p:nvPr/>
        </p:nvSpPr>
        <p:spPr>
          <a:xfrm>
            <a:off x="634984" y="3759106"/>
            <a:ext cx="5206869"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34984" y="3898802"/>
            <a:ext cx="241293" cy="241293"/>
          </a:xfrm>
          <a:prstGeom prst="ellipse">
            <a:avLst/>
          </a:prstGeom>
          <a:solidFill>
            <a:srgbClr val="113A57"/>
          </a:solidFill>
          <a:ln w="12700">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4984" y="3898802"/>
            <a:ext cx="241293" cy="241293"/>
          </a:xfrm>
          <a:prstGeom prst="rect">
            <a:avLst/>
          </a:prstGeom>
          <a:noFill/>
        </p:spPr>
        <p:txBody>
          <a:bodyPr wrap="square" anchor="ctr" lIns="0" rIns="0" tIns="0" bIns="0">
            <a:spAutoFit/>
          </a:bodyPr>
          <a:lstStyle/>
          <a:p>
            <a:pPr algn="ctr">
              <a:lnSpc>
                <a:spcPct val="100000"/>
              </a:lnSpc>
            </a:pPr>
            <a:r>
              <a:rPr sz="1500" b="1">
                <a:solidFill>
                  <a:srgbClr val="52BDEC"/>
                </a:solidFill>
                <a:latin typeface="Consolas"/>
              </a:rPr>
              <a:t>5</a:t>
            </a:r>
          </a:p>
        </p:txBody>
      </p:sp>
      <p:sp>
        <p:nvSpPr>
          <p:cNvPr id="28" name="TextBox 27"/>
          <p:cNvSpPr txBox="1"/>
          <p:nvPr/>
        </p:nvSpPr>
        <p:spPr>
          <a:xfrm>
            <a:off x="1003274" y="3873403"/>
            <a:ext cx="4825879" cy="304792"/>
          </a:xfrm>
          <a:prstGeom prst="rect">
            <a:avLst/>
          </a:prstGeom>
          <a:noFill/>
        </p:spPr>
        <p:txBody>
          <a:bodyPr wrap="square" anchor="t" lIns="0" rIns="0" tIns="0" bIns="0">
            <a:spAutoFit/>
          </a:bodyPr>
          <a:lstStyle/>
          <a:p>
            <a:pPr algn="l">
              <a:lnSpc>
                <a:spcPct val="125000"/>
              </a:lnSpc>
            </a:pPr>
            <a:r>
              <a:rPr sz="2100" b="1">
                <a:solidFill>
                  <a:srgbClr val="F2F8FC"/>
                </a:solidFill>
                <a:latin typeface="Segoe UI"/>
              </a:rPr>
              <a:t>Begeleiden</a:t>
            </a:r>
          </a:p>
        </p:txBody>
      </p:sp>
      <p:sp>
        <p:nvSpPr>
          <p:cNvPr id="29" name="TextBox 28"/>
          <p:cNvSpPr txBox="1"/>
          <p:nvPr/>
        </p:nvSpPr>
        <p:spPr>
          <a:xfrm>
            <a:off x="1003274" y="4203594"/>
            <a:ext cx="4825879" cy="507987"/>
          </a:xfrm>
          <a:prstGeom prst="rect">
            <a:avLst/>
          </a:prstGeom>
          <a:noFill/>
        </p:spPr>
        <p:txBody>
          <a:bodyPr wrap="square" anchor="t" lIns="0" rIns="0" tIns="0" bIns="0">
            <a:spAutoFit/>
          </a:bodyPr>
          <a:lstStyle/>
          <a:p>
            <a:pPr algn="l">
              <a:lnSpc>
                <a:spcPct val="130000"/>
              </a:lnSpc>
            </a:pPr>
            <a:r>
              <a:rPr sz="1450" b="0">
                <a:solidFill>
                  <a:srgbClr val="8FB6D0"/>
                </a:solidFill>
                <a:latin typeface="Segoe UI"/>
              </a:rPr>
              <a:t>een SEBIA-gesprek voeren, inclusief teach-back</a:t>
            </a:r>
          </a:p>
        </p:txBody>
      </p:sp>
      <p:sp>
        <p:nvSpPr>
          <p:cNvPr id="30" name="Rectangle 29"/>
          <p:cNvSpPr/>
          <p:nvPr/>
        </p:nvSpPr>
        <p:spPr>
          <a:xfrm>
            <a:off x="6349841" y="3759106"/>
            <a:ext cx="5206869"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349841" y="3898802"/>
            <a:ext cx="241293" cy="241293"/>
          </a:xfrm>
          <a:prstGeom prst="ellipse">
            <a:avLst/>
          </a:prstGeom>
          <a:solidFill>
            <a:srgbClr val="113A57"/>
          </a:solidFill>
          <a:ln w="12700">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49841" y="3898802"/>
            <a:ext cx="241293" cy="241293"/>
          </a:xfrm>
          <a:prstGeom prst="rect">
            <a:avLst/>
          </a:prstGeom>
          <a:noFill/>
        </p:spPr>
        <p:txBody>
          <a:bodyPr wrap="square" anchor="ctr" lIns="0" rIns="0" tIns="0" bIns="0">
            <a:spAutoFit/>
          </a:bodyPr>
          <a:lstStyle/>
          <a:p>
            <a:pPr algn="ctr">
              <a:lnSpc>
                <a:spcPct val="100000"/>
              </a:lnSpc>
            </a:pPr>
            <a:r>
              <a:rPr sz="1500" b="1">
                <a:solidFill>
                  <a:srgbClr val="52BDEC"/>
                </a:solidFill>
                <a:latin typeface="Consolas"/>
              </a:rPr>
              <a:t>6</a:t>
            </a:r>
          </a:p>
        </p:txBody>
      </p:sp>
      <p:sp>
        <p:nvSpPr>
          <p:cNvPr id="33" name="TextBox 32"/>
          <p:cNvSpPr txBox="1"/>
          <p:nvPr/>
        </p:nvSpPr>
        <p:spPr>
          <a:xfrm>
            <a:off x="6718132" y="3873403"/>
            <a:ext cx="4825879" cy="304792"/>
          </a:xfrm>
          <a:prstGeom prst="rect">
            <a:avLst/>
          </a:prstGeom>
          <a:noFill/>
        </p:spPr>
        <p:txBody>
          <a:bodyPr wrap="square" anchor="t" lIns="0" rIns="0" tIns="0" bIns="0">
            <a:spAutoFit/>
          </a:bodyPr>
          <a:lstStyle/>
          <a:p>
            <a:pPr algn="l">
              <a:lnSpc>
                <a:spcPct val="125000"/>
              </a:lnSpc>
            </a:pPr>
            <a:r>
              <a:rPr sz="2100" b="1">
                <a:solidFill>
                  <a:srgbClr val="F2F8FC"/>
                </a:solidFill>
                <a:latin typeface="Segoe UI"/>
              </a:rPr>
              <a:t>Vastleggen</a:t>
            </a:r>
          </a:p>
        </p:txBody>
      </p:sp>
      <p:sp>
        <p:nvSpPr>
          <p:cNvPr id="34" name="TextBox 33"/>
          <p:cNvSpPr txBox="1"/>
          <p:nvPr/>
        </p:nvSpPr>
        <p:spPr>
          <a:xfrm>
            <a:off x="6718132" y="4203594"/>
            <a:ext cx="4825879" cy="507987"/>
          </a:xfrm>
          <a:prstGeom prst="rect">
            <a:avLst/>
          </a:prstGeom>
          <a:noFill/>
        </p:spPr>
        <p:txBody>
          <a:bodyPr wrap="square" anchor="t" lIns="0" rIns="0" tIns="0" bIns="0">
            <a:spAutoFit/>
          </a:bodyPr>
          <a:lstStyle/>
          <a:p>
            <a:pPr algn="l">
              <a:lnSpc>
                <a:spcPct val="130000"/>
              </a:lnSpc>
            </a:pPr>
            <a:r>
              <a:rPr sz="1450" b="0">
                <a:solidFill>
                  <a:srgbClr val="8FB6D0"/>
                </a:solidFill>
                <a:latin typeface="Segoe UI"/>
              </a:rPr>
              <a:t>de formulieren volledig invullen, en weten wat u meldt als er iets afwijkt</a:t>
            </a:r>
          </a:p>
        </p:txBody>
      </p:sp>
      <p:sp>
        <p:nvSpPr>
          <p:cNvPr id="35" name="Rounded Rectangle 34"/>
          <p:cNvSpPr/>
          <p:nvPr/>
        </p:nvSpPr>
        <p:spPr>
          <a:xfrm>
            <a:off x="634984" y="4851278"/>
            <a:ext cx="10921726" cy="736581"/>
          </a:xfrm>
          <a:prstGeom prst="roundRect">
            <a:avLst>
              <a:gd name="adj" fmla="val 4500"/>
            </a:avLst>
          </a:prstGeom>
          <a:solidFill>
            <a:srgbClr val="0A2A44"/>
          </a:solidFill>
          <a:ln w="9525">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52476" y="5029074"/>
            <a:ext cx="10286742" cy="444488"/>
          </a:xfrm>
          <a:prstGeom prst="rect">
            <a:avLst/>
          </a:prstGeom>
          <a:noFill/>
        </p:spPr>
        <p:txBody>
          <a:bodyPr wrap="square" anchor="t" lIns="0" rIns="0" tIns="0" bIns="0">
            <a:spAutoFit/>
          </a:bodyPr>
          <a:lstStyle/>
          <a:p>
            <a:pPr algn="l">
              <a:lnSpc>
                <a:spcPct val="140000"/>
              </a:lnSpc>
            </a:pPr>
            <a:r>
              <a:rPr sz="1900" b="0">
                <a:solidFill>
                  <a:srgbClr val="F2F8FC"/>
                </a:solidFill>
                <a:latin typeface="Segoe UI"/>
              </a:rPr>
              <a:t>Begeleiding en vragen tijdens het project blijven mogelijk.</a:t>
            </a:r>
          </a:p>
        </p:txBody>
      </p:sp>
      <p:sp>
        <p:nvSpPr>
          <p:cNvPr id="37" name="TextBox 36"/>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02 / 28</a:t>
            </a:r>
          </a:p>
        </p:txBody>
      </p:sp>
      <p:pic>
        <p:nvPicPr>
          <p:cNvPr id="38" name="merk" descr="merk.png"/>
          <p:cNvPicPr>
            <a:picLocks noChangeAspect="1"/>
          </p:cNvPicPr>
          <p:nvPr/>
        </p:nvPicPr>
        <p:blipFill>
          <a:blip r:embed="rId2"/>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WAAR WE STAAN</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144 patiënten, 24 per centrum</a:t>
            </a:r>
          </a:p>
        </p:txBody>
      </p:sp>
      <p:sp>
        <p:nvSpPr>
          <p:cNvPr id="5" name="Oval 4"/>
          <p:cNvSpPr/>
          <p:nvPr/>
        </p:nvSpPr>
        <p:spPr>
          <a:xfrm>
            <a:off x="634984"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76278"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17572"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58866"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00159"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841453"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082747"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2324041"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2565335"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2806629"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047923"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289217"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530511"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771805"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013099"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4254393"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495687"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736981"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978275"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219569"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460863"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702157"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943451"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184745"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34984"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76278"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117572"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358866"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600159"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841453"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2082747"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2324041"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2565335"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2806629"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3047923"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3289217"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3530511"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3771805"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4013099"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4254393"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4495687"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4736981"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4978275"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5219569"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5460863"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5702157"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5943451"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6184745"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634984"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876278"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1117572"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1358866"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1600159"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1841453"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2082747"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2324041"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2565335"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2806629"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3047923"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3289217"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3530511"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3771805"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4013099"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4254393"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4495687"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4736981"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4978275"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5219569"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5460863"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5702157"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5943451"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6184745"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634984"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876278"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1117572"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1358866"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1600159"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1841453"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2082747"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2324041"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2565335"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2806629"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3047923"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3289217"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3530511"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3771805"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4013099"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4254393"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4495687"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4736981"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4978275"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Oval 95"/>
          <p:cNvSpPr/>
          <p:nvPr/>
        </p:nvSpPr>
        <p:spPr>
          <a:xfrm>
            <a:off x="5219569"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5460863"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5702157"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5943451"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6184745"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634984"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876278"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1117572"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1358866"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1600159"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1841453"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2082747"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val 107"/>
          <p:cNvSpPr/>
          <p:nvPr/>
        </p:nvSpPr>
        <p:spPr>
          <a:xfrm>
            <a:off x="2324041"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2565335"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Oval 109"/>
          <p:cNvSpPr/>
          <p:nvPr/>
        </p:nvSpPr>
        <p:spPr>
          <a:xfrm>
            <a:off x="2806629"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Oval 110"/>
          <p:cNvSpPr/>
          <p:nvPr/>
        </p:nvSpPr>
        <p:spPr>
          <a:xfrm>
            <a:off x="3047923"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val 111"/>
          <p:cNvSpPr/>
          <p:nvPr/>
        </p:nvSpPr>
        <p:spPr>
          <a:xfrm>
            <a:off x="3289217"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Oval 112"/>
          <p:cNvSpPr/>
          <p:nvPr/>
        </p:nvSpPr>
        <p:spPr>
          <a:xfrm>
            <a:off x="3530511"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val 113"/>
          <p:cNvSpPr/>
          <p:nvPr/>
        </p:nvSpPr>
        <p:spPr>
          <a:xfrm>
            <a:off x="3771805"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4013099"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4254393"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4495687"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Oval 117"/>
          <p:cNvSpPr/>
          <p:nvPr/>
        </p:nvSpPr>
        <p:spPr>
          <a:xfrm>
            <a:off x="4736981"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4978275"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Oval 119"/>
          <p:cNvSpPr/>
          <p:nvPr/>
        </p:nvSpPr>
        <p:spPr>
          <a:xfrm>
            <a:off x="5219569"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5460863"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Oval 121"/>
          <p:cNvSpPr/>
          <p:nvPr/>
        </p:nvSpPr>
        <p:spPr>
          <a:xfrm>
            <a:off x="5702157"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val 122"/>
          <p:cNvSpPr/>
          <p:nvPr/>
        </p:nvSpPr>
        <p:spPr>
          <a:xfrm>
            <a:off x="5943451"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Oval 123"/>
          <p:cNvSpPr/>
          <p:nvPr/>
        </p:nvSpPr>
        <p:spPr>
          <a:xfrm>
            <a:off x="6184745"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Oval 124"/>
          <p:cNvSpPr/>
          <p:nvPr/>
        </p:nvSpPr>
        <p:spPr>
          <a:xfrm>
            <a:off x="634984"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Oval 125"/>
          <p:cNvSpPr/>
          <p:nvPr/>
        </p:nvSpPr>
        <p:spPr>
          <a:xfrm>
            <a:off x="876278"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Oval 126"/>
          <p:cNvSpPr/>
          <p:nvPr/>
        </p:nvSpPr>
        <p:spPr>
          <a:xfrm>
            <a:off x="1117572"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Oval 127"/>
          <p:cNvSpPr/>
          <p:nvPr/>
        </p:nvSpPr>
        <p:spPr>
          <a:xfrm>
            <a:off x="1358866"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Oval 128"/>
          <p:cNvSpPr/>
          <p:nvPr/>
        </p:nvSpPr>
        <p:spPr>
          <a:xfrm>
            <a:off x="1600159"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Oval 129"/>
          <p:cNvSpPr/>
          <p:nvPr/>
        </p:nvSpPr>
        <p:spPr>
          <a:xfrm>
            <a:off x="1841453"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Oval 130"/>
          <p:cNvSpPr/>
          <p:nvPr/>
        </p:nvSpPr>
        <p:spPr>
          <a:xfrm>
            <a:off x="2082747"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Oval 131"/>
          <p:cNvSpPr/>
          <p:nvPr/>
        </p:nvSpPr>
        <p:spPr>
          <a:xfrm>
            <a:off x="2324041"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Oval 132"/>
          <p:cNvSpPr/>
          <p:nvPr/>
        </p:nvSpPr>
        <p:spPr>
          <a:xfrm>
            <a:off x="2565335"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Oval 133"/>
          <p:cNvSpPr/>
          <p:nvPr/>
        </p:nvSpPr>
        <p:spPr>
          <a:xfrm>
            <a:off x="2806629"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Oval 134"/>
          <p:cNvSpPr/>
          <p:nvPr/>
        </p:nvSpPr>
        <p:spPr>
          <a:xfrm>
            <a:off x="3047923"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Oval 135"/>
          <p:cNvSpPr/>
          <p:nvPr/>
        </p:nvSpPr>
        <p:spPr>
          <a:xfrm>
            <a:off x="3289217"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Oval 136"/>
          <p:cNvSpPr/>
          <p:nvPr/>
        </p:nvSpPr>
        <p:spPr>
          <a:xfrm>
            <a:off x="3530511"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Oval 137"/>
          <p:cNvSpPr/>
          <p:nvPr/>
        </p:nvSpPr>
        <p:spPr>
          <a:xfrm>
            <a:off x="3771805"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Oval 138"/>
          <p:cNvSpPr/>
          <p:nvPr/>
        </p:nvSpPr>
        <p:spPr>
          <a:xfrm>
            <a:off x="4013099"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Oval 139"/>
          <p:cNvSpPr/>
          <p:nvPr/>
        </p:nvSpPr>
        <p:spPr>
          <a:xfrm>
            <a:off x="4254393"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Oval 140"/>
          <p:cNvSpPr/>
          <p:nvPr/>
        </p:nvSpPr>
        <p:spPr>
          <a:xfrm>
            <a:off x="4495687"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Oval 141"/>
          <p:cNvSpPr/>
          <p:nvPr/>
        </p:nvSpPr>
        <p:spPr>
          <a:xfrm>
            <a:off x="4736981"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Oval 142"/>
          <p:cNvSpPr/>
          <p:nvPr/>
        </p:nvSpPr>
        <p:spPr>
          <a:xfrm>
            <a:off x="4978275"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Oval 143"/>
          <p:cNvSpPr/>
          <p:nvPr/>
        </p:nvSpPr>
        <p:spPr>
          <a:xfrm>
            <a:off x="5219569"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Oval 144"/>
          <p:cNvSpPr/>
          <p:nvPr/>
        </p:nvSpPr>
        <p:spPr>
          <a:xfrm>
            <a:off x="5460863"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Oval 145"/>
          <p:cNvSpPr/>
          <p:nvPr/>
        </p:nvSpPr>
        <p:spPr>
          <a:xfrm>
            <a:off x="5702157"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Oval 146"/>
          <p:cNvSpPr/>
          <p:nvPr/>
        </p:nvSpPr>
        <p:spPr>
          <a:xfrm>
            <a:off x="5943451"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Oval 147"/>
          <p:cNvSpPr/>
          <p:nvPr/>
        </p:nvSpPr>
        <p:spPr>
          <a:xfrm>
            <a:off x="6184745"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634984" y="3301917"/>
            <a:ext cx="2539936" cy="253993"/>
          </a:xfrm>
          <a:prstGeom prst="rect">
            <a:avLst/>
          </a:prstGeom>
          <a:noFill/>
        </p:spPr>
        <p:txBody>
          <a:bodyPr wrap="square" anchor="t" lIns="0" rIns="0" tIns="0" bIns="0">
            <a:spAutoFit/>
          </a:bodyPr>
          <a:lstStyle/>
          <a:p>
            <a:pPr algn="l">
              <a:lnSpc>
                <a:spcPct val="125000"/>
              </a:lnSpc>
            </a:pPr>
            <a:r>
              <a:rPr sz="1300" b="1" spc="140">
                <a:solidFill>
                  <a:srgbClr val="52BDEC"/>
                </a:solidFill>
                <a:latin typeface="Consolas"/>
              </a:rPr>
              <a:t>72 PARADISE</a:t>
            </a:r>
          </a:p>
        </p:txBody>
      </p:sp>
      <p:sp>
        <p:nvSpPr>
          <p:cNvPr id="150" name="TextBox 149"/>
          <p:cNvSpPr txBox="1"/>
          <p:nvPr/>
        </p:nvSpPr>
        <p:spPr>
          <a:xfrm>
            <a:off x="2412939" y="3301917"/>
            <a:ext cx="2539936" cy="253993"/>
          </a:xfrm>
          <a:prstGeom prst="rect">
            <a:avLst/>
          </a:prstGeom>
          <a:noFill/>
        </p:spPr>
        <p:txBody>
          <a:bodyPr wrap="square" anchor="t" lIns="0" rIns="0" tIns="0" bIns="0">
            <a:spAutoFit/>
          </a:bodyPr>
          <a:lstStyle/>
          <a:p>
            <a:pPr algn="l">
              <a:lnSpc>
                <a:spcPct val="125000"/>
              </a:lnSpc>
            </a:pPr>
            <a:r>
              <a:rPr sz="1300" b="1" spc="140">
                <a:solidFill>
                  <a:srgbClr val="FF7A00"/>
                </a:solidFill>
                <a:latin typeface="Consolas"/>
              </a:rPr>
              <a:t>72 GEBRUIKELIJKE ZORG</a:t>
            </a:r>
          </a:p>
        </p:txBody>
      </p:sp>
      <p:sp>
        <p:nvSpPr>
          <p:cNvPr id="151" name="Rounded Rectangle 150"/>
          <p:cNvSpPr/>
          <p:nvPr/>
        </p:nvSpPr>
        <p:spPr>
          <a:xfrm>
            <a:off x="634984" y="3733706"/>
            <a:ext cx="5384538" cy="698482"/>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825479" y="3848003"/>
            <a:ext cx="5003547" cy="215894"/>
          </a:xfrm>
          <a:prstGeom prst="rect">
            <a:avLst/>
          </a:prstGeom>
          <a:noFill/>
        </p:spPr>
        <p:txBody>
          <a:bodyPr wrap="square" anchor="t" lIns="0" rIns="0" tIns="0" bIns="0">
            <a:spAutoFit/>
          </a:bodyPr>
          <a:lstStyle/>
          <a:p>
            <a:pPr algn="l">
              <a:lnSpc>
                <a:spcPct val="125000"/>
              </a:lnSpc>
            </a:pPr>
            <a:r>
              <a:rPr sz="1200" b="1" spc="140">
                <a:solidFill>
                  <a:srgbClr val="52BDEC"/>
                </a:solidFill>
                <a:latin typeface="Consolas"/>
              </a:rPr>
              <a:t>PER CENTRUM</a:t>
            </a:r>
          </a:p>
        </p:txBody>
      </p:sp>
      <p:sp>
        <p:nvSpPr>
          <p:cNvPr id="153" name="TextBox 152"/>
          <p:cNvSpPr txBox="1"/>
          <p:nvPr/>
        </p:nvSpPr>
        <p:spPr>
          <a:xfrm>
            <a:off x="825479" y="4089297"/>
            <a:ext cx="5003547" cy="292092"/>
          </a:xfrm>
          <a:prstGeom prst="rect">
            <a:avLst/>
          </a:prstGeom>
          <a:noFill/>
        </p:spPr>
        <p:txBody>
          <a:bodyPr wrap="square" anchor="t" lIns="0" rIns="0" tIns="0" bIns="0">
            <a:spAutoFit/>
          </a:bodyPr>
          <a:lstStyle/>
          <a:p>
            <a:pPr algn="l">
              <a:lnSpc>
                <a:spcPct val="125000"/>
              </a:lnSpc>
            </a:pPr>
            <a:r>
              <a:rPr sz="1550" b="0">
                <a:solidFill>
                  <a:srgbClr val="F2F8FC"/>
                </a:solidFill>
                <a:latin typeface="Segoe UI"/>
              </a:rPr>
              <a:t>24 deelnemers — 12 PARADISE en 12 gebruikelijke zorg</a:t>
            </a:r>
          </a:p>
        </p:txBody>
      </p:sp>
      <p:sp>
        <p:nvSpPr>
          <p:cNvPr id="154" name="Rounded Rectangle 153"/>
          <p:cNvSpPr/>
          <p:nvPr/>
        </p:nvSpPr>
        <p:spPr>
          <a:xfrm>
            <a:off x="6171918" y="3733706"/>
            <a:ext cx="5384538" cy="698482"/>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6362413" y="3848003"/>
            <a:ext cx="5003547" cy="215894"/>
          </a:xfrm>
          <a:prstGeom prst="rect">
            <a:avLst/>
          </a:prstGeom>
          <a:noFill/>
        </p:spPr>
        <p:txBody>
          <a:bodyPr wrap="square" anchor="t" lIns="0" rIns="0" tIns="0" bIns="0">
            <a:spAutoFit/>
          </a:bodyPr>
          <a:lstStyle/>
          <a:p>
            <a:pPr algn="l">
              <a:lnSpc>
                <a:spcPct val="125000"/>
              </a:lnSpc>
            </a:pPr>
            <a:r>
              <a:rPr sz="1200" b="1" spc="140">
                <a:solidFill>
                  <a:srgbClr val="52BDEC"/>
                </a:solidFill>
                <a:latin typeface="Consolas"/>
              </a:rPr>
              <a:t>CONTROLEGROEP</a:t>
            </a:r>
          </a:p>
        </p:txBody>
      </p:sp>
      <p:sp>
        <p:nvSpPr>
          <p:cNvPr id="156" name="TextBox 155"/>
          <p:cNvSpPr txBox="1"/>
          <p:nvPr/>
        </p:nvSpPr>
        <p:spPr>
          <a:xfrm>
            <a:off x="6362413" y="4089297"/>
            <a:ext cx="5003547" cy="292092"/>
          </a:xfrm>
          <a:prstGeom prst="rect">
            <a:avLst/>
          </a:prstGeom>
          <a:noFill/>
        </p:spPr>
        <p:txBody>
          <a:bodyPr wrap="square" anchor="t" lIns="0" rIns="0" tIns="0" bIns="0">
            <a:spAutoFit/>
          </a:bodyPr>
          <a:lstStyle/>
          <a:p>
            <a:pPr algn="l">
              <a:lnSpc>
                <a:spcPct val="125000"/>
              </a:lnSpc>
            </a:pPr>
            <a:r>
              <a:rPr sz="1550" b="0">
                <a:solidFill>
                  <a:srgbClr val="F2F8FC"/>
                </a:solidFill>
                <a:latin typeface="Segoe UI"/>
              </a:rPr>
              <a:t>Gebruikelijke zorg, onveranderd</a:t>
            </a:r>
          </a:p>
        </p:txBody>
      </p:sp>
      <p:sp>
        <p:nvSpPr>
          <p:cNvPr id="157" name="Rounded Rectangle 156"/>
          <p:cNvSpPr/>
          <p:nvPr/>
        </p:nvSpPr>
        <p:spPr>
          <a:xfrm>
            <a:off x="634984" y="4533786"/>
            <a:ext cx="5384538" cy="698482"/>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825479" y="4648083"/>
            <a:ext cx="5003547" cy="215894"/>
          </a:xfrm>
          <a:prstGeom prst="rect">
            <a:avLst/>
          </a:prstGeom>
          <a:noFill/>
        </p:spPr>
        <p:txBody>
          <a:bodyPr wrap="square" anchor="t" lIns="0" rIns="0" tIns="0" bIns="0">
            <a:spAutoFit/>
          </a:bodyPr>
          <a:lstStyle/>
          <a:p>
            <a:pPr algn="l">
              <a:lnSpc>
                <a:spcPct val="125000"/>
              </a:lnSpc>
            </a:pPr>
            <a:r>
              <a:rPr sz="1200" b="1" spc="140">
                <a:solidFill>
                  <a:srgbClr val="52BDEC"/>
                </a:solidFill>
                <a:latin typeface="Consolas"/>
              </a:rPr>
              <a:t>PRIMAIR</a:t>
            </a:r>
          </a:p>
        </p:txBody>
      </p:sp>
      <p:sp>
        <p:nvSpPr>
          <p:cNvPr id="159" name="TextBox 158"/>
          <p:cNvSpPr txBox="1"/>
          <p:nvPr/>
        </p:nvSpPr>
        <p:spPr>
          <a:xfrm>
            <a:off x="825479" y="4889377"/>
            <a:ext cx="5003547" cy="292092"/>
          </a:xfrm>
          <a:prstGeom prst="rect">
            <a:avLst/>
          </a:prstGeom>
          <a:noFill/>
        </p:spPr>
        <p:txBody>
          <a:bodyPr wrap="square" anchor="t" lIns="0" rIns="0" tIns="0" bIns="0">
            <a:spAutoFit/>
          </a:bodyPr>
          <a:lstStyle/>
          <a:p>
            <a:pPr algn="l">
              <a:lnSpc>
                <a:spcPct val="125000"/>
              </a:lnSpc>
            </a:pPr>
            <a:r>
              <a:rPr sz="1550" b="0">
                <a:solidFill>
                  <a:srgbClr val="F2F8FC"/>
                </a:solidFill>
                <a:latin typeface="Segoe UI"/>
              </a:rPr>
              <a:t>Recidief op 18 maanden</a:t>
            </a:r>
          </a:p>
        </p:txBody>
      </p:sp>
      <p:sp>
        <p:nvSpPr>
          <p:cNvPr id="160" name="Rounded Rectangle 159"/>
          <p:cNvSpPr/>
          <p:nvPr/>
        </p:nvSpPr>
        <p:spPr>
          <a:xfrm>
            <a:off x="6171918" y="4533786"/>
            <a:ext cx="5384538" cy="698482"/>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6362413" y="4648083"/>
            <a:ext cx="5003547" cy="215894"/>
          </a:xfrm>
          <a:prstGeom prst="rect">
            <a:avLst/>
          </a:prstGeom>
          <a:noFill/>
        </p:spPr>
        <p:txBody>
          <a:bodyPr wrap="square" anchor="t" lIns="0" rIns="0" tIns="0" bIns="0">
            <a:spAutoFit/>
          </a:bodyPr>
          <a:lstStyle/>
          <a:p>
            <a:pPr algn="l">
              <a:lnSpc>
                <a:spcPct val="125000"/>
              </a:lnSpc>
            </a:pPr>
            <a:r>
              <a:rPr sz="1200" b="1" spc="140">
                <a:solidFill>
                  <a:srgbClr val="52BDEC"/>
                </a:solidFill>
                <a:latin typeface="Consolas"/>
              </a:rPr>
              <a:t>POSITIEF</a:t>
            </a:r>
          </a:p>
        </p:txBody>
      </p:sp>
      <p:sp>
        <p:nvSpPr>
          <p:cNvPr id="162" name="TextBox 161"/>
          <p:cNvSpPr txBox="1"/>
          <p:nvPr/>
        </p:nvSpPr>
        <p:spPr>
          <a:xfrm>
            <a:off x="6362413" y="4889377"/>
            <a:ext cx="5003547" cy="292092"/>
          </a:xfrm>
          <a:prstGeom prst="rect">
            <a:avLst/>
          </a:prstGeom>
          <a:noFill/>
        </p:spPr>
        <p:txBody>
          <a:bodyPr wrap="square" anchor="t" lIns="0" rIns="0" tIns="0" bIns="0">
            <a:spAutoFit/>
          </a:bodyPr>
          <a:lstStyle/>
          <a:p>
            <a:pPr algn="l">
              <a:lnSpc>
                <a:spcPct val="125000"/>
              </a:lnSpc>
            </a:pPr>
            <a:r>
              <a:rPr sz="1550" b="0">
                <a:solidFill>
                  <a:srgbClr val="F2F8FC"/>
                </a:solidFill>
                <a:latin typeface="Segoe UI"/>
              </a:rPr>
              <a:t>Alleen als het eindpunt behaald is</a:t>
            </a:r>
          </a:p>
        </p:txBody>
      </p:sp>
      <p:sp>
        <p:nvSpPr>
          <p:cNvPr id="163" name="Rectangle 162"/>
          <p:cNvSpPr/>
          <p:nvPr/>
        </p:nvSpPr>
        <p:spPr>
          <a:xfrm>
            <a:off x="634984" y="5448163"/>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634984" y="5575160"/>
            <a:ext cx="5714857" cy="215894"/>
          </a:xfrm>
          <a:prstGeom prst="rect">
            <a:avLst/>
          </a:prstGeom>
          <a:noFill/>
        </p:spPr>
        <p:txBody>
          <a:bodyPr wrap="square" anchor="t" lIns="0" rIns="0" tIns="0" bIns="0">
            <a:spAutoFit/>
          </a:bodyPr>
          <a:lstStyle/>
          <a:p>
            <a:pPr algn="l">
              <a:lnSpc>
                <a:spcPct val="125000"/>
              </a:lnSpc>
            </a:pPr>
            <a:r>
              <a:rPr sz="1200" b="1" spc="140">
                <a:solidFill>
                  <a:srgbClr val="8FB6D0"/>
                </a:solidFill>
                <a:latin typeface="Consolas"/>
              </a:rPr>
              <a:t>DE ZES DEELNEMENDE VOETKLINIEKEN</a:t>
            </a:r>
          </a:p>
        </p:txBody>
      </p:sp>
      <p:sp>
        <p:nvSpPr>
          <p:cNvPr id="165" name="Rounded Rectangle 164"/>
          <p:cNvSpPr/>
          <p:nvPr/>
        </p:nvSpPr>
        <p:spPr>
          <a:xfrm>
            <a:off x="634984" y="5879952"/>
            <a:ext cx="1752556" cy="330191"/>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634984" y="5975200"/>
            <a:ext cx="1752556" cy="215894"/>
          </a:xfrm>
          <a:prstGeom prst="rect">
            <a:avLst/>
          </a:prstGeom>
          <a:noFill/>
        </p:spPr>
        <p:txBody>
          <a:bodyPr wrap="none" anchor="t" lIns="0" rIns="0" tIns="0" bIns="0">
            <a:spAutoFit/>
          </a:bodyPr>
          <a:lstStyle/>
          <a:p>
            <a:pPr algn="ctr">
              <a:lnSpc>
                <a:spcPct val="125000"/>
              </a:lnSpc>
            </a:pPr>
            <a:r>
              <a:rPr sz="1300" b="1">
                <a:solidFill>
                  <a:srgbClr val="F2F8FC"/>
                </a:solidFill>
                <a:latin typeface="Segoe UI"/>
              </a:rPr>
              <a:t>AZORG</a:t>
            </a:r>
          </a:p>
        </p:txBody>
      </p:sp>
      <p:sp>
        <p:nvSpPr>
          <p:cNvPr id="167" name="Rounded Rectangle 166"/>
          <p:cNvSpPr/>
          <p:nvPr/>
        </p:nvSpPr>
        <p:spPr>
          <a:xfrm>
            <a:off x="2463738" y="5879952"/>
            <a:ext cx="1752556" cy="330191"/>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TextBox 167"/>
          <p:cNvSpPr txBox="1"/>
          <p:nvPr/>
        </p:nvSpPr>
        <p:spPr>
          <a:xfrm>
            <a:off x="2463738" y="5975200"/>
            <a:ext cx="1752556" cy="215894"/>
          </a:xfrm>
          <a:prstGeom prst="rect">
            <a:avLst/>
          </a:prstGeom>
          <a:noFill/>
        </p:spPr>
        <p:txBody>
          <a:bodyPr wrap="none" anchor="t" lIns="0" rIns="0" tIns="0" bIns="0">
            <a:spAutoFit/>
          </a:bodyPr>
          <a:lstStyle/>
          <a:p>
            <a:pPr algn="ctr">
              <a:lnSpc>
                <a:spcPct val="125000"/>
              </a:lnSpc>
            </a:pPr>
            <a:r>
              <a:rPr sz="1300" b="1">
                <a:solidFill>
                  <a:srgbClr val="F2F8FC"/>
                </a:solidFill>
                <a:latin typeface="Segoe UI"/>
              </a:rPr>
              <a:t>AZ Sint-Jan Brugge</a:t>
            </a:r>
          </a:p>
        </p:txBody>
      </p:sp>
      <p:sp>
        <p:nvSpPr>
          <p:cNvPr id="169" name="Rounded Rectangle 168"/>
          <p:cNvSpPr/>
          <p:nvPr/>
        </p:nvSpPr>
        <p:spPr>
          <a:xfrm>
            <a:off x="4292492" y="5879952"/>
            <a:ext cx="1752556" cy="330191"/>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Box 169"/>
          <p:cNvSpPr txBox="1"/>
          <p:nvPr/>
        </p:nvSpPr>
        <p:spPr>
          <a:xfrm>
            <a:off x="4292492" y="5975200"/>
            <a:ext cx="1752556" cy="215894"/>
          </a:xfrm>
          <a:prstGeom prst="rect">
            <a:avLst/>
          </a:prstGeom>
          <a:noFill/>
        </p:spPr>
        <p:txBody>
          <a:bodyPr wrap="none" anchor="t" lIns="0" rIns="0" tIns="0" bIns="0">
            <a:spAutoFit/>
          </a:bodyPr>
          <a:lstStyle/>
          <a:p>
            <a:pPr algn="ctr">
              <a:lnSpc>
                <a:spcPct val="125000"/>
              </a:lnSpc>
            </a:pPr>
            <a:r>
              <a:rPr sz="1300" b="1">
                <a:solidFill>
                  <a:srgbClr val="F2F8FC"/>
                </a:solidFill>
                <a:latin typeface="Segoe UI"/>
              </a:rPr>
              <a:t>AZ Groeninge</a:t>
            </a:r>
          </a:p>
        </p:txBody>
      </p:sp>
      <p:sp>
        <p:nvSpPr>
          <p:cNvPr id="171" name="Rounded Rectangle 170"/>
          <p:cNvSpPr/>
          <p:nvPr/>
        </p:nvSpPr>
        <p:spPr>
          <a:xfrm>
            <a:off x="6121246" y="5879952"/>
            <a:ext cx="1752556" cy="330191"/>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TextBox 171"/>
          <p:cNvSpPr txBox="1"/>
          <p:nvPr/>
        </p:nvSpPr>
        <p:spPr>
          <a:xfrm>
            <a:off x="6121246" y="5975200"/>
            <a:ext cx="1752556" cy="215894"/>
          </a:xfrm>
          <a:prstGeom prst="rect">
            <a:avLst/>
          </a:prstGeom>
          <a:noFill/>
        </p:spPr>
        <p:txBody>
          <a:bodyPr wrap="none" anchor="t" lIns="0" rIns="0" tIns="0" bIns="0">
            <a:spAutoFit/>
          </a:bodyPr>
          <a:lstStyle/>
          <a:p>
            <a:pPr algn="ctr">
              <a:lnSpc>
                <a:spcPct val="125000"/>
              </a:lnSpc>
            </a:pPr>
            <a:r>
              <a:rPr sz="1300" b="1">
                <a:solidFill>
                  <a:srgbClr val="F2F8FC"/>
                </a:solidFill>
                <a:latin typeface="Segoe UI"/>
              </a:rPr>
              <a:t>UZ Gent</a:t>
            </a:r>
          </a:p>
        </p:txBody>
      </p:sp>
      <p:sp>
        <p:nvSpPr>
          <p:cNvPr id="173" name="Rounded Rectangle 172"/>
          <p:cNvSpPr/>
          <p:nvPr/>
        </p:nvSpPr>
        <p:spPr>
          <a:xfrm>
            <a:off x="7950001" y="5879952"/>
            <a:ext cx="1752556" cy="330191"/>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TextBox 173"/>
          <p:cNvSpPr txBox="1"/>
          <p:nvPr/>
        </p:nvSpPr>
        <p:spPr>
          <a:xfrm>
            <a:off x="7950001" y="5975200"/>
            <a:ext cx="1752556" cy="215894"/>
          </a:xfrm>
          <a:prstGeom prst="rect">
            <a:avLst/>
          </a:prstGeom>
          <a:noFill/>
        </p:spPr>
        <p:txBody>
          <a:bodyPr wrap="none" anchor="t" lIns="0" rIns="0" tIns="0" bIns="0">
            <a:spAutoFit/>
          </a:bodyPr>
          <a:lstStyle/>
          <a:p>
            <a:pPr algn="ctr">
              <a:lnSpc>
                <a:spcPct val="125000"/>
              </a:lnSpc>
            </a:pPr>
            <a:r>
              <a:rPr sz="1300" b="1">
                <a:solidFill>
                  <a:srgbClr val="F2F8FC"/>
                </a:solidFill>
                <a:latin typeface="Segoe UI"/>
              </a:rPr>
              <a:t>UZ Leuven</a:t>
            </a:r>
          </a:p>
        </p:txBody>
      </p:sp>
      <p:sp>
        <p:nvSpPr>
          <p:cNvPr id="175" name="Rounded Rectangle 174"/>
          <p:cNvSpPr/>
          <p:nvPr/>
        </p:nvSpPr>
        <p:spPr>
          <a:xfrm>
            <a:off x="9778755" y="5879952"/>
            <a:ext cx="1752556" cy="330191"/>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TextBox 175"/>
          <p:cNvSpPr txBox="1"/>
          <p:nvPr/>
        </p:nvSpPr>
        <p:spPr>
          <a:xfrm>
            <a:off x="9778755" y="5975200"/>
            <a:ext cx="1752556" cy="215894"/>
          </a:xfrm>
          <a:prstGeom prst="rect">
            <a:avLst/>
          </a:prstGeom>
          <a:noFill/>
        </p:spPr>
        <p:txBody>
          <a:bodyPr wrap="none" anchor="t" lIns="0" rIns="0" tIns="0" bIns="0">
            <a:spAutoFit/>
          </a:bodyPr>
          <a:lstStyle/>
          <a:p>
            <a:pPr algn="ctr">
              <a:lnSpc>
                <a:spcPct val="125000"/>
              </a:lnSpc>
            </a:pPr>
            <a:r>
              <a:rPr sz="1300" b="1">
                <a:solidFill>
                  <a:srgbClr val="F2F8FC"/>
                </a:solidFill>
                <a:latin typeface="Segoe UI"/>
              </a:rPr>
              <a:t>UZ Antwerpen</a:t>
            </a:r>
          </a:p>
        </p:txBody>
      </p:sp>
      <p:sp>
        <p:nvSpPr>
          <p:cNvPr id="177" name="TextBox 176"/>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03 / 28</a:t>
            </a:r>
          </a:p>
        </p:txBody>
      </p:sp>
      <p:pic>
        <p:nvPicPr>
          <p:cNvPr id="178"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179" name="TextBox 178"/>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Bron  20 · Morbach 2016</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15974" y="253993"/>
            <a:ext cx="5206869" cy="5206869"/>
          </a:xfrm>
          <a:prstGeom prst="ellipse">
            <a:avLst/>
          </a:prstGeom>
          <a:solidFill>
            <a:srgbClr val="FF7A00">
              <a:alpha val="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ero"/>
          <p:cNvSpPr txBox="1"/>
          <p:nvPr/>
        </p:nvSpPr>
        <p:spPr>
          <a:xfrm>
            <a:off x="380990" y="761980"/>
            <a:ext cx="7619809" cy="3301917"/>
          </a:xfrm>
          <a:prstGeom prst="rect">
            <a:avLst/>
          </a:prstGeom>
          <a:noFill/>
        </p:spPr>
        <p:txBody>
          <a:bodyPr wrap="square" anchor="t" lIns="0" rIns="0" tIns="0" bIns="0">
            <a:spAutoFit/>
          </a:bodyPr>
          <a:lstStyle/>
          <a:p>
            <a:pPr algn="l">
              <a:lnSpc>
                <a:spcPct val="82000"/>
              </a:lnSpc>
            </a:pPr>
            <a:r>
              <a:rPr sz="25000" b="1">
                <a:solidFill>
                  <a:srgbClr val="FF7A00"/>
                </a:solidFill>
                <a:latin typeface="Segoe UI"/>
              </a:rPr>
              <a:t>40</a:t>
            </a:r>
          </a:p>
        </p:txBody>
      </p:sp>
      <p:sp>
        <p:nvSpPr>
          <p:cNvPr id="5" name="TextBox 4"/>
          <p:cNvSpPr txBox="1"/>
          <p:nvPr/>
        </p:nvSpPr>
        <p:spPr>
          <a:xfrm>
            <a:off x="4444888" y="1320766"/>
            <a:ext cx="1523961" cy="1015974"/>
          </a:xfrm>
          <a:prstGeom prst="rect">
            <a:avLst/>
          </a:prstGeom>
          <a:noFill/>
        </p:spPr>
        <p:txBody>
          <a:bodyPr wrap="square" anchor="t" lIns="0" rIns="0" tIns="0" bIns="0">
            <a:spAutoFit/>
          </a:bodyPr>
          <a:lstStyle/>
          <a:p>
            <a:pPr algn="l">
              <a:lnSpc>
                <a:spcPct val="125000"/>
              </a:lnSpc>
            </a:pPr>
            <a:r>
              <a:rPr sz="7600" b="1">
                <a:solidFill>
                  <a:srgbClr val="FF7A00"/>
                </a:solidFill>
                <a:latin typeface="Segoe UI Light"/>
              </a:rPr>
              <a:t>%</a:t>
            </a:r>
          </a:p>
        </p:txBody>
      </p:sp>
      <p:sp>
        <p:nvSpPr>
          <p:cNvPr id="6" name="TextBox 5"/>
          <p:cNvSpPr txBox="1"/>
          <p:nvPr/>
        </p:nvSpPr>
        <p:spPr>
          <a:xfrm>
            <a:off x="660383" y="3975000"/>
            <a:ext cx="5460863" cy="1269968"/>
          </a:xfrm>
          <a:prstGeom prst="rect">
            <a:avLst/>
          </a:prstGeom>
          <a:noFill/>
        </p:spPr>
        <p:txBody>
          <a:bodyPr wrap="square" anchor="t" lIns="0" rIns="0" tIns="0" bIns="0">
            <a:spAutoFit/>
          </a:bodyPr>
          <a:lstStyle/>
          <a:p>
            <a:pPr algn="l">
              <a:lnSpc>
                <a:spcPct val="120000"/>
              </a:lnSpc>
            </a:pPr>
            <a:r>
              <a:rPr sz="3200" b="1">
                <a:solidFill>
                  <a:srgbClr val="F2F8FC"/>
                </a:solidFill>
                <a:latin typeface="Segoe UI"/>
              </a:rPr>
              <a:t>krijgt binnen een jaar</a:t>
            </a:r>
          </a:p>
          <a:p>
            <a:pPr algn="l">
              <a:lnSpc>
                <a:spcPct val="120000"/>
              </a:lnSpc>
              <a:spcBef>
                <a:spcPts val="500"/>
              </a:spcBef>
            </a:pPr>
            <a:r>
              <a:rPr sz="3200" b="1">
                <a:solidFill>
                  <a:srgbClr val="F2F8FC"/>
                </a:solidFill>
                <a:latin typeface="Segoe UI"/>
              </a:rPr>
              <a:t>een nieuw ulcus</a:t>
            </a:r>
          </a:p>
        </p:txBody>
      </p:sp>
      <p:sp>
        <p:nvSpPr>
          <p:cNvPr id="7" name="Rounded Rectangle 6"/>
          <p:cNvSpPr/>
          <p:nvPr/>
        </p:nvSpPr>
        <p:spPr>
          <a:xfrm>
            <a:off x="8017563" y="1142971"/>
            <a:ext cx="3538893" cy="1206469"/>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0758" y="1320766"/>
            <a:ext cx="3157903" cy="609584"/>
          </a:xfrm>
          <a:prstGeom prst="rect">
            <a:avLst/>
          </a:prstGeom>
          <a:noFill/>
        </p:spPr>
        <p:txBody>
          <a:bodyPr wrap="square" anchor="t" lIns="0" rIns="0" tIns="0" bIns="0">
            <a:spAutoFit/>
          </a:bodyPr>
          <a:lstStyle/>
          <a:p>
            <a:pPr algn="l">
              <a:lnSpc>
                <a:spcPct val="100000"/>
              </a:lnSpc>
            </a:pPr>
            <a:r>
              <a:rPr sz="4200" b="1">
                <a:solidFill>
                  <a:srgbClr val="F2F8FC"/>
                </a:solidFill>
                <a:latin typeface="Segoe UI"/>
              </a:rPr>
              <a:t>65%</a:t>
            </a:r>
          </a:p>
        </p:txBody>
      </p:sp>
      <p:sp>
        <p:nvSpPr>
          <p:cNvPr id="9" name="TextBox 8"/>
          <p:cNvSpPr txBox="1"/>
          <p:nvPr/>
        </p:nvSpPr>
        <p:spPr>
          <a:xfrm>
            <a:off x="8233458" y="1930351"/>
            <a:ext cx="3157903" cy="253993"/>
          </a:xfrm>
          <a:prstGeom prst="rect">
            <a:avLst/>
          </a:prstGeom>
          <a:noFill/>
        </p:spPr>
        <p:txBody>
          <a:bodyPr wrap="square" anchor="t" lIns="0" rIns="0" tIns="0" bIns="0">
            <a:spAutoFit/>
          </a:bodyPr>
          <a:lstStyle/>
          <a:p>
            <a:pPr algn="l">
              <a:lnSpc>
                <a:spcPct val="125000"/>
              </a:lnSpc>
            </a:pPr>
            <a:r>
              <a:rPr sz="1350" b="0" spc="130">
                <a:solidFill>
                  <a:srgbClr val="8FB6D0"/>
                </a:solidFill>
                <a:latin typeface="Consolas"/>
              </a:rPr>
              <a:t>NA VIJF JAAR</a:t>
            </a:r>
          </a:p>
        </p:txBody>
      </p:sp>
      <p:sp>
        <p:nvSpPr>
          <p:cNvPr id="10" name="Rounded Rectangle 9"/>
          <p:cNvSpPr/>
          <p:nvPr/>
        </p:nvSpPr>
        <p:spPr>
          <a:xfrm>
            <a:off x="8017563" y="2514537"/>
            <a:ext cx="3538893" cy="1206469"/>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0758" y="2692332"/>
            <a:ext cx="3157903" cy="609584"/>
          </a:xfrm>
          <a:prstGeom prst="rect">
            <a:avLst/>
          </a:prstGeom>
          <a:noFill/>
        </p:spPr>
        <p:txBody>
          <a:bodyPr wrap="square" anchor="t" lIns="0" rIns="0" tIns="0" bIns="0">
            <a:spAutoFit/>
          </a:bodyPr>
          <a:lstStyle/>
          <a:p>
            <a:pPr algn="l">
              <a:lnSpc>
                <a:spcPct val="100000"/>
              </a:lnSpc>
            </a:pPr>
            <a:r>
              <a:rPr sz="4200" b="1">
                <a:solidFill>
                  <a:srgbClr val="F2F8FC"/>
                </a:solidFill>
                <a:latin typeface="Segoe UI"/>
              </a:rPr>
              <a:t>2,5×</a:t>
            </a:r>
          </a:p>
        </p:txBody>
      </p:sp>
      <p:sp>
        <p:nvSpPr>
          <p:cNvPr id="12" name="TextBox 11"/>
          <p:cNvSpPr txBox="1"/>
          <p:nvPr/>
        </p:nvSpPr>
        <p:spPr>
          <a:xfrm>
            <a:off x="8233458" y="3301917"/>
            <a:ext cx="3157903" cy="253993"/>
          </a:xfrm>
          <a:prstGeom prst="rect">
            <a:avLst/>
          </a:prstGeom>
          <a:noFill/>
        </p:spPr>
        <p:txBody>
          <a:bodyPr wrap="square" anchor="t" lIns="0" rIns="0" tIns="0" bIns="0">
            <a:spAutoFit/>
          </a:bodyPr>
          <a:lstStyle/>
          <a:p>
            <a:pPr algn="l">
              <a:lnSpc>
                <a:spcPct val="125000"/>
              </a:lnSpc>
            </a:pPr>
            <a:r>
              <a:rPr sz="1350" b="0" spc="130">
                <a:solidFill>
                  <a:srgbClr val="8FB6D0"/>
                </a:solidFill>
                <a:latin typeface="Consolas"/>
              </a:rPr>
              <a:t>HOGERE STERFTE</a:t>
            </a:r>
          </a:p>
        </p:txBody>
      </p:sp>
      <p:sp>
        <p:nvSpPr>
          <p:cNvPr id="13" name="Rounded Rectangle 12"/>
          <p:cNvSpPr/>
          <p:nvPr/>
        </p:nvSpPr>
        <p:spPr>
          <a:xfrm>
            <a:off x="8017563" y="3886102"/>
            <a:ext cx="3538893" cy="1206469"/>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0758" y="4063898"/>
            <a:ext cx="3157903" cy="609584"/>
          </a:xfrm>
          <a:prstGeom prst="rect">
            <a:avLst/>
          </a:prstGeom>
          <a:noFill/>
        </p:spPr>
        <p:txBody>
          <a:bodyPr wrap="square" anchor="t" lIns="0" rIns="0" tIns="0" bIns="0">
            <a:spAutoFit/>
          </a:bodyPr>
          <a:lstStyle/>
          <a:p>
            <a:pPr algn="l">
              <a:lnSpc>
                <a:spcPct val="100000"/>
              </a:lnSpc>
            </a:pPr>
            <a:r>
              <a:rPr sz="4200" b="1">
                <a:solidFill>
                  <a:srgbClr val="F2F8FC"/>
                </a:solidFill>
                <a:latin typeface="Segoe UI"/>
              </a:rPr>
              <a:t>&gt; 70%</a:t>
            </a:r>
          </a:p>
        </p:txBody>
      </p:sp>
      <p:sp>
        <p:nvSpPr>
          <p:cNvPr id="15" name="TextBox 14"/>
          <p:cNvSpPr txBox="1"/>
          <p:nvPr/>
        </p:nvSpPr>
        <p:spPr>
          <a:xfrm>
            <a:off x="8233458" y="4673483"/>
            <a:ext cx="3157903" cy="253993"/>
          </a:xfrm>
          <a:prstGeom prst="rect">
            <a:avLst/>
          </a:prstGeom>
          <a:noFill/>
        </p:spPr>
        <p:txBody>
          <a:bodyPr wrap="square" anchor="t" lIns="0" rIns="0" tIns="0" bIns="0">
            <a:spAutoFit/>
          </a:bodyPr>
          <a:lstStyle/>
          <a:p>
            <a:pPr algn="l">
              <a:lnSpc>
                <a:spcPct val="125000"/>
              </a:lnSpc>
            </a:pPr>
            <a:r>
              <a:rPr sz="1350" b="0" spc="130">
                <a:solidFill>
                  <a:srgbClr val="8FB6D0"/>
                </a:solidFill>
                <a:latin typeface="Consolas"/>
              </a:rPr>
              <a:t>STERFTE NA MAJEURE AMPUTATIE</a:t>
            </a:r>
          </a:p>
        </p:txBody>
      </p:sp>
      <p:sp>
        <p:nvSpPr>
          <p:cNvPr id="16" name="TextBox 15"/>
          <p:cNvSpPr txBox="1"/>
          <p:nvPr/>
        </p:nvSpPr>
        <p:spPr>
          <a:xfrm>
            <a:off x="634984" y="6387940"/>
            <a:ext cx="8889777" cy="190495"/>
          </a:xfrm>
          <a:prstGeom prst="rect">
            <a:avLst/>
          </a:prstGeom>
          <a:noFill/>
        </p:spPr>
        <p:txBody>
          <a:bodyPr wrap="square" anchor="t" lIns="0" rIns="0" tIns="0" bIns="0">
            <a:spAutoFit/>
          </a:bodyPr>
          <a:lstStyle/>
          <a:p>
            <a:pPr algn="l">
              <a:lnSpc>
                <a:spcPct val="125000"/>
              </a:lnSpc>
            </a:pPr>
            <a:r>
              <a:rPr sz="1150" b="0">
                <a:solidFill>
                  <a:srgbClr val="8FB6D0"/>
                </a:solidFill>
                <a:latin typeface="Consolas"/>
              </a:rPr>
              <a:t>Armstrong, Boulton &amp; Bus · N Engl J Med 2017</a:t>
            </a:r>
          </a:p>
        </p:txBody>
      </p:sp>
      <p:sp>
        <p:nvSpPr>
          <p:cNvPr id="17" name="TextBox 16"/>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04 / 28</a:t>
            </a:r>
          </a:p>
        </p:txBody>
      </p:sp>
      <p:pic>
        <p:nvPicPr>
          <p:cNvPr id="18"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19" name="TextBox 18"/>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Bron  1 · Armstrong 2017</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HET RISICO NA GENEZING</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Twee derde recidiveert binnen vijf jaar</a:t>
            </a:r>
          </a:p>
        </p:txBody>
      </p:sp>
      <p:sp>
        <p:nvSpPr>
          <p:cNvPr id="5" name="TextBox 4"/>
          <p:cNvSpPr txBox="1"/>
          <p:nvPr/>
        </p:nvSpPr>
        <p:spPr>
          <a:xfrm>
            <a:off x="634984" y="2489137"/>
            <a:ext cx="4063898" cy="228594"/>
          </a:xfrm>
          <a:prstGeom prst="rect">
            <a:avLst/>
          </a:prstGeom>
          <a:noFill/>
        </p:spPr>
        <p:txBody>
          <a:bodyPr wrap="square" anchor="t" lIns="0" rIns="0" tIns="0" bIns="0">
            <a:spAutoFit/>
          </a:bodyPr>
          <a:lstStyle/>
          <a:p>
            <a:pPr algn="l">
              <a:lnSpc>
                <a:spcPct val="125000"/>
              </a:lnSpc>
            </a:pPr>
            <a:r>
              <a:rPr sz="1100" b="1" spc="160">
                <a:solidFill>
                  <a:srgbClr val="8FB6D0"/>
                </a:solidFill>
                <a:latin typeface="Consolas"/>
              </a:rPr>
              <a:t>NA 1 JAAR</a:t>
            </a:r>
          </a:p>
        </p:txBody>
      </p:sp>
      <p:sp>
        <p:nvSpPr>
          <p:cNvPr id="6" name="TextBox 5"/>
          <p:cNvSpPr txBox="1"/>
          <p:nvPr/>
        </p:nvSpPr>
        <p:spPr>
          <a:xfrm>
            <a:off x="634984" y="2717732"/>
            <a:ext cx="4063898" cy="939776"/>
          </a:xfrm>
          <a:prstGeom prst="rect">
            <a:avLst/>
          </a:prstGeom>
          <a:noFill/>
        </p:spPr>
        <p:txBody>
          <a:bodyPr wrap="square" anchor="t" lIns="0" rIns="0" tIns="0" bIns="0">
            <a:spAutoFit/>
          </a:bodyPr>
          <a:lstStyle/>
          <a:p>
            <a:pPr algn="l">
              <a:lnSpc>
                <a:spcPct val="100000"/>
              </a:lnSpc>
            </a:pPr>
            <a:r>
              <a:rPr sz="5400" b="1">
                <a:solidFill>
                  <a:srgbClr val="52BDEC"/>
                </a:solidFill>
                <a:latin typeface="Segoe UI"/>
              </a:rPr>
              <a:t>40%</a:t>
            </a:r>
          </a:p>
        </p:txBody>
      </p:sp>
      <p:sp>
        <p:nvSpPr>
          <p:cNvPr id="7" name="TextBox 6"/>
          <p:cNvSpPr txBox="1"/>
          <p:nvPr/>
        </p:nvSpPr>
        <p:spPr>
          <a:xfrm>
            <a:off x="634984" y="4038499"/>
            <a:ext cx="4063898" cy="228594"/>
          </a:xfrm>
          <a:prstGeom prst="rect">
            <a:avLst/>
          </a:prstGeom>
          <a:noFill/>
        </p:spPr>
        <p:txBody>
          <a:bodyPr wrap="square" anchor="t" lIns="0" rIns="0" tIns="0" bIns="0">
            <a:spAutoFit/>
          </a:bodyPr>
          <a:lstStyle/>
          <a:p>
            <a:pPr algn="l">
              <a:lnSpc>
                <a:spcPct val="125000"/>
              </a:lnSpc>
            </a:pPr>
            <a:r>
              <a:rPr sz="1100" b="1" spc="160">
                <a:solidFill>
                  <a:srgbClr val="8FB6D0"/>
                </a:solidFill>
                <a:latin typeface="Consolas"/>
              </a:rPr>
              <a:t>NA 5 JAAR</a:t>
            </a:r>
          </a:p>
        </p:txBody>
      </p:sp>
      <p:sp>
        <p:nvSpPr>
          <p:cNvPr id="8" name="TextBox 7"/>
          <p:cNvSpPr txBox="1"/>
          <p:nvPr/>
        </p:nvSpPr>
        <p:spPr>
          <a:xfrm>
            <a:off x="634984" y="4267093"/>
            <a:ext cx="4063898" cy="939776"/>
          </a:xfrm>
          <a:prstGeom prst="rect">
            <a:avLst/>
          </a:prstGeom>
          <a:noFill/>
        </p:spPr>
        <p:txBody>
          <a:bodyPr wrap="square" anchor="t" lIns="0" rIns="0" tIns="0" bIns="0">
            <a:spAutoFit/>
          </a:bodyPr>
          <a:lstStyle/>
          <a:p>
            <a:pPr algn="l">
              <a:lnSpc>
                <a:spcPct val="100000"/>
              </a:lnSpc>
            </a:pPr>
            <a:r>
              <a:rPr sz="5400" b="1">
                <a:solidFill>
                  <a:srgbClr val="FF7A00"/>
                </a:solidFill>
                <a:latin typeface="Segoe UI"/>
              </a:rPr>
              <a:t>65%</a:t>
            </a:r>
          </a:p>
        </p:txBody>
      </p:sp>
      <p:sp>
        <p:nvSpPr>
          <p:cNvPr id="9" name="TextBox 8"/>
          <p:cNvSpPr txBox="1"/>
          <p:nvPr/>
        </p:nvSpPr>
        <p:spPr>
          <a:xfrm>
            <a:off x="5587860" y="1777955"/>
            <a:ext cx="5968850" cy="279393"/>
          </a:xfrm>
          <a:prstGeom prst="rect">
            <a:avLst/>
          </a:prstGeom>
          <a:noFill/>
        </p:spPr>
        <p:txBody>
          <a:bodyPr wrap="square" anchor="t" lIns="0" rIns="0" tIns="0" bIns="0">
            <a:spAutoFit/>
          </a:bodyPr>
          <a:lstStyle/>
          <a:p>
            <a:pPr algn="l">
              <a:lnSpc>
                <a:spcPct val="125000"/>
              </a:lnSpc>
            </a:pPr>
            <a:r>
              <a:rPr sz="1300" b="0">
                <a:solidFill>
                  <a:srgbClr val="8FB6D0"/>
                </a:solidFill>
                <a:latin typeface="Segoe UI"/>
              </a:rPr>
              <a:t>Incidentie van recidief tegenover follow-upduur</a:t>
            </a:r>
          </a:p>
        </p:txBody>
      </p:sp>
      <p:sp>
        <p:nvSpPr>
          <p:cNvPr id="10" name="Rounded Rectangle 9"/>
          <p:cNvSpPr/>
          <p:nvPr/>
        </p:nvSpPr>
        <p:spPr>
          <a:xfrm>
            <a:off x="5587860" y="2133546"/>
            <a:ext cx="5968850" cy="4063898"/>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recidief_curve.png"/>
          <p:cNvPicPr>
            <a:picLocks noChangeAspect="1"/>
          </p:cNvPicPr>
          <p:nvPr/>
        </p:nvPicPr>
        <p:blipFill>
          <a:blip r:embed="rId2"/>
          <a:stretch>
            <a:fillRect/>
          </a:stretch>
        </p:blipFill>
        <p:spPr>
          <a:xfrm>
            <a:off x="5748364" y="2285942"/>
            <a:ext cx="5647842" cy="3860703"/>
          </a:xfrm>
          <a:prstGeom prst="rect">
            <a:avLst/>
          </a:prstGeom>
        </p:spPr>
      </p:pic>
      <p:sp>
        <p:nvSpPr>
          <p:cNvPr id="12" name="TextBox 11"/>
          <p:cNvSpPr txBox="1"/>
          <p:nvPr/>
        </p:nvSpPr>
        <p:spPr>
          <a:xfrm>
            <a:off x="634984" y="6273643"/>
            <a:ext cx="9524761" cy="203194"/>
          </a:xfrm>
          <a:prstGeom prst="rect">
            <a:avLst/>
          </a:prstGeom>
          <a:noFill/>
        </p:spPr>
        <p:txBody>
          <a:bodyPr wrap="square" anchor="t" lIns="0" rIns="0" tIns="0" bIns="0">
            <a:spAutoFit/>
          </a:bodyPr>
          <a:lstStyle/>
          <a:p>
            <a:pPr algn="l">
              <a:lnSpc>
                <a:spcPct val="125000"/>
              </a:lnSpc>
            </a:pPr>
            <a:r>
              <a:rPr sz="1150" b="0">
                <a:solidFill>
                  <a:srgbClr val="8FB6D0"/>
                </a:solidFill>
                <a:latin typeface="Consolas"/>
              </a:rPr>
              <a:t>Gepoolde data uit negen prospectieve studies, één retrospectieve studie en de controlegroepen van negen RCT’s</a:t>
            </a:r>
          </a:p>
        </p:txBody>
      </p:sp>
      <p:sp>
        <p:nvSpPr>
          <p:cNvPr id="13" name="TextBox 12"/>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05 / 28</a:t>
            </a:r>
          </a:p>
        </p:txBody>
      </p:sp>
      <p:pic>
        <p:nvPicPr>
          <p:cNvPr id="14" name="merk" descr="merk.png"/>
          <p:cNvPicPr>
            <a:picLocks noChangeAspect="1"/>
          </p:cNvPicPr>
          <p:nvPr/>
        </p:nvPicPr>
        <p:blipFill>
          <a:blip r:embed="rId3"/>
          <a:stretch>
            <a:fillRect/>
          </a:stretch>
        </p:blipFill>
        <p:spPr>
          <a:xfrm>
            <a:off x="11094166" y="368290"/>
            <a:ext cx="417101" cy="482587"/>
          </a:xfrm>
          <a:prstGeom prst="rect">
            <a:avLst/>
          </a:prstGeom>
        </p:spPr>
      </p:pic>
      <p:sp>
        <p:nvSpPr>
          <p:cNvPr id="15" name="TextBox 14"/>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Bron  1 · Armstrong 2017</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beeld" descr="knal_voorkomen.jpg"/>
          <p:cNvPicPr>
            <a:picLocks noChangeAspect="1"/>
          </p:cNvPicPr>
          <p:nvPr/>
        </p:nvPicPr>
        <p:blipFill>
          <a:blip r:embed="rId2"/>
          <a:stretch>
            <a:fillRect/>
          </a:stretch>
        </p:blipFill>
        <p:spPr>
          <a:xfrm>
            <a:off x="-45491" y="0"/>
            <a:ext cx="12282678" cy="6857828"/>
          </a:xfrm>
          <a:prstGeom prst="rect">
            <a:avLst/>
          </a:prstGeom>
        </p:spPr>
      </p:pic>
      <p:sp>
        <p:nvSpPr>
          <p:cNvPr id="4" name="Rectangle 3"/>
          <p:cNvSpPr/>
          <p:nvPr/>
        </p:nvSpPr>
        <p:spPr>
          <a:xfrm>
            <a:off x="0" y="0"/>
            <a:ext cx="12191695" cy="6857828"/>
          </a:xfrm>
          <a:prstGeom prst="rect">
            <a:avLst/>
          </a:prstGeom>
          <a:gradFill rotWithShape="1">
            <a:gsLst>
              <a:gs pos="0">
                <a:srgbClr val="04182A">
                  <a:alpha val="68000"/>
                </a:srgbClr>
              </a:gs>
              <a:gs pos="100000">
                <a:srgbClr val="072138">
                  <a:alpha val="95000"/>
                </a:srgbClr>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52476" y="1231869"/>
            <a:ext cx="812779" cy="50798"/>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knal"/>
          <p:cNvSpPr txBox="1"/>
          <p:nvPr/>
        </p:nvSpPr>
        <p:spPr>
          <a:xfrm>
            <a:off x="952476" y="1523961"/>
            <a:ext cx="10286742" cy="4190895"/>
          </a:xfrm>
          <a:prstGeom prst="rect">
            <a:avLst/>
          </a:prstGeom>
          <a:noFill/>
        </p:spPr>
        <p:txBody>
          <a:bodyPr wrap="square" anchor="t" lIns="0" rIns="0" tIns="0" bIns="0">
            <a:spAutoFit/>
          </a:bodyPr>
          <a:lstStyle/>
          <a:p>
            <a:pPr algn="l">
              <a:lnSpc>
                <a:spcPct val="106000"/>
              </a:lnSpc>
            </a:pPr>
            <a:r>
              <a:rPr sz="6200" b="1">
                <a:solidFill>
                  <a:srgbClr val="FFFFFF"/>
                </a:solidFill>
                <a:latin typeface="Segoe UI"/>
              </a:rPr>
              <a:t>Driekwart is te voorkomen.</a:t>
            </a:r>
          </a:p>
          <a:p>
            <a:pPr algn="l">
              <a:lnSpc>
                <a:spcPct val="106000"/>
              </a:lnSpc>
              <a:spcBef>
                <a:spcPts val="500"/>
              </a:spcBef>
            </a:pPr>
            <a:r>
              <a:rPr sz="6200" b="1">
                <a:solidFill>
                  <a:srgbClr val="FFFFFF"/>
                </a:solidFill>
                <a:latin typeface="Segoe UI"/>
              </a:rPr>
              <a:t>Veertig procent komt terug.</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HET MECHANISME</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Belasting is een product, geen optelsom</a:t>
            </a:r>
          </a:p>
        </p:txBody>
      </p:sp>
      <p:sp>
        <p:nvSpPr>
          <p:cNvPr id="5" name="Rounded Rectangle 4"/>
          <p:cNvSpPr/>
          <p:nvPr/>
        </p:nvSpPr>
        <p:spPr>
          <a:xfrm>
            <a:off x="634984" y="2539936"/>
            <a:ext cx="3284899" cy="1968450"/>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5479" y="2768530"/>
            <a:ext cx="2903909" cy="419089"/>
          </a:xfrm>
          <a:prstGeom prst="rect">
            <a:avLst/>
          </a:prstGeom>
          <a:noFill/>
        </p:spPr>
        <p:txBody>
          <a:bodyPr wrap="square" anchor="t" lIns="0" rIns="0" tIns="0" bIns="0">
            <a:spAutoFit/>
          </a:bodyPr>
          <a:lstStyle/>
          <a:p>
            <a:pPr algn="l">
              <a:lnSpc>
                <a:spcPct val="125000"/>
              </a:lnSpc>
            </a:pPr>
            <a:r>
              <a:rPr sz="2500" b="1">
                <a:solidFill>
                  <a:srgbClr val="F2F8FC"/>
                </a:solidFill>
                <a:latin typeface="Segoe UI"/>
              </a:rPr>
              <a:t>Piekdruk</a:t>
            </a:r>
          </a:p>
        </p:txBody>
      </p:sp>
      <p:sp>
        <p:nvSpPr>
          <p:cNvPr id="7" name="TextBox 6"/>
          <p:cNvSpPr txBox="1"/>
          <p:nvPr/>
        </p:nvSpPr>
        <p:spPr>
          <a:xfrm>
            <a:off x="825479" y="3200319"/>
            <a:ext cx="2903909" cy="355591"/>
          </a:xfrm>
          <a:prstGeom prst="rect">
            <a:avLst/>
          </a:prstGeom>
          <a:noFill/>
        </p:spPr>
        <p:txBody>
          <a:bodyPr wrap="square" anchor="t" lIns="0" rIns="0" tIns="0" bIns="0">
            <a:spAutoFit/>
          </a:bodyPr>
          <a:lstStyle/>
          <a:p>
            <a:pPr algn="l">
              <a:lnSpc>
                <a:spcPct val="125000"/>
              </a:lnSpc>
            </a:pPr>
            <a:r>
              <a:rPr sz="1500" b="0">
                <a:solidFill>
                  <a:srgbClr val="8FB6D0"/>
                </a:solidFill>
                <a:latin typeface="Segoe UI"/>
              </a:rPr>
              <a:t>per stap</a:t>
            </a:r>
          </a:p>
        </p:txBody>
      </p:sp>
      <p:sp>
        <p:nvSpPr>
          <p:cNvPr id="8" name="Rounded Rectangle 7"/>
          <p:cNvSpPr/>
          <p:nvPr/>
        </p:nvSpPr>
        <p:spPr>
          <a:xfrm>
            <a:off x="825479" y="3797205"/>
            <a:ext cx="1015974" cy="279393"/>
          </a:xfrm>
          <a:prstGeom prst="roundRect">
            <a:avLst>
              <a:gd name="adj" fmla="val 45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5479" y="3873403"/>
            <a:ext cx="1015974" cy="203194"/>
          </a:xfrm>
          <a:prstGeom prst="rect">
            <a:avLst/>
          </a:prstGeom>
          <a:noFill/>
        </p:spPr>
        <p:txBody>
          <a:bodyPr wrap="square" anchor="t" lIns="0" rIns="0" tIns="0" bIns="0">
            <a:spAutoFit/>
          </a:bodyPr>
          <a:lstStyle/>
          <a:p>
            <a:pPr algn="ctr">
              <a:lnSpc>
                <a:spcPct val="125000"/>
              </a:lnSpc>
            </a:pPr>
            <a:r>
              <a:rPr sz="1100" b="1" spc="120">
                <a:solidFill>
                  <a:srgbClr val="04182A"/>
                </a:solidFill>
                <a:latin typeface="Consolas"/>
              </a:rPr>
              <a:t>BIJGESTUURD</a:t>
            </a:r>
          </a:p>
        </p:txBody>
      </p:sp>
      <p:sp>
        <p:nvSpPr>
          <p:cNvPr id="10" name="TextBox 9"/>
          <p:cNvSpPr txBox="1"/>
          <p:nvPr/>
        </p:nvSpPr>
        <p:spPr>
          <a:xfrm>
            <a:off x="3869085" y="3251118"/>
            <a:ext cx="406389" cy="571485"/>
          </a:xfrm>
          <a:prstGeom prst="rect">
            <a:avLst/>
          </a:prstGeom>
          <a:noFill/>
        </p:spPr>
        <p:txBody>
          <a:bodyPr wrap="square" anchor="t" lIns="0" rIns="0" tIns="0" bIns="0">
            <a:spAutoFit/>
          </a:bodyPr>
          <a:lstStyle/>
          <a:p>
            <a:pPr algn="ctr">
              <a:lnSpc>
                <a:spcPct val="125000"/>
              </a:lnSpc>
            </a:pPr>
            <a:r>
              <a:rPr sz="3400" b="0">
                <a:solidFill>
                  <a:srgbClr val="8FB6D0"/>
                </a:solidFill>
                <a:latin typeface="Segoe UI Light"/>
              </a:rPr>
              <a:t>×</a:t>
            </a:r>
          </a:p>
        </p:txBody>
      </p:sp>
      <p:sp>
        <p:nvSpPr>
          <p:cNvPr id="11" name="Rounded Rectangle 10"/>
          <p:cNvSpPr/>
          <p:nvPr/>
        </p:nvSpPr>
        <p:spPr>
          <a:xfrm>
            <a:off x="4326273" y="2539936"/>
            <a:ext cx="3284899" cy="1968450"/>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16769" y="2768530"/>
            <a:ext cx="2903909" cy="419089"/>
          </a:xfrm>
          <a:prstGeom prst="rect">
            <a:avLst/>
          </a:prstGeom>
          <a:noFill/>
        </p:spPr>
        <p:txBody>
          <a:bodyPr wrap="square" anchor="t" lIns="0" rIns="0" tIns="0" bIns="0">
            <a:spAutoFit/>
          </a:bodyPr>
          <a:lstStyle/>
          <a:p>
            <a:pPr algn="l">
              <a:lnSpc>
                <a:spcPct val="125000"/>
              </a:lnSpc>
            </a:pPr>
            <a:r>
              <a:rPr sz="2500" b="1">
                <a:solidFill>
                  <a:srgbClr val="F2F8FC"/>
                </a:solidFill>
                <a:latin typeface="Segoe UI"/>
              </a:rPr>
              <a:t>Activiteit</a:t>
            </a:r>
          </a:p>
        </p:txBody>
      </p:sp>
      <p:sp>
        <p:nvSpPr>
          <p:cNvPr id="13" name="TextBox 12"/>
          <p:cNvSpPr txBox="1"/>
          <p:nvPr/>
        </p:nvSpPr>
        <p:spPr>
          <a:xfrm>
            <a:off x="4516769" y="3200319"/>
            <a:ext cx="2903909" cy="355591"/>
          </a:xfrm>
          <a:prstGeom prst="rect">
            <a:avLst/>
          </a:prstGeom>
          <a:noFill/>
        </p:spPr>
        <p:txBody>
          <a:bodyPr wrap="square" anchor="t" lIns="0" rIns="0" tIns="0" bIns="0">
            <a:spAutoFit/>
          </a:bodyPr>
          <a:lstStyle/>
          <a:p>
            <a:pPr algn="l">
              <a:lnSpc>
                <a:spcPct val="125000"/>
              </a:lnSpc>
            </a:pPr>
            <a:r>
              <a:rPr sz="1500" b="0">
                <a:solidFill>
                  <a:srgbClr val="8FB6D0"/>
                </a:solidFill>
                <a:latin typeface="Segoe UI"/>
              </a:rPr>
              <a:t>stappen per dag</a:t>
            </a:r>
          </a:p>
        </p:txBody>
      </p:sp>
      <p:sp>
        <p:nvSpPr>
          <p:cNvPr id="14" name="Rounded Rectangle 13"/>
          <p:cNvSpPr/>
          <p:nvPr/>
        </p:nvSpPr>
        <p:spPr>
          <a:xfrm>
            <a:off x="4516769" y="3797205"/>
            <a:ext cx="1015974" cy="279393"/>
          </a:xfrm>
          <a:prstGeom prst="roundRect">
            <a:avLst>
              <a:gd name="adj" fmla="val 4500"/>
            </a:avLst>
          </a:prstGeom>
          <a:solidFill>
            <a:srgbClr val="174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6769" y="3873403"/>
            <a:ext cx="1015974" cy="203194"/>
          </a:xfrm>
          <a:prstGeom prst="rect">
            <a:avLst/>
          </a:prstGeom>
          <a:noFill/>
        </p:spPr>
        <p:txBody>
          <a:bodyPr wrap="square" anchor="t" lIns="0" rIns="0" tIns="0" bIns="0">
            <a:spAutoFit/>
          </a:bodyPr>
          <a:lstStyle/>
          <a:p>
            <a:pPr algn="ctr">
              <a:lnSpc>
                <a:spcPct val="125000"/>
              </a:lnSpc>
            </a:pPr>
            <a:r>
              <a:rPr sz="1100" b="1" spc="120">
                <a:solidFill>
                  <a:srgbClr val="8FB6D0"/>
                </a:solidFill>
                <a:latin typeface="Consolas"/>
              </a:rPr>
              <a:t>GEMETEN</a:t>
            </a:r>
          </a:p>
        </p:txBody>
      </p:sp>
      <p:sp>
        <p:nvSpPr>
          <p:cNvPr id="16" name="TextBox 15"/>
          <p:cNvSpPr txBox="1"/>
          <p:nvPr/>
        </p:nvSpPr>
        <p:spPr>
          <a:xfrm>
            <a:off x="7560374" y="3251118"/>
            <a:ext cx="406389" cy="571485"/>
          </a:xfrm>
          <a:prstGeom prst="rect">
            <a:avLst/>
          </a:prstGeom>
          <a:noFill/>
        </p:spPr>
        <p:txBody>
          <a:bodyPr wrap="square" anchor="t" lIns="0" rIns="0" tIns="0" bIns="0">
            <a:spAutoFit/>
          </a:bodyPr>
          <a:lstStyle/>
          <a:p>
            <a:pPr algn="ctr">
              <a:lnSpc>
                <a:spcPct val="125000"/>
              </a:lnSpc>
            </a:pPr>
            <a:r>
              <a:rPr sz="3400" b="0">
                <a:solidFill>
                  <a:srgbClr val="8FB6D0"/>
                </a:solidFill>
                <a:latin typeface="Segoe UI Light"/>
              </a:rPr>
              <a:t>×</a:t>
            </a:r>
          </a:p>
        </p:txBody>
      </p:sp>
      <p:sp>
        <p:nvSpPr>
          <p:cNvPr id="17" name="Rounded Rectangle 16"/>
          <p:cNvSpPr/>
          <p:nvPr/>
        </p:nvSpPr>
        <p:spPr>
          <a:xfrm>
            <a:off x="8017563" y="2539936"/>
            <a:ext cx="3284899" cy="1968450"/>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08058" y="2768530"/>
            <a:ext cx="2903909" cy="419089"/>
          </a:xfrm>
          <a:prstGeom prst="rect">
            <a:avLst/>
          </a:prstGeom>
          <a:noFill/>
        </p:spPr>
        <p:txBody>
          <a:bodyPr wrap="square" anchor="t" lIns="0" rIns="0" tIns="0" bIns="0">
            <a:spAutoFit/>
          </a:bodyPr>
          <a:lstStyle/>
          <a:p>
            <a:pPr algn="l">
              <a:lnSpc>
                <a:spcPct val="125000"/>
              </a:lnSpc>
            </a:pPr>
            <a:r>
              <a:rPr sz="2500" b="1">
                <a:solidFill>
                  <a:srgbClr val="F2F8FC"/>
                </a:solidFill>
                <a:latin typeface="Segoe UI"/>
              </a:rPr>
              <a:t>Draagtijd</a:t>
            </a:r>
          </a:p>
        </p:txBody>
      </p:sp>
      <p:sp>
        <p:nvSpPr>
          <p:cNvPr id="19" name="TextBox 18"/>
          <p:cNvSpPr txBox="1"/>
          <p:nvPr/>
        </p:nvSpPr>
        <p:spPr>
          <a:xfrm>
            <a:off x="8208058" y="3200319"/>
            <a:ext cx="2903909" cy="355591"/>
          </a:xfrm>
          <a:prstGeom prst="rect">
            <a:avLst/>
          </a:prstGeom>
          <a:noFill/>
        </p:spPr>
        <p:txBody>
          <a:bodyPr wrap="square" anchor="t" lIns="0" rIns="0" tIns="0" bIns="0">
            <a:spAutoFit/>
          </a:bodyPr>
          <a:lstStyle/>
          <a:p>
            <a:pPr algn="l">
              <a:lnSpc>
                <a:spcPct val="125000"/>
              </a:lnSpc>
            </a:pPr>
            <a:r>
              <a:rPr sz="1500" b="0">
                <a:solidFill>
                  <a:srgbClr val="8FB6D0"/>
                </a:solidFill>
                <a:latin typeface="Segoe UI"/>
              </a:rPr>
              <a:t>wérd hij gedragen</a:t>
            </a:r>
          </a:p>
        </p:txBody>
      </p:sp>
      <p:sp>
        <p:nvSpPr>
          <p:cNvPr id="20" name="Rounded Rectangle 19"/>
          <p:cNvSpPr/>
          <p:nvPr/>
        </p:nvSpPr>
        <p:spPr>
          <a:xfrm>
            <a:off x="8208058" y="3797205"/>
            <a:ext cx="1015974" cy="279393"/>
          </a:xfrm>
          <a:prstGeom prst="roundRect">
            <a:avLst>
              <a:gd name="adj" fmla="val 45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08058" y="3873403"/>
            <a:ext cx="1015974" cy="203194"/>
          </a:xfrm>
          <a:prstGeom prst="rect">
            <a:avLst/>
          </a:prstGeom>
          <a:noFill/>
        </p:spPr>
        <p:txBody>
          <a:bodyPr wrap="square" anchor="t" lIns="0" rIns="0" tIns="0" bIns="0">
            <a:spAutoFit/>
          </a:bodyPr>
          <a:lstStyle/>
          <a:p>
            <a:pPr algn="ctr">
              <a:lnSpc>
                <a:spcPct val="125000"/>
              </a:lnSpc>
            </a:pPr>
            <a:r>
              <a:rPr sz="1100" b="1" spc="120">
                <a:solidFill>
                  <a:srgbClr val="04182A"/>
                </a:solidFill>
                <a:latin typeface="Consolas"/>
              </a:rPr>
              <a:t>BIJGESTUURD</a:t>
            </a:r>
          </a:p>
        </p:txBody>
      </p:sp>
      <p:sp>
        <p:nvSpPr>
          <p:cNvPr id="22" name="TextBox 21"/>
          <p:cNvSpPr txBox="1"/>
          <p:nvPr/>
        </p:nvSpPr>
        <p:spPr>
          <a:xfrm>
            <a:off x="634984" y="4889377"/>
            <a:ext cx="10921726" cy="571485"/>
          </a:xfrm>
          <a:prstGeom prst="rect">
            <a:avLst/>
          </a:prstGeom>
          <a:noFill/>
        </p:spPr>
        <p:txBody>
          <a:bodyPr wrap="square" anchor="t" lIns="0" rIns="0" tIns="0" bIns="0">
            <a:spAutoFit/>
          </a:bodyPr>
          <a:lstStyle/>
          <a:p>
            <a:pPr algn="l">
              <a:lnSpc>
                <a:spcPct val="140000"/>
              </a:lnSpc>
            </a:pPr>
            <a:r>
              <a:rPr sz="2000" b="0">
                <a:solidFill>
                  <a:srgbClr val="8FB6D0"/>
                </a:solidFill>
                <a:latin typeface="Segoe UI"/>
              </a:rPr>
              <a:t>Eén factor op nul maakt het product nul. Daarom heeft PARADISE twee normen: een druknorm én een draagtijdnorm.</a:t>
            </a:r>
          </a:p>
        </p:txBody>
      </p:sp>
      <p:sp>
        <p:nvSpPr>
          <p:cNvPr id="23" name="TextBox 22"/>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07 / 28</a:t>
            </a:r>
          </a:p>
        </p:txBody>
      </p:sp>
      <p:pic>
        <p:nvPicPr>
          <p:cNvPr id="24"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25" name="TextBox 24"/>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Bron  14 · van Netten 2018   |   16 · Hulshof 2025</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WAT PARADISE ANDERS DOET</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Eén dienst, geen drie losse maatregelen</a:t>
            </a:r>
          </a:p>
        </p:txBody>
      </p:sp>
      <p:sp>
        <p:nvSpPr>
          <p:cNvPr id="5" name="Rounded Rectangle 4"/>
          <p:cNvSpPr/>
          <p:nvPr/>
        </p:nvSpPr>
        <p:spPr>
          <a:xfrm>
            <a:off x="634984" y="2031949"/>
            <a:ext cx="5384538" cy="3822604"/>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8977" y="2247843"/>
            <a:ext cx="1269968" cy="380990"/>
          </a:xfrm>
          <a:prstGeom prst="rect">
            <a:avLst/>
          </a:prstGeom>
          <a:noFill/>
        </p:spPr>
        <p:txBody>
          <a:bodyPr wrap="square" anchor="t" lIns="0" rIns="0" tIns="0" bIns="0">
            <a:spAutoFit/>
          </a:bodyPr>
          <a:lstStyle/>
          <a:p>
            <a:pPr algn="l">
              <a:lnSpc>
                <a:spcPct val="125000"/>
              </a:lnSpc>
            </a:pPr>
            <a:r>
              <a:rPr sz="2600" b="1">
                <a:solidFill>
                  <a:srgbClr val="52BDEC"/>
                </a:solidFill>
                <a:latin typeface="Consolas"/>
              </a:rPr>
              <a:t>01</a:t>
            </a:r>
          </a:p>
        </p:txBody>
      </p:sp>
      <p:sp>
        <p:nvSpPr>
          <p:cNvPr id="7" name="TextBox 6"/>
          <p:cNvSpPr txBox="1"/>
          <p:nvPr/>
        </p:nvSpPr>
        <p:spPr>
          <a:xfrm>
            <a:off x="888977" y="2654233"/>
            <a:ext cx="4876551" cy="698482"/>
          </a:xfrm>
          <a:prstGeom prst="rect">
            <a:avLst/>
          </a:prstGeom>
          <a:noFill/>
        </p:spPr>
        <p:txBody>
          <a:bodyPr wrap="square" anchor="t" lIns="0" rIns="0" tIns="0" bIns="0">
            <a:spAutoFit/>
          </a:bodyPr>
          <a:lstStyle/>
          <a:p>
            <a:pPr algn="l">
              <a:lnSpc>
                <a:spcPct val="115000"/>
              </a:lnSpc>
            </a:pPr>
            <a:r>
              <a:rPr sz="2400" b="1">
                <a:solidFill>
                  <a:srgbClr val="F2F8FC"/>
                </a:solidFill>
                <a:latin typeface="Segoe UI"/>
              </a:rPr>
              <a:t>De zool háált de norm</a:t>
            </a:r>
          </a:p>
        </p:txBody>
      </p:sp>
      <p:sp>
        <p:nvSpPr>
          <p:cNvPr id="8" name="Rounded Rectangle 7"/>
          <p:cNvSpPr/>
          <p:nvPr/>
        </p:nvSpPr>
        <p:spPr>
          <a:xfrm>
            <a:off x="888977" y="3479713"/>
            <a:ext cx="4876551" cy="533386"/>
          </a:xfrm>
          <a:prstGeom prst="roundRect">
            <a:avLst>
              <a:gd name="adj" fmla="val 4500"/>
            </a:avLst>
          </a:prstGeom>
          <a:solidFill>
            <a:srgbClr val="174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8977" y="3632109"/>
            <a:ext cx="4876551" cy="304792"/>
          </a:xfrm>
          <a:prstGeom prst="rect">
            <a:avLst/>
          </a:prstGeom>
          <a:noFill/>
        </p:spPr>
        <p:txBody>
          <a:bodyPr wrap="square" anchor="t" lIns="0" rIns="0" tIns="0" bIns="0">
            <a:spAutoFit/>
          </a:bodyPr>
          <a:lstStyle/>
          <a:p>
            <a:pPr algn="ctr">
              <a:lnSpc>
                <a:spcPct val="125000"/>
              </a:lnSpc>
            </a:pPr>
            <a:r>
              <a:rPr sz="1800" b="1">
                <a:solidFill>
                  <a:srgbClr val="52BDEC"/>
                </a:solidFill>
                <a:latin typeface="Consolas"/>
              </a:rPr>
              <a:t>&lt; 200 kPa óf 25% lager</a:t>
            </a:r>
          </a:p>
        </p:txBody>
      </p:sp>
      <p:sp>
        <p:nvSpPr>
          <p:cNvPr id="10" name="TextBox 9"/>
          <p:cNvSpPr txBox="1"/>
          <p:nvPr/>
        </p:nvSpPr>
        <p:spPr>
          <a:xfrm>
            <a:off x="888977" y="4165495"/>
            <a:ext cx="4876551" cy="1516382"/>
          </a:xfrm>
          <a:prstGeom prst="rect">
            <a:avLst/>
          </a:prstGeom>
          <a:noFill/>
        </p:spPr>
        <p:txBody>
          <a:bodyPr wrap="square" anchor="t" lIns="0" rIns="0" tIns="0" bIns="0">
            <a:spAutoFit/>
          </a:bodyPr>
          <a:lstStyle/>
          <a:p>
            <a:pPr algn="l">
              <a:lnSpc>
                <a:spcPct val="132000"/>
              </a:lnSpc>
            </a:pPr>
            <a:r>
              <a:rPr sz="1450" b="0">
                <a:solidFill>
                  <a:srgbClr val="8FB6D0"/>
                </a:solidFill>
                <a:latin typeface="Segoe UI"/>
              </a:rPr>
              <a:t>Gemeten bij de aflevering.</a:t>
            </a:r>
          </a:p>
          <a:p>
            <a:pPr algn="l">
              <a:lnSpc>
                <a:spcPct val="132000"/>
              </a:lnSpc>
              <a:spcBef>
                <a:spcPts val="1200"/>
              </a:spcBef>
            </a:pPr>
            <a:r>
              <a:rPr sz="1450" b="0">
                <a:solidFill>
                  <a:srgbClr val="8FB6D0"/>
                </a:solidFill>
                <a:latin typeface="Segoe UI"/>
              </a:rPr>
              <a:t>Aangepast tot de norm gehaald is in elk van de drie doelregio's.</a:t>
            </a:r>
          </a:p>
          <a:p>
            <a:pPr algn="l">
              <a:lnSpc>
                <a:spcPct val="132000"/>
              </a:lnSpc>
              <a:spcBef>
                <a:spcPts val="1200"/>
              </a:spcBef>
            </a:pPr>
            <a:r>
              <a:rPr sz="1450" b="0">
                <a:solidFill>
                  <a:srgbClr val="8FB6D0"/>
                </a:solidFill>
                <a:latin typeface="Segoe UI"/>
              </a:rPr>
              <a:t>Herhaald op maand 6, 12 en 18.</a:t>
            </a:r>
          </a:p>
        </p:txBody>
      </p:sp>
      <p:sp>
        <p:nvSpPr>
          <p:cNvPr id="11" name="Rounded Rectangle 10"/>
          <p:cNvSpPr/>
          <p:nvPr/>
        </p:nvSpPr>
        <p:spPr>
          <a:xfrm>
            <a:off x="6171918" y="2031949"/>
            <a:ext cx="5384538" cy="3822604"/>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25912" y="2247843"/>
            <a:ext cx="1269968" cy="380990"/>
          </a:xfrm>
          <a:prstGeom prst="rect">
            <a:avLst/>
          </a:prstGeom>
          <a:noFill/>
        </p:spPr>
        <p:txBody>
          <a:bodyPr wrap="square" anchor="t" lIns="0" rIns="0" tIns="0" bIns="0">
            <a:spAutoFit/>
          </a:bodyPr>
          <a:lstStyle/>
          <a:p>
            <a:pPr algn="l">
              <a:lnSpc>
                <a:spcPct val="125000"/>
              </a:lnSpc>
            </a:pPr>
            <a:r>
              <a:rPr sz="2600" b="1">
                <a:solidFill>
                  <a:srgbClr val="52BDEC"/>
                </a:solidFill>
                <a:latin typeface="Consolas"/>
              </a:rPr>
              <a:t>02</a:t>
            </a:r>
          </a:p>
        </p:txBody>
      </p:sp>
      <p:sp>
        <p:nvSpPr>
          <p:cNvPr id="13" name="TextBox 12"/>
          <p:cNvSpPr txBox="1"/>
          <p:nvPr/>
        </p:nvSpPr>
        <p:spPr>
          <a:xfrm>
            <a:off x="6425912" y="2654233"/>
            <a:ext cx="4876551" cy="698482"/>
          </a:xfrm>
          <a:prstGeom prst="rect">
            <a:avLst/>
          </a:prstGeom>
          <a:noFill/>
        </p:spPr>
        <p:txBody>
          <a:bodyPr wrap="square" anchor="t" lIns="0" rIns="0" tIns="0" bIns="0">
            <a:spAutoFit/>
          </a:bodyPr>
          <a:lstStyle/>
          <a:p>
            <a:pPr algn="l">
              <a:lnSpc>
                <a:spcPct val="115000"/>
              </a:lnSpc>
            </a:pPr>
            <a:r>
              <a:rPr sz="2400" b="1">
                <a:solidFill>
                  <a:srgbClr val="F2F8FC"/>
                </a:solidFill>
                <a:latin typeface="Segoe UI"/>
              </a:rPr>
              <a:t>En hij wórdt gedragen</a:t>
            </a:r>
          </a:p>
        </p:txBody>
      </p:sp>
      <p:sp>
        <p:nvSpPr>
          <p:cNvPr id="14" name="Rounded Rectangle 13"/>
          <p:cNvSpPr/>
          <p:nvPr/>
        </p:nvSpPr>
        <p:spPr>
          <a:xfrm>
            <a:off x="6425912" y="3479713"/>
            <a:ext cx="4876551" cy="533386"/>
          </a:xfrm>
          <a:prstGeom prst="roundRect">
            <a:avLst>
              <a:gd name="adj" fmla="val 4500"/>
            </a:avLst>
          </a:prstGeom>
          <a:solidFill>
            <a:srgbClr val="174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25912" y="3632109"/>
            <a:ext cx="4876551" cy="304792"/>
          </a:xfrm>
          <a:prstGeom prst="rect">
            <a:avLst/>
          </a:prstGeom>
          <a:noFill/>
        </p:spPr>
        <p:txBody>
          <a:bodyPr wrap="square" anchor="t" lIns="0" rIns="0" tIns="0" bIns="0">
            <a:spAutoFit/>
          </a:bodyPr>
          <a:lstStyle/>
          <a:p>
            <a:pPr algn="ctr">
              <a:lnSpc>
                <a:spcPct val="125000"/>
              </a:lnSpc>
            </a:pPr>
            <a:r>
              <a:rPr sz="1800" b="1">
                <a:solidFill>
                  <a:srgbClr val="52BDEC"/>
                </a:solidFill>
                <a:latin typeface="Consolas"/>
              </a:rPr>
              <a:t>80% van de eigen waaktijd</a:t>
            </a:r>
          </a:p>
        </p:txBody>
      </p:sp>
      <p:sp>
        <p:nvSpPr>
          <p:cNvPr id="16" name="TextBox 15"/>
          <p:cNvSpPr txBox="1"/>
          <p:nvPr/>
        </p:nvSpPr>
        <p:spPr>
          <a:xfrm>
            <a:off x="6425912" y="4165495"/>
            <a:ext cx="4876551" cy="1516382"/>
          </a:xfrm>
          <a:prstGeom prst="rect">
            <a:avLst/>
          </a:prstGeom>
          <a:noFill/>
        </p:spPr>
        <p:txBody>
          <a:bodyPr wrap="square" anchor="t" lIns="0" rIns="0" tIns="0" bIns="0">
            <a:spAutoFit/>
          </a:bodyPr>
          <a:lstStyle/>
          <a:p>
            <a:pPr algn="l">
              <a:lnSpc>
                <a:spcPct val="132000"/>
              </a:lnSpc>
            </a:pPr>
            <a:r>
              <a:rPr sz="1450" b="0">
                <a:solidFill>
                  <a:srgbClr val="8FB6D0"/>
                </a:solidFill>
                <a:latin typeface="Segoe UI"/>
              </a:rPr>
              <a:t>Een sensor in de zool meet de draagtijd, continu.</a:t>
            </a:r>
          </a:p>
          <a:p>
            <a:pPr algn="l">
              <a:lnSpc>
                <a:spcPct val="132000"/>
              </a:lnSpc>
              <a:spcBef>
                <a:spcPts val="1200"/>
              </a:spcBef>
            </a:pPr>
            <a:r>
              <a:rPr sz="1450" b="0">
                <a:solidFill>
                  <a:srgbClr val="8FB6D0"/>
                </a:solidFill>
                <a:latin typeface="Segoe UI"/>
              </a:rPr>
              <a:t>Elke drie maanden uitgelezen en samen bekeken.</a:t>
            </a:r>
          </a:p>
          <a:p>
            <a:pPr algn="l">
              <a:lnSpc>
                <a:spcPct val="132000"/>
              </a:lnSpc>
              <a:spcBef>
                <a:spcPts val="1200"/>
              </a:spcBef>
            </a:pPr>
            <a:r>
              <a:rPr sz="1450" b="0">
                <a:solidFill>
                  <a:srgbClr val="8FB6D0"/>
                </a:solidFill>
                <a:latin typeface="Segoe UI"/>
              </a:rPr>
              <a:t>Vijf gesprekken die op die data steunen.</a:t>
            </a:r>
          </a:p>
        </p:txBody>
      </p:sp>
      <p:sp>
        <p:nvSpPr>
          <p:cNvPr id="17" name="TextBox 16"/>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08 / 28</a:t>
            </a:r>
          </a:p>
        </p:txBody>
      </p:sp>
      <p:pic>
        <p:nvPicPr>
          <p:cNvPr id="18"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19" name="TextBox 18"/>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Bron  6 · Bus 2011   |   7 · Bus 2020   |   17 · Waaijman 2014</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BASELINE · IN DE SCHOEN</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Elke sensor een cijfer</a:t>
            </a:r>
          </a:p>
        </p:txBody>
      </p:sp>
      <p:sp>
        <p:nvSpPr>
          <p:cNvPr id="5" name="!!p00_07"/>
          <p:cNvSpPr/>
          <p:nvPr/>
        </p:nvSpPr>
        <p:spPr>
          <a:xfrm>
            <a:off x="1585505" y="5645727"/>
            <a:ext cx="99157" cy="99157"/>
          </a:xfrm>
          <a:prstGeom prst="roundRect">
            <a:avLst>
              <a:gd name="adj" fmla="val 30000"/>
            </a:avLst>
          </a:prstGeom>
          <a:solidFill>
            <a:srgbClr val="1A7D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00_08"/>
          <p:cNvSpPr/>
          <p:nvPr/>
        </p:nvSpPr>
        <p:spPr>
          <a:xfrm>
            <a:off x="1744251" y="5645727"/>
            <a:ext cx="99157" cy="99157"/>
          </a:xfrm>
          <a:prstGeom prst="roundRect">
            <a:avLst>
              <a:gd name="adj" fmla="val 30000"/>
            </a:avLst>
          </a:prstGeom>
          <a:solidFill>
            <a:srgbClr val="2897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00_09"/>
          <p:cNvSpPr/>
          <p:nvPr/>
        </p:nvSpPr>
        <p:spPr>
          <a:xfrm>
            <a:off x="1902997" y="5645727"/>
            <a:ext cx="99157" cy="99157"/>
          </a:xfrm>
          <a:prstGeom prst="roundRect">
            <a:avLst>
              <a:gd name="adj" fmla="val 30000"/>
            </a:avLst>
          </a:prstGeom>
          <a:solidFill>
            <a:srgbClr val="2897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00_10"/>
          <p:cNvSpPr/>
          <p:nvPr/>
        </p:nvSpPr>
        <p:spPr>
          <a:xfrm>
            <a:off x="2061743" y="5645727"/>
            <a:ext cx="99157" cy="99157"/>
          </a:xfrm>
          <a:prstGeom prst="roundRect">
            <a:avLst>
              <a:gd name="adj" fmla="val 30000"/>
            </a:avLst>
          </a:prstGeom>
          <a:solidFill>
            <a:srgbClr val="1A7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01_06"/>
          <p:cNvSpPr/>
          <p:nvPr/>
        </p:nvSpPr>
        <p:spPr>
          <a:xfrm>
            <a:off x="1426759" y="5530427"/>
            <a:ext cx="99157" cy="99157"/>
          </a:xfrm>
          <a:prstGeom prst="roundRect">
            <a:avLst>
              <a:gd name="adj" fmla="val 30000"/>
            </a:avLst>
          </a:prstGeom>
          <a:solidFill>
            <a:srgbClr val="145D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01_07"/>
          <p:cNvSpPr/>
          <p:nvPr/>
        </p:nvSpPr>
        <p:spPr>
          <a:xfrm>
            <a:off x="1585505" y="5530427"/>
            <a:ext cx="99157" cy="99157"/>
          </a:xfrm>
          <a:prstGeom prst="roundRect">
            <a:avLst>
              <a:gd name="adj" fmla="val 30000"/>
            </a:avLst>
          </a:prstGeom>
          <a:solidFill>
            <a:srgbClr val="2191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01_08"/>
          <p:cNvSpPr/>
          <p:nvPr/>
        </p:nvSpPr>
        <p:spPr>
          <a:xfrm>
            <a:off x="1744251" y="5530427"/>
            <a:ext cx="99157" cy="99157"/>
          </a:xfrm>
          <a:prstGeom prst="roundRect">
            <a:avLst>
              <a:gd name="adj" fmla="val 30000"/>
            </a:avLst>
          </a:prstGeom>
          <a:solidFill>
            <a:srgbClr val="3BA9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01_09"/>
          <p:cNvSpPr/>
          <p:nvPr/>
        </p:nvSpPr>
        <p:spPr>
          <a:xfrm>
            <a:off x="1902997" y="5530427"/>
            <a:ext cx="99157" cy="99157"/>
          </a:xfrm>
          <a:prstGeom prst="roundRect">
            <a:avLst>
              <a:gd name="adj" fmla="val 30000"/>
            </a:avLst>
          </a:prstGeom>
          <a:solidFill>
            <a:srgbClr val="3BA8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01_10"/>
          <p:cNvSpPr/>
          <p:nvPr/>
        </p:nvSpPr>
        <p:spPr>
          <a:xfrm>
            <a:off x="2061743" y="5530427"/>
            <a:ext cx="99157" cy="99157"/>
          </a:xfrm>
          <a:prstGeom prst="roundRect">
            <a:avLst>
              <a:gd name="adj" fmla="val 30000"/>
            </a:avLst>
          </a:prstGeom>
          <a:solidFill>
            <a:srgbClr val="2191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01_11"/>
          <p:cNvSpPr/>
          <p:nvPr/>
        </p:nvSpPr>
        <p:spPr>
          <a:xfrm>
            <a:off x="2220489" y="5530427"/>
            <a:ext cx="99157" cy="99157"/>
          </a:xfrm>
          <a:prstGeom prst="roundRect">
            <a:avLst>
              <a:gd name="adj" fmla="val 30000"/>
            </a:avLst>
          </a:prstGeom>
          <a:solidFill>
            <a:srgbClr val="145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02_05"/>
          <p:cNvSpPr/>
          <p:nvPr/>
        </p:nvSpPr>
        <p:spPr>
          <a:xfrm>
            <a:off x="1268013" y="5415127"/>
            <a:ext cx="99157" cy="99157"/>
          </a:xfrm>
          <a:prstGeom prst="roundRect">
            <a:avLst>
              <a:gd name="adj" fmla="val 30000"/>
            </a:avLst>
          </a:prstGeom>
          <a:solidFill>
            <a:srgbClr val="0D3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02_06"/>
          <p:cNvSpPr/>
          <p:nvPr/>
        </p:nvSpPr>
        <p:spPr>
          <a:xfrm>
            <a:off x="1426759" y="5415127"/>
            <a:ext cx="99157" cy="99157"/>
          </a:xfrm>
          <a:prstGeom prst="roundRect">
            <a:avLst>
              <a:gd name="adj" fmla="val 30000"/>
            </a:avLst>
          </a:prstGeom>
          <a:solidFill>
            <a:srgbClr val="1669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02_07"/>
          <p:cNvSpPr/>
          <p:nvPr/>
        </p:nvSpPr>
        <p:spPr>
          <a:xfrm>
            <a:off x="1585505" y="5415127"/>
            <a:ext cx="99157" cy="99157"/>
          </a:xfrm>
          <a:prstGeom prst="roundRect">
            <a:avLst>
              <a:gd name="adj" fmla="val 30000"/>
            </a:avLst>
          </a:prstGeom>
          <a:solidFill>
            <a:srgbClr val="2D9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p02_08"/>
          <p:cNvSpPr/>
          <p:nvPr/>
        </p:nvSpPr>
        <p:spPr>
          <a:xfrm>
            <a:off x="1744251" y="5415127"/>
            <a:ext cx="99157" cy="99157"/>
          </a:xfrm>
          <a:prstGeom prst="roundRect">
            <a:avLst>
              <a:gd name="adj" fmla="val 30000"/>
            </a:avLst>
          </a:prstGeom>
          <a:solidFill>
            <a:srgbClr val="4AB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02_09"/>
          <p:cNvSpPr/>
          <p:nvPr/>
        </p:nvSpPr>
        <p:spPr>
          <a:xfrm>
            <a:off x="1902997" y="5415127"/>
            <a:ext cx="99157" cy="99157"/>
          </a:xfrm>
          <a:prstGeom prst="roundRect">
            <a:avLst>
              <a:gd name="adj" fmla="val 30000"/>
            </a:avLst>
          </a:prstGeom>
          <a:solidFill>
            <a:srgbClr val="4AB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p02_10"/>
          <p:cNvSpPr/>
          <p:nvPr/>
        </p:nvSpPr>
        <p:spPr>
          <a:xfrm>
            <a:off x="2061743" y="5415127"/>
            <a:ext cx="99157" cy="99157"/>
          </a:xfrm>
          <a:prstGeom prst="roundRect">
            <a:avLst>
              <a:gd name="adj" fmla="val 30000"/>
            </a:avLst>
          </a:prstGeom>
          <a:solidFill>
            <a:srgbClr val="2D9B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p02_11"/>
          <p:cNvSpPr/>
          <p:nvPr/>
        </p:nvSpPr>
        <p:spPr>
          <a:xfrm>
            <a:off x="2220489" y="5415127"/>
            <a:ext cx="99157" cy="99157"/>
          </a:xfrm>
          <a:prstGeom prst="roundRect">
            <a:avLst>
              <a:gd name="adj" fmla="val 30000"/>
            </a:avLst>
          </a:prstGeom>
          <a:solidFill>
            <a:srgbClr val="1668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p02_12"/>
          <p:cNvSpPr/>
          <p:nvPr/>
        </p:nvSpPr>
        <p:spPr>
          <a:xfrm>
            <a:off x="2379235" y="5415127"/>
            <a:ext cx="99157" cy="99157"/>
          </a:xfrm>
          <a:prstGeom prst="roundRect">
            <a:avLst>
              <a:gd name="adj" fmla="val 30000"/>
            </a:avLst>
          </a:prstGeom>
          <a:solidFill>
            <a:srgbClr val="0D3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p03_05"/>
          <p:cNvSpPr/>
          <p:nvPr/>
        </p:nvSpPr>
        <p:spPr>
          <a:xfrm>
            <a:off x="1268013" y="5299828"/>
            <a:ext cx="99157" cy="99157"/>
          </a:xfrm>
          <a:prstGeom prst="roundRect">
            <a:avLst>
              <a:gd name="adj" fmla="val 30000"/>
            </a:avLst>
          </a:prstGeom>
          <a:solidFill>
            <a:srgbClr val="0E3F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p03_06"/>
          <p:cNvSpPr/>
          <p:nvPr/>
        </p:nvSpPr>
        <p:spPr>
          <a:xfrm>
            <a:off x="1426759" y="5299828"/>
            <a:ext cx="99157" cy="99157"/>
          </a:xfrm>
          <a:prstGeom prst="roundRect">
            <a:avLst>
              <a:gd name="adj" fmla="val 30000"/>
            </a:avLst>
          </a:prstGeom>
          <a:solidFill>
            <a:srgbClr val="1871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p03_07"/>
          <p:cNvSpPr/>
          <p:nvPr/>
        </p:nvSpPr>
        <p:spPr>
          <a:xfrm>
            <a:off x="1585505" y="5299828"/>
            <a:ext cx="99157" cy="99157"/>
          </a:xfrm>
          <a:prstGeom prst="roundRect">
            <a:avLst>
              <a:gd name="adj" fmla="val 30000"/>
            </a:avLst>
          </a:prstGeom>
          <a:solidFill>
            <a:srgbClr val="34A2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p03_08"/>
          <p:cNvSpPr/>
          <p:nvPr/>
        </p:nvSpPr>
        <p:spPr>
          <a:xfrm>
            <a:off x="1744251" y="5299828"/>
            <a:ext cx="99157" cy="99157"/>
          </a:xfrm>
          <a:prstGeom prst="roundRect">
            <a:avLst>
              <a:gd name="adj" fmla="val 30000"/>
            </a:avLst>
          </a:prstGeom>
          <a:solidFill>
            <a:srgbClr val="54BD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p03_09"/>
          <p:cNvSpPr/>
          <p:nvPr/>
        </p:nvSpPr>
        <p:spPr>
          <a:xfrm>
            <a:off x="1902997" y="5299828"/>
            <a:ext cx="99157" cy="99157"/>
          </a:xfrm>
          <a:prstGeom prst="roundRect">
            <a:avLst>
              <a:gd name="adj" fmla="val 30000"/>
            </a:avLst>
          </a:prstGeom>
          <a:solidFill>
            <a:srgbClr val="54B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p03_10"/>
          <p:cNvSpPr/>
          <p:nvPr/>
        </p:nvSpPr>
        <p:spPr>
          <a:xfrm>
            <a:off x="2061743" y="5299828"/>
            <a:ext cx="99157" cy="99157"/>
          </a:xfrm>
          <a:prstGeom prst="roundRect">
            <a:avLst>
              <a:gd name="adj" fmla="val 30000"/>
            </a:avLst>
          </a:prstGeom>
          <a:solidFill>
            <a:srgbClr val="34A1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p03_11"/>
          <p:cNvSpPr/>
          <p:nvPr/>
        </p:nvSpPr>
        <p:spPr>
          <a:xfrm>
            <a:off x="2220489" y="5299828"/>
            <a:ext cx="99157" cy="99157"/>
          </a:xfrm>
          <a:prstGeom prst="roundRect">
            <a:avLst>
              <a:gd name="adj" fmla="val 30000"/>
            </a:avLst>
          </a:prstGeom>
          <a:solidFill>
            <a:srgbClr val="176F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p03_12"/>
          <p:cNvSpPr/>
          <p:nvPr/>
        </p:nvSpPr>
        <p:spPr>
          <a:xfrm>
            <a:off x="2379235" y="5299828"/>
            <a:ext cx="99157" cy="99157"/>
          </a:xfrm>
          <a:prstGeom prst="roundRect">
            <a:avLst>
              <a:gd name="adj" fmla="val 30000"/>
            </a:avLst>
          </a:prstGeom>
          <a:solidFill>
            <a:srgbClr val="0E3D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p04_05"/>
          <p:cNvSpPr/>
          <p:nvPr/>
        </p:nvSpPr>
        <p:spPr>
          <a:xfrm>
            <a:off x="1268013" y="5184528"/>
            <a:ext cx="99157" cy="99157"/>
          </a:xfrm>
          <a:prstGeom prst="roundRect">
            <a:avLst>
              <a:gd name="adj" fmla="val 30000"/>
            </a:avLst>
          </a:prstGeom>
          <a:solidFill>
            <a:srgbClr val="0E41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p04_06"/>
          <p:cNvSpPr/>
          <p:nvPr/>
        </p:nvSpPr>
        <p:spPr>
          <a:xfrm>
            <a:off x="1426759" y="5184528"/>
            <a:ext cx="99157" cy="99157"/>
          </a:xfrm>
          <a:prstGeom prst="roundRect">
            <a:avLst>
              <a:gd name="adj" fmla="val 30000"/>
            </a:avLst>
          </a:prstGeom>
          <a:solidFill>
            <a:srgbClr val="1873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p04_07"/>
          <p:cNvSpPr/>
          <p:nvPr/>
        </p:nvSpPr>
        <p:spPr>
          <a:xfrm>
            <a:off x="1585505" y="5184528"/>
            <a:ext cx="99157" cy="99157"/>
          </a:xfrm>
          <a:prstGeom prst="roundRect">
            <a:avLst>
              <a:gd name="adj" fmla="val 30000"/>
            </a:avLst>
          </a:prstGeom>
          <a:solidFill>
            <a:srgbClr val="35A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p04_08"/>
          <p:cNvSpPr/>
          <p:nvPr/>
        </p:nvSpPr>
        <p:spPr>
          <a:xfrm>
            <a:off x="1744251" y="5184528"/>
            <a:ext cx="99157" cy="99157"/>
          </a:xfrm>
          <a:prstGeom prst="roundRect">
            <a:avLst>
              <a:gd name="adj" fmla="val 30000"/>
            </a:avLst>
          </a:prstGeom>
          <a:solidFill>
            <a:srgbClr val="57B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p04_09"/>
          <p:cNvSpPr/>
          <p:nvPr/>
        </p:nvSpPr>
        <p:spPr>
          <a:xfrm>
            <a:off x="1902997" y="5184528"/>
            <a:ext cx="99157" cy="99157"/>
          </a:xfrm>
          <a:prstGeom prst="roundRect">
            <a:avLst>
              <a:gd name="adj" fmla="val 30000"/>
            </a:avLst>
          </a:prstGeom>
          <a:solidFill>
            <a:srgbClr val="57B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p04_10"/>
          <p:cNvSpPr/>
          <p:nvPr/>
        </p:nvSpPr>
        <p:spPr>
          <a:xfrm>
            <a:off x="2061743" y="5184528"/>
            <a:ext cx="99157" cy="99157"/>
          </a:xfrm>
          <a:prstGeom prst="roundRect">
            <a:avLst>
              <a:gd name="adj" fmla="val 30000"/>
            </a:avLst>
          </a:prstGeom>
          <a:solidFill>
            <a:srgbClr val="35A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p04_11"/>
          <p:cNvSpPr/>
          <p:nvPr/>
        </p:nvSpPr>
        <p:spPr>
          <a:xfrm>
            <a:off x="2220489" y="5184528"/>
            <a:ext cx="99157" cy="99157"/>
          </a:xfrm>
          <a:prstGeom prst="roundRect">
            <a:avLst>
              <a:gd name="adj" fmla="val 30000"/>
            </a:avLst>
          </a:prstGeom>
          <a:solidFill>
            <a:srgbClr val="1872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p04_12"/>
          <p:cNvSpPr/>
          <p:nvPr/>
        </p:nvSpPr>
        <p:spPr>
          <a:xfrm>
            <a:off x="2379235" y="5184528"/>
            <a:ext cx="99157" cy="99157"/>
          </a:xfrm>
          <a:prstGeom prst="roundRect">
            <a:avLst>
              <a:gd name="adj" fmla="val 30000"/>
            </a:avLst>
          </a:prstGeom>
          <a:solidFill>
            <a:srgbClr val="0E40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p05_05"/>
          <p:cNvSpPr/>
          <p:nvPr/>
        </p:nvSpPr>
        <p:spPr>
          <a:xfrm>
            <a:off x="1268013" y="5069228"/>
            <a:ext cx="99157" cy="99157"/>
          </a:xfrm>
          <a:prstGeom prst="roundRect">
            <a:avLst>
              <a:gd name="adj" fmla="val 30000"/>
            </a:avLst>
          </a:prstGeom>
          <a:solidFill>
            <a:srgbClr val="0E42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p05_06"/>
          <p:cNvSpPr/>
          <p:nvPr/>
        </p:nvSpPr>
        <p:spPr>
          <a:xfrm>
            <a:off x="1426759" y="5069228"/>
            <a:ext cx="99157" cy="99157"/>
          </a:xfrm>
          <a:prstGeom prst="roundRect">
            <a:avLst>
              <a:gd name="adj" fmla="val 30000"/>
            </a:avLst>
          </a:prstGeom>
          <a:solidFill>
            <a:srgbClr val="1770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p05_07"/>
          <p:cNvSpPr/>
          <p:nvPr/>
        </p:nvSpPr>
        <p:spPr>
          <a:xfrm>
            <a:off x="1585505" y="5069228"/>
            <a:ext cx="99157" cy="99157"/>
          </a:xfrm>
          <a:prstGeom prst="roundRect">
            <a:avLst>
              <a:gd name="adj" fmla="val 30000"/>
            </a:avLst>
          </a:prstGeom>
          <a:solidFill>
            <a:srgbClr val="319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p05_08"/>
          <p:cNvSpPr/>
          <p:nvPr/>
        </p:nvSpPr>
        <p:spPr>
          <a:xfrm>
            <a:off x="1744251" y="5069228"/>
            <a:ext cx="99157" cy="99157"/>
          </a:xfrm>
          <a:prstGeom prst="roundRect">
            <a:avLst>
              <a:gd name="adj" fmla="val 30000"/>
            </a:avLst>
          </a:prstGeom>
          <a:solidFill>
            <a:srgbClr val="4DB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p05_09"/>
          <p:cNvSpPr/>
          <p:nvPr/>
        </p:nvSpPr>
        <p:spPr>
          <a:xfrm>
            <a:off x="1902997" y="5069228"/>
            <a:ext cx="99157" cy="99157"/>
          </a:xfrm>
          <a:prstGeom prst="roundRect">
            <a:avLst>
              <a:gd name="adj" fmla="val 30000"/>
            </a:avLst>
          </a:prstGeom>
          <a:solidFill>
            <a:srgbClr val="4DB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p05_10"/>
          <p:cNvSpPr/>
          <p:nvPr/>
        </p:nvSpPr>
        <p:spPr>
          <a:xfrm>
            <a:off x="2061743" y="5069228"/>
            <a:ext cx="99157" cy="99157"/>
          </a:xfrm>
          <a:prstGeom prst="roundRect">
            <a:avLst>
              <a:gd name="adj" fmla="val 30000"/>
            </a:avLst>
          </a:prstGeom>
          <a:solidFill>
            <a:srgbClr val="319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p05_11"/>
          <p:cNvSpPr/>
          <p:nvPr/>
        </p:nvSpPr>
        <p:spPr>
          <a:xfrm>
            <a:off x="2220489" y="5069228"/>
            <a:ext cx="99157" cy="99157"/>
          </a:xfrm>
          <a:prstGeom prst="roundRect">
            <a:avLst>
              <a:gd name="adj" fmla="val 30000"/>
            </a:avLst>
          </a:prstGeom>
          <a:solidFill>
            <a:srgbClr val="1770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p05_12"/>
          <p:cNvSpPr/>
          <p:nvPr/>
        </p:nvSpPr>
        <p:spPr>
          <a:xfrm>
            <a:off x="2379235" y="5069228"/>
            <a:ext cx="99157" cy="99157"/>
          </a:xfrm>
          <a:prstGeom prst="roundRect">
            <a:avLst>
              <a:gd name="adj" fmla="val 30000"/>
            </a:avLst>
          </a:prstGeom>
          <a:solidFill>
            <a:srgbClr val="0E41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p06_05"/>
          <p:cNvSpPr/>
          <p:nvPr/>
        </p:nvSpPr>
        <p:spPr>
          <a:xfrm>
            <a:off x="1268013" y="4953928"/>
            <a:ext cx="99157" cy="99157"/>
          </a:xfrm>
          <a:prstGeom prst="roundRect">
            <a:avLst>
              <a:gd name="adj" fmla="val 30000"/>
            </a:avLst>
          </a:prstGeom>
          <a:solidFill>
            <a:srgbClr val="0E4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p06_06"/>
          <p:cNvSpPr/>
          <p:nvPr/>
        </p:nvSpPr>
        <p:spPr>
          <a:xfrm>
            <a:off x="1426759" y="4953928"/>
            <a:ext cx="99157" cy="99157"/>
          </a:xfrm>
          <a:prstGeom prst="roundRect">
            <a:avLst>
              <a:gd name="adj" fmla="val 30000"/>
            </a:avLst>
          </a:prstGeom>
          <a:solidFill>
            <a:srgbClr val="166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p06_07"/>
          <p:cNvSpPr/>
          <p:nvPr/>
        </p:nvSpPr>
        <p:spPr>
          <a:xfrm>
            <a:off x="1585505" y="4953928"/>
            <a:ext cx="99157" cy="99157"/>
          </a:xfrm>
          <a:prstGeom prst="roundRect">
            <a:avLst>
              <a:gd name="adj" fmla="val 30000"/>
            </a:avLst>
          </a:prstGeom>
          <a:solidFill>
            <a:srgbClr val="289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p06_08"/>
          <p:cNvSpPr/>
          <p:nvPr/>
        </p:nvSpPr>
        <p:spPr>
          <a:xfrm>
            <a:off x="1744251" y="4953928"/>
            <a:ext cx="99157" cy="99157"/>
          </a:xfrm>
          <a:prstGeom prst="roundRect">
            <a:avLst>
              <a:gd name="adj" fmla="val 30000"/>
            </a:avLst>
          </a:prstGeom>
          <a:solidFill>
            <a:srgbClr val="41A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p06_09"/>
          <p:cNvSpPr/>
          <p:nvPr/>
        </p:nvSpPr>
        <p:spPr>
          <a:xfrm>
            <a:off x="1902997" y="4953928"/>
            <a:ext cx="99157" cy="99157"/>
          </a:xfrm>
          <a:prstGeom prst="roundRect">
            <a:avLst>
              <a:gd name="adj" fmla="val 30000"/>
            </a:avLst>
          </a:prstGeom>
          <a:solidFill>
            <a:srgbClr val="42AE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p06_10"/>
          <p:cNvSpPr/>
          <p:nvPr/>
        </p:nvSpPr>
        <p:spPr>
          <a:xfrm>
            <a:off x="2061743" y="4953928"/>
            <a:ext cx="99157" cy="99157"/>
          </a:xfrm>
          <a:prstGeom prst="roundRect">
            <a:avLst>
              <a:gd name="adj" fmla="val 30000"/>
            </a:avLst>
          </a:prstGeom>
          <a:solidFill>
            <a:srgbClr val="299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p06_11"/>
          <p:cNvSpPr/>
          <p:nvPr/>
        </p:nvSpPr>
        <p:spPr>
          <a:xfrm>
            <a:off x="2220489" y="4953928"/>
            <a:ext cx="99157" cy="99157"/>
          </a:xfrm>
          <a:prstGeom prst="roundRect">
            <a:avLst>
              <a:gd name="adj" fmla="val 30000"/>
            </a:avLst>
          </a:prstGeom>
          <a:solidFill>
            <a:srgbClr val="176B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p06_12"/>
          <p:cNvSpPr/>
          <p:nvPr/>
        </p:nvSpPr>
        <p:spPr>
          <a:xfrm>
            <a:off x="2379235" y="4953928"/>
            <a:ext cx="99157" cy="99157"/>
          </a:xfrm>
          <a:prstGeom prst="roundRect">
            <a:avLst>
              <a:gd name="adj" fmla="val 30000"/>
            </a:avLst>
          </a:prstGeom>
          <a:solidFill>
            <a:srgbClr val="0E41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p07_05"/>
          <p:cNvSpPr/>
          <p:nvPr/>
        </p:nvSpPr>
        <p:spPr>
          <a:xfrm>
            <a:off x="1268013" y="4838629"/>
            <a:ext cx="99157" cy="99157"/>
          </a:xfrm>
          <a:prstGeom prst="roundRect">
            <a:avLst>
              <a:gd name="adj" fmla="val 30000"/>
            </a:avLst>
          </a:prstGeom>
          <a:solidFill>
            <a:srgbClr val="0E3E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p07_06"/>
          <p:cNvSpPr/>
          <p:nvPr/>
        </p:nvSpPr>
        <p:spPr>
          <a:xfrm>
            <a:off x="1426759" y="4838629"/>
            <a:ext cx="99157" cy="99157"/>
          </a:xfrm>
          <a:prstGeom prst="roundRect">
            <a:avLst>
              <a:gd name="adj" fmla="val 30000"/>
            </a:avLst>
          </a:prstGeom>
          <a:solidFill>
            <a:srgbClr val="14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p07_07"/>
          <p:cNvSpPr/>
          <p:nvPr/>
        </p:nvSpPr>
        <p:spPr>
          <a:xfrm>
            <a:off x="1585505" y="4838629"/>
            <a:ext cx="99157" cy="99157"/>
          </a:xfrm>
          <a:prstGeom prst="roundRect">
            <a:avLst>
              <a:gd name="adj" fmla="val 3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p07_08"/>
          <p:cNvSpPr/>
          <p:nvPr/>
        </p:nvSpPr>
        <p:spPr>
          <a:xfrm>
            <a:off x="1744251" y="4838629"/>
            <a:ext cx="99157" cy="99157"/>
          </a:xfrm>
          <a:prstGeom prst="roundRect">
            <a:avLst>
              <a:gd name="adj" fmla="val 30000"/>
            </a:avLst>
          </a:prstGeom>
          <a:solidFill>
            <a:srgbClr val="32A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p07_09"/>
          <p:cNvSpPr/>
          <p:nvPr/>
        </p:nvSpPr>
        <p:spPr>
          <a:xfrm>
            <a:off x="1902997" y="4838629"/>
            <a:ext cx="99157" cy="99157"/>
          </a:xfrm>
          <a:prstGeom prst="roundRect">
            <a:avLst>
              <a:gd name="adj" fmla="val 30000"/>
            </a:avLst>
          </a:prstGeom>
          <a:solidFill>
            <a:srgbClr val="33A1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p07_10"/>
          <p:cNvSpPr/>
          <p:nvPr/>
        </p:nvSpPr>
        <p:spPr>
          <a:xfrm>
            <a:off x="2061743" y="4838629"/>
            <a:ext cx="99157" cy="99157"/>
          </a:xfrm>
          <a:prstGeom prst="roundRect">
            <a:avLst>
              <a:gd name="adj" fmla="val 30000"/>
            </a:avLst>
          </a:prstGeom>
          <a:solidFill>
            <a:srgbClr val="1F8F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p07_11"/>
          <p:cNvSpPr/>
          <p:nvPr/>
        </p:nvSpPr>
        <p:spPr>
          <a:xfrm>
            <a:off x="2220489" y="4838629"/>
            <a:ext cx="99157" cy="99157"/>
          </a:xfrm>
          <a:prstGeom prst="roundRect">
            <a:avLst>
              <a:gd name="adj" fmla="val 30000"/>
            </a:avLst>
          </a:prstGeom>
          <a:solidFill>
            <a:srgbClr val="1565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p07_12"/>
          <p:cNvSpPr/>
          <p:nvPr/>
        </p:nvSpPr>
        <p:spPr>
          <a:xfrm>
            <a:off x="2379235" y="4838629"/>
            <a:ext cx="99157" cy="99157"/>
          </a:xfrm>
          <a:prstGeom prst="roundRect">
            <a:avLst>
              <a:gd name="adj" fmla="val 30000"/>
            </a:avLst>
          </a:prstGeom>
          <a:solidFill>
            <a:srgbClr val="0E4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p08_05"/>
          <p:cNvSpPr/>
          <p:nvPr/>
        </p:nvSpPr>
        <p:spPr>
          <a:xfrm>
            <a:off x="1268013" y="4723329"/>
            <a:ext cx="99157" cy="99157"/>
          </a:xfrm>
          <a:prstGeom prst="roundRect">
            <a:avLst>
              <a:gd name="adj" fmla="val 30000"/>
            </a:avLst>
          </a:prstGeom>
          <a:solidFill>
            <a:srgbClr val="0D3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p08_06"/>
          <p:cNvSpPr/>
          <p:nvPr/>
        </p:nvSpPr>
        <p:spPr>
          <a:xfrm>
            <a:off x="1426759" y="4723329"/>
            <a:ext cx="99157" cy="99157"/>
          </a:xfrm>
          <a:prstGeom prst="roundRect">
            <a:avLst>
              <a:gd name="adj" fmla="val 30000"/>
            </a:avLst>
          </a:prstGeom>
          <a:solidFill>
            <a:srgbClr val="135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p08_07"/>
          <p:cNvSpPr/>
          <p:nvPr/>
        </p:nvSpPr>
        <p:spPr>
          <a:xfrm>
            <a:off x="1585505" y="4723329"/>
            <a:ext cx="99157" cy="99157"/>
          </a:xfrm>
          <a:prstGeom prst="roundRect">
            <a:avLst>
              <a:gd name="adj" fmla="val 30000"/>
            </a:avLst>
          </a:prstGeom>
          <a:solidFill>
            <a:srgbClr val="197B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p08_08"/>
          <p:cNvSpPr/>
          <p:nvPr/>
        </p:nvSpPr>
        <p:spPr>
          <a:xfrm>
            <a:off x="1744251" y="4723329"/>
            <a:ext cx="99157" cy="99157"/>
          </a:xfrm>
          <a:prstGeom prst="roundRect">
            <a:avLst>
              <a:gd name="adj" fmla="val 30000"/>
            </a:avLst>
          </a:prstGeom>
          <a:solidFill>
            <a:srgbClr val="239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p08_09"/>
          <p:cNvSpPr/>
          <p:nvPr/>
        </p:nvSpPr>
        <p:spPr>
          <a:xfrm>
            <a:off x="1902997" y="4723329"/>
            <a:ext cx="99157" cy="99157"/>
          </a:xfrm>
          <a:prstGeom prst="roundRect">
            <a:avLst>
              <a:gd name="adj" fmla="val 30000"/>
            </a:avLst>
          </a:prstGeom>
          <a:solidFill>
            <a:srgbClr val="249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p08_10"/>
          <p:cNvSpPr/>
          <p:nvPr/>
        </p:nvSpPr>
        <p:spPr>
          <a:xfrm>
            <a:off x="2061743" y="4723329"/>
            <a:ext cx="99157" cy="99157"/>
          </a:xfrm>
          <a:prstGeom prst="roundRect">
            <a:avLst>
              <a:gd name="adj" fmla="val 30000"/>
            </a:avLst>
          </a:prstGeom>
          <a:solidFill>
            <a:srgbClr val="1B81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p08_11"/>
          <p:cNvSpPr/>
          <p:nvPr/>
        </p:nvSpPr>
        <p:spPr>
          <a:xfrm>
            <a:off x="2220489" y="4723329"/>
            <a:ext cx="99157" cy="99157"/>
          </a:xfrm>
          <a:prstGeom prst="roundRect">
            <a:avLst>
              <a:gd name="adj" fmla="val 30000"/>
            </a:avLst>
          </a:prstGeom>
          <a:solidFill>
            <a:srgbClr val="145E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p08_12"/>
          <p:cNvSpPr/>
          <p:nvPr/>
        </p:nvSpPr>
        <p:spPr>
          <a:xfrm>
            <a:off x="2379235" y="4723329"/>
            <a:ext cx="99157" cy="99157"/>
          </a:xfrm>
          <a:prstGeom prst="roundRect">
            <a:avLst>
              <a:gd name="adj" fmla="val 30000"/>
            </a:avLst>
          </a:prstGeom>
          <a:solidFill>
            <a:srgbClr val="0E40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p09_05"/>
          <p:cNvSpPr/>
          <p:nvPr/>
        </p:nvSpPr>
        <p:spPr>
          <a:xfrm>
            <a:off x="1268013" y="4608029"/>
            <a:ext cx="99157" cy="99157"/>
          </a:xfrm>
          <a:prstGeom prst="roundRect">
            <a:avLst>
              <a:gd name="adj" fmla="val 30000"/>
            </a:avLst>
          </a:prstGeom>
          <a:solidFill>
            <a:srgbClr val="0D3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p09_06"/>
          <p:cNvSpPr/>
          <p:nvPr/>
        </p:nvSpPr>
        <p:spPr>
          <a:xfrm>
            <a:off x="1426759" y="4608029"/>
            <a:ext cx="99157" cy="99157"/>
          </a:xfrm>
          <a:prstGeom prst="roundRect">
            <a:avLst>
              <a:gd name="adj" fmla="val 30000"/>
            </a:avLst>
          </a:prstGeom>
          <a:solidFill>
            <a:srgbClr val="114F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p09_07"/>
          <p:cNvSpPr/>
          <p:nvPr/>
        </p:nvSpPr>
        <p:spPr>
          <a:xfrm>
            <a:off x="1585505" y="4608029"/>
            <a:ext cx="99157" cy="99157"/>
          </a:xfrm>
          <a:prstGeom prst="roundRect">
            <a:avLst>
              <a:gd name="adj" fmla="val 30000"/>
            </a:avLst>
          </a:prstGeom>
          <a:solidFill>
            <a:srgbClr val="166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p09_08"/>
          <p:cNvSpPr/>
          <p:nvPr/>
        </p:nvSpPr>
        <p:spPr>
          <a:xfrm>
            <a:off x="1744251" y="4608029"/>
            <a:ext cx="99157" cy="99157"/>
          </a:xfrm>
          <a:prstGeom prst="roundRect">
            <a:avLst>
              <a:gd name="adj" fmla="val 30000"/>
            </a:avLst>
          </a:prstGeom>
          <a:solidFill>
            <a:srgbClr val="1B80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p09_09"/>
          <p:cNvSpPr/>
          <p:nvPr/>
        </p:nvSpPr>
        <p:spPr>
          <a:xfrm>
            <a:off x="1902997" y="4608029"/>
            <a:ext cx="99157" cy="99157"/>
          </a:xfrm>
          <a:prstGeom prst="roundRect">
            <a:avLst>
              <a:gd name="adj" fmla="val 30000"/>
            </a:avLst>
          </a:prstGeom>
          <a:solidFill>
            <a:srgbClr val="1B84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p09_10"/>
          <p:cNvSpPr/>
          <p:nvPr/>
        </p:nvSpPr>
        <p:spPr>
          <a:xfrm>
            <a:off x="2061743" y="4608029"/>
            <a:ext cx="99157" cy="99157"/>
          </a:xfrm>
          <a:prstGeom prst="roundRect">
            <a:avLst>
              <a:gd name="adj" fmla="val 30000"/>
            </a:avLst>
          </a:prstGeom>
          <a:solidFill>
            <a:srgbClr val="187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p09_11"/>
          <p:cNvSpPr/>
          <p:nvPr/>
        </p:nvSpPr>
        <p:spPr>
          <a:xfrm>
            <a:off x="2220489" y="4608029"/>
            <a:ext cx="99157" cy="99157"/>
          </a:xfrm>
          <a:prstGeom prst="roundRect">
            <a:avLst>
              <a:gd name="adj" fmla="val 30000"/>
            </a:avLst>
          </a:prstGeom>
          <a:solidFill>
            <a:srgbClr val="135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p09_12"/>
          <p:cNvSpPr/>
          <p:nvPr/>
        </p:nvSpPr>
        <p:spPr>
          <a:xfrm>
            <a:off x="2379235" y="4608029"/>
            <a:ext cx="99157" cy="99157"/>
          </a:xfrm>
          <a:prstGeom prst="roundRect">
            <a:avLst>
              <a:gd name="adj" fmla="val 30000"/>
            </a:avLst>
          </a:prstGeom>
          <a:solidFill>
            <a:srgbClr val="0E4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p10_06"/>
          <p:cNvSpPr/>
          <p:nvPr/>
        </p:nvSpPr>
        <p:spPr>
          <a:xfrm>
            <a:off x="1426759" y="4492729"/>
            <a:ext cx="99157" cy="99157"/>
          </a:xfrm>
          <a:prstGeom prst="roundRect">
            <a:avLst>
              <a:gd name="adj" fmla="val 30000"/>
            </a:avLst>
          </a:prstGeom>
          <a:solidFill>
            <a:srgbClr val="104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p10_07"/>
          <p:cNvSpPr/>
          <p:nvPr/>
        </p:nvSpPr>
        <p:spPr>
          <a:xfrm>
            <a:off x="1585505" y="4492729"/>
            <a:ext cx="99157" cy="99157"/>
          </a:xfrm>
          <a:prstGeom prst="roundRect">
            <a:avLst>
              <a:gd name="adj" fmla="val 30000"/>
            </a:avLst>
          </a:prstGeom>
          <a:solidFill>
            <a:srgbClr val="145D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p10_08"/>
          <p:cNvSpPr/>
          <p:nvPr/>
        </p:nvSpPr>
        <p:spPr>
          <a:xfrm>
            <a:off x="1744251" y="4492729"/>
            <a:ext cx="99157" cy="99157"/>
          </a:xfrm>
          <a:prstGeom prst="roundRect">
            <a:avLst>
              <a:gd name="adj" fmla="val 30000"/>
            </a:avLst>
          </a:prstGeom>
          <a:solidFill>
            <a:srgbClr val="176F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p10_09"/>
          <p:cNvSpPr/>
          <p:nvPr/>
        </p:nvSpPr>
        <p:spPr>
          <a:xfrm>
            <a:off x="1902997" y="4492729"/>
            <a:ext cx="99157" cy="99157"/>
          </a:xfrm>
          <a:prstGeom prst="roundRect">
            <a:avLst>
              <a:gd name="adj" fmla="val 30000"/>
            </a:avLst>
          </a:prstGeom>
          <a:solidFill>
            <a:srgbClr val="1875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p10_10"/>
          <p:cNvSpPr/>
          <p:nvPr/>
        </p:nvSpPr>
        <p:spPr>
          <a:xfrm>
            <a:off x="2061743" y="4492729"/>
            <a:ext cx="99157" cy="99157"/>
          </a:xfrm>
          <a:prstGeom prst="roundRect">
            <a:avLst>
              <a:gd name="adj" fmla="val 30000"/>
            </a:avLst>
          </a:prstGeom>
          <a:solidFill>
            <a:srgbClr val="166B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p10_11"/>
          <p:cNvSpPr/>
          <p:nvPr/>
        </p:nvSpPr>
        <p:spPr>
          <a:xfrm>
            <a:off x="2220489" y="4492729"/>
            <a:ext cx="99157" cy="99157"/>
          </a:xfrm>
          <a:prstGeom prst="roundRect">
            <a:avLst>
              <a:gd name="adj" fmla="val 30000"/>
            </a:avLst>
          </a:prstGeom>
          <a:solidFill>
            <a:srgbClr val="135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p10_12"/>
          <p:cNvSpPr/>
          <p:nvPr/>
        </p:nvSpPr>
        <p:spPr>
          <a:xfrm>
            <a:off x="2379235" y="4492729"/>
            <a:ext cx="99157" cy="99157"/>
          </a:xfrm>
          <a:prstGeom prst="roundRect">
            <a:avLst>
              <a:gd name="adj" fmla="val 30000"/>
            </a:avLst>
          </a:prstGeom>
          <a:solidFill>
            <a:srgbClr val="0F42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p11_06"/>
          <p:cNvSpPr/>
          <p:nvPr/>
        </p:nvSpPr>
        <p:spPr>
          <a:xfrm>
            <a:off x="1426759" y="4377430"/>
            <a:ext cx="99157" cy="99157"/>
          </a:xfrm>
          <a:prstGeom prst="roundRect">
            <a:avLst>
              <a:gd name="adj" fmla="val 30000"/>
            </a:avLst>
          </a:prstGeom>
          <a:solidFill>
            <a:srgbClr val="0F43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p11_07"/>
          <p:cNvSpPr/>
          <p:nvPr/>
        </p:nvSpPr>
        <p:spPr>
          <a:xfrm>
            <a:off x="1585505" y="4377430"/>
            <a:ext cx="99157" cy="99157"/>
          </a:xfrm>
          <a:prstGeom prst="roundRect">
            <a:avLst>
              <a:gd name="adj" fmla="val 30000"/>
            </a:avLst>
          </a:prstGeom>
          <a:solidFill>
            <a:srgbClr val="1254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p11_08"/>
          <p:cNvSpPr/>
          <p:nvPr/>
        </p:nvSpPr>
        <p:spPr>
          <a:xfrm>
            <a:off x="1744251" y="4377430"/>
            <a:ext cx="99157" cy="99157"/>
          </a:xfrm>
          <a:prstGeom prst="roundRect">
            <a:avLst>
              <a:gd name="adj" fmla="val 30000"/>
            </a:avLst>
          </a:prstGeom>
          <a:solidFill>
            <a:srgbClr val="1563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p11_09"/>
          <p:cNvSpPr/>
          <p:nvPr/>
        </p:nvSpPr>
        <p:spPr>
          <a:xfrm>
            <a:off x="1902997" y="4377430"/>
            <a:ext cx="99157" cy="99157"/>
          </a:xfrm>
          <a:prstGeom prst="roundRect">
            <a:avLst>
              <a:gd name="adj" fmla="val 30000"/>
            </a:avLst>
          </a:prstGeom>
          <a:solidFill>
            <a:srgbClr val="166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p11_10"/>
          <p:cNvSpPr/>
          <p:nvPr/>
        </p:nvSpPr>
        <p:spPr>
          <a:xfrm>
            <a:off x="2061743" y="4377430"/>
            <a:ext cx="99157" cy="99157"/>
          </a:xfrm>
          <a:prstGeom prst="roundRect">
            <a:avLst>
              <a:gd name="adj" fmla="val 30000"/>
            </a:avLst>
          </a:prstGeom>
          <a:solidFill>
            <a:srgbClr val="1566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p11_11"/>
          <p:cNvSpPr/>
          <p:nvPr/>
        </p:nvSpPr>
        <p:spPr>
          <a:xfrm>
            <a:off x="2220489" y="4377430"/>
            <a:ext cx="99157" cy="99157"/>
          </a:xfrm>
          <a:prstGeom prst="roundRect">
            <a:avLst>
              <a:gd name="adj" fmla="val 30000"/>
            </a:avLst>
          </a:prstGeom>
          <a:solidFill>
            <a:srgbClr val="135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p11_12"/>
          <p:cNvSpPr/>
          <p:nvPr/>
        </p:nvSpPr>
        <p:spPr>
          <a:xfrm>
            <a:off x="2379235" y="4377430"/>
            <a:ext cx="99157" cy="99157"/>
          </a:xfrm>
          <a:prstGeom prst="roundRect">
            <a:avLst>
              <a:gd name="adj" fmla="val 30000"/>
            </a:avLst>
          </a:prstGeom>
          <a:solidFill>
            <a:srgbClr val="0F45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p12_06"/>
          <p:cNvSpPr/>
          <p:nvPr/>
        </p:nvSpPr>
        <p:spPr>
          <a:xfrm>
            <a:off x="1426759" y="4262130"/>
            <a:ext cx="99157" cy="99157"/>
          </a:xfrm>
          <a:prstGeom prst="roundRect">
            <a:avLst>
              <a:gd name="adj" fmla="val 30000"/>
            </a:avLst>
          </a:prstGeom>
          <a:solidFill>
            <a:srgbClr val="0E4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p12_07"/>
          <p:cNvSpPr/>
          <p:nvPr/>
        </p:nvSpPr>
        <p:spPr>
          <a:xfrm>
            <a:off x="1585505" y="4262130"/>
            <a:ext cx="99157" cy="99157"/>
          </a:xfrm>
          <a:prstGeom prst="roundRect">
            <a:avLst>
              <a:gd name="adj" fmla="val 30000"/>
            </a:avLst>
          </a:prstGeom>
          <a:solidFill>
            <a:srgbClr val="114E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p12_08"/>
          <p:cNvSpPr/>
          <p:nvPr/>
        </p:nvSpPr>
        <p:spPr>
          <a:xfrm>
            <a:off x="1744251" y="4262130"/>
            <a:ext cx="99157" cy="99157"/>
          </a:xfrm>
          <a:prstGeom prst="roundRect">
            <a:avLst>
              <a:gd name="adj" fmla="val 30000"/>
            </a:avLst>
          </a:prstGeom>
          <a:solidFill>
            <a:srgbClr val="135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p12_09"/>
          <p:cNvSpPr/>
          <p:nvPr/>
        </p:nvSpPr>
        <p:spPr>
          <a:xfrm>
            <a:off x="1902997" y="4262130"/>
            <a:ext cx="99157" cy="99157"/>
          </a:xfrm>
          <a:prstGeom prst="roundRect">
            <a:avLst>
              <a:gd name="adj" fmla="val 30000"/>
            </a:avLst>
          </a:prstGeom>
          <a:solidFill>
            <a:srgbClr val="1565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p12_10"/>
          <p:cNvSpPr/>
          <p:nvPr/>
        </p:nvSpPr>
        <p:spPr>
          <a:xfrm>
            <a:off x="2061743" y="4262130"/>
            <a:ext cx="99157" cy="99157"/>
          </a:xfrm>
          <a:prstGeom prst="roundRect">
            <a:avLst>
              <a:gd name="adj" fmla="val 30000"/>
            </a:avLst>
          </a:prstGeom>
          <a:solidFill>
            <a:srgbClr val="156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p12_11"/>
          <p:cNvSpPr/>
          <p:nvPr/>
        </p:nvSpPr>
        <p:spPr>
          <a:xfrm>
            <a:off x="2220489" y="4262130"/>
            <a:ext cx="99157" cy="99157"/>
          </a:xfrm>
          <a:prstGeom prst="roundRect">
            <a:avLst>
              <a:gd name="adj" fmla="val 30000"/>
            </a:avLst>
          </a:prstGeom>
          <a:solidFill>
            <a:srgbClr val="1359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p12_12"/>
          <p:cNvSpPr/>
          <p:nvPr/>
        </p:nvSpPr>
        <p:spPr>
          <a:xfrm>
            <a:off x="2379235" y="4262130"/>
            <a:ext cx="99157" cy="99157"/>
          </a:xfrm>
          <a:prstGeom prst="roundRect">
            <a:avLst>
              <a:gd name="adj" fmla="val 30000"/>
            </a:avLst>
          </a:prstGeom>
          <a:solidFill>
            <a:srgbClr val="104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p13_06"/>
          <p:cNvSpPr/>
          <p:nvPr/>
        </p:nvSpPr>
        <p:spPr>
          <a:xfrm>
            <a:off x="1426759" y="4146830"/>
            <a:ext cx="99157" cy="99157"/>
          </a:xfrm>
          <a:prstGeom prst="roundRect">
            <a:avLst>
              <a:gd name="adj" fmla="val 30000"/>
            </a:avLst>
          </a:prstGeom>
          <a:solidFill>
            <a:srgbClr val="0E3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p13_07"/>
          <p:cNvSpPr/>
          <p:nvPr/>
        </p:nvSpPr>
        <p:spPr>
          <a:xfrm>
            <a:off x="1585505" y="4146830"/>
            <a:ext cx="99157" cy="99157"/>
          </a:xfrm>
          <a:prstGeom prst="roundRect">
            <a:avLst>
              <a:gd name="adj" fmla="val 30000"/>
            </a:avLst>
          </a:prstGeom>
          <a:solidFill>
            <a:srgbClr val="104B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p13_08"/>
          <p:cNvSpPr/>
          <p:nvPr/>
        </p:nvSpPr>
        <p:spPr>
          <a:xfrm>
            <a:off x="1744251" y="4146830"/>
            <a:ext cx="99157" cy="99157"/>
          </a:xfrm>
          <a:prstGeom prst="roundRect">
            <a:avLst>
              <a:gd name="adj" fmla="val 30000"/>
            </a:avLst>
          </a:prstGeom>
          <a:solidFill>
            <a:srgbClr val="1358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p13_09"/>
          <p:cNvSpPr/>
          <p:nvPr/>
        </p:nvSpPr>
        <p:spPr>
          <a:xfrm>
            <a:off x="1902997" y="4146830"/>
            <a:ext cx="99157" cy="99157"/>
          </a:xfrm>
          <a:prstGeom prst="roundRect">
            <a:avLst>
              <a:gd name="adj" fmla="val 30000"/>
            </a:avLst>
          </a:prstGeom>
          <a:solidFill>
            <a:srgbClr val="1562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p13_10"/>
          <p:cNvSpPr/>
          <p:nvPr/>
        </p:nvSpPr>
        <p:spPr>
          <a:xfrm>
            <a:off x="2061743" y="4146830"/>
            <a:ext cx="99157" cy="99157"/>
          </a:xfrm>
          <a:prstGeom prst="roundRect">
            <a:avLst>
              <a:gd name="adj" fmla="val 30000"/>
            </a:avLst>
          </a:prstGeom>
          <a:solidFill>
            <a:srgbClr val="156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p13_11"/>
          <p:cNvSpPr/>
          <p:nvPr/>
        </p:nvSpPr>
        <p:spPr>
          <a:xfrm>
            <a:off x="2220489" y="4146830"/>
            <a:ext cx="99157" cy="99157"/>
          </a:xfrm>
          <a:prstGeom prst="roundRect">
            <a:avLst>
              <a:gd name="adj" fmla="val 30000"/>
            </a:avLst>
          </a:prstGeom>
          <a:solidFill>
            <a:srgbClr val="135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p13_12"/>
          <p:cNvSpPr/>
          <p:nvPr/>
        </p:nvSpPr>
        <p:spPr>
          <a:xfrm>
            <a:off x="2379235" y="4146830"/>
            <a:ext cx="99157" cy="99157"/>
          </a:xfrm>
          <a:prstGeom prst="roundRect">
            <a:avLst>
              <a:gd name="adj" fmla="val 30000"/>
            </a:avLst>
          </a:prstGeom>
          <a:solidFill>
            <a:srgbClr val="104B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p14_06"/>
          <p:cNvSpPr/>
          <p:nvPr/>
        </p:nvSpPr>
        <p:spPr>
          <a:xfrm>
            <a:off x="1426759" y="4031530"/>
            <a:ext cx="99157" cy="99157"/>
          </a:xfrm>
          <a:prstGeom prst="roundRect">
            <a:avLst>
              <a:gd name="adj" fmla="val 30000"/>
            </a:avLst>
          </a:prstGeom>
          <a:solidFill>
            <a:srgbClr val="0E3E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p14_07"/>
          <p:cNvSpPr/>
          <p:nvPr/>
        </p:nvSpPr>
        <p:spPr>
          <a:xfrm>
            <a:off x="1585505" y="4031530"/>
            <a:ext cx="99157" cy="99157"/>
          </a:xfrm>
          <a:prstGeom prst="roundRect">
            <a:avLst>
              <a:gd name="adj" fmla="val 30000"/>
            </a:avLst>
          </a:prstGeom>
          <a:solidFill>
            <a:srgbClr val="1049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p14_08"/>
          <p:cNvSpPr/>
          <p:nvPr/>
        </p:nvSpPr>
        <p:spPr>
          <a:xfrm>
            <a:off x="1744251" y="4031530"/>
            <a:ext cx="99157" cy="99157"/>
          </a:xfrm>
          <a:prstGeom prst="roundRect">
            <a:avLst>
              <a:gd name="adj" fmla="val 30000"/>
            </a:avLst>
          </a:prstGeom>
          <a:solidFill>
            <a:srgbClr val="125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p14_09"/>
          <p:cNvSpPr/>
          <p:nvPr/>
        </p:nvSpPr>
        <p:spPr>
          <a:xfrm>
            <a:off x="1902997" y="4031530"/>
            <a:ext cx="99157" cy="99157"/>
          </a:xfrm>
          <a:prstGeom prst="roundRect">
            <a:avLst>
              <a:gd name="adj" fmla="val 30000"/>
            </a:avLst>
          </a:prstGeom>
          <a:solidFill>
            <a:srgbClr val="14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p14_10"/>
          <p:cNvSpPr/>
          <p:nvPr/>
        </p:nvSpPr>
        <p:spPr>
          <a:xfrm>
            <a:off x="2061743" y="4031530"/>
            <a:ext cx="99157" cy="99157"/>
          </a:xfrm>
          <a:prstGeom prst="roundRect">
            <a:avLst>
              <a:gd name="adj" fmla="val 30000"/>
            </a:avLst>
          </a:prstGeom>
          <a:solidFill>
            <a:srgbClr val="156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p14_11"/>
          <p:cNvSpPr/>
          <p:nvPr/>
        </p:nvSpPr>
        <p:spPr>
          <a:xfrm>
            <a:off x="2220489" y="4031530"/>
            <a:ext cx="99157" cy="99157"/>
          </a:xfrm>
          <a:prstGeom prst="roundRect">
            <a:avLst>
              <a:gd name="adj" fmla="val 30000"/>
            </a:avLst>
          </a:prstGeom>
          <a:solidFill>
            <a:srgbClr val="145D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p14_12"/>
          <p:cNvSpPr/>
          <p:nvPr/>
        </p:nvSpPr>
        <p:spPr>
          <a:xfrm>
            <a:off x="2379235" y="4031530"/>
            <a:ext cx="99157" cy="99157"/>
          </a:xfrm>
          <a:prstGeom prst="roundRect">
            <a:avLst>
              <a:gd name="adj" fmla="val 30000"/>
            </a:avLst>
          </a:prstGeom>
          <a:solidFill>
            <a:srgbClr val="114D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p15_07"/>
          <p:cNvSpPr/>
          <p:nvPr/>
        </p:nvSpPr>
        <p:spPr>
          <a:xfrm>
            <a:off x="1585505" y="3916231"/>
            <a:ext cx="99157" cy="99157"/>
          </a:xfrm>
          <a:prstGeom prst="roundRect">
            <a:avLst>
              <a:gd name="adj" fmla="val 30000"/>
            </a:avLst>
          </a:prstGeom>
          <a:solidFill>
            <a:srgbClr val="104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p15_08"/>
          <p:cNvSpPr/>
          <p:nvPr/>
        </p:nvSpPr>
        <p:spPr>
          <a:xfrm>
            <a:off x="1744251" y="3916231"/>
            <a:ext cx="99157" cy="99157"/>
          </a:xfrm>
          <a:prstGeom prst="roundRect">
            <a:avLst>
              <a:gd name="adj" fmla="val 30000"/>
            </a:avLst>
          </a:prstGeom>
          <a:solidFill>
            <a:srgbClr val="1254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p15_09"/>
          <p:cNvSpPr/>
          <p:nvPr/>
        </p:nvSpPr>
        <p:spPr>
          <a:xfrm>
            <a:off x="1902997" y="3916231"/>
            <a:ext cx="99157" cy="99157"/>
          </a:xfrm>
          <a:prstGeom prst="roundRect">
            <a:avLst>
              <a:gd name="adj" fmla="val 30000"/>
            </a:avLst>
          </a:prstGeom>
          <a:solidFill>
            <a:srgbClr val="145F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p15_10"/>
          <p:cNvSpPr/>
          <p:nvPr/>
        </p:nvSpPr>
        <p:spPr>
          <a:xfrm>
            <a:off x="2061743" y="3916231"/>
            <a:ext cx="99157" cy="99157"/>
          </a:xfrm>
          <a:prstGeom prst="roundRect">
            <a:avLst>
              <a:gd name="adj" fmla="val 30000"/>
            </a:avLst>
          </a:prstGeom>
          <a:solidFill>
            <a:srgbClr val="156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p15_11"/>
          <p:cNvSpPr/>
          <p:nvPr/>
        </p:nvSpPr>
        <p:spPr>
          <a:xfrm>
            <a:off x="2220489" y="3916231"/>
            <a:ext cx="99157" cy="99157"/>
          </a:xfrm>
          <a:prstGeom prst="roundRect">
            <a:avLst>
              <a:gd name="adj" fmla="val 30000"/>
            </a:avLst>
          </a:prstGeom>
          <a:solidFill>
            <a:srgbClr val="145D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p15_12"/>
          <p:cNvSpPr/>
          <p:nvPr/>
        </p:nvSpPr>
        <p:spPr>
          <a:xfrm>
            <a:off x="2379235" y="3916231"/>
            <a:ext cx="99157" cy="99157"/>
          </a:xfrm>
          <a:prstGeom prst="roundRect">
            <a:avLst>
              <a:gd name="adj" fmla="val 30000"/>
            </a:avLst>
          </a:prstGeom>
          <a:solidFill>
            <a:srgbClr val="114E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p15_13"/>
          <p:cNvSpPr/>
          <p:nvPr/>
        </p:nvSpPr>
        <p:spPr>
          <a:xfrm>
            <a:off x="2537981" y="3916231"/>
            <a:ext cx="99157" cy="99157"/>
          </a:xfrm>
          <a:prstGeom prst="roundRect">
            <a:avLst>
              <a:gd name="adj" fmla="val 30000"/>
            </a:avLst>
          </a:prstGeom>
          <a:solidFill>
            <a:srgbClr val="0D3C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p16_07"/>
          <p:cNvSpPr/>
          <p:nvPr/>
        </p:nvSpPr>
        <p:spPr>
          <a:xfrm>
            <a:off x="1585505" y="3800931"/>
            <a:ext cx="99157" cy="99157"/>
          </a:xfrm>
          <a:prstGeom prst="roundRect">
            <a:avLst>
              <a:gd name="adj" fmla="val 30000"/>
            </a:avLst>
          </a:prstGeom>
          <a:solidFill>
            <a:srgbClr val="1047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p16_08"/>
          <p:cNvSpPr/>
          <p:nvPr/>
        </p:nvSpPr>
        <p:spPr>
          <a:xfrm>
            <a:off x="1744251" y="3800931"/>
            <a:ext cx="99157" cy="99157"/>
          </a:xfrm>
          <a:prstGeom prst="roundRect">
            <a:avLst>
              <a:gd name="adj" fmla="val 30000"/>
            </a:avLst>
          </a:prstGeom>
          <a:solidFill>
            <a:srgbClr val="125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p16_09"/>
          <p:cNvSpPr/>
          <p:nvPr/>
        </p:nvSpPr>
        <p:spPr>
          <a:xfrm>
            <a:off x="1902997" y="3800931"/>
            <a:ext cx="99157" cy="99157"/>
          </a:xfrm>
          <a:prstGeom prst="roundRect">
            <a:avLst>
              <a:gd name="adj" fmla="val 30000"/>
            </a:avLst>
          </a:prstGeom>
          <a:solidFill>
            <a:srgbClr val="145D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p16_10"/>
          <p:cNvSpPr/>
          <p:nvPr/>
        </p:nvSpPr>
        <p:spPr>
          <a:xfrm>
            <a:off x="2061743" y="3800931"/>
            <a:ext cx="99157" cy="99157"/>
          </a:xfrm>
          <a:prstGeom prst="roundRect">
            <a:avLst>
              <a:gd name="adj" fmla="val 30000"/>
            </a:avLst>
          </a:prstGeom>
          <a:solidFill>
            <a:srgbClr val="1561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p16_11"/>
          <p:cNvSpPr/>
          <p:nvPr/>
        </p:nvSpPr>
        <p:spPr>
          <a:xfrm>
            <a:off x="2220489" y="3800931"/>
            <a:ext cx="99157" cy="99157"/>
          </a:xfrm>
          <a:prstGeom prst="roundRect">
            <a:avLst>
              <a:gd name="adj" fmla="val 30000"/>
            </a:avLst>
          </a:prstGeom>
          <a:solidFill>
            <a:srgbClr val="145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p16_12"/>
          <p:cNvSpPr/>
          <p:nvPr/>
        </p:nvSpPr>
        <p:spPr>
          <a:xfrm>
            <a:off x="2379235" y="3800931"/>
            <a:ext cx="99157" cy="99157"/>
          </a:xfrm>
          <a:prstGeom prst="roundRect">
            <a:avLst>
              <a:gd name="adj" fmla="val 30000"/>
            </a:avLst>
          </a:prstGeom>
          <a:solidFill>
            <a:srgbClr val="114D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p16_13"/>
          <p:cNvSpPr/>
          <p:nvPr/>
        </p:nvSpPr>
        <p:spPr>
          <a:xfrm>
            <a:off x="2537981" y="3800931"/>
            <a:ext cx="99157" cy="99157"/>
          </a:xfrm>
          <a:prstGeom prst="roundRect">
            <a:avLst>
              <a:gd name="adj" fmla="val 30000"/>
            </a:avLst>
          </a:prstGeom>
          <a:solidFill>
            <a:srgbClr val="0D3C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p17_07"/>
          <p:cNvSpPr/>
          <p:nvPr/>
        </p:nvSpPr>
        <p:spPr>
          <a:xfrm>
            <a:off x="1585505" y="3685631"/>
            <a:ext cx="99157" cy="99157"/>
          </a:xfrm>
          <a:prstGeom prst="roundRect">
            <a:avLst>
              <a:gd name="adj" fmla="val 30000"/>
            </a:avLst>
          </a:prstGeom>
          <a:solidFill>
            <a:srgbClr val="1047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p17_08"/>
          <p:cNvSpPr/>
          <p:nvPr/>
        </p:nvSpPr>
        <p:spPr>
          <a:xfrm>
            <a:off x="1744251" y="3685631"/>
            <a:ext cx="99157" cy="99157"/>
          </a:xfrm>
          <a:prstGeom prst="roundRect">
            <a:avLst>
              <a:gd name="adj" fmla="val 30000"/>
            </a:avLst>
          </a:prstGeom>
          <a:solidFill>
            <a:srgbClr val="1251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p17_09"/>
          <p:cNvSpPr/>
          <p:nvPr/>
        </p:nvSpPr>
        <p:spPr>
          <a:xfrm>
            <a:off x="1902997" y="3685631"/>
            <a:ext cx="99157" cy="99157"/>
          </a:xfrm>
          <a:prstGeom prst="roundRect">
            <a:avLst>
              <a:gd name="adj" fmla="val 30000"/>
            </a:avLst>
          </a:prstGeom>
          <a:solidFill>
            <a:srgbClr val="135A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p17_10"/>
          <p:cNvSpPr/>
          <p:nvPr/>
        </p:nvSpPr>
        <p:spPr>
          <a:xfrm>
            <a:off x="2061743" y="3685631"/>
            <a:ext cx="99157" cy="99157"/>
          </a:xfrm>
          <a:prstGeom prst="roundRect">
            <a:avLst>
              <a:gd name="adj" fmla="val 30000"/>
            </a:avLst>
          </a:prstGeom>
          <a:solidFill>
            <a:srgbClr val="145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p17_11"/>
          <p:cNvSpPr/>
          <p:nvPr/>
        </p:nvSpPr>
        <p:spPr>
          <a:xfrm>
            <a:off x="2220489" y="3685631"/>
            <a:ext cx="99157" cy="99157"/>
          </a:xfrm>
          <a:prstGeom prst="roundRect">
            <a:avLst>
              <a:gd name="adj" fmla="val 30000"/>
            </a:avLst>
          </a:prstGeom>
          <a:solidFill>
            <a:srgbClr val="135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p17_12"/>
          <p:cNvSpPr/>
          <p:nvPr/>
        </p:nvSpPr>
        <p:spPr>
          <a:xfrm>
            <a:off x="2379235" y="3685631"/>
            <a:ext cx="99157" cy="99157"/>
          </a:xfrm>
          <a:prstGeom prst="roundRect">
            <a:avLst>
              <a:gd name="adj" fmla="val 30000"/>
            </a:avLst>
          </a:prstGeom>
          <a:solidFill>
            <a:srgbClr val="114D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p17_13"/>
          <p:cNvSpPr/>
          <p:nvPr/>
        </p:nvSpPr>
        <p:spPr>
          <a:xfrm>
            <a:off x="2537981" y="3685631"/>
            <a:ext cx="99157" cy="99157"/>
          </a:xfrm>
          <a:prstGeom prst="roundRect">
            <a:avLst>
              <a:gd name="adj" fmla="val 30000"/>
            </a:avLst>
          </a:prstGeom>
          <a:solidFill>
            <a:srgbClr val="0D3C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p18_06"/>
          <p:cNvSpPr/>
          <p:nvPr/>
        </p:nvSpPr>
        <p:spPr>
          <a:xfrm>
            <a:off x="1426759" y="3570331"/>
            <a:ext cx="99157" cy="99157"/>
          </a:xfrm>
          <a:prstGeom prst="roundRect">
            <a:avLst>
              <a:gd name="adj" fmla="val 30000"/>
            </a:avLst>
          </a:prstGeom>
          <a:solidFill>
            <a:srgbClr val="0E4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p18_07"/>
          <p:cNvSpPr/>
          <p:nvPr/>
        </p:nvSpPr>
        <p:spPr>
          <a:xfrm>
            <a:off x="1585505" y="3570331"/>
            <a:ext cx="99157" cy="99157"/>
          </a:xfrm>
          <a:prstGeom prst="roundRect">
            <a:avLst>
              <a:gd name="adj" fmla="val 30000"/>
            </a:avLst>
          </a:prstGeom>
          <a:solidFill>
            <a:srgbClr val="104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p18_08"/>
          <p:cNvSpPr/>
          <p:nvPr/>
        </p:nvSpPr>
        <p:spPr>
          <a:xfrm>
            <a:off x="1744251" y="3570331"/>
            <a:ext cx="99157" cy="99157"/>
          </a:xfrm>
          <a:prstGeom prst="roundRect">
            <a:avLst>
              <a:gd name="adj" fmla="val 30000"/>
            </a:avLst>
          </a:prstGeom>
          <a:solidFill>
            <a:srgbClr val="125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p18_09"/>
          <p:cNvSpPr/>
          <p:nvPr/>
        </p:nvSpPr>
        <p:spPr>
          <a:xfrm>
            <a:off x="1902997" y="3570331"/>
            <a:ext cx="99157" cy="99157"/>
          </a:xfrm>
          <a:prstGeom prst="roundRect">
            <a:avLst>
              <a:gd name="adj" fmla="val 30000"/>
            </a:avLst>
          </a:prstGeom>
          <a:solidFill>
            <a:srgbClr val="135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p18_10"/>
          <p:cNvSpPr/>
          <p:nvPr/>
        </p:nvSpPr>
        <p:spPr>
          <a:xfrm>
            <a:off x="2061743" y="3570331"/>
            <a:ext cx="99157" cy="99157"/>
          </a:xfrm>
          <a:prstGeom prst="roundRect">
            <a:avLst>
              <a:gd name="adj" fmla="val 30000"/>
            </a:avLst>
          </a:prstGeom>
          <a:solidFill>
            <a:srgbClr val="135A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p18_11"/>
          <p:cNvSpPr/>
          <p:nvPr/>
        </p:nvSpPr>
        <p:spPr>
          <a:xfrm>
            <a:off x="2220489" y="3570331"/>
            <a:ext cx="99157" cy="99157"/>
          </a:xfrm>
          <a:prstGeom prst="roundRect">
            <a:avLst>
              <a:gd name="adj" fmla="val 30000"/>
            </a:avLst>
          </a:prstGeom>
          <a:solidFill>
            <a:srgbClr val="1359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p18_12"/>
          <p:cNvSpPr/>
          <p:nvPr/>
        </p:nvSpPr>
        <p:spPr>
          <a:xfrm>
            <a:off x="2379235" y="3570331"/>
            <a:ext cx="99157" cy="99157"/>
          </a:xfrm>
          <a:prstGeom prst="roundRect">
            <a:avLst>
              <a:gd name="adj" fmla="val 30000"/>
            </a:avLst>
          </a:prstGeom>
          <a:solidFill>
            <a:srgbClr val="1150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p18_13"/>
          <p:cNvSpPr/>
          <p:nvPr/>
        </p:nvSpPr>
        <p:spPr>
          <a:xfrm>
            <a:off x="2537981" y="3570331"/>
            <a:ext cx="99157" cy="99157"/>
          </a:xfrm>
          <a:prstGeom prst="roundRect">
            <a:avLst>
              <a:gd name="adj" fmla="val 30000"/>
            </a:avLst>
          </a:prstGeom>
          <a:solidFill>
            <a:srgbClr val="0E3E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p19_06"/>
          <p:cNvSpPr/>
          <p:nvPr/>
        </p:nvSpPr>
        <p:spPr>
          <a:xfrm>
            <a:off x="1426759" y="3455032"/>
            <a:ext cx="99157" cy="99157"/>
          </a:xfrm>
          <a:prstGeom prst="roundRect">
            <a:avLst>
              <a:gd name="adj" fmla="val 30000"/>
            </a:avLst>
          </a:prstGeom>
          <a:solidFill>
            <a:srgbClr val="0F4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p19_07"/>
          <p:cNvSpPr/>
          <p:nvPr/>
        </p:nvSpPr>
        <p:spPr>
          <a:xfrm>
            <a:off x="1585505" y="3455032"/>
            <a:ext cx="99157" cy="99157"/>
          </a:xfrm>
          <a:prstGeom prst="roundRect">
            <a:avLst>
              <a:gd name="adj" fmla="val 30000"/>
            </a:avLst>
          </a:prstGeom>
          <a:solidFill>
            <a:srgbClr val="125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p19_08"/>
          <p:cNvSpPr/>
          <p:nvPr/>
        </p:nvSpPr>
        <p:spPr>
          <a:xfrm>
            <a:off x="1744251" y="3455032"/>
            <a:ext cx="99157" cy="99157"/>
          </a:xfrm>
          <a:prstGeom prst="roundRect">
            <a:avLst>
              <a:gd name="adj" fmla="val 30000"/>
            </a:avLst>
          </a:prstGeom>
          <a:solidFill>
            <a:srgbClr val="135B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p19_09"/>
          <p:cNvSpPr/>
          <p:nvPr/>
        </p:nvSpPr>
        <p:spPr>
          <a:xfrm>
            <a:off x="1902997" y="3455032"/>
            <a:ext cx="99157" cy="99157"/>
          </a:xfrm>
          <a:prstGeom prst="roundRect">
            <a:avLst>
              <a:gd name="adj" fmla="val 30000"/>
            </a:avLst>
          </a:prstGeom>
          <a:solidFill>
            <a:srgbClr val="135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p19_10"/>
          <p:cNvSpPr/>
          <p:nvPr/>
        </p:nvSpPr>
        <p:spPr>
          <a:xfrm>
            <a:off x="2061743" y="3455032"/>
            <a:ext cx="99157" cy="99157"/>
          </a:xfrm>
          <a:prstGeom prst="roundRect">
            <a:avLst>
              <a:gd name="adj" fmla="val 30000"/>
            </a:avLst>
          </a:prstGeom>
          <a:solidFill>
            <a:srgbClr val="135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p19_11"/>
          <p:cNvSpPr/>
          <p:nvPr/>
        </p:nvSpPr>
        <p:spPr>
          <a:xfrm>
            <a:off x="2220489" y="3455032"/>
            <a:ext cx="99157" cy="99157"/>
          </a:xfrm>
          <a:prstGeom prst="roundRect">
            <a:avLst>
              <a:gd name="adj" fmla="val 30000"/>
            </a:avLst>
          </a:prstGeom>
          <a:solidFill>
            <a:srgbClr val="135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p19_12"/>
          <p:cNvSpPr/>
          <p:nvPr/>
        </p:nvSpPr>
        <p:spPr>
          <a:xfrm>
            <a:off x="2379235" y="3455032"/>
            <a:ext cx="99157" cy="99157"/>
          </a:xfrm>
          <a:prstGeom prst="roundRect">
            <a:avLst>
              <a:gd name="adj" fmla="val 30000"/>
            </a:avLst>
          </a:prstGeom>
          <a:solidFill>
            <a:srgbClr val="1359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p19_13"/>
          <p:cNvSpPr/>
          <p:nvPr/>
        </p:nvSpPr>
        <p:spPr>
          <a:xfrm>
            <a:off x="2537981" y="3455032"/>
            <a:ext cx="99157" cy="99157"/>
          </a:xfrm>
          <a:prstGeom prst="roundRect">
            <a:avLst>
              <a:gd name="adj" fmla="val 30000"/>
            </a:avLst>
          </a:prstGeom>
          <a:solidFill>
            <a:srgbClr val="0F4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p20_06"/>
          <p:cNvSpPr/>
          <p:nvPr/>
        </p:nvSpPr>
        <p:spPr>
          <a:xfrm>
            <a:off x="1426759" y="3339732"/>
            <a:ext cx="99157" cy="99157"/>
          </a:xfrm>
          <a:prstGeom prst="roundRect">
            <a:avLst>
              <a:gd name="adj" fmla="val 30000"/>
            </a:avLst>
          </a:prstGeom>
          <a:solidFill>
            <a:srgbClr val="1256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p20_07"/>
          <p:cNvSpPr/>
          <p:nvPr/>
        </p:nvSpPr>
        <p:spPr>
          <a:xfrm>
            <a:off x="1585505" y="3339732"/>
            <a:ext cx="99157" cy="99157"/>
          </a:xfrm>
          <a:prstGeom prst="roundRect">
            <a:avLst>
              <a:gd name="adj" fmla="val 30000"/>
            </a:avLst>
          </a:prstGeom>
          <a:solidFill>
            <a:srgbClr val="1770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p20_08"/>
          <p:cNvSpPr/>
          <p:nvPr/>
        </p:nvSpPr>
        <p:spPr>
          <a:xfrm>
            <a:off x="1744251" y="3339732"/>
            <a:ext cx="99157" cy="99157"/>
          </a:xfrm>
          <a:prstGeom prst="roundRect">
            <a:avLst>
              <a:gd name="adj" fmla="val 30000"/>
            </a:avLst>
          </a:prstGeom>
          <a:solidFill>
            <a:srgbClr val="1871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p20_09"/>
          <p:cNvSpPr/>
          <p:nvPr/>
        </p:nvSpPr>
        <p:spPr>
          <a:xfrm>
            <a:off x="1902997" y="3339732"/>
            <a:ext cx="99157" cy="99157"/>
          </a:xfrm>
          <a:prstGeom prst="roundRect">
            <a:avLst>
              <a:gd name="adj" fmla="val 30000"/>
            </a:avLst>
          </a:prstGeom>
          <a:solidFill>
            <a:srgbClr val="145D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p20_10"/>
          <p:cNvSpPr/>
          <p:nvPr/>
        </p:nvSpPr>
        <p:spPr>
          <a:xfrm>
            <a:off x="2061743" y="3339732"/>
            <a:ext cx="99157" cy="99157"/>
          </a:xfrm>
          <a:prstGeom prst="roundRect">
            <a:avLst>
              <a:gd name="adj" fmla="val 30000"/>
            </a:avLst>
          </a:prstGeom>
          <a:solidFill>
            <a:srgbClr val="135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p20_11"/>
          <p:cNvSpPr/>
          <p:nvPr/>
        </p:nvSpPr>
        <p:spPr>
          <a:xfrm>
            <a:off x="2220489" y="3339732"/>
            <a:ext cx="99157" cy="99157"/>
          </a:xfrm>
          <a:prstGeom prst="roundRect">
            <a:avLst>
              <a:gd name="adj" fmla="val 30000"/>
            </a:avLst>
          </a:prstGeom>
          <a:solidFill>
            <a:srgbClr val="156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p20_12"/>
          <p:cNvSpPr/>
          <p:nvPr/>
        </p:nvSpPr>
        <p:spPr>
          <a:xfrm>
            <a:off x="2379235" y="3339732"/>
            <a:ext cx="99157" cy="99157"/>
          </a:xfrm>
          <a:prstGeom prst="roundRect">
            <a:avLst>
              <a:gd name="adj" fmla="val 30000"/>
            </a:avLst>
          </a:prstGeom>
          <a:solidFill>
            <a:srgbClr val="176D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p20_13"/>
          <p:cNvSpPr/>
          <p:nvPr/>
        </p:nvSpPr>
        <p:spPr>
          <a:xfrm>
            <a:off x="2537981" y="3339732"/>
            <a:ext cx="99157" cy="99157"/>
          </a:xfrm>
          <a:prstGeom prst="roundRect">
            <a:avLst>
              <a:gd name="adj" fmla="val 30000"/>
            </a:avLst>
          </a:prstGeom>
          <a:solidFill>
            <a:srgbClr val="125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p21_05"/>
          <p:cNvSpPr/>
          <p:nvPr/>
        </p:nvSpPr>
        <p:spPr>
          <a:xfrm>
            <a:off x="1268013" y="3224432"/>
            <a:ext cx="99157" cy="99157"/>
          </a:xfrm>
          <a:prstGeom prst="roundRect">
            <a:avLst>
              <a:gd name="adj" fmla="val 30000"/>
            </a:avLst>
          </a:prstGeom>
          <a:solidFill>
            <a:srgbClr val="1358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p21_06"/>
          <p:cNvSpPr/>
          <p:nvPr/>
        </p:nvSpPr>
        <p:spPr>
          <a:xfrm>
            <a:off x="1426759" y="3224432"/>
            <a:ext cx="99157" cy="99157"/>
          </a:xfrm>
          <a:prstGeom prst="roundRect">
            <a:avLst>
              <a:gd name="adj" fmla="val 30000"/>
            </a:avLst>
          </a:prstGeom>
          <a:solidFill>
            <a:srgbClr val="1976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p21_07"/>
          <p:cNvSpPr/>
          <p:nvPr/>
        </p:nvSpPr>
        <p:spPr>
          <a:xfrm>
            <a:off x="1585505" y="3224432"/>
            <a:ext cx="99157" cy="99157"/>
          </a:xfrm>
          <a:prstGeom prst="roundRect">
            <a:avLst>
              <a:gd name="adj" fmla="val 30000"/>
            </a:avLst>
          </a:prstGeom>
          <a:solidFill>
            <a:srgbClr val="2B99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p21_08"/>
          <p:cNvSpPr/>
          <p:nvPr/>
        </p:nvSpPr>
        <p:spPr>
          <a:xfrm>
            <a:off x="1744251" y="3224432"/>
            <a:ext cx="99157" cy="99157"/>
          </a:xfrm>
          <a:prstGeom prst="roundRect">
            <a:avLst>
              <a:gd name="adj" fmla="val 30000"/>
            </a:avLst>
          </a:prstGeom>
          <a:solidFill>
            <a:srgbClr val="289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p21_09"/>
          <p:cNvSpPr/>
          <p:nvPr/>
        </p:nvSpPr>
        <p:spPr>
          <a:xfrm>
            <a:off x="1902997" y="3224432"/>
            <a:ext cx="99157" cy="99157"/>
          </a:xfrm>
          <a:prstGeom prst="roundRect">
            <a:avLst>
              <a:gd name="adj" fmla="val 30000"/>
            </a:avLst>
          </a:prstGeom>
          <a:solidFill>
            <a:srgbClr val="176D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p21_10"/>
          <p:cNvSpPr/>
          <p:nvPr/>
        </p:nvSpPr>
        <p:spPr>
          <a:xfrm>
            <a:off x="2061743" y="3224432"/>
            <a:ext cx="99157" cy="99157"/>
          </a:xfrm>
          <a:prstGeom prst="roundRect">
            <a:avLst>
              <a:gd name="adj" fmla="val 30000"/>
            </a:avLst>
          </a:prstGeom>
          <a:solidFill>
            <a:srgbClr val="135A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p21_11"/>
          <p:cNvSpPr/>
          <p:nvPr/>
        </p:nvSpPr>
        <p:spPr>
          <a:xfrm>
            <a:off x="2220489" y="3224432"/>
            <a:ext cx="99157" cy="99157"/>
          </a:xfrm>
          <a:prstGeom prst="roundRect">
            <a:avLst>
              <a:gd name="adj" fmla="val 30000"/>
            </a:avLst>
          </a:prstGeom>
          <a:solidFill>
            <a:srgbClr val="1873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p21_12"/>
          <p:cNvSpPr/>
          <p:nvPr/>
        </p:nvSpPr>
        <p:spPr>
          <a:xfrm>
            <a:off x="2379235" y="3224432"/>
            <a:ext cx="99157" cy="99157"/>
          </a:xfrm>
          <a:prstGeom prst="roundRect">
            <a:avLst>
              <a:gd name="adj" fmla="val 30000"/>
            </a:avLst>
          </a:prstGeom>
          <a:solidFill>
            <a:srgbClr val="1C8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p21_13"/>
          <p:cNvSpPr/>
          <p:nvPr/>
        </p:nvSpPr>
        <p:spPr>
          <a:xfrm>
            <a:off x="2537981" y="3224432"/>
            <a:ext cx="99157" cy="99157"/>
          </a:xfrm>
          <a:prstGeom prst="roundRect">
            <a:avLst>
              <a:gd name="adj" fmla="val 30000"/>
            </a:avLst>
          </a:prstGeom>
          <a:solidFill>
            <a:srgbClr val="166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p22_05"/>
          <p:cNvSpPr/>
          <p:nvPr/>
        </p:nvSpPr>
        <p:spPr>
          <a:xfrm>
            <a:off x="1268013" y="3109132"/>
            <a:ext cx="99157" cy="99157"/>
          </a:xfrm>
          <a:prstGeom prst="roundRect">
            <a:avLst>
              <a:gd name="adj" fmla="val 30000"/>
            </a:avLst>
          </a:prstGeom>
          <a:solidFill>
            <a:srgbClr val="1A7D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p22_06"/>
          <p:cNvSpPr/>
          <p:nvPr/>
        </p:nvSpPr>
        <p:spPr>
          <a:xfrm>
            <a:off x="1426759" y="3109132"/>
            <a:ext cx="99157" cy="99157"/>
          </a:xfrm>
          <a:prstGeom prst="roundRect">
            <a:avLst>
              <a:gd name="adj" fmla="val 30000"/>
            </a:avLst>
          </a:prstGeom>
          <a:solidFill>
            <a:srgbClr val="2F9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p22_07"/>
          <p:cNvSpPr/>
          <p:nvPr/>
        </p:nvSpPr>
        <p:spPr>
          <a:xfrm>
            <a:off x="1585505" y="3109132"/>
            <a:ext cx="99157" cy="99157"/>
          </a:xfrm>
          <a:prstGeom prst="roundRect">
            <a:avLst>
              <a:gd name="adj" fmla="val 30000"/>
            </a:avLst>
          </a:prstGeom>
          <a:solidFill>
            <a:srgbClr val="70C1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p22_08"/>
          <p:cNvSpPr/>
          <p:nvPr/>
        </p:nvSpPr>
        <p:spPr>
          <a:xfrm>
            <a:off x="1744251" y="3109132"/>
            <a:ext cx="99157" cy="99157"/>
          </a:xfrm>
          <a:prstGeom prst="roundRect">
            <a:avLst>
              <a:gd name="adj" fmla="val 30000"/>
            </a:avLst>
          </a:prstGeom>
          <a:solidFill>
            <a:srgbClr val="51BC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p22_09"/>
          <p:cNvSpPr/>
          <p:nvPr/>
        </p:nvSpPr>
        <p:spPr>
          <a:xfrm>
            <a:off x="1902997" y="3109132"/>
            <a:ext cx="99157" cy="99157"/>
          </a:xfrm>
          <a:prstGeom prst="roundRect">
            <a:avLst>
              <a:gd name="adj" fmla="val 30000"/>
            </a:avLst>
          </a:prstGeom>
          <a:solidFill>
            <a:srgbClr val="1B85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p22_10"/>
          <p:cNvSpPr/>
          <p:nvPr/>
        </p:nvSpPr>
        <p:spPr>
          <a:xfrm>
            <a:off x="2061743" y="3109132"/>
            <a:ext cx="99157" cy="99157"/>
          </a:xfrm>
          <a:prstGeom prst="roundRect">
            <a:avLst>
              <a:gd name="adj" fmla="val 30000"/>
            </a:avLst>
          </a:prstGeom>
          <a:solidFill>
            <a:srgbClr val="145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p22_11"/>
          <p:cNvSpPr/>
          <p:nvPr/>
        </p:nvSpPr>
        <p:spPr>
          <a:xfrm>
            <a:off x="2220489" y="3109132"/>
            <a:ext cx="99157" cy="99157"/>
          </a:xfrm>
          <a:prstGeom prst="roundRect">
            <a:avLst>
              <a:gd name="adj" fmla="val 30000"/>
            </a:avLst>
          </a:prstGeom>
          <a:solidFill>
            <a:srgbClr val="1B84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p22_12"/>
          <p:cNvSpPr/>
          <p:nvPr/>
        </p:nvSpPr>
        <p:spPr>
          <a:xfrm>
            <a:off x="2379235" y="3109132"/>
            <a:ext cx="99157" cy="99157"/>
          </a:xfrm>
          <a:prstGeom prst="roundRect">
            <a:avLst>
              <a:gd name="adj" fmla="val 30000"/>
            </a:avLst>
          </a:prstGeom>
          <a:solidFill>
            <a:srgbClr val="2E9D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p22_13"/>
          <p:cNvSpPr/>
          <p:nvPr/>
        </p:nvSpPr>
        <p:spPr>
          <a:xfrm>
            <a:off x="2537981" y="3109132"/>
            <a:ext cx="99157" cy="99157"/>
          </a:xfrm>
          <a:prstGeom prst="roundRect">
            <a:avLst>
              <a:gd name="adj" fmla="val 30000"/>
            </a:avLst>
          </a:prstGeom>
          <a:solidFill>
            <a:srgbClr val="1A80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p23_04"/>
          <p:cNvSpPr/>
          <p:nvPr/>
        </p:nvSpPr>
        <p:spPr>
          <a:xfrm>
            <a:off x="1109267" y="2993833"/>
            <a:ext cx="99157" cy="99157"/>
          </a:xfrm>
          <a:prstGeom prst="roundRect">
            <a:avLst>
              <a:gd name="adj" fmla="val 30000"/>
            </a:avLst>
          </a:prstGeom>
          <a:solidFill>
            <a:srgbClr val="1875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p23_05"/>
          <p:cNvSpPr/>
          <p:nvPr/>
        </p:nvSpPr>
        <p:spPr>
          <a:xfrm>
            <a:off x="1268013" y="2993833"/>
            <a:ext cx="99157" cy="99157"/>
          </a:xfrm>
          <a:prstGeom prst="roundRect">
            <a:avLst>
              <a:gd name="adj" fmla="val 30000"/>
            </a:avLst>
          </a:prstGeom>
          <a:solidFill>
            <a:srgbClr val="34A2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p23_06"/>
          <p:cNvSpPr/>
          <p:nvPr/>
        </p:nvSpPr>
        <p:spPr>
          <a:xfrm>
            <a:off x="1426759" y="2993833"/>
            <a:ext cx="99157" cy="99157"/>
          </a:xfrm>
          <a:prstGeom prst="roundRect">
            <a:avLst>
              <a:gd name="adj" fmla="val 30000"/>
            </a:avLst>
          </a:prstGeom>
          <a:solidFill>
            <a:srgbClr val="62BF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p23_07"/>
          <p:cNvSpPr/>
          <p:nvPr/>
        </p:nvSpPr>
        <p:spPr>
          <a:xfrm>
            <a:off x="1585505" y="2993833"/>
            <a:ext cx="99157" cy="99157"/>
          </a:xfrm>
          <a:prstGeom prst="roundRect">
            <a:avLst>
              <a:gd name="adj" fmla="val 30000"/>
            </a:avLst>
          </a:prstGeom>
          <a:solidFill>
            <a:srgbClr val="FFB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p23_08"/>
          <p:cNvSpPr/>
          <p:nvPr/>
        </p:nvSpPr>
        <p:spPr>
          <a:xfrm>
            <a:off x="1744251" y="2993833"/>
            <a:ext cx="99157" cy="99157"/>
          </a:xfrm>
          <a:prstGeom prst="roundRect">
            <a:avLst>
              <a:gd name="adj" fmla="val 30000"/>
            </a:avLst>
          </a:prstGeom>
          <a:solidFill>
            <a:srgbClr val="F4D1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p23_09"/>
          <p:cNvSpPr/>
          <p:nvPr/>
        </p:nvSpPr>
        <p:spPr>
          <a:xfrm>
            <a:off x="1902997" y="2993833"/>
            <a:ext cx="99157" cy="99157"/>
          </a:xfrm>
          <a:prstGeom prst="roundRect">
            <a:avLst>
              <a:gd name="adj" fmla="val 30000"/>
            </a:avLst>
          </a:prstGeom>
          <a:solidFill>
            <a:srgbClr val="299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p23_10"/>
          <p:cNvSpPr/>
          <p:nvPr/>
        </p:nvSpPr>
        <p:spPr>
          <a:xfrm>
            <a:off x="2061743" y="2993833"/>
            <a:ext cx="99157" cy="99157"/>
          </a:xfrm>
          <a:prstGeom prst="roundRect">
            <a:avLst>
              <a:gd name="adj" fmla="val 30000"/>
            </a:avLst>
          </a:prstGeom>
          <a:solidFill>
            <a:srgbClr val="156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p23_11"/>
          <p:cNvSpPr/>
          <p:nvPr/>
        </p:nvSpPr>
        <p:spPr>
          <a:xfrm>
            <a:off x="2220489" y="2993833"/>
            <a:ext cx="99157" cy="99157"/>
          </a:xfrm>
          <a:prstGeom prst="roundRect">
            <a:avLst>
              <a:gd name="adj" fmla="val 3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p23_12"/>
          <p:cNvSpPr/>
          <p:nvPr/>
        </p:nvSpPr>
        <p:spPr>
          <a:xfrm>
            <a:off x="2379235" y="2993833"/>
            <a:ext cx="99157" cy="99157"/>
          </a:xfrm>
          <a:prstGeom prst="roundRect">
            <a:avLst>
              <a:gd name="adj" fmla="val 30000"/>
            </a:avLst>
          </a:prstGeom>
          <a:solidFill>
            <a:srgbClr val="39A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p23_13"/>
          <p:cNvSpPr/>
          <p:nvPr/>
        </p:nvSpPr>
        <p:spPr>
          <a:xfrm>
            <a:off x="2537981" y="2993833"/>
            <a:ext cx="99157" cy="99157"/>
          </a:xfrm>
          <a:prstGeom prst="roundRect">
            <a:avLst>
              <a:gd name="adj" fmla="val 30000"/>
            </a:avLst>
          </a:prstGeom>
          <a:solidFill>
            <a:srgbClr val="1D8C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p23_14"/>
          <p:cNvSpPr/>
          <p:nvPr/>
        </p:nvSpPr>
        <p:spPr>
          <a:xfrm>
            <a:off x="2696727" y="2993833"/>
            <a:ext cx="99157" cy="99157"/>
          </a:xfrm>
          <a:prstGeom prst="roundRect">
            <a:avLst>
              <a:gd name="adj" fmla="val 30000"/>
            </a:avLst>
          </a:prstGeom>
          <a:solidFill>
            <a:srgbClr val="0F42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p24_04"/>
          <p:cNvSpPr/>
          <p:nvPr/>
        </p:nvSpPr>
        <p:spPr>
          <a:xfrm>
            <a:off x="1109267" y="2878533"/>
            <a:ext cx="99157" cy="99157"/>
          </a:xfrm>
          <a:prstGeom prst="roundRect">
            <a:avLst>
              <a:gd name="adj" fmla="val 30000"/>
            </a:avLst>
          </a:prstGeom>
          <a:solidFill>
            <a:srgbClr val="229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p24_05"/>
          <p:cNvSpPr/>
          <p:nvPr/>
        </p:nvSpPr>
        <p:spPr>
          <a:xfrm>
            <a:off x="1268013" y="2878533"/>
            <a:ext cx="99157" cy="99157"/>
          </a:xfrm>
          <a:prstGeom prst="roundRect">
            <a:avLst>
              <a:gd name="adj" fmla="val 30000"/>
            </a:avLst>
          </a:prstGeom>
          <a:solidFill>
            <a:srgbClr val="5DBE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p24_06"/>
          <p:cNvSpPr/>
          <p:nvPr/>
        </p:nvSpPr>
        <p:spPr>
          <a:xfrm>
            <a:off x="1426759" y="2878533"/>
            <a:ext cx="99157" cy="99157"/>
          </a:xfrm>
          <a:prstGeom prst="roundRect">
            <a:avLst>
              <a:gd name="adj" fmla="val 30000"/>
            </a:avLst>
          </a:prstGeom>
          <a:solidFill>
            <a:srgbClr val="DBCE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p24_07"/>
          <p:cNvSpPr/>
          <p:nvPr/>
        </p:nvSpPr>
        <p:spPr>
          <a:xfrm>
            <a:off x="1585505" y="2878533"/>
            <a:ext cx="99157" cy="99157"/>
          </a:xfrm>
          <a:prstGeom prst="roundRect">
            <a:avLst>
              <a:gd name="adj" fmla="val 30000"/>
            </a:avLst>
          </a:prstGeom>
          <a:solidFill>
            <a:srgbClr val="FF8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p24_08"/>
          <p:cNvSpPr/>
          <p:nvPr/>
        </p:nvSpPr>
        <p:spPr>
          <a:xfrm>
            <a:off x="1744251" y="2878533"/>
            <a:ext cx="99157" cy="99157"/>
          </a:xfrm>
          <a:prstGeom prst="roundRect">
            <a:avLst>
              <a:gd name="adj" fmla="val 30000"/>
            </a:avLst>
          </a:prstGeom>
          <a:solidFill>
            <a:srgbClr val="FFA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p24_09"/>
          <p:cNvSpPr/>
          <p:nvPr/>
        </p:nvSpPr>
        <p:spPr>
          <a:xfrm>
            <a:off x="1902997" y="2878533"/>
            <a:ext cx="99157" cy="99157"/>
          </a:xfrm>
          <a:prstGeom prst="roundRect">
            <a:avLst>
              <a:gd name="adj" fmla="val 30000"/>
            </a:avLst>
          </a:prstGeom>
          <a:solidFill>
            <a:srgbClr val="34A2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p24_10"/>
          <p:cNvSpPr/>
          <p:nvPr/>
        </p:nvSpPr>
        <p:spPr>
          <a:xfrm>
            <a:off x="2061743" y="2878533"/>
            <a:ext cx="99157" cy="99157"/>
          </a:xfrm>
          <a:prstGeom prst="roundRect">
            <a:avLst>
              <a:gd name="adj" fmla="val 30000"/>
            </a:avLst>
          </a:prstGeom>
          <a:solidFill>
            <a:srgbClr val="1563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p24_11"/>
          <p:cNvSpPr/>
          <p:nvPr/>
        </p:nvSpPr>
        <p:spPr>
          <a:xfrm>
            <a:off x="2220489" y="2878533"/>
            <a:ext cx="99157" cy="99157"/>
          </a:xfrm>
          <a:prstGeom prst="roundRect">
            <a:avLst>
              <a:gd name="adj" fmla="val 30000"/>
            </a:avLst>
          </a:prstGeom>
          <a:solidFill>
            <a:srgbClr val="1C88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p24_12"/>
          <p:cNvSpPr/>
          <p:nvPr/>
        </p:nvSpPr>
        <p:spPr>
          <a:xfrm>
            <a:off x="2379235" y="2878533"/>
            <a:ext cx="99157" cy="99157"/>
          </a:xfrm>
          <a:prstGeom prst="roundRect">
            <a:avLst>
              <a:gd name="adj" fmla="val 30000"/>
            </a:avLst>
          </a:prstGeom>
          <a:solidFill>
            <a:srgbClr val="36A4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p24_13"/>
          <p:cNvSpPr/>
          <p:nvPr/>
        </p:nvSpPr>
        <p:spPr>
          <a:xfrm>
            <a:off x="2537981" y="2878533"/>
            <a:ext cx="99157" cy="99157"/>
          </a:xfrm>
          <a:prstGeom prst="roundRect">
            <a:avLst>
              <a:gd name="adj" fmla="val 30000"/>
            </a:avLst>
          </a:prstGeom>
          <a:solidFill>
            <a:srgbClr val="1C8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p24_14"/>
          <p:cNvSpPr/>
          <p:nvPr/>
        </p:nvSpPr>
        <p:spPr>
          <a:xfrm>
            <a:off x="2696727" y="2878533"/>
            <a:ext cx="99157" cy="99157"/>
          </a:xfrm>
          <a:prstGeom prst="roundRect">
            <a:avLst>
              <a:gd name="adj" fmla="val 30000"/>
            </a:avLst>
          </a:prstGeom>
          <a:solidFill>
            <a:srgbClr val="0E3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p25_04"/>
          <p:cNvSpPr/>
          <p:nvPr/>
        </p:nvSpPr>
        <p:spPr>
          <a:xfrm>
            <a:off x="1109267" y="2763233"/>
            <a:ext cx="99157" cy="99157"/>
          </a:xfrm>
          <a:prstGeom prst="roundRect">
            <a:avLst>
              <a:gd name="adj" fmla="val 30000"/>
            </a:avLst>
          </a:prstGeom>
          <a:solidFill>
            <a:srgbClr val="2E9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p25_05"/>
          <p:cNvSpPr/>
          <p:nvPr/>
        </p:nvSpPr>
        <p:spPr>
          <a:xfrm>
            <a:off x="1268013" y="2763233"/>
            <a:ext cx="99157" cy="99157"/>
          </a:xfrm>
          <a:prstGeom prst="roundRect">
            <a:avLst>
              <a:gd name="adj" fmla="val 30000"/>
            </a:avLst>
          </a:prstGeom>
          <a:solidFill>
            <a:srgbClr val="9CC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p25_06"/>
          <p:cNvSpPr/>
          <p:nvPr/>
        </p:nvSpPr>
        <p:spPr>
          <a:xfrm>
            <a:off x="1426759" y="2763233"/>
            <a:ext cx="99157" cy="99157"/>
          </a:xfrm>
          <a:prstGeom prst="roundRect">
            <a:avLst>
              <a:gd name="adj" fmla="val 30000"/>
            </a:avLst>
          </a:prstGeom>
          <a:solidFill>
            <a:srgbClr val="FFD1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p25_07"/>
          <p:cNvSpPr/>
          <p:nvPr/>
        </p:nvSpPr>
        <p:spPr>
          <a:xfrm>
            <a:off x="1585505" y="2763233"/>
            <a:ext cx="99157" cy="99157"/>
          </a:xfrm>
          <a:prstGeom prst="roundRect">
            <a:avLst>
              <a:gd name="adj" fmla="val 30000"/>
            </a:avLst>
          </a:prstGeom>
          <a:solidFill>
            <a:srgbClr val="FF84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p25_08"/>
          <p:cNvSpPr/>
          <p:nvPr/>
        </p:nvSpPr>
        <p:spPr>
          <a:xfrm>
            <a:off x="1744251" y="2763233"/>
            <a:ext cx="99157" cy="99157"/>
          </a:xfrm>
          <a:prstGeom prst="roundRect">
            <a:avLst>
              <a:gd name="adj" fmla="val 30000"/>
            </a:avLst>
          </a:prstGeom>
          <a:solidFill>
            <a:srgbClr val="FFA9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p25_09"/>
          <p:cNvSpPr/>
          <p:nvPr/>
        </p:nvSpPr>
        <p:spPr>
          <a:xfrm>
            <a:off x="1902997" y="2763233"/>
            <a:ext cx="99157" cy="99157"/>
          </a:xfrm>
          <a:prstGeom prst="roundRect">
            <a:avLst>
              <a:gd name="adj" fmla="val 30000"/>
            </a:avLst>
          </a:prstGeom>
          <a:solidFill>
            <a:srgbClr val="32A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p25_10"/>
          <p:cNvSpPr/>
          <p:nvPr/>
        </p:nvSpPr>
        <p:spPr>
          <a:xfrm>
            <a:off x="2061743" y="2763233"/>
            <a:ext cx="99157" cy="99157"/>
          </a:xfrm>
          <a:prstGeom prst="roundRect">
            <a:avLst>
              <a:gd name="adj" fmla="val 30000"/>
            </a:avLst>
          </a:prstGeom>
          <a:solidFill>
            <a:srgbClr val="135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p25_11"/>
          <p:cNvSpPr/>
          <p:nvPr/>
        </p:nvSpPr>
        <p:spPr>
          <a:xfrm>
            <a:off x="2220489" y="2763233"/>
            <a:ext cx="99157" cy="99157"/>
          </a:xfrm>
          <a:prstGeom prst="roundRect">
            <a:avLst>
              <a:gd name="adj" fmla="val 30000"/>
            </a:avLst>
          </a:prstGeom>
          <a:solidFill>
            <a:srgbClr val="1876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p25_12"/>
          <p:cNvSpPr/>
          <p:nvPr/>
        </p:nvSpPr>
        <p:spPr>
          <a:xfrm>
            <a:off x="2379235" y="2763233"/>
            <a:ext cx="99157" cy="99157"/>
          </a:xfrm>
          <a:prstGeom prst="roundRect">
            <a:avLst>
              <a:gd name="adj" fmla="val 30000"/>
            </a:avLst>
          </a:prstGeom>
          <a:solidFill>
            <a:srgbClr val="2594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p25_13"/>
          <p:cNvSpPr/>
          <p:nvPr/>
        </p:nvSpPr>
        <p:spPr>
          <a:xfrm>
            <a:off x="2537981" y="2763233"/>
            <a:ext cx="99157" cy="99157"/>
          </a:xfrm>
          <a:prstGeom prst="roundRect">
            <a:avLst>
              <a:gd name="adj" fmla="val 30000"/>
            </a:avLst>
          </a:prstGeom>
          <a:solidFill>
            <a:srgbClr val="1875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p25_14"/>
          <p:cNvSpPr/>
          <p:nvPr/>
        </p:nvSpPr>
        <p:spPr>
          <a:xfrm>
            <a:off x="2696727" y="2763233"/>
            <a:ext cx="99157" cy="99157"/>
          </a:xfrm>
          <a:prstGeom prst="roundRect">
            <a:avLst>
              <a:gd name="adj" fmla="val 30000"/>
            </a:avLst>
          </a:prstGeom>
          <a:solidFill>
            <a:srgbClr val="0D3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p26_03"/>
          <p:cNvSpPr/>
          <p:nvPr/>
        </p:nvSpPr>
        <p:spPr>
          <a:xfrm>
            <a:off x="950521" y="2647933"/>
            <a:ext cx="99157" cy="99157"/>
          </a:xfrm>
          <a:prstGeom prst="roundRect">
            <a:avLst>
              <a:gd name="adj" fmla="val 30000"/>
            </a:avLst>
          </a:prstGeom>
          <a:solidFill>
            <a:srgbClr val="0E41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p26_04"/>
          <p:cNvSpPr/>
          <p:nvPr/>
        </p:nvSpPr>
        <p:spPr>
          <a:xfrm>
            <a:off x="1109267" y="2647933"/>
            <a:ext cx="99157" cy="99157"/>
          </a:xfrm>
          <a:prstGeom prst="roundRect">
            <a:avLst>
              <a:gd name="adj" fmla="val 30000"/>
            </a:avLst>
          </a:prstGeom>
          <a:solidFill>
            <a:srgbClr val="299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p26_05"/>
          <p:cNvSpPr/>
          <p:nvPr/>
        </p:nvSpPr>
        <p:spPr>
          <a:xfrm>
            <a:off x="1268013" y="2647933"/>
            <a:ext cx="99157" cy="99157"/>
          </a:xfrm>
          <a:prstGeom prst="roundRect">
            <a:avLst>
              <a:gd name="adj" fmla="val 30000"/>
            </a:avLst>
          </a:prstGeom>
          <a:solidFill>
            <a:srgbClr val="7DC2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p26_06"/>
          <p:cNvSpPr/>
          <p:nvPr/>
        </p:nvSpPr>
        <p:spPr>
          <a:xfrm>
            <a:off x="1426759" y="2647933"/>
            <a:ext cx="99157" cy="99157"/>
          </a:xfrm>
          <a:prstGeom prst="roundRect">
            <a:avLst>
              <a:gd name="adj" fmla="val 30000"/>
            </a:avLst>
          </a:prstGeom>
          <a:solidFill>
            <a:srgbClr val="BDC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p26_07"/>
          <p:cNvSpPr/>
          <p:nvPr/>
        </p:nvSpPr>
        <p:spPr>
          <a:xfrm>
            <a:off x="1585505" y="2647933"/>
            <a:ext cx="99157" cy="99157"/>
          </a:xfrm>
          <a:prstGeom prst="roundRect">
            <a:avLst>
              <a:gd name="adj" fmla="val 30000"/>
            </a:avLst>
          </a:prstGeom>
          <a:solidFill>
            <a:srgbClr val="FFB3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p26_08"/>
          <p:cNvSpPr/>
          <p:nvPr/>
        </p:nvSpPr>
        <p:spPr>
          <a:xfrm>
            <a:off x="1744251" y="2647933"/>
            <a:ext cx="99157" cy="99157"/>
          </a:xfrm>
          <a:prstGeom prst="roundRect">
            <a:avLst>
              <a:gd name="adj" fmla="val 30000"/>
            </a:avLst>
          </a:prstGeom>
          <a:solidFill>
            <a:srgbClr val="F7D1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p26_09"/>
          <p:cNvSpPr/>
          <p:nvPr/>
        </p:nvSpPr>
        <p:spPr>
          <a:xfrm>
            <a:off x="1902997" y="2647933"/>
            <a:ext cx="99157" cy="99157"/>
          </a:xfrm>
          <a:prstGeom prst="roundRect">
            <a:avLst>
              <a:gd name="adj" fmla="val 30000"/>
            </a:avLst>
          </a:prstGeom>
          <a:solidFill>
            <a:srgbClr val="249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p26_10"/>
          <p:cNvSpPr/>
          <p:nvPr/>
        </p:nvSpPr>
        <p:spPr>
          <a:xfrm>
            <a:off x="2061743" y="2647933"/>
            <a:ext cx="99157" cy="99157"/>
          </a:xfrm>
          <a:prstGeom prst="roundRect">
            <a:avLst>
              <a:gd name="adj" fmla="val 30000"/>
            </a:avLst>
          </a:prstGeom>
          <a:solidFill>
            <a:srgbClr val="114F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p26_11"/>
          <p:cNvSpPr/>
          <p:nvPr/>
        </p:nvSpPr>
        <p:spPr>
          <a:xfrm>
            <a:off x="2220489" y="2647933"/>
            <a:ext cx="99157" cy="99157"/>
          </a:xfrm>
          <a:prstGeom prst="roundRect">
            <a:avLst>
              <a:gd name="adj" fmla="val 30000"/>
            </a:avLst>
          </a:prstGeom>
          <a:solidFill>
            <a:srgbClr val="145D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p26_12"/>
          <p:cNvSpPr/>
          <p:nvPr/>
        </p:nvSpPr>
        <p:spPr>
          <a:xfrm>
            <a:off x="2379235" y="2647933"/>
            <a:ext cx="99157" cy="99157"/>
          </a:xfrm>
          <a:prstGeom prst="roundRect">
            <a:avLst>
              <a:gd name="adj" fmla="val 30000"/>
            </a:avLst>
          </a:prstGeom>
          <a:solidFill>
            <a:srgbClr val="187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p26_13"/>
          <p:cNvSpPr/>
          <p:nvPr/>
        </p:nvSpPr>
        <p:spPr>
          <a:xfrm>
            <a:off x="2537981" y="2647933"/>
            <a:ext cx="99157" cy="99157"/>
          </a:xfrm>
          <a:prstGeom prst="roundRect">
            <a:avLst>
              <a:gd name="adj" fmla="val 30000"/>
            </a:avLst>
          </a:prstGeom>
          <a:solidFill>
            <a:srgbClr val="1359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p26_14"/>
          <p:cNvSpPr/>
          <p:nvPr/>
        </p:nvSpPr>
        <p:spPr>
          <a:xfrm>
            <a:off x="2696727" y="2647933"/>
            <a:ext cx="99157" cy="99157"/>
          </a:xfrm>
          <a:prstGeom prst="roundRect">
            <a:avLst>
              <a:gd name="adj" fmla="val 30000"/>
            </a:avLst>
          </a:prstGeom>
          <a:solidFill>
            <a:srgbClr val="0C3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p27_03"/>
          <p:cNvSpPr/>
          <p:nvPr/>
        </p:nvSpPr>
        <p:spPr>
          <a:xfrm>
            <a:off x="950521" y="2532634"/>
            <a:ext cx="99157" cy="99157"/>
          </a:xfrm>
          <a:prstGeom prst="roundRect">
            <a:avLst>
              <a:gd name="adj" fmla="val 30000"/>
            </a:avLst>
          </a:prstGeom>
          <a:solidFill>
            <a:srgbClr val="0D3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p27_04"/>
          <p:cNvSpPr/>
          <p:nvPr/>
        </p:nvSpPr>
        <p:spPr>
          <a:xfrm>
            <a:off x="1109267" y="2532634"/>
            <a:ext cx="99157" cy="99157"/>
          </a:xfrm>
          <a:prstGeom prst="roundRect">
            <a:avLst>
              <a:gd name="adj" fmla="val 30000"/>
            </a:avLst>
          </a:prstGeom>
          <a:solidFill>
            <a:srgbClr val="1B84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p27_05"/>
          <p:cNvSpPr/>
          <p:nvPr/>
        </p:nvSpPr>
        <p:spPr>
          <a:xfrm>
            <a:off x="1268013" y="2532634"/>
            <a:ext cx="99157" cy="99157"/>
          </a:xfrm>
          <a:prstGeom prst="roundRect">
            <a:avLst>
              <a:gd name="adj" fmla="val 30000"/>
            </a:avLst>
          </a:prstGeom>
          <a:solidFill>
            <a:srgbClr val="40AC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p27_06"/>
          <p:cNvSpPr/>
          <p:nvPr/>
        </p:nvSpPr>
        <p:spPr>
          <a:xfrm>
            <a:off x="1426759" y="2532634"/>
            <a:ext cx="99157" cy="99157"/>
          </a:xfrm>
          <a:prstGeom prst="roundRect">
            <a:avLst>
              <a:gd name="adj" fmla="val 30000"/>
            </a:avLst>
          </a:prstGeom>
          <a:solidFill>
            <a:srgbClr val="48B4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p27_07"/>
          <p:cNvSpPr/>
          <p:nvPr/>
        </p:nvSpPr>
        <p:spPr>
          <a:xfrm>
            <a:off x="1585505" y="2532634"/>
            <a:ext cx="99157" cy="99157"/>
          </a:xfrm>
          <a:prstGeom prst="roundRect">
            <a:avLst>
              <a:gd name="adj" fmla="val 30000"/>
            </a:avLst>
          </a:prstGeom>
          <a:solidFill>
            <a:srgbClr val="85C3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p27_08"/>
          <p:cNvSpPr/>
          <p:nvPr/>
        </p:nvSpPr>
        <p:spPr>
          <a:xfrm>
            <a:off x="1744251" y="2532634"/>
            <a:ext cx="99157" cy="99157"/>
          </a:xfrm>
          <a:prstGeom prst="roundRect">
            <a:avLst>
              <a:gd name="adj" fmla="val 30000"/>
            </a:avLst>
          </a:prstGeom>
          <a:solidFill>
            <a:srgbClr val="4FB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p27_09"/>
          <p:cNvSpPr/>
          <p:nvPr/>
        </p:nvSpPr>
        <p:spPr>
          <a:xfrm>
            <a:off x="1902997" y="2532634"/>
            <a:ext cx="99157" cy="99157"/>
          </a:xfrm>
          <a:prstGeom prst="roundRect">
            <a:avLst>
              <a:gd name="adj" fmla="val 30000"/>
            </a:avLst>
          </a:prstGeom>
          <a:solidFill>
            <a:srgbClr val="1976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p27_10"/>
          <p:cNvSpPr/>
          <p:nvPr/>
        </p:nvSpPr>
        <p:spPr>
          <a:xfrm>
            <a:off x="2061743" y="2532634"/>
            <a:ext cx="99157" cy="99157"/>
          </a:xfrm>
          <a:prstGeom prst="roundRect">
            <a:avLst>
              <a:gd name="adj" fmla="val 30000"/>
            </a:avLst>
          </a:prstGeom>
          <a:solidFill>
            <a:srgbClr val="0E4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p27_11"/>
          <p:cNvSpPr/>
          <p:nvPr/>
        </p:nvSpPr>
        <p:spPr>
          <a:xfrm>
            <a:off x="2220489" y="2532634"/>
            <a:ext cx="99157" cy="99157"/>
          </a:xfrm>
          <a:prstGeom prst="roundRect">
            <a:avLst>
              <a:gd name="adj" fmla="val 30000"/>
            </a:avLst>
          </a:prstGeom>
          <a:solidFill>
            <a:srgbClr val="0F45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p27_12"/>
          <p:cNvSpPr/>
          <p:nvPr/>
        </p:nvSpPr>
        <p:spPr>
          <a:xfrm>
            <a:off x="2379235" y="2532634"/>
            <a:ext cx="99157" cy="99157"/>
          </a:xfrm>
          <a:prstGeom prst="roundRect">
            <a:avLst>
              <a:gd name="adj" fmla="val 30000"/>
            </a:avLst>
          </a:prstGeom>
          <a:solidFill>
            <a:srgbClr val="1150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p27_13"/>
          <p:cNvSpPr/>
          <p:nvPr/>
        </p:nvSpPr>
        <p:spPr>
          <a:xfrm>
            <a:off x="2537981" y="2532634"/>
            <a:ext cx="99157" cy="99157"/>
          </a:xfrm>
          <a:prstGeom prst="roundRect">
            <a:avLst>
              <a:gd name="adj" fmla="val 30000"/>
            </a:avLst>
          </a:prstGeom>
          <a:solidFill>
            <a:srgbClr val="0E3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p27_14"/>
          <p:cNvSpPr/>
          <p:nvPr/>
        </p:nvSpPr>
        <p:spPr>
          <a:xfrm>
            <a:off x="2696727" y="2532634"/>
            <a:ext cx="99157" cy="99157"/>
          </a:xfrm>
          <a:prstGeom prst="roundRect">
            <a:avLst>
              <a:gd name="adj" fmla="val 30000"/>
            </a:avLst>
          </a:prstGeom>
          <a:solidFill>
            <a:srgbClr val="0B32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p28_03"/>
          <p:cNvSpPr/>
          <p:nvPr/>
        </p:nvSpPr>
        <p:spPr>
          <a:xfrm>
            <a:off x="950521" y="2417334"/>
            <a:ext cx="99157" cy="99157"/>
          </a:xfrm>
          <a:prstGeom prst="roundRect">
            <a:avLst>
              <a:gd name="adj" fmla="val 30000"/>
            </a:avLst>
          </a:prstGeom>
          <a:solidFill>
            <a:srgbClr val="0C35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p28_04"/>
          <p:cNvSpPr/>
          <p:nvPr/>
        </p:nvSpPr>
        <p:spPr>
          <a:xfrm>
            <a:off x="1109267" y="2417334"/>
            <a:ext cx="99157" cy="99157"/>
          </a:xfrm>
          <a:prstGeom prst="roundRect">
            <a:avLst>
              <a:gd name="adj" fmla="val 30000"/>
            </a:avLst>
          </a:prstGeom>
          <a:solidFill>
            <a:srgbClr val="1460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p28_05"/>
          <p:cNvSpPr/>
          <p:nvPr/>
        </p:nvSpPr>
        <p:spPr>
          <a:xfrm>
            <a:off x="1268013" y="2417334"/>
            <a:ext cx="99157" cy="99157"/>
          </a:xfrm>
          <a:prstGeom prst="roundRect">
            <a:avLst>
              <a:gd name="adj" fmla="val 30000"/>
            </a:avLst>
          </a:prstGeom>
          <a:solidFill>
            <a:srgbClr val="1C8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p28_06"/>
          <p:cNvSpPr/>
          <p:nvPr/>
        </p:nvSpPr>
        <p:spPr>
          <a:xfrm>
            <a:off x="1426759" y="2417334"/>
            <a:ext cx="99157" cy="99157"/>
          </a:xfrm>
          <a:prstGeom prst="roundRect">
            <a:avLst>
              <a:gd name="adj" fmla="val 30000"/>
            </a:avLst>
          </a:prstGeom>
          <a:solidFill>
            <a:srgbClr val="1E8E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p28_07"/>
          <p:cNvSpPr/>
          <p:nvPr/>
        </p:nvSpPr>
        <p:spPr>
          <a:xfrm>
            <a:off x="1585505" y="2417334"/>
            <a:ext cx="99157" cy="99157"/>
          </a:xfrm>
          <a:prstGeom prst="roundRect">
            <a:avLst>
              <a:gd name="adj" fmla="val 30000"/>
            </a:avLst>
          </a:prstGeom>
          <a:solidFill>
            <a:srgbClr val="2A99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p28_08"/>
          <p:cNvSpPr/>
          <p:nvPr/>
        </p:nvSpPr>
        <p:spPr>
          <a:xfrm>
            <a:off x="1744251" y="2417334"/>
            <a:ext cx="99157" cy="99157"/>
          </a:xfrm>
          <a:prstGeom prst="roundRect">
            <a:avLst>
              <a:gd name="adj" fmla="val 30000"/>
            </a:avLst>
          </a:prstGeom>
          <a:solidFill>
            <a:srgbClr val="1F8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p28_09"/>
          <p:cNvSpPr/>
          <p:nvPr/>
        </p:nvSpPr>
        <p:spPr>
          <a:xfrm>
            <a:off x="1902997" y="2417334"/>
            <a:ext cx="99157" cy="99157"/>
          </a:xfrm>
          <a:prstGeom prst="roundRect">
            <a:avLst>
              <a:gd name="adj" fmla="val 30000"/>
            </a:avLst>
          </a:prstGeom>
          <a:solidFill>
            <a:srgbClr val="125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p28_10"/>
          <p:cNvSpPr/>
          <p:nvPr/>
        </p:nvSpPr>
        <p:spPr>
          <a:xfrm>
            <a:off x="2061743" y="2417334"/>
            <a:ext cx="99157" cy="99157"/>
          </a:xfrm>
          <a:prstGeom prst="roundRect">
            <a:avLst>
              <a:gd name="adj" fmla="val 30000"/>
            </a:avLst>
          </a:prstGeom>
          <a:solidFill>
            <a:srgbClr val="0C38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p28_11"/>
          <p:cNvSpPr/>
          <p:nvPr/>
        </p:nvSpPr>
        <p:spPr>
          <a:xfrm>
            <a:off x="2220489" y="2417334"/>
            <a:ext cx="99157" cy="99157"/>
          </a:xfrm>
          <a:prstGeom prst="roundRect">
            <a:avLst>
              <a:gd name="adj" fmla="val 30000"/>
            </a:avLst>
          </a:prstGeom>
          <a:solidFill>
            <a:srgbClr val="0C37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p28_12"/>
          <p:cNvSpPr/>
          <p:nvPr/>
        </p:nvSpPr>
        <p:spPr>
          <a:xfrm>
            <a:off x="2379235" y="2417334"/>
            <a:ext cx="99157" cy="99157"/>
          </a:xfrm>
          <a:prstGeom prst="roundRect">
            <a:avLst>
              <a:gd name="adj" fmla="val 30000"/>
            </a:avLst>
          </a:prstGeom>
          <a:solidFill>
            <a:srgbClr val="0D39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p28_13"/>
          <p:cNvSpPr/>
          <p:nvPr/>
        </p:nvSpPr>
        <p:spPr>
          <a:xfrm>
            <a:off x="2537981" y="2417334"/>
            <a:ext cx="99157" cy="99157"/>
          </a:xfrm>
          <a:prstGeom prst="roundRect">
            <a:avLst>
              <a:gd name="adj" fmla="val 30000"/>
            </a:avLst>
          </a:prstGeom>
          <a:solidFill>
            <a:srgbClr val="0C35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p28_14"/>
          <p:cNvSpPr/>
          <p:nvPr/>
        </p:nvSpPr>
        <p:spPr>
          <a:xfrm>
            <a:off x="2696727" y="2417334"/>
            <a:ext cx="99157" cy="99157"/>
          </a:xfrm>
          <a:prstGeom prst="roundRect">
            <a:avLst>
              <a:gd name="adj" fmla="val 30000"/>
            </a:avLst>
          </a:prstGeom>
          <a:solidFill>
            <a:srgbClr val="0A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p29_03"/>
          <p:cNvSpPr/>
          <p:nvPr/>
        </p:nvSpPr>
        <p:spPr>
          <a:xfrm>
            <a:off x="950521" y="2302034"/>
            <a:ext cx="99157" cy="99157"/>
          </a:xfrm>
          <a:prstGeom prst="roundRect">
            <a:avLst>
              <a:gd name="adj" fmla="val 30000"/>
            </a:avLst>
          </a:prstGeom>
          <a:solidFill>
            <a:srgbClr val="0B32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p29_04"/>
          <p:cNvSpPr/>
          <p:nvPr/>
        </p:nvSpPr>
        <p:spPr>
          <a:xfrm>
            <a:off x="1109267" y="2302034"/>
            <a:ext cx="99157" cy="99157"/>
          </a:xfrm>
          <a:prstGeom prst="roundRect">
            <a:avLst>
              <a:gd name="adj" fmla="val 30000"/>
            </a:avLst>
          </a:prstGeom>
          <a:solidFill>
            <a:srgbClr val="0F44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p29_05"/>
          <p:cNvSpPr/>
          <p:nvPr/>
        </p:nvSpPr>
        <p:spPr>
          <a:xfrm>
            <a:off x="1268013" y="2302034"/>
            <a:ext cx="99157" cy="99157"/>
          </a:xfrm>
          <a:prstGeom prst="roundRect">
            <a:avLst>
              <a:gd name="adj" fmla="val 30000"/>
            </a:avLst>
          </a:prstGeom>
          <a:solidFill>
            <a:srgbClr val="135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p29_06"/>
          <p:cNvSpPr/>
          <p:nvPr/>
        </p:nvSpPr>
        <p:spPr>
          <a:xfrm>
            <a:off x="1426759" y="2302034"/>
            <a:ext cx="99157" cy="99157"/>
          </a:xfrm>
          <a:prstGeom prst="roundRect">
            <a:avLst>
              <a:gd name="adj" fmla="val 30000"/>
            </a:avLst>
          </a:prstGeom>
          <a:solidFill>
            <a:srgbClr val="135A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p29_07"/>
          <p:cNvSpPr/>
          <p:nvPr/>
        </p:nvSpPr>
        <p:spPr>
          <a:xfrm>
            <a:off x="1585505" y="2302034"/>
            <a:ext cx="99157" cy="99157"/>
          </a:xfrm>
          <a:prstGeom prst="roundRect">
            <a:avLst>
              <a:gd name="adj" fmla="val 30000"/>
            </a:avLst>
          </a:prstGeom>
          <a:solidFill>
            <a:srgbClr val="1562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p29_08"/>
          <p:cNvSpPr/>
          <p:nvPr/>
        </p:nvSpPr>
        <p:spPr>
          <a:xfrm>
            <a:off x="1744251" y="2302034"/>
            <a:ext cx="99157" cy="99157"/>
          </a:xfrm>
          <a:prstGeom prst="roundRect">
            <a:avLst>
              <a:gd name="adj" fmla="val 30000"/>
            </a:avLst>
          </a:prstGeom>
          <a:solidFill>
            <a:srgbClr val="1359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p29_09"/>
          <p:cNvSpPr/>
          <p:nvPr/>
        </p:nvSpPr>
        <p:spPr>
          <a:xfrm>
            <a:off x="1902997" y="2302034"/>
            <a:ext cx="99157" cy="99157"/>
          </a:xfrm>
          <a:prstGeom prst="roundRect">
            <a:avLst>
              <a:gd name="adj" fmla="val 30000"/>
            </a:avLst>
          </a:prstGeom>
          <a:solidFill>
            <a:srgbClr val="0D3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p29_10"/>
          <p:cNvSpPr/>
          <p:nvPr/>
        </p:nvSpPr>
        <p:spPr>
          <a:xfrm>
            <a:off x="2061743" y="2302034"/>
            <a:ext cx="99157" cy="99157"/>
          </a:xfrm>
          <a:prstGeom prst="roundRect">
            <a:avLst>
              <a:gd name="adj" fmla="val 30000"/>
            </a:avLst>
          </a:prstGeom>
          <a:solidFill>
            <a:srgbClr val="0B3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p29_11"/>
          <p:cNvSpPr/>
          <p:nvPr/>
        </p:nvSpPr>
        <p:spPr>
          <a:xfrm>
            <a:off x="2220489" y="2302034"/>
            <a:ext cx="99157" cy="99157"/>
          </a:xfrm>
          <a:prstGeom prst="roundRect">
            <a:avLst>
              <a:gd name="adj" fmla="val 30000"/>
            </a:avLst>
          </a:prstGeom>
          <a:solidFill>
            <a:srgbClr val="0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p29_12"/>
          <p:cNvSpPr/>
          <p:nvPr/>
        </p:nvSpPr>
        <p:spPr>
          <a:xfrm>
            <a:off x="2379235" y="2302034"/>
            <a:ext cx="99157" cy="99157"/>
          </a:xfrm>
          <a:prstGeom prst="roundRect">
            <a:avLst>
              <a:gd name="adj" fmla="val 30000"/>
            </a:avLst>
          </a:prstGeom>
          <a:solidFill>
            <a:srgbClr val="0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p29_13"/>
          <p:cNvSpPr/>
          <p:nvPr/>
        </p:nvSpPr>
        <p:spPr>
          <a:xfrm>
            <a:off x="2537981" y="2302034"/>
            <a:ext cx="99157" cy="99157"/>
          </a:xfrm>
          <a:prstGeom prst="roundRect">
            <a:avLst>
              <a:gd name="adj" fmla="val 30000"/>
            </a:avLst>
          </a:prstGeom>
          <a:solidFill>
            <a:srgbClr val="0A31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p30_03"/>
          <p:cNvSpPr/>
          <p:nvPr/>
        </p:nvSpPr>
        <p:spPr>
          <a:xfrm>
            <a:off x="950521" y="2186734"/>
            <a:ext cx="99157" cy="99157"/>
          </a:xfrm>
          <a:prstGeom prst="roundRect">
            <a:avLst>
              <a:gd name="adj" fmla="val 30000"/>
            </a:avLst>
          </a:prstGeom>
          <a:solidFill>
            <a:srgbClr val="0B31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p30_04"/>
          <p:cNvSpPr/>
          <p:nvPr/>
        </p:nvSpPr>
        <p:spPr>
          <a:xfrm>
            <a:off x="1109267" y="2186734"/>
            <a:ext cx="99157" cy="99157"/>
          </a:xfrm>
          <a:prstGeom prst="roundRect">
            <a:avLst>
              <a:gd name="adj" fmla="val 30000"/>
            </a:avLst>
          </a:prstGeom>
          <a:solidFill>
            <a:srgbClr val="0D3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p30_05"/>
          <p:cNvSpPr/>
          <p:nvPr/>
        </p:nvSpPr>
        <p:spPr>
          <a:xfrm>
            <a:off x="1268013" y="2186734"/>
            <a:ext cx="99157" cy="99157"/>
          </a:xfrm>
          <a:prstGeom prst="roundRect">
            <a:avLst>
              <a:gd name="adj" fmla="val 30000"/>
            </a:avLst>
          </a:prstGeom>
          <a:solidFill>
            <a:srgbClr val="104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p30_06"/>
          <p:cNvSpPr/>
          <p:nvPr/>
        </p:nvSpPr>
        <p:spPr>
          <a:xfrm>
            <a:off x="1426759" y="2186734"/>
            <a:ext cx="99157" cy="99157"/>
          </a:xfrm>
          <a:prstGeom prst="roundRect">
            <a:avLst>
              <a:gd name="adj" fmla="val 30000"/>
            </a:avLst>
          </a:prstGeom>
          <a:solidFill>
            <a:srgbClr val="0E3E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p30_07"/>
          <p:cNvSpPr/>
          <p:nvPr/>
        </p:nvSpPr>
        <p:spPr>
          <a:xfrm>
            <a:off x="1585505" y="2186734"/>
            <a:ext cx="99157" cy="99157"/>
          </a:xfrm>
          <a:prstGeom prst="roundRect">
            <a:avLst>
              <a:gd name="adj" fmla="val 30000"/>
            </a:avLst>
          </a:prstGeom>
          <a:solidFill>
            <a:srgbClr val="0D3C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p30_08"/>
          <p:cNvSpPr/>
          <p:nvPr/>
        </p:nvSpPr>
        <p:spPr>
          <a:xfrm>
            <a:off x="1744251" y="2186734"/>
            <a:ext cx="99157" cy="99157"/>
          </a:xfrm>
          <a:prstGeom prst="roundRect">
            <a:avLst>
              <a:gd name="adj" fmla="val 30000"/>
            </a:avLst>
          </a:prstGeom>
          <a:solidFill>
            <a:srgbClr val="0D3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p30_09"/>
          <p:cNvSpPr/>
          <p:nvPr/>
        </p:nvSpPr>
        <p:spPr>
          <a:xfrm>
            <a:off x="1902997" y="2186734"/>
            <a:ext cx="99157" cy="99157"/>
          </a:xfrm>
          <a:prstGeom prst="roundRect">
            <a:avLst>
              <a:gd name="adj" fmla="val 30000"/>
            </a:avLst>
          </a:prstGeom>
          <a:solidFill>
            <a:srgbClr val="0C35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p30_10"/>
          <p:cNvSpPr/>
          <p:nvPr/>
        </p:nvSpPr>
        <p:spPr>
          <a:xfrm>
            <a:off x="2061743" y="2186734"/>
            <a:ext cx="99157" cy="99157"/>
          </a:xfrm>
          <a:prstGeom prst="roundRect">
            <a:avLst>
              <a:gd name="adj" fmla="val 30000"/>
            </a:avLst>
          </a:prstGeom>
          <a:solidFill>
            <a:srgbClr val="0B32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p30_11"/>
          <p:cNvSpPr/>
          <p:nvPr/>
        </p:nvSpPr>
        <p:spPr>
          <a:xfrm>
            <a:off x="2220489" y="2186734"/>
            <a:ext cx="99157" cy="99157"/>
          </a:xfrm>
          <a:prstGeom prst="roundRect">
            <a:avLst>
              <a:gd name="adj" fmla="val 30000"/>
            </a:avLst>
          </a:prstGeom>
          <a:solidFill>
            <a:srgbClr val="0B31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6" name="!!p30_12"/>
          <p:cNvSpPr/>
          <p:nvPr/>
        </p:nvSpPr>
        <p:spPr>
          <a:xfrm>
            <a:off x="2379235" y="2186734"/>
            <a:ext cx="99157" cy="99157"/>
          </a:xfrm>
          <a:prstGeom prst="roundRect">
            <a:avLst>
              <a:gd name="adj" fmla="val 30000"/>
            </a:avLst>
          </a:prstGeom>
          <a:solidFill>
            <a:srgbClr val="0A30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p30_13"/>
          <p:cNvSpPr/>
          <p:nvPr/>
        </p:nvSpPr>
        <p:spPr>
          <a:xfrm>
            <a:off x="2537981" y="2186734"/>
            <a:ext cx="99157" cy="99157"/>
          </a:xfrm>
          <a:prstGeom prst="roundRect">
            <a:avLst>
              <a:gd name="adj" fmla="val 30000"/>
            </a:avLst>
          </a:prstGeom>
          <a:solidFill>
            <a:srgbClr val="0A2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8" name="!!p31_03"/>
          <p:cNvSpPr/>
          <p:nvPr/>
        </p:nvSpPr>
        <p:spPr>
          <a:xfrm>
            <a:off x="950521" y="2071435"/>
            <a:ext cx="99157" cy="99157"/>
          </a:xfrm>
          <a:prstGeom prst="roundRect">
            <a:avLst>
              <a:gd name="adj" fmla="val 30000"/>
            </a:avLst>
          </a:prstGeom>
          <a:solidFill>
            <a:srgbClr val="0B32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p31_04"/>
          <p:cNvSpPr/>
          <p:nvPr/>
        </p:nvSpPr>
        <p:spPr>
          <a:xfrm>
            <a:off x="1109267" y="2071435"/>
            <a:ext cx="99157" cy="99157"/>
          </a:xfrm>
          <a:prstGeom prst="roundRect">
            <a:avLst>
              <a:gd name="adj" fmla="val 30000"/>
            </a:avLst>
          </a:prstGeom>
          <a:solidFill>
            <a:srgbClr val="104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p31_05"/>
          <p:cNvSpPr/>
          <p:nvPr/>
        </p:nvSpPr>
        <p:spPr>
          <a:xfrm>
            <a:off x="1268013" y="2071435"/>
            <a:ext cx="99157" cy="99157"/>
          </a:xfrm>
          <a:prstGeom prst="roundRect">
            <a:avLst>
              <a:gd name="adj" fmla="val 30000"/>
            </a:avLst>
          </a:prstGeom>
          <a:solidFill>
            <a:srgbClr val="1151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p31_06"/>
          <p:cNvSpPr/>
          <p:nvPr/>
        </p:nvSpPr>
        <p:spPr>
          <a:xfrm>
            <a:off x="1426759" y="2071435"/>
            <a:ext cx="99157" cy="99157"/>
          </a:xfrm>
          <a:prstGeom prst="roundRect">
            <a:avLst>
              <a:gd name="adj" fmla="val 30000"/>
            </a:avLst>
          </a:prstGeom>
          <a:solidFill>
            <a:srgbClr val="0D39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2" name="!!p31_07"/>
          <p:cNvSpPr/>
          <p:nvPr/>
        </p:nvSpPr>
        <p:spPr>
          <a:xfrm>
            <a:off x="1585505" y="2071435"/>
            <a:ext cx="99157" cy="99157"/>
          </a:xfrm>
          <a:prstGeom prst="roundRect">
            <a:avLst>
              <a:gd name="adj" fmla="val 30000"/>
            </a:avLst>
          </a:prstGeom>
          <a:solidFill>
            <a:srgbClr val="0B3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p31_08"/>
          <p:cNvSpPr/>
          <p:nvPr/>
        </p:nvSpPr>
        <p:spPr>
          <a:xfrm>
            <a:off x="1744251" y="2071435"/>
            <a:ext cx="99157" cy="99157"/>
          </a:xfrm>
          <a:prstGeom prst="roundRect">
            <a:avLst>
              <a:gd name="adj" fmla="val 30000"/>
            </a:avLst>
          </a:prstGeom>
          <a:solidFill>
            <a:srgbClr val="0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p31_09"/>
          <p:cNvSpPr/>
          <p:nvPr/>
        </p:nvSpPr>
        <p:spPr>
          <a:xfrm>
            <a:off x="1902997" y="2071435"/>
            <a:ext cx="99157" cy="99157"/>
          </a:xfrm>
          <a:prstGeom prst="roundRect">
            <a:avLst>
              <a:gd name="adj" fmla="val 30000"/>
            </a:avLst>
          </a:prstGeom>
          <a:solidFill>
            <a:srgbClr val="0B32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5" name="!!p31_10"/>
          <p:cNvSpPr/>
          <p:nvPr/>
        </p:nvSpPr>
        <p:spPr>
          <a:xfrm>
            <a:off x="2061743" y="2071435"/>
            <a:ext cx="99157" cy="99157"/>
          </a:xfrm>
          <a:prstGeom prst="roundRect">
            <a:avLst>
              <a:gd name="adj" fmla="val 30000"/>
            </a:avLst>
          </a:prstGeom>
          <a:solidFill>
            <a:srgbClr val="0A30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6" name="!!p31_11"/>
          <p:cNvSpPr/>
          <p:nvPr/>
        </p:nvSpPr>
        <p:spPr>
          <a:xfrm>
            <a:off x="2220489" y="2071435"/>
            <a:ext cx="99157" cy="99157"/>
          </a:xfrm>
          <a:prstGeom prst="roundRect">
            <a:avLst>
              <a:gd name="adj" fmla="val 30000"/>
            </a:avLst>
          </a:prstGeom>
          <a:solidFill>
            <a:srgbClr val="0A2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p31_12"/>
          <p:cNvSpPr/>
          <p:nvPr/>
        </p:nvSpPr>
        <p:spPr>
          <a:xfrm>
            <a:off x="2379235" y="2071435"/>
            <a:ext cx="99157" cy="99157"/>
          </a:xfrm>
          <a:prstGeom prst="roundRect">
            <a:avLst>
              <a:gd name="adj" fmla="val 30000"/>
            </a:avLst>
          </a:prstGeom>
          <a:solidFill>
            <a:srgbClr val="0A2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8" name="!!p31_13"/>
          <p:cNvSpPr/>
          <p:nvPr/>
        </p:nvSpPr>
        <p:spPr>
          <a:xfrm>
            <a:off x="2537981" y="2071435"/>
            <a:ext cx="99157" cy="99157"/>
          </a:xfrm>
          <a:prstGeom prst="roundRect">
            <a:avLst>
              <a:gd name="adj" fmla="val 30000"/>
            </a:avLst>
          </a:prstGeom>
          <a:solidFill>
            <a:srgbClr val="09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p32_03"/>
          <p:cNvSpPr/>
          <p:nvPr/>
        </p:nvSpPr>
        <p:spPr>
          <a:xfrm>
            <a:off x="950521" y="1956135"/>
            <a:ext cx="99157" cy="99157"/>
          </a:xfrm>
          <a:prstGeom prst="roundRect">
            <a:avLst>
              <a:gd name="adj" fmla="val 30000"/>
            </a:avLst>
          </a:prstGeom>
          <a:solidFill>
            <a:srgbClr val="0C35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0" name="!!p32_04"/>
          <p:cNvSpPr/>
          <p:nvPr/>
        </p:nvSpPr>
        <p:spPr>
          <a:xfrm>
            <a:off x="1109267" y="1956135"/>
            <a:ext cx="99157" cy="99157"/>
          </a:xfrm>
          <a:prstGeom prst="roundRect">
            <a:avLst>
              <a:gd name="adj" fmla="val 30000"/>
            </a:avLst>
          </a:prstGeom>
          <a:solidFill>
            <a:srgbClr val="1566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p32_05"/>
          <p:cNvSpPr/>
          <p:nvPr/>
        </p:nvSpPr>
        <p:spPr>
          <a:xfrm>
            <a:off x="1268013" y="1956135"/>
            <a:ext cx="99157" cy="99157"/>
          </a:xfrm>
          <a:prstGeom prst="roundRect">
            <a:avLst>
              <a:gd name="adj" fmla="val 30000"/>
            </a:avLst>
          </a:prstGeom>
          <a:solidFill>
            <a:srgbClr val="176D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2" name="!!p32_06"/>
          <p:cNvSpPr/>
          <p:nvPr/>
        </p:nvSpPr>
        <p:spPr>
          <a:xfrm>
            <a:off x="1426759" y="1956135"/>
            <a:ext cx="99157" cy="99157"/>
          </a:xfrm>
          <a:prstGeom prst="roundRect">
            <a:avLst>
              <a:gd name="adj" fmla="val 30000"/>
            </a:avLst>
          </a:prstGeom>
          <a:solidFill>
            <a:srgbClr val="0D3C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3" name="!!p32_07"/>
          <p:cNvSpPr/>
          <p:nvPr/>
        </p:nvSpPr>
        <p:spPr>
          <a:xfrm>
            <a:off x="1585505" y="1956135"/>
            <a:ext cx="99157" cy="99157"/>
          </a:xfrm>
          <a:prstGeom prst="roundRect">
            <a:avLst>
              <a:gd name="adj" fmla="val 30000"/>
            </a:avLst>
          </a:prstGeom>
          <a:solidFill>
            <a:srgbClr val="0B32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4" name="!!p32_08"/>
          <p:cNvSpPr/>
          <p:nvPr/>
        </p:nvSpPr>
        <p:spPr>
          <a:xfrm>
            <a:off x="1744251" y="1956135"/>
            <a:ext cx="99157" cy="99157"/>
          </a:xfrm>
          <a:prstGeom prst="roundRect">
            <a:avLst>
              <a:gd name="adj" fmla="val 30000"/>
            </a:avLst>
          </a:prstGeom>
          <a:solidFill>
            <a:srgbClr val="0A30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p32_09"/>
          <p:cNvSpPr/>
          <p:nvPr/>
        </p:nvSpPr>
        <p:spPr>
          <a:xfrm>
            <a:off x="1902997" y="1956135"/>
            <a:ext cx="99157" cy="99157"/>
          </a:xfrm>
          <a:prstGeom prst="roundRect">
            <a:avLst>
              <a:gd name="adj" fmla="val 30000"/>
            </a:avLst>
          </a:prstGeom>
          <a:solidFill>
            <a:srgbClr val="0A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p32_10"/>
          <p:cNvSpPr/>
          <p:nvPr/>
        </p:nvSpPr>
        <p:spPr>
          <a:xfrm>
            <a:off x="2061743" y="1956135"/>
            <a:ext cx="99157" cy="99157"/>
          </a:xfrm>
          <a:prstGeom prst="roundRect">
            <a:avLst>
              <a:gd name="adj" fmla="val 30000"/>
            </a:avLst>
          </a:prstGeom>
          <a:solidFill>
            <a:srgbClr val="0A2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p32_11"/>
          <p:cNvSpPr/>
          <p:nvPr/>
        </p:nvSpPr>
        <p:spPr>
          <a:xfrm>
            <a:off x="2220489" y="1956135"/>
            <a:ext cx="99157" cy="99157"/>
          </a:xfrm>
          <a:prstGeom prst="roundRect">
            <a:avLst>
              <a:gd name="adj" fmla="val 30000"/>
            </a:avLst>
          </a:prstGeom>
          <a:solidFill>
            <a:srgbClr val="0A2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8" name="!!p32_12"/>
          <p:cNvSpPr/>
          <p:nvPr/>
        </p:nvSpPr>
        <p:spPr>
          <a:xfrm>
            <a:off x="2379235" y="1956135"/>
            <a:ext cx="99157" cy="99157"/>
          </a:xfrm>
          <a:prstGeom prst="roundRect">
            <a:avLst>
              <a:gd name="adj" fmla="val 30000"/>
            </a:avLst>
          </a:prstGeom>
          <a:solidFill>
            <a:srgbClr val="092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9" name="!!p33_03"/>
          <p:cNvSpPr/>
          <p:nvPr/>
        </p:nvSpPr>
        <p:spPr>
          <a:xfrm>
            <a:off x="950521" y="1840835"/>
            <a:ext cx="99157" cy="99157"/>
          </a:xfrm>
          <a:prstGeom prst="roundRect">
            <a:avLst>
              <a:gd name="adj" fmla="val 30000"/>
            </a:avLst>
          </a:prstGeom>
          <a:solidFill>
            <a:srgbClr val="0D38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0" name="!!p33_04"/>
          <p:cNvSpPr/>
          <p:nvPr/>
        </p:nvSpPr>
        <p:spPr>
          <a:xfrm>
            <a:off x="1109267" y="1840835"/>
            <a:ext cx="99157" cy="99157"/>
          </a:xfrm>
          <a:prstGeom prst="roundRect">
            <a:avLst>
              <a:gd name="adj" fmla="val 30000"/>
            </a:avLst>
          </a:prstGeom>
          <a:solidFill>
            <a:srgbClr val="1B85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1" name="!!p33_05"/>
          <p:cNvSpPr/>
          <p:nvPr/>
        </p:nvSpPr>
        <p:spPr>
          <a:xfrm>
            <a:off x="1268013" y="1840835"/>
            <a:ext cx="99157" cy="99157"/>
          </a:xfrm>
          <a:prstGeom prst="roundRect">
            <a:avLst>
              <a:gd name="adj" fmla="val 3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p33_06"/>
          <p:cNvSpPr/>
          <p:nvPr/>
        </p:nvSpPr>
        <p:spPr>
          <a:xfrm>
            <a:off x="1426759" y="1840835"/>
            <a:ext cx="99157" cy="99157"/>
          </a:xfrm>
          <a:prstGeom prst="roundRect">
            <a:avLst>
              <a:gd name="adj" fmla="val 30000"/>
            </a:avLst>
          </a:prstGeom>
          <a:solidFill>
            <a:srgbClr val="0F44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3" name="!!p33_07"/>
          <p:cNvSpPr/>
          <p:nvPr/>
        </p:nvSpPr>
        <p:spPr>
          <a:xfrm>
            <a:off x="1585505" y="1840835"/>
            <a:ext cx="99157" cy="99157"/>
          </a:xfrm>
          <a:prstGeom prst="roundRect">
            <a:avLst>
              <a:gd name="adj" fmla="val 30000"/>
            </a:avLst>
          </a:prstGeom>
          <a:solidFill>
            <a:srgbClr val="0A31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4" name="!!p33_08"/>
          <p:cNvSpPr/>
          <p:nvPr/>
        </p:nvSpPr>
        <p:spPr>
          <a:xfrm>
            <a:off x="1744251" y="1840835"/>
            <a:ext cx="99157" cy="99157"/>
          </a:xfrm>
          <a:prstGeom prst="roundRect">
            <a:avLst>
              <a:gd name="adj" fmla="val 30000"/>
            </a:avLst>
          </a:prstGeom>
          <a:solidFill>
            <a:srgbClr val="0A2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5" name="!!p33_09"/>
          <p:cNvSpPr/>
          <p:nvPr/>
        </p:nvSpPr>
        <p:spPr>
          <a:xfrm>
            <a:off x="1902997" y="1840835"/>
            <a:ext cx="99157" cy="99157"/>
          </a:xfrm>
          <a:prstGeom prst="roundRect">
            <a:avLst>
              <a:gd name="adj" fmla="val 30000"/>
            </a:avLst>
          </a:prstGeom>
          <a:solidFill>
            <a:srgbClr val="0A2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6" name="!!p33_10"/>
          <p:cNvSpPr/>
          <p:nvPr/>
        </p:nvSpPr>
        <p:spPr>
          <a:xfrm>
            <a:off x="2061743" y="1840835"/>
            <a:ext cx="99157" cy="99157"/>
          </a:xfrm>
          <a:prstGeom prst="roundRect">
            <a:avLst>
              <a:gd name="adj" fmla="val 30000"/>
            </a:avLst>
          </a:prstGeom>
          <a:solidFill>
            <a:srgbClr val="0A2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7" name="!!p33_11"/>
          <p:cNvSpPr/>
          <p:nvPr/>
        </p:nvSpPr>
        <p:spPr>
          <a:xfrm>
            <a:off x="2220489" y="1840835"/>
            <a:ext cx="99157" cy="99157"/>
          </a:xfrm>
          <a:prstGeom prst="roundRect">
            <a:avLst>
              <a:gd name="adj" fmla="val 30000"/>
            </a:avLst>
          </a:prstGeom>
          <a:solidFill>
            <a:srgbClr val="092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8" name="!!p33_12"/>
          <p:cNvSpPr/>
          <p:nvPr/>
        </p:nvSpPr>
        <p:spPr>
          <a:xfrm>
            <a:off x="2379235" y="1840835"/>
            <a:ext cx="99157" cy="99157"/>
          </a:xfrm>
          <a:prstGeom prst="roundRect">
            <a:avLst>
              <a:gd name="adj" fmla="val 30000"/>
            </a:avLst>
          </a:prstGeom>
          <a:solidFill>
            <a:srgbClr val="092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9" name="!!p34_03"/>
          <p:cNvSpPr/>
          <p:nvPr/>
        </p:nvSpPr>
        <p:spPr>
          <a:xfrm>
            <a:off x="950521" y="1725535"/>
            <a:ext cx="99157" cy="99157"/>
          </a:xfrm>
          <a:prstGeom prst="roundRect">
            <a:avLst>
              <a:gd name="adj" fmla="val 30000"/>
            </a:avLst>
          </a:prstGeom>
          <a:solidFill>
            <a:srgbClr val="0D3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p34_04"/>
          <p:cNvSpPr/>
          <p:nvPr/>
        </p:nvSpPr>
        <p:spPr>
          <a:xfrm>
            <a:off x="1109267" y="1725535"/>
            <a:ext cx="99157" cy="99157"/>
          </a:xfrm>
          <a:prstGeom prst="roundRect">
            <a:avLst>
              <a:gd name="adj" fmla="val 30000"/>
            </a:avLst>
          </a:prstGeom>
          <a:solidFill>
            <a:srgbClr val="2090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1" name="!!p34_05"/>
          <p:cNvSpPr/>
          <p:nvPr/>
        </p:nvSpPr>
        <p:spPr>
          <a:xfrm>
            <a:off x="1268013" y="1725535"/>
            <a:ext cx="99157" cy="99157"/>
          </a:xfrm>
          <a:prstGeom prst="roundRect">
            <a:avLst>
              <a:gd name="adj" fmla="val 30000"/>
            </a:avLst>
          </a:prstGeom>
          <a:solidFill>
            <a:srgbClr val="2695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2" name="!!p34_06"/>
          <p:cNvSpPr/>
          <p:nvPr/>
        </p:nvSpPr>
        <p:spPr>
          <a:xfrm>
            <a:off x="1426759" y="1725535"/>
            <a:ext cx="99157" cy="99157"/>
          </a:xfrm>
          <a:prstGeom prst="roundRect">
            <a:avLst>
              <a:gd name="adj" fmla="val 30000"/>
            </a:avLst>
          </a:prstGeom>
          <a:solidFill>
            <a:srgbClr val="1047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p34_07"/>
          <p:cNvSpPr/>
          <p:nvPr/>
        </p:nvSpPr>
        <p:spPr>
          <a:xfrm>
            <a:off x="1585505" y="1725535"/>
            <a:ext cx="99157" cy="99157"/>
          </a:xfrm>
          <a:prstGeom prst="roundRect">
            <a:avLst>
              <a:gd name="adj" fmla="val 30000"/>
            </a:avLst>
          </a:prstGeom>
          <a:solidFill>
            <a:srgbClr val="0A2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4" name="!!p34_08"/>
          <p:cNvSpPr/>
          <p:nvPr/>
        </p:nvSpPr>
        <p:spPr>
          <a:xfrm>
            <a:off x="1744251" y="1725535"/>
            <a:ext cx="99157" cy="99157"/>
          </a:xfrm>
          <a:prstGeom prst="roundRect">
            <a:avLst>
              <a:gd name="adj" fmla="val 30000"/>
            </a:avLst>
          </a:prstGeom>
          <a:solidFill>
            <a:srgbClr val="0A2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5" name="!!p34_09"/>
          <p:cNvSpPr/>
          <p:nvPr/>
        </p:nvSpPr>
        <p:spPr>
          <a:xfrm>
            <a:off x="1902997" y="1725535"/>
            <a:ext cx="99157" cy="99157"/>
          </a:xfrm>
          <a:prstGeom prst="roundRect">
            <a:avLst>
              <a:gd name="adj" fmla="val 30000"/>
            </a:avLst>
          </a:prstGeom>
          <a:solidFill>
            <a:srgbClr val="092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p34_10"/>
          <p:cNvSpPr/>
          <p:nvPr/>
        </p:nvSpPr>
        <p:spPr>
          <a:xfrm>
            <a:off x="2061743" y="1725535"/>
            <a:ext cx="99157" cy="99157"/>
          </a:xfrm>
          <a:prstGeom prst="roundRect">
            <a:avLst>
              <a:gd name="adj" fmla="val 30000"/>
            </a:avLst>
          </a:prstGeom>
          <a:solidFill>
            <a:srgbClr val="09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7" name="!!p34_11"/>
          <p:cNvSpPr/>
          <p:nvPr/>
        </p:nvSpPr>
        <p:spPr>
          <a:xfrm>
            <a:off x="2220489" y="1725535"/>
            <a:ext cx="99157" cy="99157"/>
          </a:xfrm>
          <a:prstGeom prst="roundRect">
            <a:avLst>
              <a:gd name="adj" fmla="val 30000"/>
            </a:avLst>
          </a:prstGeom>
          <a:solidFill>
            <a:srgbClr val="092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8" name="!!p35_04"/>
          <p:cNvSpPr/>
          <p:nvPr/>
        </p:nvSpPr>
        <p:spPr>
          <a:xfrm>
            <a:off x="1109267" y="1610236"/>
            <a:ext cx="99157" cy="99157"/>
          </a:xfrm>
          <a:prstGeom prst="roundRect">
            <a:avLst>
              <a:gd name="adj" fmla="val 30000"/>
            </a:avLst>
          </a:prstGeom>
          <a:solidFill>
            <a:srgbClr val="1B83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p35_05"/>
          <p:cNvSpPr/>
          <p:nvPr/>
        </p:nvSpPr>
        <p:spPr>
          <a:xfrm>
            <a:off x="1268013" y="1610236"/>
            <a:ext cx="99157" cy="99157"/>
          </a:xfrm>
          <a:prstGeom prst="roundRect">
            <a:avLst>
              <a:gd name="adj" fmla="val 30000"/>
            </a:avLst>
          </a:prstGeom>
          <a:solidFill>
            <a:srgbClr val="1D8B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0" name="!!p35_06"/>
          <p:cNvSpPr/>
          <p:nvPr/>
        </p:nvSpPr>
        <p:spPr>
          <a:xfrm>
            <a:off x="1426759" y="1610236"/>
            <a:ext cx="99157" cy="99157"/>
          </a:xfrm>
          <a:prstGeom prst="roundRect">
            <a:avLst>
              <a:gd name="adj" fmla="val 30000"/>
            </a:avLst>
          </a:prstGeom>
          <a:solidFill>
            <a:srgbClr val="0E3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p35_07"/>
          <p:cNvSpPr/>
          <p:nvPr/>
        </p:nvSpPr>
        <p:spPr>
          <a:xfrm>
            <a:off x="1585505" y="1610236"/>
            <a:ext cx="99157" cy="99157"/>
          </a:xfrm>
          <a:prstGeom prst="roundRect">
            <a:avLst>
              <a:gd name="adj" fmla="val 30000"/>
            </a:avLst>
          </a:prstGeom>
          <a:solidFill>
            <a:srgbClr val="0A2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p35_08"/>
          <p:cNvSpPr/>
          <p:nvPr/>
        </p:nvSpPr>
        <p:spPr>
          <a:xfrm>
            <a:off x="1744251" y="1610236"/>
            <a:ext cx="99157" cy="99157"/>
          </a:xfrm>
          <a:prstGeom prst="roundRect">
            <a:avLst>
              <a:gd name="adj" fmla="val 30000"/>
            </a:avLst>
          </a:prstGeom>
          <a:solidFill>
            <a:srgbClr val="092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3" name="!!p35_09"/>
          <p:cNvSpPr/>
          <p:nvPr/>
        </p:nvSpPr>
        <p:spPr>
          <a:xfrm>
            <a:off x="1902997" y="1610236"/>
            <a:ext cx="99157" cy="99157"/>
          </a:xfrm>
          <a:prstGeom prst="roundRect">
            <a:avLst>
              <a:gd name="adj" fmla="val 30000"/>
            </a:avLst>
          </a:prstGeom>
          <a:solidFill>
            <a:srgbClr val="092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4" name="!!p35_10"/>
          <p:cNvSpPr/>
          <p:nvPr/>
        </p:nvSpPr>
        <p:spPr>
          <a:xfrm>
            <a:off x="2061743" y="1610236"/>
            <a:ext cx="99157" cy="99157"/>
          </a:xfrm>
          <a:prstGeom prst="roundRect">
            <a:avLst>
              <a:gd name="adj" fmla="val 30000"/>
            </a:avLst>
          </a:prstGeom>
          <a:solidFill>
            <a:srgbClr val="092C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p35_11"/>
          <p:cNvSpPr/>
          <p:nvPr/>
        </p:nvSpPr>
        <p:spPr>
          <a:xfrm>
            <a:off x="2220489" y="1610236"/>
            <a:ext cx="99157" cy="99157"/>
          </a:xfrm>
          <a:prstGeom prst="roundRect">
            <a:avLst>
              <a:gd name="adj" fmla="val 30000"/>
            </a:avLst>
          </a:prstGeom>
          <a:solidFill>
            <a:srgbClr val="09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6" name="!!p36_04"/>
          <p:cNvSpPr/>
          <p:nvPr/>
        </p:nvSpPr>
        <p:spPr>
          <a:xfrm>
            <a:off x="1109267" y="1494936"/>
            <a:ext cx="99157" cy="99157"/>
          </a:xfrm>
          <a:prstGeom prst="roundRect">
            <a:avLst>
              <a:gd name="adj" fmla="val 30000"/>
            </a:avLst>
          </a:prstGeom>
          <a:solidFill>
            <a:srgbClr val="145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7" name="!!p36_05"/>
          <p:cNvSpPr/>
          <p:nvPr/>
        </p:nvSpPr>
        <p:spPr>
          <a:xfrm>
            <a:off x="1268013" y="1494936"/>
            <a:ext cx="99157" cy="99157"/>
          </a:xfrm>
          <a:prstGeom prst="roundRect">
            <a:avLst>
              <a:gd name="adj" fmla="val 30000"/>
            </a:avLst>
          </a:prstGeom>
          <a:solidFill>
            <a:srgbClr val="1565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8" name="!!p36_06"/>
          <p:cNvSpPr/>
          <p:nvPr/>
        </p:nvSpPr>
        <p:spPr>
          <a:xfrm>
            <a:off x="1426759" y="1494936"/>
            <a:ext cx="99157" cy="99157"/>
          </a:xfrm>
          <a:prstGeom prst="roundRect">
            <a:avLst>
              <a:gd name="adj" fmla="val 30000"/>
            </a:avLst>
          </a:prstGeom>
          <a:solidFill>
            <a:srgbClr val="0C3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9" name="!!p36_07"/>
          <p:cNvSpPr/>
          <p:nvPr/>
        </p:nvSpPr>
        <p:spPr>
          <a:xfrm>
            <a:off x="1585505" y="1494936"/>
            <a:ext cx="99157" cy="99157"/>
          </a:xfrm>
          <a:prstGeom prst="roundRect">
            <a:avLst>
              <a:gd name="adj" fmla="val 30000"/>
            </a:avLst>
          </a:prstGeom>
          <a:solidFill>
            <a:srgbClr val="092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0" name="!!p36_08"/>
          <p:cNvSpPr/>
          <p:nvPr/>
        </p:nvSpPr>
        <p:spPr>
          <a:xfrm>
            <a:off x="1744251" y="1494936"/>
            <a:ext cx="99157" cy="99157"/>
          </a:xfrm>
          <a:prstGeom prst="roundRect">
            <a:avLst>
              <a:gd name="adj" fmla="val 30000"/>
            </a:avLst>
          </a:prstGeom>
          <a:solidFill>
            <a:srgbClr val="09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1" name="!!p36_09"/>
          <p:cNvSpPr/>
          <p:nvPr/>
        </p:nvSpPr>
        <p:spPr>
          <a:xfrm>
            <a:off x="1902997" y="1494936"/>
            <a:ext cx="99157" cy="99157"/>
          </a:xfrm>
          <a:prstGeom prst="roundRect">
            <a:avLst>
              <a:gd name="adj" fmla="val 30000"/>
            </a:avLst>
          </a:prstGeom>
          <a:solidFill>
            <a:srgbClr val="09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2" name="!!p36_10"/>
          <p:cNvSpPr/>
          <p:nvPr/>
        </p:nvSpPr>
        <p:spPr>
          <a:xfrm>
            <a:off x="2061743" y="1494936"/>
            <a:ext cx="99157" cy="99157"/>
          </a:xfrm>
          <a:prstGeom prst="roundRect">
            <a:avLst>
              <a:gd name="adj" fmla="val 30000"/>
            </a:avLst>
          </a:prstGeom>
          <a:solidFill>
            <a:srgbClr val="092A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3" name="!!p37_04"/>
          <p:cNvSpPr/>
          <p:nvPr/>
        </p:nvSpPr>
        <p:spPr>
          <a:xfrm>
            <a:off x="1109267" y="1379636"/>
            <a:ext cx="99157" cy="99157"/>
          </a:xfrm>
          <a:prstGeom prst="roundRect">
            <a:avLst>
              <a:gd name="adj" fmla="val 30000"/>
            </a:avLst>
          </a:prstGeom>
          <a:solidFill>
            <a:srgbClr val="0D3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 name="!!p37_05"/>
          <p:cNvSpPr/>
          <p:nvPr/>
        </p:nvSpPr>
        <p:spPr>
          <a:xfrm>
            <a:off x="1268013" y="1379636"/>
            <a:ext cx="99157" cy="99157"/>
          </a:xfrm>
          <a:prstGeom prst="roundRect">
            <a:avLst>
              <a:gd name="adj" fmla="val 30000"/>
            </a:avLst>
          </a:prstGeom>
          <a:solidFill>
            <a:srgbClr val="0D3C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5" name="!!p37_06"/>
          <p:cNvSpPr/>
          <p:nvPr/>
        </p:nvSpPr>
        <p:spPr>
          <a:xfrm>
            <a:off x="1426759" y="1379636"/>
            <a:ext cx="99157" cy="99157"/>
          </a:xfrm>
          <a:prstGeom prst="roundRect">
            <a:avLst>
              <a:gd name="adj" fmla="val 30000"/>
            </a:avLst>
          </a:prstGeom>
          <a:solidFill>
            <a:srgbClr val="0A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6" name="!!p37_07"/>
          <p:cNvSpPr/>
          <p:nvPr/>
        </p:nvSpPr>
        <p:spPr>
          <a:xfrm>
            <a:off x="1585505" y="1379636"/>
            <a:ext cx="99157" cy="99157"/>
          </a:xfrm>
          <a:prstGeom prst="roundRect">
            <a:avLst>
              <a:gd name="adj" fmla="val 30000"/>
            </a:avLst>
          </a:prstGeom>
          <a:solidFill>
            <a:srgbClr val="092A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 name="!!p37_08"/>
          <p:cNvSpPr/>
          <p:nvPr/>
        </p:nvSpPr>
        <p:spPr>
          <a:xfrm>
            <a:off x="1744251" y="1379636"/>
            <a:ext cx="99157" cy="99157"/>
          </a:xfrm>
          <a:prstGeom prst="roundRect">
            <a:avLst>
              <a:gd name="adj" fmla="val 30000"/>
            </a:avLst>
          </a:prstGeom>
          <a:solidFill>
            <a:srgbClr val="092A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8" name="!!p37_09"/>
          <p:cNvSpPr/>
          <p:nvPr/>
        </p:nvSpPr>
        <p:spPr>
          <a:xfrm>
            <a:off x="1902997" y="1379636"/>
            <a:ext cx="99157" cy="99157"/>
          </a:xfrm>
          <a:prstGeom prst="roundRect">
            <a:avLst>
              <a:gd name="adj" fmla="val 30000"/>
            </a:avLst>
          </a:prstGeom>
          <a:solidFill>
            <a:srgbClr val="082A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9" name="Rectangle 328"/>
          <p:cNvSpPr/>
          <p:nvPr/>
        </p:nvSpPr>
        <p:spPr>
          <a:xfrm>
            <a:off x="920726" y="5905352"/>
            <a:ext cx="38099" cy="101597"/>
          </a:xfrm>
          <a:prstGeom prst="rect">
            <a:avLst/>
          </a:prstGeom>
          <a:solidFill>
            <a:srgbClr val="051D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0" name="Rectangle 329"/>
          <p:cNvSpPr/>
          <p:nvPr/>
        </p:nvSpPr>
        <p:spPr>
          <a:xfrm>
            <a:off x="952476" y="5905352"/>
            <a:ext cx="38099" cy="101597"/>
          </a:xfrm>
          <a:prstGeom prst="rect">
            <a:avLst/>
          </a:prstGeom>
          <a:solidFill>
            <a:srgbClr val="062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1" name="Rectangle 330"/>
          <p:cNvSpPr/>
          <p:nvPr/>
        </p:nvSpPr>
        <p:spPr>
          <a:xfrm>
            <a:off x="984225" y="5905352"/>
            <a:ext cx="38099" cy="101597"/>
          </a:xfrm>
          <a:prstGeom prst="rect">
            <a:avLst/>
          </a:prstGeom>
          <a:solidFill>
            <a:srgbClr val="072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2" name="Rectangle 331"/>
          <p:cNvSpPr/>
          <p:nvPr/>
        </p:nvSpPr>
        <p:spPr>
          <a:xfrm>
            <a:off x="1015974" y="5905352"/>
            <a:ext cx="38099" cy="101597"/>
          </a:xfrm>
          <a:prstGeom prst="rect">
            <a:avLst/>
          </a:prstGeom>
          <a:solidFill>
            <a:srgbClr val="0826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3" name="Rectangle 332"/>
          <p:cNvSpPr/>
          <p:nvPr/>
        </p:nvSpPr>
        <p:spPr>
          <a:xfrm>
            <a:off x="1047723" y="5905352"/>
            <a:ext cx="38099" cy="101597"/>
          </a:xfrm>
          <a:prstGeom prst="rect">
            <a:avLst/>
          </a:prstGeom>
          <a:solidFill>
            <a:srgbClr val="0829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4" name="Rectangle 333"/>
          <p:cNvSpPr/>
          <p:nvPr/>
        </p:nvSpPr>
        <p:spPr>
          <a:xfrm>
            <a:off x="1079473" y="5905352"/>
            <a:ext cx="38099" cy="101597"/>
          </a:xfrm>
          <a:prstGeom prst="rect">
            <a:avLst/>
          </a:prstGeom>
          <a:solidFill>
            <a:srgbClr val="092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5" name="Rectangle 334"/>
          <p:cNvSpPr/>
          <p:nvPr/>
        </p:nvSpPr>
        <p:spPr>
          <a:xfrm>
            <a:off x="1111222" y="5905352"/>
            <a:ext cx="38099" cy="101597"/>
          </a:xfrm>
          <a:prstGeom prst="rect">
            <a:avLst/>
          </a:prstGeom>
          <a:solidFill>
            <a:srgbClr val="0A2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6" name="Rectangle 335"/>
          <p:cNvSpPr/>
          <p:nvPr/>
        </p:nvSpPr>
        <p:spPr>
          <a:xfrm>
            <a:off x="1142971" y="5905352"/>
            <a:ext cx="38099" cy="101597"/>
          </a:xfrm>
          <a:prstGeom prst="rect">
            <a:avLst/>
          </a:prstGeom>
          <a:solidFill>
            <a:srgbClr val="0B33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7" name="Rectangle 336"/>
          <p:cNvSpPr/>
          <p:nvPr/>
        </p:nvSpPr>
        <p:spPr>
          <a:xfrm>
            <a:off x="1174720" y="5905352"/>
            <a:ext cx="38099" cy="101597"/>
          </a:xfrm>
          <a:prstGeom prst="rect">
            <a:avLst/>
          </a:prstGeom>
          <a:solidFill>
            <a:srgbClr val="0C3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8" name="Rectangle 337"/>
          <p:cNvSpPr/>
          <p:nvPr/>
        </p:nvSpPr>
        <p:spPr>
          <a:xfrm>
            <a:off x="1206469" y="5905352"/>
            <a:ext cx="38099" cy="101597"/>
          </a:xfrm>
          <a:prstGeom prst="rect">
            <a:avLst/>
          </a:prstGeom>
          <a:solidFill>
            <a:srgbClr val="0D39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9" name="Rectangle 338"/>
          <p:cNvSpPr/>
          <p:nvPr/>
        </p:nvSpPr>
        <p:spPr>
          <a:xfrm>
            <a:off x="1238219" y="5905352"/>
            <a:ext cx="38099" cy="101597"/>
          </a:xfrm>
          <a:prstGeom prst="rect">
            <a:avLst/>
          </a:prstGeom>
          <a:solidFill>
            <a:srgbClr val="0E3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0" name="Rectangle 339"/>
          <p:cNvSpPr/>
          <p:nvPr/>
        </p:nvSpPr>
        <p:spPr>
          <a:xfrm>
            <a:off x="1269968" y="5905352"/>
            <a:ext cx="38099" cy="101597"/>
          </a:xfrm>
          <a:prstGeom prst="rect">
            <a:avLst/>
          </a:prstGeom>
          <a:solidFill>
            <a:srgbClr val="104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1" name="Rectangle 340"/>
          <p:cNvSpPr/>
          <p:nvPr/>
        </p:nvSpPr>
        <p:spPr>
          <a:xfrm>
            <a:off x="1301717" y="5905352"/>
            <a:ext cx="38099" cy="101597"/>
          </a:xfrm>
          <a:prstGeom prst="rect">
            <a:avLst/>
          </a:prstGeom>
          <a:solidFill>
            <a:srgbClr val="1151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2" name="Rectangle 341"/>
          <p:cNvSpPr/>
          <p:nvPr/>
        </p:nvSpPr>
        <p:spPr>
          <a:xfrm>
            <a:off x="1333466" y="5905352"/>
            <a:ext cx="38099" cy="101597"/>
          </a:xfrm>
          <a:prstGeom prst="rect">
            <a:avLst/>
          </a:prstGeom>
          <a:solidFill>
            <a:srgbClr val="1359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3" name="Rectangle 342"/>
          <p:cNvSpPr/>
          <p:nvPr/>
        </p:nvSpPr>
        <p:spPr>
          <a:xfrm>
            <a:off x="1365215" y="5905352"/>
            <a:ext cx="38099" cy="101597"/>
          </a:xfrm>
          <a:prstGeom prst="rect">
            <a:avLst/>
          </a:prstGeom>
          <a:solidFill>
            <a:srgbClr val="1562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4" name="Rectangle 343"/>
          <p:cNvSpPr/>
          <p:nvPr/>
        </p:nvSpPr>
        <p:spPr>
          <a:xfrm>
            <a:off x="1396965" y="5905352"/>
            <a:ext cx="38099" cy="101597"/>
          </a:xfrm>
          <a:prstGeom prst="rect">
            <a:avLst/>
          </a:prstGeom>
          <a:solidFill>
            <a:srgbClr val="166B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5" name="Rectangle 344"/>
          <p:cNvSpPr/>
          <p:nvPr/>
        </p:nvSpPr>
        <p:spPr>
          <a:xfrm>
            <a:off x="1428714" y="5905352"/>
            <a:ext cx="38099" cy="101597"/>
          </a:xfrm>
          <a:prstGeom prst="rect">
            <a:avLst/>
          </a:prstGeom>
          <a:solidFill>
            <a:srgbClr val="187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6" name="Rectangle 345"/>
          <p:cNvSpPr/>
          <p:nvPr/>
        </p:nvSpPr>
        <p:spPr>
          <a:xfrm>
            <a:off x="1460463" y="5905352"/>
            <a:ext cx="38099" cy="101597"/>
          </a:xfrm>
          <a:prstGeom prst="rect">
            <a:avLst/>
          </a:prstGeom>
          <a:solidFill>
            <a:srgbClr val="1A7C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7" name="Rectangle 346"/>
          <p:cNvSpPr/>
          <p:nvPr/>
        </p:nvSpPr>
        <p:spPr>
          <a:xfrm>
            <a:off x="1492212" y="5905352"/>
            <a:ext cx="38099" cy="101597"/>
          </a:xfrm>
          <a:prstGeom prst="rect">
            <a:avLst/>
          </a:prstGeom>
          <a:solidFill>
            <a:srgbClr val="1C85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8" name="Rectangle 347"/>
          <p:cNvSpPr/>
          <p:nvPr/>
        </p:nvSpPr>
        <p:spPr>
          <a:xfrm>
            <a:off x="1523961" y="5905352"/>
            <a:ext cx="38099" cy="101597"/>
          </a:xfrm>
          <a:prstGeom prst="rect">
            <a:avLst/>
          </a:prstGeom>
          <a:solidFill>
            <a:srgbClr val="1E8E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9" name="Rectangle 348"/>
          <p:cNvSpPr/>
          <p:nvPr/>
        </p:nvSpPr>
        <p:spPr>
          <a:xfrm>
            <a:off x="1555711" y="5905352"/>
            <a:ext cx="38099" cy="101597"/>
          </a:xfrm>
          <a:prstGeom prst="rect">
            <a:avLst/>
          </a:prstGeom>
          <a:solidFill>
            <a:srgbClr val="2393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0" name="Rectangle 349"/>
          <p:cNvSpPr/>
          <p:nvPr/>
        </p:nvSpPr>
        <p:spPr>
          <a:xfrm>
            <a:off x="1587460" y="5905352"/>
            <a:ext cx="38099" cy="101597"/>
          </a:xfrm>
          <a:prstGeom prst="rect">
            <a:avLst/>
          </a:prstGeom>
          <a:solidFill>
            <a:srgbClr val="2998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1" name="Rectangle 350"/>
          <p:cNvSpPr/>
          <p:nvPr/>
        </p:nvSpPr>
        <p:spPr>
          <a:xfrm>
            <a:off x="1619209" y="5905352"/>
            <a:ext cx="38099" cy="101597"/>
          </a:xfrm>
          <a:prstGeom prst="rect">
            <a:avLst/>
          </a:prstGeom>
          <a:solidFill>
            <a:srgbClr val="2F9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2" name="Rectangle 351"/>
          <p:cNvSpPr/>
          <p:nvPr/>
        </p:nvSpPr>
        <p:spPr>
          <a:xfrm>
            <a:off x="1650958" y="5905352"/>
            <a:ext cx="38099" cy="101597"/>
          </a:xfrm>
          <a:prstGeom prst="rect">
            <a:avLst/>
          </a:prstGeom>
          <a:solidFill>
            <a:srgbClr val="34A2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3" name="Rectangle 352"/>
          <p:cNvSpPr/>
          <p:nvPr/>
        </p:nvSpPr>
        <p:spPr>
          <a:xfrm>
            <a:off x="1682707" y="5905352"/>
            <a:ext cx="38099" cy="101597"/>
          </a:xfrm>
          <a:prstGeom prst="rect">
            <a:avLst/>
          </a:prstGeom>
          <a:solidFill>
            <a:srgbClr val="3AA7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4" name="Rectangle 353"/>
          <p:cNvSpPr/>
          <p:nvPr/>
        </p:nvSpPr>
        <p:spPr>
          <a:xfrm>
            <a:off x="1714457" y="5905352"/>
            <a:ext cx="38099" cy="101597"/>
          </a:xfrm>
          <a:prstGeom prst="rect">
            <a:avLst/>
          </a:prstGeom>
          <a:solidFill>
            <a:srgbClr val="3FAC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5" name="Rectangle 354"/>
          <p:cNvSpPr/>
          <p:nvPr/>
        </p:nvSpPr>
        <p:spPr>
          <a:xfrm>
            <a:off x="1746206" y="5905352"/>
            <a:ext cx="38099" cy="101597"/>
          </a:xfrm>
          <a:prstGeom prst="rect">
            <a:avLst/>
          </a:prstGeom>
          <a:solidFill>
            <a:srgbClr val="45B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6" name="Rectangle 355"/>
          <p:cNvSpPr/>
          <p:nvPr/>
        </p:nvSpPr>
        <p:spPr>
          <a:xfrm>
            <a:off x="1777955" y="5905352"/>
            <a:ext cx="38099" cy="101597"/>
          </a:xfrm>
          <a:prstGeom prst="rect">
            <a:avLst/>
          </a:prstGeom>
          <a:solidFill>
            <a:srgbClr val="4BB6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7" name="Rectangle 356"/>
          <p:cNvSpPr/>
          <p:nvPr/>
        </p:nvSpPr>
        <p:spPr>
          <a:xfrm>
            <a:off x="1809704" y="5905352"/>
            <a:ext cx="38099" cy="101597"/>
          </a:xfrm>
          <a:prstGeom prst="rect">
            <a:avLst/>
          </a:prstGeom>
          <a:solidFill>
            <a:srgbClr val="50B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8" name="Rectangle 357"/>
          <p:cNvSpPr/>
          <p:nvPr/>
        </p:nvSpPr>
        <p:spPr>
          <a:xfrm>
            <a:off x="1841453" y="5905352"/>
            <a:ext cx="38099" cy="101597"/>
          </a:xfrm>
          <a:prstGeom prst="rect">
            <a:avLst/>
          </a:prstGeom>
          <a:solidFill>
            <a:srgbClr val="60BF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9" name="Rectangle 358"/>
          <p:cNvSpPr/>
          <p:nvPr/>
        </p:nvSpPr>
        <p:spPr>
          <a:xfrm>
            <a:off x="1873203" y="5905352"/>
            <a:ext cx="38099" cy="101597"/>
          </a:xfrm>
          <a:prstGeom prst="rect">
            <a:avLst/>
          </a:prstGeom>
          <a:solidFill>
            <a:srgbClr val="75C1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0" name="Rectangle 359"/>
          <p:cNvSpPr/>
          <p:nvPr/>
        </p:nvSpPr>
        <p:spPr>
          <a:xfrm>
            <a:off x="1904952" y="5905352"/>
            <a:ext cx="38099" cy="101597"/>
          </a:xfrm>
          <a:prstGeom prst="rect">
            <a:avLst/>
          </a:prstGeom>
          <a:solidFill>
            <a:srgbClr val="8AC4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1" name="Rectangle 360"/>
          <p:cNvSpPr/>
          <p:nvPr/>
        </p:nvSpPr>
        <p:spPr>
          <a:xfrm>
            <a:off x="1936701" y="5905352"/>
            <a:ext cx="38099" cy="101597"/>
          </a:xfrm>
          <a:prstGeom prst="rect">
            <a:avLst/>
          </a:prstGeom>
          <a:solidFill>
            <a:srgbClr val="9FC6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2" name="Rectangle 361"/>
          <p:cNvSpPr/>
          <p:nvPr/>
        </p:nvSpPr>
        <p:spPr>
          <a:xfrm>
            <a:off x="1968450" y="5905352"/>
            <a:ext cx="38099" cy="101597"/>
          </a:xfrm>
          <a:prstGeom prst="rect">
            <a:avLst/>
          </a:prstGeom>
          <a:solidFill>
            <a:srgbClr val="B4C9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3" name="Rectangle 362"/>
          <p:cNvSpPr/>
          <p:nvPr/>
        </p:nvSpPr>
        <p:spPr>
          <a:xfrm>
            <a:off x="2000199" y="5905352"/>
            <a:ext cx="38099" cy="101597"/>
          </a:xfrm>
          <a:prstGeom prst="rect">
            <a:avLst/>
          </a:prstGeom>
          <a:solidFill>
            <a:srgbClr val="C9CB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4" name="Rectangle 363"/>
          <p:cNvSpPr/>
          <p:nvPr/>
        </p:nvSpPr>
        <p:spPr>
          <a:xfrm>
            <a:off x="2031949" y="5905352"/>
            <a:ext cx="38099" cy="101597"/>
          </a:xfrm>
          <a:prstGeom prst="rect">
            <a:avLst/>
          </a:prstGeom>
          <a:solidFill>
            <a:srgbClr val="DECE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5" name="Rectangle 364"/>
          <p:cNvSpPr/>
          <p:nvPr/>
        </p:nvSpPr>
        <p:spPr>
          <a:xfrm>
            <a:off x="2063698" y="5905352"/>
            <a:ext cx="38099" cy="101597"/>
          </a:xfrm>
          <a:prstGeom prst="rect">
            <a:avLst/>
          </a:prstGeom>
          <a:solidFill>
            <a:srgbClr val="F3D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6" name="Rectangle 365"/>
          <p:cNvSpPr/>
          <p:nvPr/>
        </p:nvSpPr>
        <p:spPr>
          <a:xfrm>
            <a:off x="2095447" y="5905352"/>
            <a:ext cx="38099" cy="101597"/>
          </a:xfrm>
          <a:prstGeom prst="rect">
            <a:avLst/>
          </a:prstGeom>
          <a:solidFill>
            <a:srgbClr val="FFCF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7" name="Rectangle 366"/>
          <p:cNvSpPr/>
          <p:nvPr/>
        </p:nvSpPr>
        <p:spPr>
          <a:xfrm>
            <a:off x="2127196" y="5905352"/>
            <a:ext cx="38099" cy="101597"/>
          </a:xfrm>
          <a:prstGeom prst="rect">
            <a:avLst/>
          </a:prstGeom>
          <a:solidFill>
            <a:srgbClr val="FFC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8" name="Rectangle 367"/>
          <p:cNvSpPr/>
          <p:nvPr/>
        </p:nvSpPr>
        <p:spPr>
          <a:xfrm>
            <a:off x="2158946" y="5905352"/>
            <a:ext cx="38099" cy="101597"/>
          </a:xfrm>
          <a:prstGeom prst="rect">
            <a:avLst/>
          </a:prstGeom>
          <a:solidFill>
            <a:srgbClr val="FFBE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9" name="Rectangle 368"/>
          <p:cNvSpPr/>
          <p:nvPr/>
        </p:nvSpPr>
        <p:spPr>
          <a:xfrm>
            <a:off x="2190695" y="5905352"/>
            <a:ext cx="38099" cy="101597"/>
          </a:xfrm>
          <a:prstGeom prst="rect">
            <a:avLst/>
          </a:prstGeom>
          <a:solidFill>
            <a:srgbClr val="FFB6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0" name="Rectangle 369"/>
          <p:cNvSpPr/>
          <p:nvPr/>
        </p:nvSpPr>
        <p:spPr>
          <a:xfrm>
            <a:off x="2222444" y="5905352"/>
            <a:ext cx="38099" cy="101597"/>
          </a:xfrm>
          <a:prstGeom prst="rect">
            <a:avLst/>
          </a:prstGeom>
          <a:solidFill>
            <a:srgbClr val="FFA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1" name="Rectangle 370"/>
          <p:cNvSpPr/>
          <p:nvPr/>
        </p:nvSpPr>
        <p:spPr>
          <a:xfrm>
            <a:off x="2254193" y="5905352"/>
            <a:ext cx="38099" cy="101597"/>
          </a:xfrm>
          <a:prstGeom prst="rect">
            <a:avLst/>
          </a:prstGeom>
          <a:solidFill>
            <a:srgbClr val="FFA5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2" name="Rectangle 371"/>
          <p:cNvSpPr/>
          <p:nvPr/>
        </p:nvSpPr>
        <p:spPr>
          <a:xfrm>
            <a:off x="2285942" y="5905352"/>
            <a:ext cx="38099" cy="101597"/>
          </a:xfrm>
          <a:prstGeom prst="rect">
            <a:avLst/>
          </a:prstGeom>
          <a:solidFill>
            <a:srgbClr val="FF9D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3" name="Rectangle 372"/>
          <p:cNvSpPr/>
          <p:nvPr/>
        </p:nvSpPr>
        <p:spPr>
          <a:xfrm>
            <a:off x="2317692" y="5905352"/>
            <a:ext cx="38099" cy="101597"/>
          </a:xfrm>
          <a:prstGeom prst="rect">
            <a:avLst/>
          </a:prstGeom>
          <a:solidFill>
            <a:srgbClr val="FF95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4" name="Rectangle 373"/>
          <p:cNvSpPr/>
          <p:nvPr/>
        </p:nvSpPr>
        <p:spPr>
          <a:xfrm>
            <a:off x="2349441" y="5905352"/>
            <a:ext cx="38099" cy="101597"/>
          </a:xfrm>
          <a:prstGeom prst="rect">
            <a:avLst/>
          </a:prstGeom>
          <a:solidFill>
            <a:srgbClr val="FF8C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5" name="Rectangle 374"/>
          <p:cNvSpPr/>
          <p:nvPr/>
        </p:nvSpPr>
        <p:spPr>
          <a:xfrm>
            <a:off x="2381190" y="5905352"/>
            <a:ext cx="38099" cy="101597"/>
          </a:xfrm>
          <a:prstGeom prst="rect">
            <a:avLst/>
          </a:prstGeom>
          <a:solidFill>
            <a:srgbClr val="FF84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6" name="Rectangle 375"/>
          <p:cNvSpPr/>
          <p:nvPr/>
        </p:nvSpPr>
        <p:spPr>
          <a:xfrm>
            <a:off x="2412939" y="5905352"/>
            <a:ext cx="38099" cy="101597"/>
          </a:xfrm>
          <a:prstGeom prst="rect">
            <a:avLst/>
          </a:prstGeom>
          <a:solidFill>
            <a:srgbClr val="FF7C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7" name="Rectangle 376"/>
          <p:cNvSpPr/>
          <p:nvPr/>
        </p:nvSpPr>
        <p:spPr>
          <a:xfrm>
            <a:off x="2444688" y="5905352"/>
            <a:ext cx="38099" cy="101597"/>
          </a:xfrm>
          <a:prstGeom prst="rect">
            <a:avLst/>
          </a:prstGeom>
          <a:solidFill>
            <a:srgbClr val="FD75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8" name="Rectangle 377"/>
          <p:cNvSpPr/>
          <p:nvPr/>
        </p:nvSpPr>
        <p:spPr>
          <a:xfrm>
            <a:off x="2476438" y="5905352"/>
            <a:ext cx="38099" cy="101597"/>
          </a:xfrm>
          <a:prstGeom prst="rect">
            <a:avLst/>
          </a:prstGeom>
          <a:solidFill>
            <a:srgbClr val="FB6F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9" name="Rectangle 378"/>
          <p:cNvSpPr/>
          <p:nvPr/>
        </p:nvSpPr>
        <p:spPr>
          <a:xfrm>
            <a:off x="2508187" y="5905352"/>
            <a:ext cx="38099" cy="101597"/>
          </a:xfrm>
          <a:prstGeom prst="rect">
            <a:avLst/>
          </a:prstGeom>
          <a:solidFill>
            <a:srgbClr val="FA69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0" name="Rectangle 379"/>
          <p:cNvSpPr/>
          <p:nvPr/>
        </p:nvSpPr>
        <p:spPr>
          <a:xfrm>
            <a:off x="2539936" y="5905352"/>
            <a:ext cx="38099" cy="101597"/>
          </a:xfrm>
          <a:prstGeom prst="rect">
            <a:avLst/>
          </a:prstGeom>
          <a:solidFill>
            <a:srgbClr val="F863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1" name="Rectangle 380"/>
          <p:cNvSpPr/>
          <p:nvPr/>
        </p:nvSpPr>
        <p:spPr>
          <a:xfrm>
            <a:off x="2571685" y="5905352"/>
            <a:ext cx="38099" cy="101597"/>
          </a:xfrm>
          <a:prstGeom prst="rect">
            <a:avLst/>
          </a:prstGeom>
          <a:solidFill>
            <a:srgbClr val="F65D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2" name="Rectangle 381"/>
          <p:cNvSpPr/>
          <p:nvPr/>
        </p:nvSpPr>
        <p:spPr>
          <a:xfrm>
            <a:off x="2603434" y="5905352"/>
            <a:ext cx="38099" cy="101597"/>
          </a:xfrm>
          <a:prstGeom prst="rect">
            <a:avLst/>
          </a:prstGeom>
          <a:solidFill>
            <a:srgbClr val="F457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3" name="Rectangle 382"/>
          <p:cNvSpPr/>
          <p:nvPr/>
        </p:nvSpPr>
        <p:spPr>
          <a:xfrm>
            <a:off x="2635184" y="5905352"/>
            <a:ext cx="38099" cy="101597"/>
          </a:xfrm>
          <a:prstGeom prst="rect">
            <a:avLst/>
          </a:prstGeom>
          <a:solidFill>
            <a:srgbClr val="F25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4" name="Rectangle 383"/>
          <p:cNvSpPr/>
          <p:nvPr/>
        </p:nvSpPr>
        <p:spPr>
          <a:xfrm>
            <a:off x="2666933" y="5905352"/>
            <a:ext cx="38099" cy="101597"/>
          </a:xfrm>
          <a:prstGeom prst="rect">
            <a:avLst/>
          </a:prstGeom>
          <a:solidFill>
            <a:srgbClr val="F04B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5" name="Rectangle 384"/>
          <p:cNvSpPr/>
          <p:nvPr/>
        </p:nvSpPr>
        <p:spPr>
          <a:xfrm>
            <a:off x="2698682" y="5905352"/>
            <a:ext cx="38099" cy="101597"/>
          </a:xfrm>
          <a:prstGeom prst="rect">
            <a:avLst/>
          </a:prstGeom>
          <a:solidFill>
            <a:srgbClr val="EE45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6" name="Rectangle 385"/>
          <p:cNvSpPr/>
          <p:nvPr/>
        </p:nvSpPr>
        <p:spPr>
          <a:xfrm>
            <a:off x="2730431" y="5905352"/>
            <a:ext cx="38099" cy="101597"/>
          </a:xfrm>
          <a:prstGeom prst="rect">
            <a:avLst/>
          </a:prstGeom>
          <a:solidFill>
            <a:srgbClr val="EC3F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7" name="Rectangle 386"/>
          <p:cNvSpPr/>
          <p:nvPr/>
        </p:nvSpPr>
        <p:spPr>
          <a:xfrm>
            <a:off x="2762180" y="5905352"/>
            <a:ext cx="38099" cy="101597"/>
          </a:xfrm>
          <a:prstGeom prst="rect">
            <a:avLst/>
          </a:prstGeom>
          <a:solidFill>
            <a:srgbClr val="EA39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8" name="Rectangle 387"/>
          <p:cNvSpPr/>
          <p:nvPr/>
        </p:nvSpPr>
        <p:spPr>
          <a:xfrm>
            <a:off x="2793930" y="5905352"/>
            <a:ext cx="38099" cy="101597"/>
          </a:xfrm>
          <a:prstGeom prst="rect">
            <a:avLst/>
          </a:prstGeom>
          <a:solidFill>
            <a:srgbClr val="E833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9" name="TextBox 388"/>
          <p:cNvSpPr txBox="1"/>
          <p:nvPr/>
        </p:nvSpPr>
        <p:spPr>
          <a:xfrm>
            <a:off x="539736" y="6070448"/>
            <a:ext cx="761980" cy="190495"/>
          </a:xfrm>
          <a:prstGeom prst="rect">
            <a:avLst/>
          </a:prstGeom>
          <a:noFill/>
        </p:spPr>
        <p:txBody>
          <a:bodyPr wrap="square" anchor="t" lIns="0" rIns="0" tIns="0" bIns="0">
            <a:spAutoFit/>
          </a:bodyPr>
          <a:lstStyle/>
          <a:p>
            <a:pPr algn="ctr">
              <a:lnSpc>
                <a:spcPct val="125000"/>
              </a:lnSpc>
            </a:pPr>
            <a:r>
              <a:rPr sz="1100" b="0">
                <a:solidFill>
                  <a:srgbClr val="8FB6D0"/>
                </a:solidFill>
                <a:latin typeface="Consolas"/>
              </a:rPr>
              <a:t>0</a:t>
            </a:r>
          </a:p>
        </p:txBody>
      </p:sp>
      <p:sp>
        <p:nvSpPr>
          <p:cNvPr id="390" name="TextBox 389"/>
          <p:cNvSpPr txBox="1"/>
          <p:nvPr/>
        </p:nvSpPr>
        <p:spPr>
          <a:xfrm>
            <a:off x="1492212" y="6070448"/>
            <a:ext cx="761980" cy="190495"/>
          </a:xfrm>
          <a:prstGeom prst="rect">
            <a:avLst/>
          </a:prstGeom>
          <a:noFill/>
        </p:spPr>
        <p:txBody>
          <a:bodyPr wrap="square" anchor="t" lIns="0" rIns="0" tIns="0" bIns="0">
            <a:spAutoFit/>
          </a:bodyPr>
          <a:lstStyle/>
          <a:p>
            <a:pPr algn="ctr">
              <a:lnSpc>
                <a:spcPct val="125000"/>
              </a:lnSpc>
            </a:pPr>
            <a:r>
              <a:rPr sz="1100" b="0">
                <a:solidFill>
                  <a:srgbClr val="8FB6D0"/>
                </a:solidFill>
                <a:latin typeface="Consolas"/>
              </a:rPr>
              <a:t>200</a:t>
            </a:r>
          </a:p>
        </p:txBody>
      </p:sp>
      <p:sp>
        <p:nvSpPr>
          <p:cNvPr id="391" name="TextBox 390"/>
          <p:cNvSpPr txBox="1"/>
          <p:nvPr/>
        </p:nvSpPr>
        <p:spPr>
          <a:xfrm>
            <a:off x="2444688" y="6070448"/>
            <a:ext cx="761980" cy="190495"/>
          </a:xfrm>
          <a:prstGeom prst="rect">
            <a:avLst/>
          </a:prstGeom>
          <a:noFill/>
        </p:spPr>
        <p:txBody>
          <a:bodyPr wrap="square" anchor="t" lIns="0" rIns="0" tIns="0" bIns="0">
            <a:spAutoFit/>
          </a:bodyPr>
          <a:lstStyle/>
          <a:p>
            <a:pPr algn="ctr">
              <a:lnSpc>
                <a:spcPct val="125000"/>
              </a:lnSpc>
            </a:pPr>
            <a:r>
              <a:rPr sz="1100" b="0">
                <a:solidFill>
                  <a:srgbClr val="8FB6D0"/>
                </a:solidFill>
                <a:latin typeface="Consolas"/>
              </a:rPr>
              <a:t>400</a:t>
            </a:r>
          </a:p>
        </p:txBody>
      </p:sp>
      <p:sp>
        <p:nvSpPr>
          <p:cNvPr id="392" name="TextBox 391"/>
          <p:cNvSpPr txBox="1"/>
          <p:nvPr/>
        </p:nvSpPr>
        <p:spPr>
          <a:xfrm>
            <a:off x="2978075" y="5892652"/>
            <a:ext cx="1269968" cy="190495"/>
          </a:xfrm>
          <a:prstGeom prst="rect">
            <a:avLst/>
          </a:prstGeom>
          <a:noFill/>
        </p:spPr>
        <p:txBody>
          <a:bodyPr wrap="square" anchor="t" lIns="0" rIns="0" tIns="0" bIns="0">
            <a:spAutoFit/>
          </a:bodyPr>
          <a:lstStyle/>
          <a:p>
            <a:pPr algn="l">
              <a:lnSpc>
                <a:spcPct val="125000"/>
              </a:lnSpc>
            </a:pPr>
            <a:r>
              <a:rPr sz="1100" b="0">
                <a:solidFill>
                  <a:srgbClr val="8FB6D0"/>
                </a:solidFill>
                <a:latin typeface="Consolas"/>
              </a:rPr>
              <a:t>kPa</a:t>
            </a:r>
          </a:p>
        </p:txBody>
      </p:sp>
      <p:sp>
        <p:nvSpPr>
          <p:cNvPr id="393" name="!!piek"/>
          <p:cNvSpPr txBox="1"/>
          <p:nvPr/>
        </p:nvSpPr>
        <p:spPr>
          <a:xfrm>
            <a:off x="3555911" y="1587460"/>
            <a:ext cx="4444888" cy="1904952"/>
          </a:xfrm>
          <a:prstGeom prst="rect">
            <a:avLst/>
          </a:prstGeom>
          <a:noFill/>
        </p:spPr>
        <p:txBody>
          <a:bodyPr wrap="none" anchor="t" lIns="0" rIns="0" tIns="0" bIns="0">
            <a:spAutoFit/>
          </a:bodyPr>
          <a:lstStyle/>
          <a:p>
            <a:pPr algn="l">
              <a:lnSpc>
                <a:spcPct val="90000"/>
              </a:lnSpc>
            </a:pPr>
            <a:r>
              <a:rPr sz="15000" b="1">
                <a:solidFill>
                  <a:srgbClr val="FF7A00"/>
                </a:solidFill>
                <a:latin typeface="Segoe UI"/>
              </a:rPr>
              <a:t>312</a:t>
            </a:r>
          </a:p>
        </p:txBody>
      </p:sp>
      <p:sp>
        <p:nvSpPr>
          <p:cNvPr id="394" name="!!eenheid"/>
          <p:cNvSpPr txBox="1"/>
          <p:nvPr/>
        </p:nvSpPr>
        <p:spPr>
          <a:xfrm>
            <a:off x="6857828" y="1904952"/>
            <a:ext cx="1269968" cy="507987"/>
          </a:xfrm>
          <a:prstGeom prst="rect">
            <a:avLst/>
          </a:prstGeom>
          <a:noFill/>
        </p:spPr>
        <p:txBody>
          <a:bodyPr wrap="square" anchor="t" lIns="0" rIns="0" tIns="0" bIns="0">
            <a:spAutoFit/>
          </a:bodyPr>
          <a:lstStyle/>
          <a:p>
            <a:pPr algn="l">
              <a:lnSpc>
                <a:spcPct val="125000"/>
              </a:lnSpc>
            </a:pPr>
            <a:r>
              <a:rPr sz="4400" b="1">
                <a:solidFill>
                  <a:srgbClr val="FF7A00"/>
                </a:solidFill>
                <a:latin typeface="Segoe UI Light"/>
              </a:rPr>
              <a:t>kPa</a:t>
            </a:r>
          </a:p>
        </p:txBody>
      </p:sp>
      <p:sp>
        <p:nvSpPr>
          <p:cNvPr id="395" name="!!plek"/>
          <p:cNvSpPr txBox="1"/>
          <p:nvPr/>
        </p:nvSpPr>
        <p:spPr>
          <a:xfrm>
            <a:off x="3581310" y="3352716"/>
            <a:ext cx="7619809" cy="380990"/>
          </a:xfrm>
          <a:prstGeom prst="rect">
            <a:avLst/>
          </a:prstGeom>
          <a:noFill/>
        </p:spPr>
        <p:txBody>
          <a:bodyPr wrap="square" anchor="t" lIns="0" rIns="0" tIns="0" bIns="0">
            <a:spAutoFit/>
          </a:bodyPr>
          <a:lstStyle/>
          <a:p>
            <a:pPr algn="l">
              <a:lnSpc>
                <a:spcPct val="125000"/>
              </a:lnSpc>
            </a:pPr>
            <a:r>
              <a:rPr sz="2200" b="1">
                <a:solidFill>
                  <a:srgbClr val="F2F8FC"/>
                </a:solidFill>
                <a:latin typeface="Segoe UI"/>
              </a:rPr>
              <a:t>piekdruk op metatarsaal 2-3</a:t>
            </a:r>
          </a:p>
        </p:txBody>
      </p:sp>
      <p:sp>
        <p:nvSpPr>
          <p:cNvPr id="396" name="!!norm"/>
          <p:cNvSpPr/>
          <p:nvPr/>
        </p:nvSpPr>
        <p:spPr>
          <a:xfrm>
            <a:off x="3555911" y="3924201"/>
            <a:ext cx="8000799" cy="609584"/>
          </a:xfrm>
          <a:prstGeom prst="roundRect">
            <a:avLst>
              <a:gd name="adj" fmla="val 4500"/>
            </a:avLst>
          </a:prstGeom>
          <a:solidFill>
            <a:srgbClr val="174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7" name="!!normtekst"/>
          <p:cNvSpPr txBox="1"/>
          <p:nvPr/>
        </p:nvSpPr>
        <p:spPr>
          <a:xfrm>
            <a:off x="3555911" y="4101997"/>
            <a:ext cx="8000799" cy="292092"/>
          </a:xfrm>
          <a:prstGeom prst="rect">
            <a:avLst/>
          </a:prstGeom>
          <a:noFill/>
        </p:spPr>
        <p:txBody>
          <a:bodyPr wrap="square" anchor="t" lIns="0" rIns="0" tIns="0" bIns="0">
            <a:spAutoFit/>
          </a:bodyPr>
          <a:lstStyle/>
          <a:p>
            <a:pPr algn="ctr">
              <a:lnSpc>
                <a:spcPct val="125000"/>
              </a:lnSpc>
            </a:pPr>
            <a:r>
              <a:rPr sz="2200" b="1">
                <a:solidFill>
                  <a:srgbClr val="FF7A00"/>
                </a:solidFill>
                <a:latin typeface="Consolas"/>
              </a:rPr>
              <a:t>Norm:  &lt; 200 kPa   óf   ≥ 25% lager</a:t>
            </a:r>
          </a:p>
        </p:txBody>
      </p:sp>
      <p:sp>
        <p:nvSpPr>
          <p:cNvPr id="398" name="TextBox 397"/>
          <p:cNvSpPr txBox="1"/>
          <p:nvPr/>
        </p:nvSpPr>
        <p:spPr>
          <a:xfrm>
            <a:off x="3555911" y="4825879"/>
            <a:ext cx="8000799" cy="1269968"/>
          </a:xfrm>
          <a:prstGeom prst="rect">
            <a:avLst/>
          </a:prstGeom>
          <a:noFill/>
        </p:spPr>
        <p:txBody>
          <a:bodyPr wrap="square" anchor="t" lIns="0" rIns="0" tIns="0" bIns="0">
            <a:spAutoFit/>
          </a:bodyPr>
          <a:lstStyle/>
          <a:p>
            <a:pPr algn="l">
              <a:lnSpc>
                <a:spcPct val="135000"/>
              </a:lnSpc>
            </a:pPr>
            <a:r>
              <a:rPr sz="1700" b="0">
                <a:solidFill>
                  <a:srgbClr val="8FB6D0"/>
                </a:solidFill>
                <a:latin typeface="Segoe UI"/>
              </a:rPr>
              <a:t>pedar®-sensorinsole in de schoen geplaatst, drie loopproeven uitgevoerd.</a:t>
            </a:r>
          </a:p>
          <a:p>
            <a:pPr algn="l">
              <a:lnSpc>
                <a:spcPct val="135000"/>
              </a:lnSpc>
              <a:spcBef>
                <a:spcPts val="1200"/>
              </a:spcBef>
            </a:pPr>
            <a:r>
              <a:rPr sz="1700" b="0">
                <a:solidFill>
                  <a:srgbClr val="8FB6D0"/>
                </a:solidFill>
                <a:latin typeface="Segoe UI"/>
              </a:rPr>
              <a:t>De middelste twaalf passen per voet geanalyseerd; daaruit berekent de software de gemiddelde piekdruk per voet.</a:t>
            </a:r>
          </a:p>
        </p:txBody>
      </p:sp>
      <p:sp>
        <p:nvSpPr>
          <p:cNvPr id="399" name="TextBox 398"/>
          <p:cNvSpPr txBox="1"/>
          <p:nvPr/>
        </p:nvSpPr>
        <p:spPr>
          <a:xfrm>
            <a:off x="634984" y="6387940"/>
            <a:ext cx="8889777" cy="190495"/>
          </a:xfrm>
          <a:prstGeom prst="rect">
            <a:avLst/>
          </a:prstGeom>
          <a:noFill/>
        </p:spPr>
        <p:txBody>
          <a:bodyPr wrap="square" anchor="t" lIns="0" rIns="0" tIns="0" bIns="0">
            <a:spAutoFit/>
          </a:bodyPr>
          <a:lstStyle/>
          <a:p>
            <a:pPr algn="l">
              <a:lnSpc>
                <a:spcPct val="125000"/>
              </a:lnSpc>
            </a:pPr>
            <a:r>
              <a:rPr sz="1150" b="0">
                <a:solidFill>
                  <a:srgbClr val="8FB6D0"/>
                </a:solidFill>
                <a:latin typeface="Consolas"/>
              </a:rPr>
              <a:t>eCRF-document 09 · Meting plantaire druk, baseline</a:t>
            </a:r>
          </a:p>
        </p:txBody>
      </p:sp>
      <p:sp>
        <p:nvSpPr>
          <p:cNvPr id="400" name="TextBox 399"/>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09 / 28</a:t>
            </a:r>
          </a:p>
        </p:txBody>
      </p:sp>
      <p:pic>
        <p:nvPicPr>
          <p:cNvPr id="401"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402" name="TextBox 401"/>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Bron  7 · Bus 2020   |   27 · Zwaferink 2024</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NA OPTIMALISATIE</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Wanneer is het goed genoeg</a:t>
            </a:r>
          </a:p>
        </p:txBody>
      </p:sp>
      <p:sp>
        <p:nvSpPr>
          <p:cNvPr id="5" name="!!p00_07"/>
          <p:cNvSpPr/>
          <p:nvPr/>
        </p:nvSpPr>
        <p:spPr>
          <a:xfrm>
            <a:off x="1585505" y="5645727"/>
            <a:ext cx="99157" cy="99157"/>
          </a:xfrm>
          <a:prstGeom prst="roundRect">
            <a:avLst>
              <a:gd name="adj" fmla="val 30000"/>
            </a:avLst>
          </a:prstGeom>
          <a:solidFill>
            <a:srgbClr val="145C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00_08"/>
          <p:cNvSpPr/>
          <p:nvPr/>
        </p:nvSpPr>
        <p:spPr>
          <a:xfrm>
            <a:off x="1744251" y="5645727"/>
            <a:ext cx="99157" cy="99157"/>
          </a:xfrm>
          <a:prstGeom prst="roundRect">
            <a:avLst>
              <a:gd name="adj" fmla="val 30000"/>
            </a:avLst>
          </a:prstGeom>
          <a:solidFill>
            <a:srgbClr val="1871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00_09"/>
          <p:cNvSpPr/>
          <p:nvPr/>
        </p:nvSpPr>
        <p:spPr>
          <a:xfrm>
            <a:off x="1902997" y="5645727"/>
            <a:ext cx="99157" cy="99157"/>
          </a:xfrm>
          <a:prstGeom prst="roundRect">
            <a:avLst>
              <a:gd name="adj" fmla="val 30000"/>
            </a:avLst>
          </a:prstGeom>
          <a:solidFill>
            <a:srgbClr val="1871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00_10"/>
          <p:cNvSpPr/>
          <p:nvPr/>
        </p:nvSpPr>
        <p:spPr>
          <a:xfrm>
            <a:off x="2061743" y="5645727"/>
            <a:ext cx="99157" cy="99157"/>
          </a:xfrm>
          <a:prstGeom prst="roundRect">
            <a:avLst>
              <a:gd name="adj" fmla="val 30000"/>
            </a:avLst>
          </a:prstGeom>
          <a:solidFill>
            <a:srgbClr val="145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01_06"/>
          <p:cNvSpPr/>
          <p:nvPr/>
        </p:nvSpPr>
        <p:spPr>
          <a:xfrm>
            <a:off x="1426759" y="5530427"/>
            <a:ext cx="99157" cy="99157"/>
          </a:xfrm>
          <a:prstGeom prst="roundRect">
            <a:avLst>
              <a:gd name="adj" fmla="val 30000"/>
            </a:avLst>
          </a:prstGeom>
          <a:solidFill>
            <a:srgbClr val="104B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01_07"/>
          <p:cNvSpPr/>
          <p:nvPr/>
        </p:nvSpPr>
        <p:spPr>
          <a:xfrm>
            <a:off x="1585505" y="5530427"/>
            <a:ext cx="99157" cy="99157"/>
          </a:xfrm>
          <a:prstGeom prst="roundRect">
            <a:avLst>
              <a:gd name="adj" fmla="val 30000"/>
            </a:avLst>
          </a:prstGeom>
          <a:solidFill>
            <a:srgbClr val="176F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01_08"/>
          <p:cNvSpPr/>
          <p:nvPr/>
        </p:nvSpPr>
        <p:spPr>
          <a:xfrm>
            <a:off x="1744251" y="5530427"/>
            <a:ext cx="99157" cy="99157"/>
          </a:xfrm>
          <a:prstGeom prst="roundRect">
            <a:avLst>
              <a:gd name="adj" fmla="val 30000"/>
            </a:avLst>
          </a:prstGeom>
          <a:solidFill>
            <a:srgbClr val="1C8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01_09"/>
          <p:cNvSpPr/>
          <p:nvPr/>
        </p:nvSpPr>
        <p:spPr>
          <a:xfrm>
            <a:off x="1902997" y="5530427"/>
            <a:ext cx="99157" cy="99157"/>
          </a:xfrm>
          <a:prstGeom prst="roundRect">
            <a:avLst>
              <a:gd name="adj" fmla="val 30000"/>
            </a:avLst>
          </a:prstGeom>
          <a:solidFill>
            <a:srgbClr val="1C8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01_10"/>
          <p:cNvSpPr/>
          <p:nvPr/>
        </p:nvSpPr>
        <p:spPr>
          <a:xfrm>
            <a:off x="2061743" y="5530427"/>
            <a:ext cx="99157" cy="99157"/>
          </a:xfrm>
          <a:prstGeom prst="roundRect">
            <a:avLst>
              <a:gd name="adj" fmla="val 30000"/>
            </a:avLst>
          </a:prstGeom>
          <a:solidFill>
            <a:srgbClr val="176F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01_11"/>
          <p:cNvSpPr/>
          <p:nvPr/>
        </p:nvSpPr>
        <p:spPr>
          <a:xfrm>
            <a:off x="2220489" y="5530427"/>
            <a:ext cx="99157" cy="99157"/>
          </a:xfrm>
          <a:prstGeom prst="roundRect">
            <a:avLst>
              <a:gd name="adj" fmla="val 30000"/>
            </a:avLst>
          </a:prstGeom>
          <a:solidFill>
            <a:srgbClr val="104B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02_05"/>
          <p:cNvSpPr/>
          <p:nvPr/>
        </p:nvSpPr>
        <p:spPr>
          <a:xfrm>
            <a:off x="1268013" y="5415127"/>
            <a:ext cx="99157" cy="99157"/>
          </a:xfrm>
          <a:prstGeom prst="roundRect">
            <a:avLst>
              <a:gd name="adj" fmla="val 30000"/>
            </a:avLst>
          </a:prstGeom>
          <a:solidFill>
            <a:srgbClr val="0C37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02_06"/>
          <p:cNvSpPr/>
          <p:nvPr/>
        </p:nvSpPr>
        <p:spPr>
          <a:xfrm>
            <a:off x="1426759" y="5415127"/>
            <a:ext cx="99157" cy="99157"/>
          </a:xfrm>
          <a:prstGeom prst="roundRect">
            <a:avLst>
              <a:gd name="adj" fmla="val 30000"/>
            </a:avLst>
          </a:prstGeom>
          <a:solidFill>
            <a:srgbClr val="1256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02_07"/>
          <p:cNvSpPr/>
          <p:nvPr/>
        </p:nvSpPr>
        <p:spPr>
          <a:xfrm>
            <a:off x="1585505" y="5415127"/>
            <a:ext cx="99157" cy="99157"/>
          </a:xfrm>
          <a:prstGeom prst="roundRect">
            <a:avLst>
              <a:gd name="adj" fmla="val 30000"/>
            </a:avLst>
          </a:prstGeom>
          <a:solidFill>
            <a:srgbClr val="1B80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p02_08"/>
          <p:cNvSpPr/>
          <p:nvPr/>
        </p:nvSpPr>
        <p:spPr>
          <a:xfrm>
            <a:off x="1744251" y="5415127"/>
            <a:ext cx="99157" cy="99157"/>
          </a:xfrm>
          <a:prstGeom prst="roundRect">
            <a:avLst>
              <a:gd name="adj" fmla="val 30000"/>
            </a:avLst>
          </a:prstGeom>
          <a:solidFill>
            <a:srgbClr val="289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02_09"/>
          <p:cNvSpPr/>
          <p:nvPr/>
        </p:nvSpPr>
        <p:spPr>
          <a:xfrm>
            <a:off x="1902997" y="5415127"/>
            <a:ext cx="99157" cy="99157"/>
          </a:xfrm>
          <a:prstGeom prst="roundRect">
            <a:avLst>
              <a:gd name="adj" fmla="val 30000"/>
            </a:avLst>
          </a:prstGeom>
          <a:solidFill>
            <a:srgbClr val="289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p02_10"/>
          <p:cNvSpPr/>
          <p:nvPr/>
        </p:nvSpPr>
        <p:spPr>
          <a:xfrm>
            <a:off x="2061743" y="5415127"/>
            <a:ext cx="99157" cy="99157"/>
          </a:xfrm>
          <a:prstGeom prst="roundRect">
            <a:avLst>
              <a:gd name="adj" fmla="val 30000"/>
            </a:avLst>
          </a:prstGeom>
          <a:solidFill>
            <a:srgbClr val="1B81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p02_11"/>
          <p:cNvSpPr/>
          <p:nvPr/>
        </p:nvSpPr>
        <p:spPr>
          <a:xfrm>
            <a:off x="2220489" y="5415127"/>
            <a:ext cx="99157" cy="99157"/>
          </a:xfrm>
          <a:prstGeom prst="roundRect">
            <a:avLst>
              <a:gd name="adj" fmla="val 30000"/>
            </a:avLst>
          </a:prstGeom>
          <a:solidFill>
            <a:srgbClr val="135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p02_12"/>
          <p:cNvSpPr/>
          <p:nvPr/>
        </p:nvSpPr>
        <p:spPr>
          <a:xfrm>
            <a:off x="2379235" y="5415127"/>
            <a:ext cx="99157" cy="99157"/>
          </a:xfrm>
          <a:prstGeom prst="roundRect">
            <a:avLst>
              <a:gd name="adj" fmla="val 30000"/>
            </a:avLst>
          </a:prstGeom>
          <a:solidFill>
            <a:srgbClr val="0C37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p03_05"/>
          <p:cNvSpPr/>
          <p:nvPr/>
        </p:nvSpPr>
        <p:spPr>
          <a:xfrm>
            <a:off x="1268013" y="5299828"/>
            <a:ext cx="99157" cy="99157"/>
          </a:xfrm>
          <a:prstGeom prst="roundRect">
            <a:avLst>
              <a:gd name="adj" fmla="val 30000"/>
            </a:avLst>
          </a:prstGeom>
          <a:solidFill>
            <a:srgbClr val="0D3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p03_06"/>
          <p:cNvSpPr/>
          <p:nvPr/>
        </p:nvSpPr>
        <p:spPr>
          <a:xfrm>
            <a:off x="1426759" y="5299828"/>
            <a:ext cx="99157" cy="99157"/>
          </a:xfrm>
          <a:prstGeom prst="roundRect">
            <a:avLst>
              <a:gd name="adj" fmla="val 30000"/>
            </a:avLst>
          </a:prstGeom>
          <a:solidFill>
            <a:srgbClr val="145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p03_07"/>
          <p:cNvSpPr/>
          <p:nvPr/>
        </p:nvSpPr>
        <p:spPr>
          <a:xfrm>
            <a:off x="1585505" y="5299828"/>
            <a:ext cx="99157" cy="99157"/>
          </a:xfrm>
          <a:prstGeom prst="roundRect">
            <a:avLst>
              <a:gd name="adj" fmla="val 3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p03_08"/>
          <p:cNvSpPr/>
          <p:nvPr/>
        </p:nvSpPr>
        <p:spPr>
          <a:xfrm>
            <a:off x="1744251" y="5299828"/>
            <a:ext cx="99157" cy="99157"/>
          </a:xfrm>
          <a:prstGeom prst="roundRect">
            <a:avLst>
              <a:gd name="adj" fmla="val 30000"/>
            </a:avLst>
          </a:prstGeom>
          <a:solidFill>
            <a:srgbClr val="32A0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p03_09"/>
          <p:cNvSpPr/>
          <p:nvPr/>
        </p:nvSpPr>
        <p:spPr>
          <a:xfrm>
            <a:off x="1902997" y="5299828"/>
            <a:ext cx="99157" cy="99157"/>
          </a:xfrm>
          <a:prstGeom prst="roundRect">
            <a:avLst>
              <a:gd name="adj" fmla="val 30000"/>
            </a:avLst>
          </a:prstGeom>
          <a:solidFill>
            <a:srgbClr val="32A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p03_10"/>
          <p:cNvSpPr/>
          <p:nvPr/>
        </p:nvSpPr>
        <p:spPr>
          <a:xfrm>
            <a:off x="2061743" y="5299828"/>
            <a:ext cx="99157" cy="99157"/>
          </a:xfrm>
          <a:prstGeom prst="roundRect">
            <a:avLst>
              <a:gd name="adj" fmla="val 30000"/>
            </a:avLst>
          </a:prstGeom>
          <a:solidFill>
            <a:srgbClr val="1E8E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p03_11"/>
          <p:cNvSpPr/>
          <p:nvPr/>
        </p:nvSpPr>
        <p:spPr>
          <a:xfrm>
            <a:off x="2220489" y="5299828"/>
            <a:ext cx="99157" cy="99157"/>
          </a:xfrm>
          <a:prstGeom prst="roundRect">
            <a:avLst>
              <a:gd name="adj" fmla="val 30000"/>
            </a:avLst>
          </a:prstGeom>
          <a:solidFill>
            <a:srgbClr val="15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p03_12"/>
          <p:cNvSpPr/>
          <p:nvPr/>
        </p:nvSpPr>
        <p:spPr>
          <a:xfrm>
            <a:off x="2379235" y="5299828"/>
            <a:ext cx="99157" cy="99157"/>
          </a:xfrm>
          <a:prstGeom prst="roundRect">
            <a:avLst>
              <a:gd name="adj" fmla="val 30000"/>
            </a:avLst>
          </a:prstGeom>
          <a:solidFill>
            <a:srgbClr val="0D3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p04_05"/>
          <p:cNvSpPr/>
          <p:nvPr/>
        </p:nvSpPr>
        <p:spPr>
          <a:xfrm>
            <a:off x="1268013" y="5184528"/>
            <a:ext cx="99157" cy="99157"/>
          </a:xfrm>
          <a:prstGeom prst="roundRect">
            <a:avLst>
              <a:gd name="adj" fmla="val 30000"/>
            </a:avLst>
          </a:prstGeom>
          <a:solidFill>
            <a:srgbClr val="0D3C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p04_06"/>
          <p:cNvSpPr/>
          <p:nvPr/>
        </p:nvSpPr>
        <p:spPr>
          <a:xfrm>
            <a:off x="1426759" y="5184528"/>
            <a:ext cx="99157" cy="99157"/>
          </a:xfrm>
          <a:prstGeom prst="roundRect">
            <a:avLst>
              <a:gd name="adj" fmla="val 30000"/>
            </a:avLst>
          </a:prstGeom>
          <a:solidFill>
            <a:srgbClr val="1565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p04_07"/>
          <p:cNvSpPr/>
          <p:nvPr/>
        </p:nvSpPr>
        <p:spPr>
          <a:xfrm>
            <a:off x="1585505" y="5184528"/>
            <a:ext cx="99157" cy="99157"/>
          </a:xfrm>
          <a:prstGeom prst="roundRect">
            <a:avLst>
              <a:gd name="adj" fmla="val 30000"/>
            </a:avLst>
          </a:prstGeom>
          <a:solidFill>
            <a:srgbClr val="229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p04_08"/>
          <p:cNvSpPr/>
          <p:nvPr/>
        </p:nvSpPr>
        <p:spPr>
          <a:xfrm>
            <a:off x="1744251" y="5184528"/>
            <a:ext cx="99157" cy="99157"/>
          </a:xfrm>
          <a:prstGeom prst="roundRect">
            <a:avLst>
              <a:gd name="adj" fmla="val 30000"/>
            </a:avLst>
          </a:prstGeom>
          <a:solidFill>
            <a:srgbClr val="38A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p04_09"/>
          <p:cNvSpPr/>
          <p:nvPr/>
        </p:nvSpPr>
        <p:spPr>
          <a:xfrm>
            <a:off x="1902997" y="5184528"/>
            <a:ext cx="99157" cy="99157"/>
          </a:xfrm>
          <a:prstGeom prst="roundRect">
            <a:avLst>
              <a:gd name="adj" fmla="val 30000"/>
            </a:avLst>
          </a:prstGeom>
          <a:solidFill>
            <a:srgbClr val="39A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p04_10"/>
          <p:cNvSpPr/>
          <p:nvPr/>
        </p:nvSpPr>
        <p:spPr>
          <a:xfrm>
            <a:off x="2061743" y="5184528"/>
            <a:ext cx="99157" cy="99157"/>
          </a:xfrm>
          <a:prstGeom prst="roundRect">
            <a:avLst>
              <a:gd name="adj" fmla="val 30000"/>
            </a:avLst>
          </a:prstGeom>
          <a:solidFill>
            <a:srgbClr val="249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p04_11"/>
          <p:cNvSpPr/>
          <p:nvPr/>
        </p:nvSpPr>
        <p:spPr>
          <a:xfrm>
            <a:off x="2220489" y="5184528"/>
            <a:ext cx="99157" cy="99157"/>
          </a:xfrm>
          <a:prstGeom prst="roundRect">
            <a:avLst>
              <a:gd name="adj" fmla="val 30000"/>
            </a:avLst>
          </a:prstGeom>
          <a:solidFill>
            <a:srgbClr val="1669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p04_12"/>
          <p:cNvSpPr/>
          <p:nvPr/>
        </p:nvSpPr>
        <p:spPr>
          <a:xfrm>
            <a:off x="2379235" y="5184528"/>
            <a:ext cx="99157" cy="99157"/>
          </a:xfrm>
          <a:prstGeom prst="roundRect">
            <a:avLst>
              <a:gd name="adj" fmla="val 30000"/>
            </a:avLst>
          </a:prstGeom>
          <a:solidFill>
            <a:srgbClr val="0E3E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p05_05"/>
          <p:cNvSpPr/>
          <p:nvPr/>
        </p:nvSpPr>
        <p:spPr>
          <a:xfrm>
            <a:off x="1268013" y="5069228"/>
            <a:ext cx="99157" cy="99157"/>
          </a:xfrm>
          <a:prstGeom prst="roundRect">
            <a:avLst>
              <a:gd name="adj" fmla="val 30000"/>
            </a:avLst>
          </a:prstGeom>
          <a:solidFill>
            <a:srgbClr val="0E3E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p05_06"/>
          <p:cNvSpPr/>
          <p:nvPr/>
        </p:nvSpPr>
        <p:spPr>
          <a:xfrm>
            <a:off x="1426759" y="5069228"/>
            <a:ext cx="99157" cy="99157"/>
          </a:xfrm>
          <a:prstGeom prst="roundRect">
            <a:avLst>
              <a:gd name="adj" fmla="val 30000"/>
            </a:avLst>
          </a:prstGeom>
          <a:solidFill>
            <a:srgbClr val="1667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p05_07"/>
          <p:cNvSpPr/>
          <p:nvPr/>
        </p:nvSpPr>
        <p:spPr>
          <a:xfrm>
            <a:off x="1585505" y="5069228"/>
            <a:ext cx="99157" cy="99157"/>
          </a:xfrm>
          <a:prstGeom prst="roundRect">
            <a:avLst>
              <a:gd name="adj" fmla="val 30000"/>
            </a:avLst>
          </a:prstGeom>
          <a:solidFill>
            <a:srgbClr val="2393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p05_08"/>
          <p:cNvSpPr/>
          <p:nvPr/>
        </p:nvSpPr>
        <p:spPr>
          <a:xfrm>
            <a:off x="1744251" y="5069228"/>
            <a:ext cx="99157" cy="99157"/>
          </a:xfrm>
          <a:prstGeom prst="roundRect">
            <a:avLst>
              <a:gd name="adj" fmla="val 30000"/>
            </a:avLst>
          </a:prstGeom>
          <a:solidFill>
            <a:srgbClr val="3AA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p05_09"/>
          <p:cNvSpPr/>
          <p:nvPr/>
        </p:nvSpPr>
        <p:spPr>
          <a:xfrm>
            <a:off x="1902997" y="5069228"/>
            <a:ext cx="99157" cy="99157"/>
          </a:xfrm>
          <a:prstGeom prst="roundRect">
            <a:avLst>
              <a:gd name="adj" fmla="val 30000"/>
            </a:avLst>
          </a:prstGeom>
          <a:solidFill>
            <a:srgbClr val="3BA8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p05_10"/>
          <p:cNvSpPr/>
          <p:nvPr/>
        </p:nvSpPr>
        <p:spPr>
          <a:xfrm>
            <a:off x="2061743" y="5069228"/>
            <a:ext cx="99157" cy="99157"/>
          </a:xfrm>
          <a:prstGeom prst="roundRect">
            <a:avLst>
              <a:gd name="adj" fmla="val 30000"/>
            </a:avLst>
          </a:prstGeom>
          <a:solidFill>
            <a:srgbClr val="2796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p05_11"/>
          <p:cNvSpPr/>
          <p:nvPr/>
        </p:nvSpPr>
        <p:spPr>
          <a:xfrm>
            <a:off x="2220489" y="5069228"/>
            <a:ext cx="99157" cy="99157"/>
          </a:xfrm>
          <a:prstGeom prst="roundRect">
            <a:avLst>
              <a:gd name="adj" fmla="val 30000"/>
            </a:avLst>
          </a:prstGeom>
          <a:solidFill>
            <a:srgbClr val="176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p05_12"/>
          <p:cNvSpPr/>
          <p:nvPr/>
        </p:nvSpPr>
        <p:spPr>
          <a:xfrm>
            <a:off x="2379235" y="5069228"/>
            <a:ext cx="99157" cy="99157"/>
          </a:xfrm>
          <a:prstGeom prst="roundRect">
            <a:avLst>
              <a:gd name="adj" fmla="val 30000"/>
            </a:avLst>
          </a:prstGeom>
          <a:solidFill>
            <a:srgbClr val="0F43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p06_05"/>
          <p:cNvSpPr/>
          <p:nvPr/>
        </p:nvSpPr>
        <p:spPr>
          <a:xfrm>
            <a:off x="1268013" y="4953928"/>
            <a:ext cx="99157" cy="99157"/>
          </a:xfrm>
          <a:prstGeom prst="roundRect">
            <a:avLst>
              <a:gd name="adj" fmla="val 30000"/>
            </a:avLst>
          </a:prstGeom>
          <a:solidFill>
            <a:srgbClr val="0E3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p06_06"/>
          <p:cNvSpPr/>
          <p:nvPr/>
        </p:nvSpPr>
        <p:spPr>
          <a:xfrm>
            <a:off x="1426759" y="4953928"/>
            <a:ext cx="99157" cy="99157"/>
          </a:xfrm>
          <a:prstGeom prst="roundRect">
            <a:avLst>
              <a:gd name="adj" fmla="val 30000"/>
            </a:avLst>
          </a:prstGeom>
          <a:solidFill>
            <a:srgbClr val="1666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p06_07"/>
          <p:cNvSpPr/>
          <p:nvPr/>
        </p:nvSpPr>
        <p:spPr>
          <a:xfrm>
            <a:off x="1585505" y="4953928"/>
            <a:ext cx="99157" cy="99157"/>
          </a:xfrm>
          <a:prstGeom prst="roundRect">
            <a:avLst>
              <a:gd name="adj" fmla="val 30000"/>
            </a:avLst>
          </a:prstGeom>
          <a:solidFill>
            <a:srgbClr val="2291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p06_08"/>
          <p:cNvSpPr/>
          <p:nvPr/>
        </p:nvSpPr>
        <p:spPr>
          <a:xfrm>
            <a:off x="1744251" y="4953928"/>
            <a:ext cx="99157" cy="99157"/>
          </a:xfrm>
          <a:prstGeom prst="roundRect">
            <a:avLst>
              <a:gd name="adj" fmla="val 30000"/>
            </a:avLst>
          </a:prstGeom>
          <a:solidFill>
            <a:srgbClr val="37A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p06_09"/>
          <p:cNvSpPr/>
          <p:nvPr/>
        </p:nvSpPr>
        <p:spPr>
          <a:xfrm>
            <a:off x="1902997" y="4953928"/>
            <a:ext cx="99157" cy="99157"/>
          </a:xfrm>
          <a:prstGeom prst="roundRect">
            <a:avLst>
              <a:gd name="adj" fmla="val 30000"/>
            </a:avLst>
          </a:prstGeom>
          <a:solidFill>
            <a:srgbClr val="3AA7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p06_10"/>
          <p:cNvSpPr/>
          <p:nvPr/>
        </p:nvSpPr>
        <p:spPr>
          <a:xfrm>
            <a:off x="2061743" y="4953928"/>
            <a:ext cx="99157" cy="99157"/>
          </a:xfrm>
          <a:prstGeom prst="roundRect">
            <a:avLst>
              <a:gd name="adj" fmla="val 30000"/>
            </a:avLst>
          </a:prstGeom>
          <a:solidFill>
            <a:srgbClr val="289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p06_11"/>
          <p:cNvSpPr/>
          <p:nvPr/>
        </p:nvSpPr>
        <p:spPr>
          <a:xfrm>
            <a:off x="2220489" y="4953928"/>
            <a:ext cx="99157" cy="99157"/>
          </a:xfrm>
          <a:prstGeom prst="roundRect">
            <a:avLst>
              <a:gd name="adj" fmla="val 30000"/>
            </a:avLst>
          </a:prstGeom>
          <a:solidFill>
            <a:srgbClr val="1871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p06_12"/>
          <p:cNvSpPr/>
          <p:nvPr/>
        </p:nvSpPr>
        <p:spPr>
          <a:xfrm>
            <a:off x="2379235" y="4953928"/>
            <a:ext cx="99157" cy="99157"/>
          </a:xfrm>
          <a:prstGeom prst="roundRect">
            <a:avLst>
              <a:gd name="adj" fmla="val 30000"/>
            </a:avLst>
          </a:prstGeom>
          <a:solidFill>
            <a:srgbClr val="1047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p07_05"/>
          <p:cNvSpPr/>
          <p:nvPr/>
        </p:nvSpPr>
        <p:spPr>
          <a:xfrm>
            <a:off x="1268013" y="4838629"/>
            <a:ext cx="99157" cy="99157"/>
          </a:xfrm>
          <a:prstGeom prst="roundRect">
            <a:avLst>
              <a:gd name="adj" fmla="val 30000"/>
            </a:avLst>
          </a:prstGeom>
          <a:solidFill>
            <a:srgbClr val="0E3E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p07_06"/>
          <p:cNvSpPr/>
          <p:nvPr/>
        </p:nvSpPr>
        <p:spPr>
          <a:xfrm>
            <a:off x="1426759" y="4838629"/>
            <a:ext cx="99157" cy="99157"/>
          </a:xfrm>
          <a:prstGeom prst="roundRect">
            <a:avLst>
              <a:gd name="adj" fmla="val 30000"/>
            </a:avLst>
          </a:prstGeom>
          <a:solidFill>
            <a:srgbClr val="1563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p07_07"/>
          <p:cNvSpPr/>
          <p:nvPr/>
        </p:nvSpPr>
        <p:spPr>
          <a:xfrm>
            <a:off x="1585505" y="4838629"/>
            <a:ext cx="99157" cy="99157"/>
          </a:xfrm>
          <a:prstGeom prst="roundRect">
            <a:avLst>
              <a:gd name="adj" fmla="val 30000"/>
            </a:avLst>
          </a:prstGeom>
          <a:solidFill>
            <a:srgbClr val="1E8E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p07_08"/>
          <p:cNvSpPr/>
          <p:nvPr/>
        </p:nvSpPr>
        <p:spPr>
          <a:xfrm>
            <a:off x="1744251" y="4838629"/>
            <a:ext cx="99157" cy="99157"/>
          </a:xfrm>
          <a:prstGeom prst="roundRect">
            <a:avLst>
              <a:gd name="adj" fmla="val 30000"/>
            </a:avLst>
          </a:prstGeom>
          <a:solidFill>
            <a:srgbClr val="33A1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p07_09"/>
          <p:cNvSpPr/>
          <p:nvPr/>
        </p:nvSpPr>
        <p:spPr>
          <a:xfrm>
            <a:off x="1902997" y="4838629"/>
            <a:ext cx="99157" cy="99157"/>
          </a:xfrm>
          <a:prstGeom prst="roundRect">
            <a:avLst>
              <a:gd name="adj" fmla="val 30000"/>
            </a:avLst>
          </a:prstGeom>
          <a:solidFill>
            <a:srgbClr val="36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p07_10"/>
          <p:cNvSpPr/>
          <p:nvPr/>
        </p:nvSpPr>
        <p:spPr>
          <a:xfrm>
            <a:off x="2061743" y="4838629"/>
            <a:ext cx="99157" cy="99157"/>
          </a:xfrm>
          <a:prstGeom prst="roundRect">
            <a:avLst>
              <a:gd name="adj" fmla="val 30000"/>
            </a:avLst>
          </a:prstGeom>
          <a:solidFill>
            <a:srgbClr val="2796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p07_11"/>
          <p:cNvSpPr/>
          <p:nvPr/>
        </p:nvSpPr>
        <p:spPr>
          <a:xfrm>
            <a:off x="2220489" y="4838629"/>
            <a:ext cx="99157" cy="99157"/>
          </a:xfrm>
          <a:prstGeom prst="roundRect">
            <a:avLst>
              <a:gd name="adj" fmla="val 30000"/>
            </a:avLst>
          </a:prstGeom>
          <a:solidFill>
            <a:srgbClr val="1873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p07_12"/>
          <p:cNvSpPr/>
          <p:nvPr/>
        </p:nvSpPr>
        <p:spPr>
          <a:xfrm>
            <a:off x="2379235" y="4838629"/>
            <a:ext cx="99157" cy="99157"/>
          </a:xfrm>
          <a:prstGeom prst="roundRect">
            <a:avLst>
              <a:gd name="adj" fmla="val 30000"/>
            </a:avLst>
          </a:prstGeom>
          <a:solidFill>
            <a:srgbClr val="104B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p08_05"/>
          <p:cNvSpPr/>
          <p:nvPr/>
        </p:nvSpPr>
        <p:spPr>
          <a:xfrm>
            <a:off x="1268013" y="4723329"/>
            <a:ext cx="99157" cy="99157"/>
          </a:xfrm>
          <a:prstGeom prst="roundRect">
            <a:avLst>
              <a:gd name="adj" fmla="val 30000"/>
            </a:avLst>
          </a:prstGeom>
          <a:solidFill>
            <a:srgbClr val="0E3D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p08_06"/>
          <p:cNvSpPr/>
          <p:nvPr/>
        </p:nvSpPr>
        <p:spPr>
          <a:xfrm>
            <a:off x="1426759" y="4723329"/>
            <a:ext cx="99157" cy="99157"/>
          </a:xfrm>
          <a:prstGeom prst="roundRect">
            <a:avLst>
              <a:gd name="adj" fmla="val 30000"/>
            </a:avLst>
          </a:prstGeom>
          <a:solidFill>
            <a:srgbClr val="145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p08_07"/>
          <p:cNvSpPr/>
          <p:nvPr/>
        </p:nvSpPr>
        <p:spPr>
          <a:xfrm>
            <a:off x="1585505" y="4723329"/>
            <a:ext cx="99157" cy="99157"/>
          </a:xfrm>
          <a:prstGeom prst="roundRect">
            <a:avLst>
              <a:gd name="adj" fmla="val 30000"/>
            </a:avLst>
          </a:prstGeom>
          <a:solidFill>
            <a:srgbClr val="1C86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p08_08"/>
          <p:cNvSpPr/>
          <p:nvPr/>
        </p:nvSpPr>
        <p:spPr>
          <a:xfrm>
            <a:off x="1744251" y="4723329"/>
            <a:ext cx="99157" cy="99157"/>
          </a:xfrm>
          <a:prstGeom prst="roundRect">
            <a:avLst>
              <a:gd name="adj" fmla="val 30000"/>
            </a:avLst>
          </a:prstGeom>
          <a:solidFill>
            <a:srgbClr val="2C9B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p08_09"/>
          <p:cNvSpPr/>
          <p:nvPr/>
        </p:nvSpPr>
        <p:spPr>
          <a:xfrm>
            <a:off x="1902997" y="4723329"/>
            <a:ext cx="99157" cy="99157"/>
          </a:xfrm>
          <a:prstGeom prst="roundRect">
            <a:avLst>
              <a:gd name="adj" fmla="val 30000"/>
            </a:avLst>
          </a:prstGeom>
          <a:solidFill>
            <a:srgbClr val="319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p08_10"/>
          <p:cNvSpPr/>
          <p:nvPr/>
        </p:nvSpPr>
        <p:spPr>
          <a:xfrm>
            <a:off x="2061743" y="4723329"/>
            <a:ext cx="99157" cy="99157"/>
          </a:xfrm>
          <a:prstGeom prst="roundRect">
            <a:avLst>
              <a:gd name="adj" fmla="val 30000"/>
            </a:avLst>
          </a:prstGeom>
          <a:solidFill>
            <a:srgbClr val="2594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p08_11"/>
          <p:cNvSpPr/>
          <p:nvPr/>
        </p:nvSpPr>
        <p:spPr>
          <a:xfrm>
            <a:off x="2220489" y="4723329"/>
            <a:ext cx="99157" cy="99157"/>
          </a:xfrm>
          <a:prstGeom prst="roundRect">
            <a:avLst>
              <a:gd name="adj" fmla="val 30000"/>
            </a:avLst>
          </a:prstGeom>
          <a:solidFill>
            <a:srgbClr val="1875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p08_12"/>
          <p:cNvSpPr/>
          <p:nvPr/>
        </p:nvSpPr>
        <p:spPr>
          <a:xfrm>
            <a:off x="2379235" y="4723329"/>
            <a:ext cx="99157" cy="99157"/>
          </a:xfrm>
          <a:prstGeom prst="roundRect">
            <a:avLst>
              <a:gd name="adj" fmla="val 30000"/>
            </a:avLst>
          </a:prstGeom>
          <a:solidFill>
            <a:srgbClr val="1150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p09_05"/>
          <p:cNvSpPr/>
          <p:nvPr/>
        </p:nvSpPr>
        <p:spPr>
          <a:xfrm>
            <a:off x="1268013" y="4608029"/>
            <a:ext cx="99157" cy="99157"/>
          </a:xfrm>
          <a:prstGeom prst="roundRect">
            <a:avLst>
              <a:gd name="adj" fmla="val 30000"/>
            </a:avLst>
          </a:prstGeom>
          <a:solidFill>
            <a:srgbClr val="0D3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p09_06"/>
          <p:cNvSpPr/>
          <p:nvPr/>
        </p:nvSpPr>
        <p:spPr>
          <a:xfrm>
            <a:off x="1426759" y="4608029"/>
            <a:ext cx="99157" cy="99157"/>
          </a:xfrm>
          <a:prstGeom prst="roundRect">
            <a:avLst>
              <a:gd name="adj" fmla="val 30000"/>
            </a:avLst>
          </a:prstGeom>
          <a:solidFill>
            <a:srgbClr val="1359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p09_07"/>
          <p:cNvSpPr/>
          <p:nvPr/>
        </p:nvSpPr>
        <p:spPr>
          <a:xfrm>
            <a:off x="1585505" y="4608029"/>
            <a:ext cx="99157" cy="99157"/>
          </a:xfrm>
          <a:prstGeom prst="roundRect">
            <a:avLst>
              <a:gd name="adj" fmla="val 30000"/>
            </a:avLst>
          </a:prstGeom>
          <a:solidFill>
            <a:srgbClr val="1A7D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p09_08"/>
          <p:cNvSpPr/>
          <p:nvPr/>
        </p:nvSpPr>
        <p:spPr>
          <a:xfrm>
            <a:off x="1744251" y="4608029"/>
            <a:ext cx="99157" cy="99157"/>
          </a:xfrm>
          <a:prstGeom prst="roundRect">
            <a:avLst>
              <a:gd name="adj" fmla="val 30000"/>
            </a:avLst>
          </a:prstGeom>
          <a:solidFill>
            <a:srgbClr val="2695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p09_09"/>
          <p:cNvSpPr/>
          <p:nvPr/>
        </p:nvSpPr>
        <p:spPr>
          <a:xfrm>
            <a:off x="1902997" y="4608029"/>
            <a:ext cx="99157" cy="99157"/>
          </a:xfrm>
          <a:prstGeom prst="roundRect">
            <a:avLst>
              <a:gd name="adj" fmla="val 30000"/>
            </a:avLst>
          </a:prstGeom>
          <a:solidFill>
            <a:srgbClr val="2D9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p09_10"/>
          <p:cNvSpPr/>
          <p:nvPr/>
        </p:nvSpPr>
        <p:spPr>
          <a:xfrm>
            <a:off x="2061743" y="4608029"/>
            <a:ext cx="99157" cy="99157"/>
          </a:xfrm>
          <a:prstGeom prst="roundRect">
            <a:avLst>
              <a:gd name="adj" fmla="val 30000"/>
            </a:avLst>
          </a:prstGeom>
          <a:solidFill>
            <a:srgbClr val="249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p09_11"/>
          <p:cNvSpPr/>
          <p:nvPr/>
        </p:nvSpPr>
        <p:spPr>
          <a:xfrm>
            <a:off x="2220489" y="4608029"/>
            <a:ext cx="99157" cy="99157"/>
          </a:xfrm>
          <a:prstGeom prst="roundRect">
            <a:avLst>
              <a:gd name="adj" fmla="val 30000"/>
            </a:avLst>
          </a:prstGeom>
          <a:solidFill>
            <a:srgbClr val="197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p09_12"/>
          <p:cNvSpPr/>
          <p:nvPr/>
        </p:nvSpPr>
        <p:spPr>
          <a:xfrm>
            <a:off x="2379235" y="4608029"/>
            <a:ext cx="99157" cy="99157"/>
          </a:xfrm>
          <a:prstGeom prst="roundRect">
            <a:avLst>
              <a:gd name="adj" fmla="val 30000"/>
            </a:avLst>
          </a:prstGeom>
          <a:solidFill>
            <a:srgbClr val="1256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p10_06"/>
          <p:cNvSpPr/>
          <p:nvPr/>
        </p:nvSpPr>
        <p:spPr>
          <a:xfrm>
            <a:off x="1426759" y="4492729"/>
            <a:ext cx="99157" cy="99157"/>
          </a:xfrm>
          <a:prstGeom prst="roundRect">
            <a:avLst>
              <a:gd name="adj" fmla="val 30000"/>
            </a:avLst>
          </a:prstGeom>
          <a:solidFill>
            <a:srgbClr val="125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p10_07"/>
          <p:cNvSpPr/>
          <p:nvPr/>
        </p:nvSpPr>
        <p:spPr>
          <a:xfrm>
            <a:off x="1585505" y="4492729"/>
            <a:ext cx="99157" cy="99157"/>
          </a:xfrm>
          <a:prstGeom prst="roundRect">
            <a:avLst>
              <a:gd name="adj" fmla="val 30000"/>
            </a:avLst>
          </a:prstGeom>
          <a:solidFill>
            <a:srgbClr val="1976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p10_08"/>
          <p:cNvSpPr/>
          <p:nvPr/>
        </p:nvSpPr>
        <p:spPr>
          <a:xfrm>
            <a:off x="1744251" y="4492729"/>
            <a:ext cx="99157" cy="99157"/>
          </a:xfrm>
          <a:prstGeom prst="roundRect">
            <a:avLst>
              <a:gd name="adj" fmla="val 30000"/>
            </a:avLst>
          </a:prstGeom>
          <a:solidFill>
            <a:srgbClr val="2291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p10_09"/>
          <p:cNvSpPr/>
          <p:nvPr/>
        </p:nvSpPr>
        <p:spPr>
          <a:xfrm>
            <a:off x="1902997" y="4492729"/>
            <a:ext cx="99157" cy="99157"/>
          </a:xfrm>
          <a:prstGeom prst="roundRect">
            <a:avLst>
              <a:gd name="adj" fmla="val 30000"/>
            </a:avLst>
          </a:prstGeom>
          <a:solidFill>
            <a:srgbClr val="2A99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p10_10"/>
          <p:cNvSpPr/>
          <p:nvPr/>
        </p:nvSpPr>
        <p:spPr>
          <a:xfrm>
            <a:off x="2061743" y="4492729"/>
            <a:ext cx="99157" cy="99157"/>
          </a:xfrm>
          <a:prstGeom prst="roundRect">
            <a:avLst>
              <a:gd name="adj" fmla="val 30000"/>
            </a:avLst>
          </a:prstGeom>
          <a:solidFill>
            <a:srgbClr val="249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p10_11"/>
          <p:cNvSpPr/>
          <p:nvPr/>
        </p:nvSpPr>
        <p:spPr>
          <a:xfrm>
            <a:off x="2220489" y="4492729"/>
            <a:ext cx="99157" cy="99157"/>
          </a:xfrm>
          <a:prstGeom prst="roundRect">
            <a:avLst>
              <a:gd name="adj" fmla="val 30000"/>
            </a:avLst>
          </a:prstGeom>
          <a:solidFill>
            <a:srgbClr val="1A7E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p10_12"/>
          <p:cNvSpPr/>
          <p:nvPr/>
        </p:nvSpPr>
        <p:spPr>
          <a:xfrm>
            <a:off x="2379235" y="4492729"/>
            <a:ext cx="99157" cy="99157"/>
          </a:xfrm>
          <a:prstGeom prst="roundRect">
            <a:avLst>
              <a:gd name="adj" fmla="val 30000"/>
            </a:avLst>
          </a:prstGeom>
          <a:solidFill>
            <a:srgbClr val="145C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p11_06"/>
          <p:cNvSpPr/>
          <p:nvPr/>
        </p:nvSpPr>
        <p:spPr>
          <a:xfrm>
            <a:off x="1426759" y="4377430"/>
            <a:ext cx="99157" cy="99157"/>
          </a:xfrm>
          <a:prstGeom prst="roundRect">
            <a:avLst>
              <a:gd name="adj" fmla="val 30000"/>
            </a:avLst>
          </a:prstGeom>
          <a:solidFill>
            <a:srgbClr val="1252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p11_07"/>
          <p:cNvSpPr/>
          <p:nvPr/>
        </p:nvSpPr>
        <p:spPr>
          <a:xfrm>
            <a:off x="1585505" y="4377430"/>
            <a:ext cx="99157" cy="99157"/>
          </a:xfrm>
          <a:prstGeom prst="roundRect">
            <a:avLst>
              <a:gd name="adj" fmla="val 30000"/>
            </a:avLst>
          </a:prstGeom>
          <a:solidFill>
            <a:srgbClr val="1871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p11_08"/>
          <p:cNvSpPr/>
          <p:nvPr/>
        </p:nvSpPr>
        <p:spPr>
          <a:xfrm>
            <a:off x="1744251" y="4377430"/>
            <a:ext cx="99157" cy="99157"/>
          </a:xfrm>
          <a:prstGeom prst="roundRect">
            <a:avLst>
              <a:gd name="adj" fmla="val 30000"/>
            </a:avLst>
          </a:prstGeom>
          <a:solidFill>
            <a:srgbClr val="1F8E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p11_09"/>
          <p:cNvSpPr/>
          <p:nvPr/>
        </p:nvSpPr>
        <p:spPr>
          <a:xfrm>
            <a:off x="1902997" y="4377430"/>
            <a:ext cx="99157" cy="99157"/>
          </a:xfrm>
          <a:prstGeom prst="roundRect">
            <a:avLst>
              <a:gd name="adj" fmla="val 30000"/>
            </a:avLst>
          </a:prstGeom>
          <a:solidFill>
            <a:srgbClr val="299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p11_10"/>
          <p:cNvSpPr/>
          <p:nvPr/>
        </p:nvSpPr>
        <p:spPr>
          <a:xfrm>
            <a:off x="2061743" y="4377430"/>
            <a:ext cx="99157" cy="99157"/>
          </a:xfrm>
          <a:prstGeom prst="roundRect">
            <a:avLst>
              <a:gd name="adj" fmla="val 30000"/>
            </a:avLst>
          </a:prstGeom>
          <a:solidFill>
            <a:srgbClr val="2695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p11_11"/>
          <p:cNvSpPr/>
          <p:nvPr/>
        </p:nvSpPr>
        <p:spPr>
          <a:xfrm>
            <a:off x="2220489" y="4377430"/>
            <a:ext cx="99157" cy="99157"/>
          </a:xfrm>
          <a:prstGeom prst="roundRect">
            <a:avLst>
              <a:gd name="adj" fmla="val 30000"/>
            </a:avLst>
          </a:prstGeom>
          <a:solidFill>
            <a:srgbClr val="1B84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p11_12"/>
          <p:cNvSpPr/>
          <p:nvPr/>
        </p:nvSpPr>
        <p:spPr>
          <a:xfrm>
            <a:off x="2379235" y="4377430"/>
            <a:ext cx="99157" cy="99157"/>
          </a:xfrm>
          <a:prstGeom prst="roundRect">
            <a:avLst>
              <a:gd name="adj" fmla="val 30000"/>
            </a:avLst>
          </a:prstGeom>
          <a:solidFill>
            <a:srgbClr val="156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p12_06"/>
          <p:cNvSpPr/>
          <p:nvPr/>
        </p:nvSpPr>
        <p:spPr>
          <a:xfrm>
            <a:off x="1426759" y="4262130"/>
            <a:ext cx="99157" cy="99157"/>
          </a:xfrm>
          <a:prstGeom prst="roundRect">
            <a:avLst>
              <a:gd name="adj" fmla="val 30000"/>
            </a:avLst>
          </a:prstGeom>
          <a:solidFill>
            <a:srgbClr val="1150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p12_07"/>
          <p:cNvSpPr/>
          <p:nvPr/>
        </p:nvSpPr>
        <p:spPr>
          <a:xfrm>
            <a:off x="1585505" y="4262130"/>
            <a:ext cx="99157" cy="99157"/>
          </a:xfrm>
          <a:prstGeom prst="roundRect">
            <a:avLst>
              <a:gd name="adj" fmla="val 30000"/>
            </a:avLst>
          </a:prstGeom>
          <a:solidFill>
            <a:srgbClr val="17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p12_08"/>
          <p:cNvSpPr/>
          <p:nvPr/>
        </p:nvSpPr>
        <p:spPr>
          <a:xfrm>
            <a:off x="1744251" y="4262130"/>
            <a:ext cx="99157" cy="99157"/>
          </a:xfrm>
          <a:prstGeom prst="roundRect">
            <a:avLst>
              <a:gd name="adj" fmla="val 3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p12_09"/>
          <p:cNvSpPr/>
          <p:nvPr/>
        </p:nvSpPr>
        <p:spPr>
          <a:xfrm>
            <a:off x="1902997" y="4262130"/>
            <a:ext cx="99157" cy="99157"/>
          </a:xfrm>
          <a:prstGeom prst="roundRect">
            <a:avLst>
              <a:gd name="adj" fmla="val 30000"/>
            </a:avLst>
          </a:prstGeom>
          <a:solidFill>
            <a:srgbClr val="2A99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p12_10"/>
          <p:cNvSpPr/>
          <p:nvPr/>
        </p:nvSpPr>
        <p:spPr>
          <a:xfrm>
            <a:off x="2061743" y="4262130"/>
            <a:ext cx="99157" cy="99157"/>
          </a:xfrm>
          <a:prstGeom prst="roundRect">
            <a:avLst>
              <a:gd name="adj" fmla="val 30000"/>
            </a:avLst>
          </a:prstGeom>
          <a:solidFill>
            <a:srgbClr val="299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p12_11"/>
          <p:cNvSpPr/>
          <p:nvPr/>
        </p:nvSpPr>
        <p:spPr>
          <a:xfrm>
            <a:off x="2220489" y="4262130"/>
            <a:ext cx="99157" cy="99157"/>
          </a:xfrm>
          <a:prstGeom prst="roundRect">
            <a:avLst>
              <a:gd name="adj" fmla="val 30000"/>
            </a:avLst>
          </a:prstGeom>
          <a:solidFill>
            <a:srgbClr val="1D8C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p12_12"/>
          <p:cNvSpPr/>
          <p:nvPr/>
        </p:nvSpPr>
        <p:spPr>
          <a:xfrm>
            <a:off x="2379235" y="4262130"/>
            <a:ext cx="99157" cy="99157"/>
          </a:xfrm>
          <a:prstGeom prst="roundRect">
            <a:avLst>
              <a:gd name="adj" fmla="val 30000"/>
            </a:avLst>
          </a:prstGeom>
          <a:solidFill>
            <a:srgbClr val="176B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p13_06"/>
          <p:cNvSpPr/>
          <p:nvPr/>
        </p:nvSpPr>
        <p:spPr>
          <a:xfrm>
            <a:off x="1426759" y="4146830"/>
            <a:ext cx="99157" cy="99157"/>
          </a:xfrm>
          <a:prstGeom prst="roundRect">
            <a:avLst>
              <a:gd name="adj" fmla="val 30000"/>
            </a:avLst>
          </a:prstGeom>
          <a:solidFill>
            <a:srgbClr val="114F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p13_07"/>
          <p:cNvSpPr/>
          <p:nvPr/>
        </p:nvSpPr>
        <p:spPr>
          <a:xfrm>
            <a:off x="1585505" y="4146830"/>
            <a:ext cx="99157" cy="99157"/>
          </a:xfrm>
          <a:prstGeom prst="roundRect">
            <a:avLst>
              <a:gd name="adj" fmla="val 30000"/>
            </a:avLst>
          </a:prstGeom>
          <a:solidFill>
            <a:srgbClr val="176D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p13_08"/>
          <p:cNvSpPr/>
          <p:nvPr/>
        </p:nvSpPr>
        <p:spPr>
          <a:xfrm>
            <a:off x="1744251" y="4146830"/>
            <a:ext cx="99157" cy="99157"/>
          </a:xfrm>
          <a:prstGeom prst="roundRect">
            <a:avLst>
              <a:gd name="adj" fmla="val 3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p13_09"/>
          <p:cNvSpPr/>
          <p:nvPr/>
        </p:nvSpPr>
        <p:spPr>
          <a:xfrm>
            <a:off x="1902997" y="4146830"/>
            <a:ext cx="99157" cy="99157"/>
          </a:xfrm>
          <a:prstGeom prst="roundRect">
            <a:avLst>
              <a:gd name="adj" fmla="val 30000"/>
            </a:avLst>
          </a:prstGeom>
          <a:solidFill>
            <a:srgbClr val="2B9A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p13_10"/>
          <p:cNvSpPr/>
          <p:nvPr/>
        </p:nvSpPr>
        <p:spPr>
          <a:xfrm>
            <a:off x="2061743" y="4146830"/>
            <a:ext cx="99157" cy="99157"/>
          </a:xfrm>
          <a:prstGeom prst="roundRect">
            <a:avLst>
              <a:gd name="adj" fmla="val 30000"/>
            </a:avLst>
          </a:prstGeom>
          <a:solidFill>
            <a:srgbClr val="2D9B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p13_11"/>
          <p:cNvSpPr/>
          <p:nvPr/>
        </p:nvSpPr>
        <p:spPr>
          <a:xfrm>
            <a:off x="2220489" y="4146830"/>
            <a:ext cx="99157" cy="99157"/>
          </a:xfrm>
          <a:prstGeom prst="roundRect">
            <a:avLst>
              <a:gd name="adj" fmla="val 30000"/>
            </a:avLst>
          </a:prstGeom>
          <a:solidFill>
            <a:srgbClr val="2190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p13_12"/>
          <p:cNvSpPr/>
          <p:nvPr/>
        </p:nvSpPr>
        <p:spPr>
          <a:xfrm>
            <a:off x="2379235" y="4146830"/>
            <a:ext cx="99157" cy="99157"/>
          </a:xfrm>
          <a:prstGeom prst="roundRect">
            <a:avLst>
              <a:gd name="adj" fmla="val 30000"/>
            </a:avLst>
          </a:prstGeom>
          <a:solidFill>
            <a:srgbClr val="1872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p14_06"/>
          <p:cNvSpPr/>
          <p:nvPr/>
        </p:nvSpPr>
        <p:spPr>
          <a:xfrm>
            <a:off x="1426759" y="4031530"/>
            <a:ext cx="99157" cy="99157"/>
          </a:xfrm>
          <a:prstGeom prst="roundRect">
            <a:avLst>
              <a:gd name="adj" fmla="val 30000"/>
            </a:avLst>
          </a:prstGeom>
          <a:solidFill>
            <a:srgbClr val="114F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p14_07"/>
          <p:cNvSpPr/>
          <p:nvPr/>
        </p:nvSpPr>
        <p:spPr>
          <a:xfrm>
            <a:off x="1585505" y="4031530"/>
            <a:ext cx="99157" cy="99157"/>
          </a:xfrm>
          <a:prstGeom prst="roundRect">
            <a:avLst>
              <a:gd name="adj" fmla="val 30000"/>
            </a:avLst>
          </a:prstGeom>
          <a:solidFill>
            <a:srgbClr val="176D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p14_08"/>
          <p:cNvSpPr/>
          <p:nvPr/>
        </p:nvSpPr>
        <p:spPr>
          <a:xfrm>
            <a:off x="1744251" y="4031530"/>
            <a:ext cx="99157" cy="99157"/>
          </a:xfrm>
          <a:prstGeom prst="roundRect">
            <a:avLst>
              <a:gd name="adj" fmla="val 3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p14_09"/>
          <p:cNvSpPr/>
          <p:nvPr/>
        </p:nvSpPr>
        <p:spPr>
          <a:xfrm>
            <a:off x="1902997" y="4031530"/>
            <a:ext cx="99157" cy="99157"/>
          </a:xfrm>
          <a:prstGeom prst="roundRect">
            <a:avLst>
              <a:gd name="adj" fmla="val 30000"/>
            </a:avLst>
          </a:prstGeom>
          <a:solidFill>
            <a:srgbClr val="2D9B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p14_10"/>
          <p:cNvSpPr/>
          <p:nvPr/>
        </p:nvSpPr>
        <p:spPr>
          <a:xfrm>
            <a:off x="2061743" y="4031530"/>
            <a:ext cx="99157" cy="99157"/>
          </a:xfrm>
          <a:prstGeom prst="roundRect">
            <a:avLst>
              <a:gd name="adj" fmla="val 30000"/>
            </a:avLst>
          </a:prstGeom>
          <a:solidFill>
            <a:srgbClr val="309E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p14_11"/>
          <p:cNvSpPr/>
          <p:nvPr/>
        </p:nvSpPr>
        <p:spPr>
          <a:xfrm>
            <a:off x="2220489" y="4031530"/>
            <a:ext cx="99157" cy="99157"/>
          </a:xfrm>
          <a:prstGeom prst="roundRect">
            <a:avLst>
              <a:gd name="adj" fmla="val 30000"/>
            </a:avLst>
          </a:prstGeom>
          <a:solidFill>
            <a:srgbClr val="249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p14_12"/>
          <p:cNvSpPr/>
          <p:nvPr/>
        </p:nvSpPr>
        <p:spPr>
          <a:xfrm>
            <a:off x="2379235" y="4031530"/>
            <a:ext cx="99157" cy="99157"/>
          </a:xfrm>
          <a:prstGeom prst="roundRect">
            <a:avLst>
              <a:gd name="adj" fmla="val 30000"/>
            </a:avLst>
          </a:prstGeom>
          <a:solidFill>
            <a:srgbClr val="1978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p15_07"/>
          <p:cNvSpPr/>
          <p:nvPr/>
        </p:nvSpPr>
        <p:spPr>
          <a:xfrm>
            <a:off x="1585505" y="3916231"/>
            <a:ext cx="99157" cy="99157"/>
          </a:xfrm>
          <a:prstGeom prst="roundRect">
            <a:avLst>
              <a:gd name="adj" fmla="val 30000"/>
            </a:avLst>
          </a:prstGeom>
          <a:solidFill>
            <a:srgbClr val="176D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p15_08"/>
          <p:cNvSpPr/>
          <p:nvPr/>
        </p:nvSpPr>
        <p:spPr>
          <a:xfrm>
            <a:off x="1744251" y="3916231"/>
            <a:ext cx="99157" cy="99157"/>
          </a:xfrm>
          <a:prstGeom prst="roundRect">
            <a:avLst>
              <a:gd name="adj" fmla="val 3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p15_09"/>
          <p:cNvSpPr/>
          <p:nvPr/>
        </p:nvSpPr>
        <p:spPr>
          <a:xfrm>
            <a:off x="1902997" y="3916231"/>
            <a:ext cx="99157" cy="99157"/>
          </a:xfrm>
          <a:prstGeom prst="roundRect">
            <a:avLst>
              <a:gd name="adj" fmla="val 30000"/>
            </a:avLst>
          </a:prstGeom>
          <a:solidFill>
            <a:srgbClr val="2D9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p15_10"/>
          <p:cNvSpPr/>
          <p:nvPr/>
        </p:nvSpPr>
        <p:spPr>
          <a:xfrm>
            <a:off x="2061743" y="3916231"/>
            <a:ext cx="99157" cy="99157"/>
          </a:xfrm>
          <a:prstGeom prst="roundRect">
            <a:avLst>
              <a:gd name="adj" fmla="val 30000"/>
            </a:avLst>
          </a:prstGeom>
          <a:solidFill>
            <a:srgbClr val="319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p15_11"/>
          <p:cNvSpPr/>
          <p:nvPr/>
        </p:nvSpPr>
        <p:spPr>
          <a:xfrm>
            <a:off x="2220489" y="3916231"/>
            <a:ext cx="99157" cy="99157"/>
          </a:xfrm>
          <a:prstGeom prst="roundRect">
            <a:avLst>
              <a:gd name="adj" fmla="val 30000"/>
            </a:avLst>
          </a:prstGeom>
          <a:solidFill>
            <a:srgbClr val="2796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p15_12"/>
          <p:cNvSpPr/>
          <p:nvPr/>
        </p:nvSpPr>
        <p:spPr>
          <a:xfrm>
            <a:off x="2379235" y="3916231"/>
            <a:ext cx="99157" cy="99157"/>
          </a:xfrm>
          <a:prstGeom prst="roundRect">
            <a:avLst>
              <a:gd name="adj" fmla="val 30000"/>
            </a:avLst>
          </a:prstGeom>
          <a:solidFill>
            <a:srgbClr val="1A7B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p15_13"/>
          <p:cNvSpPr/>
          <p:nvPr/>
        </p:nvSpPr>
        <p:spPr>
          <a:xfrm>
            <a:off x="2537981" y="3916231"/>
            <a:ext cx="99157" cy="99157"/>
          </a:xfrm>
          <a:prstGeom prst="roundRect">
            <a:avLst>
              <a:gd name="adj" fmla="val 30000"/>
            </a:avLst>
          </a:prstGeom>
          <a:solidFill>
            <a:srgbClr val="135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p16_07"/>
          <p:cNvSpPr/>
          <p:nvPr/>
        </p:nvSpPr>
        <p:spPr>
          <a:xfrm>
            <a:off x="1585505" y="3800931"/>
            <a:ext cx="99157" cy="99157"/>
          </a:xfrm>
          <a:prstGeom prst="roundRect">
            <a:avLst>
              <a:gd name="adj" fmla="val 30000"/>
            </a:avLst>
          </a:prstGeom>
          <a:solidFill>
            <a:srgbClr val="176C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p16_08"/>
          <p:cNvSpPr/>
          <p:nvPr/>
        </p:nvSpPr>
        <p:spPr>
          <a:xfrm>
            <a:off x="1744251" y="3800931"/>
            <a:ext cx="99157" cy="99157"/>
          </a:xfrm>
          <a:prstGeom prst="roundRect">
            <a:avLst>
              <a:gd name="adj" fmla="val 30000"/>
            </a:avLst>
          </a:prstGeom>
          <a:solidFill>
            <a:srgbClr val="1D8C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p16_09"/>
          <p:cNvSpPr/>
          <p:nvPr/>
        </p:nvSpPr>
        <p:spPr>
          <a:xfrm>
            <a:off x="1902997" y="3800931"/>
            <a:ext cx="99157" cy="99157"/>
          </a:xfrm>
          <a:prstGeom prst="roundRect">
            <a:avLst>
              <a:gd name="adj" fmla="val 30000"/>
            </a:avLst>
          </a:prstGeom>
          <a:solidFill>
            <a:srgbClr val="2C9B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p16_10"/>
          <p:cNvSpPr/>
          <p:nvPr/>
        </p:nvSpPr>
        <p:spPr>
          <a:xfrm>
            <a:off x="2061743" y="3800931"/>
            <a:ext cx="99157" cy="99157"/>
          </a:xfrm>
          <a:prstGeom prst="roundRect">
            <a:avLst>
              <a:gd name="adj" fmla="val 30000"/>
            </a:avLst>
          </a:prstGeom>
          <a:solidFill>
            <a:srgbClr val="309E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p16_11"/>
          <p:cNvSpPr/>
          <p:nvPr/>
        </p:nvSpPr>
        <p:spPr>
          <a:xfrm>
            <a:off x="2220489" y="3800931"/>
            <a:ext cx="99157" cy="99157"/>
          </a:xfrm>
          <a:prstGeom prst="roundRect">
            <a:avLst>
              <a:gd name="adj" fmla="val 30000"/>
            </a:avLst>
          </a:prstGeom>
          <a:solidFill>
            <a:srgbClr val="2796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p16_12"/>
          <p:cNvSpPr/>
          <p:nvPr/>
        </p:nvSpPr>
        <p:spPr>
          <a:xfrm>
            <a:off x="2379235" y="3800931"/>
            <a:ext cx="99157" cy="99157"/>
          </a:xfrm>
          <a:prstGeom prst="roundRect">
            <a:avLst>
              <a:gd name="adj" fmla="val 30000"/>
            </a:avLst>
          </a:prstGeom>
          <a:solidFill>
            <a:srgbClr val="1A7D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p16_13"/>
          <p:cNvSpPr/>
          <p:nvPr/>
        </p:nvSpPr>
        <p:spPr>
          <a:xfrm>
            <a:off x="2537981" y="3800931"/>
            <a:ext cx="99157" cy="99157"/>
          </a:xfrm>
          <a:prstGeom prst="roundRect">
            <a:avLst>
              <a:gd name="adj" fmla="val 30000"/>
            </a:avLst>
          </a:prstGeom>
          <a:solidFill>
            <a:srgbClr val="1359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p17_07"/>
          <p:cNvSpPr/>
          <p:nvPr/>
        </p:nvSpPr>
        <p:spPr>
          <a:xfrm>
            <a:off x="1585505" y="3685631"/>
            <a:ext cx="99157" cy="99157"/>
          </a:xfrm>
          <a:prstGeom prst="roundRect">
            <a:avLst>
              <a:gd name="adj" fmla="val 30000"/>
            </a:avLst>
          </a:prstGeom>
          <a:solidFill>
            <a:srgbClr val="176D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p17_08"/>
          <p:cNvSpPr/>
          <p:nvPr/>
        </p:nvSpPr>
        <p:spPr>
          <a:xfrm>
            <a:off x="1744251" y="3685631"/>
            <a:ext cx="99157" cy="99157"/>
          </a:xfrm>
          <a:prstGeom prst="roundRect">
            <a:avLst>
              <a:gd name="adj" fmla="val 30000"/>
            </a:avLst>
          </a:prstGeom>
          <a:solidFill>
            <a:srgbClr val="1D8B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p17_09"/>
          <p:cNvSpPr/>
          <p:nvPr/>
        </p:nvSpPr>
        <p:spPr>
          <a:xfrm>
            <a:off x="1902997" y="3685631"/>
            <a:ext cx="99157" cy="99157"/>
          </a:xfrm>
          <a:prstGeom prst="roundRect">
            <a:avLst>
              <a:gd name="adj" fmla="val 30000"/>
            </a:avLst>
          </a:prstGeom>
          <a:solidFill>
            <a:srgbClr val="2A99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p17_10"/>
          <p:cNvSpPr/>
          <p:nvPr/>
        </p:nvSpPr>
        <p:spPr>
          <a:xfrm>
            <a:off x="2061743" y="3685631"/>
            <a:ext cx="99157" cy="99157"/>
          </a:xfrm>
          <a:prstGeom prst="roundRect">
            <a:avLst>
              <a:gd name="adj" fmla="val 30000"/>
            </a:avLst>
          </a:prstGeom>
          <a:solidFill>
            <a:srgbClr val="2E9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p17_11"/>
          <p:cNvSpPr/>
          <p:nvPr/>
        </p:nvSpPr>
        <p:spPr>
          <a:xfrm>
            <a:off x="2220489" y="3685631"/>
            <a:ext cx="99157" cy="99157"/>
          </a:xfrm>
          <a:prstGeom prst="roundRect">
            <a:avLst>
              <a:gd name="adj" fmla="val 30000"/>
            </a:avLst>
          </a:prstGeom>
          <a:solidFill>
            <a:srgbClr val="2695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p17_12"/>
          <p:cNvSpPr/>
          <p:nvPr/>
        </p:nvSpPr>
        <p:spPr>
          <a:xfrm>
            <a:off x="2379235" y="3685631"/>
            <a:ext cx="99157" cy="99157"/>
          </a:xfrm>
          <a:prstGeom prst="roundRect">
            <a:avLst>
              <a:gd name="adj" fmla="val 30000"/>
            </a:avLst>
          </a:prstGeom>
          <a:solidFill>
            <a:srgbClr val="1A7F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p17_13"/>
          <p:cNvSpPr/>
          <p:nvPr/>
        </p:nvSpPr>
        <p:spPr>
          <a:xfrm>
            <a:off x="2537981" y="3685631"/>
            <a:ext cx="99157" cy="99157"/>
          </a:xfrm>
          <a:prstGeom prst="roundRect">
            <a:avLst>
              <a:gd name="adj" fmla="val 30000"/>
            </a:avLst>
          </a:prstGeom>
          <a:solidFill>
            <a:srgbClr val="135B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p18_06"/>
          <p:cNvSpPr/>
          <p:nvPr/>
        </p:nvSpPr>
        <p:spPr>
          <a:xfrm>
            <a:off x="1426759" y="3570331"/>
            <a:ext cx="99157" cy="99157"/>
          </a:xfrm>
          <a:prstGeom prst="roundRect">
            <a:avLst>
              <a:gd name="adj" fmla="val 30000"/>
            </a:avLst>
          </a:prstGeom>
          <a:solidFill>
            <a:srgbClr val="125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p18_07"/>
          <p:cNvSpPr/>
          <p:nvPr/>
        </p:nvSpPr>
        <p:spPr>
          <a:xfrm>
            <a:off x="1585505" y="3570331"/>
            <a:ext cx="99157" cy="99157"/>
          </a:xfrm>
          <a:prstGeom prst="roundRect">
            <a:avLst>
              <a:gd name="adj" fmla="val 30000"/>
            </a:avLst>
          </a:prstGeom>
          <a:solidFill>
            <a:srgbClr val="176F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p18_08"/>
          <p:cNvSpPr/>
          <p:nvPr/>
        </p:nvSpPr>
        <p:spPr>
          <a:xfrm>
            <a:off x="1744251" y="3570331"/>
            <a:ext cx="99157" cy="99157"/>
          </a:xfrm>
          <a:prstGeom prst="roundRect">
            <a:avLst>
              <a:gd name="adj" fmla="val 30000"/>
            </a:avLst>
          </a:prstGeom>
          <a:solidFill>
            <a:srgbClr val="1C8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p18_09"/>
          <p:cNvSpPr/>
          <p:nvPr/>
        </p:nvSpPr>
        <p:spPr>
          <a:xfrm>
            <a:off x="1902997" y="3570331"/>
            <a:ext cx="99157" cy="99157"/>
          </a:xfrm>
          <a:prstGeom prst="roundRect">
            <a:avLst>
              <a:gd name="adj" fmla="val 30000"/>
            </a:avLst>
          </a:prstGeom>
          <a:solidFill>
            <a:srgbClr val="2796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p18_10"/>
          <p:cNvSpPr/>
          <p:nvPr/>
        </p:nvSpPr>
        <p:spPr>
          <a:xfrm>
            <a:off x="2061743" y="3570331"/>
            <a:ext cx="99157" cy="99157"/>
          </a:xfrm>
          <a:prstGeom prst="roundRect">
            <a:avLst>
              <a:gd name="adj" fmla="val 30000"/>
            </a:avLst>
          </a:prstGeom>
          <a:solidFill>
            <a:srgbClr val="2A99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p18_11"/>
          <p:cNvSpPr/>
          <p:nvPr/>
        </p:nvSpPr>
        <p:spPr>
          <a:xfrm>
            <a:off x="2220489" y="3570331"/>
            <a:ext cx="99157" cy="99157"/>
          </a:xfrm>
          <a:prstGeom prst="roundRect">
            <a:avLst>
              <a:gd name="adj" fmla="val 30000"/>
            </a:avLst>
          </a:prstGeom>
          <a:solidFill>
            <a:srgbClr val="2594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p18_12"/>
          <p:cNvSpPr/>
          <p:nvPr/>
        </p:nvSpPr>
        <p:spPr>
          <a:xfrm>
            <a:off x="2379235" y="3570331"/>
            <a:ext cx="99157" cy="99157"/>
          </a:xfrm>
          <a:prstGeom prst="roundRect">
            <a:avLst>
              <a:gd name="adj" fmla="val 30000"/>
            </a:avLst>
          </a:prstGeom>
          <a:solidFill>
            <a:srgbClr val="1B82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p18_13"/>
          <p:cNvSpPr/>
          <p:nvPr/>
        </p:nvSpPr>
        <p:spPr>
          <a:xfrm>
            <a:off x="2537981" y="3570331"/>
            <a:ext cx="99157" cy="99157"/>
          </a:xfrm>
          <a:prstGeom prst="roundRect">
            <a:avLst>
              <a:gd name="adj" fmla="val 30000"/>
            </a:avLst>
          </a:prstGeom>
          <a:solidFill>
            <a:srgbClr val="145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p19_06"/>
          <p:cNvSpPr/>
          <p:nvPr/>
        </p:nvSpPr>
        <p:spPr>
          <a:xfrm>
            <a:off x="1426759" y="3455032"/>
            <a:ext cx="99157" cy="99157"/>
          </a:xfrm>
          <a:prstGeom prst="roundRect">
            <a:avLst>
              <a:gd name="adj" fmla="val 30000"/>
            </a:avLst>
          </a:prstGeom>
          <a:solidFill>
            <a:srgbClr val="135A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p19_07"/>
          <p:cNvSpPr/>
          <p:nvPr/>
        </p:nvSpPr>
        <p:spPr>
          <a:xfrm>
            <a:off x="1585505" y="3455032"/>
            <a:ext cx="99157" cy="99157"/>
          </a:xfrm>
          <a:prstGeom prst="roundRect">
            <a:avLst>
              <a:gd name="adj" fmla="val 30000"/>
            </a:avLst>
          </a:prstGeom>
          <a:solidFill>
            <a:srgbClr val="1976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p19_08"/>
          <p:cNvSpPr/>
          <p:nvPr/>
        </p:nvSpPr>
        <p:spPr>
          <a:xfrm>
            <a:off x="1744251" y="3455032"/>
            <a:ext cx="99157" cy="99157"/>
          </a:xfrm>
          <a:prstGeom prst="roundRect">
            <a:avLst>
              <a:gd name="adj" fmla="val 3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p19_09"/>
          <p:cNvSpPr/>
          <p:nvPr/>
        </p:nvSpPr>
        <p:spPr>
          <a:xfrm>
            <a:off x="1902997" y="3455032"/>
            <a:ext cx="99157" cy="99157"/>
          </a:xfrm>
          <a:prstGeom prst="roundRect">
            <a:avLst>
              <a:gd name="adj" fmla="val 30000"/>
            </a:avLst>
          </a:prstGeom>
          <a:solidFill>
            <a:srgbClr val="249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p19_10"/>
          <p:cNvSpPr/>
          <p:nvPr/>
        </p:nvSpPr>
        <p:spPr>
          <a:xfrm>
            <a:off x="2061743" y="3455032"/>
            <a:ext cx="99157" cy="99157"/>
          </a:xfrm>
          <a:prstGeom prst="roundRect">
            <a:avLst>
              <a:gd name="adj" fmla="val 30000"/>
            </a:avLst>
          </a:prstGeom>
          <a:solidFill>
            <a:srgbClr val="2695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p19_11"/>
          <p:cNvSpPr/>
          <p:nvPr/>
        </p:nvSpPr>
        <p:spPr>
          <a:xfrm>
            <a:off x="2220489" y="3455032"/>
            <a:ext cx="99157" cy="99157"/>
          </a:xfrm>
          <a:prstGeom prst="roundRect">
            <a:avLst>
              <a:gd name="adj" fmla="val 30000"/>
            </a:avLst>
          </a:prstGeom>
          <a:solidFill>
            <a:srgbClr val="2594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p19_12"/>
          <p:cNvSpPr/>
          <p:nvPr/>
        </p:nvSpPr>
        <p:spPr>
          <a:xfrm>
            <a:off x="2379235" y="3455032"/>
            <a:ext cx="99157" cy="99157"/>
          </a:xfrm>
          <a:prstGeom prst="roundRect">
            <a:avLst>
              <a:gd name="adj" fmla="val 30000"/>
            </a:avLst>
          </a:prstGeom>
          <a:solidFill>
            <a:srgbClr val="1C8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p19_13"/>
          <p:cNvSpPr/>
          <p:nvPr/>
        </p:nvSpPr>
        <p:spPr>
          <a:xfrm>
            <a:off x="2537981" y="3455032"/>
            <a:ext cx="99157" cy="99157"/>
          </a:xfrm>
          <a:prstGeom prst="roundRect">
            <a:avLst>
              <a:gd name="adj" fmla="val 30000"/>
            </a:avLst>
          </a:prstGeom>
          <a:solidFill>
            <a:srgbClr val="1565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p20_06"/>
          <p:cNvSpPr/>
          <p:nvPr/>
        </p:nvSpPr>
        <p:spPr>
          <a:xfrm>
            <a:off x="1426759" y="3339732"/>
            <a:ext cx="99157" cy="99157"/>
          </a:xfrm>
          <a:prstGeom prst="roundRect">
            <a:avLst>
              <a:gd name="adj" fmla="val 30000"/>
            </a:avLst>
          </a:prstGeom>
          <a:solidFill>
            <a:srgbClr val="1668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p20_07"/>
          <p:cNvSpPr/>
          <p:nvPr/>
        </p:nvSpPr>
        <p:spPr>
          <a:xfrm>
            <a:off x="1585505" y="3339732"/>
            <a:ext cx="99157" cy="99157"/>
          </a:xfrm>
          <a:prstGeom prst="roundRect">
            <a:avLst>
              <a:gd name="adj" fmla="val 30000"/>
            </a:avLst>
          </a:prstGeom>
          <a:solidFill>
            <a:srgbClr val="1B84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p20_08"/>
          <p:cNvSpPr/>
          <p:nvPr/>
        </p:nvSpPr>
        <p:spPr>
          <a:xfrm>
            <a:off x="1744251" y="3339732"/>
            <a:ext cx="99157" cy="99157"/>
          </a:xfrm>
          <a:prstGeom prst="roundRect">
            <a:avLst>
              <a:gd name="adj" fmla="val 30000"/>
            </a:avLst>
          </a:prstGeom>
          <a:solidFill>
            <a:srgbClr val="2291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p20_09"/>
          <p:cNvSpPr/>
          <p:nvPr/>
        </p:nvSpPr>
        <p:spPr>
          <a:xfrm>
            <a:off x="1902997" y="3339732"/>
            <a:ext cx="99157" cy="99157"/>
          </a:xfrm>
          <a:prstGeom prst="roundRect">
            <a:avLst>
              <a:gd name="adj" fmla="val 30000"/>
            </a:avLst>
          </a:prstGeom>
          <a:solidFill>
            <a:srgbClr val="239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p20_10"/>
          <p:cNvSpPr/>
          <p:nvPr/>
        </p:nvSpPr>
        <p:spPr>
          <a:xfrm>
            <a:off x="2061743" y="3339732"/>
            <a:ext cx="99157" cy="99157"/>
          </a:xfrm>
          <a:prstGeom prst="roundRect">
            <a:avLst>
              <a:gd name="adj" fmla="val 30000"/>
            </a:avLst>
          </a:prstGeom>
          <a:solidFill>
            <a:srgbClr val="2393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p20_11"/>
          <p:cNvSpPr/>
          <p:nvPr/>
        </p:nvSpPr>
        <p:spPr>
          <a:xfrm>
            <a:off x="2220489" y="3339732"/>
            <a:ext cx="99157" cy="99157"/>
          </a:xfrm>
          <a:prstGeom prst="roundRect">
            <a:avLst>
              <a:gd name="adj" fmla="val 30000"/>
            </a:avLst>
          </a:prstGeom>
          <a:solidFill>
            <a:srgbClr val="2696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p20_12"/>
          <p:cNvSpPr/>
          <p:nvPr/>
        </p:nvSpPr>
        <p:spPr>
          <a:xfrm>
            <a:off x="2379235" y="3339732"/>
            <a:ext cx="99157" cy="99157"/>
          </a:xfrm>
          <a:prstGeom prst="roundRect">
            <a:avLst>
              <a:gd name="adj" fmla="val 30000"/>
            </a:avLst>
          </a:prstGeom>
          <a:solidFill>
            <a:srgbClr val="2191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p20_13"/>
          <p:cNvSpPr/>
          <p:nvPr/>
        </p:nvSpPr>
        <p:spPr>
          <a:xfrm>
            <a:off x="2537981" y="3339732"/>
            <a:ext cx="99157" cy="99157"/>
          </a:xfrm>
          <a:prstGeom prst="roundRect">
            <a:avLst>
              <a:gd name="adj" fmla="val 30000"/>
            </a:avLst>
          </a:prstGeom>
          <a:solidFill>
            <a:srgbClr val="176F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p21_05"/>
          <p:cNvSpPr/>
          <p:nvPr/>
        </p:nvSpPr>
        <p:spPr>
          <a:xfrm>
            <a:off x="1268013" y="3224432"/>
            <a:ext cx="99157" cy="99157"/>
          </a:xfrm>
          <a:prstGeom prst="roundRect">
            <a:avLst>
              <a:gd name="adj" fmla="val 30000"/>
            </a:avLst>
          </a:prstGeom>
          <a:solidFill>
            <a:srgbClr val="1562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p21_06"/>
          <p:cNvSpPr/>
          <p:nvPr/>
        </p:nvSpPr>
        <p:spPr>
          <a:xfrm>
            <a:off x="1426759" y="3224432"/>
            <a:ext cx="99157" cy="99157"/>
          </a:xfrm>
          <a:prstGeom prst="roundRect">
            <a:avLst>
              <a:gd name="adj" fmla="val 30000"/>
            </a:avLst>
          </a:prstGeom>
          <a:solidFill>
            <a:srgbClr val="1A7E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p21_07"/>
          <p:cNvSpPr/>
          <p:nvPr/>
        </p:nvSpPr>
        <p:spPr>
          <a:xfrm>
            <a:off x="1585505" y="3224432"/>
            <a:ext cx="99157" cy="99157"/>
          </a:xfrm>
          <a:prstGeom prst="roundRect">
            <a:avLst>
              <a:gd name="adj" fmla="val 30000"/>
            </a:avLst>
          </a:prstGeom>
          <a:solidFill>
            <a:srgbClr val="249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p21_08"/>
          <p:cNvSpPr/>
          <p:nvPr/>
        </p:nvSpPr>
        <p:spPr>
          <a:xfrm>
            <a:off x="1744251" y="3224432"/>
            <a:ext cx="99157" cy="99157"/>
          </a:xfrm>
          <a:prstGeom prst="roundRect">
            <a:avLst>
              <a:gd name="adj" fmla="val 30000"/>
            </a:avLst>
          </a:prstGeom>
          <a:solidFill>
            <a:srgbClr val="2A99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p21_09"/>
          <p:cNvSpPr/>
          <p:nvPr/>
        </p:nvSpPr>
        <p:spPr>
          <a:xfrm>
            <a:off x="1902997" y="3224432"/>
            <a:ext cx="99157" cy="99157"/>
          </a:xfrm>
          <a:prstGeom prst="roundRect">
            <a:avLst>
              <a:gd name="adj" fmla="val 30000"/>
            </a:avLst>
          </a:prstGeom>
          <a:solidFill>
            <a:srgbClr val="2393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p21_10"/>
          <p:cNvSpPr/>
          <p:nvPr/>
        </p:nvSpPr>
        <p:spPr>
          <a:xfrm>
            <a:off x="2061743" y="3224432"/>
            <a:ext cx="99157" cy="99157"/>
          </a:xfrm>
          <a:prstGeom prst="roundRect">
            <a:avLst>
              <a:gd name="adj" fmla="val 30000"/>
            </a:avLst>
          </a:prstGeom>
          <a:solidFill>
            <a:srgbClr val="2190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p21_11"/>
          <p:cNvSpPr/>
          <p:nvPr/>
        </p:nvSpPr>
        <p:spPr>
          <a:xfrm>
            <a:off x="2220489" y="3224432"/>
            <a:ext cx="99157" cy="99157"/>
          </a:xfrm>
          <a:prstGeom prst="roundRect">
            <a:avLst>
              <a:gd name="adj" fmla="val 30000"/>
            </a:avLst>
          </a:prstGeom>
          <a:solidFill>
            <a:srgbClr val="299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p21_12"/>
          <p:cNvSpPr/>
          <p:nvPr/>
        </p:nvSpPr>
        <p:spPr>
          <a:xfrm>
            <a:off x="2379235" y="3224432"/>
            <a:ext cx="99157" cy="99157"/>
          </a:xfrm>
          <a:prstGeom prst="roundRect">
            <a:avLst>
              <a:gd name="adj" fmla="val 30000"/>
            </a:avLst>
          </a:prstGeom>
          <a:solidFill>
            <a:srgbClr val="2A9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p21_13"/>
          <p:cNvSpPr/>
          <p:nvPr/>
        </p:nvSpPr>
        <p:spPr>
          <a:xfrm>
            <a:off x="2537981" y="3224432"/>
            <a:ext cx="99157" cy="99157"/>
          </a:xfrm>
          <a:prstGeom prst="roundRect">
            <a:avLst>
              <a:gd name="adj" fmla="val 30000"/>
            </a:avLst>
          </a:prstGeom>
          <a:solidFill>
            <a:srgbClr val="1A7B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p22_05"/>
          <p:cNvSpPr/>
          <p:nvPr/>
        </p:nvSpPr>
        <p:spPr>
          <a:xfrm>
            <a:off x="1268013" y="3109132"/>
            <a:ext cx="99157" cy="99157"/>
          </a:xfrm>
          <a:prstGeom prst="roundRect">
            <a:avLst>
              <a:gd name="adj" fmla="val 30000"/>
            </a:avLst>
          </a:prstGeom>
          <a:solidFill>
            <a:srgbClr val="1A7E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p22_06"/>
          <p:cNvSpPr/>
          <p:nvPr/>
        </p:nvSpPr>
        <p:spPr>
          <a:xfrm>
            <a:off x="1426759" y="3109132"/>
            <a:ext cx="99157" cy="99157"/>
          </a:xfrm>
          <a:prstGeom prst="roundRect">
            <a:avLst>
              <a:gd name="adj" fmla="val 30000"/>
            </a:avLst>
          </a:prstGeom>
          <a:solidFill>
            <a:srgbClr val="2695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p22_07"/>
          <p:cNvSpPr/>
          <p:nvPr/>
        </p:nvSpPr>
        <p:spPr>
          <a:xfrm>
            <a:off x="1585505" y="3109132"/>
            <a:ext cx="99157" cy="99157"/>
          </a:xfrm>
          <a:prstGeom prst="roundRect">
            <a:avLst>
              <a:gd name="adj" fmla="val 30000"/>
            </a:avLst>
          </a:prstGeom>
          <a:solidFill>
            <a:srgbClr val="34A2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p22_08"/>
          <p:cNvSpPr/>
          <p:nvPr/>
        </p:nvSpPr>
        <p:spPr>
          <a:xfrm>
            <a:off x="1744251" y="3109132"/>
            <a:ext cx="99157" cy="99157"/>
          </a:xfrm>
          <a:prstGeom prst="roundRect">
            <a:avLst>
              <a:gd name="adj" fmla="val 30000"/>
            </a:avLst>
          </a:prstGeom>
          <a:solidFill>
            <a:srgbClr val="34A2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p22_09"/>
          <p:cNvSpPr/>
          <p:nvPr/>
        </p:nvSpPr>
        <p:spPr>
          <a:xfrm>
            <a:off x="1902997" y="3109132"/>
            <a:ext cx="99157" cy="99157"/>
          </a:xfrm>
          <a:prstGeom prst="roundRect">
            <a:avLst>
              <a:gd name="adj" fmla="val 30000"/>
            </a:avLst>
          </a:prstGeom>
          <a:solidFill>
            <a:srgbClr val="2594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p22_10"/>
          <p:cNvSpPr/>
          <p:nvPr/>
        </p:nvSpPr>
        <p:spPr>
          <a:xfrm>
            <a:off x="2061743" y="3109132"/>
            <a:ext cx="99157" cy="99157"/>
          </a:xfrm>
          <a:prstGeom prst="roundRect">
            <a:avLst>
              <a:gd name="adj" fmla="val 30000"/>
            </a:avLst>
          </a:prstGeom>
          <a:solidFill>
            <a:srgbClr val="1F8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p22_11"/>
          <p:cNvSpPr/>
          <p:nvPr/>
        </p:nvSpPr>
        <p:spPr>
          <a:xfrm>
            <a:off x="2220489" y="3109132"/>
            <a:ext cx="99157" cy="99157"/>
          </a:xfrm>
          <a:prstGeom prst="roundRect">
            <a:avLst>
              <a:gd name="adj" fmla="val 30000"/>
            </a:avLst>
          </a:prstGeom>
          <a:solidFill>
            <a:srgbClr val="2B99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p22_12"/>
          <p:cNvSpPr/>
          <p:nvPr/>
        </p:nvSpPr>
        <p:spPr>
          <a:xfrm>
            <a:off x="2379235" y="3109132"/>
            <a:ext cx="99157" cy="99157"/>
          </a:xfrm>
          <a:prstGeom prst="roundRect">
            <a:avLst>
              <a:gd name="adj" fmla="val 30000"/>
            </a:avLst>
          </a:prstGeom>
          <a:solidFill>
            <a:srgbClr val="309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p22_13"/>
          <p:cNvSpPr/>
          <p:nvPr/>
        </p:nvSpPr>
        <p:spPr>
          <a:xfrm>
            <a:off x="2537981" y="3109132"/>
            <a:ext cx="99157" cy="99157"/>
          </a:xfrm>
          <a:prstGeom prst="roundRect">
            <a:avLst>
              <a:gd name="adj" fmla="val 30000"/>
            </a:avLst>
          </a:prstGeom>
          <a:solidFill>
            <a:srgbClr val="1C85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p23_04"/>
          <p:cNvSpPr/>
          <p:nvPr/>
        </p:nvSpPr>
        <p:spPr>
          <a:xfrm>
            <a:off x="1109267" y="2993833"/>
            <a:ext cx="99157" cy="99157"/>
          </a:xfrm>
          <a:prstGeom prst="roundRect">
            <a:avLst>
              <a:gd name="adj" fmla="val 30000"/>
            </a:avLst>
          </a:prstGeom>
          <a:solidFill>
            <a:srgbClr val="176D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p23_05"/>
          <p:cNvSpPr/>
          <p:nvPr/>
        </p:nvSpPr>
        <p:spPr>
          <a:xfrm>
            <a:off x="1268013" y="2993833"/>
            <a:ext cx="99157" cy="99157"/>
          </a:xfrm>
          <a:prstGeom prst="roundRect">
            <a:avLst>
              <a:gd name="adj" fmla="val 30000"/>
            </a:avLst>
          </a:prstGeom>
          <a:solidFill>
            <a:srgbClr val="289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p23_06"/>
          <p:cNvSpPr/>
          <p:nvPr/>
        </p:nvSpPr>
        <p:spPr>
          <a:xfrm>
            <a:off x="1426759" y="2993833"/>
            <a:ext cx="99157" cy="99157"/>
          </a:xfrm>
          <a:prstGeom prst="roundRect">
            <a:avLst>
              <a:gd name="adj" fmla="val 30000"/>
            </a:avLst>
          </a:prstGeom>
          <a:solidFill>
            <a:srgbClr val="3AA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p23_07"/>
          <p:cNvSpPr/>
          <p:nvPr/>
        </p:nvSpPr>
        <p:spPr>
          <a:xfrm>
            <a:off x="1585505" y="2993833"/>
            <a:ext cx="99157" cy="99157"/>
          </a:xfrm>
          <a:prstGeom prst="roundRect">
            <a:avLst>
              <a:gd name="adj" fmla="val 30000"/>
            </a:avLst>
          </a:prstGeom>
          <a:solidFill>
            <a:srgbClr val="44B0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p23_08"/>
          <p:cNvSpPr/>
          <p:nvPr/>
        </p:nvSpPr>
        <p:spPr>
          <a:xfrm>
            <a:off x="1744251" y="2993833"/>
            <a:ext cx="99157" cy="99157"/>
          </a:xfrm>
          <a:prstGeom prst="roundRect">
            <a:avLst>
              <a:gd name="adj" fmla="val 30000"/>
            </a:avLst>
          </a:prstGeom>
          <a:solidFill>
            <a:srgbClr val="3DAA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p23_09"/>
          <p:cNvSpPr/>
          <p:nvPr/>
        </p:nvSpPr>
        <p:spPr>
          <a:xfrm>
            <a:off x="1902997" y="2993833"/>
            <a:ext cx="99157" cy="99157"/>
          </a:xfrm>
          <a:prstGeom prst="roundRect">
            <a:avLst>
              <a:gd name="adj" fmla="val 30000"/>
            </a:avLst>
          </a:prstGeom>
          <a:solidFill>
            <a:srgbClr val="2695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p23_10"/>
          <p:cNvSpPr/>
          <p:nvPr/>
        </p:nvSpPr>
        <p:spPr>
          <a:xfrm>
            <a:off x="2061743" y="2993833"/>
            <a:ext cx="99157" cy="99157"/>
          </a:xfrm>
          <a:prstGeom prst="roundRect">
            <a:avLst>
              <a:gd name="adj" fmla="val 30000"/>
            </a:avLst>
          </a:prstGeom>
          <a:solidFill>
            <a:srgbClr val="1C8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p23_11"/>
          <p:cNvSpPr/>
          <p:nvPr/>
        </p:nvSpPr>
        <p:spPr>
          <a:xfrm>
            <a:off x="2220489" y="2993833"/>
            <a:ext cx="99157" cy="99157"/>
          </a:xfrm>
          <a:prstGeom prst="roundRect">
            <a:avLst>
              <a:gd name="adj" fmla="val 30000"/>
            </a:avLst>
          </a:prstGeom>
          <a:solidFill>
            <a:srgbClr val="2998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p23_12"/>
          <p:cNvSpPr/>
          <p:nvPr/>
        </p:nvSpPr>
        <p:spPr>
          <a:xfrm>
            <a:off x="2379235" y="2993833"/>
            <a:ext cx="99157" cy="99157"/>
          </a:xfrm>
          <a:prstGeom prst="roundRect">
            <a:avLst>
              <a:gd name="adj" fmla="val 30000"/>
            </a:avLst>
          </a:prstGeom>
          <a:solidFill>
            <a:srgbClr val="32A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p23_13"/>
          <p:cNvSpPr/>
          <p:nvPr/>
        </p:nvSpPr>
        <p:spPr>
          <a:xfrm>
            <a:off x="2537981" y="2993833"/>
            <a:ext cx="99157" cy="99157"/>
          </a:xfrm>
          <a:prstGeom prst="roundRect">
            <a:avLst>
              <a:gd name="adj" fmla="val 30000"/>
            </a:avLst>
          </a:prstGeom>
          <a:solidFill>
            <a:srgbClr val="1C8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p23_14"/>
          <p:cNvSpPr/>
          <p:nvPr/>
        </p:nvSpPr>
        <p:spPr>
          <a:xfrm>
            <a:off x="2696727" y="2993833"/>
            <a:ext cx="99157" cy="99157"/>
          </a:xfrm>
          <a:prstGeom prst="roundRect">
            <a:avLst>
              <a:gd name="adj" fmla="val 30000"/>
            </a:avLst>
          </a:prstGeom>
          <a:solidFill>
            <a:srgbClr val="104B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p24_04"/>
          <p:cNvSpPr/>
          <p:nvPr/>
        </p:nvSpPr>
        <p:spPr>
          <a:xfrm>
            <a:off x="1109267" y="2878533"/>
            <a:ext cx="99157" cy="99157"/>
          </a:xfrm>
          <a:prstGeom prst="roundRect">
            <a:avLst>
              <a:gd name="adj" fmla="val 30000"/>
            </a:avLst>
          </a:prstGeom>
          <a:solidFill>
            <a:srgbClr val="1A7F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p24_05"/>
          <p:cNvSpPr/>
          <p:nvPr/>
        </p:nvSpPr>
        <p:spPr>
          <a:xfrm>
            <a:off x="1268013" y="2878533"/>
            <a:ext cx="99157" cy="99157"/>
          </a:xfrm>
          <a:prstGeom prst="roundRect">
            <a:avLst>
              <a:gd name="adj" fmla="val 30000"/>
            </a:avLst>
          </a:prstGeom>
          <a:solidFill>
            <a:srgbClr val="38A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p24_06"/>
          <p:cNvSpPr/>
          <p:nvPr/>
        </p:nvSpPr>
        <p:spPr>
          <a:xfrm>
            <a:off x="1426759" y="2878533"/>
            <a:ext cx="99157" cy="99157"/>
          </a:xfrm>
          <a:prstGeom prst="roundRect">
            <a:avLst>
              <a:gd name="adj" fmla="val 30000"/>
            </a:avLst>
          </a:prstGeom>
          <a:solidFill>
            <a:srgbClr val="48B4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p24_07"/>
          <p:cNvSpPr/>
          <p:nvPr/>
        </p:nvSpPr>
        <p:spPr>
          <a:xfrm>
            <a:off x="1585505" y="2878533"/>
            <a:ext cx="99157" cy="99157"/>
          </a:xfrm>
          <a:prstGeom prst="roundRect">
            <a:avLst>
              <a:gd name="adj" fmla="val 30000"/>
            </a:avLst>
          </a:prstGeom>
          <a:solidFill>
            <a:srgbClr val="4DB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p24_08"/>
          <p:cNvSpPr/>
          <p:nvPr/>
        </p:nvSpPr>
        <p:spPr>
          <a:xfrm>
            <a:off x="1744251" y="2878533"/>
            <a:ext cx="99157" cy="99157"/>
          </a:xfrm>
          <a:prstGeom prst="roundRect">
            <a:avLst>
              <a:gd name="adj" fmla="val 30000"/>
            </a:avLst>
          </a:prstGeom>
          <a:solidFill>
            <a:srgbClr val="41A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p24_09"/>
          <p:cNvSpPr/>
          <p:nvPr/>
        </p:nvSpPr>
        <p:spPr>
          <a:xfrm>
            <a:off x="1902997" y="2878533"/>
            <a:ext cx="99157" cy="99157"/>
          </a:xfrm>
          <a:prstGeom prst="roundRect">
            <a:avLst>
              <a:gd name="adj" fmla="val 30000"/>
            </a:avLst>
          </a:prstGeom>
          <a:solidFill>
            <a:srgbClr val="249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p24_10"/>
          <p:cNvSpPr/>
          <p:nvPr/>
        </p:nvSpPr>
        <p:spPr>
          <a:xfrm>
            <a:off x="2061743" y="2878533"/>
            <a:ext cx="99157" cy="99157"/>
          </a:xfrm>
          <a:prstGeom prst="roundRect">
            <a:avLst>
              <a:gd name="adj" fmla="val 30000"/>
            </a:avLst>
          </a:prstGeom>
          <a:solidFill>
            <a:srgbClr val="1B81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p24_11"/>
          <p:cNvSpPr/>
          <p:nvPr/>
        </p:nvSpPr>
        <p:spPr>
          <a:xfrm>
            <a:off x="2220489" y="2878533"/>
            <a:ext cx="99157" cy="99157"/>
          </a:xfrm>
          <a:prstGeom prst="roundRect">
            <a:avLst>
              <a:gd name="adj" fmla="val 30000"/>
            </a:avLst>
          </a:prstGeom>
          <a:solidFill>
            <a:srgbClr val="2291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p24_12"/>
          <p:cNvSpPr/>
          <p:nvPr/>
        </p:nvSpPr>
        <p:spPr>
          <a:xfrm>
            <a:off x="2379235" y="2878533"/>
            <a:ext cx="99157" cy="99157"/>
          </a:xfrm>
          <a:prstGeom prst="roundRect">
            <a:avLst>
              <a:gd name="adj" fmla="val 30000"/>
            </a:avLst>
          </a:prstGeom>
          <a:solidFill>
            <a:srgbClr val="2C9B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p24_13"/>
          <p:cNvSpPr/>
          <p:nvPr/>
        </p:nvSpPr>
        <p:spPr>
          <a:xfrm>
            <a:off x="2537981" y="2878533"/>
            <a:ext cx="99157" cy="99157"/>
          </a:xfrm>
          <a:prstGeom prst="roundRect">
            <a:avLst>
              <a:gd name="adj" fmla="val 30000"/>
            </a:avLst>
          </a:prstGeom>
          <a:solidFill>
            <a:srgbClr val="1B82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p24_14"/>
          <p:cNvSpPr/>
          <p:nvPr/>
        </p:nvSpPr>
        <p:spPr>
          <a:xfrm>
            <a:off x="2696727" y="2878533"/>
            <a:ext cx="99157" cy="99157"/>
          </a:xfrm>
          <a:prstGeom prst="roundRect">
            <a:avLst>
              <a:gd name="adj" fmla="val 30000"/>
            </a:avLst>
          </a:prstGeom>
          <a:solidFill>
            <a:srgbClr val="0F47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p25_04"/>
          <p:cNvSpPr/>
          <p:nvPr/>
        </p:nvSpPr>
        <p:spPr>
          <a:xfrm>
            <a:off x="1109267" y="2763233"/>
            <a:ext cx="99157" cy="99157"/>
          </a:xfrm>
          <a:prstGeom prst="roundRect">
            <a:avLst>
              <a:gd name="adj" fmla="val 30000"/>
            </a:avLst>
          </a:prstGeom>
          <a:solidFill>
            <a:srgbClr val="1C88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p25_05"/>
          <p:cNvSpPr/>
          <p:nvPr/>
        </p:nvSpPr>
        <p:spPr>
          <a:xfrm>
            <a:off x="1268013" y="2763233"/>
            <a:ext cx="99157" cy="99157"/>
          </a:xfrm>
          <a:prstGeom prst="roundRect">
            <a:avLst>
              <a:gd name="adj" fmla="val 30000"/>
            </a:avLst>
          </a:prstGeom>
          <a:solidFill>
            <a:srgbClr val="40AC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p25_06"/>
          <p:cNvSpPr/>
          <p:nvPr/>
        </p:nvSpPr>
        <p:spPr>
          <a:xfrm>
            <a:off x="1426759" y="2763233"/>
            <a:ext cx="99157" cy="99157"/>
          </a:xfrm>
          <a:prstGeom prst="roundRect">
            <a:avLst>
              <a:gd name="adj" fmla="val 30000"/>
            </a:avLst>
          </a:prstGeom>
          <a:solidFill>
            <a:srgbClr val="4CB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p25_07"/>
          <p:cNvSpPr/>
          <p:nvPr/>
        </p:nvSpPr>
        <p:spPr>
          <a:xfrm>
            <a:off x="1585505" y="2763233"/>
            <a:ext cx="99157" cy="99157"/>
          </a:xfrm>
          <a:prstGeom prst="roundRect">
            <a:avLst>
              <a:gd name="adj" fmla="val 30000"/>
            </a:avLst>
          </a:prstGeom>
          <a:solidFill>
            <a:srgbClr val="4CB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p25_08"/>
          <p:cNvSpPr/>
          <p:nvPr/>
        </p:nvSpPr>
        <p:spPr>
          <a:xfrm>
            <a:off x="1744251" y="2763233"/>
            <a:ext cx="99157" cy="99157"/>
          </a:xfrm>
          <a:prstGeom prst="roundRect">
            <a:avLst>
              <a:gd name="adj" fmla="val 30000"/>
            </a:avLst>
          </a:prstGeom>
          <a:solidFill>
            <a:srgbClr val="3DAA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p25_09"/>
          <p:cNvSpPr/>
          <p:nvPr/>
        </p:nvSpPr>
        <p:spPr>
          <a:xfrm>
            <a:off x="1902997" y="2763233"/>
            <a:ext cx="99157" cy="99157"/>
          </a:xfrm>
          <a:prstGeom prst="roundRect">
            <a:avLst>
              <a:gd name="adj" fmla="val 30000"/>
            </a:avLst>
          </a:prstGeom>
          <a:solidFill>
            <a:srgbClr val="1E8E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p25_10"/>
          <p:cNvSpPr/>
          <p:nvPr/>
        </p:nvSpPr>
        <p:spPr>
          <a:xfrm>
            <a:off x="2061743" y="2763233"/>
            <a:ext cx="99157" cy="99157"/>
          </a:xfrm>
          <a:prstGeom prst="roundRect">
            <a:avLst>
              <a:gd name="adj" fmla="val 30000"/>
            </a:avLst>
          </a:prstGeom>
          <a:solidFill>
            <a:srgbClr val="1872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p25_11"/>
          <p:cNvSpPr/>
          <p:nvPr/>
        </p:nvSpPr>
        <p:spPr>
          <a:xfrm>
            <a:off x="2220489" y="2763233"/>
            <a:ext cx="99157" cy="99157"/>
          </a:xfrm>
          <a:prstGeom prst="roundRect">
            <a:avLst>
              <a:gd name="adj" fmla="val 30000"/>
            </a:avLst>
          </a:prstGeom>
          <a:solidFill>
            <a:srgbClr val="1B81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p25_12"/>
          <p:cNvSpPr/>
          <p:nvPr/>
        </p:nvSpPr>
        <p:spPr>
          <a:xfrm>
            <a:off x="2379235" y="2763233"/>
            <a:ext cx="99157" cy="99157"/>
          </a:xfrm>
          <a:prstGeom prst="roundRect">
            <a:avLst>
              <a:gd name="adj" fmla="val 30000"/>
            </a:avLst>
          </a:prstGeom>
          <a:solidFill>
            <a:srgbClr val="1E8E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p25_13"/>
          <p:cNvSpPr/>
          <p:nvPr/>
        </p:nvSpPr>
        <p:spPr>
          <a:xfrm>
            <a:off x="2537981" y="2763233"/>
            <a:ext cx="99157" cy="99157"/>
          </a:xfrm>
          <a:prstGeom prst="roundRect">
            <a:avLst>
              <a:gd name="adj" fmla="val 30000"/>
            </a:avLst>
          </a:prstGeom>
          <a:solidFill>
            <a:srgbClr val="1872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p25_14"/>
          <p:cNvSpPr/>
          <p:nvPr/>
        </p:nvSpPr>
        <p:spPr>
          <a:xfrm>
            <a:off x="2696727" y="2763233"/>
            <a:ext cx="99157" cy="99157"/>
          </a:xfrm>
          <a:prstGeom prst="roundRect">
            <a:avLst>
              <a:gd name="adj" fmla="val 30000"/>
            </a:avLst>
          </a:prstGeom>
          <a:solidFill>
            <a:srgbClr val="0E3E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p26_03"/>
          <p:cNvSpPr/>
          <p:nvPr/>
        </p:nvSpPr>
        <p:spPr>
          <a:xfrm>
            <a:off x="950521" y="2647933"/>
            <a:ext cx="99157" cy="99157"/>
          </a:xfrm>
          <a:prstGeom prst="roundRect">
            <a:avLst>
              <a:gd name="adj" fmla="val 30000"/>
            </a:avLst>
          </a:prstGeom>
          <a:solidFill>
            <a:srgbClr val="0E4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p26_04"/>
          <p:cNvSpPr/>
          <p:nvPr/>
        </p:nvSpPr>
        <p:spPr>
          <a:xfrm>
            <a:off x="1109267" y="2647933"/>
            <a:ext cx="99157" cy="99157"/>
          </a:xfrm>
          <a:prstGeom prst="roundRect">
            <a:avLst>
              <a:gd name="adj" fmla="val 30000"/>
            </a:avLst>
          </a:prstGeom>
          <a:solidFill>
            <a:srgbClr val="1B83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p26_05"/>
          <p:cNvSpPr/>
          <p:nvPr/>
        </p:nvSpPr>
        <p:spPr>
          <a:xfrm>
            <a:off x="1268013" y="2647933"/>
            <a:ext cx="99157" cy="99157"/>
          </a:xfrm>
          <a:prstGeom prst="roundRect">
            <a:avLst>
              <a:gd name="adj" fmla="val 30000"/>
            </a:avLst>
          </a:prstGeom>
          <a:solidFill>
            <a:srgbClr val="3AA7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p26_06"/>
          <p:cNvSpPr/>
          <p:nvPr/>
        </p:nvSpPr>
        <p:spPr>
          <a:xfrm>
            <a:off x="1426759" y="2647933"/>
            <a:ext cx="99157" cy="99157"/>
          </a:xfrm>
          <a:prstGeom prst="roundRect">
            <a:avLst>
              <a:gd name="adj" fmla="val 30000"/>
            </a:avLst>
          </a:prstGeom>
          <a:solidFill>
            <a:srgbClr val="43AF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p26_07"/>
          <p:cNvSpPr/>
          <p:nvPr/>
        </p:nvSpPr>
        <p:spPr>
          <a:xfrm>
            <a:off x="1585505" y="2647933"/>
            <a:ext cx="99157" cy="99157"/>
          </a:xfrm>
          <a:prstGeom prst="roundRect">
            <a:avLst>
              <a:gd name="adj" fmla="val 30000"/>
            </a:avLst>
          </a:prstGeom>
          <a:solidFill>
            <a:srgbClr val="40AD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p26_08"/>
          <p:cNvSpPr/>
          <p:nvPr/>
        </p:nvSpPr>
        <p:spPr>
          <a:xfrm>
            <a:off x="1744251" y="2647933"/>
            <a:ext cx="99157" cy="99157"/>
          </a:xfrm>
          <a:prstGeom prst="roundRect">
            <a:avLst>
              <a:gd name="adj" fmla="val 30000"/>
            </a:avLst>
          </a:prstGeom>
          <a:solidFill>
            <a:srgbClr val="319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p26_09"/>
          <p:cNvSpPr/>
          <p:nvPr/>
        </p:nvSpPr>
        <p:spPr>
          <a:xfrm>
            <a:off x="1902997" y="2647933"/>
            <a:ext cx="99157" cy="99157"/>
          </a:xfrm>
          <a:prstGeom prst="roundRect">
            <a:avLst>
              <a:gd name="adj" fmla="val 30000"/>
            </a:avLst>
          </a:prstGeom>
          <a:solidFill>
            <a:srgbClr val="1A7D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p26_10"/>
          <p:cNvSpPr/>
          <p:nvPr/>
        </p:nvSpPr>
        <p:spPr>
          <a:xfrm>
            <a:off x="2061743" y="2647933"/>
            <a:ext cx="99157" cy="99157"/>
          </a:xfrm>
          <a:prstGeom prst="roundRect">
            <a:avLst>
              <a:gd name="adj" fmla="val 30000"/>
            </a:avLst>
          </a:prstGeom>
          <a:solidFill>
            <a:srgbClr val="14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p26_11"/>
          <p:cNvSpPr/>
          <p:nvPr/>
        </p:nvSpPr>
        <p:spPr>
          <a:xfrm>
            <a:off x="2220489" y="2647933"/>
            <a:ext cx="99157" cy="99157"/>
          </a:xfrm>
          <a:prstGeom prst="roundRect">
            <a:avLst>
              <a:gd name="adj" fmla="val 30000"/>
            </a:avLst>
          </a:prstGeom>
          <a:solidFill>
            <a:srgbClr val="1669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p26_12"/>
          <p:cNvSpPr/>
          <p:nvPr/>
        </p:nvSpPr>
        <p:spPr>
          <a:xfrm>
            <a:off x="2379235" y="2647933"/>
            <a:ext cx="99157" cy="99157"/>
          </a:xfrm>
          <a:prstGeom prst="roundRect">
            <a:avLst>
              <a:gd name="adj" fmla="val 30000"/>
            </a:avLst>
          </a:prstGeom>
          <a:solidFill>
            <a:srgbClr val="1873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p26_13"/>
          <p:cNvSpPr/>
          <p:nvPr/>
        </p:nvSpPr>
        <p:spPr>
          <a:xfrm>
            <a:off x="2537981" y="2647933"/>
            <a:ext cx="99157" cy="99157"/>
          </a:xfrm>
          <a:prstGeom prst="roundRect">
            <a:avLst>
              <a:gd name="adj" fmla="val 30000"/>
            </a:avLst>
          </a:prstGeom>
          <a:solidFill>
            <a:srgbClr val="135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p26_14"/>
          <p:cNvSpPr/>
          <p:nvPr/>
        </p:nvSpPr>
        <p:spPr>
          <a:xfrm>
            <a:off x="2696727" y="2647933"/>
            <a:ext cx="99157" cy="99157"/>
          </a:xfrm>
          <a:prstGeom prst="roundRect">
            <a:avLst>
              <a:gd name="adj" fmla="val 30000"/>
            </a:avLst>
          </a:prstGeom>
          <a:solidFill>
            <a:srgbClr val="0C38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p27_03"/>
          <p:cNvSpPr/>
          <p:nvPr/>
        </p:nvSpPr>
        <p:spPr>
          <a:xfrm>
            <a:off x="950521" y="2532634"/>
            <a:ext cx="99157" cy="99157"/>
          </a:xfrm>
          <a:prstGeom prst="roundRect">
            <a:avLst>
              <a:gd name="adj" fmla="val 30000"/>
            </a:avLst>
          </a:prstGeom>
          <a:solidFill>
            <a:srgbClr val="0D3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p27_04"/>
          <p:cNvSpPr/>
          <p:nvPr/>
        </p:nvSpPr>
        <p:spPr>
          <a:xfrm>
            <a:off x="1109267" y="2532634"/>
            <a:ext cx="99157" cy="99157"/>
          </a:xfrm>
          <a:prstGeom prst="roundRect">
            <a:avLst>
              <a:gd name="adj" fmla="val 30000"/>
            </a:avLst>
          </a:prstGeom>
          <a:solidFill>
            <a:srgbClr val="1872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p27_05"/>
          <p:cNvSpPr/>
          <p:nvPr/>
        </p:nvSpPr>
        <p:spPr>
          <a:xfrm>
            <a:off x="1268013" y="2532634"/>
            <a:ext cx="99157" cy="99157"/>
          </a:xfrm>
          <a:prstGeom prst="roundRect">
            <a:avLst>
              <a:gd name="adj" fmla="val 30000"/>
            </a:avLst>
          </a:prstGeom>
          <a:solidFill>
            <a:srgbClr val="299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p27_06"/>
          <p:cNvSpPr/>
          <p:nvPr/>
        </p:nvSpPr>
        <p:spPr>
          <a:xfrm>
            <a:off x="1426759" y="2532634"/>
            <a:ext cx="99157" cy="99157"/>
          </a:xfrm>
          <a:prstGeom prst="roundRect">
            <a:avLst>
              <a:gd name="adj" fmla="val 30000"/>
            </a:avLst>
          </a:prstGeom>
          <a:solidFill>
            <a:srgbClr val="309E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p27_07"/>
          <p:cNvSpPr/>
          <p:nvPr/>
        </p:nvSpPr>
        <p:spPr>
          <a:xfrm>
            <a:off x="1585505" y="2532634"/>
            <a:ext cx="99157" cy="99157"/>
          </a:xfrm>
          <a:prstGeom prst="roundRect">
            <a:avLst>
              <a:gd name="adj" fmla="val 30000"/>
            </a:avLst>
          </a:prstGeom>
          <a:solidFill>
            <a:srgbClr val="2C9A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p27_08"/>
          <p:cNvSpPr/>
          <p:nvPr/>
        </p:nvSpPr>
        <p:spPr>
          <a:xfrm>
            <a:off x="1744251" y="2532634"/>
            <a:ext cx="99157" cy="99157"/>
          </a:xfrm>
          <a:prstGeom prst="roundRect">
            <a:avLst>
              <a:gd name="adj" fmla="val 30000"/>
            </a:avLst>
          </a:prstGeom>
          <a:solidFill>
            <a:srgbClr val="1E8E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p27_09"/>
          <p:cNvSpPr/>
          <p:nvPr/>
        </p:nvSpPr>
        <p:spPr>
          <a:xfrm>
            <a:off x="1902997" y="2532634"/>
            <a:ext cx="99157" cy="99157"/>
          </a:xfrm>
          <a:prstGeom prst="roundRect">
            <a:avLst>
              <a:gd name="adj" fmla="val 30000"/>
            </a:avLst>
          </a:prstGeom>
          <a:solidFill>
            <a:srgbClr val="1667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p27_10"/>
          <p:cNvSpPr/>
          <p:nvPr/>
        </p:nvSpPr>
        <p:spPr>
          <a:xfrm>
            <a:off x="2061743" y="2532634"/>
            <a:ext cx="99157" cy="99157"/>
          </a:xfrm>
          <a:prstGeom prst="roundRect">
            <a:avLst>
              <a:gd name="adj" fmla="val 30000"/>
            </a:avLst>
          </a:prstGeom>
          <a:solidFill>
            <a:srgbClr val="114E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p27_11"/>
          <p:cNvSpPr/>
          <p:nvPr/>
        </p:nvSpPr>
        <p:spPr>
          <a:xfrm>
            <a:off x="2220489" y="2532634"/>
            <a:ext cx="99157" cy="99157"/>
          </a:xfrm>
          <a:prstGeom prst="roundRect">
            <a:avLst>
              <a:gd name="adj" fmla="val 30000"/>
            </a:avLst>
          </a:prstGeom>
          <a:solidFill>
            <a:srgbClr val="1150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p27_12"/>
          <p:cNvSpPr/>
          <p:nvPr/>
        </p:nvSpPr>
        <p:spPr>
          <a:xfrm>
            <a:off x="2379235" y="2532634"/>
            <a:ext cx="99157" cy="99157"/>
          </a:xfrm>
          <a:prstGeom prst="roundRect">
            <a:avLst>
              <a:gd name="adj" fmla="val 30000"/>
            </a:avLst>
          </a:prstGeom>
          <a:solidFill>
            <a:srgbClr val="125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p27_13"/>
          <p:cNvSpPr/>
          <p:nvPr/>
        </p:nvSpPr>
        <p:spPr>
          <a:xfrm>
            <a:off x="2537981" y="2532634"/>
            <a:ext cx="99157" cy="99157"/>
          </a:xfrm>
          <a:prstGeom prst="roundRect">
            <a:avLst>
              <a:gd name="adj" fmla="val 30000"/>
            </a:avLst>
          </a:prstGeom>
          <a:solidFill>
            <a:srgbClr val="0F44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p27_14"/>
          <p:cNvSpPr/>
          <p:nvPr/>
        </p:nvSpPr>
        <p:spPr>
          <a:xfrm>
            <a:off x="2696727" y="2532634"/>
            <a:ext cx="99157" cy="99157"/>
          </a:xfrm>
          <a:prstGeom prst="roundRect">
            <a:avLst>
              <a:gd name="adj" fmla="val 30000"/>
            </a:avLst>
          </a:prstGeom>
          <a:solidFill>
            <a:srgbClr val="0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p28_03"/>
          <p:cNvSpPr/>
          <p:nvPr/>
        </p:nvSpPr>
        <p:spPr>
          <a:xfrm>
            <a:off x="950521" y="2417334"/>
            <a:ext cx="99157" cy="99157"/>
          </a:xfrm>
          <a:prstGeom prst="roundRect">
            <a:avLst>
              <a:gd name="adj" fmla="val 30000"/>
            </a:avLst>
          </a:prstGeom>
          <a:solidFill>
            <a:srgbClr val="0C3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p28_04"/>
          <p:cNvSpPr/>
          <p:nvPr/>
        </p:nvSpPr>
        <p:spPr>
          <a:xfrm>
            <a:off x="1109267" y="2417334"/>
            <a:ext cx="99157" cy="99157"/>
          </a:xfrm>
          <a:prstGeom prst="roundRect">
            <a:avLst>
              <a:gd name="adj" fmla="val 30000"/>
            </a:avLst>
          </a:prstGeom>
          <a:solidFill>
            <a:srgbClr val="135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p28_05"/>
          <p:cNvSpPr/>
          <p:nvPr/>
        </p:nvSpPr>
        <p:spPr>
          <a:xfrm>
            <a:off x="1268013" y="2417334"/>
            <a:ext cx="99157" cy="99157"/>
          </a:xfrm>
          <a:prstGeom prst="roundRect">
            <a:avLst>
              <a:gd name="adj" fmla="val 30000"/>
            </a:avLst>
          </a:prstGeom>
          <a:solidFill>
            <a:srgbClr val="1A7E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p28_06"/>
          <p:cNvSpPr/>
          <p:nvPr/>
        </p:nvSpPr>
        <p:spPr>
          <a:xfrm>
            <a:off x="1426759" y="2417334"/>
            <a:ext cx="99157" cy="99157"/>
          </a:xfrm>
          <a:prstGeom prst="roundRect">
            <a:avLst>
              <a:gd name="adj" fmla="val 30000"/>
            </a:avLst>
          </a:prstGeom>
          <a:solidFill>
            <a:srgbClr val="1B84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p28_07"/>
          <p:cNvSpPr/>
          <p:nvPr/>
        </p:nvSpPr>
        <p:spPr>
          <a:xfrm>
            <a:off x="1585505" y="2417334"/>
            <a:ext cx="99157" cy="99157"/>
          </a:xfrm>
          <a:prstGeom prst="roundRect">
            <a:avLst>
              <a:gd name="adj" fmla="val 30000"/>
            </a:avLst>
          </a:prstGeom>
          <a:solidFill>
            <a:srgbClr val="1A7E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p28_08"/>
          <p:cNvSpPr/>
          <p:nvPr/>
        </p:nvSpPr>
        <p:spPr>
          <a:xfrm>
            <a:off x="1744251" y="2417334"/>
            <a:ext cx="99157" cy="99157"/>
          </a:xfrm>
          <a:prstGeom prst="roundRect">
            <a:avLst>
              <a:gd name="adj" fmla="val 30000"/>
            </a:avLst>
          </a:prstGeom>
          <a:solidFill>
            <a:srgbClr val="176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p28_09"/>
          <p:cNvSpPr/>
          <p:nvPr/>
        </p:nvSpPr>
        <p:spPr>
          <a:xfrm>
            <a:off x="1902997" y="2417334"/>
            <a:ext cx="99157" cy="99157"/>
          </a:xfrm>
          <a:prstGeom prst="roundRect">
            <a:avLst>
              <a:gd name="adj" fmla="val 30000"/>
            </a:avLst>
          </a:prstGeom>
          <a:solidFill>
            <a:srgbClr val="1151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p28_10"/>
          <p:cNvSpPr/>
          <p:nvPr/>
        </p:nvSpPr>
        <p:spPr>
          <a:xfrm>
            <a:off x="2061743" y="2417334"/>
            <a:ext cx="99157" cy="99157"/>
          </a:xfrm>
          <a:prstGeom prst="roundRect">
            <a:avLst>
              <a:gd name="adj" fmla="val 30000"/>
            </a:avLst>
          </a:prstGeom>
          <a:solidFill>
            <a:srgbClr val="0D3C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p28_11"/>
          <p:cNvSpPr/>
          <p:nvPr/>
        </p:nvSpPr>
        <p:spPr>
          <a:xfrm>
            <a:off x="2220489" y="2417334"/>
            <a:ext cx="99157" cy="99157"/>
          </a:xfrm>
          <a:prstGeom prst="roundRect">
            <a:avLst>
              <a:gd name="adj" fmla="val 30000"/>
            </a:avLst>
          </a:prstGeom>
          <a:solidFill>
            <a:srgbClr val="0D3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p28_12"/>
          <p:cNvSpPr/>
          <p:nvPr/>
        </p:nvSpPr>
        <p:spPr>
          <a:xfrm>
            <a:off x="2379235" y="2417334"/>
            <a:ext cx="99157" cy="99157"/>
          </a:xfrm>
          <a:prstGeom prst="roundRect">
            <a:avLst>
              <a:gd name="adj" fmla="val 30000"/>
            </a:avLst>
          </a:prstGeom>
          <a:solidFill>
            <a:srgbClr val="0D3C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p28_13"/>
          <p:cNvSpPr/>
          <p:nvPr/>
        </p:nvSpPr>
        <p:spPr>
          <a:xfrm>
            <a:off x="2537981" y="2417334"/>
            <a:ext cx="99157" cy="99157"/>
          </a:xfrm>
          <a:prstGeom prst="roundRect">
            <a:avLst>
              <a:gd name="adj" fmla="val 30000"/>
            </a:avLst>
          </a:prstGeom>
          <a:solidFill>
            <a:srgbClr val="0C37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p28_14"/>
          <p:cNvSpPr/>
          <p:nvPr/>
        </p:nvSpPr>
        <p:spPr>
          <a:xfrm>
            <a:off x="2696727" y="2417334"/>
            <a:ext cx="99157" cy="99157"/>
          </a:xfrm>
          <a:prstGeom prst="roundRect">
            <a:avLst>
              <a:gd name="adj" fmla="val 30000"/>
            </a:avLst>
          </a:prstGeom>
          <a:solidFill>
            <a:srgbClr val="0A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p29_03"/>
          <p:cNvSpPr/>
          <p:nvPr/>
        </p:nvSpPr>
        <p:spPr>
          <a:xfrm>
            <a:off x="950521" y="2302034"/>
            <a:ext cx="99157" cy="99157"/>
          </a:xfrm>
          <a:prstGeom prst="roundRect">
            <a:avLst>
              <a:gd name="adj" fmla="val 30000"/>
            </a:avLst>
          </a:prstGeom>
          <a:solidFill>
            <a:srgbClr val="0B33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p29_04"/>
          <p:cNvSpPr/>
          <p:nvPr/>
        </p:nvSpPr>
        <p:spPr>
          <a:xfrm>
            <a:off x="1109267" y="2302034"/>
            <a:ext cx="99157" cy="99157"/>
          </a:xfrm>
          <a:prstGeom prst="roundRect">
            <a:avLst>
              <a:gd name="adj" fmla="val 30000"/>
            </a:avLst>
          </a:prstGeom>
          <a:solidFill>
            <a:srgbClr val="104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p29_05"/>
          <p:cNvSpPr/>
          <p:nvPr/>
        </p:nvSpPr>
        <p:spPr>
          <a:xfrm>
            <a:off x="1268013" y="2302034"/>
            <a:ext cx="99157" cy="99157"/>
          </a:xfrm>
          <a:prstGeom prst="roundRect">
            <a:avLst>
              <a:gd name="adj" fmla="val 30000"/>
            </a:avLst>
          </a:prstGeom>
          <a:solidFill>
            <a:srgbClr val="1460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p29_06"/>
          <p:cNvSpPr/>
          <p:nvPr/>
        </p:nvSpPr>
        <p:spPr>
          <a:xfrm>
            <a:off x="1426759" y="2302034"/>
            <a:ext cx="99157" cy="99157"/>
          </a:xfrm>
          <a:prstGeom prst="roundRect">
            <a:avLst>
              <a:gd name="adj" fmla="val 30000"/>
            </a:avLst>
          </a:prstGeom>
          <a:solidFill>
            <a:srgbClr val="14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p29_07"/>
          <p:cNvSpPr/>
          <p:nvPr/>
        </p:nvSpPr>
        <p:spPr>
          <a:xfrm>
            <a:off x="1585505" y="2302034"/>
            <a:ext cx="99157" cy="99157"/>
          </a:xfrm>
          <a:prstGeom prst="roundRect">
            <a:avLst>
              <a:gd name="adj" fmla="val 30000"/>
            </a:avLst>
          </a:prstGeom>
          <a:solidFill>
            <a:srgbClr val="135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p29_08"/>
          <p:cNvSpPr/>
          <p:nvPr/>
        </p:nvSpPr>
        <p:spPr>
          <a:xfrm>
            <a:off x="1744251" y="2302034"/>
            <a:ext cx="99157" cy="99157"/>
          </a:xfrm>
          <a:prstGeom prst="roundRect">
            <a:avLst>
              <a:gd name="adj" fmla="val 30000"/>
            </a:avLst>
          </a:prstGeom>
          <a:solidFill>
            <a:srgbClr val="1150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p29_09"/>
          <p:cNvSpPr/>
          <p:nvPr/>
        </p:nvSpPr>
        <p:spPr>
          <a:xfrm>
            <a:off x="1902997" y="2302034"/>
            <a:ext cx="99157" cy="99157"/>
          </a:xfrm>
          <a:prstGeom prst="roundRect">
            <a:avLst>
              <a:gd name="adj" fmla="val 30000"/>
            </a:avLst>
          </a:prstGeom>
          <a:solidFill>
            <a:srgbClr val="0D3D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p29_10"/>
          <p:cNvSpPr/>
          <p:nvPr/>
        </p:nvSpPr>
        <p:spPr>
          <a:xfrm>
            <a:off x="2061743" y="2302034"/>
            <a:ext cx="99157" cy="99157"/>
          </a:xfrm>
          <a:prstGeom prst="roundRect">
            <a:avLst>
              <a:gd name="adj" fmla="val 30000"/>
            </a:avLst>
          </a:prstGeom>
          <a:solidFill>
            <a:srgbClr val="0C3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p29_11"/>
          <p:cNvSpPr/>
          <p:nvPr/>
        </p:nvSpPr>
        <p:spPr>
          <a:xfrm>
            <a:off x="2220489" y="2302034"/>
            <a:ext cx="99157" cy="99157"/>
          </a:xfrm>
          <a:prstGeom prst="roundRect">
            <a:avLst>
              <a:gd name="adj" fmla="val 30000"/>
            </a:avLst>
          </a:prstGeom>
          <a:solidFill>
            <a:srgbClr val="0C35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p29_12"/>
          <p:cNvSpPr/>
          <p:nvPr/>
        </p:nvSpPr>
        <p:spPr>
          <a:xfrm>
            <a:off x="2379235" y="2302034"/>
            <a:ext cx="99157" cy="99157"/>
          </a:xfrm>
          <a:prstGeom prst="roundRect">
            <a:avLst>
              <a:gd name="adj" fmla="val 30000"/>
            </a:avLst>
          </a:prstGeom>
          <a:solidFill>
            <a:srgbClr val="0B34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p29_13"/>
          <p:cNvSpPr/>
          <p:nvPr/>
        </p:nvSpPr>
        <p:spPr>
          <a:xfrm>
            <a:off x="2537981" y="2302034"/>
            <a:ext cx="99157" cy="99157"/>
          </a:xfrm>
          <a:prstGeom prst="roundRect">
            <a:avLst>
              <a:gd name="adj" fmla="val 30000"/>
            </a:avLst>
          </a:prstGeom>
          <a:solidFill>
            <a:srgbClr val="0B3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p30_03"/>
          <p:cNvSpPr/>
          <p:nvPr/>
        </p:nvSpPr>
        <p:spPr>
          <a:xfrm>
            <a:off x="950521" y="2186734"/>
            <a:ext cx="99157" cy="99157"/>
          </a:xfrm>
          <a:prstGeom prst="roundRect">
            <a:avLst>
              <a:gd name="adj" fmla="val 30000"/>
            </a:avLst>
          </a:prstGeom>
          <a:solidFill>
            <a:srgbClr val="0B32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p30_04"/>
          <p:cNvSpPr/>
          <p:nvPr/>
        </p:nvSpPr>
        <p:spPr>
          <a:xfrm>
            <a:off x="1109267" y="2186734"/>
            <a:ext cx="99157" cy="99157"/>
          </a:xfrm>
          <a:prstGeom prst="roundRect">
            <a:avLst>
              <a:gd name="adj" fmla="val 30000"/>
            </a:avLst>
          </a:prstGeom>
          <a:solidFill>
            <a:srgbClr val="0E4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p30_05"/>
          <p:cNvSpPr/>
          <p:nvPr/>
        </p:nvSpPr>
        <p:spPr>
          <a:xfrm>
            <a:off x="1268013" y="2186734"/>
            <a:ext cx="99157" cy="99157"/>
          </a:xfrm>
          <a:prstGeom prst="roundRect">
            <a:avLst>
              <a:gd name="adj" fmla="val 30000"/>
            </a:avLst>
          </a:prstGeom>
          <a:solidFill>
            <a:srgbClr val="1150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p30_06"/>
          <p:cNvSpPr/>
          <p:nvPr/>
        </p:nvSpPr>
        <p:spPr>
          <a:xfrm>
            <a:off x="1426759" y="2186734"/>
            <a:ext cx="99157" cy="99157"/>
          </a:xfrm>
          <a:prstGeom prst="roundRect">
            <a:avLst>
              <a:gd name="adj" fmla="val 30000"/>
            </a:avLst>
          </a:prstGeom>
          <a:solidFill>
            <a:srgbClr val="104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p30_07"/>
          <p:cNvSpPr/>
          <p:nvPr/>
        </p:nvSpPr>
        <p:spPr>
          <a:xfrm>
            <a:off x="1585505" y="2186734"/>
            <a:ext cx="99157" cy="99157"/>
          </a:xfrm>
          <a:prstGeom prst="roundRect">
            <a:avLst>
              <a:gd name="adj" fmla="val 30000"/>
            </a:avLst>
          </a:prstGeom>
          <a:solidFill>
            <a:srgbClr val="0E40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p30_08"/>
          <p:cNvSpPr/>
          <p:nvPr/>
        </p:nvSpPr>
        <p:spPr>
          <a:xfrm>
            <a:off x="1744251" y="2186734"/>
            <a:ext cx="99157" cy="99157"/>
          </a:xfrm>
          <a:prstGeom prst="roundRect">
            <a:avLst>
              <a:gd name="adj" fmla="val 30000"/>
            </a:avLst>
          </a:prstGeom>
          <a:solidFill>
            <a:srgbClr val="0D3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p30_09"/>
          <p:cNvSpPr/>
          <p:nvPr/>
        </p:nvSpPr>
        <p:spPr>
          <a:xfrm>
            <a:off x="1902997" y="2186734"/>
            <a:ext cx="99157" cy="99157"/>
          </a:xfrm>
          <a:prstGeom prst="roundRect">
            <a:avLst>
              <a:gd name="adj" fmla="val 30000"/>
            </a:avLst>
          </a:prstGeom>
          <a:solidFill>
            <a:srgbClr val="0C35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p30_10"/>
          <p:cNvSpPr/>
          <p:nvPr/>
        </p:nvSpPr>
        <p:spPr>
          <a:xfrm>
            <a:off x="2061743" y="2186734"/>
            <a:ext cx="99157" cy="99157"/>
          </a:xfrm>
          <a:prstGeom prst="roundRect">
            <a:avLst>
              <a:gd name="adj" fmla="val 30000"/>
            </a:avLst>
          </a:prstGeom>
          <a:solidFill>
            <a:srgbClr val="0B32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p30_11"/>
          <p:cNvSpPr/>
          <p:nvPr/>
        </p:nvSpPr>
        <p:spPr>
          <a:xfrm>
            <a:off x="2220489" y="2186734"/>
            <a:ext cx="99157" cy="99157"/>
          </a:xfrm>
          <a:prstGeom prst="roundRect">
            <a:avLst>
              <a:gd name="adj" fmla="val 30000"/>
            </a:avLst>
          </a:prstGeom>
          <a:solidFill>
            <a:srgbClr val="0A31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6" name="!!p30_12"/>
          <p:cNvSpPr/>
          <p:nvPr/>
        </p:nvSpPr>
        <p:spPr>
          <a:xfrm>
            <a:off x="2379235" y="2186734"/>
            <a:ext cx="99157" cy="99157"/>
          </a:xfrm>
          <a:prstGeom prst="roundRect">
            <a:avLst>
              <a:gd name="adj" fmla="val 30000"/>
            </a:avLst>
          </a:prstGeom>
          <a:solidFill>
            <a:srgbClr val="0A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p30_13"/>
          <p:cNvSpPr/>
          <p:nvPr/>
        </p:nvSpPr>
        <p:spPr>
          <a:xfrm>
            <a:off x="2537981" y="2186734"/>
            <a:ext cx="99157" cy="99157"/>
          </a:xfrm>
          <a:prstGeom prst="roundRect">
            <a:avLst>
              <a:gd name="adj" fmla="val 30000"/>
            </a:avLst>
          </a:prstGeom>
          <a:solidFill>
            <a:srgbClr val="0A2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8" name="!!p31_03"/>
          <p:cNvSpPr/>
          <p:nvPr/>
        </p:nvSpPr>
        <p:spPr>
          <a:xfrm>
            <a:off x="950521" y="2071435"/>
            <a:ext cx="99157" cy="99157"/>
          </a:xfrm>
          <a:prstGeom prst="roundRect">
            <a:avLst>
              <a:gd name="adj" fmla="val 30000"/>
            </a:avLst>
          </a:prstGeom>
          <a:solidFill>
            <a:srgbClr val="0B32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p31_04"/>
          <p:cNvSpPr/>
          <p:nvPr/>
        </p:nvSpPr>
        <p:spPr>
          <a:xfrm>
            <a:off x="1109267" y="2071435"/>
            <a:ext cx="99157" cy="99157"/>
          </a:xfrm>
          <a:prstGeom prst="roundRect">
            <a:avLst>
              <a:gd name="adj" fmla="val 30000"/>
            </a:avLst>
          </a:prstGeom>
          <a:solidFill>
            <a:srgbClr val="0F47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p31_05"/>
          <p:cNvSpPr/>
          <p:nvPr/>
        </p:nvSpPr>
        <p:spPr>
          <a:xfrm>
            <a:off x="1268013" y="2071435"/>
            <a:ext cx="99157" cy="99157"/>
          </a:xfrm>
          <a:prstGeom prst="roundRect">
            <a:avLst>
              <a:gd name="adj" fmla="val 30000"/>
            </a:avLst>
          </a:prstGeom>
          <a:solidFill>
            <a:srgbClr val="1151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p31_06"/>
          <p:cNvSpPr/>
          <p:nvPr/>
        </p:nvSpPr>
        <p:spPr>
          <a:xfrm>
            <a:off x="1426759" y="2071435"/>
            <a:ext cx="99157" cy="99157"/>
          </a:xfrm>
          <a:prstGeom prst="roundRect">
            <a:avLst>
              <a:gd name="adj" fmla="val 30000"/>
            </a:avLst>
          </a:prstGeom>
          <a:solidFill>
            <a:srgbClr val="0E3D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2" name="!!p31_07"/>
          <p:cNvSpPr/>
          <p:nvPr/>
        </p:nvSpPr>
        <p:spPr>
          <a:xfrm>
            <a:off x="1585505" y="2071435"/>
            <a:ext cx="99157" cy="99157"/>
          </a:xfrm>
          <a:prstGeom prst="roundRect">
            <a:avLst>
              <a:gd name="adj" fmla="val 30000"/>
            </a:avLst>
          </a:prstGeom>
          <a:solidFill>
            <a:srgbClr val="0C3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p31_08"/>
          <p:cNvSpPr/>
          <p:nvPr/>
        </p:nvSpPr>
        <p:spPr>
          <a:xfrm>
            <a:off x="1744251" y="2071435"/>
            <a:ext cx="99157" cy="99157"/>
          </a:xfrm>
          <a:prstGeom prst="roundRect">
            <a:avLst>
              <a:gd name="adj" fmla="val 30000"/>
            </a:avLst>
          </a:prstGeom>
          <a:solidFill>
            <a:srgbClr val="0B34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p31_09"/>
          <p:cNvSpPr/>
          <p:nvPr/>
        </p:nvSpPr>
        <p:spPr>
          <a:xfrm>
            <a:off x="1902997" y="2071435"/>
            <a:ext cx="99157" cy="99157"/>
          </a:xfrm>
          <a:prstGeom prst="roundRect">
            <a:avLst>
              <a:gd name="adj" fmla="val 30000"/>
            </a:avLst>
          </a:prstGeom>
          <a:solidFill>
            <a:srgbClr val="0B3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5" name="!!p31_10"/>
          <p:cNvSpPr/>
          <p:nvPr/>
        </p:nvSpPr>
        <p:spPr>
          <a:xfrm>
            <a:off x="2061743" y="2071435"/>
            <a:ext cx="99157" cy="99157"/>
          </a:xfrm>
          <a:prstGeom prst="roundRect">
            <a:avLst>
              <a:gd name="adj" fmla="val 30000"/>
            </a:avLst>
          </a:prstGeom>
          <a:solidFill>
            <a:srgbClr val="0A2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6" name="!!p31_11"/>
          <p:cNvSpPr/>
          <p:nvPr/>
        </p:nvSpPr>
        <p:spPr>
          <a:xfrm>
            <a:off x="2220489" y="2071435"/>
            <a:ext cx="99157" cy="99157"/>
          </a:xfrm>
          <a:prstGeom prst="roundRect">
            <a:avLst>
              <a:gd name="adj" fmla="val 30000"/>
            </a:avLst>
          </a:prstGeom>
          <a:solidFill>
            <a:srgbClr val="0A2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p31_12"/>
          <p:cNvSpPr/>
          <p:nvPr/>
        </p:nvSpPr>
        <p:spPr>
          <a:xfrm>
            <a:off x="2379235" y="2071435"/>
            <a:ext cx="99157" cy="99157"/>
          </a:xfrm>
          <a:prstGeom prst="roundRect">
            <a:avLst>
              <a:gd name="adj" fmla="val 30000"/>
            </a:avLst>
          </a:prstGeom>
          <a:solidFill>
            <a:srgbClr val="092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8" name="!!p31_13"/>
          <p:cNvSpPr/>
          <p:nvPr/>
        </p:nvSpPr>
        <p:spPr>
          <a:xfrm>
            <a:off x="2537981" y="2071435"/>
            <a:ext cx="99157" cy="99157"/>
          </a:xfrm>
          <a:prstGeom prst="roundRect">
            <a:avLst>
              <a:gd name="adj" fmla="val 30000"/>
            </a:avLst>
          </a:prstGeom>
          <a:solidFill>
            <a:srgbClr val="092C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p32_03"/>
          <p:cNvSpPr/>
          <p:nvPr/>
        </p:nvSpPr>
        <p:spPr>
          <a:xfrm>
            <a:off x="950521" y="1956135"/>
            <a:ext cx="99157" cy="99157"/>
          </a:xfrm>
          <a:prstGeom prst="roundRect">
            <a:avLst>
              <a:gd name="adj" fmla="val 30000"/>
            </a:avLst>
          </a:prstGeom>
          <a:solidFill>
            <a:srgbClr val="0B35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0" name="!!p32_04"/>
          <p:cNvSpPr/>
          <p:nvPr/>
        </p:nvSpPr>
        <p:spPr>
          <a:xfrm>
            <a:off x="1109267" y="1956135"/>
            <a:ext cx="99157" cy="99157"/>
          </a:xfrm>
          <a:prstGeom prst="roundRect">
            <a:avLst>
              <a:gd name="adj" fmla="val 30000"/>
            </a:avLst>
          </a:prstGeom>
          <a:solidFill>
            <a:srgbClr val="1358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p32_05"/>
          <p:cNvSpPr/>
          <p:nvPr/>
        </p:nvSpPr>
        <p:spPr>
          <a:xfrm>
            <a:off x="1268013" y="1956135"/>
            <a:ext cx="99157" cy="99157"/>
          </a:xfrm>
          <a:prstGeom prst="roundRect">
            <a:avLst>
              <a:gd name="adj" fmla="val 30000"/>
            </a:avLst>
          </a:prstGeom>
          <a:solidFill>
            <a:srgbClr val="145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2" name="!!p32_06"/>
          <p:cNvSpPr/>
          <p:nvPr/>
        </p:nvSpPr>
        <p:spPr>
          <a:xfrm>
            <a:off x="1426759" y="1956135"/>
            <a:ext cx="99157" cy="99157"/>
          </a:xfrm>
          <a:prstGeom prst="roundRect">
            <a:avLst>
              <a:gd name="adj" fmla="val 30000"/>
            </a:avLst>
          </a:prstGeom>
          <a:solidFill>
            <a:srgbClr val="0D3C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3" name="!!p32_07"/>
          <p:cNvSpPr/>
          <p:nvPr/>
        </p:nvSpPr>
        <p:spPr>
          <a:xfrm>
            <a:off x="1585505" y="1956135"/>
            <a:ext cx="99157" cy="99157"/>
          </a:xfrm>
          <a:prstGeom prst="roundRect">
            <a:avLst>
              <a:gd name="adj" fmla="val 30000"/>
            </a:avLst>
          </a:prstGeom>
          <a:solidFill>
            <a:srgbClr val="0B32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4" name="!!p32_08"/>
          <p:cNvSpPr/>
          <p:nvPr/>
        </p:nvSpPr>
        <p:spPr>
          <a:xfrm>
            <a:off x="1744251" y="1956135"/>
            <a:ext cx="99157" cy="99157"/>
          </a:xfrm>
          <a:prstGeom prst="roundRect">
            <a:avLst>
              <a:gd name="adj" fmla="val 30000"/>
            </a:avLst>
          </a:prstGeom>
          <a:solidFill>
            <a:srgbClr val="0A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p32_09"/>
          <p:cNvSpPr/>
          <p:nvPr/>
        </p:nvSpPr>
        <p:spPr>
          <a:xfrm>
            <a:off x="1902997" y="1956135"/>
            <a:ext cx="99157" cy="99157"/>
          </a:xfrm>
          <a:prstGeom prst="roundRect">
            <a:avLst>
              <a:gd name="adj" fmla="val 30000"/>
            </a:avLst>
          </a:prstGeom>
          <a:solidFill>
            <a:srgbClr val="0A2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p32_10"/>
          <p:cNvSpPr/>
          <p:nvPr/>
        </p:nvSpPr>
        <p:spPr>
          <a:xfrm>
            <a:off x="2061743" y="1956135"/>
            <a:ext cx="99157" cy="99157"/>
          </a:xfrm>
          <a:prstGeom prst="roundRect">
            <a:avLst>
              <a:gd name="adj" fmla="val 30000"/>
            </a:avLst>
          </a:prstGeom>
          <a:solidFill>
            <a:srgbClr val="092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p32_11"/>
          <p:cNvSpPr/>
          <p:nvPr/>
        </p:nvSpPr>
        <p:spPr>
          <a:xfrm>
            <a:off x="2220489" y="1956135"/>
            <a:ext cx="99157" cy="99157"/>
          </a:xfrm>
          <a:prstGeom prst="roundRect">
            <a:avLst>
              <a:gd name="adj" fmla="val 30000"/>
            </a:avLst>
          </a:prstGeom>
          <a:solidFill>
            <a:srgbClr val="092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8" name="!!p32_12"/>
          <p:cNvSpPr/>
          <p:nvPr/>
        </p:nvSpPr>
        <p:spPr>
          <a:xfrm>
            <a:off x="2379235" y="1956135"/>
            <a:ext cx="99157" cy="99157"/>
          </a:xfrm>
          <a:prstGeom prst="roundRect">
            <a:avLst>
              <a:gd name="adj" fmla="val 30000"/>
            </a:avLst>
          </a:prstGeom>
          <a:solidFill>
            <a:srgbClr val="092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9" name="!!p33_03"/>
          <p:cNvSpPr/>
          <p:nvPr/>
        </p:nvSpPr>
        <p:spPr>
          <a:xfrm>
            <a:off x="950521" y="1840835"/>
            <a:ext cx="99157" cy="99157"/>
          </a:xfrm>
          <a:prstGeom prst="roundRect">
            <a:avLst>
              <a:gd name="adj" fmla="val 30000"/>
            </a:avLst>
          </a:prstGeom>
          <a:solidFill>
            <a:srgbClr val="0C37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0" name="!!p33_04"/>
          <p:cNvSpPr/>
          <p:nvPr/>
        </p:nvSpPr>
        <p:spPr>
          <a:xfrm>
            <a:off x="1109267" y="1840835"/>
            <a:ext cx="99157" cy="99157"/>
          </a:xfrm>
          <a:prstGeom prst="roundRect">
            <a:avLst>
              <a:gd name="adj" fmla="val 30000"/>
            </a:avLst>
          </a:prstGeom>
          <a:solidFill>
            <a:srgbClr val="1669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1" name="!!p33_05"/>
          <p:cNvSpPr/>
          <p:nvPr/>
        </p:nvSpPr>
        <p:spPr>
          <a:xfrm>
            <a:off x="1268013" y="1840835"/>
            <a:ext cx="99157" cy="99157"/>
          </a:xfrm>
          <a:prstGeom prst="roundRect">
            <a:avLst>
              <a:gd name="adj" fmla="val 30000"/>
            </a:avLst>
          </a:prstGeom>
          <a:solidFill>
            <a:srgbClr val="1770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p33_06"/>
          <p:cNvSpPr/>
          <p:nvPr/>
        </p:nvSpPr>
        <p:spPr>
          <a:xfrm>
            <a:off x="1426759" y="1840835"/>
            <a:ext cx="99157" cy="99157"/>
          </a:xfrm>
          <a:prstGeom prst="roundRect">
            <a:avLst>
              <a:gd name="adj" fmla="val 30000"/>
            </a:avLst>
          </a:prstGeom>
          <a:solidFill>
            <a:srgbClr val="0E3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3" name="!!p33_07"/>
          <p:cNvSpPr/>
          <p:nvPr/>
        </p:nvSpPr>
        <p:spPr>
          <a:xfrm>
            <a:off x="1585505" y="1840835"/>
            <a:ext cx="99157" cy="99157"/>
          </a:xfrm>
          <a:prstGeom prst="roundRect">
            <a:avLst>
              <a:gd name="adj" fmla="val 30000"/>
            </a:avLst>
          </a:prstGeom>
          <a:solidFill>
            <a:srgbClr val="0A30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4" name="!!p33_08"/>
          <p:cNvSpPr/>
          <p:nvPr/>
        </p:nvSpPr>
        <p:spPr>
          <a:xfrm>
            <a:off x="1744251" y="1840835"/>
            <a:ext cx="99157" cy="99157"/>
          </a:xfrm>
          <a:prstGeom prst="roundRect">
            <a:avLst>
              <a:gd name="adj" fmla="val 30000"/>
            </a:avLst>
          </a:prstGeom>
          <a:solidFill>
            <a:srgbClr val="0A2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5" name="!!p33_09"/>
          <p:cNvSpPr/>
          <p:nvPr/>
        </p:nvSpPr>
        <p:spPr>
          <a:xfrm>
            <a:off x="1902997" y="1840835"/>
            <a:ext cx="99157" cy="99157"/>
          </a:xfrm>
          <a:prstGeom prst="roundRect">
            <a:avLst>
              <a:gd name="adj" fmla="val 30000"/>
            </a:avLst>
          </a:prstGeom>
          <a:solidFill>
            <a:srgbClr val="09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6" name="!!p33_10"/>
          <p:cNvSpPr/>
          <p:nvPr/>
        </p:nvSpPr>
        <p:spPr>
          <a:xfrm>
            <a:off x="2061743" y="1840835"/>
            <a:ext cx="99157" cy="99157"/>
          </a:xfrm>
          <a:prstGeom prst="roundRect">
            <a:avLst>
              <a:gd name="adj" fmla="val 30000"/>
            </a:avLst>
          </a:prstGeom>
          <a:solidFill>
            <a:srgbClr val="092C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7" name="!!p33_11"/>
          <p:cNvSpPr/>
          <p:nvPr/>
        </p:nvSpPr>
        <p:spPr>
          <a:xfrm>
            <a:off x="2220489" y="1840835"/>
            <a:ext cx="99157" cy="99157"/>
          </a:xfrm>
          <a:prstGeom prst="roundRect">
            <a:avLst>
              <a:gd name="adj" fmla="val 30000"/>
            </a:avLst>
          </a:prstGeom>
          <a:solidFill>
            <a:srgbClr val="09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8" name="!!p33_12"/>
          <p:cNvSpPr/>
          <p:nvPr/>
        </p:nvSpPr>
        <p:spPr>
          <a:xfrm>
            <a:off x="2379235" y="1840835"/>
            <a:ext cx="99157" cy="99157"/>
          </a:xfrm>
          <a:prstGeom prst="roundRect">
            <a:avLst>
              <a:gd name="adj" fmla="val 30000"/>
            </a:avLst>
          </a:prstGeom>
          <a:solidFill>
            <a:srgbClr val="092A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9" name="!!p34_03"/>
          <p:cNvSpPr/>
          <p:nvPr/>
        </p:nvSpPr>
        <p:spPr>
          <a:xfrm>
            <a:off x="950521" y="1725535"/>
            <a:ext cx="99157" cy="99157"/>
          </a:xfrm>
          <a:prstGeom prst="roundRect">
            <a:avLst>
              <a:gd name="adj" fmla="val 30000"/>
            </a:avLst>
          </a:prstGeom>
          <a:solidFill>
            <a:srgbClr val="0C37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p34_04"/>
          <p:cNvSpPr/>
          <p:nvPr/>
        </p:nvSpPr>
        <p:spPr>
          <a:xfrm>
            <a:off x="1109267" y="1725535"/>
            <a:ext cx="99157" cy="99157"/>
          </a:xfrm>
          <a:prstGeom prst="roundRect">
            <a:avLst>
              <a:gd name="adj" fmla="val 30000"/>
            </a:avLst>
          </a:prstGeom>
          <a:solidFill>
            <a:srgbClr val="176F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1" name="!!p34_05"/>
          <p:cNvSpPr/>
          <p:nvPr/>
        </p:nvSpPr>
        <p:spPr>
          <a:xfrm>
            <a:off x="1268013" y="1725535"/>
            <a:ext cx="99157" cy="99157"/>
          </a:xfrm>
          <a:prstGeom prst="roundRect">
            <a:avLst>
              <a:gd name="adj" fmla="val 30000"/>
            </a:avLst>
          </a:prstGeom>
          <a:solidFill>
            <a:srgbClr val="1875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2" name="!!p34_06"/>
          <p:cNvSpPr/>
          <p:nvPr/>
        </p:nvSpPr>
        <p:spPr>
          <a:xfrm>
            <a:off x="1426759" y="1725535"/>
            <a:ext cx="99157" cy="99157"/>
          </a:xfrm>
          <a:prstGeom prst="roundRect">
            <a:avLst>
              <a:gd name="adj" fmla="val 30000"/>
            </a:avLst>
          </a:prstGeom>
          <a:solidFill>
            <a:srgbClr val="0E3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p34_07"/>
          <p:cNvSpPr/>
          <p:nvPr/>
        </p:nvSpPr>
        <p:spPr>
          <a:xfrm>
            <a:off x="1585505" y="1725535"/>
            <a:ext cx="99157" cy="99157"/>
          </a:xfrm>
          <a:prstGeom prst="roundRect">
            <a:avLst>
              <a:gd name="adj" fmla="val 30000"/>
            </a:avLst>
          </a:prstGeom>
          <a:solidFill>
            <a:srgbClr val="0A2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4" name="!!p34_08"/>
          <p:cNvSpPr/>
          <p:nvPr/>
        </p:nvSpPr>
        <p:spPr>
          <a:xfrm>
            <a:off x="1744251" y="1725535"/>
            <a:ext cx="99157" cy="99157"/>
          </a:xfrm>
          <a:prstGeom prst="roundRect">
            <a:avLst>
              <a:gd name="adj" fmla="val 30000"/>
            </a:avLst>
          </a:prstGeom>
          <a:solidFill>
            <a:srgbClr val="092C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5" name="!!p34_09"/>
          <p:cNvSpPr/>
          <p:nvPr/>
        </p:nvSpPr>
        <p:spPr>
          <a:xfrm>
            <a:off x="1902997" y="1725535"/>
            <a:ext cx="99157" cy="99157"/>
          </a:xfrm>
          <a:prstGeom prst="roundRect">
            <a:avLst>
              <a:gd name="adj" fmla="val 30000"/>
            </a:avLst>
          </a:prstGeom>
          <a:solidFill>
            <a:srgbClr val="09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p34_10"/>
          <p:cNvSpPr/>
          <p:nvPr/>
        </p:nvSpPr>
        <p:spPr>
          <a:xfrm>
            <a:off x="2061743" y="1725535"/>
            <a:ext cx="99157" cy="99157"/>
          </a:xfrm>
          <a:prstGeom prst="roundRect">
            <a:avLst>
              <a:gd name="adj" fmla="val 30000"/>
            </a:avLst>
          </a:prstGeom>
          <a:solidFill>
            <a:srgbClr val="09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7" name="!!p34_11"/>
          <p:cNvSpPr/>
          <p:nvPr/>
        </p:nvSpPr>
        <p:spPr>
          <a:xfrm>
            <a:off x="2220489" y="1725535"/>
            <a:ext cx="99157" cy="99157"/>
          </a:xfrm>
          <a:prstGeom prst="roundRect">
            <a:avLst>
              <a:gd name="adj" fmla="val 30000"/>
            </a:avLst>
          </a:prstGeom>
          <a:solidFill>
            <a:srgbClr val="092A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8" name="!!p35_04"/>
          <p:cNvSpPr/>
          <p:nvPr/>
        </p:nvSpPr>
        <p:spPr>
          <a:xfrm>
            <a:off x="1109267" y="1610236"/>
            <a:ext cx="99157" cy="99157"/>
          </a:xfrm>
          <a:prstGeom prst="roundRect">
            <a:avLst>
              <a:gd name="adj" fmla="val 30000"/>
            </a:avLst>
          </a:prstGeom>
          <a:solidFill>
            <a:srgbClr val="1565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p35_05"/>
          <p:cNvSpPr/>
          <p:nvPr/>
        </p:nvSpPr>
        <p:spPr>
          <a:xfrm>
            <a:off x="1268013" y="1610236"/>
            <a:ext cx="99157" cy="99157"/>
          </a:xfrm>
          <a:prstGeom prst="roundRect">
            <a:avLst>
              <a:gd name="adj" fmla="val 30000"/>
            </a:avLst>
          </a:prstGeom>
          <a:solidFill>
            <a:srgbClr val="166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0" name="!!p35_06"/>
          <p:cNvSpPr/>
          <p:nvPr/>
        </p:nvSpPr>
        <p:spPr>
          <a:xfrm>
            <a:off x="1426759" y="1610236"/>
            <a:ext cx="99157" cy="99157"/>
          </a:xfrm>
          <a:prstGeom prst="roundRect">
            <a:avLst>
              <a:gd name="adj" fmla="val 30000"/>
            </a:avLst>
          </a:prstGeom>
          <a:solidFill>
            <a:srgbClr val="0D3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p35_07"/>
          <p:cNvSpPr/>
          <p:nvPr/>
        </p:nvSpPr>
        <p:spPr>
          <a:xfrm>
            <a:off x="1585505" y="1610236"/>
            <a:ext cx="99157" cy="99157"/>
          </a:xfrm>
          <a:prstGeom prst="roundRect">
            <a:avLst>
              <a:gd name="adj" fmla="val 30000"/>
            </a:avLst>
          </a:prstGeom>
          <a:solidFill>
            <a:srgbClr val="092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p35_08"/>
          <p:cNvSpPr/>
          <p:nvPr/>
        </p:nvSpPr>
        <p:spPr>
          <a:xfrm>
            <a:off x="1744251" y="1610236"/>
            <a:ext cx="99157" cy="99157"/>
          </a:xfrm>
          <a:prstGeom prst="roundRect">
            <a:avLst>
              <a:gd name="adj" fmla="val 30000"/>
            </a:avLst>
          </a:prstGeom>
          <a:solidFill>
            <a:srgbClr val="092A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3" name="!!p35_09"/>
          <p:cNvSpPr/>
          <p:nvPr/>
        </p:nvSpPr>
        <p:spPr>
          <a:xfrm>
            <a:off x="1902997" y="1610236"/>
            <a:ext cx="99157" cy="99157"/>
          </a:xfrm>
          <a:prstGeom prst="roundRect">
            <a:avLst>
              <a:gd name="adj" fmla="val 30000"/>
            </a:avLst>
          </a:prstGeom>
          <a:solidFill>
            <a:srgbClr val="092A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4" name="!!p35_10"/>
          <p:cNvSpPr/>
          <p:nvPr/>
        </p:nvSpPr>
        <p:spPr>
          <a:xfrm>
            <a:off x="2061743" y="1610236"/>
            <a:ext cx="99157" cy="99157"/>
          </a:xfrm>
          <a:prstGeom prst="roundRect">
            <a:avLst>
              <a:gd name="adj" fmla="val 30000"/>
            </a:avLst>
          </a:prstGeom>
          <a:solidFill>
            <a:srgbClr val="082A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p35_11"/>
          <p:cNvSpPr/>
          <p:nvPr/>
        </p:nvSpPr>
        <p:spPr>
          <a:xfrm>
            <a:off x="2220489" y="1610236"/>
            <a:ext cx="99157" cy="99157"/>
          </a:xfrm>
          <a:prstGeom prst="roundRect">
            <a:avLst>
              <a:gd name="adj" fmla="val 30000"/>
            </a:avLst>
          </a:prstGeom>
          <a:solidFill>
            <a:srgbClr val="0829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6" name="!!p36_04"/>
          <p:cNvSpPr/>
          <p:nvPr/>
        </p:nvSpPr>
        <p:spPr>
          <a:xfrm>
            <a:off x="1109267" y="1494936"/>
            <a:ext cx="99157" cy="99157"/>
          </a:xfrm>
          <a:prstGeom prst="roundRect">
            <a:avLst>
              <a:gd name="adj" fmla="val 30000"/>
            </a:avLst>
          </a:prstGeom>
          <a:solidFill>
            <a:srgbClr val="114D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7" name="!!p36_05"/>
          <p:cNvSpPr/>
          <p:nvPr/>
        </p:nvSpPr>
        <p:spPr>
          <a:xfrm>
            <a:off x="1268013" y="1494936"/>
            <a:ext cx="99157" cy="99157"/>
          </a:xfrm>
          <a:prstGeom prst="roundRect">
            <a:avLst>
              <a:gd name="adj" fmla="val 30000"/>
            </a:avLst>
          </a:prstGeom>
          <a:solidFill>
            <a:srgbClr val="1252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8" name="!!p36_06"/>
          <p:cNvSpPr/>
          <p:nvPr/>
        </p:nvSpPr>
        <p:spPr>
          <a:xfrm>
            <a:off x="1426759" y="1494936"/>
            <a:ext cx="99157" cy="99157"/>
          </a:xfrm>
          <a:prstGeom prst="roundRect">
            <a:avLst>
              <a:gd name="adj" fmla="val 30000"/>
            </a:avLst>
          </a:prstGeom>
          <a:solidFill>
            <a:srgbClr val="0C35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9" name="!!p36_07"/>
          <p:cNvSpPr/>
          <p:nvPr/>
        </p:nvSpPr>
        <p:spPr>
          <a:xfrm>
            <a:off x="1585505" y="1494936"/>
            <a:ext cx="99157" cy="99157"/>
          </a:xfrm>
          <a:prstGeom prst="roundRect">
            <a:avLst>
              <a:gd name="adj" fmla="val 30000"/>
            </a:avLst>
          </a:prstGeom>
          <a:solidFill>
            <a:srgbClr val="092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0" name="!!p36_08"/>
          <p:cNvSpPr/>
          <p:nvPr/>
        </p:nvSpPr>
        <p:spPr>
          <a:xfrm>
            <a:off x="1744251" y="1494936"/>
            <a:ext cx="99157" cy="99157"/>
          </a:xfrm>
          <a:prstGeom prst="roundRect">
            <a:avLst>
              <a:gd name="adj" fmla="val 30000"/>
            </a:avLst>
          </a:prstGeom>
          <a:solidFill>
            <a:srgbClr val="0829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1" name="!!p36_09"/>
          <p:cNvSpPr/>
          <p:nvPr/>
        </p:nvSpPr>
        <p:spPr>
          <a:xfrm>
            <a:off x="1902997" y="1494936"/>
            <a:ext cx="99157" cy="99157"/>
          </a:xfrm>
          <a:prstGeom prst="roundRect">
            <a:avLst>
              <a:gd name="adj" fmla="val 30000"/>
            </a:avLst>
          </a:prstGeom>
          <a:solidFill>
            <a:srgbClr val="0829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2" name="!!p36_10"/>
          <p:cNvSpPr/>
          <p:nvPr/>
        </p:nvSpPr>
        <p:spPr>
          <a:xfrm>
            <a:off x="2061743" y="1494936"/>
            <a:ext cx="99157" cy="99157"/>
          </a:xfrm>
          <a:prstGeom prst="roundRect">
            <a:avLst>
              <a:gd name="adj" fmla="val 30000"/>
            </a:avLst>
          </a:prstGeom>
          <a:solidFill>
            <a:srgbClr val="0829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3" name="!!p37_04"/>
          <p:cNvSpPr/>
          <p:nvPr/>
        </p:nvSpPr>
        <p:spPr>
          <a:xfrm>
            <a:off x="1109267" y="1379636"/>
            <a:ext cx="99157" cy="99157"/>
          </a:xfrm>
          <a:prstGeom prst="roundRect">
            <a:avLst>
              <a:gd name="adj" fmla="val 30000"/>
            </a:avLst>
          </a:prstGeom>
          <a:solidFill>
            <a:srgbClr val="0C37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 name="!!p37_05"/>
          <p:cNvSpPr/>
          <p:nvPr/>
        </p:nvSpPr>
        <p:spPr>
          <a:xfrm>
            <a:off x="1268013" y="1379636"/>
            <a:ext cx="99157" cy="99157"/>
          </a:xfrm>
          <a:prstGeom prst="roundRect">
            <a:avLst>
              <a:gd name="adj" fmla="val 30000"/>
            </a:avLst>
          </a:prstGeom>
          <a:solidFill>
            <a:srgbClr val="0C38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5" name="!!p37_06"/>
          <p:cNvSpPr/>
          <p:nvPr/>
        </p:nvSpPr>
        <p:spPr>
          <a:xfrm>
            <a:off x="1426759" y="1379636"/>
            <a:ext cx="99157" cy="99157"/>
          </a:xfrm>
          <a:prstGeom prst="roundRect">
            <a:avLst>
              <a:gd name="adj" fmla="val 30000"/>
            </a:avLst>
          </a:prstGeom>
          <a:solidFill>
            <a:srgbClr val="0A2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6" name="!!p37_07"/>
          <p:cNvSpPr/>
          <p:nvPr/>
        </p:nvSpPr>
        <p:spPr>
          <a:xfrm>
            <a:off x="1585505" y="1379636"/>
            <a:ext cx="99157" cy="99157"/>
          </a:xfrm>
          <a:prstGeom prst="roundRect">
            <a:avLst>
              <a:gd name="adj" fmla="val 30000"/>
            </a:avLst>
          </a:prstGeom>
          <a:solidFill>
            <a:srgbClr val="0829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 name="!!p37_08"/>
          <p:cNvSpPr/>
          <p:nvPr/>
        </p:nvSpPr>
        <p:spPr>
          <a:xfrm>
            <a:off x="1744251" y="1379636"/>
            <a:ext cx="99157" cy="99157"/>
          </a:xfrm>
          <a:prstGeom prst="roundRect">
            <a:avLst>
              <a:gd name="adj" fmla="val 30000"/>
            </a:avLst>
          </a:prstGeom>
          <a:solidFill>
            <a:srgbClr val="0828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8" name="!!p37_09"/>
          <p:cNvSpPr/>
          <p:nvPr/>
        </p:nvSpPr>
        <p:spPr>
          <a:xfrm>
            <a:off x="1902997" y="1379636"/>
            <a:ext cx="99157" cy="99157"/>
          </a:xfrm>
          <a:prstGeom prst="roundRect">
            <a:avLst>
              <a:gd name="adj" fmla="val 30000"/>
            </a:avLst>
          </a:prstGeom>
          <a:solidFill>
            <a:srgbClr val="0828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9" name="Rectangle 328"/>
          <p:cNvSpPr/>
          <p:nvPr/>
        </p:nvSpPr>
        <p:spPr>
          <a:xfrm>
            <a:off x="920726" y="5905352"/>
            <a:ext cx="38099" cy="101597"/>
          </a:xfrm>
          <a:prstGeom prst="rect">
            <a:avLst/>
          </a:prstGeom>
          <a:solidFill>
            <a:srgbClr val="051D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0" name="Rectangle 329"/>
          <p:cNvSpPr/>
          <p:nvPr/>
        </p:nvSpPr>
        <p:spPr>
          <a:xfrm>
            <a:off x="952476" y="5905352"/>
            <a:ext cx="38099" cy="101597"/>
          </a:xfrm>
          <a:prstGeom prst="rect">
            <a:avLst/>
          </a:prstGeom>
          <a:solidFill>
            <a:srgbClr val="062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1" name="Rectangle 330"/>
          <p:cNvSpPr/>
          <p:nvPr/>
        </p:nvSpPr>
        <p:spPr>
          <a:xfrm>
            <a:off x="984225" y="5905352"/>
            <a:ext cx="38099" cy="101597"/>
          </a:xfrm>
          <a:prstGeom prst="rect">
            <a:avLst/>
          </a:prstGeom>
          <a:solidFill>
            <a:srgbClr val="072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2" name="Rectangle 331"/>
          <p:cNvSpPr/>
          <p:nvPr/>
        </p:nvSpPr>
        <p:spPr>
          <a:xfrm>
            <a:off x="1015974" y="5905352"/>
            <a:ext cx="38099" cy="101597"/>
          </a:xfrm>
          <a:prstGeom prst="rect">
            <a:avLst/>
          </a:prstGeom>
          <a:solidFill>
            <a:srgbClr val="0826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3" name="Rectangle 332"/>
          <p:cNvSpPr/>
          <p:nvPr/>
        </p:nvSpPr>
        <p:spPr>
          <a:xfrm>
            <a:off x="1047723" y="5905352"/>
            <a:ext cx="38099" cy="101597"/>
          </a:xfrm>
          <a:prstGeom prst="rect">
            <a:avLst/>
          </a:prstGeom>
          <a:solidFill>
            <a:srgbClr val="0829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4" name="Rectangle 333"/>
          <p:cNvSpPr/>
          <p:nvPr/>
        </p:nvSpPr>
        <p:spPr>
          <a:xfrm>
            <a:off x="1079473" y="5905352"/>
            <a:ext cx="38099" cy="101597"/>
          </a:xfrm>
          <a:prstGeom prst="rect">
            <a:avLst/>
          </a:prstGeom>
          <a:solidFill>
            <a:srgbClr val="092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5" name="Rectangle 334"/>
          <p:cNvSpPr/>
          <p:nvPr/>
        </p:nvSpPr>
        <p:spPr>
          <a:xfrm>
            <a:off x="1111222" y="5905352"/>
            <a:ext cx="38099" cy="101597"/>
          </a:xfrm>
          <a:prstGeom prst="rect">
            <a:avLst/>
          </a:prstGeom>
          <a:solidFill>
            <a:srgbClr val="0A2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6" name="Rectangle 335"/>
          <p:cNvSpPr/>
          <p:nvPr/>
        </p:nvSpPr>
        <p:spPr>
          <a:xfrm>
            <a:off x="1142971" y="5905352"/>
            <a:ext cx="38099" cy="101597"/>
          </a:xfrm>
          <a:prstGeom prst="rect">
            <a:avLst/>
          </a:prstGeom>
          <a:solidFill>
            <a:srgbClr val="0B33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7" name="Rectangle 336"/>
          <p:cNvSpPr/>
          <p:nvPr/>
        </p:nvSpPr>
        <p:spPr>
          <a:xfrm>
            <a:off x="1174720" y="5905352"/>
            <a:ext cx="38099" cy="101597"/>
          </a:xfrm>
          <a:prstGeom prst="rect">
            <a:avLst/>
          </a:prstGeom>
          <a:solidFill>
            <a:srgbClr val="0C3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8" name="Rectangle 337"/>
          <p:cNvSpPr/>
          <p:nvPr/>
        </p:nvSpPr>
        <p:spPr>
          <a:xfrm>
            <a:off x="1206469" y="5905352"/>
            <a:ext cx="38099" cy="101597"/>
          </a:xfrm>
          <a:prstGeom prst="rect">
            <a:avLst/>
          </a:prstGeom>
          <a:solidFill>
            <a:srgbClr val="0D39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9" name="Rectangle 338"/>
          <p:cNvSpPr/>
          <p:nvPr/>
        </p:nvSpPr>
        <p:spPr>
          <a:xfrm>
            <a:off x="1238219" y="5905352"/>
            <a:ext cx="38099" cy="101597"/>
          </a:xfrm>
          <a:prstGeom prst="rect">
            <a:avLst/>
          </a:prstGeom>
          <a:solidFill>
            <a:srgbClr val="0E3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0" name="Rectangle 339"/>
          <p:cNvSpPr/>
          <p:nvPr/>
        </p:nvSpPr>
        <p:spPr>
          <a:xfrm>
            <a:off x="1269968" y="5905352"/>
            <a:ext cx="38099" cy="101597"/>
          </a:xfrm>
          <a:prstGeom prst="rect">
            <a:avLst/>
          </a:prstGeom>
          <a:solidFill>
            <a:srgbClr val="104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1" name="Rectangle 340"/>
          <p:cNvSpPr/>
          <p:nvPr/>
        </p:nvSpPr>
        <p:spPr>
          <a:xfrm>
            <a:off x="1301717" y="5905352"/>
            <a:ext cx="38099" cy="101597"/>
          </a:xfrm>
          <a:prstGeom prst="rect">
            <a:avLst/>
          </a:prstGeom>
          <a:solidFill>
            <a:srgbClr val="1151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2" name="Rectangle 341"/>
          <p:cNvSpPr/>
          <p:nvPr/>
        </p:nvSpPr>
        <p:spPr>
          <a:xfrm>
            <a:off x="1333466" y="5905352"/>
            <a:ext cx="38099" cy="101597"/>
          </a:xfrm>
          <a:prstGeom prst="rect">
            <a:avLst/>
          </a:prstGeom>
          <a:solidFill>
            <a:srgbClr val="1359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3" name="Rectangle 342"/>
          <p:cNvSpPr/>
          <p:nvPr/>
        </p:nvSpPr>
        <p:spPr>
          <a:xfrm>
            <a:off x="1365215" y="5905352"/>
            <a:ext cx="38099" cy="101597"/>
          </a:xfrm>
          <a:prstGeom prst="rect">
            <a:avLst/>
          </a:prstGeom>
          <a:solidFill>
            <a:srgbClr val="1562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4" name="Rectangle 343"/>
          <p:cNvSpPr/>
          <p:nvPr/>
        </p:nvSpPr>
        <p:spPr>
          <a:xfrm>
            <a:off x="1396965" y="5905352"/>
            <a:ext cx="38099" cy="101597"/>
          </a:xfrm>
          <a:prstGeom prst="rect">
            <a:avLst/>
          </a:prstGeom>
          <a:solidFill>
            <a:srgbClr val="166B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5" name="Rectangle 344"/>
          <p:cNvSpPr/>
          <p:nvPr/>
        </p:nvSpPr>
        <p:spPr>
          <a:xfrm>
            <a:off x="1428714" y="5905352"/>
            <a:ext cx="38099" cy="101597"/>
          </a:xfrm>
          <a:prstGeom prst="rect">
            <a:avLst/>
          </a:prstGeom>
          <a:solidFill>
            <a:srgbClr val="187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6" name="Rectangle 345"/>
          <p:cNvSpPr/>
          <p:nvPr/>
        </p:nvSpPr>
        <p:spPr>
          <a:xfrm>
            <a:off x="1460463" y="5905352"/>
            <a:ext cx="38099" cy="101597"/>
          </a:xfrm>
          <a:prstGeom prst="rect">
            <a:avLst/>
          </a:prstGeom>
          <a:solidFill>
            <a:srgbClr val="1A7C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7" name="Rectangle 346"/>
          <p:cNvSpPr/>
          <p:nvPr/>
        </p:nvSpPr>
        <p:spPr>
          <a:xfrm>
            <a:off x="1492212" y="5905352"/>
            <a:ext cx="38099" cy="101597"/>
          </a:xfrm>
          <a:prstGeom prst="rect">
            <a:avLst/>
          </a:prstGeom>
          <a:solidFill>
            <a:srgbClr val="1C85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8" name="Rectangle 347"/>
          <p:cNvSpPr/>
          <p:nvPr/>
        </p:nvSpPr>
        <p:spPr>
          <a:xfrm>
            <a:off x="1523961" y="5905352"/>
            <a:ext cx="38099" cy="101597"/>
          </a:xfrm>
          <a:prstGeom prst="rect">
            <a:avLst/>
          </a:prstGeom>
          <a:solidFill>
            <a:srgbClr val="1E8E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9" name="Rectangle 348"/>
          <p:cNvSpPr/>
          <p:nvPr/>
        </p:nvSpPr>
        <p:spPr>
          <a:xfrm>
            <a:off x="1555711" y="5905352"/>
            <a:ext cx="38099" cy="101597"/>
          </a:xfrm>
          <a:prstGeom prst="rect">
            <a:avLst/>
          </a:prstGeom>
          <a:solidFill>
            <a:srgbClr val="2393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0" name="Rectangle 349"/>
          <p:cNvSpPr/>
          <p:nvPr/>
        </p:nvSpPr>
        <p:spPr>
          <a:xfrm>
            <a:off x="1587460" y="5905352"/>
            <a:ext cx="38099" cy="101597"/>
          </a:xfrm>
          <a:prstGeom prst="rect">
            <a:avLst/>
          </a:prstGeom>
          <a:solidFill>
            <a:srgbClr val="2998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1" name="Rectangle 350"/>
          <p:cNvSpPr/>
          <p:nvPr/>
        </p:nvSpPr>
        <p:spPr>
          <a:xfrm>
            <a:off x="1619209" y="5905352"/>
            <a:ext cx="38099" cy="101597"/>
          </a:xfrm>
          <a:prstGeom prst="rect">
            <a:avLst/>
          </a:prstGeom>
          <a:solidFill>
            <a:srgbClr val="2F9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2" name="Rectangle 351"/>
          <p:cNvSpPr/>
          <p:nvPr/>
        </p:nvSpPr>
        <p:spPr>
          <a:xfrm>
            <a:off x="1650958" y="5905352"/>
            <a:ext cx="38099" cy="101597"/>
          </a:xfrm>
          <a:prstGeom prst="rect">
            <a:avLst/>
          </a:prstGeom>
          <a:solidFill>
            <a:srgbClr val="34A2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3" name="Rectangle 352"/>
          <p:cNvSpPr/>
          <p:nvPr/>
        </p:nvSpPr>
        <p:spPr>
          <a:xfrm>
            <a:off x="1682707" y="5905352"/>
            <a:ext cx="38099" cy="101597"/>
          </a:xfrm>
          <a:prstGeom prst="rect">
            <a:avLst/>
          </a:prstGeom>
          <a:solidFill>
            <a:srgbClr val="3AA7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4" name="Rectangle 353"/>
          <p:cNvSpPr/>
          <p:nvPr/>
        </p:nvSpPr>
        <p:spPr>
          <a:xfrm>
            <a:off x="1714457" y="5905352"/>
            <a:ext cx="38099" cy="101597"/>
          </a:xfrm>
          <a:prstGeom prst="rect">
            <a:avLst/>
          </a:prstGeom>
          <a:solidFill>
            <a:srgbClr val="3FAC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5" name="Rectangle 354"/>
          <p:cNvSpPr/>
          <p:nvPr/>
        </p:nvSpPr>
        <p:spPr>
          <a:xfrm>
            <a:off x="1746206" y="5905352"/>
            <a:ext cx="38099" cy="101597"/>
          </a:xfrm>
          <a:prstGeom prst="rect">
            <a:avLst/>
          </a:prstGeom>
          <a:solidFill>
            <a:srgbClr val="45B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6" name="Rectangle 355"/>
          <p:cNvSpPr/>
          <p:nvPr/>
        </p:nvSpPr>
        <p:spPr>
          <a:xfrm>
            <a:off x="1777955" y="5905352"/>
            <a:ext cx="38099" cy="101597"/>
          </a:xfrm>
          <a:prstGeom prst="rect">
            <a:avLst/>
          </a:prstGeom>
          <a:solidFill>
            <a:srgbClr val="4BB6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7" name="Rectangle 356"/>
          <p:cNvSpPr/>
          <p:nvPr/>
        </p:nvSpPr>
        <p:spPr>
          <a:xfrm>
            <a:off x="1809704" y="5905352"/>
            <a:ext cx="38099" cy="101597"/>
          </a:xfrm>
          <a:prstGeom prst="rect">
            <a:avLst/>
          </a:prstGeom>
          <a:solidFill>
            <a:srgbClr val="50B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8" name="Rectangle 357"/>
          <p:cNvSpPr/>
          <p:nvPr/>
        </p:nvSpPr>
        <p:spPr>
          <a:xfrm>
            <a:off x="1841453" y="5905352"/>
            <a:ext cx="38099" cy="101597"/>
          </a:xfrm>
          <a:prstGeom prst="rect">
            <a:avLst/>
          </a:prstGeom>
          <a:solidFill>
            <a:srgbClr val="60BF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9" name="Rectangle 358"/>
          <p:cNvSpPr/>
          <p:nvPr/>
        </p:nvSpPr>
        <p:spPr>
          <a:xfrm>
            <a:off x="1873203" y="5905352"/>
            <a:ext cx="38099" cy="101597"/>
          </a:xfrm>
          <a:prstGeom prst="rect">
            <a:avLst/>
          </a:prstGeom>
          <a:solidFill>
            <a:srgbClr val="75C1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0" name="Rectangle 359"/>
          <p:cNvSpPr/>
          <p:nvPr/>
        </p:nvSpPr>
        <p:spPr>
          <a:xfrm>
            <a:off x="1904952" y="5905352"/>
            <a:ext cx="38099" cy="101597"/>
          </a:xfrm>
          <a:prstGeom prst="rect">
            <a:avLst/>
          </a:prstGeom>
          <a:solidFill>
            <a:srgbClr val="8AC4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1" name="Rectangle 360"/>
          <p:cNvSpPr/>
          <p:nvPr/>
        </p:nvSpPr>
        <p:spPr>
          <a:xfrm>
            <a:off x="1936701" y="5905352"/>
            <a:ext cx="38099" cy="101597"/>
          </a:xfrm>
          <a:prstGeom prst="rect">
            <a:avLst/>
          </a:prstGeom>
          <a:solidFill>
            <a:srgbClr val="9FC6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2" name="Rectangle 361"/>
          <p:cNvSpPr/>
          <p:nvPr/>
        </p:nvSpPr>
        <p:spPr>
          <a:xfrm>
            <a:off x="1968450" y="5905352"/>
            <a:ext cx="38099" cy="101597"/>
          </a:xfrm>
          <a:prstGeom prst="rect">
            <a:avLst/>
          </a:prstGeom>
          <a:solidFill>
            <a:srgbClr val="B4C9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3" name="Rectangle 362"/>
          <p:cNvSpPr/>
          <p:nvPr/>
        </p:nvSpPr>
        <p:spPr>
          <a:xfrm>
            <a:off x="2000199" y="5905352"/>
            <a:ext cx="38099" cy="101597"/>
          </a:xfrm>
          <a:prstGeom prst="rect">
            <a:avLst/>
          </a:prstGeom>
          <a:solidFill>
            <a:srgbClr val="C9CB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4" name="Rectangle 363"/>
          <p:cNvSpPr/>
          <p:nvPr/>
        </p:nvSpPr>
        <p:spPr>
          <a:xfrm>
            <a:off x="2031949" y="5905352"/>
            <a:ext cx="38099" cy="101597"/>
          </a:xfrm>
          <a:prstGeom prst="rect">
            <a:avLst/>
          </a:prstGeom>
          <a:solidFill>
            <a:srgbClr val="DECE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5" name="Rectangle 364"/>
          <p:cNvSpPr/>
          <p:nvPr/>
        </p:nvSpPr>
        <p:spPr>
          <a:xfrm>
            <a:off x="2063698" y="5905352"/>
            <a:ext cx="38099" cy="101597"/>
          </a:xfrm>
          <a:prstGeom prst="rect">
            <a:avLst/>
          </a:prstGeom>
          <a:solidFill>
            <a:srgbClr val="F3D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6" name="Rectangle 365"/>
          <p:cNvSpPr/>
          <p:nvPr/>
        </p:nvSpPr>
        <p:spPr>
          <a:xfrm>
            <a:off x="2095447" y="5905352"/>
            <a:ext cx="38099" cy="101597"/>
          </a:xfrm>
          <a:prstGeom prst="rect">
            <a:avLst/>
          </a:prstGeom>
          <a:solidFill>
            <a:srgbClr val="FFCF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7" name="Rectangle 366"/>
          <p:cNvSpPr/>
          <p:nvPr/>
        </p:nvSpPr>
        <p:spPr>
          <a:xfrm>
            <a:off x="2127196" y="5905352"/>
            <a:ext cx="38099" cy="101597"/>
          </a:xfrm>
          <a:prstGeom prst="rect">
            <a:avLst/>
          </a:prstGeom>
          <a:solidFill>
            <a:srgbClr val="FFC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8" name="Rectangle 367"/>
          <p:cNvSpPr/>
          <p:nvPr/>
        </p:nvSpPr>
        <p:spPr>
          <a:xfrm>
            <a:off x="2158946" y="5905352"/>
            <a:ext cx="38099" cy="101597"/>
          </a:xfrm>
          <a:prstGeom prst="rect">
            <a:avLst/>
          </a:prstGeom>
          <a:solidFill>
            <a:srgbClr val="FFBE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9" name="Rectangle 368"/>
          <p:cNvSpPr/>
          <p:nvPr/>
        </p:nvSpPr>
        <p:spPr>
          <a:xfrm>
            <a:off x="2190695" y="5905352"/>
            <a:ext cx="38099" cy="101597"/>
          </a:xfrm>
          <a:prstGeom prst="rect">
            <a:avLst/>
          </a:prstGeom>
          <a:solidFill>
            <a:srgbClr val="FFB6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0" name="Rectangle 369"/>
          <p:cNvSpPr/>
          <p:nvPr/>
        </p:nvSpPr>
        <p:spPr>
          <a:xfrm>
            <a:off x="2222444" y="5905352"/>
            <a:ext cx="38099" cy="101597"/>
          </a:xfrm>
          <a:prstGeom prst="rect">
            <a:avLst/>
          </a:prstGeom>
          <a:solidFill>
            <a:srgbClr val="FFA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1" name="Rectangle 370"/>
          <p:cNvSpPr/>
          <p:nvPr/>
        </p:nvSpPr>
        <p:spPr>
          <a:xfrm>
            <a:off x="2254193" y="5905352"/>
            <a:ext cx="38099" cy="101597"/>
          </a:xfrm>
          <a:prstGeom prst="rect">
            <a:avLst/>
          </a:prstGeom>
          <a:solidFill>
            <a:srgbClr val="FFA5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2" name="Rectangle 371"/>
          <p:cNvSpPr/>
          <p:nvPr/>
        </p:nvSpPr>
        <p:spPr>
          <a:xfrm>
            <a:off x="2285942" y="5905352"/>
            <a:ext cx="38099" cy="101597"/>
          </a:xfrm>
          <a:prstGeom prst="rect">
            <a:avLst/>
          </a:prstGeom>
          <a:solidFill>
            <a:srgbClr val="FF9D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3" name="Rectangle 372"/>
          <p:cNvSpPr/>
          <p:nvPr/>
        </p:nvSpPr>
        <p:spPr>
          <a:xfrm>
            <a:off x="2317692" y="5905352"/>
            <a:ext cx="38099" cy="101597"/>
          </a:xfrm>
          <a:prstGeom prst="rect">
            <a:avLst/>
          </a:prstGeom>
          <a:solidFill>
            <a:srgbClr val="FF95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4" name="Rectangle 373"/>
          <p:cNvSpPr/>
          <p:nvPr/>
        </p:nvSpPr>
        <p:spPr>
          <a:xfrm>
            <a:off x="2349441" y="5905352"/>
            <a:ext cx="38099" cy="101597"/>
          </a:xfrm>
          <a:prstGeom prst="rect">
            <a:avLst/>
          </a:prstGeom>
          <a:solidFill>
            <a:srgbClr val="FF8C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5" name="Rectangle 374"/>
          <p:cNvSpPr/>
          <p:nvPr/>
        </p:nvSpPr>
        <p:spPr>
          <a:xfrm>
            <a:off x="2381190" y="5905352"/>
            <a:ext cx="38099" cy="101597"/>
          </a:xfrm>
          <a:prstGeom prst="rect">
            <a:avLst/>
          </a:prstGeom>
          <a:solidFill>
            <a:srgbClr val="FF84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6" name="Rectangle 375"/>
          <p:cNvSpPr/>
          <p:nvPr/>
        </p:nvSpPr>
        <p:spPr>
          <a:xfrm>
            <a:off x="2412939" y="5905352"/>
            <a:ext cx="38099" cy="101597"/>
          </a:xfrm>
          <a:prstGeom prst="rect">
            <a:avLst/>
          </a:prstGeom>
          <a:solidFill>
            <a:srgbClr val="FF7C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7" name="Rectangle 376"/>
          <p:cNvSpPr/>
          <p:nvPr/>
        </p:nvSpPr>
        <p:spPr>
          <a:xfrm>
            <a:off x="2444688" y="5905352"/>
            <a:ext cx="38099" cy="101597"/>
          </a:xfrm>
          <a:prstGeom prst="rect">
            <a:avLst/>
          </a:prstGeom>
          <a:solidFill>
            <a:srgbClr val="FD75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8" name="Rectangle 377"/>
          <p:cNvSpPr/>
          <p:nvPr/>
        </p:nvSpPr>
        <p:spPr>
          <a:xfrm>
            <a:off x="2476438" y="5905352"/>
            <a:ext cx="38099" cy="101597"/>
          </a:xfrm>
          <a:prstGeom prst="rect">
            <a:avLst/>
          </a:prstGeom>
          <a:solidFill>
            <a:srgbClr val="FB6F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9" name="Rectangle 378"/>
          <p:cNvSpPr/>
          <p:nvPr/>
        </p:nvSpPr>
        <p:spPr>
          <a:xfrm>
            <a:off x="2508187" y="5905352"/>
            <a:ext cx="38099" cy="101597"/>
          </a:xfrm>
          <a:prstGeom prst="rect">
            <a:avLst/>
          </a:prstGeom>
          <a:solidFill>
            <a:srgbClr val="FA69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0" name="Rectangle 379"/>
          <p:cNvSpPr/>
          <p:nvPr/>
        </p:nvSpPr>
        <p:spPr>
          <a:xfrm>
            <a:off x="2539936" y="5905352"/>
            <a:ext cx="38099" cy="101597"/>
          </a:xfrm>
          <a:prstGeom prst="rect">
            <a:avLst/>
          </a:prstGeom>
          <a:solidFill>
            <a:srgbClr val="F863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1" name="Rectangle 380"/>
          <p:cNvSpPr/>
          <p:nvPr/>
        </p:nvSpPr>
        <p:spPr>
          <a:xfrm>
            <a:off x="2571685" y="5905352"/>
            <a:ext cx="38099" cy="101597"/>
          </a:xfrm>
          <a:prstGeom prst="rect">
            <a:avLst/>
          </a:prstGeom>
          <a:solidFill>
            <a:srgbClr val="F65D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2" name="Rectangle 381"/>
          <p:cNvSpPr/>
          <p:nvPr/>
        </p:nvSpPr>
        <p:spPr>
          <a:xfrm>
            <a:off x="2603434" y="5905352"/>
            <a:ext cx="38099" cy="101597"/>
          </a:xfrm>
          <a:prstGeom prst="rect">
            <a:avLst/>
          </a:prstGeom>
          <a:solidFill>
            <a:srgbClr val="F457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3" name="Rectangle 382"/>
          <p:cNvSpPr/>
          <p:nvPr/>
        </p:nvSpPr>
        <p:spPr>
          <a:xfrm>
            <a:off x="2635184" y="5905352"/>
            <a:ext cx="38099" cy="101597"/>
          </a:xfrm>
          <a:prstGeom prst="rect">
            <a:avLst/>
          </a:prstGeom>
          <a:solidFill>
            <a:srgbClr val="F25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4" name="Rectangle 383"/>
          <p:cNvSpPr/>
          <p:nvPr/>
        </p:nvSpPr>
        <p:spPr>
          <a:xfrm>
            <a:off x="2666933" y="5905352"/>
            <a:ext cx="38099" cy="101597"/>
          </a:xfrm>
          <a:prstGeom prst="rect">
            <a:avLst/>
          </a:prstGeom>
          <a:solidFill>
            <a:srgbClr val="F04B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5" name="Rectangle 384"/>
          <p:cNvSpPr/>
          <p:nvPr/>
        </p:nvSpPr>
        <p:spPr>
          <a:xfrm>
            <a:off x="2698682" y="5905352"/>
            <a:ext cx="38099" cy="101597"/>
          </a:xfrm>
          <a:prstGeom prst="rect">
            <a:avLst/>
          </a:prstGeom>
          <a:solidFill>
            <a:srgbClr val="EE45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6" name="Rectangle 385"/>
          <p:cNvSpPr/>
          <p:nvPr/>
        </p:nvSpPr>
        <p:spPr>
          <a:xfrm>
            <a:off x="2730431" y="5905352"/>
            <a:ext cx="38099" cy="101597"/>
          </a:xfrm>
          <a:prstGeom prst="rect">
            <a:avLst/>
          </a:prstGeom>
          <a:solidFill>
            <a:srgbClr val="EC3F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7" name="Rectangle 386"/>
          <p:cNvSpPr/>
          <p:nvPr/>
        </p:nvSpPr>
        <p:spPr>
          <a:xfrm>
            <a:off x="2762180" y="5905352"/>
            <a:ext cx="38099" cy="101597"/>
          </a:xfrm>
          <a:prstGeom prst="rect">
            <a:avLst/>
          </a:prstGeom>
          <a:solidFill>
            <a:srgbClr val="EA39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8" name="Rectangle 387"/>
          <p:cNvSpPr/>
          <p:nvPr/>
        </p:nvSpPr>
        <p:spPr>
          <a:xfrm>
            <a:off x="2793930" y="5905352"/>
            <a:ext cx="38099" cy="101597"/>
          </a:xfrm>
          <a:prstGeom prst="rect">
            <a:avLst/>
          </a:prstGeom>
          <a:solidFill>
            <a:srgbClr val="E833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9" name="TextBox 388"/>
          <p:cNvSpPr txBox="1"/>
          <p:nvPr/>
        </p:nvSpPr>
        <p:spPr>
          <a:xfrm>
            <a:off x="539736" y="6070448"/>
            <a:ext cx="761980" cy="190495"/>
          </a:xfrm>
          <a:prstGeom prst="rect">
            <a:avLst/>
          </a:prstGeom>
          <a:noFill/>
        </p:spPr>
        <p:txBody>
          <a:bodyPr wrap="square" anchor="t" lIns="0" rIns="0" tIns="0" bIns="0">
            <a:spAutoFit/>
          </a:bodyPr>
          <a:lstStyle/>
          <a:p>
            <a:pPr algn="ctr">
              <a:lnSpc>
                <a:spcPct val="125000"/>
              </a:lnSpc>
            </a:pPr>
            <a:r>
              <a:rPr sz="1100" b="0">
                <a:solidFill>
                  <a:srgbClr val="8FB6D0"/>
                </a:solidFill>
                <a:latin typeface="Consolas"/>
              </a:rPr>
              <a:t>0</a:t>
            </a:r>
          </a:p>
        </p:txBody>
      </p:sp>
      <p:sp>
        <p:nvSpPr>
          <p:cNvPr id="390" name="TextBox 389"/>
          <p:cNvSpPr txBox="1"/>
          <p:nvPr/>
        </p:nvSpPr>
        <p:spPr>
          <a:xfrm>
            <a:off x="1492212" y="6070448"/>
            <a:ext cx="761980" cy="190495"/>
          </a:xfrm>
          <a:prstGeom prst="rect">
            <a:avLst/>
          </a:prstGeom>
          <a:noFill/>
        </p:spPr>
        <p:txBody>
          <a:bodyPr wrap="square" anchor="t" lIns="0" rIns="0" tIns="0" bIns="0">
            <a:spAutoFit/>
          </a:bodyPr>
          <a:lstStyle/>
          <a:p>
            <a:pPr algn="ctr">
              <a:lnSpc>
                <a:spcPct val="125000"/>
              </a:lnSpc>
            </a:pPr>
            <a:r>
              <a:rPr sz="1100" b="0">
                <a:solidFill>
                  <a:srgbClr val="8FB6D0"/>
                </a:solidFill>
                <a:latin typeface="Consolas"/>
              </a:rPr>
              <a:t>200</a:t>
            </a:r>
          </a:p>
        </p:txBody>
      </p:sp>
      <p:sp>
        <p:nvSpPr>
          <p:cNvPr id="391" name="TextBox 390"/>
          <p:cNvSpPr txBox="1"/>
          <p:nvPr/>
        </p:nvSpPr>
        <p:spPr>
          <a:xfrm>
            <a:off x="2444688" y="6070448"/>
            <a:ext cx="761980" cy="190495"/>
          </a:xfrm>
          <a:prstGeom prst="rect">
            <a:avLst/>
          </a:prstGeom>
          <a:noFill/>
        </p:spPr>
        <p:txBody>
          <a:bodyPr wrap="square" anchor="t" lIns="0" rIns="0" tIns="0" bIns="0">
            <a:spAutoFit/>
          </a:bodyPr>
          <a:lstStyle/>
          <a:p>
            <a:pPr algn="ctr">
              <a:lnSpc>
                <a:spcPct val="125000"/>
              </a:lnSpc>
            </a:pPr>
            <a:r>
              <a:rPr sz="1100" b="0">
                <a:solidFill>
                  <a:srgbClr val="8FB6D0"/>
                </a:solidFill>
                <a:latin typeface="Consolas"/>
              </a:rPr>
              <a:t>400</a:t>
            </a:r>
          </a:p>
        </p:txBody>
      </p:sp>
      <p:sp>
        <p:nvSpPr>
          <p:cNvPr id="392" name="TextBox 391"/>
          <p:cNvSpPr txBox="1"/>
          <p:nvPr/>
        </p:nvSpPr>
        <p:spPr>
          <a:xfrm>
            <a:off x="2978075" y="5892652"/>
            <a:ext cx="1269968" cy="190495"/>
          </a:xfrm>
          <a:prstGeom prst="rect">
            <a:avLst/>
          </a:prstGeom>
          <a:noFill/>
        </p:spPr>
        <p:txBody>
          <a:bodyPr wrap="square" anchor="t" lIns="0" rIns="0" tIns="0" bIns="0">
            <a:spAutoFit/>
          </a:bodyPr>
          <a:lstStyle/>
          <a:p>
            <a:pPr algn="l">
              <a:lnSpc>
                <a:spcPct val="125000"/>
              </a:lnSpc>
            </a:pPr>
            <a:r>
              <a:rPr sz="1100" b="0">
                <a:solidFill>
                  <a:srgbClr val="8FB6D0"/>
                </a:solidFill>
                <a:latin typeface="Consolas"/>
              </a:rPr>
              <a:t>kPa</a:t>
            </a:r>
          </a:p>
        </p:txBody>
      </p:sp>
      <p:sp>
        <p:nvSpPr>
          <p:cNvPr id="393" name="!!piek"/>
          <p:cNvSpPr txBox="1"/>
          <p:nvPr/>
        </p:nvSpPr>
        <p:spPr>
          <a:xfrm>
            <a:off x="3555911" y="1587460"/>
            <a:ext cx="4444888" cy="1904952"/>
          </a:xfrm>
          <a:prstGeom prst="rect">
            <a:avLst/>
          </a:prstGeom>
          <a:noFill/>
        </p:spPr>
        <p:txBody>
          <a:bodyPr wrap="none" anchor="t" lIns="0" rIns="0" tIns="0" bIns="0">
            <a:spAutoFit/>
          </a:bodyPr>
          <a:lstStyle/>
          <a:p>
            <a:pPr algn="l">
              <a:lnSpc>
                <a:spcPct val="90000"/>
              </a:lnSpc>
            </a:pPr>
            <a:r>
              <a:rPr sz="15000" b="1">
                <a:solidFill>
                  <a:srgbClr val="52BDEC"/>
                </a:solidFill>
                <a:latin typeface="Segoe UI"/>
              </a:rPr>
              <a:t>186</a:t>
            </a:r>
          </a:p>
        </p:txBody>
      </p:sp>
      <p:sp>
        <p:nvSpPr>
          <p:cNvPr id="394" name="!!eenheid"/>
          <p:cNvSpPr txBox="1"/>
          <p:nvPr/>
        </p:nvSpPr>
        <p:spPr>
          <a:xfrm>
            <a:off x="6857828" y="1904952"/>
            <a:ext cx="1269968" cy="507987"/>
          </a:xfrm>
          <a:prstGeom prst="rect">
            <a:avLst/>
          </a:prstGeom>
          <a:noFill/>
        </p:spPr>
        <p:txBody>
          <a:bodyPr wrap="square" anchor="t" lIns="0" rIns="0" tIns="0" bIns="0">
            <a:spAutoFit/>
          </a:bodyPr>
          <a:lstStyle/>
          <a:p>
            <a:pPr algn="l">
              <a:lnSpc>
                <a:spcPct val="125000"/>
              </a:lnSpc>
            </a:pPr>
            <a:r>
              <a:rPr sz="4400" b="1">
                <a:solidFill>
                  <a:srgbClr val="52BDEC"/>
                </a:solidFill>
                <a:latin typeface="Segoe UI Light"/>
              </a:rPr>
              <a:t>kPa</a:t>
            </a:r>
          </a:p>
        </p:txBody>
      </p:sp>
      <p:sp>
        <p:nvSpPr>
          <p:cNvPr id="395" name="!!plek"/>
          <p:cNvSpPr txBox="1"/>
          <p:nvPr/>
        </p:nvSpPr>
        <p:spPr>
          <a:xfrm>
            <a:off x="3581310" y="3352716"/>
            <a:ext cx="7619809" cy="380990"/>
          </a:xfrm>
          <a:prstGeom prst="rect">
            <a:avLst/>
          </a:prstGeom>
          <a:noFill/>
        </p:spPr>
        <p:txBody>
          <a:bodyPr wrap="square" anchor="t" lIns="0" rIns="0" tIns="0" bIns="0">
            <a:spAutoFit/>
          </a:bodyPr>
          <a:lstStyle/>
          <a:p>
            <a:pPr algn="l">
              <a:lnSpc>
                <a:spcPct val="125000"/>
              </a:lnSpc>
            </a:pPr>
            <a:r>
              <a:rPr sz="2200" b="1">
                <a:solidFill>
                  <a:srgbClr val="F2F8FC"/>
                </a:solidFill>
                <a:latin typeface="Segoe UI"/>
              </a:rPr>
              <a:t>piekdruk in de doelregio na aanpassing</a:t>
            </a:r>
          </a:p>
        </p:txBody>
      </p:sp>
      <p:sp>
        <p:nvSpPr>
          <p:cNvPr id="396" name="!!norm"/>
          <p:cNvSpPr/>
          <p:nvPr/>
        </p:nvSpPr>
        <p:spPr>
          <a:xfrm>
            <a:off x="3555911" y="3924201"/>
            <a:ext cx="8000799" cy="609584"/>
          </a:xfrm>
          <a:prstGeom prst="roundRect">
            <a:avLst>
              <a:gd name="adj" fmla="val 4500"/>
            </a:avLst>
          </a:prstGeom>
          <a:solidFill>
            <a:srgbClr val="174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7" name="!!normtekst"/>
          <p:cNvSpPr txBox="1"/>
          <p:nvPr/>
        </p:nvSpPr>
        <p:spPr>
          <a:xfrm>
            <a:off x="3555911" y="4101997"/>
            <a:ext cx="8000799" cy="292092"/>
          </a:xfrm>
          <a:prstGeom prst="rect">
            <a:avLst/>
          </a:prstGeom>
          <a:noFill/>
        </p:spPr>
        <p:txBody>
          <a:bodyPr wrap="square" anchor="t" lIns="0" rIns="0" tIns="0" bIns="0">
            <a:spAutoFit/>
          </a:bodyPr>
          <a:lstStyle/>
          <a:p>
            <a:pPr algn="ctr">
              <a:lnSpc>
                <a:spcPct val="125000"/>
              </a:lnSpc>
            </a:pPr>
            <a:r>
              <a:rPr sz="2200" b="1">
                <a:solidFill>
                  <a:srgbClr val="FF7A00"/>
                </a:solidFill>
                <a:latin typeface="Consolas"/>
              </a:rPr>
              <a:t>40% lager  ·  onder 200 kPa  ·  beide criteria</a:t>
            </a:r>
          </a:p>
        </p:txBody>
      </p:sp>
      <p:sp>
        <p:nvSpPr>
          <p:cNvPr id="398" name="TextBox 397"/>
          <p:cNvSpPr txBox="1"/>
          <p:nvPr/>
        </p:nvSpPr>
        <p:spPr>
          <a:xfrm>
            <a:off x="3555911" y="4825879"/>
            <a:ext cx="8000799" cy="1269968"/>
          </a:xfrm>
          <a:prstGeom prst="rect">
            <a:avLst/>
          </a:prstGeom>
          <a:noFill/>
        </p:spPr>
        <p:txBody>
          <a:bodyPr wrap="square" anchor="t" lIns="0" rIns="0" tIns="0" bIns="0">
            <a:spAutoFit/>
          </a:bodyPr>
          <a:lstStyle/>
          <a:p>
            <a:pPr algn="l">
              <a:lnSpc>
                <a:spcPct val="135000"/>
              </a:lnSpc>
            </a:pPr>
            <a:r>
              <a:rPr sz="1700" b="0">
                <a:solidFill>
                  <a:srgbClr val="8FB6D0"/>
                </a:solidFill>
                <a:latin typeface="Segoe UI"/>
              </a:rPr>
              <a:t>De norm geldt per doelregio: piekdruk onder 200 kPa óf minstens 25% lager dan de baselinemeting van diezelfde regio.</a:t>
            </a:r>
          </a:p>
          <a:p>
            <a:pPr algn="l">
              <a:lnSpc>
                <a:spcPct val="135000"/>
              </a:lnSpc>
              <a:spcBef>
                <a:spcPts val="1200"/>
              </a:spcBef>
            </a:pPr>
            <a:r>
              <a:rPr sz="1700" b="0">
                <a:solidFill>
                  <a:srgbClr val="8FB6D0"/>
                </a:solidFill>
                <a:latin typeface="Segoe UI"/>
              </a:rPr>
              <a:t>Haalt u de norm niet, dan past u aan en meet u opnieuw. Het formulier voorziet twee extra ontlastingstests.</a:t>
            </a:r>
          </a:p>
        </p:txBody>
      </p:sp>
      <p:sp>
        <p:nvSpPr>
          <p:cNvPr id="399" name="TextBox 398"/>
          <p:cNvSpPr txBox="1"/>
          <p:nvPr/>
        </p:nvSpPr>
        <p:spPr>
          <a:xfrm>
            <a:off x="634984" y="6387940"/>
            <a:ext cx="8889777" cy="190495"/>
          </a:xfrm>
          <a:prstGeom prst="rect">
            <a:avLst/>
          </a:prstGeom>
          <a:noFill/>
        </p:spPr>
        <p:txBody>
          <a:bodyPr wrap="square" anchor="t" lIns="0" rIns="0" tIns="0" bIns="0">
            <a:spAutoFit/>
          </a:bodyPr>
          <a:lstStyle/>
          <a:p>
            <a:pPr algn="l">
              <a:lnSpc>
                <a:spcPct val="125000"/>
              </a:lnSpc>
            </a:pPr>
            <a:r>
              <a:rPr sz="1150" b="0">
                <a:solidFill>
                  <a:srgbClr val="8FB6D0"/>
                </a:solidFill>
                <a:latin typeface="Consolas"/>
              </a:rPr>
              <a:t>eCRF-document 24 · Meting drukherverdeling voetorthese</a:t>
            </a:r>
          </a:p>
        </p:txBody>
      </p:sp>
      <p:sp>
        <p:nvSpPr>
          <p:cNvPr id="400" name="TextBox 399"/>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10 / 28</a:t>
            </a:r>
          </a:p>
        </p:txBody>
      </p:sp>
      <p:pic>
        <p:nvPicPr>
          <p:cNvPr id="401"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402" name="TextBox 401"/>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Bron  6 · Bus 2011   |   7 · Bus 2020</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beeld" descr="knal_belasting.jpg"/>
          <p:cNvPicPr>
            <a:picLocks noChangeAspect="1"/>
          </p:cNvPicPr>
          <p:nvPr/>
        </p:nvPicPr>
        <p:blipFill>
          <a:blip r:embed="rId2"/>
          <a:stretch>
            <a:fillRect/>
          </a:stretch>
        </p:blipFill>
        <p:spPr>
          <a:xfrm>
            <a:off x="-22661" y="0"/>
            <a:ext cx="12237017" cy="6857828"/>
          </a:xfrm>
          <a:prstGeom prst="rect">
            <a:avLst/>
          </a:prstGeom>
        </p:spPr>
      </p:pic>
      <p:sp>
        <p:nvSpPr>
          <p:cNvPr id="4" name="Rectangle 3"/>
          <p:cNvSpPr/>
          <p:nvPr/>
        </p:nvSpPr>
        <p:spPr>
          <a:xfrm>
            <a:off x="0" y="0"/>
            <a:ext cx="12191695" cy="6857828"/>
          </a:xfrm>
          <a:prstGeom prst="rect">
            <a:avLst/>
          </a:prstGeom>
          <a:gradFill rotWithShape="1">
            <a:gsLst>
              <a:gs pos="0">
                <a:srgbClr val="04182A">
                  <a:alpha val="68000"/>
                </a:srgbClr>
              </a:gs>
              <a:gs pos="100000">
                <a:srgbClr val="072138">
                  <a:alpha val="95000"/>
                </a:srgbClr>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52476" y="1231869"/>
            <a:ext cx="812779" cy="50798"/>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knal"/>
          <p:cNvSpPr txBox="1"/>
          <p:nvPr/>
        </p:nvSpPr>
        <p:spPr>
          <a:xfrm>
            <a:off x="952476" y="1523961"/>
            <a:ext cx="10286742" cy="4190895"/>
          </a:xfrm>
          <a:prstGeom prst="rect">
            <a:avLst/>
          </a:prstGeom>
          <a:noFill/>
        </p:spPr>
        <p:txBody>
          <a:bodyPr wrap="square" anchor="t" lIns="0" rIns="0" tIns="0" bIns="0">
            <a:spAutoFit/>
          </a:bodyPr>
          <a:lstStyle/>
          <a:p>
            <a:pPr algn="l">
              <a:lnSpc>
                <a:spcPct val="106000"/>
              </a:lnSpc>
            </a:pPr>
            <a:r>
              <a:rPr sz="7200" b="1">
                <a:solidFill>
                  <a:srgbClr val="FFFFFF"/>
                </a:solidFill>
                <a:latin typeface="Segoe UI"/>
              </a:rPr>
              <a:t>Niet minder belasting.</a:t>
            </a:r>
          </a:p>
          <a:p>
            <a:pPr algn="l">
              <a:lnSpc>
                <a:spcPct val="106000"/>
              </a:lnSpc>
              <a:spcBef>
                <a:spcPts val="500"/>
              </a:spcBef>
            </a:pPr>
            <a:r>
              <a:rPr sz="7200" b="1">
                <a:solidFill>
                  <a:srgbClr val="FFFFFF"/>
                </a:solidFill>
                <a:latin typeface="Segoe UI"/>
              </a:rPr>
              <a:t>Belasting op een plek die het aankan.</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merkgroot" descr="merk.png"/>
          <p:cNvPicPr>
            <a:picLocks noChangeAspect="1"/>
          </p:cNvPicPr>
          <p:nvPr/>
        </p:nvPicPr>
        <p:blipFill>
          <a:blip r:embed="rId2">
            <a:alphaModFix amt="14000"/>
          </a:blip>
          <a:stretch>
            <a:fillRect/>
          </a:stretch>
        </p:blipFill>
        <p:spPr>
          <a:xfrm>
            <a:off x="6603834" y="-1126099"/>
            <a:ext cx="7873803" cy="9110028"/>
          </a:xfrm>
          <a:prstGeom prst="rect">
            <a:avLst/>
          </a:prstGeom>
        </p:spPr>
      </p:pic>
      <p:sp>
        <p:nvSpPr>
          <p:cNvPr id="4" name="hero"/>
          <p:cNvSpPr txBox="1"/>
          <p:nvPr/>
        </p:nvSpPr>
        <p:spPr>
          <a:xfrm>
            <a:off x="431789" y="723881"/>
            <a:ext cx="5714857" cy="2920926"/>
          </a:xfrm>
          <a:prstGeom prst="rect">
            <a:avLst/>
          </a:prstGeom>
          <a:noFill/>
        </p:spPr>
        <p:txBody>
          <a:bodyPr wrap="none" anchor="t" lIns="0" rIns="0" tIns="0" bIns="0">
            <a:spAutoFit/>
          </a:bodyPr>
          <a:lstStyle/>
          <a:p>
            <a:pPr algn="l">
              <a:lnSpc>
                <a:spcPct val="82000"/>
              </a:lnSpc>
            </a:pPr>
            <a:r>
              <a:rPr sz="26000" b="1">
                <a:solidFill>
                  <a:srgbClr val="52BDEC">
                    <a:alpha val="15000"/>
                  </a:srgbClr>
                </a:solidFill>
                <a:latin typeface="Segoe UI"/>
              </a:rPr>
              <a:t>01</a:t>
            </a:r>
          </a:p>
        </p:txBody>
      </p:sp>
      <p:sp>
        <p:nvSpPr>
          <p:cNvPr id="5" name="TextBox 4"/>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BLOK 01</a:t>
            </a:r>
          </a:p>
        </p:txBody>
      </p:sp>
      <p:sp>
        <p:nvSpPr>
          <p:cNvPr id="6" name="Rectangle 5"/>
          <p:cNvSpPr/>
          <p:nvPr/>
        </p:nvSpPr>
        <p:spPr>
          <a:xfrm>
            <a:off x="634984" y="3213019"/>
            <a:ext cx="812779" cy="50798"/>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ectietitel"/>
          <p:cNvSpPr txBox="1"/>
          <p:nvPr/>
        </p:nvSpPr>
        <p:spPr>
          <a:xfrm>
            <a:off x="634984" y="3555911"/>
            <a:ext cx="8889777" cy="1015974"/>
          </a:xfrm>
          <a:prstGeom prst="rect">
            <a:avLst/>
          </a:prstGeom>
          <a:noFill/>
        </p:spPr>
        <p:txBody>
          <a:bodyPr wrap="square" anchor="t" lIns="0" rIns="0" tIns="0" bIns="0">
            <a:spAutoFit/>
          </a:bodyPr>
          <a:lstStyle/>
          <a:p>
            <a:pPr algn="l">
              <a:lnSpc>
                <a:spcPct val="125000"/>
              </a:lnSpc>
            </a:pPr>
            <a:r>
              <a:rPr sz="7600" b="1">
                <a:solidFill>
                  <a:srgbClr val="F2F8FC"/>
                </a:solidFill>
                <a:latin typeface="Segoe UI"/>
              </a:rPr>
              <a:t>Het traject</a:t>
            </a:r>
          </a:p>
        </p:txBody>
      </p:sp>
      <p:sp>
        <p:nvSpPr>
          <p:cNvPr id="8" name="TextBox 7"/>
          <p:cNvSpPr txBox="1"/>
          <p:nvPr/>
        </p:nvSpPr>
        <p:spPr>
          <a:xfrm>
            <a:off x="660383" y="4825879"/>
            <a:ext cx="8254793" cy="507987"/>
          </a:xfrm>
          <a:prstGeom prst="rect">
            <a:avLst/>
          </a:prstGeom>
          <a:noFill/>
        </p:spPr>
        <p:txBody>
          <a:bodyPr wrap="square" anchor="t" lIns="0" rIns="0" tIns="0" bIns="0">
            <a:spAutoFit/>
          </a:bodyPr>
          <a:lstStyle/>
          <a:p>
            <a:pPr algn="l">
              <a:lnSpc>
                <a:spcPct val="125000"/>
              </a:lnSpc>
            </a:pPr>
            <a:r>
              <a:rPr sz="2300" b="0">
                <a:solidFill>
                  <a:srgbClr val="8FB6D0"/>
                </a:solidFill>
                <a:latin typeface="Segoe UI Light"/>
              </a:rPr>
              <a:t>Negen contactmomenten. Per moment: wat u doet en wat u invult.</a:t>
            </a:r>
          </a:p>
        </p:txBody>
      </p:sp>
      <p:sp>
        <p:nvSpPr>
          <p:cNvPr id="9" name="TextBox 8"/>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12 / 28</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355591"/>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HET TRAJECT</a:t>
            </a:r>
          </a:p>
        </p:txBody>
      </p:sp>
      <p:sp>
        <p:nvSpPr>
          <p:cNvPr id="4" name="!!sectietitel"/>
          <p:cNvSpPr txBox="1"/>
          <p:nvPr/>
        </p:nvSpPr>
        <p:spPr>
          <a:xfrm>
            <a:off x="634984" y="609584"/>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Screening plus negen visites</a:t>
            </a:r>
          </a:p>
        </p:txBody>
      </p:sp>
      <p:sp>
        <p:nvSpPr>
          <p:cNvPr id="5" name="!!band"/>
          <p:cNvSpPr/>
          <p:nvPr/>
        </p:nvSpPr>
        <p:spPr>
          <a:xfrm>
            <a:off x="0" y="1206469"/>
            <a:ext cx="12191695" cy="3301917"/>
          </a:xfrm>
          <a:prstGeom prst="rect">
            <a:avLst/>
          </a:prstGeom>
          <a:solidFill>
            <a:srgbClr val="0A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as"/>
          <p:cNvSpPr/>
          <p:nvPr/>
        </p:nvSpPr>
        <p:spPr>
          <a:xfrm>
            <a:off x="634984" y="2920926"/>
            <a:ext cx="10921726"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tip0"/>
          <p:cNvSpPr/>
          <p:nvPr/>
        </p:nvSpPr>
        <p:spPr>
          <a:xfrm>
            <a:off x="1085822" y="2838379"/>
            <a:ext cx="190495" cy="190495"/>
          </a:xfrm>
          <a:prstGeom prst="ellipse">
            <a:avLst/>
          </a:prstGeom>
          <a:solidFill>
            <a:srgbClr val="FF7A00"/>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maand0"/>
          <p:cNvSpPr txBox="1"/>
          <p:nvPr/>
        </p:nvSpPr>
        <p:spPr>
          <a:xfrm>
            <a:off x="634984" y="2133546"/>
            <a:ext cx="1092172" cy="279393"/>
          </a:xfrm>
          <a:prstGeom prst="rect">
            <a:avLst/>
          </a:prstGeom>
          <a:noFill/>
        </p:spPr>
        <p:txBody>
          <a:bodyPr wrap="square" anchor="t" lIns="0" rIns="0" tIns="0" bIns="0">
            <a:spAutoFit/>
          </a:bodyPr>
          <a:lstStyle/>
          <a:p>
            <a:pPr algn="ctr">
              <a:lnSpc>
                <a:spcPct val="125000"/>
              </a:lnSpc>
            </a:pPr>
            <a:r>
              <a:rPr sz="1500" b="1">
                <a:solidFill>
                  <a:srgbClr val="F2F8FC"/>
                </a:solidFill>
                <a:latin typeface="Consolas"/>
              </a:rPr>
              <a:t>Screen</a:t>
            </a:r>
          </a:p>
        </p:txBody>
      </p:sp>
      <p:sp>
        <p:nvSpPr>
          <p:cNvPr id="9" name="!!taak0"/>
          <p:cNvSpPr txBox="1"/>
          <p:nvPr/>
        </p:nvSpPr>
        <p:spPr>
          <a:xfrm>
            <a:off x="698482"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geschiktheid</a:t>
            </a:r>
          </a:p>
        </p:txBody>
      </p:sp>
      <p:sp>
        <p:nvSpPr>
          <p:cNvPr id="10" name="!!stip1"/>
          <p:cNvSpPr/>
          <p:nvPr/>
        </p:nvSpPr>
        <p:spPr>
          <a:xfrm>
            <a:off x="2177995" y="2838379"/>
            <a:ext cx="190495" cy="190495"/>
          </a:xfrm>
          <a:prstGeom prst="ellipse">
            <a:avLst/>
          </a:prstGeom>
          <a:solidFill>
            <a:srgbClr val="FF7A00"/>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maand1"/>
          <p:cNvSpPr txBox="1"/>
          <p:nvPr/>
        </p:nvSpPr>
        <p:spPr>
          <a:xfrm>
            <a:off x="1727156"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V0</a:t>
            </a:r>
          </a:p>
        </p:txBody>
      </p:sp>
      <p:sp>
        <p:nvSpPr>
          <p:cNvPr id="12" name="!!taak1"/>
          <p:cNvSpPr txBox="1"/>
          <p:nvPr/>
        </p:nvSpPr>
        <p:spPr>
          <a:xfrm>
            <a:off x="1790655"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loting</a:t>
            </a:r>
          </a:p>
        </p:txBody>
      </p:sp>
      <p:sp>
        <p:nvSpPr>
          <p:cNvPr id="13" name="!!stip2"/>
          <p:cNvSpPr/>
          <p:nvPr/>
        </p:nvSpPr>
        <p:spPr>
          <a:xfrm>
            <a:off x="3289217" y="2857428"/>
            <a:ext cx="152396" cy="152396"/>
          </a:xfrm>
          <a:prstGeom prst="ellipse">
            <a:avLst/>
          </a:prstGeom>
          <a:solidFill>
            <a:srgbClr val="52BDEC"/>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maand2"/>
          <p:cNvSpPr txBox="1"/>
          <p:nvPr/>
        </p:nvSpPr>
        <p:spPr>
          <a:xfrm>
            <a:off x="2819329"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V1</a:t>
            </a:r>
          </a:p>
        </p:txBody>
      </p:sp>
      <p:sp>
        <p:nvSpPr>
          <p:cNvPr id="15" name="!!taak2"/>
          <p:cNvSpPr txBox="1"/>
          <p:nvPr/>
        </p:nvSpPr>
        <p:spPr>
          <a:xfrm>
            <a:off x="2882827"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baseline</a:t>
            </a:r>
          </a:p>
        </p:txBody>
      </p:sp>
      <p:sp>
        <p:nvSpPr>
          <p:cNvPr id="16" name="!!stip3"/>
          <p:cNvSpPr/>
          <p:nvPr/>
        </p:nvSpPr>
        <p:spPr>
          <a:xfrm>
            <a:off x="4381390" y="2857428"/>
            <a:ext cx="152396" cy="152396"/>
          </a:xfrm>
          <a:prstGeom prst="ellipse">
            <a:avLst/>
          </a:prstGeom>
          <a:solidFill>
            <a:srgbClr val="52BDEC"/>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maand3"/>
          <p:cNvSpPr txBox="1"/>
          <p:nvPr/>
        </p:nvSpPr>
        <p:spPr>
          <a:xfrm>
            <a:off x="3911502"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V2</a:t>
            </a:r>
          </a:p>
        </p:txBody>
      </p:sp>
      <p:sp>
        <p:nvSpPr>
          <p:cNvPr id="18" name="!!taak3"/>
          <p:cNvSpPr txBox="1"/>
          <p:nvPr/>
        </p:nvSpPr>
        <p:spPr>
          <a:xfrm>
            <a:off x="3975000"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zool + sensor</a:t>
            </a:r>
          </a:p>
        </p:txBody>
      </p:sp>
      <p:sp>
        <p:nvSpPr>
          <p:cNvPr id="19" name="!!stip4"/>
          <p:cNvSpPr/>
          <p:nvPr/>
        </p:nvSpPr>
        <p:spPr>
          <a:xfrm>
            <a:off x="5473563" y="2857428"/>
            <a:ext cx="152396" cy="152396"/>
          </a:xfrm>
          <a:prstGeom prst="ellipse">
            <a:avLst/>
          </a:prstGeom>
          <a:solidFill>
            <a:srgbClr val="1D8DB0"/>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maand4"/>
          <p:cNvSpPr txBox="1"/>
          <p:nvPr/>
        </p:nvSpPr>
        <p:spPr>
          <a:xfrm>
            <a:off x="5003674"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M3</a:t>
            </a:r>
          </a:p>
        </p:txBody>
      </p:sp>
      <p:sp>
        <p:nvSpPr>
          <p:cNvPr id="21" name="!!taak4"/>
          <p:cNvSpPr txBox="1"/>
          <p:nvPr/>
        </p:nvSpPr>
        <p:spPr>
          <a:xfrm>
            <a:off x="5067173"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opvolging</a:t>
            </a:r>
          </a:p>
        </p:txBody>
      </p:sp>
      <p:sp>
        <p:nvSpPr>
          <p:cNvPr id="22" name="!!stip5"/>
          <p:cNvSpPr/>
          <p:nvPr/>
        </p:nvSpPr>
        <p:spPr>
          <a:xfrm>
            <a:off x="6565735" y="2857428"/>
            <a:ext cx="152396" cy="152396"/>
          </a:xfrm>
          <a:prstGeom prst="ellipse">
            <a:avLst/>
          </a:prstGeom>
          <a:solidFill>
            <a:srgbClr val="52BDEC"/>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maand5"/>
          <p:cNvSpPr txBox="1"/>
          <p:nvPr/>
        </p:nvSpPr>
        <p:spPr>
          <a:xfrm>
            <a:off x="6095847"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M6</a:t>
            </a:r>
          </a:p>
        </p:txBody>
      </p:sp>
      <p:sp>
        <p:nvSpPr>
          <p:cNvPr id="24" name="!!taak5"/>
          <p:cNvSpPr txBox="1"/>
          <p:nvPr/>
        </p:nvSpPr>
        <p:spPr>
          <a:xfrm>
            <a:off x="6159346"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meting</a:t>
            </a:r>
          </a:p>
        </p:txBody>
      </p:sp>
      <p:sp>
        <p:nvSpPr>
          <p:cNvPr id="25" name="!!stip6"/>
          <p:cNvSpPr/>
          <p:nvPr/>
        </p:nvSpPr>
        <p:spPr>
          <a:xfrm>
            <a:off x="7657908" y="2857428"/>
            <a:ext cx="152396" cy="152396"/>
          </a:xfrm>
          <a:prstGeom prst="ellipse">
            <a:avLst/>
          </a:prstGeom>
          <a:solidFill>
            <a:srgbClr val="1D8DB0"/>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maand6"/>
          <p:cNvSpPr txBox="1"/>
          <p:nvPr/>
        </p:nvSpPr>
        <p:spPr>
          <a:xfrm>
            <a:off x="7188020"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M9</a:t>
            </a:r>
          </a:p>
        </p:txBody>
      </p:sp>
      <p:sp>
        <p:nvSpPr>
          <p:cNvPr id="27" name="!!taak6"/>
          <p:cNvSpPr txBox="1"/>
          <p:nvPr/>
        </p:nvSpPr>
        <p:spPr>
          <a:xfrm>
            <a:off x="7251518"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opvolging</a:t>
            </a:r>
          </a:p>
        </p:txBody>
      </p:sp>
      <p:sp>
        <p:nvSpPr>
          <p:cNvPr id="28" name="!!stip7"/>
          <p:cNvSpPr/>
          <p:nvPr/>
        </p:nvSpPr>
        <p:spPr>
          <a:xfrm>
            <a:off x="8750081" y="2857428"/>
            <a:ext cx="152396" cy="152396"/>
          </a:xfrm>
          <a:prstGeom prst="ellipse">
            <a:avLst/>
          </a:prstGeom>
          <a:solidFill>
            <a:srgbClr val="52BDEC"/>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maand7"/>
          <p:cNvSpPr txBox="1"/>
          <p:nvPr/>
        </p:nvSpPr>
        <p:spPr>
          <a:xfrm>
            <a:off x="8280192"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M12</a:t>
            </a:r>
          </a:p>
        </p:txBody>
      </p:sp>
      <p:sp>
        <p:nvSpPr>
          <p:cNvPr id="30" name="!!taak7"/>
          <p:cNvSpPr txBox="1"/>
          <p:nvPr/>
        </p:nvSpPr>
        <p:spPr>
          <a:xfrm>
            <a:off x="8343691"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meting</a:t>
            </a:r>
          </a:p>
        </p:txBody>
      </p:sp>
      <p:sp>
        <p:nvSpPr>
          <p:cNvPr id="31" name="!!stip8"/>
          <p:cNvSpPr/>
          <p:nvPr/>
        </p:nvSpPr>
        <p:spPr>
          <a:xfrm>
            <a:off x="9842253" y="2857428"/>
            <a:ext cx="152396" cy="152396"/>
          </a:xfrm>
          <a:prstGeom prst="ellipse">
            <a:avLst/>
          </a:prstGeom>
          <a:solidFill>
            <a:srgbClr val="1D8DB0"/>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maand8"/>
          <p:cNvSpPr txBox="1"/>
          <p:nvPr/>
        </p:nvSpPr>
        <p:spPr>
          <a:xfrm>
            <a:off x="9372365"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M15</a:t>
            </a:r>
          </a:p>
        </p:txBody>
      </p:sp>
      <p:sp>
        <p:nvSpPr>
          <p:cNvPr id="33" name="!!taak8"/>
          <p:cNvSpPr txBox="1"/>
          <p:nvPr/>
        </p:nvSpPr>
        <p:spPr>
          <a:xfrm>
            <a:off x="9435864"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opvolging</a:t>
            </a:r>
          </a:p>
        </p:txBody>
      </p:sp>
      <p:sp>
        <p:nvSpPr>
          <p:cNvPr id="34" name="!!stip9"/>
          <p:cNvSpPr/>
          <p:nvPr/>
        </p:nvSpPr>
        <p:spPr>
          <a:xfrm>
            <a:off x="10915377" y="2838379"/>
            <a:ext cx="190495" cy="190495"/>
          </a:xfrm>
          <a:prstGeom prst="ellipse">
            <a:avLst/>
          </a:prstGeom>
          <a:solidFill>
            <a:srgbClr val="FF7A00"/>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maand9"/>
          <p:cNvSpPr txBox="1"/>
          <p:nvPr/>
        </p:nvSpPr>
        <p:spPr>
          <a:xfrm>
            <a:off x="10464538"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M18</a:t>
            </a:r>
          </a:p>
        </p:txBody>
      </p:sp>
      <p:sp>
        <p:nvSpPr>
          <p:cNvPr id="36" name="!!taak9"/>
          <p:cNvSpPr txBox="1"/>
          <p:nvPr/>
        </p:nvSpPr>
        <p:spPr>
          <a:xfrm>
            <a:off x="10528036"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meting + einde</a:t>
            </a:r>
          </a:p>
        </p:txBody>
      </p:sp>
      <p:sp>
        <p:nvSpPr>
          <p:cNvPr id="37" name="Oval 36"/>
          <p:cNvSpPr/>
          <p:nvPr/>
        </p:nvSpPr>
        <p:spPr>
          <a:xfrm>
            <a:off x="660383" y="4013099"/>
            <a:ext cx="114297" cy="114297"/>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0878" y="3975000"/>
            <a:ext cx="2285942" cy="215894"/>
          </a:xfrm>
          <a:prstGeom prst="rect">
            <a:avLst/>
          </a:prstGeom>
          <a:noFill/>
        </p:spPr>
        <p:txBody>
          <a:bodyPr wrap="square" anchor="t" lIns="0" rIns="0" tIns="0" bIns="0">
            <a:spAutoFit/>
          </a:bodyPr>
          <a:lstStyle/>
          <a:p>
            <a:pPr algn="l">
              <a:lnSpc>
                <a:spcPct val="125000"/>
              </a:lnSpc>
            </a:pPr>
            <a:r>
              <a:rPr sz="1300" b="0">
                <a:solidFill>
                  <a:srgbClr val="8FB6D0"/>
                </a:solidFill>
                <a:latin typeface="Consolas"/>
              </a:rPr>
              <a:t>meetmoment</a:t>
            </a:r>
          </a:p>
        </p:txBody>
      </p:sp>
      <p:sp>
        <p:nvSpPr>
          <p:cNvPr id="39" name="Oval 38"/>
          <p:cNvSpPr/>
          <p:nvPr/>
        </p:nvSpPr>
        <p:spPr>
          <a:xfrm>
            <a:off x="3200319" y="4013099"/>
            <a:ext cx="114297" cy="114297"/>
          </a:xfrm>
          <a:prstGeom prst="ellipse">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390815" y="3975000"/>
            <a:ext cx="2285942" cy="215894"/>
          </a:xfrm>
          <a:prstGeom prst="rect">
            <a:avLst/>
          </a:prstGeom>
          <a:noFill/>
        </p:spPr>
        <p:txBody>
          <a:bodyPr wrap="square" anchor="t" lIns="0" rIns="0" tIns="0" bIns="0">
            <a:spAutoFit/>
          </a:bodyPr>
          <a:lstStyle/>
          <a:p>
            <a:pPr algn="l">
              <a:lnSpc>
                <a:spcPct val="125000"/>
              </a:lnSpc>
            </a:pPr>
            <a:r>
              <a:rPr sz="1300" b="0">
                <a:solidFill>
                  <a:srgbClr val="8FB6D0"/>
                </a:solidFill>
                <a:latin typeface="Consolas"/>
              </a:rPr>
              <a:t>begeleiding</a:t>
            </a:r>
          </a:p>
        </p:txBody>
      </p:sp>
      <p:sp>
        <p:nvSpPr>
          <p:cNvPr id="41" name="Oval 40"/>
          <p:cNvSpPr/>
          <p:nvPr/>
        </p:nvSpPr>
        <p:spPr>
          <a:xfrm>
            <a:off x="5740256" y="4013099"/>
            <a:ext cx="114297" cy="114297"/>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930751" y="3975000"/>
            <a:ext cx="2285942" cy="215894"/>
          </a:xfrm>
          <a:prstGeom prst="rect">
            <a:avLst/>
          </a:prstGeom>
          <a:noFill/>
        </p:spPr>
        <p:txBody>
          <a:bodyPr wrap="square" anchor="t" lIns="0" rIns="0" tIns="0" bIns="0">
            <a:spAutoFit/>
          </a:bodyPr>
          <a:lstStyle/>
          <a:p>
            <a:pPr algn="l">
              <a:lnSpc>
                <a:spcPct val="125000"/>
              </a:lnSpc>
            </a:pPr>
            <a:r>
              <a:rPr sz="1300" b="0">
                <a:solidFill>
                  <a:srgbClr val="8FB6D0"/>
                </a:solidFill>
                <a:latin typeface="Consolas"/>
              </a:rPr>
              <a:t>start en afronding</a:t>
            </a:r>
          </a:p>
        </p:txBody>
      </p:sp>
      <p:sp>
        <p:nvSpPr>
          <p:cNvPr id="43" name="!!camera"/>
          <p:cNvSpPr txBox="1"/>
          <p:nvPr/>
        </p:nvSpPr>
        <p:spPr>
          <a:xfrm>
            <a:off x="634984" y="4711582"/>
            <a:ext cx="2031949" cy="1460463"/>
          </a:xfrm>
          <a:prstGeom prst="rect">
            <a:avLst/>
          </a:prstGeom>
          <a:noFill/>
        </p:spPr>
        <p:txBody>
          <a:bodyPr wrap="none" anchor="t" lIns="0" rIns="0" tIns="0" bIns="0">
            <a:spAutoFit/>
          </a:bodyPr>
          <a:lstStyle/>
          <a:p>
            <a:pPr algn="l">
              <a:lnSpc>
                <a:spcPct val="100000"/>
              </a:lnSpc>
            </a:pPr>
            <a:r>
              <a:rPr sz="9600" b="1">
                <a:solidFill>
                  <a:srgbClr val="52BDEC"/>
                </a:solidFill>
                <a:latin typeface="Segoe UI"/>
              </a:rPr>
              <a:t>18</a:t>
            </a:r>
          </a:p>
        </p:txBody>
      </p:sp>
      <p:sp>
        <p:nvSpPr>
          <p:cNvPr id="44" name="TextBox 43"/>
          <p:cNvSpPr txBox="1"/>
          <p:nvPr/>
        </p:nvSpPr>
        <p:spPr>
          <a:xfrm>
            <a:off x="2539936" y="4813179"/>
            <a:ext cx="8889777" cy="419089"/>
          </a:xfrm>
          <a:prstGeom prst="rect">
            <a:avLst/>
          </a:prstGeom>
          <a:noFill/>
        </p:spPr>
        <p:txBody>
          <a:bodyPr wrap="square" anchor="t" lIns="0" rIns="0" tIns="0" bIns="0">
            <a:spAutoFit/>
          </a:bodyPr>
          <a:lstStyle/>
          <a:p>
            <a:pPr algn="l">
              <a:lnSpc>
                <a:spcPct val="125000"/>
              </a:lnSpc>
            </a:pPr>
            <a:r>
              <a:rPr sz="3000" b="1">
                <a:solidFill>
                  <a:srgbClr val="F2F8FC"/>
                </a:solidFill>
                <a:latin typeface="Segoe UI"/>
              </a:rPr>
              <a:t>maanden, van screening tot afronding</a:t>
            </a:r>
          </a:p>
        </p:txBody>
      </p:sp>
      <p:sp>
        <p:nvSpPr>
          <p:cNvPr id="45" name="TextBox 44"/>
          <p:cNvSpPr txBox="1"/>
          <p:nvPr/>
        </p:nvSpPr>
        <p:spPr>
          <a:xfrm>
            <a:off x="2552636" y="5283067"/>
            <a:ext cx="8889777" cy="952476"/>
          </a:xfrm>
          <a:prstGeom prst="rect">
            <a:avLst/>
          </a:prstGeom>
          <a:noFill/>
        </p:spPr>
        <p:txBody>
          <a:bodyPr wrap="square" anchor="t" lIns="0" rIns="0" tIns="0" bIns="0">
            <a:spAutoFit/>
          </a:bodyPr>
          <a:lstStyle/>
          <a:p>
            <a:pPr algn="l">
              <a:lnSpc>
                <a:spcPct val="140000"/>
              </a:lnSpc>
            </a:pPr>
            <a:r>
              <a:rPr sz="1800" b="0">
                <a:solidFill>
                  <a:srgbClr val="8FB6D0"/>
                </a:solidFill>
                <a:latin typeface="Segoe UI"/>
              </a:rPr>
              <a:t>Visite 0 tot 2 liggen dicht op elkaar: toestemming, baseline, en de zool binnen de maand. Daarna is het ritme elke drie maanden, hetzelfde ritme als de controle die deze patiënten al krijgen.</a:t>
            </a:r>
          </a:p>
        </p:txBody>
      </p:sp>
      <p:sp>
        <p:nvSpPr>
          <p:cNvPr id="46" name="TextBox 45"/>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13 / 28</a:t>
            </a:r>
          </a:p>
        </p:txBody>
      </p:sp>
      <p:pic>
        <p:nvPicPr>
          <p:cNvPr id="47" name="merk" descr="merk.png"/>
          <p:cNvPicPr>
            <a:picLocks noChangeAspect="1"/>
          </p:cNvPicPr>
          <p:nvPr/>
        </p:nvPicPr>
        <p:blipFill>
          <a:blip r:embed="rId2"/>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SCREENING EN VISITE 0</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Geschiktheid, toestemming, loting</a:t>
            </a:r>
          </a:p>
        </p:txBody>
      </p:sp>
      <p:sp>
        <p:nvSpPr>
          <p:cNvPr id="5" name="Rounded Rectangle 4"/>
          <p:cNvSpPr/>
          <p:nvPr/>
        </p:nvSpPr>
        <p:spPr>
          <a:xfrm>
            <a:off x="634984" y="1498562"/>
            <a:ext cx="3555911" cy="279393"/>
          </a:xfrm>
          <a:prstGeom prst="roundRect">
            <a:avLst>
              <a:gd name="adj" fmla="val 4500"/>
            </a:avLst>
          </a:prstGeom>
          <a:solidFill>
            <a:srgbClr val="174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4984" y="1568410"/>
            <a:ext cx="3555911" cy="203194"/>
          </a:xfrm>
          <a:prstGeom prst="rect">
            <a:avLst/>
          </a:prstGeom>
          <a:noFill/>
        </p:spPr>
        <p:txBody>
          <a:bodyPr wrap="square" anchor="t" lIns="0" rIns="0" tIns="0" bIns="0">
            <a:spAutoFit/>
          </a:bodyPr>
          <a:lstStyle/>
          <a:p>
            <a:pPr algn="ctr">
              <a:lnSpc>
                <a:spcPct val="125000"/>
              </a:lnSpc>
            </a:pPr>
            <a:r>
              <a:rPr sz="1300" b="1">
                <a:solidFill>
                  <a:srgbClr val="52BDEC"/>
                </a:solidFill>
                <a:latin typeface="Consolas"/>
              </a:rPr>
              <a:t>Kort · in het gewone consult</a:t>
            </a:r>
          </a:p>
        </p:txBody>
      </p:sp>
      <p:sp>
        <p:nvSpPr>
          <p:cNvPr id="7" name="Oval 6"/>
          <p:cNvSpPr/>
          <p:nvPr/>
        </p:nvSpPr>
        <p:spPr>
          <a:xfrm>
            <a:off x="634984" y="2044648"/>
            <a:ext cx="190495" cy="190495"/>
          </a:xfrm>
          <a:prstGeom prst="ellipse">
            <a:avLst/>
          </a:prstGeom>
          <a:solidFill>
            <a:srgbClr val="113A57"/>
          </a:solidFill>
          <a:ln w="12700">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4984" y="2044648"/>
            <a:ext cx="190495" cy="190495"/>
          </a:xfrm>
          <a:prstGeom prst="rect">
            <a:avLst/>
          </a:prstGeom>
          <a:noFill/>
        </p:spPr>
        <p:txBody>
          <a:bodyPr wrap="square" anchor="ctr" lIns="0" rIns="0" tIns="0" bIns="0">
            <a:spAutoFit/>
          </a:bodyPr>
          <a:lstStyle/>
          <a:p>
            <a:pPr algn="ctr">
              <a:lnSpc>
                <a:spcPct val="100000"/>
              </a:lnSpc>
            </a:pPr>
            <a:r>
              <a:rPr sz="1250" b="1">
                <a:solidFill>
                  <a:srgbClr val="52BDEC"/>
                </a:solidFill>
                <a:latin typeface="Consolas"/>
              </a:rPr>
              <a:t>1</a:t>
            </a:r>
          </a:p>
        </p:txBody>
      </p:sp>
      <p:sp>
        <p:nvSpPr>
          <p:cNvPr id="9" name="TextBox 8"/>
          <p:cNvSpPr txBox="1"/>
          <p:nvPr/>
        </p:nvSpPr>
        <p:spPr>
          <a:xfrm>
            <a:off x="927076" y="2031949"/>
            <a:ext cx="6476838" cy="486143"/>
          </a:xfrm>
          <a:prstGeom prst="rect">
            <a:avLst/>
          </a:prstGeom>
          <a:noFill/>
        </p:spPr>
        <p:txBody>
          <a:bodyPr wrap="square" anchor="t" lIns="0" rIns="0" tIns="0" bIns="0">
            <a:spAutoFit/>
          </a:bodyPr>
          <a:lstStyle/>
          <a:p>
            <a:pPr algn="l">
              <a:lnSpc>
                <a:spcPct val="128000"/>
              </a:lnSpc>
            </a:pPr>
            <a:r>
              <a:rPr sz="1300" b="0">
                <a:solidFill>
                  <a:srgbClr val="F2F8FC"/>
                </a:solidFill>
                <a:latin typeface="Segoe UI"/>
              </a:rPr>
              <a:t>Screening vóór de toestemming: beoordeel de in- en exclusiecriteria en noteer de patiënt op de identificatielijst.</a:t>
            </a:r>
          </a:p>
        </p:txBody>
      </p:sp>
      <p:sp>
        <p:nvSpPr>
          <p:cNvPr id="10" name="Oval 9"/>
          <p:cNvSpPr/>
          <p:nvPr/>
        </p:nvSpPr>
        <p:spPr>
          <a:xfrm>
            <a:off x="634984" y="2606990"/>
            <a:ext cx="190495" cy="190495"/>
          </a:xfrm>
          <a:prstGeom prst="ellipse">
            <a:avLst/>
          </a:prstGeom>
          <a:solidFill>
            <a:srgbClr val="113A57"/>
          </a:solidFill>
          <a:ln w="12700">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4984" y="2606990"/>
            <a:ext cx="190495" cy="190495"/>
          </a:xfrm>
          <a:prstGeom prst="rect">
            <a:avLst/>
          </a:prstGeom>
          <a:noFill/>
        </p:spPr>
        <p:txBody>
          <a:bodyPr wrap="square" anchor="ctr" lIns="0" rIns="0" tIns="0" bIns="0">
            <a:spAutoFit/>
          </a:bodyPr>
          <a:lstStyle/>
          <a:p>
            <a:pPr algn="ctr">
              <a:lnSpc>
                <a:spcPct val="100000"/>
              </a:lnSpc>
            </a:pPr>
            <a:r>
              <a:rPr sz="1250" b="1">
                <a:solidFill>
                  <a:srgbClr val="52BDEC"/>
                </a:solidFill>
                <a:latin typeface="Consolas"/>
              </a:rPr>
              <a:t>2</a:t>
            </a:r>
          </a:p>
        </p:txBody>
      </p:sp>
      <p:sp>
        <p:nvSpPr>
          <p:cNvPr id="12" name="TextBox 11"/>
          <p:cNvSpPr txBox="1"/>
          <p:nvPr/>
        </p:nvSpPr>
        <p:spPr>
          <a:xfrm>
            <a:off x="927076" y="2594291"/>
            <a:ext cx="6476838" cy="486143"/>
          </a:xfrm>
          <a:prstGeom prst="rect">
            <a:avLst/>
          </a:prstGeom>
          <a:noFill/>
        </p:spPr>
        <p:txBody>
          <a:bodyPr wrap="square" anchor="t" lIns="0" rIns="0" tIns="0" bIns="0">
            <a:spAutoFit/>
          </a:bodyPr>
          <a:lstStyle/>
          <a:p>
            <a:pPr algn="l">
              <a:lnSpc>
                <a:spcPct val="128000"/>
              </a:lnSpc>
            </a:pPr>
            <a:r>
              <a:rPr sz="1300" b="0">
                <a:solidFill>
                  <a:srgbClr val="F2F8FC"/>
                </a:solidFill>
                <a:latin typeface="Segoe UI"/>
              </a:rPr>
              <a:t>Is de patiënt geschikt, overloop dan de informatie- en toestemmingsformulieren en laat tekenen.</a:t>
            </a:r>
          </a:p>
        </p:txBody>
      </p:sp>
      <p:sp>
        <p:nvSpPr>
          <p:cNvPr id="13" name="Oval 12"/>
          <p:cNvSpPr/>
          <p:nvPr/>
        </p:nvSpPr>
        <p:spPr>
          <a:xfrm>
            <a:off x="634984" y="3169332"/>
            <a:ext cx="190495" cy="190495"/>
          </a:xfrm>
          <a:prstGeom prst="ellipse">
            <a:avLst/>
          </a:prstGeom>
          <a:solidFill>
            <a:srgbClr val="113A57"/>
          </a:solidFill>
          <a:ln w="12700">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984" y="3169332"/>
            <a:ext cx="190495" cy="190495"/>
          </a:xfrm>
          <a:prstGeom prst="rect">
            <a:avLst/>
          </a:prstGeom>
          <a:noFill/>
        </p:spPr>
        <p:txBody>
          <a:bodyPr wrap="square" anchor="ctr" lIns="0" rIns="0" tIns="0" bIns="0">
            <a:spAutoFit/>
          </a:bodyPr>
          <a:lstStyle/>
          <a:p>
            <a:pPr algn="ctr">
              <a:lnSpc>
                <a:spcPct val="100000"/>
              </a:lnSpc>
            </a:pPr>
            <a:r>
              <a:rPr sz="1250" b="1">
                <a:solidFill>
                  <a:srgbClr val="52BDEC"/>
                </a:solidFill>
                <a:latin typeface="Consolas"/>
              </a:rPr>
              <a:t>3</a:t>
            </a:r>
          </a:p>
        </p:txBody>
      </p:sp>
      <p:sp>
        <p:nvSpPr>
          <p:cNvPr id="15" name="TextBox 14"/>
          <p:cNvSpPr txBox="1"/>
          <p:nvPr/>
        </p:nvSpPr>
        <p:spPr>
          <a:xfrm>
            <a:off x="927076" y="3156633"/>
            <a:ext cx="6476838" cy="274821"/>
          </a:xfrm>
          <a:prstGeom prst="rect">
            <a:avLst/>
          </a:prstGeom>
          <a:noFill/>
        </p:spPr>
        <p:txBody>
          <a:bodyPr wrap="square" anchor="t" lIns="0" rIns="0" tIns="0" bIns="0">
            <a:spAutoFit/>
          </a:bodyPr>
          <a:lstStyle/>
          <a:p>
            <a:pPr algn="l">
              <a:lnSpc>
                <a:spcPct val="128000"/>
              </a:lnSpc>
            </a:pPr>
            <a:r>
              <a:rPr sz="1300" b="0">
                <a:solidFill>
                  <a:srgbClr val="F2F8FC"/>
                </a:solidFill>
                <a:latin typeface="Segoe UI"/>
              </a:rPr>
              <a:t>Visite 0: bevestig de geschiktheid met het baselineformulier.</a:t>
            </a:r>
          </a:p>
        </p:txBody>
      </p:sp>
      <p:sp>
        <p:nvSpPr>
          <p:cNvPr id="16" name="Oval 15"/>
          <p:cNvSpPr/>
          <p:nvPr/>
        </p:nvSpPr>
        <p:spPr>
          <a:xfrm>
            <a:off x="634984" y="3520351"/>
            <a:ext cx="190495" cy="190495"/>
          </a:xfrm>
          <a:prstGeom prst="ellipse">
            <a:avLst/>
          </a:prstGeom>
          <a:solidFill>
            <a:srgbClr val="113A57"/>
          </a:solidFill>
          <a:ln w="12700">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4984" y="3520351"/>
            <a:ext cx="190495" cy="190495"/>
          </a:xfrm>
          <a:prstGeom prst="rect">
            <a:avLst/>
          </a:prstGeom>
          <a:noFill/>
        </p:spPr>
        <p:txBody>
          <a:bodyPr wrap="square" anchor="ctr" lIns="0" rIns="0" tIns="0" bIns="0">
            <a:spAutoFit/>
          </a:bodyPr>
          <a:lstStyle/>
          <a:p>
            <a:pPr algn="ctr">
              <a:lnSpc>
                <a:spcPct val="100000"/>
              </a:lnSpc>
            </a:pPr>
            <a:r>
              <a:rPr sz="1250" b="1">
                <a:solidFill>
                  <a:srgbClr val="52BDEC"/>
                </a:solidFill>
                <a:latin typeface="Consolas"/>
              </a:rPr>
              <a:t>4</a:t>
            </a:r>
          </a:p>
        </p:txBody>
      </p:sp>
      <p:sp>
        <p:nvSpPr>
          <p:cNvPr id="18" name="TextBox 17"/>
          <p:cNvSpPr txBox="1"/>
          <p:nvPr/>
        </p:nvSpPr>
        <p:spPr>
          <a:xfrm>
            <a:off x="927076" y="3507652"/>
            <a:ext cx="6476838" cy="486143"/>
          </a:xfrm>
          <a:prstGeom prst="rect">
            <a:avLst/>
          </a:prstGeom>
          <a:noFill/>
        </p:spPr>
        <p:txBody>
          <a:bodyPr wrap="square" anchor="t" lIns="0" rIns="0" tIns="0" bIns="0">
            <a:spAutoFit/>
          </a:bodyPr>
          <a:lstStyle/>
          <a:p>
            <a:pPr algn="l">
              <a:lnSpc>
                <a:spcPct val="128000"/>
              </a:lnSpc>
            </a:pPr>
            <a:r>
              <a:rPr sz="1300" b="0">
                <a:solidFill>
                  <a:srgbClr val="F2F8FC"/>
                </a:solidFill>
                <a:latin typeface="Segoe UI"/>
              </a:rPr>
              <a:t>De PI opent de volgende verzegelde envelop en deelt de patiënt in. Pas dan is bekend in welke arm hij zit.</a:t>
            </a:r>
          </a:p>
        </p:txBody>
      </p:sp>
      <p:sp>
        <p:nvSpPr>
          <p:cNvPr id="19" name="Oval 18"/>
          <p:cNvSpPr/>
          <p:nvPr/>
        </p:nvSpPr>
        <p:spPr>
          <a:xfrm>
            <a:off x="634984" y="4082693"/>
            <a:ext cx="190495" cy="190495"/>
          </a:xfrm>
          <a:prstGeom prst="ellipse">
            <a:avLst/>
          </a:prstGeom>
          <a:solidFill>
            <a:srgbClr val="113A57"/>
          </a:solidFill>
          <a:ln w="12700">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4984" y="4082693"/>
            <a:ext cx="190495" cy="190495"/>
          </a:xfrm>
          <a:prstGeom prst="rect">
            <a:avLst/>
          </a:prstGeom>
          <a:noFill/>
        </p:spPr>
        <p:txBody>
          <a:bodyPr wrap="square" anchor="ctr" lIns="0" rIns="0" tIns="0" bIns="0">
            <a:spAutoFit/>
          </a:bodyPr>
          <a:lstStyle/>
          <a:p>
            <a:pPr algn="ctr">
              <a:lnSpc>
                <a:spcPct val="100000"/>
              </a:lnSpc>
            </a:pPr>
            <a:r>
              <a:rPr sz="1250" b="1">
                <a:solidFill>
                  <a:srgbClr val="52BDEC"/>
                </a:solidFill>
                <a:latin typeface="Consolas"/>
              </a:rPr>
              <a:t>5</a:t>
            </a:r>
          </a:p>
        </p:txBody>
      </p:sp>
      <p:sp>
        <p:nvSpPr>
          <p:cNvPr id="21" name="TextBox 20"/>
          <p:cNvSpPr txBox="1"/>
          <p:nvPr/>
        </p:nvSpPr>
        <p:spPr>
          <a:xfrm>
            <a:off x="927076" y="4069994"/>
            <a:ext cx="6476838" cy="274821"/>
          </a:xfrm>
          <a:prstGeom prst="rect">
            <a:avLst/>
          </a:prstGeom>
          <a:noFill/>
        </p:spPr>
        <p:txBody>
          <a:bodyPr wrap="square" anchor="t" lIns="0" rIns="0" tIns="0" bIns="0">
            <a:spAutoFit/>
          </a:bodyPr>
          <a:lstStyle/>
          <a:p>
            <a:pPr algn="l">
              <a:lnSpc>
                <a:spcPct val="128000"/>
              </a:lnSpc>
            </a:pPr>
            <a:r>
              <a:rPr sz="1300" b="0">
                <a:solidFill>
                  <a:srgbClr val="F2F8FC"/>
                </a:solidFill>
                <a:latin typeface="Segoe UI"/>
              </a:rPr>
              <a:t>Niet geschikt? Noteer de reden. Ook dat is studiedata.</a:t>
            </a:r>
          </a:p>
        </p:txBody>
      </p:sp>
      <p:sp>
        <p:nvSpPr>
          <p:cNvPr id="22" name="TextBox 21"/>
          <p:cNvSpPr txBox="1"/>
          <p:nvPr/>
        </p:nvSpPr>
        <p:spPr>
          <a:xfrm>
            <a:off x="7746806" y="2044648"/>
            <a:ext cx="3809904" cy="215894"/>
          </a:xfrm>
          <a:prstGeom prst="rect">
            <a:avLst/>
          </a:prstGeom>
          <a:noFill/>
        </p:spPr>
        <p:txBody>
          <a:bodyPr wrap="square" anchor="t" lIns="0" rIns="0" tIns="0" bIns="0">
            <a:spAutoFit/>
          </a:bodyPr>
          <a:lstStyle/>
          <a:p>
            <a:pPr algn="l">
              <a:lnSpc>
                <a:spcPct val="125000"/>
              </a:lnSpc>
            </a:pPr>
            <a:r>
              <a:rPr sz="1200" b="1" spc="150">
                <a:solidFill>
                  <a:srgbClr val="8FB6D0"/>
                </a:solidFill>
                <a:latin typeface="Consolas"/>
              </a:rPr>
              <a:t>WAT U INVULT</a:t>
            </a:r>
          </a:p>
        </p:txBody>
      </p:sp>
      <p:sp>
        <p:nvSpPr>
          <p:cNvPr id="23" name="TextBox 22"/>
          <p:cNvSpPr txBox="1"/>
          <p:nvPr/>
        </p:nvSpPr>
        <p:spPr>
          <a:xfrm>
            <a:off x="7746806" y="2324041"/>
            <a:ext cx="3809904" cy="761980"/>
          </a:xfrm>
          <a:prstGeom prst="rect">
            <a:avLst/>
          </a:prstGeom>
          <a:noFill/>
        </p:spPr>
        <p:txBody>
          <a:bodyPr wrap="square" anchor="t" lIns="0" rIns="0" tIns="0" bIns="0">
            <a:spAutoFit/>
          </a:bodyPr>
          <a:lstStyle/>
          <a:p>
            <a:pPr algn="l">
              <a:lnSpc>
                <a:spcPct val="140000"/>
              </a:lnSpc>
            </a:pPr>
            <a:r>
              <a:rPr sz="1900" b="1">
                <a:solidFill>
                  <a:srgbClr val="52BDEC"/>
                </a:solidFill>
                <a:latin typeface="Consolas"/>
              </a:rPr>
              <a:t>00   01   02   06</a:t>
            </a:r>
          </a:p>
        </p:txBody>
      </p:sp>
      <p:sp>
        <p:nvSpPr>
          <p:cNvPr id="24" name="Rounded Rectangle 23"/>
          <p:cNvSpPr/>
          <p:nvPr/>
        </p:nvSpPr>
        <p:spPr>
          <a:xfrm>
            <a:off x="7746806" y="3301917"/>
            <a:ext cx="3809904" cy="2019503"/>
          </a:xfrm>
          <a:prstGeom prst="roundRect">
            <a:avLst>
              <a:gd name="adj" fmla="val 4500"/>
            </a:avLst>
          </a:prstGeom>
          <a:solidFill>
            <a:srgbClr val="0A2A44"/>
          </a:solidFill>
          <a:ln w="9525">
            <a:solidFill>
              <a:srgbClr val="FF7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88100" y="3441613"/>
            <a:ext cx="3301917" cy="215894"/>
          </a:xfrm>
          <a:prstGeom prst="rect">
            <a:avLst/>
          </a:prstGeom>
          <a:noFill/>
        </p:spPr>
        <p:txBody>
          <a:bodyPr wrap="square" anchor="t" lIns="0" rIns="0" tIns="0" bIns="0">
            <a:spAutoFit/>
          </a:bodyPr>
          <a:lstStyle/>
          <a:p>
            <a:pPr algn="l">
              <a:lnSpc>
                <a:spcPct val="125000"/>
              </a:lnSpc>
            </a:pPr>
            <a:r>
              <a:rPr sz="1200" b="1" spc="150">
                <a:solidFill>
                  <a:srgbClr val="FF7A00"/>
                </a:solidFill>
                <a:latin typeface="Consolas"/>
              </a:rPr>
              <a:t>LET OP</a:t>
            </a:r>
          </a:p>
        </p:txBody>
      </p:sp>
      <p:sp>
        <p:nvSpPr>
          <p:cNvPr id="26" name="TextBox 25"/>
          <p:cNvSpPr txBox="1"/>
          <p:nvPr/>
        </p:nvSpPr>
        <p:spPr>
          <a:xfrm>
            <a:off x="7988100" y="3682907"/>
            <a:ext cx="3301917" cy="1536915"/>
          </a:xfrm>
          <a:prstGeom prst="rect">
            <a:avLst/>
          </a:prstGeom>
          <a:noFill/>
        </p:spPr>
        <p:txBody>
          <a:bodyPr wrap="square" anchor="t" lIns="0" rIns="0" tIns="0" bIns="0">
            <a:spAutoFit/>
          </a:bodyPr>
          <a:lstStyle/>
          <a:p>
            <a:pPr algn="l">
              <a:lnSpc>
                <a:spcPct val="130000"/>
              </a:lnSpc>
            </a:pPr>
            <a:r>
              <a:rPr sz="1400" b="0">
                <a:solidFill>
                  <a:srgbClr val="F2F8FC"/>
                </a:solidFill>
                <a:latin typeface="Segoe UI"/>
              </a:rPr>
              <a:t>De volgorde ligt vast: screenen, tekenen, geschiktheid bevestigen, dan pas loten. Vul geen enkel ander formulier in voordat de patiënt getekend heeft.</a:t>
            </a:r>
          </a:p>
        </p:txBody>
      </p:sp>
      <p:sp>
        <p:nvSpPr>
          <p:cNvPr id="27" name="TextBox 26"/>
          <p:cNvSpPr txBox="1"/>
          <p:nvPr/>
        </p:nvSpPr>
        <p:spPr>
          <a:xfrm>
            <a:off x="634984" y="6387940"/>
            <a:ext cx="9524761" cy="190495"/>
          </a:xfrm>
          <a:prstGeom prst="rect">
            <a:avLst/>
          </a:prstGeom>
          <a:noFill/>
        </p:spPr>
        <p:txBody>
          <a:bodyPr wrap="square" anchor="t" lIns="0" rIns="0" tIns="0" bIns="0">
            <a:spAutoFit/>
          </a:bodyPr>
          <a:lstStyle/>
          <a:p>
            <a:pPr algn="l">
              <a:lnSpc>
                <a:spcPct val="125000"/>
              </a:lnSpc>
            </a:pPr>
            <a:r>
              <a:rPr sz="1150" b="0">
                <a:solidFill>
                  <a:srgbClr val="8FB6D0"/>
                </a:solidFill>
                <a:latin typeface="Consolas"/>
              </a:rPr>
              <a:t>Arts bevestigt geschiktheid · PI loot · podoloog vult in</a:t>
            </a:r>
          </a:p>
        </p:txBody>
      </p:sp>
      <p:sp>
        <p:nvSpPr>
          <p:cNvPr id="28" name="TextBox 27"/>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14 / 28</a:t>
            </a:r>
          </a:p>
        </p:txBody>
      </p:sp>
      <p:pic>
        <p:nvPicPr>
          <p:cNvPr id="29" name="merk" descr="merk.png"/>
          <p:cNvPicPr>
            <a:picLocks noChangeAspect="1"/>
          </p:cNvPicPr>
          <p:nvPr/>
        </p:nvPicPr>
        <p:blipFill>
          <a:blip r:embed="rId2"/>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VISITE 1</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Baseline — meten en voorschrijven</a:t>
            </a:r>
          </a:p>
        </p:txBody>
      </p:sp>
      <p:sp>
        <p:nvSpPr>
          <p:cNvPr id="5" name="Rounded Rectangle 4"/>
          <p:cNvSpPr/>
          <p:nvPr/>
        </p:nvSpPr>
        <p:spPr>
          <a:xfrm>
            <a:off x="634984" y="1498562"/>
            <a:ext cx="3555911" cy="279393"/>
          </a:xfrm>
          <a:prstGeom prst="roundRect">
            <a:avLst>
              <a:gd name="adj" fmla="val 4500"/>
            </a:avLst>
          </a:prstGeom>
          <a:solidFill>
            <a:srgbClr val="174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4984" y="1568410"/>
            <a:ext cx="3555911" cy="203194"/>
          </a:xfrm>
          <a:prstGeom prst="rect">
            <a:avLst/>
          </a:prstGeom>
          <a:noFill/>
        </p:spPr>
        <p:txBody>
          <a:bodyPr wrap="square" anchor="t" lIns="0" rIns="0" tIns="0" bIns="0">
            <a:spAutoFit/>
          </a:bodyPr>
          <a:lstStyle/>
          <a:p>
            <a:pPr algn="ctr">
              <a:lnSpc>
                <a:spcPct val="125000"/>
              </a:lnSpc>
            </a:pPr>
            <a:r>
              <a:rPr sz="1300" b="1">
                <a:solidFill>
                  <a:srgbClr val="52BDEC"/>
                </a:solidFill>
                <a:latin typeface="Consolas"/>
              </a:rPr>
              <a:t>Het langste bezoek van de studie</a:t>
            </a:r>
          </a:p>
        </p:txBody>
      </p:sp>
      <p:sp>
        <p:nvSpPr>
          <p:cNvPr id="7" name="Oval 6"/>
          <p:cNvSpPr/>
          <p:nvPr/>
        </p:nvSpPr>
        <p:spPr>
          <a:xfrm>
            <a:off x="634984" y="2044648"/>
            <a:ext cx="190495" cy="190495"/>
          </a:xfrm>
          <a:prstGeom prst="ellipse">
            <a:avLst/>
          </a:prstGeom>
          <a:solidFill>
            <a:srgbClr val="113A57"/>
          </a:solidFill>
          <a:ln w="12700">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4984" y="2044648"/>
            <a:ext cx="190495" cy="190495"/>
          </a:xfrm>
          <a:prstGeom prst="rect">
            <a:avLst/>
          </a:prstGeom>
          <a:noFill/>
        </p:spPr>
        <p:txBody>
          <a:bodyPr wrap="square" anchor="ctr" lIns="0" rIns="0" tIns="0" bIns="0">
            <a:spAutoFit/>
          </a:bodyPr>
          <a:lstStyle/>
          <a:p>
            <a:pPr algn="ctr">
              <a:lnSpc>
                <a:spcPct val="100000"/>
              </a:lnSpc>
            </a:pPr>
            <a:r>
              <a:rPr sz="1250" b="1">
                <a:solidFill>
                  <a:srgbClr val="52BDEC"/>
                </a:solidFill>
                <a:latin typeface="Consolas"/>
              </a:rPr>
              <a:t>1</a:t>
            </a:r>
          </a:p>
        </p:txBody>
      </p:sp>
      <p:sp>
        <p:nvSpPr>
          <p:cNvPr id="9" name="TextBox 8"/>
          <p:cNvSpPr txBox="1"/>
          <p:nvPr/>
        </p:nvSpPr>
        <p:spPr>
          <a:xfrm>
            <a:off x="927076" y="2031949"/>
            <a:ext cx="6476838" cy="486143"/>
          </a:xfrm>
          <a:prstGeom prst="rect">
            <a:avLst/>
          </a:prstGeom>
          <a:noFill/>
        </p:spPr>
        <p:txBody>
          <a:bodyPr wrap="square" anchor="t" lIns="0" rIns="0" tIns="0" bIns="0">
            <a:spAutoFit/>
          </a:bodyPr>
          <a:lstStyle/>
          <a:p>
            <a:pPr algn="l">
              <a:lnSpc>
                <a:spcPct val="128000"/>
              </a:lnSpc>
            </a:pPr>
            <a:r>
              <a:rPr sz="1300" b="0">
                <a:solidFill>
                  <a:srgbClr val="F2F8FC"/>
                </a:solidFill>
                <a:latin typeface="Segoe UI"/>
              </a:rPr>
              <a:t>Demografie en voorgeschiedenis, inclusief nierfunctie, eGFR, hartaandoening en diabetesmedicatie.</a:t>
            </a:r>
          </a:p>
        </p:txBody>
      </p:sp>
      <p:sp>
        <p:nvSpPr>
          <p:cNvPr id="10" name="Oval 9"/>
          <p:cNvSpPr/>
          <p:nvPr/>
        </p:nvSpPr>
        <p:spPr>
          <a:xfrm>
            <a:off x="634984" y="2606990"/>
            <a:ext cx="190495" cy="190495"/>
          </a:xfrm>
          <a:prstGeom prst="ellipse">
            <a:avLst/>
          </a:prstGeom>
          <a:solidFill>
            <a:srgbClr val="113A57"/>
          </a:solidFill>
          <a:ln w="12700">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4984" y="2606990"/>
            <a:ext cx="190495" cy="190495"/>
          </a:xfrm>
          <a:prstGeom prst="rect">
            <a:avLst/>
          </a:prstGeom>
          <a:noFill/>
        </p:spPr>
        <p:txBody>
          <a:bodyPr wrap="square" anchor="ctr" lIns="0" rIns="0" tIns="0" bIns="0">
            <a:spAutoFit/>
          </a:bodyPr>
          <a:lstStyle/>
          <a:p>
            <a:pPr algn="ctr">
              <a:lnSpc>
                <a:spcPct val="100000"/>
              </a:lnSpc>
            </a:pPr>
            <a:r>
              <a:rPr sz="1250" b="1">
                <a:solidFill>
                  <a:srgbClr val="52BDEC"/>
                </a:solidFill>
                <a:latin typeface="Consolas"/>
              </a:rPr>
              <a:t>2</a:t>
            </a:r>
          </a:p>
        </p:txBody>
      </p:sp>
      <p:sp>
        <p:nvSpPr>
          <p:cNvPr id="12" name="TextBox 11"/>
          <p:cNvSpPr txBox="1"/>
          <p:nvPr/>
        </p:nvSpPr>
        <p:spPr>
          <a:xfrm>
            <a:off x="927076" y="2594291"/>
            <a:ext cx="6476838" cy="274821"/>
          </a:xfrm>
          <a:prstGeom prst="rect">
            <a:avLst/>
          </a:prstGeom>
          <a:noFill/>
        </p:spPr>
        <p:txBody>
          <a:bodyPr wrap="square" anchor="t" lIns="0" rIns="0" tIns="0" bIns="0">
            <a:spAutoFit/>
          </a:bodyPr>
          <a:lstStyle/>
          <a:p>
            <a:pPr algn="l">
              <a:lnSpc>
                <a:spcPct val="128000"/>
              </a:lnSpc>
            </a:pPr>
            <a:r>
              <a:rPr sz="1300" b="0">
                <a:solidFill>
                  <a:srgbClr val="F2F8FC"/>
                </a:solidFill>
                <a:latin typeface="Segoe UI"/>
              </a:rPr>
              <a:t>Voet- en schoeiselscreening, en klasseer een voorgaand ulcus.</a:t>
            </a:r>
          </a:p>
        </p:txBody>
      </p:sp>
      <p:sp>
        <p:nvSpPr>
          <p:cNvPr id="13" name="Oval 12"/>
          <p:cNvSpPr/>
          <p:nvPr/>
        </p:nvSpPr>
        <p:spPr>
          <a:xfrm>
            <a:off x="634984" y="2958010"/>
            <a:ext cx="190495" cy="190495"/>
          </a:xfrm>
          <a:prstGeom prst="ellipse">
            <a:avLst/>
          </a:prstGeom>
          <a:solidFill>
            <a:srgbClr val="113A57"/>
          </a:solidFill>
          <a:ln w="12700">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984" y="2958010"/>
            <a:ext cx="190495" cy="190495"/>
          </a:xfrm>
          <a:prstGeom prst="rect">
            <a:avLst/>
          </a:prstGeom>
          <a:noFill/>
        </p:spPr>
        <p:txBody>
          <a:bodyPr wrap="square" anchor="ctr" lIns="0" rIns="0" tIns="0" bIns="0">
            <a:spAutoFit/>
          </a:bodyPr>
          <a:lstStyle/>
          <a:p>
            <a:pPr algn="ctr">
              <a:lnSpc>
                <a:spcPct val="100000"/>
              </a:lnSpc>
            </a:pPr>
            <a:r>
              <a:rPr sz="1250" b="1">
                <a:solidFill>
                  <a:srgbClr val="52BDEC"/>
                </a:solidFill>
                <a:latin typeface="Consolas"/>
              </a:rPr>
              <a:t>3</a:t>
            </a:r>
          </a:p>
        </p:txBody>
      </p:sp>
      <p:sp>
        <p:nvSpPr>
          <p:cNvPr id="15" name="TextBox 14"/>
          <p:cNvSpPr txBox="1"/>
          <p:nvPr/>
        </p:nvSpPr>
        <p:spPr>
          <a:xfrm>
            <a:off x="927076" y="2945310"/>
            <a:ext cx="6476838" cy="274821"/>
          </a:xfrm>
          <a:prstGeom prst="rect">
            <a:avLst/>
          </a:prstGeom>
          <a:noFill/>
        </p:spPr>
        <p:txBody>
          <a:bodyPr wrap="square" anchor="t" lIns="0" rIns="0" tIns="0" bIns="0">
            <a:spAutoFit/>
          </a:bodyPr>
          <a:lstStyle/>
          <a:p>
            <a:pPr algn="l">
              <a:lnSpc>
                <a:spcPct val="128000"/>
              </a:lnSpc>
            </a:pPr>
            <a:r>
              <a:rPr sz="1300" b="0">
                <a:solidFill>
                  <a:srgbClr val="F2F8FC"/>
                </a:solidFill>
                <a:latin typeface="Segoe UI"/>
              </a:rPr>
              <a:t>Drukmeting: drie metingen per voet.</a:t>
            </a:r>
          </a:p>
        </p:txBody>
      </p:sp>
      <p:sp>
        <p:nvSpPr>
          <p:cNvPr id="16" name="Oval 15"/>
          <p:cNvSpPr/>
          <p:nvPr/>
        </p:nvSpPr>
        <p:spPr>
          <a:xfrm>
            <a:off x="634984" y="3309029"/>
            <a:ext cx="190495" cy="190495"/>
          </a:xfrm>
          <a:prstGeom prst="ellipse">
            <a:avLst/>
          </a:prstGeom>
          <a:solidFill>
            <a:srgbClr val="113A57"/>
          </a:solidFill>
          <a:ln w="12700">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4984" y="3309029"/>
            <a:ext cx="190495" cy="190495"/>
          </a:xfrm>
          <a:prstGeom prst="rect">
            <a:avLst/>
          </a:prstGeom>
          <a:noFill/>
        </p:spPr>
        <p:txBody>
          <a:bodyPr wrap="square" anchor="ctr" lIns="0" rIns="0" tIns="0" bIns="0">
            <a:spAutoFit/>
          </a:bodyPr>
          <a:lstStyle/>
          <a:p>
            <a:pPr algn="ctr">
              <a:lnSpc>
                <a:spcPct val="100000"/>
              </a:lnSpc>
            </a:pPr>
            <a:r>
              <a:rPr sz="1250" b="1">
                <a:solidFill>
                  <a:srgbClr val="52BDEC"/>
                </a:solidFill>
                <a:latin typeface="Consolas"/>
              </a:rPr>
              <a:t>4</a:t>
            </a:r>
          </a:p>
        </p:txBody>
      </p:sp>
      <p:sp>
        <p:nvSpPr>
          <p:cNvPr id="18" name="TextBox 17"/>
          <p:cNvSpPr txBox="1"/>
          <p:nvPr/>
        </p:nvSpPr>
        <p:spPr>
          <a:xfrm>
            <a:off x="927076" y="3296329"/>
            <a:ext cx="6476838" cy="486143"/>
          </a:xfrm>
          <a:prstGeom prst="rect">
            <a:avLst/>
          </a:prstGeom>
          <a:noFill/>
        </p:spPr>
        <p:txBody>
          <a:bodyPr wrap="square" anchor="t" lIns="0" rIns="0" tIns="0" bIns="0">
            <a:spAutoFit/>
          </a:bodyPr>
          <a:lstStyle/>
          <a:p>
            <a:pPr algn="l">
              <a:lnSpc>
                <a:spcPct val="128000"/>
              </a:lnSpc>
            </a:pPr>
            <a:r>
              <a:rPr sz="1300" b="0">
                <a:solidFill>
                  <a:srgbClr val="F2F8FC"/>
                </a:solidFill>
                <a:latin typeface="Segoe UI"/>
              </a:rPr>
              <a:t>Bepaal de drie doelregio's en schrijf de zool voor, mét die regio's op het voorschrift.</a:t>
            </a:r>
          </a:p>
        </p:txBody>
      </p:sp>
      <p:sp>
        <p:nvSpPr>
          <p:cNvPr id="19" name="Oval 18"/>
          <p:cNvSpPr/>
          <p:nvPr/>
        </p:nvSpPr>
        <p:spPr>
          <a:xfrm>
            <a:off x="634984" y="3871371"/>
            <a:ext cx="190495" cy="190495"/>
          </a:xfrm>
          <a:prstGeom prst="ellipse">
            <a:avLst/>
          </a:prstGeom>
          <a:solidFill>
            <a:srgbClr val="113A57"/>
          </a:solidFill>
          <a:ln w="12700">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4984" y="3871371"/>
            <a:ext cx="190495" cy="190495"/>
          </a:xfrm>
          <a:prstGeom prst="rect">
            <a:avLst/>
          </a:prstGeom>
          <a:noFill/>
        </p:spPr>
        <p:txBody>
          <a:bodyPr wrap="square" anchor="ctr" lIns="0" rIns="0" tIns="0" bIns="0">
            <a:spAutoFit/>
          </a:bodyPr>
          <a:lstStyle/>
          <a:p>
            <a:pPr algn="ctr">
              <a:lnSpc>
                <a:spcPct val="100000"/>
              </a:lnSpc>
            </a:pPr>
            <a:r>
              <a:rPr sz="1250" b="1">
                <a:solidFill>
                  <a:srgbClr val="52BDEC"/>
                </a:solidFill>
                <a:latin typeface="Consolas"/>
              </a:rPr>
              <a:t>5</a:t>
            </a:r>
          </a:p>
        </p:txBody>
      </p:sp>
      <p:sp>
        <p:nvSpPr>
          <p:cNvPr id="21" name="TextBox 20"/>
          <p:cNvSpPr txBox="1"/>
          <p:nvPr/>
        </p:nvSpPr>
        <p:spPr>
          <a:xfrm>
            <a:off x="927076" y="3858671"/>
            <a:ext cx="6476838" cy="486143"/>
          </a:xfrm>
          <a:prstGeom prst="rect">
            <a:avLst/>
          </a:prstGeom>
          <a:noFill/>
        </p:spPr>
        <p:txBody>
          <a:bodyPr wrap="square" anchor="t" lIns="0" rIns="0" tIns="0" bIns="0">
            <a:spAutoFit/>
          </a:bodyPr>
          <a:lstStyle/>
          <a:p>
            <a:pPr algn="l">
              <a:lnSpc>
                <a:spcPct val="128000"/>
              </a:lnSpc>
            </a:pPr>
            <a:r>
              <a:rPr sz="1300" b="0">
                <a:solidFill>
                  <a:srgbClr val="F2F8FC"/>
                </a:solidFill>
                <a:latin typeface="Segoe UI"/>
              </a:rPr>
              <a:t>Vragenlijsten vóór het educatiegesprek: NAFF en HLS-EU-6. Daarna tevredenheid, schoeiselgebruik en EQ-5D-5L.</a:t>
            </a:r>
          </a:p>
        </p:txBody>
      </p:sp>
      <p:sp>
        <p:nvSpPr>
          <p:cNvPr id="22" name="Oval 21"/>
          <p:cNvSpPr/>
          <p:nvPr/>
        </p:nvSpPr>
        <p:spPr>
          <a:xfrm>
            <a:off x="634984" y="4433713"/>
            <a:ext cx="190495" cy="190495"/>
          </a:xfrm>
          <a:prstGeom prst="ellipse">
            <a:avLst/>
          </a:prstGeom>
          <a:solidFill>
            <a:srgbClr val="113A57"/>
          </a:solidFill>
          <a:ln w="12700">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4984" y="4433713"/>
            <a:ext cx="190495" cy="190495"/>
          </a:xfrm>
          <a:prstGeom prst="rect">
            <a:avLst/>
          </a:prstGeom>
          <a:noFill/>
        </p:spPr>
        <p:txBody>
          <a:bodyPr wrap="square" anchor="ctr" lIns="0" rIns="0" tIns="0" bIns="0">
            <a:spAutoFit/>
          </a:bodyPr>
          <a:lstStyle/>
          <a:p>
            <a:pPr algn="ctr">
              <a:lnSpc>
                <a:spcPct val="100000"/>
              </a:lnSpc>
            </a:pPr>
            <a:r>
              <a:rPr sz="1250" b="1">
                <a:solidFill>
                  <a:srgbClr val="52BDEC"/>
                </a:solidFill>
                <a:latin typeface="Consolas"/>
              </a:rPr>
              <a:t>6</a:t>
            </a:r>
          </a:p>
        </p:txBody>
      </p:sp>
      <p:sp>
        <p:nvSpPr>
          <p:cNvPr id="24" name="TextBox 23"/>
          <p:cNvSpPr txBox="1"/>
          <p:nvPr/>
        </p:nvSpPr>
        <p:spPr>
          <a:xfrm>
            <a:off x="927076" y="4421013"/>
            <a:ext cx="6476838" cy="486143"/>
          </a:xfrm>
          <a:prstGeom prst="rect">
            <a:avLst/>
          </a:prstGeom>
          <a:noFill/>
        </p:spPr>
        <p:txBody>
          <a:bodyPr wrap="square" anchor="t" lIns="0" rIns="0" tIns="0" bIns="0">
            <a:spAutoFit/>
          </a:bodyPr>
          <a:lstStyle/>
          <a:p>
            <a:pPr algn="l">
              <a:lnSpc>
                <a:spcPct val="128000"/>
              </a:lnSpc>
            </a:pPr>
            <a:r>
              <a:rPr sz="1300" b="0">
                <a:solidFill>
                  <a:srgbClr val="F2F8FC"/>
                </a:solidFill>
                <a:latin typeface="Segoe UI"/>
              </a:rPr>
              <a:t>SEBIA stap 1: educatie op maat, voordoen, en de patiënt het zelf laten uitvoeren. Leg dat vast in het logboek.</a:t>
            </a:r>
          </a:p>
        </p:txBody>
      </p:sp>
      <p:sp>
        <p:nvSpPr>
          <p:cNvPr id="25" name="Oval 24"/>
          <p:cNvSpPr/>
          <p:nvPr/>
        </p:nvSpPr>
        <p:spPr>
          <a:xfrm>
            <a:off x="634984" y="4996055"/>
            <a:ext cx="190495" cy="190495"/>
          </a:xfrm>
          <a:prstGeom prst="ellipse">
            <a:avLst/>
          </a:prstGeom>
          <a:solidFill>
            <a:srgbClr val="113A57"/>
          </a:solidFill>
          <a:ln w="12700">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4984" y="4996055"/>
            <a:ext cx="190495" cy="190495"/>
          </a:xfrm>
          <a:prstGeom prst="rect">
            <a:avLst/>
          </a:prstGeom>
          <a:noFill/>
        </p:spPr>
        <p:txBody>
          <a:bodyPr wrap="square" anchor="ctr" lIns="0" rIns="0" tIns="0" bIns="0">
            <a:spAutoFit/>
          </a:bodyPr>
          <a:lstStyle/>
          <a:p>
            <a:pPr algn="ctr">
              <a:lnSpc>
                <a:spcPct val="100000"/>
              </a:lnSpc>
            </a:pPr>
            <a:r>
              <a:rPr sz="1250" b="1">
                <a:solidFill>
                  <a:srgbClr val="52BDEC"/>
                </a:solidFill>
                <a:latin typeface="Consolas"/>
              </a:rPr>
              <a:t>7</a:t>
            </a:r>
          </a:p>
        </p:txBody>
      </p:sp>
      <p:sp>
        <p:nvSpPr>
          <p:cNvPr id="27" name="TextBox 26"/>
          <p:cNvSpPr txBox="1"/>
          <p:nvPr/>
        </p:nvSpPr>
        <p:spPr>
          <a:xfrm>
            <a:off x="927076" y="4983355"/>
            <a:ext cx="6476838" cy="274821"/>
          </a:xfrm>
          <a:prstGeom prst="rect">
            <a:avLst/>
          </a:prstGeom>
          <a:noFill/>
        </p:spPr>
        <p:txBody>
          <a:bodyPr wrap="square" anchor="t" lIns="0" rIns="0" tIns="0" bIns="0">
            <a:spAutoFit/>
          </a:bodyPr>
          <a:lstStyle/>
          <a:p>
            <a:pPr algn="l">
              <a:lnSpc>
                <a:spcPct val="128000"/>
              </a:lnSpc>
            </a:pPr>
            <a:r>
              <a:rPr sz="1300" b="0">
                <a:solidFill>
                  <a:srgbClr val="F2F8FC"/>
                </a:solidFill>
                <a:latin typeface="Segoe UI"/>
              </a:rPr>
              <a:t>Geef de MoveMonitor mee voor zeven dagen en registreer het toestelnummer.</a:t>
            </a:r>
          </a:p>
        </p:txBody>
      </p:sp>
      <p:sp>
        <p:nvSpPr>
          <p:cNvPr id="28" name="TextBox 27"/>
          <p:cNvSpPr txBox="1"/>
          <p:nvPr/>
        </p:nvSpPr>
        <p:spPr>
          <a:xfrm>
            <a:off x="7746806" y="2044648"/>
            <a:ext cx="3809904" cy="215894"/>
          </a:xfrm>
          <a:prstGeom prst="rect">
            <a:avLst/>
          </a:prstGeom>
          <a:noFill/>
        </p:spPr>
        <p:txBody>
          <a:bodyPr wrap="square" anchor="t" lIns="0" rIns="0" tIns="0" bIns="0">
            <a:spAutoFit/>
          </a:bodyPr>
          <a:lstStyle/>
          <a:p>
            <a:pPr algn="l">
              <a:lnSpc>
                <a:spcPct val="125000"/>
              </a:lnSpc>
            </a:pPr>
            <a:r>
              <a:rPr sz="1200" b="1" spc="150">
                <a:solidFill>
                  <a:srgbClr val="8FB6D0"/>
                </a:solidFill>
                <a:latin typeface="Consolas"/>
              </a:rPr>
              <a:t>WAT U INVULT</a:t>
            </a:r>
          </a:p>
        </p:txBody>
      </p:sp>
      <p:sp>
        <p:nvSpPr>
          <p:cNvPr id="29" name="TextBox 28"/>
          <p:cNvSpPr txBox="1"/>
          <p:nvPr/>
        </p:nvSpPr>
        <p:spPr>
          <a:xfrm>
            <a:off x="7746806" y="2324041"/>
            <a:ext cx="3809904" cy="761980"/>
          </a:xfrm>
          <a:prstGeom prst="rect">
            <a:avLst/>
          </a:prstGeom>
          <a:noFill/>
        </p:spPr>
        <p:txBody>
          <a:bodyPr wrap="square" anchor="t" lIns="0" rIns="0" tIns="0" bIns="0">
            <a:spAutoFit/>
          </a:bodyPr>
          <a:lstStyle/>
          <a:p>
            <a:pPr algn="l">
              <a:lnSpc>
                <a:spcPct val="140000"/>
              </a:lnSpc>
            </a:pPr>
            <a:r>
              <a:rPr sz="1900" b="1">
                <a:solidFill>
                  <a:srgbClr val="52BDEC"/>
                </a:solidFill>
                <a:latin typeface="Consolas"/>
              </a:rPr>
              <a:t>07   08   09   10   12   13   14   15   16   18   19   20   21   48</a:t>
            </a:r>
          </a:p>
        </p:txBody>
      </p:sp>
      <p:sp>
        <p:nvSpPr>
          <p:cNvPr id="30" name="Rounded Rectangle 29"/>
          <p:cNvSpPr/>
          <p:nvPr/>
        </p:nvSpPr>
        <p:spPr>
          <a:xfrm>
            <a:off x="7746806" y="3301917"/>
            <a:ext cx="3809904" cy="2301487"/>
          </a:xfrm>
          <a:prstGeom prst="roundRect">
            <a:avLst>
              <a:gd name="adj" fmla="val 4500"/>
            </a:avLst>
          </a:prstGeom>
          <a:solidFill>
            <a:srgbClr val="0A2A44"/>
          </a:solidFill>
          <a:ln w="9525">
            <a:solidFill>
              <a:srgbClr val="FF7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88100" y="3441613"/>
            <a:ext cx="3301917" cy="215894"/>
          </a:xfrm>
          <a:prstGeom prst="rect">
            <a:avLst/>
          </a:prstGeom>
          <a:noFill/>
        </p:spPr>
        <p:txBody>
          <a:bodyPr wrap="square" anchor="t" lIns="0" rIns="0" tIns="0" bIns="0">
            <a:spAutoFit/>
          </a:bodyPr>
          <a:lstStyle/>
          <a:p>
            <a:pPr algn="l">
              <a:lnSpc>
                <a:spcPct val="125000"/>
              </a:lnSpc>
            </a:pPr>
            <a:r>
              <a:rPr sz="1200" b="1" spc="150">
                <a:solidFill>
                  <a:srgbClr val="FF7A00"/>
                </a:solidFill>
                <a:latin typeface="Consolas"/>
              </a:rPr>
              <a:t>LET OP</a:t>
            </a:r>
          </a:p>
        </p:txBody>
      </p:sp>
      <p:sp>
        <p:nvSpPr>
          <p:cNvPr id="32" name="TextBox 31"/>
          <p:cNvSpPr txBox="1"/>
          <p:nvPr/>
        </p:nvSpPr>
        <p:spPr>
          <a:xfrm>
            <a:off x="7988100" y="3682907"/>
            <a:ext cx="3301917" cy="1818899"/>
          </a:xfrm>
          <a:prstGeom prst="rect">
            <a:avLst/>
          </a:prstGeom>
          <a:noFill/>
        </p:spPr>
        <p:txBody>
          <a:bodyPr wrap="square" anchor="t" lIns="0" rIns="0" tIns="0" bIns="0">
            <a:spAutoFit/>
          </a:bodyPr>
          <a:lstStyle/>
          <a:p>
            <a:pPr algn="l">
              <a:lnSpc>
                <a:spcPct val="130000"/>
              </a:lnSpc>
            </a:pPr>
            <a:r>
              <a:rPr sz="1400" b="0">
                <a:solidFill>
                  <a:srgbClr val="F2F8FC"/>
                </a:solidFill>
                <a:latin typeface="Segoe UI"/>
              </a:rPr>
              <a:t>Het voorschrift van de zool gebeurt hier, op de baseline — niet later. En NAFF en HLS-EU-6 gaan vóór de educatie, anders meet u uw eigen uitleg in plaats van de voorkennis van de patiënt.</a:t>
            </a:r>
          </a:p>
        </p:txBody>
      </p:sp>
      <p:sp>
        <p:nvSpPr>
          <p:cNvPr id="33" name="TextBox 32"/>
          <p:cNvSpPr txBox="1"/>
          <p:nvPr/>
        </p:nvSpPr>
        <p:spPr>
          <a:xfrm>
            <a:off x="634984" y="6387940"/>
            <a:ext cx="9524761" cy="190495"/>
          </a:xfrm>
          <a:prstGeom prst="rect">
            <a:avLst/>
          </a:prstGeom>
          <a:noFill/>
        </p:spPr>
        <p:txBody>
          <a:bodyPr wrap="square" anchor="t" lIns="0" rIns="0" tIns="0" bIns="0">
            <a:spAutoFit/>
          </a:bodyPr>
          <a:lstStyle/>
          <a:p>
            <a:pPr algn="l">
              <a:lnSpc>
                <a:spcPct val="125000"/>
              </a:lnSpc>
            </a:pPr>
            <a:r>
              <a:rPr sz="1150" b="0">
                <a:solidFill>
                  <a:srgbClr val="8FB6D0"/>
                </a:solidFill>
                <a:latin typeface="Consolas"/>
              </a:rPr>
              <a:t>Podoloog meet · arts schrijft voor · het onderzoeksteam verwerkt</a:t>
            </a:r>
          </a:p>
        </p:txBody>
      </p:sp>
      <p:sp>
        <p:nvSpPr>
          <p:cNvPr id="34" name="TextBox 33"/>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15 / 28</a:t>
            </a:r>
          </a:p>
        </p:txBody>
      </p:sp>
      <p:pic>
        <p:nvPicPr>
          <p:cNvPr id="35"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36" name="TextBox 35"/>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Bron  7 · Bus 2020   |   26 · Lincoln 2007, NAFF</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VISITE 2 · VEERTIEN DAGEN TOT ÉÉN MAAND</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Aflevering, optimalisatie en sensor</a:t>
            </a:r>
          </a:p>
        </p:txBody>
      </p:sp>
      <p:sp>
        <p:nvSpPr>
          <p:cNvPr id="5" name="Rounded Rectangle 4"/>
          <p:cNvSpPr/>
          <p:nvPr/>
        </p:nvSpPr>
        <p:spPr>
          <a:xfrm>
            <a:off x="634984" y="1498562"/>
            <a:ext cx="3555911" cy="279393"/>
          </a:xfrm>
          <a:prstGeom prst="roundRect">
            <a:avLst>
              <a:gd name="adj" fmla="val 4500"/>
            </a:avLst>
          </a:prstGeom>
          <a:solidFill>
            <a:srgbClr val="174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4984" y="1568410"/>
            <a:ext cx="3555911" cy="203194"/>
          </a:xfrm>
          <a:prstGeom prst="rect">
            <a:avLst/>
          </a:prstGeom>
          <a:noFill/>
        </p:spPr>
        <p:txBody>
          <a:bodyPr wrap="square" anchor="t" lIns="0" rIns="0" tIns="0" bIns="0">
            <a:spAutoFit/>
          </a:bodyPr>
          <a:lstStyle/>
          <a:p>
            <a:pPr algn="ctr">
              <a:lnSpc>
                <a:spcPct val="125000"/>
              </a:lnSpc>
            </a:pPr>
            <a:r>
              <a:rPr sz="1300" b="1">
                <a:solidFill>
                  <a:srgbClr val="52BDEC"/>
                </a:solidFill>
                <a:latin typeface="Consolas"/>
              </a:rPr>
              <a:t>Het technisch zwaarste bezoek</a:t>
            </a:r>
          </a:p>
        </p:txBody>
      </p:sp>
      <p:sp>
        <p:nvSpPr>
          <p:cNvPr id="7" name="Oval 6"/>
          <p:cNvSpPr/>
          <p:nvPr/>
        </p:nvSpPr>
        <p:spPr>
          <a:xfrm>
            <a:off x="634984" y="2044648"/>
            <a:ext cx="190495" cy="190495"/>
          </a:xfrm>
          <a:prstGeom prst="ellipse">
            <a:avLst/>
          </a:prstGeom>
          <a:solidFill>
            <a:srgbClr val="113A57"/>
          </a:solidFill>
          <a:ln w="12700">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4984" y="2044648"/>
            <a:ext cx="190495" cy="190495"/>
          </a:xfrm>
          <a:prstGeom prst="rect">
            <a:avLst/>
          </a:prstGeom>
          <a:noFill/>
        </p:spPr>
        <p:txBody>
          <a:bodyPr wrap="square" anchor="ctr" lIns="0" rIns="0" tIns="0" bIns="0">
            <a:spAutoFit/>
          </a:bodyPr>
          <a:lstStyle/>
          <a:p>
            <a:pPr algn="ctr">
              <a:lnSpc>
                <a:spcPct val="100000"/>
              </a:lnSpc>
            </a:pPr>
            <a:r>
              <a:rPr sz="1250" b="1">
                <a:solidFill>
                  <a:srgbClr val="52BDEC"/>
                </a:solidFill>
                <a:latin typeface="Consolas"/>
              </a:rPr>
              <a:t>1</a:t>
            </a:r>
          </a:p>
        </p:txBody>
      </p:sp>
      <p:sp>
        <p:nvSpPr>
          <p:cNvPr id="9" name="TextBox 8"/>
          <p:cNvSpPr txBox="1"/>
          <p:nvPr/>
        </p:nvSpPr>
        <p:spPr>
          <a:xfrm>
            <a:off x="927076" y="2031949"/>
            <a:ext cx="6476838" cy="486143"/>
          </a:xfrm>
          <a:prstGeom prst="rect">
            <a:avLst/>
          </a:prstGeom>
          <a:noFill/>
        </p:spPr>
        <p:txBody>
          <a:bodyPr wrap="square" anchor="t" lIns="0" rIns="0" tIns="0" bIns="0">
            <a:spAutoFit/>
          </a:bodyPr>
          <a:lstStyle/>
          <a:p>
            <a:pPr algn="l">
              <a:lnSpc>
                <a:spcPct val="128000"/>
              </a:lnSpc>
            </a:pPr>
            <a:r>
              <a:rPr sz="1300" b="0">
                <a:solidFill>
                  <a:srgbClr val="F2F8FC"/>
                </a:solidFill>
                <a:latin typeface="Segoe UI"/>
              </a:rPr>
              <a:t>Lever de zool af. Controleer de pasvorm in het bínnenschoeisel én het búitenschoeisel, en neem foto's.</a:t>
            </a:r>
          </a:p>
        </p:txBody>
      </p:sp>
      <p:sp>
        <p:nvSpPr>
          <p:cNvPr id="10" name="Oval 9"/>
          <p:cNvSpPr/>
          <p:nvPr/>
        </p:nvSpPr>
        <p:spPr>
          <a:xfrm>
            <a:off x="634984" y="2606990"/>
            <a:ext cx="190495" cy="190495"/>
          </a:xfrm>
          <a:prstGeom prst="ellipse">
            <a:avLst/>
          </a:prstGeom>
          <a:solidFill>
            <a:srgbClr val="113A57"/>
          </a:solidFill>
          <a:ln w="12700">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4984" y="2606990"/>
            <a:ext cx="190495" cy="190495"/>
          </a:xfrm>
          <a:prstGeom prst="rect">
            <a:avLst/>
          </a:prstGeom>
          <a:noFill/>
        </p:spPr>
        <p:txBody>
          <a:bodyPr wrap="square" anchor="ctr" lIns="0" rIns="0" tIns="0" bIns="0">
            <a:spAutoFit/>
          </a:bodyPr>
          <a:lstStyle/>
          <a:p>
            <a:pPr algn="ctr">
              <a:lnSpc>
                <a:spcPct val="100000"/>
              </a:lnSpc>
            </a:pPr>
            <a:r>
              <a:rPr sz="1250" b="1">
                <a:solidFill>
                  <a:srgbClr val="52BDEC"/>
                </a:solidFill>
                <a:latin typeface="Consolas"/>
              </a:rPr>
              <a:t>2</a:t>
            </a:r>
          </a:p>
        </p:txBody>
      </p:sp>
      <p:sp>
        <p:nvSpPr>
          <p:cNvPr id="12" name="TextBox 11"/>
          <p:cNvSpPr txBox="1"/>
          <p:nvPr/>
        </p:nvSpPr>
        <p:spPr>
          <a:xfrm>
            <a:off x="927076" y="2594291"/>
            <a:ext cx="6476838" cy="274821"/>
          </a:xfrm>
          <a:prstGeom prst="rect">
            <a:avLst/>
          </a:prstGeom>
          <a:noFill/>
        </p:spPr>
        <p:txBody>
          <a:bodyPr wrap="square" anchor="t" lIns="0" rIns="0" tIns="0" bIns="0">
            <a:spAutoFit/>
          </a:bodyPr>
          <a:lstStyle/>
          <a:p>
            <a:pPr algn="l">
              <a:lnSpc>
                <a:spcPct val="128000"/>
              </a:lnSpc>
            </a:pPr>
            <a:r>
              <a:rPr sz="1300" b="0">
                <a:solidFill>
                  <a:srgbClr val="F2F8FC"/>
                </a:solidFill>
                <a:latin typeface="Segoe UI"/>
              </a:rPr>
              <a:t>Meet de drukherverdeling en toets de norm per doelregio.</a:t>
            </a:r>
          </a:p>
        </p:txBody>
      </p:sp>
      <p:sp>
        <p:nvSpPr>
          <p:cNvPr id="13" name="Oval 12"/>
          <p:cNvSpPr/>
          <p:nvPr/>
        </p:nvSpPr>
        <p:spPr>
          <a:xfrm>
            <a:off x="634984" y="2958010"/>
            <a:ext cx="190495" cy="190495"/>
          </a:xfrm>
          <a:prstGeom prst="ellipse">
            <a:avLst/>
          </a:prstGeom>
          <a:solidFill>
            <a:srgbClr val="113A57"/>
          </a:solidFill>
          <a:ln w="12700">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984" y="2958010"/>
            <a:ext cx="190495" cy="190495"/>
          </a:xfrm>
          <a:prstGeom prst="rect">
            <a:avLst/>
          </a:prstGeom>
          <a:noFill/>
        </p:spPr>
        <p:txBody>
          <a:bodyPr wrap="square" anchor="ctr" lIns="0" rIns="0" tIns="0" bIns="0">
            <a:spAutoFit/>
          </a:bodyPr>
          <a:lstStyle/>
          <a:p>
            <a:pPr algn="ctr">
              <a:lnSpc>
                <a:spcPct val="100000"/>
              </a:lnSpc>
            </a:pPr>
            <a:r>
              <a:rPr sz="1250" b="1">
                <a:solidFill>
                  <a:srgbClr val="52BDEC"/>
                </a:solidFill>
                <a:latin typeface="Consolas"/>
              </a:rPr>
              <a:t>3</a:t>
            </a:r>
          </a:p>
        </p:txBody>
      </p:sp>
      <p:sp>
        <p:nvSpPr>
          <p:cNvPr id="15" name="TextBox 14"/>
          <p:cNvSpPr txBox="1"/>
          <p:nvPr/>
        </p:nvSpPr>
        <p:spPr>
          <a:xfrm>
            <a:off x="927076" y="2945310"/>
            <a:ext cx="6476838" cy="486143"/>
          </a:xfrm>
          <a:prstGeom prst="rect">
            <a:avLst/>
          </a:prstGeom>
          <a:noFill/>
        </p:spPr>
        <p:txBody>
          <a:bodyPr wrap="square" anchor="t" lIns="0" rIns="0" tIns="0" bIns="0">
            <a:spAutoFit/>
          </a:bodyPr>
          <a:lstStyle/>
          <a:p>
            <a:pPr algn="l">
              <a:lnSpc>
                <a:spcPct val="128000"/>
              </a:lnSpc>
            </a:pPr>
            <a:r>
              <a:rPr sz="1300" b="0">
                <a:solidFill>
                  <a:srgbClr val="F2F8FC"/>
                </a:solidFill>
                <a:latin typeface="Segoe UI"/>
              </a:rPr>
              <a:t>Niet gehaald? Pas aan en meet opnieuw. Is ze gehaald, laat dan een tweede, identiek paar maken.</a:t>
            </a:r>
          </a:p>
        </p:txBody>
      </p:sp>
      <p:sp>
        <p:nvSpPr>
          <p:cNvPr id="16" name="Oval 15"/>
          <p:cNvSpPr/>
          <p:nvPr/>
        </p:nvSpPr>
        <p:spPr>
          <a:xfrm>
            <a:off x="634984" y="3520351"/>
            <a:ext cx="190495" cy="190495"/>
          </a:xfrm>
          <a:prstGeom prst="ellipse">
            <a:avLst/>
          </a:prstGeom>
          <a:solidFill>
            <a:srgbClr val="113A57"/>
          </a:solidFill>
          <a:ln w="12700">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4984" y="3520351"/>
            <a:ext cx="190495" cy="190495"/>
          </a:xfrm>
          <a:prstGeom prst="rect">
            <a:avLst/>
          </a:prstGeom>
          <a:noFill/>
        </p:spPr>
        <p:txBody>
          <a:bodyPr wrap="square" anchor="ctr" lIns="0" rIns="0" tIns="0" bIns="0">
            <a:spAutoFit/>
          </a:bodyPr>
          <a:lstStyle/>
          <a:p>
            <a:pPr algn="ctr">
              <a:lnSpc>
                <a:spcPct val="100000"/>
              </a:lnSpc>
            </a:pPr>
            <a:r>
              <a:rPr sz="1250" b="1">
                <a:solidFill>
                  <a:srgbClr val="52BDEC"/>
                </a:solidFill>
                <a:latin typeface="Consolas"/>
              </a:rPr>
              <a:t>4</a:t>
            </a:r>
          </a:p>
        </p:txBody>
      </p:sp>
      <p:sp>
        <p:nvSpPr>
          <p:cNvPr id="18" name="TextBox 17"/>
          <p:cNvSpPr txBox="1"/>
          <p:nvPr/>
        </p:nvSpPr>
        <p:spPr>
          <a:xfrm>
            <a:off x="927076" y="3507652"/>
            <a:ext cx="6476838" cy="274821"/>
          </a:xfrm>
          <a:prstGeom prst="rect">
            <a:avLst/>
          </a:prstGeom>
          <a:noFill/>
        </p:spPr>
        <p:txBody>
          <a:bodyPr wrap="square" anchor="t" lIns="0" rIns="0" tIns="0" bIns="0">
            <a:spAutoFit/>
          </a:bodyPr>
          <a:lstStyle/>
          <a:p>
            <a:pPr algn="l">
              <a:lnSpc>
                <a:spcPct val="128000"/>
              </a:lnSpc>
            </a:pPr>
            <a:r>
              <a:rPr sz="1300" b="0">
                <a:solidFill>
                  <a:srgbClr val="F2F8FC"/>
                </a:solidFill>
                <a:latin typeface="Segoe UI"/>
              </a:rPr>
              <a:t>Plaats en activeer de Orthotimer in de zool en registreer het toestelnummer.</a:t>
            </a:r>
          </a:p>
        </p:txBody>
      </p:sp>
      <p:sp>
        <p:nvSpPr>
          <p:cNvPr id="19" name="Oval 18"/>
          <p:cNvSpPr/>
          <p:nvPr/>
        </p:nvSpPr>
        <p:spPr>
          <a:xfrm>
            <a:off x="634984" y="3871371"/>
            <a:ext cx="190495" cy="190495"/>
          </a:xfrm>
          <a:prstGeom prst="ellipse">
            <a:avLst/>
          </a:prstGeom>
          <a:solidFill>
            <a:srgbClr val="113A57"/>
          </a:solidFill>
          <a:ln w="12700">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4984" y="3871371"/>
            <a:ext cx="190495" cy="190495"/>
          </a:xfrm>
          <a:prstGeom prst="rect">
            <a:avLst/>
          </a:prstGeom>
          <a:noFill/>
        </p:spPr>
        <p:txBody>
          <a:bodyPr wrap="square" anchor="ctr" lIns="0" rIns="0" tIns="0" bIns="0">
            <a:spAutoFit/>
          </a:bodyPr>
          <a:lstStyle/>
          <a:p>
            <a:pPr algn="ctr">
              <a:lnSpc>
                <a:spcPct val="100000"/>
              </a:lnSpc>
            </a:pPr>
            <a:r>
              <a:rPr sz="1250" b="1">
                <a:solidFill>
                  <a:srgbClr val="52BDEC"/>
                </a:solidFill>
                <a:latin typeface="Consolas"/>
              </a:rPr>
              <a:t>5</a:t>
            </a:r>
          </a:p>
        </p:txBody>
      </p:sp>
      <p:sp>
        <p:nvSpPr>
          <p:cNvPr id="21" name="TextBox 20"/>
          <p:cNvSpPr txBox="1"/>
          <p:nvPr/>
        </p:nvSpPr>
        <p:spPr>
          <a:xfrm>
            <a:off x="927076" y="3858671"/>
            <a:ext cx="6476838" cy="274821"/>
          </a:xfrm>
          <a:prstGeom prst="rect">
            <a:avLst/>
          </a:prstGeom>
          <a:noFill/>
        </p:spPr>
        <p:txBody>
          <a:bodyPr wrap="square" anchor="t" lIns="0" rIns="0" tIns="0" bIns="0">
            <a:spAutoFit/>
          </a:bodyPr>
          <a:lstStyle/>
          <a:p>
            <a:pPr algn="l">
              <a:lnSpc>
                <a:spcPct val="128000"/>
              </a:lnSpc>
            </a:pPr>
            <a:r>
              <a:rPr sz="1300" b="0">
                <a:solidFill>
                  <a:srgbClr val="F2F8FC"/>
                </a:solidFill>
                <a:latin typeface="Segoe UI"/>
              </a:rPr>
              <a:t>Neem de MoveMonitor terug en registreer de teruggave.</a:t>
            </a:r>
          </a:p>
        </p:txBody>
      </p:sp>
      <p:sp>
        <p:nvSpPr>
          <p:cNvPr id="22" name="Oval 21"/>
          <p:cNvSpPr/>
          <p:nvPr/>
        </p:nvSpPr>
        <p:spPr>
          <a:xfrm>
            <a:off x="634984" y="4222390"/>
            <a:ext cx="190495" cy="190495"/>
          </a:xfrm>
          <a:prstGeom prst="ellipse">
            <a:avLst/>
          </a:prstGeom>
          <a:solidFill>
            <a:srgbClr val="113A57"/>
          </a:solidFill>
          <a:ln w="12700">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4984" y="4222390"/>
            <a:ext cx="190495" cy="190495"/>
          </a:xfrm>
          <a:prstGeom prst="rect">
            <a:avLst/>
          </a:prstGeom>
          <a:noFill/>
        </p:spPr>
        <p:txBody>
          <a:bodyPr wrap="square" anchor="ctr" lIns="0" rIns="0" tIns="0" bIns="0">
            <a:spAutoFit/>
          </a:bodyPr>
          <a:lstStyle/>
          <a:p>
            <a:pPr algn="ctr">
              <a:lnSpc>
                <a:spcPct val="100000"/>
              </a:lnSpc>
            </a:pPr>
            <a:r>
              <a:rPr sz="1250" b="1">
                <a:solidFill>
                  <a:srgbClr val="52BDEC"/>
                </a:solidFill>
                <a:latin typeface="Consolas"/>
              </a:rPr>
              <a:t>6</a:t>
            </a:r>
          </a:p>
        </p:txBody>
      </p:sp>
      <p:sp>
        <p:nvSpPr>
          <p:cNvPr id="24" name="TextBox 23"/>
          <p:cNvSpPr txBox="1"/>
          <p:nvPr/>
        </p:nvSpPr>
        <p:spPr>
          <a:xfrm>
            <a:off x="927076" y="4209690"/>
            <a:ext cx="6476838" cy="486143"/>
          </a:xfrm>
          <a:prstGeom prst="rect">
            <a:avLst/>
          </a:prstGeom>
          <a:noFill/>
        </p:spPr>
        <p:txBody>
          <a:bodyPr wrap="square" anchor="t" lIns="0" rIns="0" tIns="0" bIns="0">
            <a:spAutoFit/>
          </a:bodyPr>
          <a:lstStyle/>
          <a:p>
            <a:pPr algn="l">
              <a:lnSpc>
                <a:spcPct val="128000"/>
              </a:lnSpc>
            </a:pPr>
            <a:r>
              <a:rPr sz="1300" b="0">
                <a:solidFill>
                  <a:srgbClr val="F2F8FC"/>
                </a:solidFill>
                <a:latin typeface="Segoe UI"/>
              </a:rPr>
              <a:t>SEBIA stap 2: bespreek het activiteitenprofiel, doe de teach-back en geef de sensorfolder mee.</a:t>
            </a:r>
          </a:p>
        </p:txBody>
      </p:sp>
      <p:sp>
        <p:nvSpPr>
          <p:cNvPr id="25" name="Oval 24"/>
          <p:cNvSpPr/>
          <p:nvPr/>
        </p:nvSpPr>
        <p:spPr>
          <a:xfrm>
            <a:off x="634984" y="4784732"/>
            <a:ext cx="190495" cy="190495"/>
          </a:xfrm>
          <a:prstGeom prst="ellipse">
            <a:avLst/>
          </a:prstGeom>
          <a:solidFill>
            <a:srgbClr val="113A57"/>
          </a:solidFill>
          <a:ln w="12700">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4984" y="4784732"/>
            <a:ext cx="190495" cy="190495"/>
          </a:xfrm>
          <a:prstGeom prst="rect">
            <a:avLst/>
          </a:prstGeom>
          <a:noFill/>
        </p:spPr>
        <p:txBody>
          <a:bodyPr wrap="square" anchor="ctr" lIns="0" rIns="0" tIns="0" bIns="0">
            <a:spAutoFit/>
          </a:bodyPr>
          <a:lstStyle/>
          <a:p>
            <a:pPr algn="ctr">
              <a:lnSpc>
                <a:spcPct val="100000"/>
              </a:lnSpc>
            </a:pPr>
            <a:r>
              <a:rPr sz="1250" b="1">
                <a:solidFill>
                  <a:srgbClr val="52BDEC"/>
                </a:solidFill>
                <a:latin typeface="Consolas"/>
              </a:rPr>
              <a:t>7</a:t>
            </a:r>
          </a:p>
        </p:txBody>
      </p:sp>
      <p:sp>
        <p:nvSpPr>
          <p:cNvPr id="27" name="TextBox 26"/>
          <p:cNvSpPr txBox="1"/>
          <p:nvPr/>
        </p:nvSpPr>
        <p:spPr>
          <a:xfrm>
            <a:off x="927076" y="4772032"/>
            <a:ext cx="6476838" cy="274821"/>
          </a:xfrm>
          <a:prstGeom prst="rect">
            <a:avLst/>
          </a:prstGeom>
          <a:noFill/>
        </p:spPr>
        <p:txBody>
          <a:bodyPr wrap="square" anchor="t" lIns="0" rIns="0" tIns="0" bIns="0">
            <a:spAutoFit/>
          </a:bodyPr>
          <a:lstStyle/>
          <a:p>
            <a:pPr algn="l">
              <a:lnSpc>
                <a:spcPct val="128000"/>
              </a:lnSpc>
            </a:pPr>
            <a:r>
              <a:rPr sz="1300" b="0">
                <a:solidFill>
                  <a:srgbClr val="F2F8FC"/>
                </a:solidFill>
                <a:latin typeface="Segoe UI"/>
              </a:rPr>
              <a:t>Bevraag de overtuigingen en gewoontes rond schoeisel.</a:t>
            </a:r>
          </a:p>
        </p:txBody>
      </p:sp>
      <p:sp>
        <p:nvSpPr>
          <p:cNvPr id="28" name="TextBox 27"/>
          <p:cNvSpPr txBox="1"/>
          <p:nvPr/>
        </p:nvSpPr>
        <p:spPr>
          <a:xfrm>
            <a:off x="7746806" y="2044648"/>
            <a:ext cx="3809904" cy="215894"/>
          </a:xfrm>
          <a:prstGeom prst="rect">
            <a:avLst/>
          </a:prstGeom>
          <a:noFill/>
        </p:spPr>
        <p:txBody>
          <a:bodyPr wrap="square" anchor="t" lIns="0" rIns="0" tIns="0" bIns="0">
            <a:spAutoFit/>
          </a:bodyPr>
          <a:lstStyle/>
          <a:p>
            <a:pPr algn="l">
              <a:lnSpc>
                <a:spcPct val="125000"/>
              </a:lnSpc>
            </a:pPr>
            <a:r>
              <a:rPr sz="1200" b="1" spc="150">
                <a:solidFill>
                  <a:srgbClr val="8FB6D0"/>
                </a:solidFill>
                <a:latin typeface="Consolas"/>
              </a:rPr>
              <a:t>WAT U INVULT</a:t>
            </a:r>
          </a:p>
        </p:txBody>
      </p:sp>
      <p:sp>
        <p:nvSpPr>
          <p:cNvPr id="29" name="TextBox 28"/>
          <p:cNvSpPr txBox="1"/>
          <p:nvPr/>
        </p:nvSpPr>
        <p:spPr>
          <a:xfrm>
            <a:off x="7746806" y="2324041"/>
            <a:ext cx="3809904" cy="761980"/>
          </a:xfrm>
          <a:prstGeom prst="rect">
            <a:avLst/>
          </a:prstGeom>
          <a:noFill/>
        </p:spPr>
        <p:txBody>
          <a:bodyPr wrap="square" anchor="t" lIns="0" rIns="0" tIns="0" bIns="0">
            <a:spAutoFit/>
          </a:bodyPr>
          <a:lstStyle/>
          <a:p>
            <a:pPr algn="l">
              <a:lnSpc>
                <a:spcPct val="140000"/>
              </a:lnSpc>
            </a:pPr>
            <a:r>
              <a:rPr sz="1900" b="1">
                <a:solidFill>
                  <a:srgbClr val="52BDEC"/>
                </a:solidFill>
                <a:latin typeface="Consolas"/>
              </a:rPr>
              <a:t>23   24   24b   25   26   27   28   29   30</a:t>
            </a:r>
          </a:p>
        </p:txBody>
      </p:sp>
      <p:sp>
        <p:nvSpPr>
          <p:cNvPr id="30" name="Rounded Rectangle 29"/>
          <p:cNvSpPr/>
          <p:nvPr/>
        </p:nvSpPr>
        <p:spPr>
          <a:xfrm>
            <a:off x="7746806" y="3301917"/>
            <a:ext cx="3809904" cy="2301487"/>
          </a:xfrm>
          <a:prstGeom prst="roundRect">
            <a:avLst>
              <a:gd name="adj" fmla="val 4500"/>
            </a:avLst>
          </a:prstGeom>
          <a:solidFill>
            <a:srgbClr val="0A2A44"/>
          </a:solidFill>
          <a:ln w="9525">
            <a:solidFill>
              <a:srgbClr val="FF7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88100" y="3441613"/>
            <a:ext cx="3301917" cy="215894"/>
          </a:xfrm>
          <a:prstGeom prst="rect">
            <a:avLst/>
          </a:prstGeom>
          <a:noFill/>
        </p:spPr>
        <p:txBody>
          <a:bodyPr wrap="square" anchor="t" lIns="0" rIns="0" tIns="0" bIns="0">
            <a:spAutoFit/>
          </a:bodyPr>
          <a:lstStyle/>
          <a:p>
            <a:pPr algn="l">
              <a:lnSpc>
                <a:spcPct val="125000"/>
              </a:lnSpc>
            </a:pPr>
            <a:r>
              <a:rPr sz="1200" b="1" spc="150">
                <a:solidFill>
                  <a:srgbClr val="FF7A00"/>
                </a:solidFill>
                <a:latin typeface="Consolas"/>
              </a:rPr>
              <a:t>LET OP</a:t>
            </a:r>
          </a:p>
        </p:txBody>
      </p:sp>
      <p:sp>
        <p:nvSpPr>
          <p:cNvPr id="32" name="TextBox 31"/>
          <p:cNvSpPr txBox="1"/>
          <p:nvPr/>
        </p:nvSpPr>
        <p:spPr>
          <a:xfrm>
            <a:off x="7988100" y="3682907"/>
            <a:ext cx="3301917" cy="1818899"/>
          </a:xfrm>
          <a:prstGeom prst="rect">
            <a:avLst/>
          </a:prstGeom>
          <a:noFill/>
        </p:spPr>
        <p:txBody>
          <a:bodyPr wrap="square" anchor="t" lIns="0" rIns="0" tIns="0" bIns="0">
            <a:spAutoFit/>
          </a:bodyPr>
          <a:lstStyle/>
          <a:p>
            <a:pPr algn="l">
              <a:lnSpc>
                <a:spcPct val="130000"/>
              </a:lnSpc>
            </a:pPr>
            <a:r>
              <a:rPr sz="1400" b="0">
                <a:solidFill>
                  <a:srgbClr val="F2F8FC"/>
                </a:solidFill>
                <a:latin typeface="Segoe UI"/>
              </a:rPr>
              <a:t>De Orthotimer gaat pas in de zool nadat de norm gehaald is. En de uren per dag die u instelt komen uit het activiteitenprofiel van díe patiënt — daarom moet de MoveMonitor eerst terug zijn.</a:t>
            </a:r>
          </a:p>
        </p:txBody>
      </p:sp>
      <p:sp>
        <p:nvSpPr>
          <p:cNvPr id="33" name="TextBox 32"/>
          <p:cNvSpPr txBox="1"/>
          <p:nvPr/>
        </p:nvSpPr>
        <p:spPr>
          <a:xfrm>
            <a:off x="634984" y="6387940"/>
            <a:ext cx="9524761" cy="190495"/>
          </a:xfrm>
          <a:prstGeom prst="rect">
            <a:avLst/>
          </a:prstGeom>
          <a:noFill/>
        </p:spPr>
        <p:txBody>
          <a:bodyPr wrap="square" anchor="t" lIns="0" rIns="0" tIns="0" bIns="0">
            <a:spAutoFit/>
          </a:bodyPr>
          <a:lstStyle/>
          <a:p>
            <a:pPr algn="l">
              <a:lnSpc>
                <a:spcPct val="125000"/>
              </a:lnSpc>
            </a:pPr>
            <a:r>
              <a:rPr sz="1150" b="0">
                <a:solidFill>
                  <a:srgbClr val="8FB6D0"/>
                </a:solidFill>
                <a:latin typeface="Consolas"/>
              </a:rPr>
              <a:t>Pedorthist past aan · podoloog meet, plaatst de sensor en begeleidt</a:t>
            </a:r>
          </a:p>
        </p:txBody>
      </p:sp>
      <p:sp>
        <p:nvSpPr>
          <p:cNvPr id="34" name="TextBox 33"/>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16 / 28</a:t>
            </a:r>
          </a:p>
        </p:txBody>
      </p:sp>
      <p:pic>
        <p:nvPicPr>
          <p:cNvPr id="35"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36" name="TextBox 35"/>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Bron  6 · Bus 2011   |   7 · Bus 2020</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VISITES 3 TOT 8 · MAAND 3 TOT 18</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Driemaandelijkse opvolging</a:t>
            </a:r>
          </a:p>
        </p:txBody>
      </p:sp>
      <p:sp>
        <p:nvSpPr>
          <p:cNvPr id="5" name="Rounded Rectangle 4"/>
          <p:cNvSpPr/>
          <p:nvPr/>
        </p:nvSpPr>
        <p:spPr>
          <a:xfrm>
            <a:off x="634984" y="1498562"/>
            <a:ext cx="3555911" cy="279393"/>
          </a:xfrm>
          <a:prstGeom prst="roundRect">
            <a:avLst>
              <a:gd name="adj" fmla="val 4500"/>
            </a:avLst>
          </a:prstGeom>
          <a:solidFill>
            <a:srgbClr val="174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4984" y="1568410"/>
            <a:ext cx="3555911" cy="203194"/>
          </a:xfrm>
          <a:prstGeom prst="rect">
            <a:avLst/>
          </a:prstGeom>
          <a:noFill/>
        </p:spPr>
        <p:txBody>
          <a:bodyPr wrap="square" anchor="t" lIns="0" rIns="0" tIns="0" bIns="0">
            <a:spAutoFit/>
          </a:bodyPr>
          <a:lstStyle/>
          <a:p>
            <a:pPr algn="ctr">
              <a:lnSpc>
                <a:spcPct val="125000"/>
              </a:lnSpc>
            </a:pPr>
            <a:r>
              <a:rPr sz="1300" b="1">
                <a:solidFill>
                  <a:srgbClr val="52BDEC"/>
                </a:solidFill>
                <a:latin typeface="Consolas"/>
              </a:rPr>
              <a:t>In het gewone consult</a:t>
            </a:r>
          </a:p>
        </p:txBody>
      </p:sp>
      <p:sp>
        <p:nvSpPr>
          <p:cNvPr id="7" name="Oval 6"/>
          <p:cNvSpPr/>
          <p:nvPr/>
        </p:nvSpPr>
        <p:spPr>
          <a:xfrm>
            <a:off x="634984" y="2044648"/>
            <a:ext cx="190495" cy="190495"/>
          </a:xfrm>
          <a:prstGeom prst="ellipse">
            <a:avLst/>
          </a:prstGeom>
          <a:solidFill>
            <a:srgbClr val="113A57"/>
          </a:solidFill>
          <a:ln w="12700">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4984" y="2044648"/>
            <a:ext cx="190495" cy="190495"/>
          </a:xfrm>
          <a:prstGeom prst="rect">
            <a:avLst/>
          </a:prstGeom>
          <a:noFill/>
        </p:spPr>
        <p:txBody>
          <a:bodyPr wrap="square" anchor="ctr" lIns="0" rIns="0" tIns="0" bIns="0">
            <a:spAutoFit/>
          </a:bodyPr>
          <a:lstStyle/>
          <a:p>
            <a:pPr algn="ctr">
              <a:lnSpc>
                <a:spcPct val="100000"/>
              </a:lnSpc>
            </a:pPr>
            <a:r>
              <a:rPr sz="1250" b="1">
                <a:solidFill>
                  <a:srgbClr val="52BDEC"/>
                </a:solidFill>
                <a:latin typeface="Consolas"/>
              </a:rPr>
              <a:t>1</a:t>
            </a:r>
          </a:p>
        </p:txBody>
      </p:sp>
      <p:sp>
        <p:nvSpPr>
          <p:cNvPr id="9" name="TextBox 8"/>
          <p:cNvSpPr txBox="1"/>
          <p:nvPr/>
        </p:nvSpPr>
        <p:spPr>
          <a:xfrm>
            <a:off x="927076" y="2031949"/>
            <a:ext cx="6476838" cy="274821"/>
          </a:xfrm>
          <a:prstGeom prst="rect">
            <a:avLst/>
          </a:prstGeom>
          <a:noFill/>
        </p:spPr>
        <p:txBody>
          <a:bodyPr wrap="square" anchor="t" lIns="0" rIns="0" tIns="0" bIns="0">
            <a:spAutoFit/>
          </a:bodyPr>
          <a:lstStyle/>
          <a:p>
            <a:pPr algn="l">
              <a:lnSpc>
                <a:spcPct val="128000"/>
              </a:lnSpc>
            </a:pPr>
            <a:r>
              <a:rPr sz="1300" b="0">
                <a:solidFill>
                  <a:srgbClr val="F2F8FC"/>
                </a:solidFill>
                <a:latin typeface="Segoe UI"/>
              </a:rPr>
              <a:t>Voet- en schoeiselscreening, zoals bij de baseline.</a:t>
            </a:r>
          </a:p>
        </p:txBody>
      </p:sp>
      <p:sp>
        <p:nvSpPr>
          <p:cNvPr id="10" name="Oval 9"/>
          <p:cNvSpPr/>
          <p:nvPr/>
        </p:nvSpPr>
        <p:spPr>
          <a:xfrm>
            <a:off x="634984" y="2395668"/>
            <a:ext cx="190495" cy="190495"/>
          </a:xfrm>
          <a:prstGeom prst="ellipse">
            <a:avLst/>
          </a:prstGeom>
          <a:solidFill>
            <a:srgbClr val="113A57"/>
          </a:solidFill>
          <a:ln w="12700">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4984" y="2395668"/>
            <a:ext cx="190495" cy="190495"/>
          </a:xfrm>
          <a:prstGeom prst="rect">
            <a:avLst/>
          </a:prstGeom>
          <a:noFill/>
        </p:spPr>
        <p:txBody>
          <a:bodyPr wrap="square" anchor="ctr" lIns="0" rIns="0" tIns="0" bIns="0">
            <a:spAutoFit/>
          </a:bodyPr>
          <a:lstStyle/>
          <a:p>
            <a:pPr algn="ctr">
              <a:lnSpc>
                <a:spcPct val="100000"/>
              </a:lnSpc>
            </a:pPr>
            <a:r>
              <a:rPr sz="1250" b="1">
                <a:solidFill>
                  <a:srgbClr val="52BDEC"/>
                </a:solidFill>
                <a:latin typeface="Consolas"/>
              </a:rPr>
              <a:t>2</a:t>
            </a:r>
          </a:p>
        </p:txBody>
      </p:sp>
      <p:sp>
        <p:nvSpPr>
          <p:cNvPr id="12" name="TextBox 11"/>
          <p:cNvSpPr txBox="1"/>
          <p:nvPr/>
        </p:nvSpPr>
        <p:spPr>
          <a:xfrm>
            <a:off x="927076" y="2382968"/>
            <a:ext cx="6476838" cy="274821"/>
          </a:xfrm>
          <a:prstGeom prst="rect">
            <a:avLst/>
          </a:prstGeom>
          <a:noFill/>
        </p:spPr>
        <p:txBody>
          <a:bodyPr wrap="square" anchor="t" lIns="0" rIns="0" tIns="0" bIns="0">
            <a:spAutoFit/>
          </a:bodyPr>
          <a:lstStyle/>
          <a:p>
            <a:pPr algn="l">
              <a:lnSpc>
                <a:spcPct val="128000"/>
              </a:lnSpc>
            </a:pPr>
            <a:r>
              <a:rPr sz="1300" b="0">
                <a:solidFill>
                  <a:srgbClr val="F2F8FC"/>
                </a:solidFill>
                <a:latin typeface="Segoe UI"/>
              </a:rPr>
              <a:t>Bevraag de therapietrouw, lees de Orthotimer uit en bespreek het resultaat.</a:t>
            </a:r>
          </a:p>
        </p:txBody>
      </p:sp>
      <p:sp>
        <p:nvSpPr>
          <p:cNvPr id="13" name="Oval 12"/>
          <p:cNvSpPr/>
          <p:nvPr/>
        </p:nvSpPr>
        <p:spPr>
          <a:xfrm>
            <a:off x="634984" y="2746687"/>
            <a:ext cx="190495" cy="190495"/>
          </a:xfrm>
          <a:prstGeom prst="ellipse">
            <a:avLst/>
          </a:prstGeom>
          <a:solidFill>
            <a:srgbClr val="113A57"/>
          </a:solidFill>
          <a:ln w="12700">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984" y="2746687"/>
            <a:ext cx="190495" cy="190495"/>
          </a:xfrm>
          <a:prstGeom prst="rect">
            <a:avLst/>
          </a:prstGeom>
          <a:noFill/>
        </p:spPr>
        <p:txBody>
          <a:bodyPr wrap="square" anchor="ctr" lIns="0" rIns="0" tIns="0" bIns="0">
            <a:spAutoFit/>
          </a:bodyPr>
          <a:lstStyle/>
          <a:p>
            <a:pPr algn="ctr">
              <a:lnSpc>
                <a:spcPct val="100000"/>
              </a:lnSpc>
            </a:pPr>
            <a:r>
              <a:rPr sz="1250" b="1">
                <a:solidFill>
                  <a:srgbClr val="52BDEC"/>
                </a:solidFill>
                <a:latin typeface="Consolas"/>
              </a:rPr>
              <a:t>3</a:t>
            </a:r>
          </a:p>
        </p:txBody>
      </p:sp>
      <p:sp>
        <p:nvSpPr>
          <p:cNvPr id="15" name="TextBox 14"/>
          <p:cNvSpPr txBox="1"/>
          <p:nvPr/>
        </p:nvSpPr>
        <p:spPr>
          <a:xfrm>
            <a:off x="927076" y="2733987"/>
            <a:ext cx="6476838" cy="486143"/>
          </a:xfrm>
          <a:prstGeom prst="rect">
            <a:avLst/>
          </a:prstGeom>
          <a:noFill/>
        </p:spPr>
        <p:txBody>
          <a:bodyPr wrap="square" anchor="t" lIns="0" rIns="0" tIns="0" bIns="0">
            <a:spAutoFit/>
          </a:bodyPr>
          <a:lstStyle/>
          <a:p>
            <a:pPr algn="l">
              <a:lnSpc>
                <a:spcPct val="128000"/>
              </a:lnSpc>
            </a:pPr>
            <a:r>
              <a:rPr sz="1300" b="0">
                <a:solidFill>
                  <a:srgbClr val="F2F8FC"/>
                </a:solidFill>
                <a:latin typeface="Segoe UI"/>
              </a:rPr>
              <a:t>Beoordeel beide paren zolen. Het paar dat onderhoud nodig heeft gaat naar de pedorthist, deklaag inbegrepen.</a:t>
            </a:r>
          </a:p>
        </p:txBody>
      </p:sp>
      <p:sp>
        <p:nvSpPr>
          <p:cNvPr id="16" name="Oval 15"/>
          <p:cNvSpPr/>
          <p:nvPr/>
        </p:nvSpPr>
        <p:spPr>
          <a:xfrm>
            <a:off x="634984" y="3309029"/>
            <a:ext cx="190495" cy="190495"/>
          </a:xfrm>
          <a:prstGeom prst="ellipse">
            <a:avLst/>
          </a:prstGeom>
          <a:solidFill>
            <a:srgbClr val="113A57"/>
          </a:solidFill>
          <a:ln w="12700">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4984" y="3309029"/>
            <a:ext cx="190495" cy="190495"/>
          </a:xfrm>
          <a:prstGeom prst="rect">
            <a:avLst/>
          </a:prstGeom>
          <a:noFill/>
        </p:spPr>
        <p:txBody>
          <a:bodyPr wrap="square" anchor="ctr" lIns="0" rIns="0" tIns="0" bIns="0">
            <a:spAutoFit/>
          </a:bodyPr>
          <a:lstStyle/>
          <a:p>
            <a:pPr algn="ctr">
              <a:lnSpc>
                <a:spcPct val="100000"/>
              </a:lnSpc>
            </a:pPr>
            <a:r>
              <a:rPr sz="1250" b="1">
                <a:solidFill>
                  <a:srgbClr val="52BDEC"/>
                </a:solidFill>
                <a:latin typeface="Consolas"/>
              </a:rPr>
              <a:t>4</a:t>
            </a:r>
          </a:p>
        </p:txBody>
      </p:sp>
      <p:sp>
        <p:nvSpPr>
          <p:cNvPr id="18" name="TextBox 17"/>
          <p:cNvSpPr txBox="1"/>
          <p:nvPr/>
        </p:nvSpPr>
        <p:spPr>
          <a:xfrm>
            <a:off x="927076" y="3296329"/>
            <a:ext cx="6476838" cy="274821"/>
          </a:xfrm>
          <a:prstGeom prst="rect">
            <a:avLst/>
          </a:prstGeom>
          <a:noFill/>
        </p:spPr>
        <p:txBody>
          <a:bodyPr wrap="square" anchor="t" lIns="0" rIns="0" tIns="0" bIns="0">
            <a:spAutoFit/>
          </a:bodyPr>
          <a:lstStyle/>
          <a:p>
            <a:pPr algn="l">
              <a:lnSpc>
                <a:spcPct val="128000"/>
              </a:lnSpc>
            </a:pPr>
            <a:r>
              <a:rPr sz="1300" b="0">
                <a:solidFill>
                  <a:srgbClr val="F2F8FC"/>
                </a:solidFill>
                <a:latin typeface="Segoe UI"/>
              </a:rPr>
              <a:t>Vervang zool of sensor als dat nodig is en leg dat vast.</a:t>
            </a:r>
          </a:p>
        </p:txBody>
      </p:sp>
      <p:sp>
        <p:nvSpPr>
          <p:cNvPr id="19" name="Oval 18"/>
          <p:cNvSpPr/>
          <p:nvPr/>
        </p:nvSpPr>
        <p:spPr>
          <a:xfrm>
            <a:off x="634984" y="3660048"/>
            <a:ext cx="190495" cy="190495"/>
          </a:xfrm>
          <a:prstGeom prst="ellipse">
            <a:avLst/>
          </a:prstGeom>
          <a:solidFill>
            <a:srgbClr val="113A57"/>
          </a:solidFill>
          <a:ln w="12700">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4984" y="3660048"/>
            <a:ext cx="190495" cy="190495"/>
          </a:xfrm>
          <a:prstGeom prst="rect">
            <a:avLst/>
          </a:prstGeom>
          <a:noFill/>
        </p:spPr>
        <p:txBody>
          <a:bodyPr wrap="square" anchor="ctr" lIns="0" rIns="0" tIns="0" bIns="0">
            <a:spAutoFit/>
          </a:bodyPr>
          <a:lstStyle/>
          <a:p>
            <a:pPr algn="ctr">
              <a:lnSpc>
                <a:spcPct val="100000"/>
              </a:lnSpc>
            </a:pPr>
            <a:r>
              <a:rPr sz="1250" b="1">
                <a:solidFill>
                  <a:srgbClr val="52BDEC"/>
                </a:solidFill>
                <a:latin typeface="Consolas"/>
              </a:rPr>
              <a:t>5</a:t>
            </a:r>
          </a:p>
        </p:txBody>
      </p:sp>
      <p:sp>
        <p:nvSpPr>
          <p:cNvPr id="21" name="TextBox 20"/>
          <p:cNvSpPr txBox="1"/>
          <p:nvPr/>
        </p:nvSpPr>
        <p:spPr>
          <a:xfrm>
            <a:off x="927076" y="3647348"/>
            <a:ext cx="6476838" cy="486143"/>
          </a:xfrm>
          <a:prstGeom prst="rect">
            <a:avLst/>
          </a:prstGeom>
          <a:noFill/>
        </p:spPr>
        <p:txBody>
          <a:bodyPr wrap="square" anchor="t" lIns="0" rIns="0" tIns="0" bIns="0">
            <a:spAutoFit/>
          </a:bodyPr>
          <a:lstStyle/>
          <a:p>
            <a:pPr algn="l">
              <a:lnSpc>
                <a:spcPct val="128000"/>
              </a:lnSpc>
            </a:pPr>
            <a:r>
              <a:rPr sz="1300" b="0">
                <a:solidFill>
                  <a:srgbClr val="F2F8FC"/>
                </a:solidFill>
                <a:latin typeface="Segoe UI"/>
              </a:rPr>
              <a:t>Neem de vragenlijsten af: levenskwaliteit, medische consumptie en productiviteit.</a:t>
            </a:r>
          </a:p>
        </p:txBody>
      </p:sp>
      <p:sp>
        <p:nvSpPr>
          <p:cNvPr id="22" name="Oval 21"/>
          <p:cNvSpPr/>
          <p:nvPr/>
        </p:nvSpPr>
        <p:spPr>
          <a:xfrm>
            <a:off x="634984" y="4222390"/>
            <a:ext cx="190495" cy="190495"/>
          </a:xfrm>
          <a:prstGeom prst="ellipse">
            <a:avLst/>
          </a:prstGeom>
          <a:solidFill>
            <a:srgbClr val="113A57"/>
          </a:solidFill>
          <a:ln w="12700">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4984" y="4222390"/>
            <a:ext cx="190495" cy="190495"/>
          </a:xfrm>
          <a:prstGeom prst="rect">
            <a:avLst/>
          </a:prstGeom>
          <a:noFill/>
        </p:spPr>
        <p:txBody>
          <a:bodyPr wrap="square" anchor="ctr" lIns="0" rIns="0" tIns="0" bIns="0">
            <a:spAutoFit/>
          </a:bodyPr>
          <a:lstStyle/>
          <a:p>
            <a:pPr algn="ctr">
              <a:lnSpc>
                <a:spcPct val="100000"/>
              </a:lnSpc>
            </a:pPr>
            <a:r>
              <a:rPr sz="1250" b="1">
                <a:solidFill>
                  <a:srgbClr val="52BDEC"/>
                </a:solidFill>
                <a:latin typeface="Consolas"/>
              </a:rPr>
              <a:t>6</a:t>
            </a:r>
          </a:p>
        </p:txBody>
      </p:sp>
      <p:sp>
        <p:nvSpPr>
          <p:cNvPr id="24" name="TextBox 23"/>
          <p:cNvSpPr txBox="1"/>
          <p:nvPr/>
        </p:nvSpPr>
        <p:spPr>
          <a:xfrm>
            <a:off x="927076" y="4209690"/>
            <a:ext cx="6476838" cy="274821"/>
          </a:xfrm>
          <a:prstGeom prst="rect">
            <a:avLst/>
          </a:prstGeom>
          <a:noFill/>
        </p:spPr>
        <p:txBody>
          <a:bodyPr wrap="square" anchor="t" lIns="0" rIns="0" tIns="0" bIns="0">
            <a:spAutoFit/>
          </a:bodyPr>
          <a:lstStyle/>
          <a:p>
            <a:pPr algn="l">
              <a:lnSpc>
                <a:spcPct val="128000"/>
              </a:lnSpc>
            </a:pPr>
            <a:r>
              <a:rPr sz="1300" b="0">
                <a:solidFill>
                  <a:srgbClr val="F2F8FC"/>
                </a:solidFill>
                <a:latin typeface="Segoe UI"/>
              </a:rPr>
              <a:t>Op maand 6 een tweede week MoveMonitor.</a:t>
            </a:r>
          </a:p>
        </p:txBody>
      </p:sp>
      <p:sp>
        <p:nvSpPr>
          <p:cNvPr id="25" name="TextBox 24"/>
          <p:cNvSpPr txBox="1"/>
          <p:nvPr/>
        </p:nvSpPr>
        <p:spPr>
          <a:xfrm>
            <a:off x="7746806" y="2044648"/>
            <a:ext cx="3809904" cy="215894"/>
          </a:xfrm>
          <a:prstGeom prst="rect">
            <a:avLst/>
          </a:prstGeom>
          <a:noFill/>
        </p:spPr>
        <p:txBody>
          <a:bodyPr wrap="square" anchor="t" lIns="0" rIns="0" tIns="0" bIns="0">
            <a:spAutoFit/>
          </a:bodyPr>
          <a:lstStyle/>
          <a:p>
            <a:pPr algn="l">
              <a:lnSpc>
                <a:spcPct val="125000"/>
              </a:lnSpc>
            </a:pPr>
            <a:r>
              <a:rPr sz="1200" b="1" spc="150">
                <a:solidFill>
                  <a:srgbClr val="8FB6D0"/>
                </a:solidFill>
                <a:latin typeface="Consolas"/>
              </a:rPr>
              <a:t>WAT U INVULT</a:t>
            </a:r>
          </a:p>
        </p:txBody>
      </p:sp>
      <p:sp>
        <p:nvSpPr>
          <p:cNvPr id="26" name="TextBox 25"/>
          <p:cNvSpPr txBox="1"/>
          <p:nvPr/>
        </p:nvSpPr>
        <p:spPr>
          <a:xfrm>
            <a:off x="7746806" y="2324041"/>
            <a:ext cx="3809904" cy="761980"/>
          </a:xfrm>
          <a:prstGeom prst="rect">
            <a:avLst/>
          </a:prstGeom>
          <a:noFill/>
        </p:spPr>
        <p:txBody>
          <a:bodyPr wrap="square" anchor="t" lIns="0" rIns="0" tIns="0" bIns="0">
            <a:spAutoFit/>
          </a:bodyPr>
          <a:lstStyle/>
          <a:p>
            <a:pPr algn="l">
              <a:lnSpc>
                <a:spcPct val="140000"/>
              </a:lnSpc>
            </a:pPr>
            <a:r>
              <a:rPr sz="1900" b="1">
                <a:solidFill>
                  <a:srgbClr val="52BDEC"/>
                </a:solidFill>
                <a:latin typeface="Consolas"/>
              </a:rPr>
              <a:t>08   31   25   32   33   21   34   35   45b</a:t>
            </a:r>
          </a:p>
        </p:txBody>
      </p:sp>
      <p:sp>
        <p:nvSpPr>
          <p:cNvPr id="27" name="Rounded Rectangle 26"/>
          <p:cNvSpPr/>
          <p:nvPr/>
        </p:nvSpPr>
        <p:spPr>
          <a:xfrm>
            <a:off x="7746806" y="3301917"/>
            <a:ext cx="3809904" cy="1455536"/>
          </a:xfrm>
          <a:prstGeom prst="roundRect">
            <a:avLst>
              <a:gd name="adj" fmla="val 4500"/>
            </a:avLst>
          </a:prstGeom>
          <a:solidFill>
            <a:srgbClr val="0A2A44"/>
          </a:solidFill>
          <a:ln w="9525">
            <a:solidFill>
              <a:srgbClr val="FF7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88100" y="3441613"/>
            <a:ext cx="3301917" cy="215894"/>
          </a:xfrm>
          <a:prstGeom prst="rect">
            <a:avLst/>
          </a:prstGeom>
          <a:noFill/>
        </p:spPr>
        <p:txBody>
          <a:bodyPr wrap="square" anchor="t" lIns="0" rIns="0" tIns="0" bIns="0">
            <a:spAutoFit/>
          </a:bodyPr>
          <a:lstStyle/>
          <a:p>
            <a:pPr algn="l">
              <a:lnSpc>
                <a:spcPct val="125000"/>
              </a:lnSpc>
            </a:pPr>
            <a:r>
              <a:rPr sz="1200" b="1" spc="150">
                <a:solidFill>
                  <a:srgbClr val="FF7A00"/>
                </a:solidFill>
                <a:latin typeface="Consolas"/>
              </a:rPr>
              <a:t>LET OP</a:t>
            </a:r>
          </a:p>
        </p:txBody>
      </p:sp>
      <p:sp>
        <p:nvSpPr>
          <p:cNvPr id="29" name="TextBox 28"/>
          <p:cNvSpPr txBox="1"/>
          <p:nvPr/>
        </p:nvSpPr>
        <p:spPr>
          <a:xfrm>
            <a:off x="7988100" y="3682907"/>
            <a:ext cx="3301917" cy="972948"/>
          </a:xfrm>
          <a:prstGeom prst="rect">
            <a:avLst/>
          </a:prstGeom>
          <a:noFill/>
        </p:spPr>
        <p:txBody>
          <a:bodyPr wrap="square" anchor="t" lIns="0" rIns="0" tIns="0" bIns="0">
            <a:spAutoFit/>
          </a:bodyPr>
          <a:lstStyle/>
          <a:p>
            <a:pPr algn="l">
              <a:lnSpc>
                <a:spcPct val="130000"/>
              </a:lnSpc>
            </a:pPr>
            <a:r>
              <a:rPr sz="1400" b="0">
                <a:solidFill>
                  <a:srgbClr val="F2F8FC"/>
                </a:solidFill>
                <a:latin typeface="Segoe UI"/>
              </a:rPr>
              <a:t>Uitlezen kan alleen ter plaatse. Koppel het aan een bezoek dat toch al gepland is.</a:t>
            </a:r>
          </a:p>
        </p:txBody>
      </p:sp>
      <p:sp>
        <p:nvSpPr>
          <p:cNvPr id="30" name="TextBox 29"/>
          <p:cNvSpPr txBox="1"/>
          <p:nvPr/>
        </p:nvSpPr>
        <p:spPr>
          <a:xfrm>
            <a:off x="634984" y="6387940"/>
            <a:ext cx="9524761" cy="190495"/>
          </a:xfrm>
          <a:prstGeom prst="rect">
            <a:avLst/>
          </a:prstGeom>
          <a:noFill/>
        </p:spPr>
        <p:txBody>
          <a:bodyPr wrap="square" anchor="t" lIns="0" rIns="0" tIns="0" bIns="0">
            <a:spAutoFit/>
          </a:bodyPr>
          <a:lstStyle/>
          <a:p>
            <a:pPr algn="l">
              <a:lnSpc>
                <a:spcPct val="125000"/>
              </a:lnSpc>
            </a:pPr>
            <a:r>
              <a:rPr sz="1150" b="0">
                <a:solidFill>
                  <a:srgbClr val="8FB6D0"/>
                </a:solidFill>
                <a:latin typeface="Consolas"/>
              </a:rPr>
              <a:t>Podoloog leest uit en begeleidt · arts beoordeelt laesies</a:t>
            </a:r>
          </a:p>
        </p:txBody>
      </p:sp>
      <p:sp>
        <p:nvSpPr>
          <p:cNvPr id="31" name="TextBox 30"/>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17 / 28</a:t>
            </a:r>
          </a:p>
        </p:txBody>
      </p:sp>
      <p:pic>
        <p:nvPicPr>
          <p:cNvPr id="32"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33" name="TextBox 32"/>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Bron  18 · Lutjeboer 2018   |   29 · Dahmen 2018</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VISITES 4, 6 EN 8 · MAAND 6, 12 EN 18</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Wat er drie keer extra bij komt</a:t>
            </a:r>
          </a:p>
        </p:txBody>
      </p:sp>
      <p:sp>
        <p:nvSpPr>
          <p:cNvPr id="5" name="Rounded Rectangle 4"/>
          <p:cNvSpPr/>
          <p:nvPr/>
        </p:nvSpPr>
        <p:spPr>
          <a:xfrm>
            <a:off x="634984" y="1498562"/>
            <a:ext cx="3555911" cy="279393"/>
          </a:xfrm>
          <a:prstGeom prst="roundRect">
            <a:avLst>
              <a:gd name="adj" fmla="val 4500"/>
            </a:avLst>
          </a:prstGeom>
          <a:solidFill>
            <a:srgbClr val="174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4984" y="1568410"/>
            <a:ext cx="3555911" cy="203194"/>
          </a:xfrm>
          <a:prstGeom prst="rect">
            <a:avLst/>
          </a:prstGeom>
          <a:noFill/>
        </p:spPr>
        <p:txBody>
          <a:bodyPr wrap="square" anchor="t" lIns="0" rIns="0" tIns="0" bIns="0">
            <a:spAutoFit/>
          </a:bodyPr>
          <a:lstStyle/>
          <a:p>
            <a:pPr algn="ctr">
              <a:lnSpc>
                <a:spcPct val="125000"/>
              </a:lnSpc>
            </a:pPr>
            <a:r>
              <a:rPr sz="1300" b="1">
                <a:solidFill>
                  <a:srgbClr val="52BDEC"/>
                </a:solidFill>
                <a:latin typeface="Consolas"/>
              </a:rPr>
              <a:t>Bovenop de driemaandelijkse opvolging</a:t>
            </a:r>
          </a:p>
        </p:txBody>
      </p:sp>
      <p:sp>
        <p:nvSpPr>
          <p:cNvPr id="7" name="Oval 6"/>
          <p:cNvSpPr/>
          <p:nvPr/>
        </p:nvSpPr>
        <p:spPr>
          <a:xfrm>
            <a:off x="634984" y="2044648"/>
            <a:ext cx="190495" cy="190495"/>
          </a:xfrm>
          <a:prstGeom prst="ellipse">
            <a:avLst/>
          </a:prstGeom>
          <a:solidFill>
            <a:srgbClr val="113A57"/>
          </a:solidFill>
          <a:ln w="12700">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4984" y="2044648"/>
            <a:ext cx="190495" cy="190495"/>
          </a:xfrm>
          <a:prstGeom prst="rect">
            <a:avLst/>
          </a:prstGeom>
          <a:noFill/>
        </p:spPr>
        <p:txBody>
          <a:bodyPr wrap="square" anchor="ctr" lIns="0" rIns="0" tIns="0" bIns="0">
            <a:spAutoFit/>
          </a:bodyPr>
          <a:lstStyle/>
          <a:p>
            <a:pPr algn="ctr">
              <a:lnSpc>
                <a:spcPct val="100000"/>
              </a:lnSpc>
            </a:pPr>
            <a:r>
              <a:rPr sz="1250" b="1">
                <a:solidFill>
                  <a:srgbClr val="52BDEC"/>
                </a:solidFill>
                <a:latin typeface="Consolas"/>
              </a:rPr>
              <a:t>1</a:t>
            </a:r>
          </a:p>
        </p:txBody>
      </p:sp>
      <p:sp>
        <p:nvSpPr>
          <p:cNvPr id="9" name="TextBox 8"/>
          <p:cNvSpPr txBox="1"/>
          <p:nvPr/>
        </p:nvSpPr>
        <p:spPr>
          <a:xfrm>
            <a:off x="927076" y="2031949"/>
            <a:ext cx="6476838" cy="274821"/>
          </a:xfrm>
          <a:prstGeom prst="rect">
            <a:avLst/>
          </a:prstGeom>
          <a:noFill/>
        </p:spPr>
        <p:txBody>
          <a:bodyPr wrap="square" anchor="t" lIns="0" rIns="0" tIns="0" bIns="0">
            <a:spAutoFit/>
          </a:bodyPr>
          <a:lstStyle/>
          <a:p>
            <a:pPr algn="l">
              <a:lnSpc>
                <a:spcPct val="128000"/>
              </a:lnSpc>
            </a:pPr>
            <a:r>
              <a:rPr sz="1300" b="0">
                <a:solidFill>
                  <a:srgbClr val="F2F8FC"/>
                </a:solidFill>
                <a:latin typeface="Segoe UI"/>
              </a:rPr>
              <a:t>Herhaal de drukmeting en toets opnieuw per doelregio.</a:t>
            </a:r>
          </a:p>
        </p:txBody>
      </p:sp>
      <p:sp>
        <p:nvSpPr>
          <p:cNvPr id="10" name="Oval 9"/>
          <p:cNvSpPr/>
          <p:nvPr/>
        </p:nvSpPr>
        <p:spPr>
          <a:xfrm>
            <a:off x="634984" y="2395668"/>
            <a:ext cx="190495" cy="190495"/>
          </a:xfrm>
          <a:prstGeom prst="ellipse">
            <a:avLst/>
          </a:prstGeom>
          <a:solidFill>
            <a:srgbClr val="113A57"/>
          </a:solidFill>
          <a:ln w="12700">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4984" y="2395668"/>
            <a:ext cx="190495" cy="190495"/>
          </a:xfrm>
          <a:prstGeom prst="rect">
            <a:avLst/>
          </a:prstGeom>
          <a:noFill/>
        </p:spPr>
        <p:txBody>
          <a:bodyPr wrap="square" anchor="ctr" lIns="0" rIns="0" tIns="0" bIns="0">
            <a:spAutoFit/>
          </a:bodyPr>
          <a:lstStyle/>
          <a:p>
            <a:pPr algn="ctr">
              <a:lnSpc>
                <a:spcPct val="100000"/>
              </a:lnSpc>
            </a:pPr>
            <a:r>
              <a:rPr sz="1250" b="1">
                <a:solidFill>
                  <a:srgbClr val="52BDEC"/>
                </a:solidFill>
                <a:latin typeface="Consolas"/>
              </a:rPr>
              <a:t>2</a:t>
            </a:r>
          </a:p>
        </p:txBody>
      </p:sp>
      <p:sp>
        <p:nvSpPr>
          <p:cNvPr id="12" name="TextBox 11"/>
          <p:cNvSpPr txBox="1"/>
          <p:nvPr/>
        </p:nvSpPr>
        <p:spPr>
          <a:xfrm>
            <a:off x="927076" y="2382968"/>
            <a:ext cx="6476838" cy="486143"/>
          </a:xfrm>
          <a:prstGeom prst="rect">
            <a:avLst/>
          </a:prstGeom>
          <a:noFill/>
        </p:spPr>
        <p:txBody>
          <a:bodyPr wrap="square" anchor="t" lIns="0" rIns="0" tIns="0" bIns="0">
            <a:spAutoFit/>
          </a:bodyPr>
          <a:lstStyle/>
          <a:p>
            <a:pPr algn="l">
              <a:lnSpc>
                <a:spcPct val="128000"/>
              </a:lnSpc>
            </a:pPr>
            <a:r>
              <a:rPr sz="1300" b="0">
                <a:solidFill>
                  <a:srgbClr val="F2F8FC"/>
                </a:solidFill>
                <a:latin typeface="Segoe UI"/>
              </a:rPr>
              <a:t>Ligt de piekdruk boven 200 kPa, of is er nog winst haalbaar, pas dan opnieuw aan volgens dezelfde procedure.</a:t>
            </a:r>
          </a:p>
        </p:txBody>
      </p:sp>
      <p:sp>
        <p:nvSpPr>
          <p:cNvPr id="13" name="Oval 12"/>
          <p:cNvSpPr/>
          <p:nvPr/>
        </p:nvSpPr>
        <p:spPr>
          <a:xfrm>
            <a:off x="634984" y="2958010"/>
            <a:ext cx="190495" cy="190495"/>
          </a:xfrm>
          <a:prstGeom prst="ellipse">
            <a:avLst/>
          </a:prstGeom>
          <a:solidFill>
            <a:srgbClr val="113A57"/>
          </a:solidFill>
          <a:ln w="12700">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984" y="2958010"/>
            <a:ext cx="190495" cy="190495"/>
          </a:xfrm>
          <a:prstGeom prst="rect">
            <a:avLst/>
          </a:prstGeom>
          <a:noFill/>
        </p:spPr>
        <p:txBody>
          <a:bodyPr wrap="square" anchor="ctr" lIns="0" rIns="0" tIns="0" bIns="0">
            <a:spAutoFit/>
          </a:bodyPr>
          <a:lstStyle/>
          <a:p>
            <a:pPr algn="ctr">
              <a:lnSpc>
                <a:spcPct val="100000"/>
              </a:lnSpc>
            </a:pPr>
            <a:r>
              <a:rPr sz="1250" b="1">
                <a:solidFill>
                  <a:srgbClr val="52BDEC"/>
                </a:solidFill>
                <a:latin typeface="Consolas"/>
              </a:rPr>
              <a:t>3</a:t>
            </a:r>
          </a:p>
        </p:txBody>
      </p:sp>
      <p:sp>
        <p:nvSpPr>
          <p:cNvPr id="15" name="TextBox 14"/>
          <p:cNvSpPr txBox="1"/>
          <p:nvPr/>
        </p:nvSpPr>
        <p:spPr>
          <a:xfrm>
            <a:off x="927076" y="2945310"/>
            <a:ext cx="6476838" cy="486143"/>
          </a:xfrm>
          <a:prstGeom prst="rect">
            <a:avLst/>
          </a:prstGeom>
          <a:noFill/>
        </p:spPr>
        <p:txBody>
          <a:bodyPr wrap="square" anchor="t" lIns="0" rIns="0" tIns="0" bIns="0">
            <a:spAutoFit/>
          </a:bodyPr>
          <a:lstStyle/>
          <a:p>
            <a:pPr algn="l">
              <a:lnSpc>
                <a:spcPct val="128000"/>
              </a:lnSpc>
            </a:pPr>
            <a:r>
              <a:rPr sz="1300" b="0">
                <a:solidFill>
                  <a:srgbClr val="F2F8FC"/>
                </a:solidFill>
                <a:latin typeface="Segoe UI"/>
              </a:rPr>
              <a:t>Op maand 18 ook de tevredenheidsschaal opnieuw afnemen, zodat de verandering tegenover baseline gemeten kan worden.</a:t>
            </a:r>
          </a:p>
        </p:txBody>
      </p:sp>
      <p:sp>
        <p:nvSpPr>
          <p:cNvPr id="16" name="TextBox 15"/>
          <p:cNvSpPr txBox="1"/>
          <p:nvPr/>
        </p:nvSpPr>
        <p:spPr>
          <a:xfrm>
            <a:off x="7746806" y="2044648"/>
            <a:ext cx="3809904" cy="215894"/>
          </a:xfrm>
          <a:prstGeom prst="rect">
            <a:avLst/>
          </a:prstGeom>
          <a:noFill/>
        </p:spPr>
        <p:txBody>
          <a:bodyPr wrap="square" anchor="t" lIns="0" rIns="0" tIns="0" bIns="0">
            <a:spAutoFit/>
          </a:bodyPr>
          <a:lstStyle/>
          <a:p>
            <a:pPr algn="l">
              <a:lnSpc>
                <a:spcPct val="125000"/>
              </a:lnSpc>
            </a:pPr>
            <a:r>
              <a:rPr sz="1200" b="1" spc="150">
                <a:solidFill>
                  <a:srgbClr val="8FB6D0"/>
                </a:solidFill>
                <a:latin typeface="Consolas"/>
              </a:rPr>
              <a:t>WAT U INVULT</a:t>
            </a:r>
          </a:p>
        </p:txBody>
      </p:sp>
      <p:sp>
        <p:nvSpPr>
          <p:cNvPr id="17" name="TextBox 16"/>
          <p:cNvSpPr txBox="1"/>
          <p:nvPr/>
        </p:nvSpPr>
        <p:spPr>
          <a:xfrm>
            <a:off x="7746806" y="2324041"/>
            <a:ext cx="3809904" cy="761980"/>
          </a:xfrm>
          <a:prstGeom prst="rect">
            <a:avLst/>
          </a:prstGeom>
          <a:noFill/>
        </p:spPr>
        <p:txBody>
          <a:bodyPr wrap="square" anchor="t" lIns="0" rIns="0" tIns="0" bIns="0">
            <a:spAutoFit/>
          </a:bodyPr>
          <a:lstStyle/>
          <a:p>
            <a:pPr algn="l">
              <a:lnSpc>
                <a:spcPct val="140000"/>
              </a:lnSpc>
            </a:pPr>
            <a:r>
              <a:rPr sz="1900" b="1">
                <a:solidFill>
                  <a:srgbClr val="52BDEC"/>
                </a:solidFill>
                <a:latin typeface="Consolas"/>
              </a:rPr>
              <a:t>24   24b   12</a:t>
            </a:r>
          </a:p>
        </p:txBody>
      </p:sp>
      <p:sp>
        <p:nvSpPr>
          <p:cNvPr id="18" name="Rounded Rectangle 17"/>
          <p:cNvSpPr/>
          <p:nvPr/>
        </p:nvSpPr>
        <p:spPr>
          <a:xfrm>
            <a:off x="7746806" y="3301917"/>
            <a:ext cx="3809904" cy="1455536"/>
          </a:xfrm>
          <a:prstGeom prst="roundRect">
            <a:avLst>
              <a:gd name="adj" fmla="val 4500"/>
            </a:avLst>
          </a:prstGeom>
          <a:solidFill>
            <a:srgbClr val="0A2A44"/>
          </a:solidFill>
          <a:ln w="9525">
            <a:solidFill>
              <a:srgbClr val="FF7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88100" y="3441613"/>
            <a:ext cx="3301917" cy="215894"/>
          </a:xfrm>
          <a:prstGeom prst="rect">
            <a:avLst/>
          </a:prstGeom>
          <a:noFill/>
        </p:spPr>
        <p:txBody>
          <a:bodyPr wrap="square" anchor="t" lIns="0" rIns="0" tIns="0" bIns="0">
            <a:spAutoFit/>
          </a:bodyPr>
          <a:lstStyle/>
          <a:p>
            <a:pPr algn="l">
              <a:lnSpc>
                <a:spcPct val="125000"/>
              </a:lnSpc>
            </a:pPr>
            <a:r>
              <a:rPr sz="1200" b="1" spc="150">
                <a:solidFill>
                  <a:srgbClr val="FF7A00"/>
                </a:solidFill>
                <a:latin typeface="Consolas"/>
              </a:rPr>
              <a:t>LET OP</a:t>
            </a:r>
          </a:p>
        </p:txBody>
      </p:sp>
      <p:sp>
        <p:nvSpPr>
          <p:cNvPr id="20" name="TextBox 19"/>
          <p:cNvSpPr txBox="1"/>
          <p:nvPr/>
        </p:nvSpPr>
        <p:spPr>
          <a:xfrm>
            <a:off x="7988100" y="3682907"/>
            <a:ext cx="3301917" cy="972948"/>
          </a:xfrm>
          <a:prstGeom prst="rect">
            <a:avLst/>
          </a:prstGeom>
          <a:noFill/>
        </p:spPr>
        <p:txBody>
          <a:bodyPr wrap="square" anchor="t" lIns="0" rIns="0" tIns="0" bIns="0">
            <a:spAutoFit/>
          </a:bodyPr>
          <a:lstStyle/>
          <a:p>
            <a:pPr algn="l">
              <a:lnSpc>
                <a:spcPct val="130000"/>
              </a:lnSpc>
            </a:pPr>
            <a:r>
              <a:rPr sz="1400" b="0">
                <a:solidFill>
                  <a:srgbClr val="F2F8FC"/>
                </a:solidFill>
                <a:latin typeface="Segoe UI"/>
              </a:rPr>
              <a:t>Drie extra meetmomenten. Maand 18 telt mee: het recidief wordt over de volle achttien maanden geteld.</a:t>
            </a:r>
          </a:p>
        </p:txBody>
      </p:sp>
      <p:sp>
        <p:nvSpPr>
          <p:cNvPr id="21" name="TextBox 20"/>
          <p:cNvSpPr txBox="1"/>
          <p:nvPr/>
        </p:nvSpPr>
        <p:spPr>
          <a:xfrm>
            <a:off x="634984" y="6387940"/>
            <a:ext cx="9524761" cy="190495"/>
          </a:xfrm>
          <a:prstGeom prst="rect">
            <a:avLst/>
          </a:prstGeom>
          <a:noFill/>
        </p:spPr>
        <p:txBody>
          <a:bodyPr wrap="square" anchor="t" lIns="0" rIns="0" tIns="0" bIns="0">
            <a:spAutoFit/>
          </a:bodyPr>
          <a:lstStyle/>
          <a:p>
            <a:pPr algn="l">
              <a:lnSpc>
                <a:spcPct val="125000"/>
              </a:lnSpc>
            </a:pPr>
            <a:r>
              <a:rPr sz="1150" b="0">
                <a:solidFill>
                  <a:srgbClr val="8FB6D0"/>
                </a:solidFill>
                <a:latin typeface="Consolas"/>
              </a:rPr>
              <a:t>Podoloog meet · pedorthist past aan</a:t>
            </a:r>
          </a:p>
        </p:txBody>
      </p:sp>
      <p:sp>
        <p:nvSpPr>
          <p:cNvPr id="22" name="TextBox 21"/>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18 / 28</a:t>
            </a:r>
          </a:p>
        </p:txBody>
      </p:sp>
      <p:pic>
        <p:nvPicPr>
          <p:cNvPr id="23"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24" name="TextBox 23"/>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Bron  7 · Bus 2020</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355591"/>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HET TRAJECT</a:t>
            </a:r>
          </a:p>
        </p:txBody>
      </p:sp>
      <p:sp>
        <p:nvSpPr>
          <p:cNvPr id="4" name="!!sectietitel"/>
          <p:cNvSpPr txBox="1"/>
          <p:nvPr/>
        </p:nvSpPr>
        <p:spPr>
          <a:xfrm>
            <a:off x="634984" y="609584"/>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Terug naar het geheel</a:t>
            </a:r>
          </a:p>
        </p:txBody>
      </p:sp>
      <p:sp>
        <p:nvSpPr>
          <p:cNvPr id="5" name="!!band"/>
          <p:cNvSpPr/>
          <p:nvPr/>
        </p:nvSpPr>
        <p:spPr>
          <a:xfrm>
            <a:off x="0" y="1206469"/>
            <a:ext cx="12191695" cy="3301917"/>
          </a:xfrm>
          <a:prstGeom prst="rect">
            <a:avLst/>
          </a:prstGeom>
          <a:solidFill>
            <a:srgbClr val="0A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as"/>
          <p:cNvSpPr/>
          <p:nvPr/>
        </p:nvSpPr>
        <p:spPr>
          <a:xfrm>
            <a:off x="634984" y="2920926"/>
            <a:ext cx="10921726"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tip0"/>
          <p:cNvSpPr/>
          <p:nvPr/>
        </p:nvSpPr>
        <p:spPr>
          <a:xfrm>
            <a:off x="1085822" y="2838379"/>
            <a:ext cx="190495" cy="190495"/>
          </a:xfrm>
          <a:prstGeom prst="ellipse">
            <a:avLst/>
          </a:prstGeom>
          <a:solidFill>
            <a:srgbClr val="FF7A00"/>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maand0"/>
          <p:cNvSpPr txBox="1"/>
          <p:nvPr/>
        </p:nvSpPr>
        <p:spPr>
          <a:xfrm>
            <a:off x="634984" y="2133546"/>
            <a:ext cx="1092172" cy="279393"/>
          </a:xfrm>
          <a:prstGeom prst="rect">
            <a:avLst/>
          </a:prstGeom>
          <a:noFill/>
        </p:spPr>
        <p:txBody>
          <a:bodyPr wrap="square" anchor="t" lIns="0" rIns="0" tIns="0" bIns="0">
            <a:spAutoFit/>
          </a:bodyPr>
          <a:lstStyle/>
          <a:p>
            <a:pPr algn="ctr">
              <a:lnSpc>
                <a:spcPct val="125000"/>
              </a:lnSpc>
            </a:pPr>
            <a:r>
              <a:rPr sz="1500" b="1">
                <a:solidFill>
                  <a:srgbClr val="F2F8FC"/>
                </a:solidFill>
                <a:latin typeface="Consolas"/>
              </a:rPr>
              <a:t>Screen</a:t>
            </a:r>
          </a:p>
        </p:txBody>
      </p:sp>
      <p:sp>
        <p:nvSpPr>
          <p:cNvPr id="9" name="!!taak0"/>
          <p:cNvSpPr txBox="1"/>
          <p:nvPr/>
        </p:nvSpPr>
        <p:spPr>
          <a:xfrm>
            <a:off x="698482"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geschiktheid</a:t>
            </a:r>
          </a:p>
        </p:txBody>
      </p:sp>
      <p:sp>
        <p:nvSpPr>
          <p:cNvPr id="10" name="!!stip1"/>
          <p:cNvSpPr/>
          <p:nvPr/>
        </p:nvSpPr>
        <p:spPr>
          <a:xfrm>
            <a:off x="2177995" y="2838379"/>
            <a:ext cx="190495" cy="190495"/>
          </a:xfrm>
          <a:prstGeom prst="ellipse">
            <a:avLst/>
          </a:prstGeom>
          <a:solidFill>
            <a:srgbClr val="FF7A00"/>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maand1"/>
          <p:cNvSpPr txBox="1"/>
          <p:nvPr/>
        </p:nvSpPr>
        <p:spPr>
          <a:xfrm>
            <a:off x="1727156"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V0</a:t>
            </a:r>
          </a:p>
        </p:txBody>
      </p:sp>
      <p:sp>
        <p:nvSpPr>
          <p:cNvPr id="12" name="!!taak1"/>
          <p:cNvSpPr txBox="1"/>
          <p:nvPr/>
        </p:nvSpPr>
        <p:spPr>
          <a:xfrm>
            <a:off x="1790655"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loting</a:t>
            </a:r>
          </a:p>
        </p:txBody>
      </p:sp>
      <p:sp>
        <p:nvSpPr>
          <p:cNvPr id="13" name="!!stip2"/>
          <p:cNvSpPr/>
          <p:nvPr/>
        </p:nvSpPr>
        <p:spPr>
          <a:xfrm>
            <a:off x="3289217" y="2857428"/>
            <a:ext cx="152396" cy="152396"/>
          </a:xfrm>
          <a:prstGeom prst="ellipse">
            <a:avLst/>
          </a:prstGeom>
          <a:solidFill>
            <a:srgbClr val="52BDEC"/>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maand2"/>
          <p:cNvSpPr txBox="1"/>
          <p:nvPr/>
        </p:nvSpPr>
        <p:spPr>
          <a:xfrm>
            <a:off x="2819329"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V1</a:t>
            </a:r>
          </a:p>
        </p:txBody>
      </p:sp>
      <p:sp>
        <p:nvSpPr>
          <p:cNvPr id="15" name="!!taak2"/>
          <p:cNvSpPr txBox="1"/>
          <p:nvPr/>
        </p:nvSpPr>
        <p:spPr>
          <a:xfrm>
            <a:off x="2882827"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baseline</a:t>
            </a:r>
          </a:p>
        </p:txBody>
      </p:sp>
      <p:sp>
        <p:nvSpPr>
          <p:cNvPr id="16" name="!!stip3"/>
          <p:cNvSpPr/>
          <p:nvPr/>
        </p:nvSpPr>
        <p:spPr>
          <a:xfrm>
            <a:off x="4381390" y="2857428"/>
            <a:ext cx="152396" cy="152396"/>
          </a:xfrm>
          <a:prstGeom prst="ellipse">
            <a:avLst/>
          </a:prstGeom>
          <a:solidFill>
            <a:srgbClr val="52BDEC"/>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maand3"/>
          <p:cNvSpPr txBox="1"/>
          <p:nvPr/>
        </p:nvSpPr>
        <p:spPr>
          <a:xfrm>
            <a:off x="3911502"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V2</a:t>
            </a:r>
          </a:p>
        </p:txBody>
      </p:sp>
      <p:sp>
        <p:nvSpPr>
          <p:cNvPr id="18" name="!!taak3"/>
          <p:cNvSpPr txBox="1"/>
          <p:nvPr/>
        </p:nvSpPr>
        <p:spPr>
          <a:xfrm>
            <a:off x="3975000"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zool + sensor</a:t>
            </a:r>
          </a:p>
        </p:txBody>
      </p:sp>
      <p:sp>
        <p:nvSpPr>
          <p:cNvPr id="19" name="!!stip4"/>
          <p:cNvSpPr/>
          <p:nvPr/>
        </p:nvSpPr>
        <p:spPr>
          <a:xfrm>
            <a:off x="5473563" y="2857428"/>
            <a:ext cx="152396" cy="152396"/>
          </a:xfrm>
          <a:prstGeom prst="ellipse">
            <a:avLst/>
          </a:prstGeom>
          <a:solidFill>
            <a:srgbClr val="1D8DB0"/>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maand4"/>
          <p:cNvSpPr txBox="1"/>
          <p:nvPr/>
        </p:nvSpPr>
        <p:spPr>
          <a:xfrm>
            <a:off x="5003674"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M3</a:t>
            </a:r>
          </a:p>
        </p:txBody>
      </p:sp>
      <p:sp>
        <p:nvSpPr>
          <p:cNvPr id="21" name="!!taak4"/>
          <p:cNvSpPr txBox="1"/>
          <p:nvPr/>
        </p:nvSpPr>
        <p:spPr>
          <a:xfrm>
            <a:off x="5067173"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opvolging</a:t>
            </a:r>
          </a:p>
        </p:txBody>
      </p:sp>
      <p:sp>
        <p:nvSpPr>
          <p:cNvPr id="22" name="!!stip5"/>
          <p:cNvSpPr/>
          <p:nvPr/>
        </p:nvSpPr>
        <p:spPr>
          <a:xfrm>
            <a:off x="6565735" y="2857428"/>
            <a:ext cx="152396" cy="152396"/>
          </a:xfrm>
          <a:prstGeom prst="ellipse">
            <a:avLst/>
          </a:prstGeom>
          <a:solidFill>
            <a:srgbClr val="52BDEC"/>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maand5"/>
          <p:cNvSpPr txBox="1"/>
          <p:nvPr/>
        </p:nvSpPr>
        <p:spPr>
          <a:xfrm>
            <a:off x="6095847"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M6</a:t>
            </a:r>
          </a:p>
        </p:txBody>
      </p:sp>
      <p:sp>
        <p:nvSpPr>
          <p:cNvPr id="24" name="!!taak5"/>
          <p:cNvSpPr txBox="1"/>
          <p:nvPr/>
        </p:nvSpPr>
        <p:spPr>
          <a:xfrm>
            <a:off x="6159346"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meting</a:t>
            </a:r>
          </a:p>
        </p:txBody>
      </p:sp>
      <p:sp>
        <p:nvSpPr>
          <p:cNvPr id="25" name="!!stip6"/>
          <p:cNvSpPr/>
          <p:nvPr/>
        </p:nvSpPr>
        <p:spPr>
          <a:xfrm>
            <a:off x="7657908" y="2857428"/>
            <a:ext cx="152396" cy="152396"/>
          </a:xfrm>
          <a:prstGeom prst="ellipse">
            <a:avLst/>
          </a:prstGeom>
          <a:solidFill>
            <a:srgbClr val="1D8DB0"/>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maand6"/>
          <p:cNvSpPr txBox="1"/>
          <p:nvPr/>
        </p:nvSpPr>
        <p:spPr>
          <a:xfrm>
            <a:off x="7188020"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M9</a:t>
            </a:r>
          </a:p>
        </p:txBody>
      </p:sp>
      <p:sp>
        <p:nvSpPr>
          <p:cNvPr id="27" name="!!taak6"/>
          <p:cNvSpPr txBox="1"/>
          <p:nvPr/>
        </p:nvSpPr>
        <p:spPr>
          <a:xfrm>
            <a:off x="7251518"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opvolging</a:t>
            </a:r>
          </a:p>
        </p:txBody>
      </p:sp>
      <p:sp>
        <p:nvSpPr>
          <p:cNvPr id="28" name="!!stip7"/>
          <p:cNvSpPr/>
          <p:nvPr/>
        </p:nvSpPr>
        <p:spPr>
          <a:xfrm>
            <a:off x="8750081" y="2857428"/>
            <a:ext cx="152396" cy="152396"/>
          </a:xfrm>
          <a:prstGeom prst="ellipse">
            <a:avLst/>
          </a:prstGeom>
          <a:solidFill>
            <a:srgbClr val="52BDEC"/>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maand7"/>
          <p:cNvSpPr txBox="1"/>
          <p:nvPr/>
        </p:nvSpPr>
        <p:spPr>
          <a:xfrm>
            <a:off x="8280192"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M12</a:t>
            </a:r>
          </a:p>
        </p:txBody>
      </p:sp>
      <p:sp>
        <p:nvSpPr>
          <p:cNvPr id="30" name="!!taak7"/>
          <p:cNvSpPr txBox="1"/>
          <p:nvPr/>
        </p:nvSpPr>
        <p:spPr>
          <a:xfrm>
            <a:off x="8343691"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meting</a:t>
            </a:r>
          </a:p>
        </p:txBody>
      </p:sp>
      <p:sp>
        <p:nvSpPr>
          <p:cNvPr id="31" name="!!stip8"/>
          <p:cNvSpPr/>
          <p:nvPr/>
        </p:nvSpPr>
        <p:spPr>
          <a:xfrm>
            <a:off x="9842253" y="2857428"/>
            <a:ext cx="152396" cy="152396"/>
          </a:xfrm>
          <a:prstGeom prst="ellipse">
            <a:avLst/>
          </a:prstGeom>
          <a:solidFill>
            <a:srgbClr val="1D8DB0"/>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maand8"/>
          <p:cNvSpPr txBox="1"/>
          <p:nvPr/>
        </p:nvSpPr>
        <p:spPr>
          <a:xfrm>
            <a:off x="9372365"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M15</a:t>
            </a:r>
          </a:p>
        </p:txBody>
      </p:sp>
      <p:sp>
        <p:nvSpPr>
          <p:cNvPr id="33" name="!!taak8"/>
          <p:cNvSpPr txBox="1"/>
          <p:nvPr/>
        </p:nvSpPr>
        <p:spPr>
          <a:xfrm>
            <a:off x="9435864"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opvolging</a:t>
            </a:r>
          </a:p>
        </p:txBody>
      </p:sp>
      <p:sp>
        <p:nvSpPr>
          <p:cNvPr id="34" name="!!stip9"/>
          <p:cNvSpPr/>
          <p:nvPr/>
        </p:nvSpPr>
        <p:spPr>
          <a:xfrm>
            <a:off x="10915377" y="2838379"/>
            <a:ext cx="190495" cy="190495"/>
          </a:xfrm>
          <a:prstGeom prst="ellipse">
            <a:avLst/>
          </a:prstGeom>
          <a:solidFill>
            <a:srgbClr val="FF7A00"/>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maand9"/>
          <p:cNvSpPr txBox="1"/>
          <p:nvPr/>
        </p:nvSpPr>
        <p:spPr>
          <a:xfrm>
            <a:off x="10464538"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M18</a:t>
            </a:r>
          </a:p>
        </p:txBody>
      </p:sp>
      <p:sp>
        <p:nvSpPr>
          <p:cNvPr id="36" name="!!taak9"/>
          <p:cNvSpPr txBox="1"/>
          <p:nvPr/>
        </p:nvSpPr>
        <p:spPr>
          <a:xfrm>
            <a:off x="10528036"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meting + einde</a:t>
            </a:r>
          </a:p>
        </p:txBody>
      </p:sp>
      <p:sp>
        <p:nvSpPr>
          <p:cNvPr id="37" name="Oval 36"/>
          <p:cNvSpPr/>
          <p:nvPr/>
        </p:nvSpPr>
        <p:spPr>
          <a:xfrm>
            <a:off x="660383" y="4013099"/>
            <a:ext cx="114297" cy="114297"/>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0878" y="3975000"/>
            <a:ext cx="2285942" cy="215894"/>
          </a:xfrm>
          <a:prstGeom prst="rect">
            <a:avLst/>
          </a:prstGeom>
          <a:noFill/>
        </p:spPr>
        <p:txBody>
          <a:bodyPr wrap="square" anchor="t" lIns="0" rIns="0" tIns="0" bIns="0">
            <a:spAutoFit/>
          </a:bodyPr>
          <a:lstStyle/>
          <a:p>
            <a:pPr algn="l">
              <a:lnSpc>
                <a:spcPct val="125000"/>
              </a:lnSpc>
            </a:pPr>
            <a:r>
              <a:rPr sz="1300" b="0">
                <a:solidFill>
                  <a:srgbClr val="8FB6D0"/>
                </a:solidFill>
                <a:latin typeface="Consolas"/>
              </a:rPr>
              <a:t>meetmoment</a:t>
            </a:r>
          </a:p>
        </p:txBody>
      </p:sp>
      <p:sp>
        <p:nvSpPr>
          <p:cNvPr id="39" name="Oval 38"/>
          <p:cNvSpPr/>
          <p:nvPr/>
        </p:nvSpPr>
        <p:spPr>
          <a:xfrm>
            <a:off x="3200319" y="4013099"/>
            <a:ext cx="114297" cy="114297"/>
          </a:xfrm>
          <a:prstGeom prst="ellipse">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390815" y="3975000"/>
            <a:ext cx="2285942" cy="215894"/>
          </a:xfrm>
          <a:prstGeom prst="rect">
            <a:avLst/>
          </a:prstGeom>
          <a:noFill/>
        </p:spPr>
        <p:txBody>
          <a:bodyPr wrap="square" anchor="t" lIns="0" rIns="0" tIns="0" bIns="0">
            <a:spAutoFit/>
          </a:bodyPr>
          <a:lstStyle/>
          <a:p>
            <a:pPr algn="l">
              <a:lnSpc>
                <a:spcPct val="125000"/>
              </a:lnSpc>
            </a:pPr>
            <a:r>
              <a:rPr sz="1300" b="0">
                <a:solidFill>
                  <a:srgbClr val="8FB6D0"/>
                </a:solidFill>
                <a:latin typeface="Consolas"/>
              </a:rPr>
              <a:t>begeleiding</a:t>
            </a:r>
          </a:p>
        </p:txBody>
      </p:sp>
      <p:sp>
        <p:nvSpPr>
          <p:cNvPr id="41" name="Oval 40"/>
          <p:cNvSpPr/>
          <p:nvPr/>
        </p:nvSpPr>
        <p:spPr>
          <a:xfrm>
            <a:off x="5740256" y="4013099"/>
            <a:ext cx="114297" cy="114297"/>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930751" y="3975000"/>
            <a:ext cx="2285942" cy="215894"/>
          </a:xfrm>
          <a:prstGeom prst="rect">
            <a:avLst/>
          </a:prstGeom>
          <a:noFill/>
        </p:spPr>
        <p:txBody>
          <a:bodyPr wrap="square" anchor="t" lIns="0" rIns="0" tIns="0" bIns="0">
            <a:spAutoFit/>
          </a:bodyPr>
          <a:lstStyle/>
          <a:p>
            <a:pPr algn="l">
              <a:lnSpc>
                <a:spcPct val="125000"/>
              </a:lnSpc>
            </a:pPr>
            <a:r>
              <a:rPr sz="1300" b="0">
                <a:solidFill>
                  <a:srgbClr val="8FB6D0"/>
                </a:solidFill>
                <a:latin typeface="Consolas"/>
              </a:rPr>
              <a:t>start en afronding</a:t>
            </a:r>
          </a:p>
        </p:txBody>
      </p:sp>
      <p:sp>
        <p:nvSpPr>
          <p:cNvPr id="43" name="!!camera"/>
          <p:cNvSpPr txBox="1"/>
          <p:nvPr/>
        </p:nvSpPr>
        <p:spPr>
          <a:xfrm>
            <a:off x="634984" y="4711582"/>
            <a:ext cx="2031949" cy="1460463"/>
          </a:xfrm>
          <a:prstGeom prst="rect">
            <a:avLst/>
          </a:prstGeom>
          <a:noFill/>
        </p:spPr>
        <p:txBody>
          <a:bodyPr wrap="none" anchor="t" lIns="0" rIns="0" tIns="0" bIns="0">
            <a:spAutoFit/>
          </a:bodyPr>
          <a:lstStyle/>
          <a:p>
            <a:pPr algn="l">
              <a:lnSpc>
                <a:spcPct val="100000"/>
              </a:lnSpc>
            </a:pPr>
            <a:r>
              <a:rPr sz="9600" b="1">
                <a:solidFill>
                  <a:srgbClr val="52BDEC"/>
                </a:solidFill>
                <a:latin typeface="Segoe UI"/>
              </a:rPr>
              <a:t>10</a:t>
            </a:r>
          </a:p>
        </p:txBody>
      </p:sp>
      <p:sp>
        <p:nvSpPr>
          <p:cNvPr id="44" name="TextBox 43"/>
          <p:cNvSpPr txBox="1"/>
          <p:nvPr/>
        </p:nvSpPr>
        <p:spPr>
          <a:xfrm>
            <a:off x="2539936" y="4813179"/>
            <a:ext cx="8889777" cy="419089"/>
          </a:xfrm>
          <a:prstGeom prst="rect">
            <a:avLst/>
          </a:prstGeom>
          <a:noFill/>
        </p:spPr>
        <p:txBody>
          <a:bodyPr wrap="square" anchor="t" lIns="0" rIns="0" tIns="0" bIns="0">
            <a:spAutoFit/>
          </a:bodyPr>
          <a:lstStyle/>
          <a:p>
            <a:pPr algn="l">
              <a:lnSpc>
                <a:spcPct val="125000"/>
              </a:lnSpc>
            </a:pPr>
            <a:r>
              <a:rPr sz="3000" b="1">
                <a:solidFill>
                  <a:srgbClr val="F2F8FC"/>
                </a:solidFill>
                <a:latin typeface="Segoe UI"/>
              </a:rPr>
              <a:t>contactmomenten, één zorgpad</a:t>
            </a:r>
          </a:p>
        </p:txBody>
      </p:sp>
      <p:sp>
        <p:nvSpPr>
          <p:cNvPr id="45" name="TextBox 44"/>
          <p:cNvSpPr txBox="1"/>
          <p:nvPr/>
        </p:nvSpPr>
        <p:spPr>
          <a:xfrm>
            <a:off x="2552636" y="5283067"/>
            <a:ext cx="8889777" cy="952476"/>
          </a:xfrm>
          <a:prstGeom prst="rect">
            <a:avLst/>
          </a:prstGeom>
          <a:noFill/>
        </p:spPr>
        <p:txBody>
          <a:bodyPr wrap="square" anchor="t" lIns="0" rIns="0" tIns="0" bIns="0">
            <a:spAutoFit/>
          </a:bodyPr>
          <a:lstStyle/>
          <a:p>
            <a:pPr algn="l">
              <a:lnSpc>
                <a:spcPct val="140000"/>
              </a:lnSpc>
            </a:pPr>
            <a:r>
              <a:rPr sz="1800" b="0">
                <a:solidFill>
                  <a:srgbClr val="8FB6D0"/>
                </a:solidFill>
                <a:latin typeface="Segoe UI"/>
              </a:rPr>
              <a:t>Het verschil met vandaag zit niet in hoe vaak u de patiënt ziet, maar in wat u bij elk bezoek wéét: wat de zool doet en wat er gedragen is.</a:t>
            </a:r>
          </a:p>
        </p:txBody>
      </p:sp>
      <p:sp>
        <p:nvSpPr>
          <p:cNvPr id="46" name="TextBox 45"/>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19 / 28</a:t>
            </a:r>
          </a:p>
        </p:txBody>
      </p:sp>
      <p:pic>
        <p:nvPicPr>
          <p:cNvPr id="47" name="merk" descr="merk.png"/>
          <p:cNvPicPr>
            <a:picLocks noChangeAspect="1"/>
          </p:cNvPicPr>
          <p:nvPr/>
        </p:nvPicPr>
        <p:blipFill>
          <a:blip r:embed="rId2"/>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DE TECHNIEK</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Drie toestellen</a:t>
            </a:r>
          </a:p>
        </p:txBody>
      </p:sp>
      <p:sp>
        <p:nvSpPr>
          <p:cNvPr id="5" name="Rounded Rectangle 4"/>
          <p:cNvSpPr/>
          <p:nvPr/>
        </p:nvSpPr>
        <p:spPr>
          <a:xfrm>
            <a:off x="634984" y="1968450"/>
            <a:ext cx="5384538" cy="4000399"/>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edar.png"/>
          <p:cNvPicPr>
            <a:picLocks noChangeAspect="1"/>
          </p:cNvPicPr>
          <p:nvPr/>
        </p:nvPicPr>
        <p:blipFill>
          <a:blip r:embed="rId2"/>
          <a:stretch>
            <a:fillRect/>
          </a:stretch>
        </p:blipFill>
        <p:spPr>
          <a:xfrm>
            <a:off x="2344719" y="2184345"/>
            <a:ext cx="1965067" cy="1663658"/>
          </a:xfrm>
          <a:prstGeom prst="rect">
            <a:avLst/>
          </a:prstGeom>
        </p:spPr>
      </p:pic>
      <p:sp>
        <p:nvSpPr>
          <p:cNvPr id="7" name="TextBox 6"/>
          <p:cNvSpPr txBox="1"/>
          <p:nvPr/>
        </p:nvSpPr>
        <p:spPr>
          <a:xfrm>
            <a:off x="914377" y="3975000"/>
            <a:ext cx="2412939" cy="444488"/>
          </a:xfrm>
          <a:prstGeom prst="rect">
            <a:avLst/>
          </a:prstGeom>
          <a:noFill/>
        </p:spPr>
        <p:txBody>
          <a:bodyPr wrap="square" anchor="t" lIns="0" rIns="0" tIns="0" bIns="0">
            <a:spAutoFit/>
          </a:bodyPr>
          <a:lstStyle/>
          <a:p>
            <a:pPr algn="l">
              <a:lnSpc>
                <a:spcPct val="125000"/>
              </a:lnSpc>
            </a:pPr>
            <a:r>
              <a:rPr sz="3200" b="1">
                <a:solidFill>
                  <a:srgbClr val="F2F8FC"/>
                </a:solidFill>
                <a:latin typeface="Segoe UI"/>
              </a:rPr>
              <a:t>Novel pedar</a:t>
            </a:r>
          </a:p>
        </p:txBody>
      </p:sp>
      <p:sp>
        <p:nvSpPr>
          <p:cNvPr id="8" name="TextBox 7"/>
          <p:cNvSpPr txBox="1"/>
          <p:nvPr/>
        </p:nvSpPr>
        <p:spPr>
          <a:xfrm>
            <a:off x="927076" y="4444888"/>
            <a:ext cx="2412939" cy="228594"/>
          </a:xfrm>
          <a:prstGeom prst="rect">
            <a:avLst/>
          </a:prstGeom>
          <a:noFill/>
        </p:spPr>
        <p:txBody>
          <a:bodyPr wrap="square" anchor="t" lIns="0" rIns="0" tIns="0" bIns="0">
            <a:spAutoFit/>
          </a:bodyPr>
          <a:lstStyle/>
          <a:p>
            <a:pPr algn="l">
              <a:lnSpc>
                <a:spcPct val="125000"/>
              </a:lnSpc>
            </a:pPr>
            <a:r>
              <a:rPr sz="1250" b="1" spc="160">
                <a:solidFill>
                  <a:srgbClr val="52BDEC"/>
                </a:solidFill>
                <a:latin typeface="Consolas"/>
              </a:rPr>
              <a:t>DRUK</a:t>
            </a:r>
          </a:p>
        </p:txBody>
      </p:sp>
      <p:sp>
        <p:nvSpPr>
          <p:cNvPr id="9" name="TextBox 8"/>
          <p:cNvSpPr txBox="1"/>
          <p:nvPr/>
        </p:nvSpPr>
        <p:spPr>
          <a:xfrm>
            <a:off x="914377" y="4660783"/>
            <a:ext cx="2412939" cy="380990"/>
          </a:xfrm>
          <a:prstGeom prst="rect">
            <a:avLst/>
          </a:prstGeom>
          <a:noFill/>
        </p:spPr>
        <p:txBody>
          <a:bodyPr wrap="square" anchor="t" lIns="0" rIns="0" tIns="0" bIns="0">
            <a:spAutoFit/>
          </a:bodyPr>
          <a:lstStyle/>
          <a:p>
            <a:pPr algn="l">
              <a:lnSpc>
                <a:spcPct val="100000"/>
              </a:lnSpc>
            </a:pPr>
            <a:r>
              <a:rPr sz="2400" b="1">
                <a:solidFill>
                  <a:srgbClr val="52BDEC"/>
                </a:solidFill>
                <a:latin typeface="Segoe UI"/>
              </a:rPr>
              <a:t>8  voetregio's</a:t>
            </a:r>
          </a:p>
        </p:txBody>
      </p:sp>
      <p:sp>
        <p:nvSpPr>
          <p:cNvPr id="10" name="TextBox 9"/>
          <p:cNvSpPr txBox="1"/>
          <p:nvPr/>
        </p:nvSpPr>
        <p:spPr>
          <a:xfrm>
            <a:off x="914377" y="5079873"/>
            <a:ext cx="2412939" cy="253993"/>
          </a:xfrm>
          <a:prstGeom prst="rect">
            <a:avLst/>
          </a:prstGeom>
          <a:noFill/>
        </p:spPr>
        <p:txBody>
          <a:bodyPr wrap="square" anchor="t" lIns="0" rIns="0" tIns="0" bIns="0">
            <a:spAutoFit/>
          </a:bodyPr>
          <a:lstStyle/>
          <a:p>
            <a:pPr algn="l">
              <a:lnSpc>
                <a:spcPct val="125000"/>
              </a:lnSpc>
            </a:pPr>
            <a:r>
              <a:rPr sz="1300" b="1" spc="130">
                <a:solidFill>
                  <a:srgbClr val="FF7A00"/>
                </a:solidFill>
                <a:latin typeface="Consolas"/>
              </a:rPr>
              <a:t>UW TEAM MEET</a:t>
            </a:r>
          </a:p>
        </p:txBody>
      </p:sp>
      <p:sp>
        <p:nvSpPr>
          <p:cNvPr id="11" name="TextBox 10"/>
          <p:cNvSpPr txBox="1"/>
          <p:nvPr/>
        </p:nvSpPr>
        <p:spPr>
          <a:xfrm>
            <a:off x="3479713" y="3975000"/>
            <a:ext cx="2260416" cy="1879553"/>
          </a:xfrm>
          <a:prstGeom prst="rect">
            <a:avLst/>
          </a:prstGeom>
          <a:noFill/>
        </p:spPr>
        <p:txBody>
          <a:bodyPr wrap="square" anchor="t" lIns="0" rIns="0" tIns="0" bIns="0">
            <a:spAutoFit/>
          </a:bodyPr>
          <a:lstStyle/>
          <a:p>
            <a:pPr algn="l">
              <a:lnSpc>
                <a:spcPct val="130000"/>
              </a:lnSpc>
            </a:pPr>
            <a:r>
              <a:rPr sz="1350" b="0">
                <a:solidFill>
                  <a:srgbClr val="8FB6D0"/>
                </a:solidFill>
                <a:latin typeface="Segoe UI"/>
              </a:rPr>
              <a:t>In de schoen, met de zool</a:t>
            </a:r>
          </a:p>
          <a:p>
            <a:pPr algn="l">
              <a:lnSpc>
                <a:spcPct val="130000"/>
              </a:lnSpc>
              <a:spcBef>
                <a:spcPts val="1000"/>
              </a:spcBef>
            </a:pPr>
            <a:r>
              <a:rPr sz="1350" b="0">
                <a:solidFill>
                  <a:srgbClr val="8FB6D0"/>
                </a:solidFill>
                <a:latin typeface="Segoe UI"/>
              </a:rPr>
              <a:t>Nulstellen: één keer per sessie</a:t>
            </a:r>
          </a:p>
          <a:p>
            <a:pPr algn="l">
              <a:lnSpc>
                <a:spcPct val="130000"/>
              </a:lnSpc>
              <a:spcBef>
                <a:spcPts val="1000"/>
              </a:spcBef>
            </a:pPr>
            <a:r>
              <a:rPr sz="1350" b="0">
                <a:solidFill>
                  <a:srgbClr val="8FB6D0"/>
                </a:solidFill>
                <a:latin typeface="Segoe UI"/>
              </a:rPr>
              <a:t>De F-Scan GO is een aparte meting van het studieteam</a:t>
            </a:r>
          </a:p>
        </p:txBody>
      </p:sp>
      <p:sp>
        <p:nvSpPr>
          <p:cNvPr id="12" name="Rounded Rectangle 11"/>
          <p:cNvSpPr/>
          <p:nvPr/>
        </p:nvSpPr>
        <p:spPr>
          <a:xfrm>
            <a:off x="6171918" y="1968450"/>
            <a:ext cx="5384538" cy="1917652"/>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24314" y="2120846"/>
            <a:ext cx="1727156" cy="1612859"/>
          </a:xfrm>
          <a:prstGeom prst="roundRect">
            <a:avLst>
              <a:gd name="adj" fmla="val 4500"/>
            </a:avLst>
          </a:prstGeom>
          <a:solidFill>
            <a:srgbClr val="113A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orthotimer.png"/>
          <p:cNvPicPr>
            <a:picLocks noChangeAspect="1"/>
          </p:cNvPicPr>
          <p:nvPr/>
        </p:nvPicPr>
        <p:blipFill>
          <a:blip r:embed="rId3"/>
          <a:stretch>
            <a:fillRect/>
          </a:stretch>
        </p:blipFill>
        <p:spPr>
          <a:xfrm>
            <a:off x="6387813" y="2629374"/>
            <a:ext cx="1600159" cy="595804"/>
          </a:xfrm>
          <a:prstGeom prst="rect">
            <a:avLst/>
          </a:prstGeom>
        </p:spPr>
      </p:pic>
      <p:sp>
        <p:nvSpPr>
          <p:cNvPr id="15" name="TextBox 14"/>
          <p:cNvSpPr txBox="1"/>
          <p:nvPr/>
        </p:nvSpPr>
        <p:spPr>
          <a:xfrm>
            <a:off x="8241966" y="2133546"/>
            <a:ext cx="3060496" cy="342891"/>
          </a:xfrm>
          <a:prstGeom prst="rect">
            <a:avLst/>
          </a:prstGeom>
          <a:noFill/>
        </p:spPr>
        <p:txBody>
          <a:bodyPr wrap="square" anchor="t" lIns="0" rIns="0" tIns="0" bIns="0">
            <a:spAutoFit/>
          </a:bodyPr>
          <a:lstStyle/>
          <a:p>
            <a:pPr algn="l">
              <a:lnSpc>
                <a:spcPct val="125000"/>
              </a:lnSpc>
            </a:pPr>
            <a:r>
              <a:rPr sz="2500" b="1">
                <a:solidFill>
                  <a:srgbClr val="F2F8FC"/>
                </a:solidFill>
                <a:latin typeface="Segoe UI"/>
              </a:rPr>
              <a:t>Orthotimer</a:t>
            </a:r>
          </a:p>
        </p:txBody>
      </p:sp>
      <p:sp>
        <p:nvSpPr>
          <p:cNvPr id="16" name="TextBox 15"/>
          <p:cNvSpPr txBox="1"/>
          <p:nvPr/>
        </p:nvSpPr>
        <p:spPr>
          <a:xfrm>
            <a:off x="8254666" y="2501837"/>
            <a:ext cx="3060496" cy="215894"/>
          </a:xfrm>
          <a:prstGeom prst="rect">
            <a:avLst/>
          </a:prstGeom>
          <a:noFill/>
        </p:spPr>
        <p:txBody>
          <a:bodyPr wrap="square" anchor="t" lIns="0" rIns="0" tIns="0" bIns="0">
            <a:spAutoFit/>
          </a:bodyPr>
          <a:lstStyle/>
          <a:p>
            <a:pPr algn="l">
              <a:lnSpc>
                <a:spcPct val="125000"/>
              </a:lnSpc>
            </a:pPr>
            <a:r>
              <a:rPr sz="1200" b="1" spc="150">
                <a:solidFill>
                  <a:srgbClr val="52BDEC"/>
                </a:solidFill>
                <a:latin typeface="Consolas"/>
              </a:rPr>
              <a:t>DRAAGTIJD</a:t>
            </a:r>
          </a:p>
        </p:txBody>
      </p:sp>
      <p:sp>
        <p:nvSpPr>
          <p:cNvPr id="17" name="TextBox 16"/>
          <p:cNvSpPr txBox="1"/>
          <p:nvPr/>
        </p:nvSpPr>
        <p:spPr>
          <a:xfrm>
            <a:off x="8241966" y="2705032"/>
            <a:ext cx="3060496" cy="355591"/>
          </a:xfrm>
          <a:prstGeom prst="rect">
            <a:avLst/>
          </a:prstGeom>
          <a:noFill/>
        </p:spPr>
        <p:txBody>
          <a:bodyPr wrap="square" anchor="t" lIns="0" rIns="0" tIns="0" bIns="0">
            <a:spAutoFit/>
          </a:bodyPr>
          <a:lstStyle/>
          <a:p>
            <a:pPr algn="l">
              <a:lnSpc>
                <a:spcPct val="100000"/>
              </a:lnSpc>
            </a:pPr>
            <a:r>
              <a:rPr sz="2200" b="1">
                <a:solidFill>
                  <a:srgbClr val="52BDEC"/>
                </a:solidFill>
                <a:latin typeface="Segoe UI"/>
              </a:rPr>
              <a:t>15  minuten</a:t>
            </a:r>
          </a:p>
        </p:txBody>
      </p:sp>
      <p:sp>
        <p:nvSpPr>
          <p:cNvPr id="18" name="TextBox 17"/>
          <p:cNvSpPr txBox="1"/>
          <p:nvPr/>
        </p:nvSpPr>
        <p:spPr>
          <a:xfrm>
            <a:off x="8241966" y="3047923"/>
            <a:ext cx="3060496" cy="558786"/>
          </a:xfrm>
          <a:prstGeom prst="rect">
            <a:avLst/>
          </a:prstGeom>
          <a:noFill/>
        </p:spPr>
        <p:txBody>
          <a:bodyPr wrap="square" anchor="t" lIns="0" rIns="0" tIns="0" bIns="0">
            <a:spAutoFit/>
          </a:bodyPr>
          <a:lstStyle/>
          <a:p>
            <a:pPr algn="l">
              <a:lnSpc>
                <a:spcPct val="128000"/>
              </a:lnSpc>
            </a:pPr>
            <a:r>
              <a:rPr sz="1400" b="0">
                <a:solidFill>
                  <a:srgbClr val="8FB6D0"/>
                </a:solidFill>
                <a:latin typeface="Segoe UI"/>
              </a:rPr>
              <a:t>In de zool, 9 × 13 × 4,5 mm</a:t>
            </a:r>
          </a:p>
          <a:p>
            <a:pPr algn="l">
              <a:lnSpc>
                <a:spcPct val="128000"/>
              </a:lnSpc>
              <a:spcBef>
                <a:spcPts val="600"/>
              </a:spcBef>
            </a:pPr>
            <a:r>
              <a:rPr sz="1400" b="0">
                <a:solidFill>
                  <a:srgbClr val="8FB6D0"/>
                </a:solidFill>
                <a:latin typeface="Segoe UI"/>
              </a:rPr>
              <a:t>Geheugen 100 dagen</a:t>
            </a:r>
          </a:p>
        </p:txBody>
      </p:sp>
      <p:sp>
        <p:nvSpPr>
          <p:cNvPr id="19" name="TextBox 18"/>
          <p:cNvSpPr txBox="1"/>
          <p:nvPr/>
        </p:nvSpPr>
        <p:spPr>
          <a:xfrm>
            <a:off x="8241966" y="3632109"/>
            <a:ext cx="3060496" cy="228594"/>
          </a:xfrm>
          <a:prstGeom prst="rect">
            <a:avLst/>
          </a:prstGeom>
          <a:noFill/>
        </p:spPr>
        <p:txBody>
          <a:bodyPr wrap="square" anchor="t" lIns="0" rIns="0" tIns="0" bIns="0">
            <a:spAutoFit/>
          </a:bodyPr>
          <a:lstStyle/>
          <a:p>
            <a:pPr algn="l">
              <a:lnSpc>
                <a:spcPct val="125000"/>
              </a:lnSpc>
            </a:pPr>
            <a:r>
              <a:rPr sz="1250" b="1" spc="130">
                <a:solidFill>
                  <a:srgbClr val="FF7A00"/>
                </a:solidFill>
                <a:latin typeface="Consolas"/>
              </a:rPr>
              <a:t>UW TEAM MEET</a:t>
            </a:r>
          </a:p>
        </p:txBody>
      </p:sp>
      <p:sp>
        <p:nvSpPr>
          <p:cNvPr id="20" name="Rounded Rectangle 19"/>
          <p:cNvSpPr/>
          <p:nvPr/>
        </p:nvSpPr>
        <p:spPr>
          <a:xfrm>
            <a:off x="6171918" y="4051198"/>
            <a:ext cx="5384538" cy="1917652"/>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24314" y="4203594"/>
            <a:ext cx="1727156" cy="1612859"/>
          </a:xfrm>
          <a:prstGeom prst="roundRect">
            <a:avLst>
              <a:gd name="adj" fmla="val 4500"/>
            </a:avLst>
          </a:prstGeom>
          <a:solidFill>
            <a:srgbClr val="174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movemonitor.png"/>
          <p:cNvPicPr>
            <a:picLocks noChangeAspect="1"/>
          </p:cNvPicPr>
          <p:nvPr/>
        </p:nvPicPr>
        <p:blipFill>
          <a:blip r:embed="rId4"/>
          <a:stretch>
            <a:fillRect/>
          </a:stretch>
        </p:blipFill>
        <p:spPr>
          <a:xfrm>
            <a:off x="6387813" y="4567176"/>
            <a:ext cx="1600159" cy="885697"/>
          </a:xfrm>
          <a:prstGeom prst="rect">
            <a:avLst/>
          </a:prstGeom>
        </p:spPr>
      </p:pic>
      <p:sp>
        <p:nvSpPr>
          <p:cNvPr id="23" name="TextBox 22"/>
          <p:cNvSpPr txBox="1"/>
          <p:nvPr/>
        </p:nvSpPr>
        <p:spPr>
          <a:xfrm>
            <a:off x="8241966" y="4216294"/>
            <a:ext cx="3060496" cy="342891"/>
          </a:xfrm>
          <a:prstGeom prst="rect">
            <a:avLst/>
          </a:prstGeom>
          <a:noFill/>
        </p:spPr>
        <p:txBody>
          <a:bodyPr wrap="square" anchor="t" lIns="0" rIns="0" tIns="0" bIns="0">
            <a:spAutoFit/>
          </a:bodyPr>
          <a:lstStyle/>
          <a:p>
            <a:pPr algn="l">
              <a:lnSpc>
                <a:spcPct val="125000"/>
              </a:lnSpc>
            </a:pPr>
            <a:r>
              <a:rPr sz="2500" b="1">
                <a:solidFill>
                  <a:srgbClr val="F2F8FC"/>
                </a:solidFill>
                <a:latin typeface="Segoe UI"/>
              </a:rPr>
              <a:t>MoveMonitor</a:t>
            </a:r>
          </a:p>
        </p:txBody>
      </p:sp>
      <p:sp>
        <p:nvSpPr>
          <p:cNvPr id="24" name="TextBox 23"/>
          <p:cNvSpPr txBox="1"/>
          <p:nvPr/>
        </p:nvSpPr>
        <p:spPr>
          <a:xfrm>
            <a:off x="8254666" y="4584585"/>
            <a:ext cx="3060496" cy="215894"/>
          </a:xfrm>
          <a:prstGeom prst="rect">
            <a:avLst/>
          </a:prstGeom>
          <a:noFill/>
        </p:spPr>
        <p:txBody>
          <a:bodyPr wrap="square" anchor="t" lIns="0" rIns="0" tIns="0" bIns="0">
            <a:spAutoFit/>
          </a:bodyPr>
          <a:lstStyle/>
          <a:p>
            <a:pPr algn="l">
              <a:lnSpc>
                <a:spcPct val="125000"/>
              </a:lnSpc>
            </a:pPr>
            <a:r>
              <a:rPr sz="1200" b="1" spc="150">
                <a:solidFill>
                  <a:srgbClr val="52BDEC"/>
                </a:solidFill>
                <a:latin typeface="Consolas"/>
              </a:rPr>
              <a:t>ACTIVITEIT</a:t>
            </a:r>
          </a:p>
        </p:txBody>
      </p:sp>
      <p:sp>
        <p:nvSpPr>
          <p:cNvPr id="25" name="TextBox 24"/>
          <p:cNvSpPr txBox="1"/>
          <p:nvPr/>
        </p:nvSpPr>
        <p:spPr>
          <a:xfrm>
            <a:off x="8241966" y="4787780"/>
            <a:ext cx="3060496" cy="355591"/>
          </a:xfrm>
          <a:prstGeom prst="rect">
            <a:avLst/>
          </a:prstGeom>
          <a:noFill/>
        </p:spPr>
        <p:txBody>
          <a:bodyPr wrap="square" anchor="t" lIns="0" rIns="0" tIns="0" bIns="0">
            <a:spAutoFit/>
          </a:bodyPr>
          <a:lstStyle/>
          <a:p>
            <a:pPr algn="l">
              <a:lnSpc>
                <a:spcPct val="100000"/>
              </a:lnSpc>
            </a:pPr>
            <a:r>
              <a:rPr sz="2200" b="1">
                <a:solidFill>
                  <a:srgbClr val="52BDEC"/>
                </a:solidFill>
                <a:latin typeface="Segoe UI"/>
              </a:rPr>
              <a:t>7  dagen</a:t>
            </a:r>
          </a:p>
        </p:txBody>
      </p:sp>
      <p:sp>
        <p:nvSpPr>
          <p:cNvPr id="26" name="TextBox 25"/>
          <p:cNvSpPr txBox="1"/>
          <p:nvPr/>
        </p:nvSpPr>
        <p:spPr>
          <a:xfrm>
            <a:off x="8241966" y="5130671"/>
            <a:ext cx="3060496" cy="558786"/>
          </a:xfrm>
          <a:prstGeom prst="rect">
            <a:avLst/>
          </a:prstGeom>
          <a:noFill/>
        </p:spPr>
        <p:txBody>
          <a:bodyPr wrap="square" anchor="t" lIns="0" rIns="0" tIns="0" bIns="0">
            <a:spAutoFit/>
          </a:bodyPr>
          <a:lstStyle/>
          <a:p>
            <a:pPr algn="l">
              <a:lnSpc>
                <a:spcPct val="128000"/>
              </a:lnSpc>
            </a:pPr>
            <a:r>
              <a:rPr sz="1400" b="0">
                <a:solidFill>
                  <a:srgbClr val="8FB6D0"/>
                </a:solidFill>
                <a:latin typeface="Segoe UI"/>
              </a:rPr>
              <a:t>Om het middel, op de onderrug</a:t>
            </a:r>
          </a:p>
          <a:p>
            <a:pPr algn="l">
              <a:lnSpc>
                <a:spcPct val="128000"/>
              </a:lnSpc>
              <a:spcBef>
                <a:spcPts val="600"/>
              </a:spcBef>
            </a:pPr>
            <a:r>
              <a:rPr sz="1400" b="0">
                <a:solidFill>
                  <a:srgbClr val="8FB6D0"/>
                </a:solidFill>
                <a:latin typeface="Segoe UI"/>
              </a:rPr>
              <a:t>Baseline en 6 maanden</a:t>
            </a:r>
          </a:p>
        </p:txBody>
      </p:sp>
      <p:sp>
        <p:nvSpPr>
          <p:cNvPr id="27" name="TextBox 26"/>
          <p:cNvSpPr txBox="1"/>
          <p:nvPr/>
        </p:nvSpPr>
        <p:spPr>
          <a:xfrm>
            <a:off x="8241966" y="5714857"/>
            <a:ext cx="3060496" cy="228594"/>
          </a:xfrm>
          <a:prstGeom prst="rect">
            <a:avLst/>
          </a:prstGeom>
          <a:noFill/>
        </p:spPr>
        <p:txBody>
          <a:bodyPr wrap="square" anchor="t" lIns="0" rIns="0" tIns="0" bIns="0">
            <a:spAutoFit/>
          </a:bodyPr>
          <a:lstStyle/>
          <a:p>
            <a:pPr algn="l">
              <a:lnSpc>
                <a:spcPct val="125000"/>
              </a:lnSpc>
            </a:pPr>
            <a:r>
              <a:rPr sz="1250" b="1" spc="130">
                <a:solidFill>
                  <a:srgbClr val="FF7A00"/>
                </a:solidFill>
                <a:latin typeface="Consolas"/>
              </a:rPr>
              <a:t>UW TEAM MEET</a:t>
            </a:r>
          </a:p>
        </p:txBody>
      </p:sp>
      <p:sp>
        <p:nvSpPr>
          <p:cNvPr id="28" name="TextBox 27"/>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20 / 28</a:t>
            </a:r>
          </a:p>
        </p:txBody>
      </p:sp>
      <p:pic>
        <p:nvPicPr>
          <p:cNvPr id="29" name="merk" descr="merk.png"/>
          <p:cNvPicPr>
            <a:picLocks noChangeAspect="1"/>
          </p:cNvPicPr>
          <p:nvPr/>
        </p:nvPicPr>
        <p:blipFill>
          <a:blip r:embed="rId5"/>
          <a:stretch>
            <a:fillRect/>
          </a:stretch>
        </p:blipFill>
        <p:spPr>
          <a:xfrm>
            <a:off x="11094166" y="368290"/>
            <a:ext cx="417101" cy="482587"/>
          </a:xfrm>
          <a:prstGeom prst="rect">
            <a:avLst/>
          </a:prstGeom>
        </p:spPr>
      </p:pic>
      <p:sp>
        <p:nvSpPr>
          <p:cNvPr id="30" name="TextBox 29"/>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Bron  18 · Lutjeboer 2018</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FF7A00"/>
                </a:solidFill>
                <a:latin typeface="Consolas"/>
              </a:rPr>
              <a:t>DE ENIGE REGEL DIE U ÉCHT MOET ONTHOUDEN</a:t>
            </a:r>
          </a:p>
        </p:txBody>
      </p:sp>
      <p:sp>
        <p:nvSpPr>
          <p:cNvPr id="4" name="hero"/>
          <p:cNvSpPr txBox="1"/>
          <p:nvPr/>
        </p:nvSpPr>
        <p:spPr>
          <a:xfrm>
            <a:off x="634984" y="1066773"/>
            <a:ext cx="6857828" cy="2539936"/>
          </a:xfrm>
          <a:prstGeom prst="rect">
            <a:avLst/>
          </a:prstGeom>
          <a:noFill/>
        </p:spPr>
        <p:txBody>
          <a:bodyPr wrap="square" anchor="t" lIns="0" rIns="0" tIns="0" bIns="0">
            <a:spAutoFit/>
          </a:bodyPr>
          <a:lstStyle/>
          <a:p>
            <a:pPr algn="l">
              <a:lnSpc>
                <a:spcPct val="108000"/>
              </a:lnSpc>
            </a:pPr>
            <a:r>
              <a:rPr sz="5400" b="1">
                <a:solidFill>
                  <a:srgbClr val="F2F8FC"/>
                </a:solidFill>
                <a:latin typeface="Segoe UI"/>
              </a:rPr>
              <a:t>Meetwaarden gaan</a:t>
            </a:r>
          </a:p>
          <a:p>
            <a:pPr algn="l">
              <a:lnSpc>
                <a:spcPct val="108000"/>
              </a:lnSpc>
              <a:spcBef>
                <a:spcPts val="500"/>
              </a:spcBef>
            </a:pPr>
            <a:r>
              <a:rPr sz="5400" b="1">
                <a:solidFill>
                  <a:srgbClr val="F2F8FC"/>
                </a:solidFill>
                <a:latin typeface="Segoe UI"/>
              </a:rPr>
              <a:t>niet naar de</a:t>
            </a:r>
          </a:p>
          <a:p>
            <a:pPr algn="l">
              <a:lnSpc>
                <a:spcPct val="108000"/>
              </a:lnSpc>
              <a:spcBef>
                <a:spcPts val="500"/>
              </a:spcBef>
            </a:pPr>
            <a:r>
              <a:rPr sz="5400" b="1">
                <a:solidFill>
                  <a:srgbClr val="F2F8FC"/>
                </a:solidFill>
                <a:latin typeface="Segoe UI"/>
              </a:rPr>
              <a:t>controlegroep</a:t>
            </a:r>
          </a:p>
        </p:txBody>
      </p:sp>
      <p:sp>
        <p:nvSpPr>
          <p:cNvPr id="5" name="Rounded Rectangle 4"/>
          <p:cNvSpPr/>
          <p:nvPr/>
        </p:nvSpPr>
        <p:spPr>
          <a:xfrm>
            <a:off x="634984" y="4101997"/>
            <a:ext cx="6857828" cy="1549361"/>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377" y="4381390"/>
            <a:ext cx="6349841" cy="1206469"/>
          </a:xfrm>
          <a:prstGeom prst="rect">
            <a:avLst/>
          </a:prstGeom>
          <a:noFill/>
        </p:spPr>
        <p:txBody>
          <a:bodyPr wrap="square" anchor="t" lIns="0" rIns="0" tIns="0" bIns="0">
            <a:spAutoFit/>
          </a:bodyPr>
          <a:lstStyle/>
          <a:p>
            <a:pPr algn="l">
              <a:lnSpc>
                <a:spcPct val="145000"/>
              </a:lnSpc>
            </a:pPr>
            <a:r>
              <a:rPr sz="1750" b="0">
                <a:solidFill>
                  <a:srgbClr val="8FB6D0"/>
                </a:solidFill>
                <a:latin typeface="Segoe UI"/>
              </a:rPr>
              <a:t>Ook zij krijgen een drukmeting en dragen een sensor, anders kunnen we de groepen niet vergelijken. Maar die getallen blijven beperkt tot uzelf. Bespreekt u ze, dan lévert u de interventie en is die patiënt niet meer bruikbaar als controle.</a:t>
            </a:r>
          </a:p>
        </p:txBody>
      </p:sp>
      <p:sp>
        <p:nvSpPr>
          <p:cNvPr id="7" name="Rounded Rectangle 6"/>
          <p:cNvSpPr/>
          <p:nvPr/>
        </p:nvSpPr>
        <p:spPr>
          <a:xfrm>
            <a:off x="7873803" y="2031949"/>
            <a:ext cx="3682907" cy="3517812"/>
          </a:xfrm>
          <a:prstGeom prst="roundRect">
            <a:avLst>
              <a:gd name="adj" fmla="val 4500"/>
            </a:avLst>
          </a:prstGeom>
          <a:solidFill>
            <a:srgbClr val="113A57"/>
          </a:solidFill>
          <a:ln w="9525">
            <a:solidFill>
              <a:srgbClr val="FF7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78595" y="2324041"/>
            <a:ext cx="3111422" cy="241293"/>
          </a:xfrm>
          <a:prstGeom prst="rect">
            <a:avLst/>
          </a:prstGeom>
          <a:noFill/>
        </p:spPr>
        <p:txBody>
          <a:bodyPr wrap="square" anchor="t" lIns="0" rIns="0" tIns="0" bIns="0">
            <a:spAutoFit/>
          </a:bodyPr>
          <a:lstStyle/>
          <a:p>
            <a:pPr algn="l">
              <a:lnSpc>
                <a:spcPct val="125000"/>
              </a:lnSpc>
            </a:pPr>
            <a:r>
              <a:rPr sz="1250" b="1" spc="160">
                <a:solidFill>
                  <a:srgbClr val="FF7A00"/>
                </a:solidFill>
                <a:latin typeface="Consolas"/>
              </a:rPr>
              <a:t>UITZONDERING</a:t>
            </a:r>
          </a:p>
        </p:txBody>
      </p:sp>
      <p:sp>
        <p:nvSpPr>
          <p:cNvPr id="9" name="TextBox 8"/>
          <p:cNvSpPr txBox="1"/>
          <p:nvPr/>
        </p:nvSpPr>
        <p:spPr>
          <a:xfrm>
            <a:off x="8178595" y="2730431"/>
            <a:ext cx="3111422" cy="2539936"/>
          </a:xfrm>
          <a:prstGeom prst="rect">
            <a:avLst/>
          </a:prstGeom>
          <a:noFill/>
        </p:spPr>
        <p:txBody>
          <a:bodyPr wrap="square" anchor="t" lIns="0" rIns="0" tIns="0" bIns="0">
            <a:spAutoFit/>
          </a:bodyPr>
          <a:lstStyle/>
          <a:p>
            <a:pPr algn="l">
              <a:lnSpc>
                <a:spcPct val="145000"/>
              </a:lnSpc>
            </a:pPr>
            <a:r>
              <a:rPr sz="1800" b="0">
                <a:solidFill>
                  <a:srgbClr val="F2F8FC"/>
                </a:solidFill>
                <a:latin typeface="Segoe UI"/>
              </a:rPr>
              <a:t>Klinische bevindingen zijn géén meetwaarden. Elke laesie of huiddefect meldt en behandelt u meteen. In beide groepen.</a:t>
            </a:r>
          </a:p>
        </p:txBody>
      </p:sp>
      <p:sp>
        <p:nvSpPr>
          <p:cNvPr id="10" name="TextBox 9"/>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21 / 28</a:t>
            </a:r>
          </a:p>
        </p:txBody>
      </p:sp>
      <p:pic>
        <p:nvPicPr>
          <p:cNvPr id="11"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12" name="TextBox 11"/>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Bron  9 · Bus 2013, DIAFOS</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WAT U MELDT, EN HOE SNEL</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Voorvallen en afwijkingen</a:t>
            </a:r>
          </a:p>
        </p:txBody>
      </p:sp>
      <p:sp>
        <p:nvSpPr>
          <p:cNvPr id="5" name="Rectangle 4"/>
          <p:cNvSpPr/>
          <p:nvPr/>
        </p:nvSpPr>
        <p:spPr>
          <a:xfrm>
            <a:off x="634984" y="1879553"/>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4984" y="2031949"/>
            <a:ext cx="2412939" cy="317492"/>
          </a:xfrm>
          <a:prstGeom prst="rect">
            <a:avLst/>
          </a:prstGeom>
          <a:noFill/>
        </p:spPr>
        <p:txBody>
          <a:bodyPr wrap="square" anchor="t" lIns="0" rIns="0" tIns="0" bIns="0">
            <a:spAutoFit/>
          </a:bodyPr>
          <a:lstStyle/>
          <a:p>
            <a:pPr algn="l">
              <a:lnSpc>
                <a:spcPct val="125000"/>
              </a:lnSpc>
            </a:pPr>
            <a:r>
              <a:rPr sz="2000" b="1">
                <a:solidFill>
                  <a:srgbClr val="F2F8FC"/>
                </a:solidFill>
                <a:latin typeface="Segoe UI"/>
              </a:rPr>
              <a:t>Nieuw ulcus</a:t>
            </a:r>
          </a:p>
        </p:txBody>
      </p:sp>
      <p:sp>
        <p:nvSpPr>
          <p:cNvPr id="7" name="TextBox 6"/>
          <p:cNvSpPr txBox="1"/>
          <p:nvPr/>
        </p:nvSpPr>
        <p:spPr>
          <a:xfrm>
            <a:off x="3301917" y="2031949"/>
            <a:ext cx="6222844" cy="571485"/>
          </a:xfrm>
          <a:prstGeom prst="rect">
            <a:avLst/>
          </a:prstGeom>
          <a:noFill/>
        </p:spPr>
        <p:txBody>
          <a:bodyPr wrap="square" anchor="t" lIns="0" rIns="0" tIns="0" bIns="0">
            <a:spAutoFit/>
          </a:bodyPr>
          <a:lstStyle/>
          <a:p>
            <a:pPr algn="l">
              <a:lnSpc>
                <a:spcPct val="132000"/>
              </a:lnSpc>
            </a:pPr>
            <a:r>
              <a:rPr sz="1500" b="0">
                <a:solidFill>
                  <a:srgbClr val="8FB6D0"/>
                </a:solidFill>
                <a:latin typeface="Segoe UI"/>
              </a:rPr>
              <a:t>Ulcus-vervolgformulier plus PEDIS- en WIfI-classificatie. Dit is de primaire uitkomst — meld het altijd.</a:t>
            </a:r>
          </a:p>
        </p:txBody>
      </p:sp>
      <p:sp>
        <p:nvSpPr>
          <p:cNvPr id="8" name="TextBox 7"/>
          <p:cNvSpPr txBox="1"/>
          <p:nvPr/>
        </p:nvSpPr>
        <p:spPr>
          <a:xfrm>
            <a:off x="9905752" y="2044648"/>
            <a:ext cx="1650958" cy="253993"/>
          </a:xfrm>
          <a:prstGeom prst="rect">
            <a:avLst/>
          </a:prstGeom>
          <a:noFill/>
        </p:spPr>
        <p:txBody>
          <a:bodyPr wrap="square" anchor="t" lIns="0" rIns="0" tIns="0" bIns="0">
            <a:spAutoFit/>
          </a:bodyPr>
          <a:lstStyle/>
          <a:p>
            <a:pPr algn="r">
              <a:lnSpc>
                <a:spcPct val="125000"/>
              </a:lnSpc>
            </a:pPr>
            <a:r>
              <a:rPr sz="1300" b="1">
                <a:solidFill>
                  <a:srgbClr val="52BDEC"/>
                </a:solidFill>
                <a:latin typeface="Consolas"/>
              </a:rPr>
              <a:t>47 · 36 · 38</a:t>
            </a:r>
          </a:p>
        </p:txBody>
      </p:sp>
      <p:sp>
        <p:nvSpPr>
          <p:cNvPr id="9" name="Rectangle 8"/>
          <p:cNvSpPr/>
          <p:nvPr/>
        </p:nvSpPr>
        <p:spPr>
          <a:xfrm>
            <a:off x="634984" y="2717732"/>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4984" y="2870128"/>
            <a:ext cx="2412939" cy="317492"/>
          </a:xfrm>
          <a:prstGeom prst="rect">
            <a:avLst/>
          </a:prstGeom>
          <a:noFill/>
        </p:spPr>
        <p:txBody>
          <a:bodyPr wrap="square" anchor="t" lIns="0" rIns="0" tIns="0" bIns="0">
            <a:spAutoFit/>
          </a:bodyPr>
          <a:lstStyle/>
          <a:p>
            <a:pPr algn="l">
              <a:lnSpc>
                <a:spcPct val="125000"/>
              </a:lnSpc>
            </a:pPr>
            <a:r>
              <a:rPr sz="2000" b="1">
                <a:solidFill>
                  <a:srgbClr val="F2F8FC"/>
                </a:solidFill>
                <a:latin typeface="Segoe UI"/>
              </a:rPr>
              <a:t>Ongewenst voorval</a:t>
            </a:r>
          </a:p>
        </p:txBody>
      </p:sp>
      <p:sp>
        <p:nvSpPr>
          <p:cNvPr id="11" name="TextBox 10"/>
          <p:cNvSpPr txBox="1"/>
          <p:nvPr/>
        </p:nvSpPr>
        <p:spPr>
          <a:xfrm>
            <a:off x="3301917" y="2870128"/>
            <a:ext cx="6222844" cy="571485"/>
          </a:xfrm>
          <a:prstGeom prst="rect">
            <a:avLst/>
          </a:prstGeom>
          <a:noFill/>
        </p:spPr>
        <p:txBody>
          <a:bodyPr wrap="square" anchor="t" lIns="0" rIns="0" tIns="0" bIns="0">
            <a:spAutoFit/>
          </a:bodyPr>
          <a:lstStyle/>
          <a:p>
            <a:pPr algn="l">
              <a:lnSpc>
                <a:spcPct val="132000"/>
              </a:lnSpc>
            </a:pPr>
            <a:r>
              <a:rPr sz="1500" b="0">
                <a:solidFill>
                  <a:srgbClr val="8FB6D0"/>
                </a:solidFill>
                <a:latin typeface="Segoe UI"/>
              </a:rPr>
              <a:t>AE-SAE-formulier. Ernstige voorvallen binnen 72 uur na kennisname.</a:t>
            </a:r>
          </a:p>
        </p:txBody>
      </p:sp>
      <p:sp>
        <p:nvSpPr>
          <p:cNvPr id="12" name="TextBox 11"/>
          <p:cNvSpPr txBox="1"/>
          <p:nvPr/>
        </p:nvSpPr>
        <p:spPr>
          <a:xfrm>
            <a:off x="9905752" y="2882827"/>
            <a:ext cx="1650958" cy="253993"/>
          </a:xfrm>
          <a:prstGeom prst="rect">
            <a:avLst/>
          </a:prstGeom>
          <a:noFill/>
        </p:spPr>
        <p:txBody>
          <a:bodyPr wrap="square" anchor="t" lIns="0" rIns="0" tIns="0" bIns="0">
            <a:spAutoFit/>
          </a:bodyPr>
          <a:lstStyle/>
          <a:p>
            <a:pPr algn="r">
              <a:lnSpc>
                <a:spcPct val="125000"/>
              </a:lnSpc>
            </a:pPr>
            <a:r>
              <a:rPr sz="1300" b="1">
                <a:solidFill>
                  <a:srgbClr val="52BDEC"/>
                </a:solidFill>
                <a:latin typeface="Consolas"/>
              </a:rPr>
              <a:t>46</a:t>
            </a:r>
          </a:p>
        </p:txBody>
      </p:sp>
      <p:sp>
        <p:nvSpPr>
          <p:cNvPr id="13" name="Rectangle 12"/>
          <p:cNvSpPr/>
          <p:nvPr/>
        </p:nvSpPr>
        <p:spPr>
          <a:xfrm>
            <a:off x="634984" y="3555911"/>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984" y="3708307"/>
            <a:ext cx="2412939" cy="317492"/>
          </a:xfrm>
          <a:prstGeom prst="rect">
            <a:avLst/>
          </a:prstGeom>
          <a:noFill/>
        </p:spPr>
        <p:txBody>
          <a:bodyPr wrap="square" anchor="t" lIns="0" rIns="0" tIns="0" bIns="0">
            <a:spAutoFit/>
          </a:bodyPr>
          <a:lstStyle/>
          <a:p>
            <a:pPr algn="l">
              <a:lnSpc>
                <a:spcPct val="125000"/>
              </a:lnSpc>
            </a:pPr>
            <a:r>
              <a:rPr sz="2000" b="1">
                <a:solidFill>
                  <a:srgbClr val="F2F8FC"/>
                </a:solidFill>
                <a:latin typeface="Segoe UI"/>
              </a:rPr>
              <a:t>Protocolafwijking</a:t>
            </a:r>
          </a:p>
        </p:txBody>
      </p:sp>
      <p:sp>
        <p:nvSpPr>
          <p:cNvPr id="15" name="TextBox 14"/>
          <p:cNvSpPr txBox="1"/>
          <p:nvPr/>
        </p:nvSpPr>
        <p:spPr>
          <a:xfrm>
            <a:off x="3301917" y="3708307"/>
            <a:ext cx="6222844" cy="571485"/>
          </a:xfrm>
          <a:prstGeom prst="rect">
            <a:avLst/>
          </a:prstGeom>
          <a:noFill/>
        </p:spPr>
        <p:txBody>
          <a:bodyPr wrap="square" anchor="t" lIns="0" rIns="0" tIns="0" bIns="0">
            <a:spAutoFit/>
          </a:bodyPr>
          <a:lstStyle/>
          <a:p>
            <a:pPr algn="l">
              <a:lnSpc>
                <a:spcPct val="132000"/>
              </a:lnSpc>
            </a:pPr>
            <a:r>
              <a:rPr sz="1500" b="0">
                <a:solidFill>
                  <a:srgbClr val="8FB6D0"/>
                </a:solidFill>
                <a:latin typeface="Segoe UI"/>
              </a:rPr>
              <a:t>Melden zoals ze gebeurd is. Wordt geregistreerd, niet afgestraft.</a:t>
            </a:r>
          </a:p>
        </p:txBody>
      </p:sp>
      <p:sp>
        <p:nvSpPr>
          <p:cNvPr id="16" name="TextBox 15"/>
          <p:cNvSpPr txBox="1"/>
          <p:nvPr/>
        </p:nvSpPr>
        <p:spPr>
          <a:xfrm>
            <a:off x="9905752" y="3721006"/>
            <a:ext cx="1650958" cy="253993"/>
          </a:xfrm>
          <a:prstGeom prst="rect">
            <a:avLst/>
          </a:prstGeom>
          <a:noFill/>
        </p:spPr>
        <p:txBody>
          <a:bodyPr wrap="square" anchor="t" lIns="0" rIns="0" tIns="0" bIns="0">
            <a:spAutoFit/>
          </a:bodyPr>
          <a:lstStyle/>
          <a:p>
            <a:pPr algn="r">
              <a:lnSpc>
                <a:spcPct val="125000"/>
              </a:lnSpc>
            </a:pPr>
            <a:r>
              <a:rPr sz="1300" b="1">
                <a:solidFill>
                  <a:srgbClr val="52BDEC"/>
                </a:solidFill>
                <a:latin typeface="Consolas"/>
              </a:rPr>
              <a:t>—</a:t>
            </a:r>
          </a:p>
        </p:txBody>
      </p:sp>
      <p:sp>
        <p:nvSpPr>
          <p:cNvPr id="17" name="Rectangle 16"/>
          <p:cNvSpPr/>
          <p:nvPr/>
        </p:nvSpPr>
        <p:spPr>
          <a:xfrm>
            <a:off x="634984" y="4394090"/>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4984" y="4546486"/>
            <a:ext cx="2412939" cy="317492"/>
          </a:xfrm>
          <a:prstGeom prst="rect">
            <a:avLst/>
          </a:prstGeom>
          <a:noFill/>
        </p:spPr>
        <p:txBody>
          <a:bodyPr wrap="square" anchor="t" lIns="0" rIns="0" tIns="0" bIns="0">
            <a:spAutoFit/>
          </a:bodyPr>
          <a:lstStyle/>
          <a:p>
            <a:pPr algn="l">
              <a:lnSpc>
                <a:spcPct val="125000"/>
              </a:lnSpc>
            </a:pPr>
            <a:r>
              <a:rPr sz="2000" b="1">
                <a:solidFill>
                  <a:srgbClr val="F2F8FC"/>
                </a:solidFill>
                <a:latin typeface="Segoe UI"/>
              </a:rPr>
              <a:t>Toestel defect</a:t>
            </a:r>
          </a:p>
        </p:txBody>
      </p:sp>
      <p:sp>
        <p:nvSpPr>
          <p:cNvPr id="19" name="TextBox 18"/>
          <p:cNvSpPr txBox="1"/>
          <p:nvPr/>
        </p:nvSpPr>
        <p:spPr>
          <a:xfrm>
            <a:off x="3301917" y="4546486"/>
            <a:ext cx="6222844" cy="571485"/>
          </a:xfrm>
          <a:prstGeom prst="rect">
            <a:avLst/>
          </a:prstGeom>
          <a:noFill/>
        </p:spPr>
        <p:txBody>
          <a:bodyPr wrap="square" anchor="t" lIns="0" rIns="0" tIns="0" bIns="0">
            <a:spAutoFit/>
          </a:bodyPr>
          <a:lstStyle/>
          <a:p>
            <a:pPr algn="l">
              <a:lnSpc>
                <a:spcPct val="132000"/>
              </a:lnSpc>
            </a:pPr>
            <a:r>
              <a:rPr sz="1500" b="0">
                <a:solidFill>
                  <a:srgbClr val="8FB6D0"/>
                </a:solidFill>
                <a:latin typeface="Segoe UI"/>
              </a:rPr>
              <a:t>Vervangingsformulier, met het oude en het nieuwe toestelnummer.</a:t>
            </a:r>
          </a:p>
        </p:txBody>
      </p:sp>
      <p:sp>
        <p:nvSpPr>
          <p:cNvPr id="20" name="TextBox 19"/>
          <p:cNvSpPr txBox="1"/>
          <p:nvPr/>
        </p:nvSpPr>
        <p:spPr>
          <a:xfrm>
            <a:off x="9905752" y="4559186"/>
            <a:ext cx="1650958" cy="253993"/>
          </a:xfrm>
          <a:prstGeom prst="rect">
            <a:avLst/>
          </a:prstGeom>
          <a:noFill/>
        </p:spPr>
        <p:txBody>
          <a:bodyPr wrap="square" anchor="t" lIns="0" rIns="0" tIns="0" bIns="0">
            <a:spAutoFit/>
          </a:bodyPr>
          <a:lstStyle/>
          <a:p>
            <a:pPr algn="r">
              <a:lnSpc>
                <a:spcPct val="125000"/>
              </a:lnSpc>
            </a:pPr>
            <a:r>
              <a:rPr sz="1300" b="1">
                <a:solidFill>
                  <a:srgbClr val="52BDEC"/>
                </a:solidFill>
                <a:latin typeface="Consolas"/>
              </a:rPr>
              <a:t>33</a:t>
            </a:r>
          </a:p>
        </p:txBody>
      </p:sp>
      <p:sp>
        <p:nvSpPr>
          <p:cNvPr id="21" name="Rounded Rectangle 20"/>
          <p:cNvSpPr/>
          <p:nvPr/>
        </p:nvSpPr>
        <p:spPr>
          <a:xfrm>
            <a:off x="634984" y="4992194"/>
            <a:ext cx="10921726" cy="1116352"/>
          </a:xfrm>
          <a:prstGeom prst="roundRect">
            <a:avLst>
              <a:gd name="adj" fmla="val 4500"/>
            </a:avLst>
          </a:prstGeom>
          <a:solidFill>
            <a:srgbClr val="0A2A44"/>
          </a:solidFill>
          <a:ln w="9525">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52476" y="5169989"/>
            <a:ext cx="10286742" cy="760761"/>
          </a:xfrm>
          <a:prstGeom prst="rect">
            <a:avLst/>
          </a:prstGeom>
          <a:noFill/>
        </p:spPr>
        <p:txBody>
          <a:bodyPr wrap="square" anchor="t" lIns="0" rIns="0" tIns="0" bIns="0">
            <a:spAutoFit/>
          </a:bodyPr>
          <a:lstStyle/>
          <a:p>
            <a:pPr algn="l">
              <a:lnSpc>
                <a:spcPct val="140000"/>
              </a:lnSpc>
            </a:pPr>
            <a:r>
              <a:rPr sz="1900" b="0">
                <a:solidFill>
                  <a:srgbClr val="F2F8FC"/>
                </a:solidFill>
                <a:latin typeface="Segoe UI"/>
              </a:rPr>
              <a:t>Een afwijking die u meldt is een gegeven. Een afwijking die u niet meldt is een fout in de data van de hele studie.</a:t>
            </a:r>
          </a:p>
        </p:txBody>
      </p:sp>
      <p:sp>
        <p:nvSpPr>
          <p:cNvPr id="23" name="TextBox 22"/>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22 / 28</a:t>
            </a:r>
          </a:p>
        </p:txBody>
      </p:sp>
      <p:pic>
        <p:nvPicPr>
          <p:cNvPr id="24"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25" name="TextBox 24"/>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Bron  25 · IWGDF 2023, definities</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VERDELING</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Wie doet wat</a:t>
            </a:r>
          </a:p>
        </p:txBody>
      </p:sp>
      <p:sp>
        <p:nvSpPr>
          <p:cNvPr id="5" name="Rectangle 4"/>
          <p:cNvSpPr/>
          <p:nvPr/>
        </p:nvSpPr>
        <p:spPr>
          <a:xfrm>
            <a:off x="634984" y="1930351"/>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4984" y="2146246"/>
            <a:ext cx="2666933" cy="380990"/>
          </a:xfrm>
          <a:prstGeom prst="rect">
            <a:avLst/>
          </a:prstGeom>
          <a:noFill/>
        </p:spPr>
        <p:txBody>
          <a:bodyPr wrap="square" anchor="t" lIns="0" rIns="0" tIns="0" bIns="0">
            <a:spAutoFit/>
          </a:bodyPr>
          <a:lstStyle/>
          <a:p>
            <a:pPr algn="l">
              <a:lnSpc>
                <a:spcPct val="125000"/>
              </a:lnSpc>
            </a:pPr>
            <a:r>
              <a:rPr sz="2700" b="1">
                <a:solidFill>
                  <a:srgbClr val="F2F8FC"/>
                </a:solidFill>
                <a:latin typeface="Segoe UI"/>
              </a:rPr>
              <a:t>Podoloog</a:t>
            </a:r>
          </a:p>
        </p:txBody>
      </p:sp>
      <p:sp>
        <p:nvSpPr>
          <p:cNvPr id="7" name="Oval 6"/>
          <p:cNvSpPr/>
          <p:nvPr/>
        </p:nvSpPr>
        <p:spPr>
          <a:xfrm>
            <a:off x="3555911" y="2235144"/>
            <a:ext cx="69848" cy="69848"/>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21006" y="2158946"/>
            <a:ext cx="2362140" cy="571485"/>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Voert de drukmetingen uit</a:t>
            </a:r>
          </a:p>
        </p:txBody>
      </p:sp>
      <p:sp>
        <p:nvSpPr>
          <p:cNvPr id="9" name="Oval 8"/>
          <p:cNvSpPr/>
          <p:nvPr/>
        </p:nvSpPr>
        <p:spPr>
          <a:xfrm>
            <a:off x="6273643" y="2235144"/>
            <a:ext cx="69848" cy="69848"/>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38739" y="2158946"/>
            <a:ext cx="2362140" cy="571485"/>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Levert SEBIA</a:t>
            </a:r>
          </a:p>
        </p:txBody>
      </p:sp>
      <p:sp>
        <p:nvSpPr>
          <p:cNvPr id="11" name="Oval 10"/>
          <p:cNvSpPr/>
          <p:nvPr/>
        </p:nvSpPr>
        <p:spPr>
          <a:xfrm>
            <a:off x="8991375" y="2235144"/>
            <a:ext cx="69848" cy="69848"/>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56471" y="2158946"/>
            <a:ext cx="2362140" cy="571485"/>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Leest de sensoren uit</a:t>
            </a:r>
          </a:p>
        </p:txBody>
      </p:sp>
      <p:sp>
        <p:nvSpPr>
          <p:cNvPr id="13" name="Rectangle 12"/>
          <p:cNvSpPr/>
          <p:nvPr/>
        </p:nvSpPr>
        <p:spPr>
          <a:xfrm>
            <a:off x="634984" y="2971725"/>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984" y="3187620"/>
            <a:ext cx="2666933" cy="380990"/>
          </a:xfrm>
          <a:prstGeom prst="rect">
            <a:avLst/>
          </a:prstGeom>
          <a:noFill/>
        </p:spPr>
        <p:txBody>
          <a:bodyPr wrap="square" anchor="t" lIns="0" rIns="0" tIns="0" bIns="0">
            <a:spAutoFit/>
          </a:bodyPr>
          <a:lstStyle/>
          <a:p>
            <a:pPr algn="l">
              <a:lnSpc>
                <a:spcPct val="125000"/>
              </a:lnSpc>
            </a:pPr>
            <a:r>
              <a:rPr sz="2700" b="1">
                <a:solidFill>
                  <a:srgbClr val="F2F8FC"/>
                </a:solidFill>
                <a:latin typeface="Segoe UI"/>
              </a:rPr>
              <a:t>Pedorthist</a:t>
            </a:r>
          </a:p>
        </p:txBody>
      </p:sp>
      <p:sp>
        <p:nvSpPr>
          <p:cNvPr id="15" name="Oval 14"/>
          <p:cNvSpPr/>
          <p:nvPr/>
        </p:nvSpPr>
        <p:spPr>
          <a:xfrm>
            <a:off x="3555911" y="3276518"/>
            <a:ext cx="69848" cy="69848"/>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21006" y="3200319"/>
            <a:ext cx="2362140" cy="571485"/>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Maakt de zool</a:t>
            </a:r>
          </a:p>
        </p:txBody>
      </p:sp>
      <p:sp>
        <p:nvSpPr>
          <p:cNvPr id="17" name="Oval 16"/>
          <p:cNvSpPr/>
          <p:nvPr/>
        </p:nvSpPr>
        <p:spPr>
          <a:xfrm>
            <a:off x="6273643" y="3276518"/>
            <a:ext cx="69848" cy="69848"/>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38739" y="3200319"/>
            <a:ext cx="2362140" cy="571485"/>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Past aan tot de norm</a:t>
            </a:r>
          </a:p>
        </p:txBody>
      </p:sp>
      <p:sp>
        <p:nvSpPr>
          <p:cNvPr id="19" name="Rectangle 18"/>
          <p:cNvSpPr/>
          <p:nvPr/>
        </p:nvSpPr>
        <p:spPr>
          <a:xfrm>
            <a:off x="634984" y="4013099"/>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4984" y="4228994"/>
            <a:ext cx="2666933" cy="380990"/>
          </a:xfrm>
          <a:prstGeom prst="rect">
            <a:avLst/>
          </a:prstGeom>
          <a:noFill/>
        </p:spPr>
        <p:txBody>
          <a:bodyPr wrap="square" anchor="t" lIns="0" rIns="0" tIns="0" bIns="0">
            <a:spAutoFit/>
          </a:bodyPr>
          <a:lstStyle/>
          <a:p>
            <a:pPr algn="l">
              <a:lnSpc>
                <a:spcPct val="125000"/>
              </a:lnSpc>
            </a:pPr>
            <a:r>
              <a:rPr sz="2700" b="1">
                <a:solidFill>
                  <a:srgbClr val="F2F8FC"/>
                </a:solidFill>
                <a:latin typeface="Segoe UI"/>
              </a:rPr>
              <a:t>Arts</a:t>
            </a:r>
          </a:p>
        </p:txBody>
      </p:sp>
      <p:sp>
        <p:nvSpPr>
          <p:cNvPr id="21" name="Oval 20"/>
          <p:cNvSpPr/>
          <p:nvPr/>
        </p:nvSpPr>
        <p:spPr>
          <a:xfrm>
            <a:off x="3555911" y="4317892"/>
            <a:ext cx="69848" cy="69848"/>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006" y="4241693"/>
            <a:ext cx="2362140" cy="571485"/>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Bevestigt geschiktheid</a:t>
            </a:r>
          </a:p>
        </p:txBody>
      </p:sp>
      <p:sp>
        <p:nvSpPr>
          <p:cNvPr id="23" name="Oval 22"/>
          <p:cNvSpPr/>
          <p:nvPr/>
        </p:nvSpPr>
        <p:spPr>
          <a:xfrm>
            <a:off x="6273643" y="4317892"/>
            <a:ext cx="69848" cy="69848"/>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8739" y="4241693"/>
            <a:ext cx="2362140" cy="571485"/>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Beoordeelt laesies</a:t>
            </a:r>
          </a:p>
        </p:txBody>
      </p:sp>
      <p:sp>
        <p:nvSpPr>
          <p:cNvPr id="25" name="Oval 24"/>
          <p:cNvSpPr/>
          <p:nvPr/>
        </p:nvSpPr>
        <p:spPr>
          <a:xfrm>
            <a:off x="8991375" y="4317892"/>
            <a:ext cx="69848" cy="69848"/>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56471" y="4241693"/>
            <a:ext cx="2362140" cy="571485"/>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Meldt voorvallen</a:t>
            </a:r>
          </a:p>
        </p:txBody>
      </p:sp>
      <p:sp>
        <p:nvSpPr>
          <p:cNvPr id="27" name="Rectangle 26"/>
          <p:cNvSpPr/>
          <p:nvPr/>
        </p:nvSpPr>
        <p:spPr>
          <a:xfrm>
            <a:off x="634984" y="5054473"/>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4984" y="5270368"/>
            <a:ext cx="2666933" cy="380990"/>
          </a:xfrm>
          <a:prstGeom prst="rect">
            <a:avLst/>
          </a:prstGeom>
          <a:noFill/>
        </p:spPr>
        <p:txBody>
          <a:bodyPr wrap="square" anchor="t" lIns="0" rIns="0" tIns="0" bIns="0">
            <a:spAutoFit/>
          </a:bodyPr>
          <a:lstStyle/>
          <a:p>
            <a:pPr algn="l">
              <a:lnSpc>
                <a:spcPct val="125000"/>
              </a:lnSpc>
            </a:pPr>
            <a:r>
              <a:rPr sz="2700" b="1">
                <a:solidFill>
                  <a:srgbClr val="F2F8FC"/>
                </a:solidFill>
                <a:latin typeface="Segoe UI"/>
              </a:rPr>
              <a:t>Management</a:t>
            </a:r>
          </a:p>
        </p:txBody>
      </p:sp>
      <p:sp>
        <p:nvSpPr>
          <p:cNvPr id="29" name="Oval 28"/>
          <p:cNvSpPr/>
          <p:nvPr/>
        </p:nvSpPr>
        <p:spPr>
          <a:xfrm>
            <a:off x="3555911" y="5359266"/>
            <a:ext cx="69848" cy="69848"/>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721006" y="5283067"/>
            <a:ext cx="2362140" cy="571485"/>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Maakt tijd vrij</a:t>
            </a:r>
          </a:p>
        </p:txBody>
      </p:sp>
      <p:sp>
        <p:nvSpPr>
          <p:cNvPr id="31" name="Oval 30"/>
          <p:cNvSpPr/>
          <p:nvPr/>
        </p:nvSpPr>
        <p:spPr>
          <a:xfrm>
            <a:off x="6273643" y="5359266"/>
            <a:ext cx="69848" cy="69848"/>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38739" y="5283067"/>
            <a:ext cx="2362140" cy="571485"/>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Bewaakt 24 inclusies</a:t>
            </a:r>
          </a:p>
        </p:txBody>
      </p:sp>
      <p:sp>
        <p:nvSpPr>
          <p:cNvPr id="33" name="Oval 32"/>
          <p:cNvSpPr/>
          <p:nvPr/>
        </p:nvSpPr>
        <p:spPr>
          <a:xfrm>
            <a:off x="8991375" y="5359266"/>
            <a:ext cx="69848" cy="69848"/>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56471" y="5283067"/>
            <a:ext cx="2362140" cy="571485"/>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Houdt het opleidingsregister bij</a:t>
            </a:r>
          </a:p>
        </p:txBody>
      </p:sp>
      <p:sp>
        <p:nvSpPr>
          <p:cNvPr id="35" name="Rectangle 34"/>
          <p:cNvSpPr/>
          <p:nvPr/>
        </p:nvSpPr>
        <p:spPr>
          <a:xfrm>
            <a:off x="634984" y="6095847"/>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23 / 28</a:t>
            </a:r>
          </a:p>
        </p:txBody>
      </p:sp>
      <p:pic>
        <p:nvPicPr>
          <p:cNvPr id="37"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38" name="TextBox 37"/>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Bron  8 · IWGDF 2023, preventie</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ONDERSTEUNING</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Wat u van ons krijgt</a:t>
            </a:r>
          </a:p>
        </p:txBody>
      </p:sp>
      <p:sp>
        <p:nvSpPr>
          <p:cNvPr id="5" name="Rectangle 4"/>
          <p:cNvSpPr/>
          <p:nvPr/>
        </p:nvSpPr>
        <p:spPr>
          <a:xfrm>
            <a:off x="634984" y="1993850"/>
            <a:ext cx="6222844"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4984" y="2158946"/>
            <a:ext cx="6222844" cy="317492"/>
          </a:xfrm>
          <a:prstGeom prst="rect">
            <a:avLst/>
          </a:prstGeom>
          <a:noFill/>
        </p:spPr>
        <p:txBody>
          <a:bodyPr wrap="square" anchor="t" lIns="0" rIns="0" tIns="0" bIns="0">
            <a:spAutoFit/>
          </a:bodyPr>
          <a:lstStyle/>
          <a:p>
            <a:pPr algn="l">
              <a:lnSpc>
                <a:spcPct val="125000"/>
              </a:lnSpc>
            </a:pPr>
            <a:r>
              <a:rPr sz="2100" b="1">
                <a:solidFill>
                  <a:srgbClr val="F2F8FC"/>
                </a:solidFill>
                <a:latin typeface="Segoe UI"/>
              </a:rPr>
              <a:t>Motiverende gespreksvoering</a:t>
            </a:r>
          </a:p>
        </p:txBody>
      </p:sp>
      <p:sp>
        <p:nvSpPr>
          <p:cNvPr id="7" name="TextBox 6"/>
          <p:cNvSpPr txBox="1"/>
          <p:nvPr/>
        </p:nvSpPr>
        <p:spPr>
          <a:xfrm>
            <a:off x="647683" y="2476438"/>
            <a:ext cx="6095847" cy="380990"/>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Training door een psycholoog — alle centra dezelfde</a:t>
            </a:r>
          </a:p>
        </p:txBody>
      </p:sp>
      <p:sp>
        <p:nvSpPr>
          <p:cNvPr id="8" name="Rectangle 7"/>
          <p:cNvSpPr/>
          <p:nvPr/>
        </p:nvSpPr>
        <p:spPr>
          <a:xfrm>
            <a:off x="634984" y="2959026"/>
            <a:ext cx="6222844"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4984" y="3124121"/>
            <a:ext cx="6222844" cy="317492"/>
          </a:xfrm>
          <a:prstGeom prst="rect">
            <a:avLst/>
          </a:prstGeom>
          <a:noFill/>
        </p:spPr>
        <p:txBody>
          <a:bodyPr wrap="square" anchor="t" lIns="0" rIns="0" tIns="0" bIns="0">
            <a:spAutoFit/>
          </a:bodyPr>
          <a:lstStyle/>
          <a:p>
            <a:pPr algn="l">
              <a:lnSpc>
                <a:spcPct val="125000"/>
              </a:lnSpc>
            </a:pPr>
            <a:r>
              <a:rPr sz="2100" b="1">
                <a:solidFill>
                  <a:srgbClr val="F2F8FC"/>
                </a:solidFill>
                <a:latin typeface="Segoe UI"/>
              </a:rPr>
              <a:t>SOP's en draaiboeken</a:t>
            </a:r>
          </a:p>
        </p:txBody>
      </p:sp>
      <p:sp>
        <p:nvSpPr>
          <p:cNvPr id="10" name="TextBox 9"/>
          <p:cNvSpPr txBox="1"/>
          <p:nvPr/>
        </p:nvSpPr>
        <p:spPr>
          <a:xfrm>
            <a:off x="647683" y="3441613"/>
            <a:ext cx="6095847" cy="380990"/>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Per handeling, met de eCRF-nummers erbij</a:t>
            </a:r>
          </a:p>
        </p:txBody>
      </p:sp>
      <p:sp>
        <p:nvSpPr>
          <p:cNvPr id="11" name="Rectangle 10"/>
          <p:cNvSpPr/>
          <p:nvPr/>
        </p:nvSpPr>
        <p:spPr>
          <a:xfrm>
            <a:off x="634984" y="3924201"/>
            <a:ext cx="6222844"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4984" y="4089297"/>
            <a:ext cx="6222844" cy="317492"/>
          </a:xfrm>
          <a:prstGeom prst="rect">
            <a:avLst/>
          </a:prstGeom>
          <a:noFill/>
        </p:spPr>
        <p:txBody>
          <a:bodyPr wrap="square" anchor="t" lIns="0" rIns="0" tIns="0" bIns="0">
            <a:spAutoFit/>
          </a:bodyPr>
          <a:lstStyle/>
          <a:p>
            <a:pPr algn="l">
              <a:lnSpc>
                <a:spcPct val="125000"/>
              </a:lnSpc>
            </a:pPr>
            <a:r>
              <a:rPr sz="2100" b="1">
                <a:solidFill>
                  <a:srgbClr val="F2F8FC"/>
                </a:solidFill>
                <a:latin typeface="Segoe UI"/>
              </a:rPr>
              <a:t>Gegevensinvoer</a:t>
            </a:r>
          </a:p>
        </p:txBody>
      </p:sp>
      <p:sp>
        <p:nvSpPr>
          <p:cNvPr id="13" name="TextBox 12"/>
          <p:cNvSpPr txBox="1"/>
          <p:nvPr/>
        </p:nvSpPr>
        <p:spPr>
          <a:xfrm>
            <a:off x="647683" y="4406789"/>
            <a:ext cx="6095847" cy="380990"/>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Doet het onderzoeksteam. U vult de formulieren in, verder niets</a:t>
            </a:r>
          </a:p>
        </p:txBody>
      </p:sp>
      <p:sp>
        <p:nvSpPr>
          <p:cNvPr id="14" name="Rectangle 13"/>
          <p:cNvSpPr/>
          <p:nvPr/>
        </p:nvSpPr>
        <p:spPr>
          <a:xfrm>
            <a:off x="634984" y="4889377"/>
            <a:ext cx="6222844"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4984" y="5054473"/>
            <a:ext cx="6222844" cy="317492"/>
          </a:xfrm>
          <a:prstGeom prst="rect">
            <a:avLst/>
          </a:prstGeom>
          <a:noFill/>
        </p:spPr>
        <p:txBody>
          <a:bodyPr wrap="square" anchor="t" lIns="0" rIns="0" tIns="0" bIns="0">
            <a:spAutoFit/>
          </a:bodyPr>
          <a:lstStyle/>
          <a:p>
            <a:pPr algn="l">
              <a:lnSpc>
                <a:spcPct val="125000"/>
              </a:lnSpc>
            </a:pPr>
            <a:r>
              <a:rPr sz="2100" b="1">
                <a:solidFill>
                  <a:srgbClr val="F2F8FC"/>
                </a:solidFill>
                <a:latin typeface="Segoe UI"/>
              </a:rPr>
              <a:t>Eén contactpunt</a:t>
            </a:r>
          </a:p>
        </p:txBody>
      </p:sp>
      <p:sp>
        <p:nvSpPr>
          <p:cNvPr id="16" name="TextBox 15"/>
          <p:cNvSpPr txBox="1"/>
          <p:nvPr/>
        </p:nvSpPr>
        <p:spPr>
          <a:xfrm>
            <a:off x="647683" y="5371965"/>
            <a:ext cx="6095847" cy="380990"/>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Eén nummer, één mailadres, voor alles</a:t>
            </a:r>
          </a:p>
        </p:txBody>
      </p:sp>
      <p:sp>
        <p:nvSpPr>
          <p:cNvPr id="17" name="Rounded Rectangle 16"/>
          <p:cNvSpPr/>
          <p:nvPr/>
        </p:nvSpPr>
        <p:spPr>
          <a:xfrm>
            <a:off x="7492812" y="1904952"/>
            <a:ext cx="4063898" cy="3949601"/>
          </a:xfrm>
          <a:prstGeom prst="roundRect">
            <a:avLst>
              <a:gd name="adj" fmla="val 4500"/>
            </a:avLst>
          </a:prstGeom>
          <a:solidFill>
            <a:srgbClr val="113A57"/>
          </a:solidFill>
          <a:ln w="9525">
            <a:solidFill>
              <a:srgbClr val="FF7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000799" y="2044648"/>
            <a:ext cx="3047923" cy="3047923"/>
          </a:xfrm>
          <a:prstGeom prst="ellipse">
            <a:avLst/>
          </a:prstGeom>
          <a:solidFill>
            <a:srgbClr val="FF7A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hero"/>
          <p:cNvSpPr txBox="1"/>
          <p:nvPr/>
        </p:nvSpPr>
        <p:spPr>
          <a:xfrm>
            <a:off x="7772205" y="2158946"/>
            <a:ext cx="3555911" cy="1904952"/>
          </a:xfrm>
          <a:prstGeom prst="rect">
            <a:avLst/>
          </a:prstGeom>
          <a:noFill/>
        </p:spPr>
        <p:txBody>
          <a:bodyPr wrap="square" anchor="t" lIns="0" rIns="0" tIns="0" bIns="0">
            <a:spAutoFit/>
          </a:bodyPr>
          <a:lstStyle/>
          <a:p>
            <a:pPr algn="ctr">
              <a:lnSpc>
                <a:spcPct val="90000"/>
              </a:lnSpc>
            </a:pPr>
            <a:r>
              <a:rPr sz="15000" b="1">
                <a:solidFill>
                  <a:srgbClr val="FF7A00"/>
                </a:solidFill>
                <a:latin typeface="Segoe UI"/>
              </a:rPr>
              <a:t>0</a:t>
            </a:r>
          </a:p>
        </p:txBody>
      </p:sp>
      <p:sp>
        <p:nvSpPr>
          <p:cNvPr id="20" name="TextBox 19"/>
          <p:cNvSpPr txBox="1"/>
          <p:nvPr/>
        </p:nvSpPr>
        <p:spPr>
          <a:xfrm>
            <a:off x="7772205" y="4063898"/>
            <a:ext cx="3555911" cy="393690"/>
          </a:xfrm>
          <a:prstGeom prst="rect">
            <a:avLst/>
          </a:prstGeom>
          <a:noFill/>
        </p:spPr>
        <p:txBody>
          <a:bodyPr wrap="square" anchor="t" lIns="0" rIns="0" tIns="0" bIns="0">
            <a:spAutoFit/>
          </a:bodyPr>
          <a:lstStyle/>
          <a:p>
            <a:pPr algn="ctr">
              <a:lnSpc>
                <a:spcPct val="125000"/>
              </a:lnSpc>
            </a:pPr>
            <a:r>
              <a:rPr sz="3000" b="1">
                <a:solidFill>
                  <a:srgbClr val="F2F8FC"/>
                </a:solidFill>
                <a:latin typeface="Segoe UI"/>
              </a:rPr>
              <a:t>sancties</a:t>
            </a:r>
          </a:p>
        </p:txBody>
      </p:sp>
      <p:sp>
        <p:nvSpPr>
          <p:cNvPr id="21" name="TextBox 20"/>
          <p:cNvSpPr txBox="1"/>
          <p:nvPr/>
        </p:nvSpPr>
        <p:spPr>
          <a:xfrm>
            <a:off x="7810304" y="4584585"/>
            <a:ext cx="3428914" cy="1015974"/>
          </a:xfrm>
          <a:prstGeom prst="rect">
            <a:avLst/>
          </a:prstGeom>
          <a:noFill/>
        </p:spPr>
        <p:txBody>
          <a:bodyPr wrap="square" anchor="t" lIns="0" rIns="0" tIns="0" bIns="0">
            <a:spAutoFit/>
          </a:bodyPr>
          <a:lstStyle/>
          <a:p>
            <a:pPr algn="ctr">
              <a:lnSpc>
                <a:spcPct val="140000"/>
              </a:lnSpc>
            </a:pPr>
            <a:r>
              <a:rPr sz="1600" b="0">
                <a:solidFill>
                  <a:srgbClr val="8FB6D0"/>
                </a:solidFill>
                <a:latin typeface="Segoe UI"/>
              </a:rPr>
              <a:t>Wijkt u af van het protocol, dan meldt u dat. Het wordt geregistreerd, niet afgestraft.</a:t>
            </a:r>
          </a:p>
        </p:txBody>
      </p:sp>
      <p:sp>
        <p:nvSpPr>
          <p:cNvPr id="22" name="TextBox 21"/>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24 / 28</a:t>
            </a:r>
          </a:p>
        </p:txBody>
      </p:sp>
      <p:pic>
        <p:nvPicPr>
          <p:cNvPr id="23" name="merk" descr="merk.png"/>
          <p:cNvPicPr>
            <a:picLocks noChangeAspect="1"/>
          </p:cNvPicPr>
          <p:nvPr/>
        </p:nvPicPr>
        <p:blipFill>
          <a:blip r:embed="rId2"/>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WAT U GAAT VRAGEN</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Vooruitlopend</a:t>
            </a:r>
          </a:p>
        </p:txBody>
      </p:sp>
      <p:sp>
        <p:nvSpPr>
          <p:cNvPr id="5" name="Rectangle 4"/>
          <p:cNvSpPr/>
          <p:nvPr/>
        </p:nvSpPr>
        <p:spPr>
          <a:xfrm>
            <a:off x="634984" y="1904952"/>
            <a:ext cx="5384538"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4984" y="2070048"/>
            <a:ext cx="5384538" cy="380990"/>
          </a:xfrm>
          <a:prstGeom prst="rect">
            <a:avLst/>
          </a:prstGeom>
          <a:noFill/>
        </p:spPr>
        <p:txBody>
          <a:bodyPr wrap="square" anchor="t" lIns="0" rIns="0" tIns="0" bIns="0">
            <a:spAutoFit/>
          </a:bodyPr>
          <a:lstStyle/>
          <a:p>
            <a:pPr algn="l">
              <a:lnSpc>
                <a:spcPct val="120000"/>
              </a:lnSpc>
            </a:pPr>
            <a:r>
              <a:rPr sz="1900" b="1">
                <a:solidFill>
                  <a:srgbClr val="F2F8FC"/>
                </a:solidFill>
                <a:latin typeface="Segoe UI"/>
              </a:rPr>
              <a:t>Patiënt wil de sensor niet</a:t>
            </a:r>
          </a:p>
        </p:txBody>
      </p:sp>
      <p:sp>
        <p:nvSpPr>
          <p:cNvPr id="7" name="TextBox 6"/>
          <p:cNvSpPr txBox="1"/>
          <p:nvPr/>
        </p:nvSpPr>
        <p:spPr>
          <a:xfrm>
            <a:off x="634984" y="2514537"/>
            <a:ext cx="190495" cy="253993"/>
          </a:xfrm>
          <a:prstGeom prst="rect">
            <a:avLst/>
          </a:prstGeom>
          <a:noFill/>
        </p:spPr>
        <p:txBody>
          <a:bodyPr wrap="square" anchor="t" lIns="0" rIns="0" tIns="0" bIns="0">
            <a:spAutoFit/>
          </a:bodyPr>
          <a:lstStyle/>
          <a:p>
            <a:pPr algn="l">
              <a:lnSpc>
                <a:spcPct val="125000"/>
              </a:lnSpc>
            </a:pPr>
            <a:r>
              <a:rPr sz="1500" b="1">
                <a:solidFill>
                  <a:srgbClr val="52BDEC"/>
                </a:solidFill>
                <a:latin typeface="Segoe UI"/>
              </a:rPr>
              <a:t>—</a:t>
            </a:r>
          </a:p>
        </p:txBody>
      </p:sp>
      <p:sp>
        <p:nvSpPr>
          <p:cNvPr id="8" name="TextBox 7"/>
          <p:cNvSpPr txBox="1"/>
          <p:nvPr/>
        </p:nvSpPr>
        <p:spPr>
          <a:xfrm>
            <a:off x="888977" y="2501837"/>
            <a:ext cx="5130544" cy="736581"/>
          </a:xfrm>
          <a:prstGeom prst="rect">
            <a:avLst/>
          </a:prstGeom>
          <a:noFill/>
        </p:spPr>
        <p:txBody>
          <a:bodyPr wrap="square" anchor="t" lIns="0" rIns="0" tIns="0" bIns="0">
            <a:spAutoFit/>
          </a:bodyPr>
          <a:lstStyle/>
          <a:p>
            <a:pPr algn="l">
              <a:lnSpc>
                <a:spcPct val="135000"/>
              </a:lnSpc>
            </a:pPr>
            <a:r>
              <a:rPr sz="1550" b="0">
                <a:solidFill>
                  <a:srgbClr val="8FB6D0"/>
                </a:solidFill>
                <a:latin typeface="Segoe UI"/>
              </a:rPr>
              <a:t>Dan niet geschikt. De draagtijd móét gemeten worden.</a:t>
            </a:r>
          </a:p>
        </p:txBody>
      </p:sp>
      <p:sp>
        <p:nvSpPr>
          <p:cNvPr id="9" name="Rectangle 8"/>
          <p:cNvSpPr/>
          <p:nvPr/>
        </p:nvSpPr>
        <p:spPr>
          <a:xfrm>
            <a:off x="6171918" y="1904952"/>
            <a:ext cx="5384538"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71918" y="2070048"/>
            <a:ext cx="5384538" cy="380990"/>
          </a:xfrm>
          <a:prstGeom prst="rect">
            <a:avLst/>
          </a:prstGeom>
          <a:noFill/>
        </p:spPr>
        <p:txBody>
          <a:bodyPr wrap="square" anchor="t" lIns="0" rIns="0" tIns="0" bIns="0">
            <a:spAutoFit/>
          </a:bodyPr>
          <a:lstStyle/>
          <a:p>
            <a:pPr algn="l">
              <a:lnSpc>
                <a:spcPct val="120000"/>
              </a:lnSpc>
            </a:pPr>
            <a:r>
              <a:rPr sz="1900" b="1">
                <a:solidFill>
                  <a:srgbClr val="F2F8FC"/>
                </a:solidFill>
                <a:latin typeface="Segoe UI"/>
              </a:rPr>
              <a:t>Zool haalt de norm niet</a:t>
            </a:r>
          </a:p>
        </p:txBody>
      </p:sp>
      <p:sp>
        <p:nvSpPr>
          <p:cNvPr id="11" name="TextBox 10"/>
          <p:cNvSpPr txBox="1"/>
          <p:nvPr/>
        </p:nvSpPr>
        <p:spPr>
          <a:xfrm>
            <a:off x="6171918" y="2514537"/>
            <a:ext cx="190495" cy="253993"/>
          </a:xfrm>
          <a:prstGeom prst="rect">
            <a:avLst/>
          </a:prstGeom>
          <a:noFill/>
        </p:spPr>
        <p:txBody>
          <a:bodyPr wrap="square" anchor="t" lIns="0" rIns="0" tIns="0" bIns="0">
            <a:spAutoFit/>
          </a:bodyPr>
          <a:lstStyle/>
          <a:p>
            <a:pPr algn="l">
              <a:lnSpc>
                <a:spcPct val="125000"/>
              </a:lnSpc>
            </a:pPr>
            <a:r>
              <a:rPr sz="1500" b="1">
                <a:solidFill>
                  <a:srgbClr val="52BDEC"/>
                </a:solidFill>
                <a:latin typeface="Segoe UI"/>
              </a:rPr>
              <a:t>—</a:t>
            </a:r>
          </a:p>
        </p:txBody>
      </p:sp>
      <p:sp>
        <p:nvSpPr>
          <p:cNvPr id="12" name="TextBox 11"/>
          <p:cNvSpPr txBox="1"/>
          <p:nvPr/>
        </p:nvSpPr>
        <p:spPr>
          <a:xfrm>
            <a:off x="6425912" y="2501837"/>
            <a:ext cx="5130544" cy="736581"/>
          </a:xfrm>
          <a:prstGeom prst="rect">
            <a:avLst/>
          </a:prstGeom>
          <a:noFill/>
        </p:spPr>
        <p:txBody>
          <a:bodyPr wrap="square" anchor="t" lIns="0" rIns="0" tIns="0" bIns="0">
            <a:spAutoFit/>
          </a:bodyPr>
          <a:lstStyle/>
          <a:p>
            <a:pPr algn="l">
              <a:lnSpc>
                <a:spcPct val="135000"/>
              </a:lnSpc>
            </a:pPr>
            <a:r>
              <a:rPr sz="1550" b="0">
                <a:solidFill>
                  <a:srgbClr val="8FB6D0"/>
                </a:solidFill>
                <a:latin typeface="Segoe UI"/>
              </a:rPr>
              <a:t>Twee extra tests, dan noteert u wat wél bereikt is.</a:t>
            </a:r>
          </a:p>
        </p:txBody>
      </p:sp>
      <p:sp>
        <p:nvSpPr>
          <p:cNvPr id="13" name="Rectangle 12"/>
          <p:cNvSpPr/>
          <p:nvPr/>
        </p:nvSpPr>
        <p:spPr>
          <a:xfrm>
            <a:off x="634984" y="3340016"/>
            <a:ext cx="5384538"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984" y="3505112"/>
            <a:ext cx="5384538" cy="380990"/>
          </a:xfrm>
          <a:prstGeom prst="rect">
            <a:avLst/>
          </a:prstGeom>
          <a:noFill/>
        </p:spPr>
        <p:txBody>
          <a:bodyPr wrap="square" anchor="t" lIns="0" rIns="0" tIns="0" bIns="0">
            <a:spAutoFit/>
          </a:bodyPr>
          <a:lstStyle/>
          <a:p>
            <a:pPr algn="l">
              <a:lnSpc>
                <a:spcPct val="120000"/>
              </a:lnSpc>
            </a:pPr>
            <a:r>
              <a:rPr sz="1900" b="1">
                <a:solidFill>
                  <a:srgbClr val="F2F8FC"/>
                </a:solidFill>
                <a:latin typeface="Segoe UI"/>
              </a:rPr>
              <a:t>Mag ik nog adviseren?</a:t>
            </a:r>
          </a:p>
        </p:txBody>
      </p:sp>
      <p:sp>
        <p:nvSpPr>
          <p:cNvPr id="15" name="TextBox 14"/>
          <p:cNvSpPr txBox="1"/>
          <p:nvPr/>
        </p:nvSpPr>
        <p:spPr>
          <a:xfrm>
            <a:off x="634984" y="3949601"/>
            <a:ext cx="190495" cy="253993"/>
          </a:xfrm>
          <a:prstGeom prst="rect">
            <a:avLst/>
          </a:prstGeom>
          <a:noFill/>
        </p:spPr>
        <p:txBody>
          <a:bodyPr wrap="square" anchor="t" lIns="0" rIns="0" tIns="0" bIns="0">
            <a:spAutoFit/>
          </a:bodyPr>
          <a:lstStyle/>
          <a:p>
            <a:pPr algn="l">
              <a:lnSpc>
                <a:spcPct val="125000"/>
              </a:lnSpc>
            </a:pPr>
            <a:r>
              <a:rPr sz="1500" b="1">
                <a:solidFill>
                  <a:srgbClr val="52BDEC"/>
                </a:solidFill>
                <a:latin typeface="Segoe UI"/>
              </a:rPr>
              <a:t>—</a:t>
            </a:r>
          </a:p>
        </p:txBody>
      </p:sp>
      <p:sp>
        <p:nvSpPr>
          <p:cNvPr id="16" name="TextBox 15"/>
          <p:cNvSpPr txBox="1"/>
          <p:nvPr/>
        </p:nvSpPr>
        <p:spPr>
          <a:xfrm>
            <a:off x="888977" y="3936901"/>
            <a:ext cx="5130544" cy="736581"/>
          </a:xfrm>
          <a:prstGeom prst="rect">
            <a:avLst/>
          </a:prstGeom>
          <a:noFill/>
        </p:spPr>
        <p:txBody>
          <a:bodyPr wrap="square" anchor="t" lIns="0" rIns="0" tIns="0" bIns="0">
            <a:spAutoFit/>
          </a:bodyPr>
          <a:lstStyle/>
          <a:p>
            <a:pPr algn="l">
              <a:lnSpc>
                <a:spcPct val="135000"/>
              </a:lnSpc>
            </a:pPr>
            <a:r>
              <a:rPr sz="1550" b="0">
                <a:solidFill>
                  <a:srgbClr val="8FB6D0"/>
                </a:solidFill>
                <a:latin typeface="Segoe UI"/>
              </a:rPr>
              <a:t>Alles wat u vandaag doet, blijft u doen.</a:t>
            </a:r>
          </a:p>
        </p:txBody>
      </p:sp>
      <p:sp>
        <p:nvSpPr>
          <p:cNvPr id="17" name="Rectangle 16"/>
          <p:cNvSpPr/>
          <p:nvPr/>
        </p:nvSpPr>
        <p:spPr>
          <a:xfrm>
            <a:off x="6171918" y="3340016"/>
            <a:ext cx="5384538"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71918" y="3505112"/>
            <a:ext cx="5384538" cy="380990"/>
          </a:xfrm>
          <a:prstGeom prst="rect">
            <a:avLst/>
          </a:prstGeom>
          <a:noFill/>
        </p:spPr>
        <p:txBody>
          <a:bodyPr wrap="square" anchor="t" lIns="0" rIns="0" tIns="0" bIns="0">
            <a:spAutoFit/>
          </a:bodyPr>
          <a:lstStyle/>
          <a:p>
            <a:pPr algn="l">
              <a:lnSpc>
                <a:spcPct val="120000"/>
              </a:lnSpc>
            </a:pPr>
            <a:r>
              <a:rPr sz="1900" b="1">
                <a:solidFill>
                  <a:srgbClr val="F2F8FC"/>
                </a:solidFill>
                <a:latin typeface="Segoe UI"/>
              </a:rPr>
              <a:t>En de ingevulde formulieren?</a:t>
            </a:r>
          </a:p>
        </p:txBody>
      </p:sp>
      <p:sp>
        <p:nvSpPr>
          <p:cNvPr id="19" name="TextBox 18"/>
          <p:cNvSpPr txBox="1"/>
          <p:nvPr/>
        </p:nvSpPr>
        <p:spPr>
          <a:xfrm>
            <a:off x="6171918" y="3949601"/>
            <a:ext cx="190495" cy="253993"/>
          </a:xfrm>
          <a:prstGeom prst="rect">
            <a:avLst/>
          </a:prstGeom>
          <a:noFill/>
        </p:spPr>
        <p:txBody>
          <a:bodyPr wrap="square" anchor="t" lIns="0" rIns="0" tIns="0" bIns="0">
            <a:spAutoFit/>
          </a:bodyPr>
          <a:lstStyle/>
          <a:p>
            <a:pPr algn="l">
              <a:lnSpc>
                <a:spcPct val="125000"/>
              </a:lnSpc>
            </a:pPr>
            <a:r>
              <a:rPr sz="1500" b="1">
                <a:solidFill>
                  <a:srgbClr val="52BDEC"/>
                </a:solidFill>
                <a:latin typeface="Segoe UI"/>
              </a:rPr>
              <a:t>—</a:t>
            </a:r>
          </a:p>
        </p:txBody>
      </p:sp>
      <p:sp>
        <p:nvSpPr>
          <p:cNvPr id="20" name="TextBox 19"/>
          <p:cNvSpPr txBox="1"/>
          <p:nvPr/>
        </p:nvSpPr>
        <p:spPr>
          <a:xfrm>
            <a:off x="6425912" y="3936901"/>
            <a:ext cx="5130544" cy="736581"/>
          </a:xfrm>
          <a:prstGeom prst="rect">
            <a:avLst/>
          </a:prstGeom>
          <a:noFill/>
        </p:spPr>
        <p:txBody>
          <a:bodyPr wrap="square" anchor="t" lIns="0" rIns="0" tIns="0" bIns="0">
            <a:spAutoFit/>
          </a:bodyPr>
          <a:lstStyle/>
          <a:p>
            <a:pPr algn="l">
              <a:lnSpc>
                <a:spcPct val="135000"/>
              </a:lnSpc>
            </a:pPr>
            <a:r>
              <a:rPr sz="1550" b="0">
                <a:solidFill>
                  <a:srgbClr val="8FB6D0"/>
                </a:solidFill>
                <a:latin typeface="Segoe UI"/>
              </a:rPr>
              <a:t>Invoeren doet het onderzoeksteam. U bewaart of stuurt door.</a:t>
            </a:r>
          </a:p>
        </p:txBody>
      </p:sp>
      <p:sp>
        <p:nvSpPr>
          <p:cNvPr id="21" name="Rectangle 20"/>
          <p:cNvSpPr/>
          <p:nvPr/>
        </p:nvSpPr>
        <p:spPr>
          <a:xfrm>
            <a:off x="634984" y="4775080"/>
            <a:ext cx="5384538"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984" y="4940176"/>
            <a:ext cx="5384538" cy="380990"/>
          </a:xfrm>
          <a:prstGeom prst="rect">
            <a:avLst/>
          </a:prstGeom>
          <a:noFill/>
        </p:spPr>
        <p:txBody>
          <a:bodyPr wrap="square" anchor="t" lIns="0" rIns="0" tIns="0" bIns="0">
            <a:spAutoFit/>
          </a:bodyPr>
          <a:lstStyle/>
          <a:p>
            <a:pPr algn="l">
              <a:lnSpc>
                <a:spcPct val="120000"/>
              </a:lnSpc>
            </a:pPr>
            <a:r>
              <a:rPr sz="1900" b="1">
                <a:solidFill>
                  <a:srgbClr val="F2F8FC"/>
                </a:solidFill>
                <a:latin typeface="Segoe UI"/>
              </a:rPr>
              <a:t>Onze data?</a:t>
            </a:r>
          </a:p>
        </p:txBody>
      </p:sp>
      <p:sp>
        <p:nvSpPr>
          <p:cNvPr id="23" name="TextBox 22"/>
          <p:cNvSpPr txBox="1"/>
          <p:nvPr/>
        </p:nvSpPr>
        <p:spPr>
          <a:xfrm>
            <a:off x="634984" y="5384665"/>
            <a:ext cx="190495" cy="253993"/>
          </a:xfrm>
          <a:prstGeom prst="rect">
            <a:avLst/>
          </a:prstGeom>
          <a:noFill/>
        </p:spPr>
        <p:txBody>
          <a:bodyPr wrap="square" anchor="t" lIns="0" rIns="0" tIns="0" bIns="0">
            <a:spAutoFit/>
          </a:bodyPr>
          <a:lstStyle/>
          <a:p>
            <a:pPr algn="l">
              <a:lnSpc>
                <a:spcPct val="125000"/>
              </a:lnSpc>
            </a:pPr>
            <a:r>
              <a:rPr sz="1500" b="1">
                <a:solidFill>
                  <a:srgbClr val="52BDEC"/>
                </a:solidFill>
                <a:latin typeface="Segoe UI"/>
              </a:rPr>
              <a:t>—</a:t>
            </a:r>
          </a:p>
        </p:txBody>
      </p:sp>
      <p:sp>
        <p:nvSpPr>
          <p:cNvPr id="24" name="TextBox 23"/>
          <p:cNvSpPr txBox="1"/>
          <p:nvPr/>
        </p:nvSpPr>
        <p:spPr>
          <a:xfrm>
            <a:off x="888977" y="5371965"/>
            <a:ext cx="5130544" cy="736581"/>
          </a:xfrm>
          <a:prstGeom prst="rect">
            <a:avLst/>
          </a:prstGeom>
          <a:noFill/>
        </p:spPr>
        <p:txBody>
          <a:bodyPr wrap="square" anchor="t" lIns="0" rIns="0" tIns="0" bIns="0">
            <a:spAutoFit/>
          </a:bodyPr>
          <a:lstStyle/>
          <a:p>
            <a:pPr algn="l">
              <a:lnSpc>
                <a:spcPct val="135000"/>
              </a:lnSpc>
            </a:pPr>
            <a:r>
              <a:rPr sz="1550" b="0">
                <a:solidFill>
                  <a:srgbClr val="8FB6D0"/>
                </a:solidFill>
                <a:latin typeface="Segoe UI"/>
              </a:rPr>
              <a:t>Gepseudonimiseerd, 25 jaar, binnen de toestemming.</a:t>
            </a:r>
          </a:p>
        </p:txBody>
      </p:sp>
      <p:sp>
        <p:nvSpPr>
          <p:cNvPr id="25" name="Rectangle 24"/>
          <p:cNvSpPr/>
          <p:nvPr/>
        </p:nvSpPr>
        <p:spPr>
          <a:xfrm>
            <a:off x="6171918" y="4775080"/>
            <a:ext cx="5384538"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171918" y="4940176"/>
            <a:ext cx="5384538" cy="380990"/>
          </a:xfrm>
          <a:prstGeom prst="rect">
            <a:avLst/>
          </a:prstGeom>
          <a:noFill/>
        </p:spPr>
        <p:txBody>
          <a:bodyPr wrap="square" anchor="t" lIns="0" rIns="0" tIns="0" bIns="0">
            <a:spAutoFit/>
          </a:bodyPr>
          <a:lstStyle/>
          <a:p>
            <a:pPr algn="l">
              <a:lnSpc>
                <a:spcPct val="120000"/>
              </a:lnSpc>
            </a:pPr>
            <a:r>
              <a:rPr sz="1900" b="1">
                <a:solidFill>
                  <a:srgbClr val="F2F8FC"/>
                </a:solidFill>
                <a:latin typeface="Segoe UI"/>
              </a:rPr>
              <a:t>Zien wij resultaten?</a:t>
            </a:r>
          </a:p>
        </p:txBody>
      </p:sp>
      <p:sp>
        <p:nvSpPr>
          <p:cNvPr id="27" name="TextBox 26"/>
          <p:cNvSpPr txBox="1"/>
          <p:nvPr/>
        </p:nvSpPr>
        <p:spPr>
          <a:xfrm>
            <a:off x="6171918" y="5384665"/>
            <a:ext cx="190495" cy="253993"/>
          </a:xfrm>
          <a:prstGeom prst="rect">
            <a:avLst/>
          </a:prstGeom>
          <a:noFill/>
        </p:spPr>
        <p:txBody>
          <a:bodyPr wrap="square" anchor="t" lIns="0" rIns="0" tIns="0" bIns="0">
            <a:spAutoFit/>
          </a:bodyPr>
          <a:lstStyle/>
          <a:p>
            <a:pPr algn="l">
              <a:lnSpc>
                <a:spcPct val="125000"/>
              </a:lnSpc>
            </a:pPr>
            <a:r>
              <a:rPr sz="1500" b="1">
                <a:solidFill>
                  <a:srgbClr val="52BDEC"/>
                </a:solidFill>
                <a:latin typeface="Segoe UI"/>
              </a:rPr>
              <a:t>—</a:t>
            </a:r>
          </a:p>
        </p:txBody>
      </p:sp>
      <p:sp>
        <p:nvSpPr>
          <p:cNvPr id="28" name="TextBox 27"/>
          <p:cNvSpPr txBox="1"/>
          <p:nvPr/>
        </p:nvSpPr>
        <p:spPr>
          <a:xfrm>
            <a:off x="6425912" y="5371965"/>
            <a:ext cx="5130544" cy="736581"/>
          </a:xfrm>
          <a:prstGeom prst="rect">
            <a:avLst/>
          </a:prstGeom>
          <a:noFill/>
        </p:spPr>
        <p:txBody>
          <a:bodyPr wrap="square" anchor="t" lIns="0" rIns="0" tIns="0" bIns="0">
            <a:spAutoFit/>
          </a:bodyPr>
          <a:lstStyle/>
          <a:p>
            <a:pPr algn="l">
              <a:lnSpc>
                <a:spcPct val="135000"/>
              </a:lnSpc>
            </a:pPr>
            <a:r>
              <a:rPr sz="1550" b="0">
                <a:solidFill>
                  <a:srgbClr val="8FB6D0"/>
                </a:solidFill>
                <a:latin typeface="Segoe UI"/>
              </a:rPr>
              <a:t>Eén publicatie, ongeacht de uitkomst.</a:t>
            </a:r>
          </a:p>
        </p:txBody>
      </p:sp>
      <p:sp>
        <p:nvSpPr>
          <p:cNvPr id="29" name="TextBox 28"/>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25 / 28</a:t>
            </a:r>
          </a:p>
        </p:txBody>
      </p:sp>
      <p:pic>
        <p:nvPicPr>
          <p:cNvPr id="30" name="merk" descr="merk.png"/>
          <p:cNvPicPr>
            <a:picLocks noChangeAspect="1"/>
          </p:cNvPicPr>
          <p:nvPr/>
        </p:nvPicPr>
        <p:blipFill>
          <a:blip r:embed="rId2"/>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beeld" descr="knal_zelf.jpg"/>
          <p:cNvPicPr>
            <a:picLocks noChangeAspect="1"/>
          </p:cNvPicPr>
          <p:nvPr/>
        </p:nvPicPr>
        <p:blipFill>
          <a:blip r:embed="rId2"/>
          <a:stretch>
            <a:fillRect/>
          </a:stretch>
        </p:blipFill>
        <p:spPr>
          <a:xfrm>
            <a:off x="-45491" y="0"/>
            <a:ext cx="12282678" cy="6857828"/>
          </a:xfrm>
          <a:prstGeom prst="rect">
            <a:avLst/>
          </a:prstGeom>
        </p:spPr>
      </p:pic>
      <p:sp>
        <p:nvSpPr>
          <p:cNvPr id="4" name="Rectangle 3"/>
          <p:cNvSpPr/>
          <p:nvPr/>
        </p:nvSpPr>
        <p:spPr>
          <a:xfrm>
            <a:off x="0" y="0"/>
            <a:ext cx="12191695" cy="6857828"/>
          </a:xfrm>
          <a:prstGeom prst="rect">
            <a:avLst/>
          </a:prstGeom>
          <a:gradFill rotWithShape="1">
            <a:gsLst>
              <a:gs pos="0">
                <a:srgbClr val="04182A">
                  <a:alpha val="68000"/>
                </a:srgbClr>
              </a:gs>
              <a:gs pos="100000">
                <a:srgbClr val="072138">
                  <a:alpha val="95000"/>
                </a:srgbClr>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52476" y="1231869"/>
            <a:ext cx="812779" cy="50798"/>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knal"/>
          <p:cNvSpPr txBox="1"/>
          <p:nvPr/>
        </p:nvSpPr>
        <p:spPr>
          <a:xfrm>
            <a:off x="952476" y="1523961"/>
            <a:ext cx="10286742" cy="4190895"/>
          </a:xfrm>
          <a:prstGeom prst="rect">
            <a:avLst/>
          </a:prstGeom>
          <a:noFill/>
        </p:spPr>
        <p:txBody>
          <a:bodyPr wrap="square" anchor="t" lIns="0" rIns="0" tIns="0" bIns="0">
            <a:spAutoFit/>
          </a:bodyPr>
          <a:lstStyle/>
          <a:p>
            <a:pPr algn="l">
              <a:lnSpc>
                <a:spcPct val="106000"/>
              </a:lnSpc>
            </a:pPr>
            <a:r>
              <a:rPr sz="7200" b="1">
                <a:solidFill>
                  <a:srgbClr val="FFFFFF"/>
                </a:solidFill>
                <a:latin typeface="Segoe UI"/>
              </a:rPr>
              <a:t>Vanaf de eerste patiënt</a:t>
            </a:r>
          </a:p>
          <a:p>
            <a:pPr algn="l">
              <a:lnSpc>
                <a:spcPct val="106000"/>
              </a:lnSpc>
              <a:spcBef>
                <a:spcPts val="500"/>
              </a:spcBef>
            </a:pPr>
            <a:r>
              <a:rPr sz="7200" b="1">
                <a:solidFill>
                  <a:srgbClr val="FFFFFF"/>
                </a:solidFill>
                <a:latin typeface="Segoe UI"/>
              </a:rPr>
              <a:t>doet u dit zelf.</a:t>
            </a:r>
          </a:p>
        </p:txBody>
      </p:sp>
      <p:sp>
        <p:nvSpPr>
          <p:cNvPr id="7" name="TextBox 6"/>
          <p:cNvSpPr txBox="1"/>
          <p:nvPr/>
        </p:nvSpPr>
        <p:spPr>
          <a:xfrm>
            <a:off x="977875" y="6006949"/>
            <a:ext cx="9524761" cy="279393"/>
          </a:xfrm>
          <a:prstGeom prst="rect">
            <a:avLst/>
          </a:prstGeom>
          <a:noFill/>
        </p:spPr>
        <p:txBody>
          <a:bodyPr wrap="square" anchor="t" lIns="0" rIns="0" tIns="0" bIns="0">
            <a:spAutoFit/>
          </a:bodyPr>
          <a:lstStyle/>
          <a:p>
            <a:pPr algn="l">
              <a:lnSpc>
                <a:spcPct val="125000"/>
              </a:lnSpc>
            </a:pPr>
            <a:r>
              <a:rPr sz="1700" b="0">
                <a:solidFill>
                  <a:srgbClr val="F2F8FC"/>
                </a:solidFill>
                <a:latin typeface="Consolas"/>
              </a:rPr>
              <a:t>Wij leiden op, wij voeren in. De handelingen zijn van u.</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WIE U AANSPREEKT</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Voor als er iets misloopt</a:t>
            </a:r>
          </a:p>
        </p:txBody>
      </p:sp>
      <p:sp>
        <p:nvSpPr>
          <p:cNvPr id="5" name="Rounded Rectangle 4"/>
          <p:cNvSpPr/>
          <p:nvPr/>
        </p:nvSpPr>
        <p:spPr>
          <a:xfrm>
            <a:off x="634984" y="1904952"/>
            <a:ext cx="3174920" cy="3936901"/>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ortret" descr="janou.png"/>
          <p:cNvPicPr>
            <a:picLocks noChangeAspect="1"/>
          </p:cNvPicPr>
          <p:nvPr/>
        </p:nvPicPr>
        <p:blipFill>
          <a:blip r:embed="rId2"/>
          <a:stretch>
            <a:fillRect/>
          </a:stretch>
        </p:blipFill>
        <p:spPr>
          <a:xfrm>
            <a:off x="777502" y="2006549"/>
            <a:ext cx="2889883" cy="3733706"/>
          </a:xfrm>
          <a:prstGeom prst="rect">
            <a:avLst/>
          </a:prstGeom>
        </p:spPr>
      </p:pic>
      <p:sp>
        <p:nvSpPr>
          <p:cNvPr id="7" name="Rectangle 6"/>
          <p:cNvSpPr/>
          <p:nvPr/>
        </p:nvSpPr>
        <p:spPr>
          <a:xfrm>
            <a:off x="4317892" y="1904952"/>
            <a:ext cx="7238819"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17892" y="2070048"/>
            <a:ext cx="6349841" cy="380990"/>
          </a:xfrm>
          <a:prstGeom prst="rect">
            <a:avLst/>
          </a:prstGeom>
          <a:noFill/>
        </p:spPr>
        <p:txBody>
          <a:bodyPr wrap="square" anchor="t" lIns="0" rIns="0" tIns="0" bIns="0">
            <a:spAutoFit/>
          </a:bodyPr>
          <a:lstStyle/>
          <a:p>
            <a:pPr algn="l">
              <a:lnSpc>
                <a:spcPct val="125000"/>
              </a:lnSpc>
            </a:pPr>
            <a:r>
              <a:rPr sz="3000" b="1">
                <a:solidFill>
                  <a:srgbClr val="F2F8FC"/>
                </a:solidFill>
                <a:latin typeface="Segoe UI"/>
              </a:rPr>
              <a:t>Janou De Buyser</a:t>
            </a:r>
          </a:p>
        </p:txBody>
      </p:sp>
      <p:sp>
        <p:nvSpPr>
          <p:cNvPr id="9" name="TextBox 8"/>
          <p:cNvSpPr txBox="1"/>
          <p:nvPr/>
        </p:nvSpPr>
        <p:spPr>
          <a:xfrm>
            <a:off x="4330591" y="2539936"/>
            <a:ext cx="5714857" cy="228594"/>
          </a:xfrm>
          <a:prstGeom prst="rect">
            <a:avLst/>
          </a:prstGeom>
          <a:noFill/>
        </p:spPr>
        <p:txBody>
          <a:bodyPr wrap="square" anchor="t" lIns="0" rIns="0" tIns="0" bIns="0">
            <a:spAutoFit/>
          </a:bodyPr>
          <a:lstStyle/>
          <a:p>
            <a:pPr algn="l">
              <a:lnSpc>
                <a:spcPct val="125000"/>
              </a:lnSpc>
            </a:pPr>
            <a:r>
              <a:rPr sz="1300" b="1" spc="150">
                <a:solidFill>
                  <a:srgbClr val="52BDEC"/>
                </a:solidFill>
                <a:latin typeface="Consolas"/>
              </a:rPr>
              <a:t>DOCTORAATSONDERZOEKER · DAGELIJKSE OPVOLGING</a:t>
            </a:r>
          </a:p>
        </p:txBody>
      </p:sp>
      <p:sp>
        <p:nvSpPr>
          <p:cNvPr id="10" name="TextBox 9"/>
          <p:cNvSpPr txBox="1"/>
          <p:nvPr/>
        </p:nvSpPr>
        <p:spPr>
          <a:xfrm>
            <a:off x="4317892" y="2857428"/>
            <a:ext cx="7238819" cy="634984"/>
          </a:xfrm>
          <a:prstGeom prst="rect">
            <a:avLst/>
          </a:prstGeom>
          <a:noFill/>
        </p:spPr>
        <p:txBody>
          <a:bodyPr wrap="square" anchor="t" lIns="0" rIns="0" tIns="0" bIns="0">
            <a:spAutoFit/>
          </a:bodyPr>
          <a:lstStyle/>
          <a:p>
            <a:pPr algn="l">
              <a:lnSpc>
                <a:spcPct val="135000"/>
              </a:lnSpc>
            </a:pPr>
            <a:r>
              <a:rPr sz="1650" b="0">
                <a:solidFill>
                  <a:srgbClr val="8FB6D0"/>
                </a:solidFill>
                <a:latin typeface="Segoe UI"/>
              </a:rPr>
              <a:t>Uw eerste aanspreekpunt: inclusies, metingen, formulieren, sensoren en alles wat in de praktijk vastloopt.</a:t>
            </a:r>
          </a:p>
        </p:txBody>
      </p:sp>
      <p:sp>
        <p:nvSpPr>
          <p:cNvPr id="11" name="TextBox 10"/>
          <p:cNvSpPr txBox="1"/>
          <p:nvPr/>
        </p:nvSpPr>
        <p:spPr>
          <a:xfrm>
            <a:off x="4317892" y="3530511"/>
            <a:ext cx="3682907" cy="253993"/>
          </a:xfrm>
          <a:prstGeom prst="rect">
            <a:avLst/>
          </a:prstGeom>
          <a:noFill/>
        </p:spPr>
        <p:txBody>
          <a:bodyPr wrap="none" anchor="t" lIns="0" rIns="0" tIns="0" bIns="0">
            <a:spAutoFit/>
          </a:bodyPr>
          <a:lstStyle/>
          <a:p>
            <a:pPr algn="l">
              <a:lnSpc>
                <a:spcPct val="125000"/>
              </a:lnSpc>
            </a:pPr>
            <a:r>
              <a:rPr sz="1600" b="0">
                <a:solidFill>
                  <a:srgbClr val="F2F8FC"/>
                </a:solidFill>
                <a:latin typeface="Consolas"/>
              </a:rPr>
              <a:t>janou.debuyser@kuleuven.be</a:t>
            </a:r>
          </a:p>
        </p:txBody>
      </p:sp>
      <p:sp>
        <p:nvSpPr>
          <p:cNvPr id="12" name="TextBox 11"/>
          <p:cNvSpPr txBox="1"/>
          <p:nvPr/>
        </p:nvSpPr>
        <p:spPr>
          <a:xfrm>
            <a:off x="7873803" y="3530511"/>
            <a:ext cx="3682907" cy="253993"/>
          </a:xfrm>
          <a:prstGeom prst="rect">
            <a:avLst/>
          </a:prstGeom>
          <a:noFill/>
        </p:spPr>
        <p:txBody>
          <a:bodyPr wrap="none" anchor="t" lIns="0" rIns="0" tIns="0" bIns="0">
            <a:spAutoFit/>
          </a:bodyPr>
          <a:lstStyle/>
          <a:p>
            <a:pPr algn="l">
              <a:lnSpc>
                <a:spcPct val="125000"/>
              </a:lnSpc>
            </a:pPr>
            <a:r>
              <a:rPr sz="1600" b="0">
                <a:solidFill>
                  <a:srgbClr val="F2F8FC"/>
                </a:solidFill>
                <a:latin typeface="Consolas"/>
              </a:rPr>
              <a:t>Spoorwegstraat 12 · Brugge</a:t>
            </a:r>
          </a:p>
        </p:txBody>
      </p:sp>
      <p:sp>
        <p:nvSpPr>
          <p:cNvPr id="13" name="Rectangle 12"/>
          <p:cNvSpPr/>
          <p:nvPr/>
        </p:nvSpPr>
        <p:spPr>
          <a:xfrm>
            <a:off x="4317892" y="3873403"/>
            <a:ext cx="7238819"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17892" y="4038499"/>
            <a:ext cx="6349841" cy="380990"/>
          </a:xfrm>
          <a:prstGeom prst="rect">
            <a:avLst/>
          </a:prstGeom>
          <a:noFill/>
        </p:spPr>
        <p:txBody>
          <a:bodyPr wrap="square" anchor="t" lIns="0" rIns="0" tIns="0" bIns="0">
            <a:spAutoFit/>
          </a:bodyPr>
          <a:lstStyle/>
          <a:p>
            <a:pPr algn="l">
              <a:lnSpc>
                <a:spcPct val="125000"/>
              </a:lnSpc>
            </a:pPr>
            <a:r>
              <a:rPr sz="3000" b="1">
                <a:solidFill>
                  <a:srgbClr val="F2F8FC"/>
                </a:solidFill>
                <a:latin typeface="Segoe UI"/>
              </a:rPr>
              <a:t>prof. dr. Kevin Deschamps</a:t>
            </a:r>
          </a:p>
        </p:txBody>
      </p:sp>
      <p:sp>
        <p:nvSpPr>
          <p:cNvPr id="15" name="TextBox 14"/>
          <p:cNvSpPr txBox="1"/>
          <p:nvPr/>
        </p:nvSpPr>
        <p:spPr>
          <a:xfrm>
            <a:off x="4330591" y="4508387"/>
            <a:ext cx="5714857" cy="228594"/>
          </a:xfrm>
          <a:prstGeom prst="rect">
            <a:avLst/>
          </a:prstGeom>
          <a:noFill/>
        </p:spPr>
        <p:txBody>
          <a:bodyPr wrap="square" anchor="t" lIns="0" rIns="0" tIns="0" bIns="0">
            <a:spAutoFit/>
          </a:bodyPr>
          <a:lstStyle/>
          <a:p>
            <a:pPr algn="l">
              <a:lnSpc>
                <a:spcPct val="125000"/>
              </a:lnSpc>
            </a:pPr>
            <a:r>
              <a:rPr sz="1300" b="1" spc="150">
                <a:solidFill>
                  <a:srgbClr val="52BDEC"/>
                </a:solidFill>
                <a:latin typeface="Consolas"/>
              </a:rPr>
              <a:t>PROMOTOR</a:t>
            </a:r>
          </a:p>
        </p:txBody>
      </p:sp>
      <p:sp>
        <p:nvSpPr>
          <p:cNvPr id="16" name="TextBox 15"/>
          <p:cNvSpPr txBox="1"/>
          <p:nvPr/>
        </p:nvSpPr>
        <p:spPr>
          <a:xfrm>
            <a:off x="4317892" y="4825879"/>
            <a:ext cx="7238819" cy="634984"/>
          </a:xfrm>
          <a:prstGeom prst="rect">
            <a:avLst/>
          </a:prstGeom>
          <a:noFill/>
        </p:spPr>
        <p:txBody>
          <a:bodyPr wrap="square" anchor="t" lIns="0" rIns="0" tIns="0" bIns="0">
            <a:spAutoFit/>
          </a:bodyPr>
          <a:lstStyle/>
          <a:p>
            <a:pPr algn="l">
              <a:lnSpc>
                <a:spcPct val="135000"/>
              </a:lnSpc>
            </a:pPr>
            <a:r>
              <a:rPr sz="1650" b="0">
                <a:solidFill>
                  <a:srgbClr val="8FB6D0"/>
                </a:solidFill>
                <a:latin typeface="Segoe UI"/>
              </a:rPr>
              <a:t>Wetenschappelijke vragen, de opzet van de studie en afspraken op het niveau van uw centrum.</a:t>
            </a:r>
          </a:p>
        </p:txBody>
      </p:sp>
      <p:sp>
        <p:nvSpPr>
          <p:cNvPr id="17" name="TextBox 16"/>
          <p:cNvSpPr txBox="1"/>
          <p:nvPr/>
        </p:nvSpPr>
        <p:spPr>
          <a:xfrm>
            <a:off x="4317892" y="5498962"/>
            <a:ext cx="3682907" cy="253993"/>
          </a:xfrm>
          <a:prstGeom prst="rect">
            <a:avLst/>
          </a:prstGeom>
          <a:noFill/>
        </p:spPr>
        <p:txBody>
          <a:bodyPr wrap="none" anchor="t" lIns="0" rIns="0" tIns="0" bIns="0">
            <a:spAutoFit/>
          </a:bodyPr>
          <a:lstStyle/>
          <a:p>
            <a:pPr algn="l">
              <a:lnSpc>
                <a:spcPct val="125000"/>
              </a:lnSpc>
            </a:pPr>
            <a:r>
              <a:rPr sz="1600" b="0">
                <a:solidFill>
                  <a:srgbClr val="F2F8FC"/>
                </a:solidFill>
                <a:latin typeface="Consolas"/>
              </a:rPr>
              <a:t>Revalidatiewetenschappen</a:t>
            </a:r>
          </a:p>
        </p:txBody>
      </p:sp>
      <p:sp>
        <p:nvSpPr>
          <p:cNvPr id="18" name="TextBox 17"/>
          <p:cNvSpPr txBox="1"/>
          <p:nvPr/>
        </p:nvSpPr>
        <p:spPr>
          <a:xfrm>
            <a:off x="7873803" y="5498962"/>
            <a:ext cx="3682907" cy="253993"/>
          </a:xfrm>
          <a:prstGeom prst="rect">
            <a:avLst/>
          </a:prstGeom>
          <a:noFill/>
        </p:spPr>
        <p:txBody>
          <a:bodyPr wrap="none" anchor="t" lIns="0" rIns="0" tIns="0" bIns="0">
            <a:spAutoFit/>
          </a:bodyPr>
          <a:lstStyle/>
          <a:p>
            <a:pPr algn="l">
              <a:lnSpc>
                <a:spcPct val="125000"/>
              </a:lnSpc>
            </a:pPr>
            <a:r>
              <a:rPr sz="1600" b="0">
                <a:solidFill>
                  <a:srgbClr val="F2F8FC"/>
                </a:solidFill>
                <a:latin typeface="Consolas"/>
              </a:rPr>
              <a:t>KU Leuven · Campus Brugge</a:t>
            </a:r>
          </a:p>
        </p:txBody>
      </p:sp>
      <p:sp>
        <p:nvSpPr>
          <p:cNvPr id="19" name="Rectangle 18"/>
          <p:cNvSpPr/>
          <p:nvPr/>
        </p:nvSpPr>
        <p:spPr>
          <a:xfrm>
            <a:off x="634984" y="5968850"/>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4984" y="6108547"/>
            <a:ext cx="10921726" cy="380990"/>
          </a:xfrm>
          <a:prstGeom prst="rect">
            <a:avLst/>
          </a:prstGeom>
          <a:noFill/>
        </p:spPr>
        <p:txBody>
          <a:bodyPr wrap="square" anchor="t" lIns="0" rIns="0" tIns="0" bIns="0">
            <a:spAutoFit/>
          </a:bodyPr>
          <a:lstStyle/>
          <a:p>
            <a:pPr algn="l">
              <a:lnSpc>
                <a:spcPct val="135000"/>
              </a:lnSpc>
            </a:pPr>
            <a:r>
              <a:rPr sz="1300" b="0">
                <a:solidFill>
                  <a:srgbClr val="8FB6D0"/>
                </a:solidFill>
                <a:latin typeface="Segoe UI"/>
              </a:rPr>
              <a:t>Consortium: KU Leuven — Revalidatiewetenschappen (Musculoskeletal Research Group) en Volksgezondheid en Eerstelijnszorg · Vrije Universiteit Brussel — Geneeskunde en Farmacie. Co-promotoren: Fabienne Dobbels, Maaike Fobelets en Koen Putman.</a:t>
            </a:r>
          </a:p>
        </p:txBody>
      </p:sp>
      <p:sp>
        <p:nvSpPr>
          <p:cNvPr id="21" name="TextBox 20"/>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27 / 28</a:t>
            </a:r>
          </a:p>
        </p:txBody>
      </p:sp>
      <p:pic>
        <p:nvPicPr>
          <p:cNvPr id="22" name="merk" descr="merk.png"/>
          <p:cNvPicPr>
            <a:picLocks noChangeAspect="1"/>
          </p:cNvPicPr>
          <p:nvPr/>
        </p:nvPicPr>
        <p:blipFill>
          <a:blip r:embed="rId3"/>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WAAR DE CIJFERS VANDAAN KOMEN</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Referenties</a:t>
            </a:r>
          </a:p>
        </p:txBody>
      </p:sp>
      <p:sp>
        <p:nvSpPr>
          <p:cNvPr id="5" name="TextBox 4"/>
          <p:cNvSpPr txBox="1"/>
          <p:nvPr/>
        </p:nvSpPr>
        <p:spPr>
          <a:xfrm>
            <a:off x="634984" y="1854153"/>
            <a:ext cx="279393" cy="190495"/>
          </a:xfrm>
          <a:prstGeom prst="rect">
            <a:avLst/>
          </a:prstGeom>
          <a:noFill/>
        </p:spPr>
        <p:txBody>
          <a:bodyPr wrap="square" anchor="t" lIns="0" rIns="0" tIns="0" bIns="0">
            <a:spAutoFit/>
          </a:bodyPr>
          <a:lstStyle/>
          <a:p>
            <a:pPr algn="r">
              <a:lnSpc>
                <a:spcPct val="125000"/>
              </a:lnSpc>
            </a:pPr>
            <a:r>
              <a:rPr sz="1200" b="1">
                <a:solidFill>
                  <a:srgbClr val="52BDEC"/>
                </a:solidFill>
                <a:latin typeface="Consolas"/>
              </a:rPr>
              <a:t>1</a:t>
            </a:r>
          </a:p>
        </p:txBody>
      </p:sp>
      <p:sp>
        <p:nvSpPr>
          <p:cNvPr id="6" name="TextBox 5"/>
          <p:cNvSpPr txBox="1"/>
          <p:nvPr/>
        </p:nvSpPr>
        <p:spPr>
          <a:xfrm>
            <a:off x="965175" y="1854153"/>
            <a:ext cx="5054346" cy="296217"/>
          </a:xfrm>
          <a:prstGeom prst="rect">
            <a:avLst/>
          </a:prstGeom>
          <a:noFill/>
        </p:spPr>
        <p:txBody>
          <a:bodyPr wrap="square" anchor="t" lIns="0" rIns="0" tIns="0" bIns="0">
            <a:spAutoFit/>
          </a:bodyPr>
          <a:lstStyle/>
          <a:p>
            <a:pPr algn="l">
              <a:lnSpc>
                <a:spcPct val="132000"/>
              </a:lnSpc>
            </a:pPr>
            <a:r>
              <a:rPr sz="1200" b="0">
                <a:solidFill>
                  <a:srgbClr val="8FB6D0"/>
                </a:solidFill>
                <a:latin typeface="Segoe UI"/>
              </a:rPr>
              <a:t>Armstrong DG et al. N Engl J Med. 2017;376(24):2367–75.</a:t>
            </a:r>
          </a:p>
        </p:txBody>
      </p:sp>
      <p:sp>
        <p:nvSpPr>
          <p:cNvPr id="7" name="TextBox 6"/>
          <p:cNvSpPr txBox="1"/>
          <p:nvPr/>
        </p:nvSpPr>
        <p:spPr>
          <a:xfrm>
            <a:off x="634984" y="2188470"/>
            <a:ext cx="279393" cy="190495"/>
          </a:xfrm>
          <a:prstGeom prst="rect">
            <a:avLst/>
          </a:prstGeom>
          <a:noFill/>
        </p:spPr>
        <p:txBody>
          <a:bodyPr wrap="square" anchor="t" lIns="0" rIns="0" tIns="0" bIns="0">
            <a:spAutoFit/>
          </a:bodyPr>
          <a:lstStyle/>
          <a:p>
            <a:pPr algn="r">
              <a:lnSpc>
                <a:spcPct val="125000"/>
              </a:lnSpc>
            </a:pPr>
            <a:r>
              <a:rPr sz="1200" b="1">
                <a:solidFill>
                  <a:srgbClr val="52BDEC"/>
                </a:solidFill>
                <a:latin typeface="Consolas"/>
              </a:rPr>
              <a:t>5</a:t>
            </a:r>
          </a:p>
        </p:txBody>
      </p:sp>
      <p:sp>
        <p:nvSpPr>
          <p:cNvPr id="8" name="TextBox 7"/>
          <p:cNvSpPr txBox="1"/>
          <p:nvPr/>
        </p:nvSpPr>
        <p:spPr>
          <a:xfrm>
            <a:off x="965175" y="2188470"/>
            <a:ext cx="5054346" cy="296217"/>
          </a:xfrm>
          <a:prstGeom prst="rect">
            <a:avLst/>
          </a:prstGeom>
          <a:noFill/>
        </p:spPr>
        <p:txBody>
          <a:bodyPr wrap="square" anchor="t" lIns="0" rIns="0" tIns="0" bIns="0">
            <a:spAutoFit/>
          </a:bodyPr>
          <a:lstStyle/>
          <a:p>
            <a:pPr algn="l">
              <a:lnSpc>
                <a:spcPct val="132000"/>
              </a:lnSpc>
            </a:pPr>
            <a:r>
              <a:rPr sz="1200" b="0">
                <a:solidFill>
                  <a:srgbClr val="8FB6D0"/>
                </a:solidFill>
                <a:latin typeface="Segoe UI"/>
              </a:rPr>
              <a:t>Bus SA et al. Diabetes Metab Res Rev. 2016;32(Suppl 1):195–200.</a:t>
            </a:r>
          </a:p>
        </p:txBody>
      </p:sp>
      <p:sp>
        <p:nvSpPr>
          <p:cNvPr id="9" name="TextBox 8"/>
          <p:cNvSpPr txBox="1"/>
          <p:nvPr/>
        </p:nvSpPr>
        <p:spPr>
          <a:xfrm>
            <a:off x="634984" y="2522786"/>
            <a:ext cx="279393" cy="190495"/>
          </a:xfrm>
          <a:prstGeom prst="rect">
            <a:avLst/>
          </a:prstGeom>
          <a:noFill/>
        </p:spPr>
        <p:txBody>
          <a:bodyPr wrap="square" anchor="t" lIns="0" rIns="0" tIns="0" bIns="0">
            <a:spAutoFit/>
          </a:bodyPr>
          <a:lstStyle/>
          <a:p>
            <a:pPr algn="r">
              <a:lnSpc>
                <a:spcPct val="125000"/>
              </a:lnSpc>
            </a:pPr>
            <a:r>
              <a:rPr sz="1200" b="1">
                <a:solidFill>
                  <a:srgbClr val="52BDEC"/>
                </a:solidFill>
                <a:latin typeface="Consolas"/>
              </a:rPr>
              <a:t>6</a:t>
            </a:r>
          </a:p>
        </p:txBody>
      </p:sp>
      <p:sp>
        <p:nvSpPr>
          <p:cNvPr id="10" name="TextBox 9"/>
          <p:cNvSpPr txBox="1"/>
          <p:nvPr/>
        </p:nvSpPr>
        <p:spPr>
          <a:xfrm>
            <a:off x="965175" y="2522786"/>
            <a:ext cx="5054346" cy="296217"/>
          </a:xfrm>
          <a:prstGeom prst="rect">
            <a:avLst/>
          </a:prstGeom>
          <a:noFill/>
        </p:spPr>
        <p:txBody>
          <a:bodyPr wrap="square" anchor="t" lIns="0" rIns="0" tIns="0" bIns="0">
            <a:spAutoFit/>
          </a:bodyPr>
          <a:lstStyle/>
          <a:p>
            <a:pPr algn="l">
              <a:lnSpc>
                <a:spcPct val="132000"/>
              </a:lnSpc>
            </a:pPr>
            <a:r>
              <a:rPr sz="1200" b="0">
                <a:solidFill>
                  <a:srgbClr val="8FB6D0"/>
                </a:solidFill>
                <a:latin typeface="Segoe UI"/>
              </a:rPr>
              <a:t>Bus SA et al. Diabetes Care. 2011;34(7):1595–600.</a:t>
            </a:r>
          </a:p>
        </p:txBody>
      </p:sp>
      <p:sp>
        <p:nvSpPr>
          <p:cNvPr id="11" name="TextBox 10"/>
          <p:cNvSpPr txBox="1"/>
          <p:nvPr/>
        </p:nvSpPr>
        <p:spPr>
          <a:xfrm>
            <a:off x="634984" y="2857103"/>
            <a:ext cx="279393" cy="190495"/>
          </a:xfrm>
          <a:prstGeom prst="rect">
            <a:avLst/>
          </a:prstGeom>
          <a:noFill/>
        </p:spPr>
        <p:txBody>
          <a:bodyPr wrap="square" anchor="t" lIns="0" rIns="0" tIns="0" bIns="0">
            <a:spAutoFit/>
          </a:bodyPr>
          <a:lstStyle/>
          <a:p>
            <a:pPr algn="r">
              <a:lnSpc>
                <a:spcPct val="125000"/>
              </a:lnSpc>
            </a:pPr>
            <a:r>
              <a:rPr sz="1200" b="1">
                <a:solidFill>
                  <a:srgbClr val="52BDEC"/>
                </a:solidFill>
                <a:latin typeface="Consolas"/>
              </a:rPr>
              <a:t>7</a:t>
            </a:r>
          </a:p>
        </p:txBody>
      </p:sp>
      <p:sp>
        <p:nvSpPr>
          <p:cNvPr id="12" name="TextBox 11"/>
          <p:cNvSpPr txBox="1"/>
          <p:nvPr/>
        </p:nvSpPr>
        <p:spPr>
          <a:xfrm>
            <a:off x="965175" y="2857103"/>
            <a:ext cx="5054346" cy="296217"/>
          </a:xfrm>
          <a:prstGeom prst="rect">
            <a:avLst/>
          </a:prstGeom>
          <a:noFill/>
        </p:spPr>
        <p:txBody>
          <a:bodyPr wrap="square" anchor="t" lIns="0" rIns="0" tIns="0" bIns="0">
            <a:spAutoFit/>
          </a:bodyPr>
          <a:lstStyle/>
          <a:p>
            <a:pPr algn="l">
              <a:lnSpc>
                <a:spcPct val="132000"/>
              </a:lnSpc>
            </a:pPr>
            <a:r>
              <a:rPr sz="1200" b="0">
                <a:solidFill>
                  <a:srgbClr val="8FB6D0"/>
                </a:solidFill>
                <a:latin typeface="Segoe UI"/>
              </a:rPr>
              <a:t>Bus SA et al. Diabetes Metab Res Rev. 2020;36(S1):e3237.</a:t>
            </a:r>
          </a:p>
        </p:txBody>
      </p:sp>
      <p:sp>
        <p:nvSpPr>
          <p:cNvPr id="13" name="TextBox 12"/>
          <p:cNvSpPr txBox="1"/>
          <p:nvPr/>
        </p:nvSpPr>
        <p:spPr>
          <a:xfrm>
            <a:off x="634984" y="3191420"/>
            <a:ext cx="279393" cy="190495"/>
          </a:xfrm>
          <a:prstGeom prst="rect">
            <a:avLst/>
          </a:prstGeom>
          <a:noFill/>
        </p:spPr>
        <p:txBody>
          <a:bodyPr wrap="square" anchor="t" lIns="0" rIns="0" tIns="0" bIns="0">
            <a:spAutoFit/>
          </a:bodyPr>
          <a:lstStyle/>
          <a:p>
            <a:pPr algn="r">
              <a:lnSpc>
                <a:spcPct val="125000"/>
              </a:lnSpc>
            </a:pPr>
            <a:r>
              <a:rPr sz="1200" b="1">
                <a:solidFill>
                  <a:srgbClr val="52BDEC"/>
                </a:solidFill>
                <a:latin typeface="Consolas"/>
              </a:rPr>
              <a:t>8</a:t>
            </a:r>
          </a:p>
        </p:txBody>
      </p:sp>
      <p:sp>
        <p:nvSpPr>
          <p:cNvPr id="14" name="TextBox 13"/>
          <p:cNvSpPr txBox="1"/>
          <p:nvPr/>
        </p:nvSpPr>
        <p:spPr>
          <a:xfrm>
            <a:off x="965175" y="3191420"/>
            <a:ext cx="5054346" cy="296217"/>
          </a:xfrm>
          <a:prstGeom prst="rect">
            <a:avLst/>
          </a:prstGeom>
          <a:noFill/>
        </p:spPr>
        <p:txBody>
          <a:bodyPr wrap="square" anchor="t" lIns="0" rIns="0" tIns="0" bIns="0">
            <a:spAutoFit/>
          </a:bodyPr>
          <a:lstStyle/>
          <a:p>
            <a:pPr algn="l">
              <a:lnSpc>
                <a:spcPct val="132000"/>
              </a:lnSpc>
            </a:pPr>
            <a:r>
              <a:rPr sz="1200" b="0">
                <a:solidFill>
                  <a:srgbClr val="8FB6D0"/>
                </a:solidFill>
                <a:latin typeface="Segoe UI"/>
              </a:rPr>
              <a:t>Bus SA et al. Diabetes Metab Res Rev. 2024;40(3):e3651.</a:t>
            </a:r>
          </a:p>
        </p:txBody>
      </p:sp>
      <p:sp>
        <p:nvSpPr>
          <p:cNvPr id="15" name="TextBox 14"/>
          <p:cNvSpPr txBox="1"/>
          <p:nvPr/>
        </p:nvSpPr>
        <p:spPr>
          <a:xfrm>
            <a:off x="634984" y="3525736"/>
            <a:ext cx="279393" cy="190495"/>
          </a:xfrm>
          <a:prstGeom prst="rect">
            <a:avLst/>
          </a:prstGeom>
          <a:noFill/>
        </p:spPr>
        <p:txBody>
          <a:bodyPr wrap="square" anchor="t" lIns="0" rIns="0" tIns="0" bIns="0">
            <a:spAutoFit/>
          </a:bodyPr>
          <a:lstStyle/>
          <a:p>
            <a:pPr algn="r">
              <a:lnSpc>
                <a:spcPct val="125000"/>
              </a:lnSpc>
            </a:pPr>
            <a:r>
              <a:rPr sz="1200" b="1">
                <a:solidFill>
                  <a:srgbClr val="52BDEC"/>
                </a:solidFill>
                <a:latin typeface="Consolas"/>
              </a:rPr>
              <a:t>9</a:t>
            </a:r>
          </a:p>
        </p:txBody>
      </p:sp>
      <p:sp>
        <p:nvSpPr>
          <p:cNvPr id="16" name="TextBox 15"/>
          <p:cNvSpPr txBox="1"/>
          <p:nvPr/>
        </p:nvSpPr>
        <p:spPr>
          <a:xfrm>
            <a:off x="965175" y="3525736"/>
            <a:ext cx="5054346" cy="296217"/>
          </a:xfrm>
          <a:prstGeom prst="rect">
            <a:avLst/>
          </a:prstGeom>
          <a:noFill/>
        </p:spPr>
        <p:txBody>
          <a:bodyPr wrap="square" anchor="t" lIns="0" rIns="0" tIns="0" bIns="0">
            <a:spAutoFit/>
          </a:bodyPr>
          <a:lstStyle/>
          <a:p>
            <a:pPr algn="l">
              <a:lnSpc>
                <a:spcPct val="132000"/>
              </a:lnSpc>
            </a:pPr>
            <a:r>
              <a:rPr sz="1200" b="0">
                <a:solidFill>
                  <a:srgbClr val="8FB6D0"/>
                </a:solidFill>
                <a:latin typeface="Segoe UI"/>
              </a:rPr>
              <a:t>Bus SA et al. Diabetes Care. 2013;36(12):4109–16.</a:t>
            </a:r>
          </a:p>
        </p:txBody>
      </p:sp>
      <p:sp>
        <p:nvSpPr>
          <p:cNvPr id="17" name="TextBox 16"/>
          <p:cNvSpPr txBox="1"/>
          <p:nvPr/>
        </p:nvSpPr>
        <p:spPr>
          <a:xfrm>
            <a:off x="634984" y="3860053"/>
            <a:ext cx="279393" cy="190495"/>
          </a:xfrm>
          <a:prstGeom prst="rect">
            <a:avLst/>
          </a:prstGeom>
          <a:noFill/>
        </p:spPr>
        <p:txBody>
          <a:bodyPr wrap="square" anchor="t" lIns="0" rIns="0" tIns="0" bIns="0">
            <a:spAutoFit/>
          </a:bodyPr>
          <a:lstStyle/>
          <a:p>
            <a:pPr algn="r">
              <a:lnSpc>
                <a:spcPct val="125000"/>
              </a:lnSpc>
            </a:pPr>
            <a:r>
              <a:rPr sz="1200" b="1">
                <a:solidFill>
                  <a:srgbClr val="52BDEC"/>
                </a:solidFill>
                <a:latin typeface="Consolas"/>
              </a:rPr>
              <a:t>14</a:t>
            </a:r>
          </a:p>
        </p:txBody>
      </p:sp>
      <p:sp>
        <p:nvSpPr>
          <p:cNvPr id="18" name="TextBox 17"/>
          <p:cNvSpPr txBox="1"/>
          <p:nvPr/>
        </p:nvSpPr>
        <p:spPr>
          <a:xfrm>
            <a:off x="965175" y="3860053"/>
            <a:ext cx="5054346" cy="296217"/>
          </a:xfrm>
          <a:prstGeom prst="rect">
            <a:avLst/>
          </a:prstGeom>
          <a:noFill/>
        </p:spPr>
        <p:txBody>
          <a:bodyPr wrap="square" anchor="t" lIns="0" rIns="0" tIns="0" bIns="0">
            <a:spAutoFit/>
          </a:bodyPr>
          <a:lstStyle/>
          <a:p>
            <a:pPr algn="l">
              <a:lnSpc>
                <a:spcPct val="132000"/>
              </a:lnSpc>
            </a:pPr>
            <a:r>
              <a:rPr sz="1200" b="0">
                <a:solidFill>
                  <a:srgbClr val="8FB6D0"/>
                </a:solidFill>
                <a:latin typeface="Segoe UI"/>
              </a:rPr>
              <a:t>van Netten JJ et al. Clin Biomech. 2018;53:86–92.</a:t>
            </a:r>
          </a:p>
        </p:txBody>
      </p:sp>
      <p:sp>
        <p:nvSpPr>
          <p:cNvPr id="19" name="TextBox 18"/>
          <p:cNvSpPr txBox="1"/>
          <p:nvPr/>
        </p:nvSpPr>
        <p:spPr>
          <a:xfrm>
            <a:off x="634984" y="4194369"/>
            <a:ext cx="279393" cy="190495"/>
          </a:xfrm>
          <a:prstGeom prst="rect">
            <a:avLst/>
          </a:prstGeom>
          <a:noFill/>
        </p:spPr>
        <p:txBody>
          <a:bodyPr wrap="square" anchor="t" lIns="0" rIns="0" tIns="0" bIns="0">
            <a:spAutoFit/>
          </a:bodyPr>
          <a:lstStyle/>
          <a:p>
            <a:pPr algn="r">
              <a:lnSpc>
                <a:spcPct val="125000"/>
              </a:lnSpc>
            </a:pPr>
            <a:r>
              <a:rPr sz="1200" b="1">
                <a:solidFill>
                  <a:srgbClr val="52BDEC"/>
                </a:solidFill>
                <a:latin typeface="Consolas"/>
              </a:rPr>
              <a:t>16</a:t>
            </a:r>
          </a:p>
        </p:txBody>
      </p:sp>
      <p:sp>
        <p:nvSpPr>
          <p:cNvPr id="20" name="TextBox 19"/>
          <p:cNvSpPr txBox="1"/>
          <p:nvPr/>
        </p:nvSpPr>
        <p:spPr>
          <a:xfrm>
            <a:off x="965175" y="4194369"/>
            <a:ext cx="5054346" cy="296217"/>
          </a:xfrm>
          <a:prstGeom prst="rect">
            <a:avLst/>
          </a:prstGeom>
          <a:noFill/>
        </p:spPr>
        <p:txBody>
          <a:bodyPr wrap="square" anchor="t" lIns="0" rIns="0" tIns="0" bIns="0">
            <a:spAutoFit/>
          </a:bodyPr>
          <a:lstStyle/>
          <a:p>
            <a:pPr algn="l">
              <a:lnSpc>
                <a:spcPct val="132000"/>
              </a:lnSpc>
            </a:pPr>
            <a:r>
              <a:rPr sz="1200" b="0">
                <a:solidFill>
                  <a:srgbClr val="8FB6D0"/>
                </a:solidFill>
                <a:latin typeface="Segoe UI"/>
              </a:rPr>
              <a:t>Hulshof CM et al. Diabet Med. 2025;42:e70099.</a:t>
            </a:r>
          </a:p>
        </p:txBody>
      </p:sp>
      <p:sp>
        <p:nvSpPr>
          <p:cNvPr id="21" name="TextBox 20"/>
          <p:cNvSpPr txBox="1"/>
          <p:nvPr/>
        </p:nvSpPr>
        <p:spPr>
          <a:xfrm>
            <a:off x="6171918" y="1854153"/>
            <a:ext cx="279393" cy="190495"/>
          </a:xfrm>
          <a:prstGeom prst="rect">
            <a:avLst/>
          </a:prstGeom>
          <a:noFill/>
        </p:spPr>
        <p:txBody>
          <a:bodyPr wrap="square" anchor="t" lIns="0" rIns="0" tIns="0" bIns="0">
            <a:spAutoFit/>
          </a:bodyPr>
          <a:lstStyle/>
          <a:p>
            <a:pPr algn="r">
              <a:lnSpc>
                <a:spcPct val="125000"/>
              </a:lnSpc>
            </a:pPr>
            <a:r>
              <a:rPr sz="1200" b="1">
                <a:solidFill>
                  <a:srgbClr val="52BDEC"/>
                </a:solidFill>
                <a:latin typeface="Consolas"/>
              </a:rPr>
              <a:t>17</a:t>
            </a:r>
          </a:p>
        </p:txBody>
      </p:sp>
      <p:sp>
        <p:nvSpPr>
          <p:cNvPr id="22" name="TextBox 21"/>
          <p:cNvSpPr txBox="1"/>
          <p:nvPr/>
        </p:nvSpPr>
        <p:spPr>
          <a:xfrm>
            <a:off x="6502110" y="1854153"/>
            <a:ext cx="5054346" cy="296217"/>
          </a:xfrm>
          <a:prstGeom prst="rect">
            <a:avLst/>
          </a:prstGeom>
          <a:noFill/>
        </p:spPr>
        <p:txBody>
          <a:bodyPr wrap="square" anchor="t" lIns="0" rIns="0" tIns="0" bIns="0">
            <a:spAutoFit/>
          </a:bodyPr>
          <a:lstStyle/>
          <a:p>
            <a:pPr algn="l">
              <a:lnSpc>
                <a:spcPct val="132000"/>
              </a:lnSpc>
            </a:pPr>
            <a:r>
              <a:rPr sz="1200" b="0">
                <a:solidFill>
                  <a:srgbClr val="8FB6D0"/>
                </a:solidFill>
                <a:latin typeface="Segoe UI"/>
              </a:rPr>
              <a:t>Waaijman R et al. Diabetes Care. 2014;37(6):1697–705.</a:t>
            </a:r>
          </a:p>
        </p:txBody>
      </p:sp>
      <p:sp>
        <p:nvSpPr>
          <p:cNvPr id="23" name="TextBox 22"/>
          <p:cNvSpPr txBox="1"/>
          <p:nvPr/>
        </p:nvSpPr>
        <p:spPr>
          <a:xfrm>
            <a:off x="6171918" y="2188470"/>
            <a:ext cx="279393" cy="190495"/>
          </a:xfrm>
          <a:prstGeom prst="rect">
            <a:avLst/>
          </a:prstGeom>
          <a:noFill/>
        </p:spPr>
        <p:txBody>
          <a:bodyPr wrap="square" anchor="t" lIns="0" rIns="0" tIns="0" bIns="0">
            <a:spAutoFit/>
          </a:bodyPr>
          <a:lstStyle/>
          <a:p>
            <a:pPr algn="r">
              <a:lnSpc>
                <a:spcPct val="125000"/>
              </a:lnSpc>
            </a:pPr>
            <a:r>
              <a:rPr sz="1200" b="1">
                <a:solidFill>
                  <a:srgbClr val="52BDEC"/>
                </a:solidFill>
                <a:latin typeface="Consolas"/>
              </a:rPr>
              <a:t>18</a:t>
            </a:r>
          </a:p>
        </p:txBody>
      </p:sp>
      <p:sp>
        <p:nvSpPr>
          <p:cNvPr id="24" name="TextBox 23"/>
          <p:cNvSpPr txBox="1"/>
          <p:nvPr/>
        </p:nvSpPr>
        <p:spPr>
          <a:xfrm>
            <a:off x="6502110" y="2188470"/>
            <a:ext cx="5054346" cy="296217"/>
          </a:xfrm>
          <a:prstGeom prst="rect">
            <a:avLst/>
          </a:prstGeom>
          <a:noFill/>
        </p:spPr>
        <p:txBody>
          <a:bodyPr wrap="square" anchor="t" lIns="0" rIns="0" tIns="0" bIns="0">
            <a:spAutoFit/>
          </a:bodyPr>
          <a:lstStyle/>
          <a:p>
            <a:pPr algn="l">
              <a:lnSpc>
                <a:spcPct val="132000"/>
              </a:lnSpc>
            </a:pPr>
            <a:r>
              <a:rPr sz="1200" b="0">
                <a:solidFill>
                  <a:srgbClr val="8FB6D0"/>
                </a:solidFill>
                <a:latin typeface="Segoe UI"/>
              </a:rPr>
              <a:t>Lutjeboer T et al. J Rehabil Med. 2018;50(10):920–6.</a:t>
            </a:r>
          </a:p>
        </p:txBody>
      </p:sp>
      <p:sp>
        <p:nvSpPr>
          <p:cNvPr id="25" name="TextBox 24"/>
          <p:cNvSpPr txBox="1"/>
          <p:nvPr/>
        </p:nvSpPr>
        <p:spPr>
          <a:xfrm>
            <a:off x="6171918" y="2522786"/>
            <a:ext cx="279393" cy="190495"/>
          </a:xfrm>
          <a:prstGeom prst="rect">
            <a:avLst/>
          </a:prstGeom>
          <a:noFill/>
        </p:spPr>
        <p:txBody>
          <a:bodyPr wrap="square" anchor="t" lIns="0" rIns="0" tIns="0" bIns="0">
            <a:spAutoFit/>
          </a:bodyPr>
          <a:lstStyle/>
          <a:p>
            <a:pPr algn="r">
              <a:lnSpc>
                <a:spcPct val="125000"/>
              </a:lnSpc>
            </a:pPr>
            <a:r>
              <a:rPr sz="1200" b="1">
                <a:solidFill>
                  <a:srgbClr val="52BDEC"/>
                </a:solidFill>
                <a:latin typeface="Consolas"/>
              </a:rPr>
              <a:t>20</a:t>
            </a:r>
          </a:p>
        </p:txBody>
      </p:sp>
      <p:sp>
        <p:nvSpPr>
          <p:cNvPr id="26" name="TextBox 25"/>
          <p:cNvSpPr txBox="1"/>
          <p:nvPr/>
        </p:nvSpPr>
        <p:spPr>
          <a:xfrm>
            <a:off x="6502110" y="2522786"/>
            <a:ext cx="5054346" cy="296217"/>
          </a:xfrm>
          <a:prstGeom prst="rect">
            <a:avLst/>
          </a:prstGeom>
          <a:noFill/>
        </p:spPr>
        <p:txBody>
          <a:bodyPr wrap="square" anchor="t" lIns="0" rIns="0" tIns="0" bIns="0">
            <a:spAutoFit/>
          </a:bodyPr>
          <a:lstStyle/>
          <a:p>
            <a:pPr algn="l">
              <a:lnSpc>
                <a:spcPct val="132000"/>
              </a:lnSpc>
            </a:pPr>
            <a:r>
              <a:rPr sz="1200" b="0">
                <a:solidFill>
                  <a:srgbClr val="8FB6D0"/>
                </a:solidFill>
                <a:latin typeface="Segoe UI"/>
              </a:rPr>
              <a:t>Morbach S et al. Diabetes Metab Res Rev. 2016;32(Suppl 1):318–25.</a:t>
            </a:r>
          </a:p>
        </p:txBody>
      </p:sp>
      <p:sp>
        <p:nvSpPr>
          <p:cNvPr id="27" name="TextBox 26"/>
          <p:cNvSpPr txBox="1"/>
          <p:nvPr/>
        </p:nvSpPr>
        <p:spPr>
          <a:xfrm>
            <a:off x="6171918" y="2857103"/>
            <a:ext cx="279393" cy="190495"/>
          </a:xfrm>
          <a:prstGeom prst="rect">
            <a:avLst/>
          </a:prstGeom>
          <a:noFill/>
        </p:spPr>
        <p:txBody>
          <a:bodyPr wrap="square" anchor="t" lIns="0" rIns="0" tIns="0" bIns="0">
            <a:spAutoFit/>
          </a:bodyPr>
          <a:lstStyle/>
          <a:p>
            <a:pPr algn="r">
              <a:lnSpc>
                <a:spcPct val="125000"/>
              </a:lnSpc>
            </a:pPr>
            <a:r>
              <a:rPr sz="1200" b="1">
                <a:solidFill>
                  <a:srgbClr val="52BDEC"/>
                </a:solidFill>
                <a:latin typeface="Consolas"/>
              </a:rPr>
              <a:t>25</a:t>
            </a:r>
          </a:p>
        </p:txBody>
      </p:sp>
      <p:sp>
        <p:nvSpPr>
          <p:cNvPr id="28" name="TextBox 27"/>
          <p:cNvSpPr txBox="1"/>
          <p:nvPr/>
        </p:nvSpPr>
        <p:spPr>
          <a:xfrm>
            <a:off x="6502110" y="2857103"/>
            <a:ext cx="5054346" cy="296217"/>
          </a:xfrm>
          <a:prstGeom prst="rect">
            <a:avLst/>
          </a:prstGeom>
          <a:noFill/>
        </p:spPr>
        <p:txBody>
          <a:bodyPr wrap="square" anchor="t" lIns="0" rIns="0" tIns="0" bIns="0">
            <a:spAutoFit/>
          </a:bodyPr>
          <a:lstStyle/>
          <a:p>
            <a:pPr algn="l">
              <a:lnSpc>
                <a:spcPct val="132000"/>
              </a:lnSpc>
            </a:pPr>
            <a:r>
              <a:rPr sz="1200" b="0">
                <a:solidFill>
                  <a:srgbClr val="8FB6D0"/>
                </a:solidFill>
                <a:latin typeface="Segoe UI"/>
              </a:rPr>
              <a:t>van Netten JJ et al. Diabetes Metab Res Rev. 2024;40(3):e3654.</a:t>
            </a:r>
          </a:p>
        </p:txBody>
      </p:sp>
      <p:sp>
        <p:nvSpPr>
          <p:cNvPr id="29" name="TextBox 28"/>
          <p:cNvSpPr txBox="1"/>
          <p:nvPr/>
        </p:nvSpPr>
        <p:spPr>
          <a:xfrm>
            <a:off x="6171918" y="3191420"/>
            <a:ext cx="279393" cy="190495"/>
          </a:xfrm>
          <a:prstGeom prst="rect">
            <a:avLst/>
          </a:prstGeom>
          <a:noFill/>
        </p:spPr>
        <p:txBody>
          <a:bodyPr wrap="square" anchor="t" lIns="0" rIns="0" tIns="0" bIns="0">
            <a:spAutoFit/>
          </a:bodyPr>
          <a:lstStyle/>
          <a:p>
            <a:pPr algn="r">
              <a:lnSpc>
                <a:spcPct val="125000"/>
              </a:lnSpc>
            </a:pPr>
            <a:r>
              <a:rPr sz="1200" b="1">
                <a:solidFill>
                  <a:srgbClr val="52BDEC"/>
                </a:solidFill>
                <a:latin typeface="Consolas"/>
              </a:rPr>
              <a:t>26</a:t>
            </a:r>
          </a:p>
        </p:txBody>
      </p:sp>
      <p:sp>
        <p:nvSpPr>
          <p:cNvPr id="30" name="TextBox 29"/>
          <p:cNvSpPr txBox="1"/>
          <p:nvPr/>
        </p:nvSpPr>
        <p:spPr>
          <a:xfrm>
            <a:off x="6502110" y="3191420"/>
            <a:ext cx="5054346" cy="296217"/>
          </a:xfrm>
          <a:prstGeom prst="rect">
            <a:avLst/>
          </a:prstGeom>
          <a:noFill/>
        </p:spPr>
        <p:txBody>
          <a:bodyPr wrap="square" anchor="t" lIns="0" rIns="0" tIns="0" bIns="0">
            <a:spAutoFit/>
          </a:bodyPr>
          <a:lstStyle/>
          <a:p>
            <a:pPr algn="l">
              <a:lnSpc>
                <a:spcPct val="132000"/>
              </a:lnSpc>
            </a:pPr>
            <a:r>
              <a:rPr sz="1200" b="0">
                <a:solidFill>
                  <a:srgbClr val="8FB6D0"/>
                </a:solidFill>
                <a:latin typeface="Segoe UI"/>
              </a:rPr>
              <a:t>Lincoln NB et al. Pract Diabetes Int. 2007;24(4):207–11.</a:t>
            </a:r>
          </a:p>
        </p:txBody>
      </p:sp>
      <p:sp>
        <p:nvSpPr>
          <p:cNvPr id="31" name="TextBox 30"/>
          <p:cNvSpPr txBox="1"/>
          <p:nvPr/>
        </p:nvSpPr>
        <p:spPr>
          <a:xfrm>
            <a:off x="6171918" y="3525736"/>
            <a:ext cx="279393" cy="190495"/>
          </a:xfrm>
          <a:prstGeom prst="rect">
            <a:avLst/>
          </a:prstGeom>
          <a:noFill/>
        </p:spPr>
        <p:txBody>
          <a:bodyPr wrap="square" anchor="t" lIns="0" rIns="0" tIns="0" bIns="0">
            <a:spAutoFit/>
          </a:bodyPr>
          <a:lstStyle/>
          <a:p>
            <a:pPr algn="r">
              <a:lnSpc>
                <a:spcPct val="125000"/>
              </a:lnSpc>
            </a:pPr>
            <a:r>
              <a:rPr sz="1200" b="1">
                <a:solidFill>
                  <a:srgbClr val="52BDEC"/>
                </a:solidFill>
                <a:latin typeface="Consolas"/>
              </a:rPr>
              <a:t>27</a:t>
            </a:r>
          </a:p>
        </p:txBody>
      </p:sp>
      <p:sp>
        <p:nvSpPr>
          <p:cNvPr id="32" name="TextBox 31"/>
          <p:cNvSpPr txBox="1"/>
          <p:nvPr/>
        </p:nvSpPr>
        <p:spPr>
          <a:xfrm>
            <a:off x="6502110" y="3525736"/>
            <a:ext cx="5054346" cy="296217"/>
          </a:xfrm>
          <a:prstGeom prst="rect">
            <a:avLst/>
          </a:prstGeom>
          <a:noFill/>
        </p:spPr>
        <p:txBody>
          <a:bodyPr wrap="square" anchor="t" lIns="0" rIns="0" tIns="0" bIns="0">
            <a:spAutoFit/>
          </a:bodyPr>
          <a:lstStyle/>
          <a:p>
            <a:pPr algn="l">
              <a:lnSpc>
                <a:spcPct val="132000"/>
              </a:lnSpc>
            </a:pPr>
            <a:r>
              <a:rPr sz="1200" b="0">
                <a:solidFill>
                  <a:srgbClr val="8FB6D0"/>
                </a:solidFill>
                <a:latin typeface="Segoe UI"/>
              </a:rPr>
              <a:t>Zwaferink JBJ et al. Sensors. 2024;24(6):1795.</a:t>
            </a:r>
          </a:p>
        </p:txBody>
      </p:sp>
      <p:sp>
        <p:nvSpPr>
          <p:cNvPr id="33" name="TextBox 32"/>
          <p:cNvSpPr txBox="1"/>
          <p:nvPr/>
        </p:nvSpPr>
        <p:spPr>
          <a:xfrm>
            <a:off x="6171918" y="3860053"/>
            <a:ext cx="279393" cy="190495"/>
          </a:xfrm>
          <a:prstGeom prst="rect">
            <a:avLst/>
          </a:prstGeom>
          <a:noFill/>
        </p:spPr>
        <p:txBody>
          <a:bodyPr wrap="square" anchor="t" lIns="0" rIns="0" tIns="0" bIns="0">
            <a:spAutoFit/>
          </a:bodyPr>
          <a:lstStyle/>
          <a:p>
            <a:pPr algn="r">
              <a:lnSpc>
                <a:spcPct val="125000"/>
              </a:lnSpc>
            </a:pPr>
            <a:r>
              <a:rPr sz="1200" b="1">
                <a:solidFill>
                  <a:srgbClr val="52BDEC"/>
                </a:solidFill>
                <a:latin typeface="Consolas"/>
              </a:rPr>
              <a:t>29</a:t>
            </a:r>
          </a:p>
        </p:txBody>
      </p:sp>
      <p:sp>
        <p:nvSpPr>
          <p:cNvPr id="34" name="TextBox 33"/>
          <p:cNvSpPr txBox="1"/>
          <p:nvPr/>
        </p:nvSpPr>
        <p:spPr>
          <a:xfrm>
            <a:off x="6502110" y="3860053"/>
            <a:ext cx="5054346" cy="296217"/>
          </a:xfrm>
          <a:prstGeom prst="rect">
            <a:avLst/>
          </a:prstGeom>
          <a:noFill/>
        </p:spPr>
        <p:txBody>
          <a:bodyPr wrap="square" anchor="t" lIns="0" rIns="0" tIns="0" bIns="0">
            <a:spAutoFit/>
          </a:bodyPr>
          <a:lstStyle/>
          <a:p>
            <a:pPr algn="l">
              <a:lnSpc>
                <a:spcPct val="132000"/>
              </a:lnSpc>
            </a:pPr>
            <a:r>
              <a:rPr sz="1200" b="0">
                <a:solidFill>
                  <a:srgbClr val="8FB6D0"/>
                </a:solidFill>
                <a:latin typeface="Segoe UI"/>
              </a:rPr>
              <a:t>Dahmen R et al. J Rehabil Med. 2018;50(6):569–74.</a:t>
            </a:r>
          </a:p>
        </p:txBody>
      </p:sp>
      <p:sp>
        <p:nvSpPr>
          <p:cNvPr id="35" name="TextBox 34"/>
          <p:cNvSpPr txBox="1"/>
          <p:nvPr/>
        </p:nvSpPr>
        <p:spPr>
          <a:xfrm>
            <a:off x="634984" y="6387940"/>
            <a:ext cx="9524761" cy="190495"/>
          </a:xfrm>
          <a:prstGeom prst="rect">
            <a:avLst/>
          </a:prstGeom>
          <a:noFill/>
        </p:spPr>
        <p:txBody>
          <a:bodyPr wrap="square" anchor="t" lIns="0" rIns="0" tIns="0" bIns="0">
            <a:spAutoFit/>
          </a:bodyPr>
          <a:lstStyle/>
          <a:p>
            <a:pPr algn="l">
              <a:lnSpc>
                <a:spcPct val="125000"/>
              </a:lnSpc>
            </a:pPr>
            <a:r>
              <a:rPr sz="1100" b="0">
                <a:solidFill>
                  <a:srgbClr val="8FB6D0"/>
                </a:solidFill>
                <a:latin typeface="Consolas"/>
              </a:rPr>
              <a:t>De nummering volgt die van het protocolmanuscript.</a:t>
            </a:r>
          </a:p>
        </p:txBody>
      </p:sp>
      <p:sp>
        <p:nvSpPr>
          <p:cNvPr id="36" name="TextBox 35"/>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28 / 28</a:t>
            </a:r>
          </a:p>
        </p:txBody>
      </p:sp>
      <p:pic>
        <p:nvPicPr>
          <p:cNvPr id="37" name="merk" descr="merk.png"/>
          <p:cNvPicPr>
            <a:picLocks noChangeAspect="1"/>
          </p:cNvPicPr>
          <p:nvPr/>
        </p:nvPicPr>
        <p:blipFill>
          <a:blip r:embed="rId2"/>
          <a:stretch>
            <a:fillRect/>
          </a:stretch>
        </p:blipFill>
        <p:spPr>
          <a:xfrm>
            <a:off x="11094166" y="368290"/>
            <a:ext cx="417101" cy="482587"/>
          </a:xfrm>
          <a:prstGeom prst="rect">
            <a:avLst/>
          </a:prstGeom>
        </p:spPr>
      </p:pic>
    </p:spTree>
  </p:cSld>
  <p:clrMapOvr>
    <a:masterClrMapping/>
  </p:clrMapOvr>
  <p:transition xmlns:p14="http://schemas.microsoft.com/office/powerpoint/2010/main" spd="slow" p14:dur="9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