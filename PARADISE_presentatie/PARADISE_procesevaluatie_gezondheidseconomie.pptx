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Dit deel gaat over twee evaluaties die naast de hoofdvraag van PARADISE lopen: de procesevaluatie en de gezondheidseconomische evaluatie. Voor beide vragen we iets van uw team, en dat staat telkens op een eigen dia. Eerst het overzicht.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hoofdvraag van PARADISE blijft het recidief van een voetulcus over 18 maanden. Twee evaluaties helpen dat resultaat te begrijpen en te wegen. De procesevaluatie, onder leiding van Maaike Fobelets van de VUB, kijkt of PARADISE geleverd wordt zoals bedoeld, hoe het werkt en in welke context. De gezondheidseconomie, onder Koen Putman, ook van de VUB, zet de kosten tegenover de gezondheidswinst. We beginnen met de procesevaluatie.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Deel 1, de procesevaluatie: drie vragen en hun bronnen, de interviews en de fideliteit, en wat uw team daarvoor doet.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procesevaluatie volgt het kader van de Medical Research Council voor complexe interventies. Implementatie: hoe en hoeveel wordt er geleverd, met welke middelen, bij hoeveel patiënten en hoe trouw aan het plan. Werkingsmechanismen: hoe reageren deelnemers, via welke tussenstappen werkt PARADISE, en wat gebeurt er onverwacht. Context: wat helpt of hindert, en willen de centra ermee verder. Elke vraag heeft haar eigen bronnen.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het protocol van de procesevaluatie in één beeld. De implementatie halen we uit alle vijf de bronnen. Voor de werkingsmechanismen leunen we op de interviews en op wat de studie toch al verzamelt, zoals de vragen naar motivatie en zelfvertrouwen en de ongewenste voorvallen. De context komt uit de interviews en de community of practice. Eerst de interviews.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Daarnaast de interviews. Zestien patiënten, binnen twee maanden na hun laatste PARADISE-sessie. Zestien therapeuten, tussentijds om de zes maanden en op het einde; zo’n interview duurt 60 tot 90 minuten. En op het einde van de studie de lokale hoofdonderzoeker en wie het zorgpad coördineert. Alles wordt opgenomen, uitgeschreven en gepseudonimiseerd, en zowel deductief als inductief geanalyseerd. Dan de fideliteit.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Fideliteit betekent: wordt PARADISE gegeven zoals bedoeld? Elk onderdeel van het SEBIA-script krijgt een score: niet, gedeeltelijk of volledig uitgevoerd. Daarnaast de didactiek, de basisvaardigheden van motiverende gespreksvoering, en of de deelnemer de kernboodschappen zelf kan navertellen. Dat scoren gebeurt uit de video-opnames, per visite voor de onderdelen van die visite. Wat betekent dat concreet voor uw team?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Drie dingen. Na elke PARADISE-sessie vult wie de sessie gaf het dagboek in, eCRF 40. Van elke patiënt in Optimal Care worden twee sessies op video opgenomen; welke, wordt willekeurig bepaald, en de patiënt geeft daarvoor afzonderlijk toestemming. Die opnames worden gescoord met de fidelity-checklist. En elke zes maanden komen podologen en pedorthisten samen in de community of practice, om ervaringen en aanpassingen te delen. Tot slot: wie evalueert welk centrum.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 de evaluatie onafhankelijk te houden, wisselen de doctorandi van rol. Wie uw contactpersoon is, evalueert een ander centrum. Janou De Buyser is contactpersoon voor Brugge, Gent en Kortrijk, en evalueert Leuven, Aalst en Antwerpen. De tweede doctorandus, die nog geselecteerd wordt, doet het omgekeerde. Daarmee is deel 1 rond.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Terug naar het overzicht: de procesevaluatie is besproken. Dan nu de gezondheidseconomie.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Deel 2, de gezondheidseconomie: wat kost PARADISE, en wat levert het op in gezondheid?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kernuitkomst is de incrementele kosten-utiliteitsratio: het verschil in kosten tussen PARADISE en de gebruikelijke zorg, gedeeld door het verschil in QALY's, levensjaren gecorrigeerd voor kwaliteit van leven. Zonder expliciete Belgische drempel hanteren we 47.000 euro per QALY, gebaseerd op het bbp per inwoner. We kijken vanuit de gezondheidszorg, met de bredere maatschappelijke kosten waar dat relevant is, over de 18 maanden van de studie, en met een Markov-model over vijf jaar.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Daarvoor vier instrumenten. De EQ-5D-5L meet de levenskwaliteit, bij de start en op elke visite vanaf maand 3; de QALY's komen uit de Belgische waardenset. Het zorggebruik en de productiviteit meten we met de vragenlijsten van het iMTA, vanaf maand 3 op elke visite. En het kostendagboek: bij de start een volledig overzicht, tot maand 3 om de twee weken, en daarna per visite wat veranderde. Voor uw team betekent dat weinig: de patiënt vult de vragenlijsten op papier in de wachtzaal in, u kijkt na of alles ingevuld is, en wij voeren ze in. Het kostendagboek bevragen wij telefonisch. Eén ding vragen we wel, op elke visite en in beide armen.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 elke visite, in beide armen, noteren de podoloog en de verpleegkundige hun start- en einduur op eCRF 49. Zo kennen we wat PARADISE aan tijd vraagt, en wat de gebruikelijke zorg vraagt. Tijd is een kost, en zonder die cijfers is de kosteneffectiviteit onvolledig. Daarmee is ook deel 2 rond.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Terug naar het overzicht: de procesevaluatie en de gezondheidseconomie zijn allebei besproken. Tot slot waar u met vragen terechtkunt.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Vragen over de procesevaluatie of de gezondheidseconomie? Mail naar paradise-tbm@kuleuven.be; wij bezorgen ze aan Maaike Fobelets of Koen Putman. Dank 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2000" cy="6858000"/>
          </a:xfrm>
          <a:prstGeom prst="roundRect">
            <a:avLst>
              <a:gd name="adj" fmla="val 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9525000" cy="1587500"/>
          </a:xfrm>
          <a:prstGeom prst="rect">
            <a:avLst/>
          </a:prstGeom>
          <a:noFill/>
        </p:spPr>
        <p:txBody>
          <a:bodyPr wrap="square" lIns="0" rIns="0" tIns="0" bIns="0" anchor="t">
            <a:spAutoFit/>
          </a:bodyPr>
          <a:lstStyle/>
          <a:p>
            <a:pPr algn="l">
              <a:lnSpc>
                <a:spcPct val="100000"/>
              </a:lnSpc>
              <a:spcAft>
                <a:spcPts val="0"/>
              </a:spcAft>
            </a:pPr>
            <a:r>
              <a:rPr sz="5200" b="0" i="0">
                <a:solidFill>
                  <a:srgbClr val="F2F8FC"/>
                </a:solidFill>
                <a:latin typeface="DM Serif Display"/>
              </a:rPr>
              <a:t>Procesevaluatie en gezondheidseconomie</a:t>
            </a:r>
          </a:p>
        </p:txBody>
      </p:sp>
      <p:sp>
        <p:nvSpPr>
          <p:cNvPr id="4" name="TextBox 3"/>
          <p:cNvSpPr txBox="1"/>
          <p:nvPr/>
        </p:nvSpPr>
        <p:spPr>
          <a:xfrm>
            <a:off x="812800" y="3556000"/>
            <a:ext cx="9525000" cy="444500"/>
          </a:xfrm>
          <a:prstGeom prst="rect">
            <a:avLst/>
          </a:prstGeom>
          <a:noFill/>
        </p:spPr>
        <p:txBody>
          <a:bodyPr wrap="square" lIns="0" rIns="0" tIns="0" bIns="0" anchor="t">
            <a:spAutoFit/>
          </a:bodyPr>
          <a:lstStyle/>
          <a:p>
            <a:pPr algn="l">
              <a:lnSpc>
                <a:spcPct val="125000"/>
              </a:lnSpc>
              <a:spcAft>
                <a:spcPts val="0"/>
              </a:spcAft>
            </a:pPr>
            <a:r>
              <a:rPr sz="2529" b="0" i="1">
                <a:solidFill>
                  <a:srgbClr val="52BDEC"/>
                </a:solidFill>
                <a:latin typeface="DM Serif Display"/>
              </a:rPr>
              <a:t>Wat we naast het recidief meten, en wat uw team daarvoor doet</a:t>
            </a:r>
          </a:p>
        </p:txBody>
      </p:sp>
      <p:cxnSp>
        <p:nvCxnSpPr>
          <p:cNvPr id="5" name="Connector 4"/>
          <p:cNvCxnSpPr/>
          <p:nvPr/>
        </p:nvCxnSpPr>
        <p:spPr>
          <a:xfrm>
            <a:off x="812800" y="4445000"/>
            <a:ext cx="10566400" cy="0"/>
          </a:xfrm>
          <a:prstGeom prst="line">
            <a:avLst/>
          </a:prstGeom>
          <a:ln w="6350">
            <a:solidFill>
              <a:srgbClr val="21507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12800" y="4597400"/>
            <a:ext cx="10566400" cy="254000"/>
          </a:xfrm>
          <a:prstGeom prst="rect">
            <a:avLst/>
          </a:prstGeom>
          <a:noFill/>
        </p:spPr>
        <p:txBody>
          <a:bodyPr wrap="square" lIns="0" rIns="0" tIns="0" bIns="0" anchor="t">
            <a:spAutoFit/>
          </a:bodyPr>
          <a:lstStyle/>
          <a:p>
            <a:pPr algn="l">
              <a:lnSpc>
                <a:spcPct val="125000"/>
              </a:lnSpc>
              <a:spcAft>
                <a:spcPts val="0"/>
              </a:spcAft>
            </a:pPr>
            <a:r>
              <a:rPr sz="1609" b="1" i="0">
                <a:solidFill>
                  <a:srgbClr val="F2F8FC"/>
                </a:solidFill>
                <a:latin typeface="DM Sans"/>
              </a:rPr>
              <a:t>WP2 Procesevaluatie</a:t>
            </a:r>
            <a:r>
              <a:rPr sz="1609" b="0" i="0">
                <a:solidFill>
                  <a:srgbClr val="C5D8E8"/>
                </a:solidFill>
                <a:latin typeface="DM Sans"/>
              </a:rPr>
              <a:t>  ·  Maaike Fobelets, VUB      </a:t>
            </a:r>
            <a:r>
              <a:rPr sz="1609" b="1" i="0">
                <a:solidFill>
                  <a:srgbClr val="F2F8FC"/>
                </a:solidFill>
                <a:latin typeface="DM Sans"/>
              </a:rPr>
              <a:t>WP3 Gezondheidseconomie</a:t>
            </a:r>
            <a:r>
              <a:rPr sz="1609" b="0" i="0">
                <a:solidFill>
                  <a:srgbClr val="C5D8E8"/>
                </a:solidFill>
                <a:latin typeface="DM Sans"/>
              </a:rPr>
              <a:t>  ·  Koen Putman, VUB</a:t>
            </a:r>
          </a:p>
        </p:txBody>
      </p:sp>
      <p:pic>
        <p:nvPicPr>
          <p:cNvPr id="7" name="Picture 6" descr="merk.png"/>
          <p:cNvPicPr>
            <a:picLocks noChangeAspect="1"/>
          </p:cNvPicPr>
          <p:nvPr/>
        </p:nvPicPr>
        <p:blipFill>
          <a:blip r:embed="rId2"/>
          <a:stretch>
            <a:fillRect/>
          </a:stretch>
        </p:blipFill>
        <p:spPr>
          <a:xfrm>
            <a:off x="812800" y="6261100"/>
            <a:ext cx="177800" cy="203200"/>
          </a:xfrm>
          <a:prstGeom prst="rect">
            <a:avLst/>
          </a:prstGeom>
        </p:spPr>
      </p:pic>
      <p:sp>
        <p:nvSpPr>
          <p:cNvPr id="8" name="TextBox 7"/>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6F8FAA"/>
                </a:solidFill>
                <a:latin typeface="DM Sans"/>
              </a:rPr>
              <a:t>PARADISE · Opleiding voor de voetklinieken</a:t>
            </a:r>
          </a:p>
        </p:txBody>
      </p:sp>
    </p:spTree>
  </p:cSld>
  <p:clrMapOvr>
    <a:masterClrMapping/>
  </p:clrMapOvr>
  <p:transition xmlns:p14="http://schemas.microsoft.com/office/powerpoint/2010/main" spd="med" p14:dur="70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Twee evaluaties naast de hoofdvraag</a:t>
            </a:r>
          </a:p>
        </p:txBody>
      </p:sp>
      <p:sp>
        <p:nvSpPr>
          <p:cNvPr id="4" name="TextBox 3"/>
          <p:cNvSpPr txBox="1"/>
          <p:nvPr/>
        </p:nvSpPr>
        <p:spPr>
          <a:xfrm>
            <a:off x="812800" y="1473200"/>
            <a:ext cx="10566400" cy="317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De hoofdvraag blijft het recidief van een voetulcus over 18 maanden.</a:t>
            </a:r>
          </a:p>
        </p:txBody>
      </p:sp>
      <p:sp>
        <p:nvSpPr>
          <p:cNvPr id="5" name="!!z1"/>
          <p:cNvSpPr/>
          <p:nvPr/>
        </p:nvSpPr>
        <p:spPr>
          <a:xfrm>
            <a:off x="812800" y="2095500"/>
            <a:ext cx="5080000" cy="3556000"/>
          </a:xfrm>
          <a:prstGeom prst="roundRect">
            <a:avLst>
              <a:gd name="adj" fmla="val 3500"/>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8400" y="2349500"/>
            <a:ext cx="1270000" cy="1270000"/>
          </a:xfrm>
          <a:prstGeom prst="rect">
            <a:avLst/>
          </a:prstGeom>
          <a:noFill/>
        </p:spPr>
        <p:txBody>
          <a:bodyPr wrap="square" lIns="0" rIns="0" tIns="0" bIns="0" anchor="t">
            <a:spAutoFit/>
          </a:bodyPr>
          <a:lstStyle/>
          <a:p>
            <a:pPr algn="l">
              <a:lnSpc>
                <a:spcPct val="90000"/>
              </a:lnSpc>
              <a:spcAft>
                <a:spcPts val="0"/>
              </a:spcAft>
            </a:pPr>
            <a:r>
              <a:rPr sz="8000" b="0" i="0">
                <a:solidFill>
                  <a:srgbClr val="0B6E8F"/>
                </a:solidFill>
                <a:latin typeface="DM Serif Display"/>
              </a:rPr>
              <a:t>1</a:t>
            </a:r>
          </a:p>
        </p:txBody>
      </p:sp>
      <p:sp>
        <p:nvSpPr>
          <p:cNvPr id="7" name="TextBox 6"/>
          <p:cNvSpPr txBox="1"/>
          <p:nvPr/>
        </p:nvSpPr>
        <p:spPr>
          <a:xfrm>
            <a:off x="1168400" y="3746500"/>
            <a:ext cx="4445000" cy="508000"/>
          </a:xfrm>
          <a:prstGeom prst="rect">
            <a:avLst/>
          </a:prstGeom>
          <a:noFill/>
        </p:spPr>
        <p:txBody>
          <a:bodyPr wrap="square" lIns="0" rIns="0" tIns="0" bIns="0" anchor="t">
            <a:spAutoFit/>
          </a:bodyPr>
          <a:lstStyle/>
          <a:p>
            <a:pPr algn="l">
              <a:lnSpc>
                <a:spcPct val="125000"/>
              </a:lnSpc>
              <a:spcAft>
                <a:spcPts val="0"/>
              </a:spcAft>
            </a:pPr>
            <a:r>
              <a:rPr sz="3000" b="0" i="0">
                <a:solidFill>
                  <a:srgbClr val="0A2540"/>
                </a:solidFill>
                <a:latin typeface="DM Serif Display"/>
              </a:rPr>
              <a:t>Procesevaluatie</a:t>
            </a:r>
          </a:p>
        </p:txBody>
      </p:sp>
      <p:sp>
        <p:nvSpPr>
          <p:cNvPr id="8" name="TextBox 7"/>
          <p:cNvSpPr txBox="1"/>
          <p:nvPr/>
        </p:nvSpPr>
        <p:spPr>
          <a:xfrm>
            <a:off x="1168400" y="4318000"/>
            <a:ext cx="4381500" cy="698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Wordt PARADISE geleverd zoals bedoeld, hoe werkt het, en waar?</a:t>
            </a:r>
          </a:p>
        </p:txBody>
      </p:sp>
      <p:sp>
        <p:nvSpPr>
          <p:cNvPr id="9" name="TextBox 8"/>
          <p:cNvSpPr txBox="1"/>
          <p:nvPr/>
        </p:nvSpPr>
        <p:spPr>
          <a:xfrm>
            <a:off x="1168400" y="5207000"/>
            <a:ext cx="4381500" cy="2540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WP2 · Maaike Fobelets, VUB</a:t>
            </a:r>
          </a:p>
        </p:txBody>
      </p:sp>
      <p:sp>
        <p:nvSpPr>
          <p:cNvPr id="10" name="!!z2"/>
          <p:cNvSpPr/>
          <p:nvPr/>
        </p:nvSpPr>
        <p:spPr>
          <a:xfrm>
            <a:off x="6299200" y="2095500"/>
            <a:ext cx="5080000" cy="3556000"/>
          </a:xfrm>
          <a:prstGeom prst="roundRect">
            <a:avLst>
              <a:gd name="adj" fmla="val 3500"/>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4800" y="2349500"/>
            <a:ext cx="1270000" cy="1270000"/>
          </a:xfrm>
          <a:prstGeom prst="rect">
            <a:avLst/>
          </a:prstGeom>
          <a:noFill/>
        </p:spPr>
        <p:txBody>
          <a:bodyPr wrap="square" lIns="0" rIns="0" tIns="0" bIns="0" anchor="t">
            <a:spAutoFit/>
          </a:bodyPr>
          <a:lstStyle/>
          <a:p>
            <a:pPr algn="l">
              <a:lnSpc>
                <a:spcPct val="90000"/>
              </a:lnSpc>
              <a:spcAft>
                <a:spcPts val="0"/>
              </a:spcAft>
            </a:pPr>
            <a:r>
              <a:rPr sz="8000" b="0" i="0">
                <a:solidFill>
                  <a:srgbClr val="0B6E8F"/>
                </a:solidFill>
                <a:latin typeface="DM Serif Display"/>
              </a:rPr>
              <a:t>2</a:t>
            </a:r>
          </a:p>
        </p:txBody>
      </p:sp>
      <p:sp>
        <p:nvSpPr>
          <p:cNvPr id="12" name="TextBox 11"/>
          <p:cNvSpPr txBox="1"/>
          <p:nvPr/>
        </p:nvSpPr>
        <p:spPr>
          <a:xfrm>
            <a:off x="6654800" y="3746500"/>
            <a:ext cx="4445000" cy="508000"/>
          </a:xfrm>
          <a:prstGeom prst="rect">
            <a:avLst/>
          </a:prstGeom>
          <a:noFill/>
        </p:spPr>
        <p:txBody>
          <a:bodyPr wrap="square" lIns="0" rIns="0" tIns="0" bIns="0" anchor="t">
            <a:spAutoFit/>
          </a:bodyPr>
          <a:lstStyle/>
          <a:p>
            <a:pPr algn="l">
              <a:lnSpc>
                <a:spcPct val="125000"/>
              </a:lnSpc>
              <a:spcAft>
                <a:spcPts val="0"/>
              </a:spcAft>
            </a:pPr>
            <a:r>
              <a:rPr sz="3000" b="0" i="0">
                <a:solidFill>
                  <a:srgbClr val="0A2540"/>
                </a:solidFill>
                <a:latin typeface="DM Serif Display"/>
              </a:rPr>
              <a:t>Gezondheidseconomie</a:t>
            </a:r>
          </a:p>
        </p:txBody>
      </p:sp>
      <p:sp>
        <p:nvSpPr>
          <p:cNvPr id="13" name="TextBox 12"/>
          <p:cNvSpPr txBox="1"/>
          <p:nvPr/>
        </p:nvSpPr>
        <p:spPr>
          <a:xfrm>
            <a:off x="6654800" y="4318000"/>
            <a:ext cx="4381500" cy="698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Wat kost PARADISE per gewonnen levensjaar in goede gezondheid?</a:t>
            </a:r>
          </a:p>
        </p:txBody>
      </p:sp>
      <p:sp>
        <p:nvSpPr>
          <p:cNvPr id="14" name="TextBox 13"/>
          <p:cNvSpPr txBox="1"/>
          <p:nvPr/>
        </p:nvSpPr>
        <p:spPr>
          <a:xfrm>
            <a:off x="6654800" y="5207000"/>
            <a:ext cx="4381500" cy="2540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WP3 · Koen Putman, VUB</a:t>
            </a:r>
          </a:p>
        </p:txBody>
      </p:sp>
      <p:pic>
        <p:nvPicPr>
          <p:cNvPr id="15" name="Picture 14" descr="merk.png"/>
          <p:cNvPicPr>
            <a:picLocks noChangeAspect="1"/>
          </p:cNvPicPr>
          <p:nvPr/>
        </p:nvPicPr>
        <p:blipFill>
          <a:blip r:embed="rId2"/>
          <a:stretch>
            <a:fillRect/>
          </a:stretch>
        </p:blipFill>
        <p:spPr>
          <a:xfrm>
            <a:off x="812800" y="6261100"/>
            <a:ext cx="177800" cy="203200"/>
          </a:xfrm>
          <a:prstGeom prst="rect">
            <a:avLst/>
          </a:prstGeom>
        </p:spPr>
      </p:pic>
      <p:sp>
        <p:nvSpPr>
          <p:cNvPr id="16" name="TextBox 15"/>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Overzicht</a:t>
            </a:r>
          </a:p>
        </p:txBody>
      </p:sp>
    </p:spTree>
  </p:cSld>
  <p:clrMapOvr>
    <a:masterClrMapping/>
  </p:clrMapOvr>
  <p:transition xmlns:p14="http://schemas.microsoft.com/office/powerpoint/2010/main" spd="med" p14:dur="700">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z1"/>
          <p:cNvSpPr/>
          <p:nvPr/>
        </p:nvSpPr>
        <p:spPr>
          <a:xfrm>
            <a:off x="0" y="0"/>
            <a:ext cx="12192000" cy="6858000"/>
          </a:xfrm>
          <a:prstGeom prst="roundRect">
            <a:avLst>
              <a:gd name="adj" fmla="val 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952500"/>
            <a:ext cx="2032000" cy="2667000"/>
          </a:xfrm>
          <a:prstGeom prst="rect">
            <a:avLst/>
          </a:prstGeom>
          <a:noFill/>
        </p:spPr>
        <p:txBody>
          <a:bodyPr wrap="square" lIns="0" rIns="0" tIns="0" bIns="0" anchor="t">
            <a:spAutoFit/>
          </a:bodyPr>
          <a:lstStyle/>
          <a:p>
            <a:pPr algn="l">
              <a:lnSpc>
                <a:spcPct val="90000"/>
              </a:lnSpc>
              <a:spcAft>
                <a:spcPts val="0"/>
              </a:spcAft>
            </a:pPr>
            <a:r>
              <a:rPr sz="18000" b="0" i="0">
                <a:solidFill>
                  <a:srgbClr val="FF9A3D"/>
                </a:solidFill>
                <a:latin typeface="DM Serif Display"/>
              </a:rPr>
              <a:t>1</a:t>
            </a:r>
          </a:p>
        </p:txBody>
      </p:sp>
      <p:sp>
        <p:nvSpPr>
          <p:cNvPr id="4" name="TextBox 3"/>
          <p:cNvSpPr txBox="1"/>
          <p:nvPr/>
        </p:nvSpPr>
        <p:spPr>
          <a:xfrm>
            <a:off x="3302000" y="952500"/>
            <a:ext cx="8064500" cy="254000"/>
          </a:xfrm>
          <a:prstGeom prst="rect">
            <a:avLst/>
          </a:prstGeom>
          <a:noFill/>
        </p:spPr>
        <p:txBody>
          <a:bodyPr wrap="square" lIns="0" rIns="0" tIns="0" bIns="0" anchor="t">
            <a:spAutoFit/>
          </a:bodyPr>
          <a:lstStyle/>
          <a:p>
            <a:pPr algn="l">
              <a:lnSpc>
                <a:spcPct val="125000"/>
              </a:lnSpc>
              <a:spcAft>
                <a:spcPts val="0"/>
              </a:spcAft>
            </a:pPr>
            <a:r>
              <a:rPr sz="1495" b="1" i="0">
                <a:solidFill>
                  <a:srgbClr val="52BDEC"/>
                </a:solidFill>
                <a:latin typeface="DM Sans"/>
              </a:rPr>
              <a:t>Deel 1 van 2</a:t>
            </a:r>
          </a:p>
        </p:txBody>
      </p:sp>
      <p:sp>
        <p:nvSpPr>
          <p:cNvPr id="5" name="TextBox 4"/>
          <p:cNvSpPr txBox="1"/>
          <p:nvPr/>
        </p:nvSpPr>
        <p:spPr>
          <a:xfrm>
            <a:off x="3302000" y="1301750"/>
            <a:ext cx="8064500" cy="762000"/>
          </a:xfrm>
          <a:prstGeom prst="rect">
            <a:avLst/>
          </a:prstGeom>
          <a:noFill/>
        </p:spPr>
        <p:txBody>
          <a:bodyPr wrap="square" lIns="0" rIns="0" tIns="0" bIns="0" anchor="t">
            <a:spAutoFit/>
          </a:bodyPr>
          <a:lstStyle/>
          <a:p>
            <a:pPr algn="l">
              <a:lnSpc>
                <a:spcPct val="105000"/>
              </a:lnSpc>
              <a:spcAft>
                <a:spcPts val="0"/>
              </a:spcAft>
            </a:pPr>
            <a:r>
              <a:rPr sz="4400" b="0" i="0">
                <a:solidFill>
                  <a:srgbClr val="F2F8FC"/>
                </a:solidFill>
                <a:latin typeface="DM Serif Display"/>
              </a:rPr>
              <a:t>Procesevaluatie</a:t>
            </a:r>
          </a:p>
        </p:txBody>
      </p:sp>
      <p:sp>
        <p:nvSpPr>
          <p:cNvPr id="6" name="TextBox 5"/>
          <p:cNvSpPr txBox="1"/>
          <p:nvPr/>
        </p:nvSpPr>
        <p:spPr>
          <a:xfrm>
            <a:off x="3302000" y="2095500"/>
            <a:ext cx="8064500" cy="444500"/>
          </a:xfrm>
          <a:prstGeom prst="rect">
            <a:avLst/>
          </a:prstGeom>
          <a:noFill/>
        </p:spPr>
        <p:txBody>
          <a:bodyPr wrap="square" lIns="0" rIns="0" tIns="0" bIns="0" anchor="t">
            <a:spAutoFit/>
          </a:bodyPr>
          <a:lstStyle/>
          <a:p>
            <a:pPr algn="l">
              <a:lnSpc>
                <a:spcPct val="125000"/>
              </a:lnSpc>
              <a:spcAft>
                <a:spcPts val="0"/>
              </a:spcAft>
            </a:pPr>
            <a:r>
              <a:rPr sz="2529" b="0" i="1">
                <a:solidFill>
                  <a:srgbClr val="52BDEC"/>
                </a:solidFill>
                <a:latin typeface="DM Serif Display"/>
              </a:rPr>
              <a:t>Wordt PARADISE geleverd zoals bedoeld?</a:t>
            </a:r>
          </a:p>
        </p:txBody>
      </p:sp>
      <p:cxnSp>
        <p:nvCxnSpPr>
          <p:cNvPr id="7" name="Connector 6"/>
          <p:cNvCxnSpPr/>
          <p:nvPr/>
        </p:nvCxnSpPr>
        <p:spPr>
          <a:xfrm>
            <a:off x="3302000" y="3810000"/>
            <a:ext cx="8077200" cy="0"/>
          </a:xfrm>
          <a:prstGeom prst="line">
            <a:avLst/>
          </a:prstGeom>
          <a:ln w="6350">
            <a:solidFill>
              <a:srgbClr val="21507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302000" y="3911600"/>
            <a:ext cx="8064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C5D8E8"/>
                </a:solidFill>
                <a:latin typeface="DM Sans"/>
              </a:rPr>
              <a:t>drie vragen, één kader</a:t>
            </a:r>
          </a:p>
        </p:txBody>
      </p:sp>
      <p:cxnSp>
        <p:nvCxnSpPr>
          <p:cNvPr id="9" name="Connector 8"/>
          <p:cNvCxnSpPr/>
          <p:nvPr/>
        </p:nvCxnSpPr>
        <p:spPr>
          <a:xfrm>
            <a:off x="3302000" y="4343400"/>
            <a:ext cx="8077200" cy="0"/>
          </a:xfrm>
          <a:prstGeom prst="line">
            <a:avLst/>
          </a:prstGeom>
          <a:ln w="6350">
            <a:solidFill>
              <a:srgbClr val="21507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02000" y="4445000"/>
            <a:ext cx="8064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C5D8E8"/>
                </a:solidFill>
                <a:latin typeface="DM Sans"/>
              </a:rPr>
              <a:t>interviews en fideliteit</a:t>
            </a:r>
          </a:p>
        </p:txBody>
      </p:sp>
      <p:cxnSp>
        <p:nvCxnSpPr>
          <p:cNvPr id="11" name="Connector 10"/>
          <p:cNvCxnSpPr/>
          <p:nvPr/>
        </p:nvCxnSpPr>
        <p:spPr>
          <a:xfrm>
            <a:off x="3302000" y="4876800"/>
            <a:ext cx="8077200" cy="0"/>
          </a:xfrm>
          <a:prstGeom prst="line">
            <a:avLst/>
          </a:prstGeom>
          <a:ln w="6350">
            <a:solidFill>
              <a:srgbClr val="21507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02000" y="4978400"/>
            <a:ext cx="8064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C5D8E8"/>
                </a:solidFill>
                <a:latin typeface="DM Sans"/>
              </a:rPr>
              <a:t>wat uw team doet</a:t>
            </a:r>
          </a:p>
        </p:txBody>
      </p:sp>
      <p:pic>
        <p:nvPicPr>
          <p:cNvPr id="13" name="Picture 12" descr="merk.png"/>
          <p:cNvPicPr>
            <a:picLocks noChangeAspect="1"/>
          </p:cNvPicPr>
          <p:nvPr/>
        </p:nvPicPr>
        <p:blipFill>
          <a:blip r:embed="rId2"/>
          <a:stretch>
            <a:fillRect/>
          </a:stretch>
        </p:blipFill>
        <p:spPr>
          <a:xfrm>
            <a:off x="812800" y="6261100"/>
            <a:ext cx="177800" cy="203200"/>
          </a:xfrm>
          <a:prstGeom prst="rect">
            <a:avLst/>
          </a:prstGeom>
        </p:spPr>
      </p:pic>
      <p:sp>
        <p:nvSpPr>
          <p:cNvPr id="14" name="TextBox 13"/>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6F8FAA"/>
                </a:solidFill>
                <a:latin typeface="DM Sans"/>
              </a:rPr>
              <a:t>PARADISE · Procesevaluatie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z1"/>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Drie vragen, één kader</a:t>
            </a:r>
          </a:p>
        </p:txBody>
      </p:sp>
      <p:pic>
        <p:nvPicPr>
          <p:cNvPr id="4" name="Picture 3" descr="merk.png"/>
          <p:cNvPicPr>
            <a:picLocks noChangeAspect="1"/>
          </p:cNvPicPr>
          <p:nvPr/>
        </p:nvPicPr>
        <p:blipFill>
          <a:blip r:embed="rId2"/>
          <a:stretch>
            <a:fillRect/>
          </a:stretch>
        </p:blipFill>
        <p:spPr>
          <a:xfrm>
            <a:off x="812800" y="6261100"/>
            <a:ext cx="177800" cy="203200"/>
          </a:xfrm>
          <a:prstGeom prst="rect">
            <a:avLst/>
          </a:prstGeom>
        </p:spPr>
      </p:pic>
      <p:sp>
        <p:nvSpPr>
          <p:cNvPr id="5" name="TextBox 4"/>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Procesevaluatie</a:t>
            </a:r>
          </a:p>
        </p:txBody>
      </p:sp>
      <p:sp>
        <p:nvSpPr>
          <p:cNvPr id="6" name="TextBox 5"/>
          <p:cNvSpPr txBox="1"/>
          <p:nvPr/>
        </p:nvSpPr>
        <p:spPr>
          <a:xfrm>
            <a:off x="5207000" y="6261100"/>
            <a:ext cx="6172200" cy="203200"/>
          </a:xfrm>
          <a:prstGeom prst="rect">
            <a:avLst/>
          </a:prstGeom>
          <a:noFill/>
        </p:spPr>
        <p:txBody>
          <a:bodyPr wrap="square" lIns="0" rIns="0" tIns="0" bIns="0" anchor="t">
            <a:spAutoFit/>
          </a:bodyPr>
          <a:lstStyle/>
          <a:p>
            <a:pPr algn="r">
              <a:lnSpc>
                <a:spcPct val="125000"/>
              </a:lnSpc>
              <a:spcAft>
                <a:spcPts val="0"/>
              </a:spcAft>
            </a:pPr>
            <a:r>
              <a:rPr sz="1380" b="0" i="0">
                <a:solidFill>
                  <a:srgbClr val="5A6E80"/>
                </a:solidFill>
                <a:latin typeface="DM Sans"/>
              </a:rPr>
              <a:t>Bron: eCRF 39 · MRC-richtlijn (Moore, BMJ 2015)</a:t>
            </a:r>
          </a:p>
        </p:txBody>
      </p:sp>
      <p:cxnSp>
        <p:nvCxnSpPr>
          <p:cNvPr id="7" name="Connector 6"/>
          <p:cNvCxnSpPr/>
          <p:nvPr/>
        </p:nvCxnSpPr>
        <p:spPr>
          <a:xfrm>
            <a:off x="812800" y="2286000"/>
            <a:ext cx="3302000" cy="0"/>
          </a:xfrm>
          <a:prstGeom prst="line">
            <a:avLst/>
          </a:prstGeom>
          <a:ln w="19050">
            <a:solidFill>
              <a:srgbClr val="0B6E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2800" y="2476500"/>
            <a:ext cx="3302000" cy="444500"/>
          </a:xfrm>
          <a:prstGeom prst="rect">
            <a:avLst/>
          </a:prstGeom>
          <a:noFill/>
        </p:spPr>
        <p:txBody>
          <a:bodyPr wrap="square" lIns="0" rIns="0" tIns="0" bIns="0" anchor="t">
            <a:spAutoFit/>
          </a:bodyPr>
          <a:lstStyle/>
          <a:p>
            <a:pPr algn="l">
              <a:lnSpc>
                <a:spcPct val="125000"/>
              </a:lnSpc>
              <a:spcAft>
                <a:spcPts val="0"/>
              </a:spcAft>
            </a:pPr>
            <a:r>
              <a:rPr sz="2200" b="0" i="0">
                <a:solidFill>
                  <a:srgbClr val="0A2540"/>
                </a:solidFill>
                <a:latin typeface="DM Serif Display"/>
              </a:rPr>
              <a:t>Implementatie</a:t>
            </a:r>
          </a:p>
        </p:txBody>
      </p:sp>
      <p:sp>
        <p:nvSpPr>
          <p:cNvPr id="9" name="TextBox 8"/>
          <p:cNvSpPr txBox="1"/>
          <p:nvPr/>
        </p:nvSpPr>
        <p:spPr>
          <a:xfrm>
            <a:off x="812800" y="2984500"/>
            <a:ext cx="3302000" cy="10160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Hoe en hoeveel wordt PARADISE geleverd?</a:t>
            </a:r>
          </a:p>
        </p:txBody>
      </p:sp>
      <p:cxnSp>
        <p:nvCxnSpPr>
          <p:cNvPr id="10" name="Connector 9"/>
          <p:cNvCxnSpPr/>
          <p:nvPr/>
        </p:nvCxnSpPr>
        <p:spPr>
          <a:xfrm>
            <a:off x="812800" y="4191000"/>
            <a:ext cx="33020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12800" y="4318000"/>
            <a:ext cx="3302000" cy="1016000"/>
          </a:xfrm>
          <a:prstGeom prst="rect">
            <a:avLst/>
          </a:prstGeom>
          <a:noFill/>
        </p:spPr>
        <p:txBody>
          <a:bodyPr wrap="square" lIns="0" rIns="0" tIns="0" bIns="0" anchor="t">
            <a:spAutoFit/>
          </a:bodyPr>
          <a:lstStyle/>
          <a:p>
            <a:pPr algn="l">
              <a:lnSpc>
                <a:spcPct val="125000"/>
              </a:lnSpc>
              <a:spcAft>
                <a:spcPts val="0"/>
              </a:spcAft>
            </a:pPr>
            <a:r>
              <a:rPr sz="1495" b="0" i="0">
                <a:solidFill>
                  <a:srgbClr val="5A6E80"/>
                </a:solidFill>
                <a:latin typeface="DM Sans"/>
              </a:rPr>
              <a:t>structuren · middelen · dosis · bereik · fideliteit · aanpassingen · kwaliteit</a:t>
            </a:r>
          </a:p>
        </p:txBody>
      </p:sp>
      <p:cxnSp>
        <p:nvCxnSpPr>
          <p:cNvPr id="12" name="Connector 11"/>
          <p:cNvCxnSpPr/>
          <p:nvPr/>
        </p:nvCxnSpPr>
        <p:spPr>
          <a:xfrm>
            <a:off x="4419600" y="2286000"/>
            <a:ext cx="3302000" cy="0"/>
          </a:xfrm>
          <a:prstGeom prst="line">
            <a:avLst/>
          </a:prstGeom>
          <a:ln w="19050">
            <a:solidFill>
              <a:srgbClr val="0B6E8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19600" y="2476500"/>
            <a:ext cx="3302000" cy="444500"/>
          </a:xfrm>
          <a:prstGeom prst="rect">
            <a:avLst/>
          </a:prstGeom>
          <a:noFill/>
        </p:spPr>
        <p:txBody>
          <a:bodyPr wrap="square" lIns="0" rIns="0" tIns="0" bIns="0" anchor="t">
            <a:spAutoFit/>
          </a:bodyPr>
          <a:lstStyle/>
          <a:p>
            <a:pPr algn="l">
              <a:lnSpc>
                <a:spcPct val="125000"/>
              </a:lnSpc>
              <a:spcAft>
                <a:spcPts val="0"/>
              </a:spcAft>
            </a:pPr>
            <a:r>
              <a:rPr sz="2200" b="0" i="0">
                <a:solidFill>
                  <a:srgbClr val="0A2540"/>
                </a:solidFill>
                <a:latin typeface="DM Serif Display"/>
              </a:rPr>
              <a:t>Werkingsmechanismen</a:t>
            </a:r>
          </a:p>
        </p:txBody>
      </p:sp>
      <p:sp>
        <p:nvSpPr>
          <p:cNvPr id="14" name="TextBox 13"/>
          <p:cNvSpPr txBox="1"/>
          <p:nvPr/>
        </p:nvSpPr>
        <p:spPr>
          <a:xfrm>
            <a:off x="4419600" y="2984500"/>
            <a:ext cx="3302000" cy="10160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Hoe reageren deelnemers, en via welke tussenstappen werkt het?</a:t>
            </a:r>
          </a:p>
        </p:txBody>
      </p:sp>
      <p:cxnSp>
        <p:nvCxnSpPr>
          <p:cNvPr id="15" name="Connector 14"/>
          <p:cNvCxnSpPr/>
          <p:nvPr/>
        </p:nvCxnSpPr>
        <p:spPr>
          <a:xfrm>
            <a:off x="4419600" y="4191000"/>
            <a:ext cx="33020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19600" y="4318000"/>
            <a:ext cx="3302000" cy="1016000"/>
          </a:xfrm>
          <a:prstGeom prst="rect">
            <a:avLst/>
          </a:prstGeom>
          <a:noFill/>
        </p:spPr>
        <p:txBody>
          <a:bodyPr wrap="square" lIns="0" rIns="0" tIns="0" bIns="0" anchor="t">
            <a:spAutoFit/>
          </a:bodyPr>
          <a:lstStyle/>
          <a:p>
            <a:pPr algn="l">
              <a:lnSpc>
                <a:spcPct val="125000"/>
              </a:lnSpc>
              <a:spcAft>
                <a:spcPts val="0"/>
              </a:spcAft>
            </a:pPr>
            <a:r>
              <a:rPr sz="1495" b="0" i="0">
                <a:solidFill>
                  <a:srgbClr val="5A6E80"/>
                </a:solidFill>
                <a:latin typeface="DM Sans"/>
              </a:rPr>
              <a:t>reacties · mediatoren · onverwachte gevolgen</a:t>
            </a:r>
          </a:p>
        </p:txBody>
      </p:sp>
      <p:cxnSp>
        <p:nvCxnSpPr>
          <p:cNvPr id="17" name="Connector 16"/>
          <p:cNvCxnSpPr/>
          <p:nvPr/>
        </p:nvCxnSpPr>
        <p:spPr>
          <a:xfrm>
            <a:off x="8026400" y="2286000"/>
            <a:ext cx="3302000" cy="0"/>
          </a:xfrm>
          <a:prstGeom prst="line">
            <a:avLst/>
          </a:prstGeom>
          <a:ln w="19050">
            <a:solidFill>
              <a:srgbClr val="0B6E8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026400" y="2476500"/>
            <a:ext cx="3302000" cy="444500"/>
          </a:xfrm>
          <a:prstGeom prst="rect">
            <a:avLst/>
          </a:prstGeom>
          <a:noFill/>
        </p:spPr>
        <p:txBody>
          <a:bodyPr wrap="square" lIns="0" rIns="0" tIns="0" bIns="0" anchor="t">
            <a:spAutoFit/>
          </a:bodyPr>
          <a:lstStyle/>
          <a:p>
            <a:pPr algn="l">
              <a:lnSpc>
                <a:spcPct val="125000"/>
              </a:lnSpc>
              <a:spcAft>
                <a:spcPts val="0"/>
              </a:spcAft>
            </a:pPr>
            <a:r>
              <a:rPr sz="2200" b="0" i="0">
                <a:solidFill>
                  <a:srgbClr val="0A2540"/>
                </a:solidFill>
                <a:latin typeface="DM Serif Display"/>
              </a:rPr>
              <a:t>Context</a:t>
            </a:r>
          </a:p>
        </p:txBody>
      </p:sp>
      <p:sp>
        <p:nvSpPr>
          <p:cNvPr id="19" name="TextBox 18"/>
          <p:cNvSpPr txBox="1"/>
          <p:nvPr/>
        </p:nvSpPr>
        <p:spPr>
          <a:xfrm>
            <a:off x="8026400" y="2984500"/>
            <a:ext cx="3302000" cy="10160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Wat helpt of hindert, en blijft het?</a:t>
            </a:r>
          </a:p>
        </p:txBody>
      </p:sp>
      <p:cxnSp>
        <p:nvCxnSpPr>
          <p:cNvPr id="20" name="Connector 19"/>
          <p:cNvCxnSpPr/>
          <p:nvPr/>
        </p:nvCxnSpPr>
        <p:spPr>
          <a:xfrm>
            <a:off x="8026400" y="4191000"/>
            <a:ext cx="33020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026400" y="4318000"/>
            <a:ext cx="3302000" cy="1016000"/>
          </a:xfrm>
          <a:prstGeom prst="rect">
            <a:avLst/>
          </a:prstGeom>
          <a:noFill/>
        </p:spPr>
        <p:txBody>
          <a:bodyPr wrap="square" lIns="0" rIns="0" tIns="0" bIns="0" anchor="t">
            <a:spAutoFit/>
          </a:bodyPr>
          <a:lstStyle/>
          <a:p>
            <a:pPr algn="l">
              <a:lnSpc>
                <a:spcPct val="125000"/>
              </a:lnSpc>
              <a:spcAft>
                <a:spcPts val="0"/>
              </a:spcAft>
            </a:pPr>
            <a:r>
              <a:rPr sz="1495" b="0" i="0">
                <a:solidFill>
                  <a:srgbClr val="5A6E80"/>
                </a:solidFill>
                <a:latin typeface="DM Sans"/>
              </a:rPr>
              <a:t>barrières en facilitatoren · intentie tot voortzetting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z1"/>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Elke vraag heeft haar bronnen</a:t>
            </a:r>
          </a:p>
        </p:txBody>
      </p:sp>
      <p:pic>
        <p:nvPicPr>
          <p:cNvPr id="4" name="Picture 3" descr="merk.png"/>
          <p:cNvPicPr>
            <a:picLocks noChangeAspect="1"/>
          </p:cNvPicPr>
          <p:nvPr/>
        </p:nvPicPr>
        <p:blipFill>
          <a:blip r:embed="rId2"/>
          <a:stretch>
            <a:fillRect/>
          </a:stretch>
        </p:blipFill>
        <p:spPr>
          <a:xfrm>
            <a:off x="812800" y="6261100"/>
            <a:ext cx="177800" cy="203200"/>
          </a:xfrm>
          <a:prstGeom prst="rect">
            <a:avLst/>
          </a:prstGeom>
        </p:spPr>
      </p:pic>
      <p:sp>
        <p:nvSpPr>
          <p:cNvPr id="5" name="TextBox 4"/>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Procesevaluatie</a:t>
            </a:r>
          </a:p>
        </p:txBody>
      </p:sp>
      <p:sp>
        <p:nvSpPr>
          <p:cNvPr id="6" name="TextBox 5"/>
          <p:cNvSpPr txBox="1"/>
          <p:nvPr/>
        </p:nvSpPr>
        <p:spPr>
          <a:xfrm>
            <a:off x="5207000" y="6261100"/>
            <a:ext cx="6172200" cy="203200"/>
          </a:xfrm>
          <a:prstGeom prst="rect">
            <a:avLst/>
          </a:prstGeom>
          <a:noFill/>
        </p:spPr>
        <p:txBody>
          <a:bodyPr wrap="square" lIns="0" rIns="0" tIns="0" bIns="0" anchor="t">
            <a:spAutoFit/>
          </a:bodyPr>
          <a:lstStyle/>
          <a:p>
            <a:pPr algn="r">
              <a:lnSpc>
                <a:spcPct val="125000"/>
              </a:lnSpc>
              <a:spcAft>
                <a:spcPts val="0"/>
              </a:spcAft>
            </a:pPr>
            <a:r>
              <a:rPr sz="1380" b="0" i="0">
                <a:solidFill>
                  <a:srgbClr val="5A6E80"/>
                </a:solidFill>
                <a:latin typeface="DM Sans"/>
              </a:rPr>
              <a:t>Bron: eCRF 39</a:t>
            </a:r>
          </a:p>
        </p:txBody>
      </p:sp>
      <p:sp>
        <p:nvSpPr>
          <p:cNvPr id="7" name="TextBox 6"/>
          <p:cNvSpPr txBox="1"/>
          <p:nvPr/>
        </p:nvSpPr>
        <p:spPr>
          <a:xfrm>
            <a:off x="3556000" y="2095500"/>
            <a:ext cx="1460500" cy="508000"/>
          </a:xfrm>
          <a:prstGeom prst="rect">
            <a:avLst/>
          </a:prstGeom>
          <a:noFill/>
        </p:spPr>
        <p:txBody>
          <a:bodyPr wrap="square" lIns="0" rIns="0" tIns="0" bIns="0" anchor="b">
            <a:spAutoFit/>
          </a:bodyPr>
          <a:lstStyle/>
          <a:p>
            <a:pPr algn="ctr">
              <a:lnSpc>
                <a:spcPct val="125000"/>
              </a:lnSpc>
              <a:spcAft>
                <a:spcPts val="0"/>
              </a:spcAft>
            </a:pPr>
            <a:r>
              <a:rPr sz="1400" b="1" i="0">
                <a:solidFill>
                  <a:srgbClr val="0A2540"/>
                </a:solidFill>
                <a:latin typeface="DM Sans"/>
              </a:rPr>
              <a:t>Dagboek</a:t>
            </a:r>
          </a:p>
        </p:txBody>
      </p:sp>
      <p:sp>
        <p:nvSpPr>
          <p:cNvPr id="8" name="TextBox 7"/>
          <p:cNvSpPr txBox="1"/>
          <p:nvPr/>
        </p:nvSpPr>
        <p:spPr>
          <a:xfrm>
            <a:off x="3556000" y="2628900"/>
            <a:ext cx="1460500" cy="228600"/>
          </a:xfrm>
          <a:prstGeom prst="rect">
            <a:avLst/>
          </a:prstGeom>
          <a:noFill/>
        </p:spPr>
        <p:txBody>
          <a:bodyPr wrap="square" lIns="0" rIns="0" tIns="0" bIns="0" anchor="t">
            <a:spAutoFit/>
          </a:bodyPr>
          <a:lstStyle/>
          <a:p>
            <a:pPr algn="ctr">
              <a:lnSpc>
                <a:spcPct val="125000"/>
              </a:lnSpc>
              <a:spcAft>
                <a:spcPts val="0"/>
              </a:spcAft>
            </a:pPr>
            <a:r>
              <a:rPr sz="1200" b="0" i="0">
                <a:solidFill>
                  <a:srgbClr val="5A6E80"/>
                </a:solidFill>
                <a:latin typeface="DM Sans"/>
              </a:rPr>
              <a:t>eCRF 40</a:t>
            </a:r>
          </a:p>
        </p:txBody>
      </p:sp>
      <p:sp>
        <p:nvSpPr>
          <p:cNvPr id="9" name="TextBox 8"/>
          <p:cNvSpPr txBox="1"/>
          <p:nvPr/>
        </p:nvSpPr>
        <p:spPr>
          <a:xfrm>
            <a:off x="5118100" y="2095500"/>
            <a:ext cx="1460500" cy="508000"/>
          </a:xfrm>
          <a:prstGeom prst="rect">
            <a:avLst/>
          </a:prstGeom>
          <a:noFill/>
        </p:spPr>
        <p:txBody>
          <a:bodyPr wrap="square" lIns="0" rIns="0" tIns="0" bIns="0" anchor="b">
            <a:spAutoFit/>
          </a:bodyPr>
          <a:lstStyle/>
          <a:p>
            <a:pPr algn="ctr">
              <a:lnSpc>
                <a:spcPct val="125000"/>
              </a:lnSpc>
              <a:spcAft>
                <a:spcPts val="0"/>
              </a:spcAft>
            </a:pPr>
            <a:r>
              <a:rPr sz="1400" b="1" i="0">
                <a:solidFill>
                  <a:srgbClr val="0A2540"/>
                </a:solidFill>
                <a:latin typeface="DM Sans"/>
              </a:rPr>
              <a:t>Video-opnames</a:t>
            </a:r>
          </a:p>
        </p:txBody>
      </p:sp>
      <p:sp>
        <p:nvSpPr>
          <p:cNvPr id="10" name="TextBox 9"/>
          <p:cNvSpPr txBox="1"/>
          <p:nvPr/>
        </p:nvSpPr>
        <p:spPr>
          <a:xfrm>
            <a:off x="5118100" y="2628900"/>
            <a:ext cx="1460500" cy="228600"/>
          </a:xfrm>
          <a:prstGeom prst="rect">
            <a:avLst/>
          </a:prstGeom>
          <a:noFill/>
        </p:spPr>
        <p:txBody>
          <a:bodyPr wrap="square" lIns="0" rIns="0" tIns="0" bIns="0" anchor="t">
            <a:spAutoFit/>
          </a:bodyPr>
          <a:lstStyle/>
          <a:p>
            <a:pPr algn="ctr">
              <a:lnSpc>
                <a:spcPct val="125000"/>
              </a:lnSpc>
              <a:spcAft>
                <a:spcPts val="0"/>
              </a:spcAft>
            </a:pPr>
            <a:r>
              <a:rPr sz="1200" b="0" i="0">
                <a:solidFill>
                  <a:srgbClr val="5A6E80"/>
                </a:solidFill>
                <a:latin typeface="DM Sans"/>
              </a:rPr>
              <a:t>eCRF 44</a:t>
            </a:r>
          </a:p>
        </p:txBody>
      </p:sp>
      <p:sp>
        <p:nvSpPr>
          <p:cNvPr id="11" name="TextBox 10"/>
          <p:cNvSpPr txBox="1"/>
          <p:nvPr/>
        </p:nvSpPr>
        <p:spPr>
          <a:xfrm>
            <a:off x="6680200" y="2095500"/>
            <a:ext cx="1460500" cy="508000"/>
          </a:xfrm>
          <a:prstGeom prst="rect">
            <a:avLst/>
          </a:prstGeom>
          <a:noFill/>
        </p:spPr>
        <p:txBody>
          <a:bodyPr wrap="square" lIns="0" rIns="0" tIns="0" bIns="0" anchor="b">
            <a:spAutoFit/>
          </a:bodyPr>
          <a:lstStyle/>
          <a:p>
            <a:pPr algn="ctr">
              <a:lnSpc>
                <a:spcPct val="125000"/>
              </a:lnSpc>
              <a:spcAft>
                <a:spcPts val="0"/>
              </a:spcAft>
            </a:pPr>
            <a:r>
              <a:rPr sz="1400" b="1" i="0">
                <a:solidFill>
                  <a:srgbClr val="0A2540"/>
                </a:solidFill>
                <a:latin typeface="DM Sans"/>
              </a:rPr>
              <a:t>Interviews</a:t>
            </a:r>
          </a:p>
        </p:txBody>
      </p:sp>
      <p:sp>
        <p:nvSpPr>
          <p:cNvPr id="12" name="TextBox 11"/>
          <p:cNvSpPr txBox="1"/>
          <p:nvPr/>
        </p:nvSpPr>
        <p:spPr>
          <a:xfrm>
            <a:off x="6680200" y="2628900"/>
            <a:ext cx="1460500" cy="228600"/>
          </a:xfrm>
          <a:prstGeom prst="rect">
            <a:avLst/>
          </a:prstGeom>
          <a:noFill/>
        </p:spPr>
        <p:txBody>
          <a:bodyPr wrap="square" lIns="0" rIns="0" tIns="0" bIns="0" anchor="t">
            <a:spAutoFit/>
          </a:bodyPr>
          <a:lstStyle/>
          <a:p>
            <a:pPr algn="ctr">
              <a:lnSpc>
                <a:spcPct val="125000"/>
              </a:lnSpc>
              <a:spcAft>
                <a:spcPts val="0"/>
              </a:spcAft>
            </a:pPr>
            <a:r>
              <a:rPr sz="1200" b="0" i="0">
                <a:solidFill>
                  <a:srgbClr val="5A6E80"/>
                </a:solidFill>
                <a:latin typeface="DM Sans"/>
              </a:rPr>
              <a:t>eCRF 41 en 42</a:t>
            </a:r>
          </a:p>
        </p:txBody>
      </p:sp>
      <p:sp>
        <p:nvSpPr>
          <p:cNvPr id="13" name="TextBox 12"/>
          <p:cNvSpPr txBox="1"/>
          <p:nvPr/>
        </p:nvSpPr>
        <p:spPr>
          <a:xfrm>
            <a:off x="8242300" y="2095500"/>
            <a:ext cx="1460500" cy="508000"/>
          </a:xfrm>
          <a:prstGeom prst="rect">
            <a:avLst/>
          </a:prstGeom>
          <a:noFill/>
        </p:spPr>
        <p:txBody>
          <a:bodyPr wrap="square" lIns="0" rIns="0" tIns="0" bIns="0" anchor="b">
            <a:spAutoFit/>
          </a:bodyPr>
          <a:lstStyle/>
          <a:p>
            <a:pPr algn="ctr">
              <a:lnSpc>
                <a:spcPct val="125000"/>
              </a:lnSpc>
              <a:spcAft>
                <a:spcPts val="0"/>
              </a:spcAft>
            </a:pPr>
            <a:r>
              <a:rPr sz="1400" b="1" i="0">
                <a:solidFill>
                  <a:srgbClr val="0A2540"/>
                </a:solidFill>
                <a:latin typeface="DM Sans"/>
              </a:rPr>
              <a:t>Community of practice</a:t>
            </a:r>
          </a:p>
        </p:txBody>
      </p:sp>
      <p:sp>
        <p:nvSpPr>
          <p:cNvPr id="14" name="TextBox 13"/>
          <p:cNvSpPr txBox="1"/>
          <p:nvPr/>
        </p:nvSpPr>
        <p:spPr>
          <a:xfrm>
            <a:off x="8242300" y="2628900"/>
            <a:ext cx="1460500" cy="228600"/>
          </a:xfrm>
          <a:prstGeom prst="rect">
            <a:avLst/>
          </a:prstGeom>
          <a:noFill/>
        </p:spPr>
        <p:txBody>
          <a:bodyPr wrap="square" lIns="0" rIns="0" tIns="0" bIns="0" anchor="t">
            <a:spAutoFit/>
          </a:bodyPr>
          <a:lstStyle/>
          <a:p>
            <a:pPr algn="ctr">
              <a:lnSpc>
                <a:spcPct val="125000"/>
              </a:lnSpc>
              <a:spcAft>
                <a:spcPts val="0"/>
              </a:spcAft>
            </a:pPr>
            <a:r>
              <a:rPr sz="1200" b="0" i="0">
                <a:solidFill>
                  <a:srgbClr val="5A6E80"/>
                </a:solidFill>
                <a:latin typeface="DM Sans"/>
              </a:rPr>
              <a:t>elke 6 maanden</a:t>
            </a:r>
          </a:p>
        </p:txBody>
      </p:sp>
      <p:sp>
        <p:nvSpPr>
          <p:cNvPr id="15" name="TextBox 14"/>
          <p:cNvSpPr txBox="1"/>
          <p:nvPr/>
        </p:nvSpPr>
        <p:spPr>
          <a:xfrm>
            <a:off x="9804400" y="2095500"/>
            <a:ext cx="1460500" cy="508000"/>
          </a:xfrm>
          <a:prstGeom prst="rect">
            <a:avLst/>
          </a:prstGeom>
          <a:noFill/>
        </p:spPr>
        <p:txBody>
          <a:bodyPr wrap="square" lIns="0" rIns="0" tIns="0" bIns="0" anchor="b">
            <a:spAutoFit/>
          </a:bodyPr>
          <a:lstStyle/>
          <a:p>
            <a:pPr algn="ctr">
              <a:lnSpc>
                <a:spcPct val="125000"/>
              </a:lnSpc>
              <a:spcAft>
                <a:spcPts val="0"/>
              </a:spcAft>
            </a:pPr>
            <a:r>
              <a:rPr sz="1400" b="1" i="0">
                <a:solidFill>
                  <a:srgbClr val="0A2540"/>
                </a:solidFill>
                <a:latin typeface="DM Sans"/>
              </a:rPr>
              <a:t>Trialmonitoring</a:t>
            </a:r>
          </a:p>
        </p:txBody>
      </p:sp>
      <p:sp>
        <p:nvSpPr>
          <p:cNvPr id="16" name="TextBox 15"/>
          <p:cNvSpPr txBox="1"/>
          <p:nvPr/>
        </p:nvSpPr>
        <p:spPr>
          <a:xfrm>
            <a:off x="9804400" y="2628900"/>
            <a:ext cx="1460500" cy="228600"/>
          </a:xfrm>
          <a:prstGeom prst="rect">
            <a:avLst/>
          </a:prstGeom>
          <a:noFill/>
        </p:spPr>
        <p:txBody>
          <a:bodyPr wrap="square" lIns="0" rIns="0" tIns="0" bIns="0" anchor="t">
            <a:spAutoFit/>
          </a:bodyPr>
          <a:lstStyle/>
          <a:p>
            <a:pPr algn="ctr">
              <a:lnSpc>
                <a:spcPct val="125000"/>
              </a:lnSpc>
              <a:spcAft>
                <a:spcPts val="0"/>
              </a:spcAft>
            </a:pPr>
            <a:r>
              <a:rPr sz="1200" b="0" i="0">
                <a:solidFill>
                  <a:srgbClr val="5A6E80"/>
                </a:solidFill>
                <a:latin typeface="DM Sans"/>
              </a:rPr>
              <a:t>screening, AE</a:t>
            </a:r>
          </a:p>
        </p:txBody>
      </p:sp>
      <p:cxnSp>
        <p:nvCxnSpPr>
          <p:cNvPr id="17" name="Connector 16"/>
          <p:cNvCxnSpPr/>
          <p:nvPr/>
        </p:nvCxnSpPr>
        <p:spPr>
          <a:xfrm>
            <a:off x="812800" y="31750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12800" y="3429000"/>
            <a:ext cx="2730500" cy="381000"/>
          </a:xfrm>
          <a:prstGeom prst="rect">
            <a:avLst/>
          </a:prstGeom>
          <a:noFill/>
        </p:spPr>
        <p:txBody>
          <a:bodyPr wrap="square" lIns="0" rIns="0" tIns="0" bIns="0" anchor="t">
            <a:spAutoFit/>
          </a:bodyPr>
          <a:lstStyle/>
          <a:p>
            <a:pPr algn="l">
              <a:lnSpc>
                <a:spcPct val="125000"/>
              </a:lnSpc>
              <a:spcAft>
                <a:spcPts val="0"/>
              </a:spcAft>
            </a:pPr>
            <a:r>
              <a:rPr sz="1800" b="0" i="0">
                <a:solidFill>
                  <a:srgbClr val="0A2540"/>
                </a:solidFill>
                <a:latin typeface="DM Serif Display"/>
              </a:rPr>
              <a:t>Implementatie</a:t>
            </a:r>
          </a:p>
        </p:txBody>
      </p:sp>
      <p:sp>
        <p:nvSpPr>
          <p:cNvPr id="19" name="Oval 18"/>
          <p:cNvSpPr/>
          <p:nvPr/>
        </p:nvSpPr>
        <p:spPr>
          <a:xfrm>
            <a:off x="4178300" y="3479800"/>
            <a:ext cx="215900" cy="2159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40400" y="3479800"/>
            <a:ext cx="215900" cy="2159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02500" y="3479800"/>
            <a:ext cx="215900" cy="2159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864600" y="3479800"/>
            <a:ext cx="215900" cy="2159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26700" y="3479800"/>
            <a:ext cx="215900" cy="2159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812800" y="40005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12800" y="4254500"/>
            <a:ext cx="2730500" cy="381000"/>
          </a:xfrm>
          <a:prstGeom prst="rect">
            <a:avLst/>
          </a:prstGeom>
          <a:noFill/>
        </p:spPr>
        <p:txBody>
          <a:bodyPr wrap="square" lIns="0" rIns="0" tIns="0" bIns="0" anchor="t">
            <a:spAutoFit/>
          </a:bodyPr>
          <a:lstStyle/>
          <a:p>
            <a:pPr algn="l">
              <a:lnSpc>
                <a:spcPct val="125000"/>
              </a:lnSpc>
              <a:spcAft>
                <a:spcPts val="0"/>
              </a:spcAft>
            </a:pPr>
            <a:r>
              <a:rPr sz="1800" b="0" i="0">
                <a:solidFill>
                  <a:srgbClr val="0A2540"/>
                </a:solidFill>
                <a:latin typeface="DM Serif Display"/>
              </a:rPr>
              <a:t>Werkingsmechanismen</a:t>
            </a:r>
          </a:p>
        </p:txBody>
      </p:sp>
      <p:cxnSp>
        <p:nvCxnSpPr>
          <p:cNvPr id="26" name="Connector 25"/>
          <p:cNvCxnSpPr/>
          <p:nvPr/>
        </p:nvCxnSpPr>
        <p:spPr>
          <a:xfrm>
            <a:off x="4197350" y="4413250"/>
            <a:ext cx="177800" cy="0"/>
          </a:xfrm>
          <a:prstGeom prst="line">
            <a:avLst/>
          </a:prstGeom>
          <a:ln w="12700">
            <a:solidFill>
              <a:srgbClr val="9FB3C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759450" y="4413250"/>
            <a:ext cx="177800" cy="0"/>
          </a:xfrm>
          <a:prstGeom prst="line">
            <a:avLst/>
          </a:prstGeom>
          <a:ln w="12700">
            <a:solidFill>
              <a:srgbClr val="9FB3C6"/>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7302500" y="4305300"/>
            <a:ext cx="215900" cy="2159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8883650" y="4413250"/>
            <a:ext cx="177800" cy="0"/>
          </a:xfrm>
          <a:prstGeom prst="line">
            <a:avLst/>
          </a:prstGeom>
          <a:ln w="12700">
            <a:solidFill>
              <a:srgbClr val="9FB3C6"/>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0426700" y="4305300"/>
            <a:ext cx="215900" cy="2159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812800" y="48260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12800" y="5080000"/>
            <a:ext cx="2730500" cy="381000"/>
          </a:xfrm>
          <a:prstGeom prst="rect">
            <a:avLst/>
          </a:prstGeom>
          <a:noFill/>
        </p:spPr>
        <p:txBody>
          <a:bodyPr wrap="square" lIns="0" rIns="0" tIns="0" bIns="0" anchor="t">
            <a:spAutoFit/>
          </a:bodyPr>
          <a:lstStyle/>
          <a:p>
            <a:pPr algn="l">
              <a:lnSpc>
                <a:spcPct val="125000"/>
              </a:lnSpc>
              <a:spcAft>
                <a:spcPts val="0"/>
              </a:spcAft>
            </a:pPr>
            <a:r>
              <a:rPr sz="1800" b="0" i="0">
                <a:solidFill>
                  <a:srgbClr val="0A2540"/>
                </a:solidFill>
                <a:latin typeface="DM Serif Display"/>
              </a:rPr>
              <a:t>Context</a:t>
            </a:r>
          </a:p>
        </p:txBody>
      </p:sp>
      <p:cxnSp>
        <p:nvCxnSpPr>
          <p:cNvPr id="33" name="Connector 32"/>
          <p:cNvCxnSpPr/>
          <p:nvPr/>
        </p:nvCxnSpPr>
        <p:spPr>
          <a:xfrm>
            <a:off x="4197350" y="5238750"/>
            <a:ext cx="177800" cy="0"/>
          </a:xfrm>
          <a:prstGeom prst="line">
            <a:avLst/>
          </a:prstGeom>
          <a:ln w="12700">
            <a:solidFill>
              <a:srgbClr val="9FB3C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759450" y="5238750"/>
            <a:ext cx="177800" cy="0"/>
          </a:xfrm>
          <a:prstGeom prst="line">
            <a:avLst/>
          </a:prstGeom>
          <a:ln w="12700">
            <a:solidFill>
              <a:srgbClr val="9FB3C6"/>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302500" y="5130800"/>
            <a:ext cx="215900" cy="2159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64600" y="5130800"/>
            <a:ext cx="215900" cy="2159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10445750" y="5238750"/>
            <a:ext cx="177800" cy="0"/>
          </a:xfrm>
          <a:prstGeom prst="line">
            <a:avLst/>
          </a:prstGeom>
          <a:ln w="12700">
            <a:solidFill>
              <a:srgbClr val="9FB3C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12800" y="56515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z1"/>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Interviews: drie groepen, elk op hun eigen moment</a:t>
            </a:r>
          </a:p>
        </p:txBody>
      </p:sp>
      <p:pic>
        <p:nvPicPr>
          <p:cNvPr id="4" name="Picture 3" descr="merk.png"/>
          <p:cNvPicPr>
            <a:picLocks noChangeAspect="1"/>
          </p:cNvPicPr>
          <p:nvPr/>
        </p:nvPicPr>
        <p:blipFill>
          <a:blip r:embed="rId2"/>
          <a:stretch>
            <a:fillRect/>
          </a:stretch>
        </p:blipFill>
        <p:spPr>
          <a:xfrm>
            <a:off x="812800" y="6261100"/>
            <a:ext cx="177800" cy="203200"/>
          </a:xfrm>
          <a:prstGeom prst="rect">
            <a:avLst/>
          </a:prstGeom>
        </p:spPr>
      </p:pic>
      <p:sp>
        <p:nvSpPr>
          <p:cNvPr id="5" name="TextBox 4"/>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Procesevaluatie</a:t>
            </a:r>
          </a:p>
        </p:txBody>
      </p:sp>
      <p:sp>
        <p:nvSpPr>
          <p:cNvPr id="6" name="TextBox 5"/>
          <p:cNvSpPr txBox="1"/>
          <p:nvPr/>
        </p:nvSpPr>
        <p:spPr>
          <a:xfrm>
            <a:off x="5207000" y="6261100"/>
            <a:ext cx="6172200" cy="203200"/>
          </a:xfrm>
          <a:prstGeom prst="rect">
            <a:avLst/>
          </a:prstGeom>
          <a:noFill/>
        </p:spPr>
        <p:txBody>
          <a:bodyPr wrap="square" lIns="0" rIns="0" tIns="0" bIns="0" anchor="t">
            <a:spAutoFit/>
          </a:bodyPr>
          <a:lstStyle/>
          <a:p>
            <a:pPr algn="r">
              <a:lnSpc>
                <a:spcPct val="125000"/>
              </a:lnSpc>
              <a:spcAft>
                <a:spcPts val="0"/>
              </a:spcAft>
            </a:pPr>
            <a:r>
              <a:rPr sz="1380" b="0" i="0">
                <a:solidFill>
                  <a:srgbClr val="5A6E80"/>
                </a:solidFill>
                <a:latin typeface="DM Sans"/>
              </a:rPr>
              <a:t>Bron: eCRF 39 · protocol §5.2.3 en §5.2.4 · eCRF 04 en 05</a:t>
            </a:r>
          </a:p>
        </p:txBody>
      </p:sp>
      <p:cxnSp>
        <p:nvCxnSpPr>
          <p:cNvPr id="7" name="Connector 6"/>
          <p:cNvCxnSpPr/>
          <p:nvPr/>
        </p:nvCxnSpPr>
        <p:spPr>
          <a:xfrm>
            <a:off x="812800" y="2095500"/>
            <a:ext cx="3302000" cy="0"/>
          </a:xfrm>
          <a:prstGeom prst="line">
            <a:avLst/>
          </a:prstGeom>
          <a:ln w="19050">
            <a:solidFill>
              <a:srgbClr val="0B6E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2800" y="2260600"/>
            <a:ext cx="3302000" cy="381000"/>
          </a:xfrm>
          <a:prstGeom prst="rect">
            <a:avLst/>
          </a:prstGeom>
          <a:noFill/>
        </p:spPr>
        <p:txBody>
          <a:bodyPr wrap="square" lIns="0" rIns="0" tIns="0" bIns="0" anchor="t">
            <a:spAutoFit/>
          </a:bodyPr>
          <a:lstStyle/>
          <a:p>
            <a:pPr algn="l">
              <a:lnSpc>
                <a:spcPct val="125000"/>
              </a:lnSpc>
              <a:spcAft>
                <a:spcPts val="0"/>
              </a:spcAft>
            </a:pPr>
            <a:r>
              <a:rPr sz="2529" b="0" i="0">
                <a:solidFill>
                  <a:srgbClr val="0A2540"/>
                </a:solidFill>
                <a:latin typeface="DM Serif Display"/>
              </a:rPr>
              <a:t>Patiënten</a:t>
            </a:r>
          </a:p>
        </p:txBody>
      </p:sp>
      <p:sp>
        <p:nvSpPr>
          <p:cNvPr id="9" name="TextBox 8"/>
          <p:cNvSpPr txBox="1"/>
          <p:nvPr/>
        </p:nvSpPr>
        <p:spPr>
          <a:xfrm>
            <a:off x="812800" y="2667000"/>
            <a:ext cx="3302000" cy="2286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eCRF 41</a:t>
            </a:r>
          </a:p>
        </p:txBody>
      </p:sp>
      <p:sp>
        <p:nvSpPr>
          <p:cNvPr id="10" name="TextBox 9"/>
          <p:cNvSpPr txBox="1"/>
          <p:nvPr/>
        </p:nvSpPr>
        <p:spPr>
          <a:xfrm>
            <a:off x="812800" y="3048000"/>
            <a:ext cx="3302000" cy="762000"/>
          </a:xfrm>
          <a:prstGeom prst="rect">
            <a:avLst/>
          </a:prstGeom>
          <a:noFill/>
        </p:spPr>
        <p:txBody>
          <a:bodyPr wrap="square" lIns="0" rIns="0" tIns="0" bIns="0" anchor="t">
            <a:spAutoFit/>
          </a:bodyPr>
          <a:lstStyle/>
          <a:p>
            <a:pPr algn="l">
              <a:lnSpc>
                <a:spcPct val="100000"/>
              </a:lnSpc>
              <a:spcAft>
                <a:spcPts val="0"/>
              </a:spcAft>
            </a:pPr>
            <a:r>
              <a:rPr sz="4800" b="0" i="0">
                <a:solidFill>
                  <a:srgbClr val="0B6E8F"/>
                </a:solidFill>
                <a:latin typeface="DM Serif Display"/>
              </a:rPr>
              <a:t>16</a:t>
            </a:r>
          </a:p>
        </p:txBody>
      </p:sp>
      <p:sp>
        <p:nvSpPr>
          <p:cNvPr id="11" name="TextBox 10"/>
          <p:cNvSpPr txBox="1"/>
          <p:nvPr/>
        </p:nvSpPr>
        <p:spPr>
          <a:xfrm>
            <a:off x="812800" y="4000500"/>
            <a:ext cx="3302000" cy="762000"/>
          </a:xfrm>
          <a:prstGeom prst="rect">
            <a:avLst/>
          </a:prstGeom>
          <a:noFill/>
        </p:spPr>
        <p:txBody>
          <a:bodyPr wrap="square" lIns="0" rIns="0" tIns="0" bIns="0" anchor="t">
            <a:spAutoFit/>
          </a:bodyPr>
          <a:lstStyle/>
          <a:p>
            <a:pPr algn="l">
              <a:lnSpc>
                <a:spcPct val="125000"/>
              </a:lnSpc>
              <a:spcAft>
                <a:spcPts val="0"/>
              </a:spcAft>
            </a:pPr>
            <a:r>
              <a:rPr sz="1609" b="0" i="0">
                <a:solidFill>
                  <a:srgbClr val="3A4F63"/>
                </a:solidFill>
                <a:latin typeface="DM Sans"/>
              </a:rPr>
              <a:t>tot twee maanden na de laatste PARADISE-sessie</a:t>
            </a:r>
          </a:p>
        </p:txBody>
      </p:sp>
      <p:cxnSp>
        <p:nvCxnSpPr>
          <p:cNvPr id="12" name="Connector 11"/>
          <p:cNvCxnSpPr/>
          <p:nvPr/>
        </p:nvCxnSpPr>
        <p:spPr>
          <a:xfrm>
            <a:off x="4419600" y="2095500"/>
            <a:ext cx="3302000" cy="0"/>
          </a:xfrm>
          <a:prstGeom prst="line">
            <a:avLst/>
          </a:prstGeom>
          <a:ln w="19050">
            <a:solidFill>
              <a:srgbClr val="0B6E8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19600" y="2260600"/>
            <a:ext cx="3302000" cy="381000"/>
          </a:xfrm>
          <a:prstGeom prst="rect">
            <a:avLst/>
          </a:prstGeom>
          <a:noFill/>
        </p:spPr>
        <p:txBody>
          <a:bodyPr wrap="square" lIns="0" rIns="0" tIns="0" bIns="0" anchor="t">
            <a:spAutoFit/>
          </a:bodyPr>
          <a:lstStyle/>
          <a:p>
            <a:pPr algn="l">
              <a:lnSpc>
                <a:spcPct val="125000"/>
              </a:lnSpc>
              <a:spcAft>
                <a:spcPts val="0"/>
              </a:spcAft>
            </a:pPr>
            <a:r>
              <a:rPr sz="2529" b="0" i="0">
                <a:solidFill>
                  <a:srgbClr val="0A2540"/>
                </a:solidFill>
                <a:latin typeface="DM Serif Display"/>
              </a:rPr>
              <a:t>Therapeuten</a:t>
            </a:r>
          </a:p>
        </p:txBody>
      </p:sp>
      <p:sp>
        <p:nvSpPr>
          <p:cNvPr id="14" name="TextBox 13"/>
          <p:cNvSpPr txBox="1"/>
          <p:nvPr/>
        </p:nvSpPr>
        <p:spPr>
          <a:xfrm>
            <a:off x="4419600" y="2667000"/>
            <a:ext cx="3302000" cy="2286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eCRF 42</a:t>
            </a:r>
          </a:p>
        </p:txBody>
      </p:sp>
      <p:sp>
        <p:nvSpPr>
          <p:cNvPr id="15" name="TextBox 14"/>
          <p:cNvSpPr txBox="1"/>
          <p:nvPr/>
        </p:nvSpPr>
        <p:spPr>
          <a:xfrm>
            <a:off x="4419600" y="3048000"/>
            <a:ext cx="3302000" cy="762000"/>
          </a:xfrm>
          <a:prstGeom prst="rect">
            <a:avLst/>
          </a:prstGeom>
          <a:noFill/>
        </p:spPr>
        <p:txBody>
          <a:bodyPr wrap="square" lIns="0" rIns="0" tIns="0" bIns="0" anchor="t">
            <a:spAutoFit/>
          </a:bodyPr>
          <a:lstStyle/>
          <a:p>
            <a:pPr algn="l">
              <a:lnSpc>
                <a:spcPct val="100000"/>
              </a:lnSpc>
              <a:spcAft>
                <a:spcPts val="0"/>
              </a:spcAft>
            </a:pPr>
            <a:r>
              <a:rPr sz="4800" b="0" i="0">
                <a:solidFill>
                  <a:srgbClr val="0B6E8F"/>
                </a:solidFill>
                <a:latin typeface="DM Serif Display"/>
              </a:rPr>
              <a:t>16</a:t>
            </a:r>
          </a:p>
        </p:txBody>
      </p:sp>
      <p:sp>
        <p:nvSpPr>
          <p:cNvPr id="16" name="TextBox 15"/>
          <p:cNvSpPr txBox="1"/>
          <p:nvPr/>
        </p:nvSpPr>
        <p:spPr>
          <a:xfrm>
            <a:off x="4419600" y="4000500"/>
            <a:ext cx="3302000" cy="762000"/>
          </a:xfrm>
          <a:prstGeom prst="rect">
            <a:avLst/>
          </a:prstGeom>
          <a:noFill/>
        </p:spPr>
        <p:txBody>
          <a:bodyPr wrap="square" lIns="0" rIns="0" tIns="0" bIns="0" anchor="t">
            <a:spAutoFit/>
          </a:bodyPr>
          <a:lstStyle/>
          <a:p>
            <a:pPr algn="l">
              <a:lnSpc>
                <a:spcPct val="125000"/>
              </a:lnSpc>
              <a:spcAft>
                <a:spcPts val="0"/>
              </a:spcAft>
            </a:pPr>
            <a:r>
              <a:rPr sz="1609" b="0" i="0">
                <a:solidFill>
                  <a:srgbClr val="3A4F63"/>
                </a:solidFill>
                <a:latin typeface="DM Sans"/>
              </a:rPr>
              <a:t>elke zes maanden en op het einde · 60 tot 90 minuten</a:t>
            </a:r>
          </a:p>
        </p:txBody>
      </p:sp>
      <p:cxnSp>
        <p:nvCxnSpPr>
          <p:cNvPr id="17" name="Connector 16"/>
          <p:cNvCxnSpPr/>
          <p:nvPr/>
        </p:nvCxnSpPr>
        <p:spPr>
          <a:xfrm>
            <a:off x="8026400" y="2095500"/>
            <a:ext cx="3302000" cy="0"/>
          </a:xfrm>
          <a:prstGeom prst="line">
            <a:avLst/>
          </a:prstGeom>
          <a:ln w="19050">
            <a:solidFill>
              <a:srgbClr val="0B6E8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026400" y="2260600"/>
            <a:ext cx="3302000" cy="381000"/>
          </a:xfrm>
          <a:prstGeom prst="rect">
            <a:avLst/>
          </a:prstGeom>
          <a:noFill/>
        </p:spPr>
        <p:txBody>
          <a:bodyPr wrap="square" lIns="0" rIns="0" tIns="0" bIns="0" anchor="t">
            <a:spAutoFit/>
          </a:bodyPr>
          <a:lstStyle/>
          <a:p>
            <a:pPr algn="l">
              <a:lnSpc>
                <a:spcPct val="125000"/>
              </a:lnSpc>
              <a:spcAft>
                <a:spcPts val="0"/>
              </a:spcAft>
            </a:pPr>
            <a:r>
              <a:rPr sz="2529" b="0" i="0">
                <a:solidFill>
                  <a:srgbClr val="0A2540"/>
                </a:solidFill>
                <a:latin typeface="DM Serif Display"/>
              </a:rPr>
              <a:t>Management</a:t>
            </a:r>
          </a:p>
        </p:txBody>
      </p:sp>
      <p:sp>
        <p:nvSpPr>
          <p:cNvPr id="19" name="TextBox 18"/>
          <p:cNvSpPr txBox="1"/>
          <p:nvPr/>
        </p:nvSpPr>
        <p:spPr>
          <a:xfrm>
            <a:off x="8026400" y="2667000"/>
            <a:ext cx="3302000" cy="2286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eCRF 43</a:t>
            </a:r>
          </a:p>
        </p:txBody>
      </p:sp>
      <p:sp>
        <p:nvSpPr>
          <p:cNvPr id="20" name="TextBox 19"/>
          <p:cNvSpPr txBox="1"/>
          <p:nvPr/>
        </p:nvSpPr>
        <p:spPr>
          <a:xfrm>
            <a:off x="8026400" y="3048000"/>
            <a:ext cx="3302000" cy="762000"/>
          </a:xfrm>
          <a:prstGeom prst="rect">
            <a:avLst/>
          </a:prstGeom>
          <a:noFill/>
        </p:spPr>
        <p:txBody>
          <a:bodyPr wrap="square" lIns="0" rIns="0" tIns="0" bIns="0" anchor="t">
            <a:spAutoFit/>
          </a:bodyPr>
          <a:lstStyle/>
          <a:p>
            <a:pPr algn="l">
              <a:lnSpc>
                <a:spcPct val="100000"/>
              </a:lnSpc>
              <a:spcAft>
                <a:spcPts val="0"/>
              </a:spcAft>
            </a:pPr>
            <a:r>
              <a:rPr sz="2990" b="0" i="0">
                <a:solidFill>
                  <a:srgbClr val="0B6E8F"/>
                </a:solidFill>
                <a:latin typeface="DM Serif Display"/>
              </a:rPr>
              <a:t>PI + coördinator</a:t>
            </a:r>
          </a:p>
        </p:txBody>
      </p:sp>
      <p:sp>
        <p:nvSpPr>
          <p:cNvPr id="21" name="TextBox 20"/>
          <p:cNvSpPr txBox="1"/>
          <p:nvPr/>
        </p:nvSpPr>
        <p:spPr>
          <a:xfrm>
            <a:off x="8026400" y="4000500"/>
            <a:ext cx="3302000" cy="762000"/>
          </a:xfrm>
          <a:prstGeom prst="rect">
            <a:avLst/>
          </a:prstGeom>
          <a:noFill/>
        </p:spPr>
        <p:txBody>
          <a:bodyPr wrap="square" lIns="0" rIns="0" tIns="0" bIns="0" anchor="t">
            <a:spAutoFit/>
          </a:bodyPr>
          <a:lstStyle/>
          <a:p>
            <a:pPr algn="l">
              <a:lnSpc>
                <a:spcPct val="125000"/>
              </a:lnSpc>
              <a:spcAft>
                <a:spcPts val="0"/>
              </a:spcAft>
            </a:pPr>
            <a:r>
              <a:rPr sz="1609" b="0" i="0">
                <a:solidFill>
                  <a:srgbClr val="3A4F63"/>
                </a:solidFill>
                <a:latin typeface="DM Sans"/>
              </a:rPr>
              <a:t>op het einde van de studie · 60 tot 90 minuten</a:t>
            </a:r>
          </a:p>
        </p:txBody>
      </p:sp>
      <p:cxnSp>
        <p:nvCxnSpPr>
          <p:cNvPr id="22" name="Connector 21"/>
          <p:cNvCxnSpPr/>
          <p:nvPr/>
        </p:nvCxnSpPr>
        <p:spPr>
          <a:xfrm>
            <a:off x="812800" y="50800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z1"/>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Fideliteit: elk scriptonderdeel krijgt een score</a:t>
            </a:r>
          </a:p>
        </p:txBody>
      </p:sp>
      <p:pic>
        <p:nvPicPr>
          <p:cNvPr id="4" name="Picture 3" descr="merk.png"/>
          <p:cNvPicPr>
            <a:picLocks noChangeAspect="1"/>
          </p:cNvPicPr>
          <p:nvPr/>
        </p:nvPicPr>
        <p:blipFill>
          <a:blip r:embed="rId2"/>
          <a:stretch>
            <a:fillRect/>
          </a:stretch>
        </p:blipFill>
        <p:spPr>
          <a:xfrm>
            <a:off x="812800" y="6261100"/>
            <a:ext cx="177800" cy="203200"/>
          </a:xfrm>
          <a:prstGeom prst="rect">
            <a:avLst/>
          </a:prstGeom>
        </p:spPr>
      </p:pic>
      <p:sp>
        <p:nvSpPr>
          <p:cNvPr id="5" name="TextBox 4"/>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Procesevaluatie</a:t>
            </a:r>
          </a:p>
        </p:txBody>
      </p:sp>
      <p:sp>
        <p:nvSpPr>
          <p:cNvPr id="6" name="TextBox 5"/>
          <p:cNvSpPr txBox="1"/>
          <p:nvPr/>
        </p:nvSpPr>
        <p:spPr>
          <a:xfrm>
            <a:off x="5207000" y="6261100"/>
            <a:ext cx="6172200" cy="203200"/>
          </a:xfrm>
          <a:prstGeom prst="rect">
            <a:avLst/>
          </a:prstGeom>
          <a:noFill/>
        </p:spPr>
        <p:txBody>
          <a:bodyPr wrap="square" lIns="0" rIns="0" tIns="0" bIns="0" anchor="t">
            <a:spAutoFit/>
          </a:bodyPr>
          <a:lstStyle/>
          <a:p>
            <a:pPr algn="r">
              <a:lnSpc>
                <a:spcPct val="125000"/>
              </a:lnSpc>
              <a:spcAft>
                <a:spcPts val="0"/>
              </a:spcAft>
            </a:pPr>
            <a:r>
              <a:rPr sz="1380" b="0" i="0">
                <a:solidFill>
                  <a:srgbClr val="5A6E80"/>
                </a:solidFill>
                <a:latin typeface="DM Sans"/>
              </a:rPr>
              <a:t>Bron: eCRF 44 (fidelity checklist) · eCRF 17 (SEBIA-script)</a:t>
            </a:r>
          </a:p>
        </p:txBody>
      </p:sp>
      <p:sp>
        <p:nvSpPr>
          <p:cNvPr id="7" name="TextBox 6"/>
          <p:cNvSpPr txBox="1"/>
          <p:nvPr/>
        </p:nvSpPr>
        <p:spPr>
          <a:xfrm>
            <a:off x="812800" y="2095500"/>
            <a:ext cx="1905000" cy="1270000"/>
          </a:xfrm>
          <a:prstGeom prst="rect">
            <a:avLst/>
          </a:prstGeom>
          <a:noFill/>
        </p:spPr>
        <p:txBody>
          <a:bodyPr wrap="square" lIns="0" rIns="0" tIns="0" bIns="0" anchor="t">
            <a:spAutoFit/>
          </a:bodyPr>
          <a:lstStyle/>
          <a:p>
            <a:pPr algn="l">
              <a:lnSpc>
                <a:spcPct val="90000"/>
              </a:lnSpc>
              <a:spcAft>
                <a:spcPts val="0"/>
              </a:spcAft>
            </a:pPr>
            <a:r>
              <a:rPr sz="9000" b="0" i="0">
                <a:solidFill>
                  <a:srgbClr val="0B6E8F"/>
                </a:solidFill>
                <a:latin typeface="DM Serif Display"/>
              </a:rPr>
              <a:t>0</a:t>
            </a:r>
          </a:p>
        </p:txBody>
      </p:sp>
      <p:sp>
        <p:nvSpPr>
          <p:cNvPr id="8" name="TextBox 7"/>
          <p:cNvSpPr txBox="1"/>
          <p:nvPr/>
        </p:nvSpPr>
        <p:spPr>
          <a:xfrm>
            <a:off x="812800" y="3429000"/>
            <a:ext cx="2095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0A2540"/>
                </a:solidFill>
                <a:latin typeface="DM Sans"/>
              </a:rPr>
              <a:t>niet uitgevoerd</a:t>
            </a:r>
          </a:p>
        </p:txBody>
      </p:sp>
      <p:sp>
        <p:nvSpPr>
          <p:cNvPr id="9" name="TextBox 8"/>
          <p:cNvSpPr txBox="1"/>
          <p:nvPr/>
        </p:nvSpPr>
        <p:spPr>
          <a:xfrm>
            <a:off x="3225800" y="2095500"/>
            <a:ext cx="1905000" cy="1270000"/>
          </a:xfrm>
          <a:prstGeom prst="rect">
            <a:avLst/>
          </a:prstGeom>
          <a:noFill/>
        </p:spPr>
        <p:txBody>
          <a:bodyPr wrap="square" lIns="0" rIns="0" tIns="0" bIns="0" anchor="t">
            <a:spAutoFit/>
          </a:bodyPr>
          <a:lstStyle/>
          <a:p>
            <a:pPr algn="l">
              <a:lnSpc>
                <a:spcPct val="90000"/>
              </a:lnSpc>
              <a:spcAft>
                <a:spcPts val="0"/>
              </a:spcAft>
            </a:pPr>
            <a:r>
              <a:rPr sz="9000" b="0" i="0">
                <a:solidFill>
                  <a:srgbClr val="0B6E8F"/>
                </a:solidFill>
                <a:latin typeface="DM Serif Display"/>
              </a:rPr>
              <a:t>1</a:t>
            </a:r>
          </a:p>
        </p:txBody>
      </p:sp>
      <p:sp>
        <p:nvSpPr>
          <p:cNvPr id="10" name="TextBox 9"/>
          <p:cNvSpPr txBox="1"/>
          <p:nvPr/>
        </p:nvSpPr>
        <p:spPr>
          <a:xfrm>
            <a:off x="3225800" y="3429000"/>
            <a:ext cx="2095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0A2540"/>
                </a:solidFill>
                <a:latin typeface="DM Sans"/>
              </a:rPr>
              <a:t>gedeeltelijk</a:t>
            </a:r>
          </a:p>
        </p:txBody>
      </p:sp>
      <p:sp>
        <p:nvSpPr>
          <p:cNvPr id="11" name="TextBox 10"/>
          <p:cNvSpPr txBox="1"/>
          <p:nvPr/>
        </p:nvSpPr>
        <p:spPr>
          <a:xfrm>
            <a:off x="5638800" y="2095500"/>
            <a:ext cx="1905000" cy="1270000"/>
          </a:xfrm>
          <a:prstGeom prst="rect">
            <a:avLst/>
          </a:prstGeom>
          <a:noFill/>
        </p:spPr>
        <p:txBody>
          <a:bodyPr wrap="square" lIns="0" rIns="0" tIns="0" bIns="0" anchor="t">
            <a:spAutoFit/>
          </a:bodyPr>
          <a:lstStyle/>
          <a:p>
            <a:pPr algn="l">
              <a:lnSpc>
                <a:spcPct val="90000"/>
              </a:lnSpc>
              <a:spcAft>
                <a:spcPts val="0"/>
              </a:spcAft>
            </a:pPr>
            <a:r>
              <a:rPr sz="9000" b="0" i="0">
                <a:solidFill>
                  <a:srgbClr val="0B6E8F"/>
                </a:solidFill>
                <a:latin typeface="DM Serif Display"/>
              </a:rPr>
              <a:t>2</a:t>
            </a:r>
          </a:p>
        </p:txBody>
      </p:sp>
      <p:sp>
        <p:nvSpPr>
          <p:cNvPr id="12" name="TextBox 11"/>
          <p:cNvSpPr txBox="1"/>
          <p:nvPr/>
        </p:nvSpPr>
        <p:spPr>
          <a:xfrm>
            <a:off x="5638800" y="3429000"/>
            <a:ext cx="2095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0A2540"/>
                </a:solidFill>
                <a:latin typeface="DM Sans"/>
              </a:rPr>
              <a:t>volledig</a:t>
            </a:r>
          </a:p>
        </p:txBody>
      </p:sp>
      <p:cxnSp>
        <p:nvCxnSpPr>
          <p:cNvPr id="13" name="Connector 12"/>
          <p:cNvCxnSpPr/>
          <p:nvPr/>
        </p:nvCxnSpPr>
        <p:spPr>
          <a:xfrm>
            <a:off x="8191500" y="2159000"/>
            <a:ext cx="0" cy="190500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09000" y="2159000"/>
            <a:ext cx="2870200" cy="2032000"/>
          </a:xfrm>
          <a:prstGeom prst="rect">
            <a:avLst/>
          </a:prstGeom>
          <a:noFill/>
        </p:spPr>
        <p:txBody>
          <a:bodyPr wrap="square" lIns="0" rIns="0" tIns="0" bIns="0" anchor="t">
            <a:spAutoFit/>
          </a:bodyPr>
          <a:lstStyle/>
          <a:p>
            <a:pPr algn="l">
              <a:lnSpc>
                <a:spcPct val="125000"/>
              </a:lnSpc>
              <a:spcAft>
                <a:spcPts val="400"/>
              </a:spcAft>
            </a:pPr>
            <a:r>
              <a:rPr sz="1609" b="0" i="0">
                <a:solidFill>
                  <a:srgbClr val="3A4F63"/>
                </a:solidFill>
                <a:latin typeface="DM Sans"/>
              </a:rPr>
              <a:t>Ook gescoord:</a:t>
            </a:r>
          </a:p>
          <a:p>
            <a:pPr algn="l">
              <a:lnSpc>
                <a:spcPct val="125000"/>
              </a:lnSpc>
              <a:spcAft>
                <a:spcPts val="400"/>
              </a:spcAft>
            </a:pPr>
            <a:r>
              <a:rPr sz="1609" b="0" i="0">
                <a:solidFill>
                  <a:srgbClr val="3A4F63"/>
                </a:solidFill>
                <a:latin typeface="DM Sans"/>
              </a:rPr>
              <a:t>didactiek</a:t>
            </a:r>
          </a:p>
          <a:p>
            <a:pPr algn="l">
              <a:lnSpc>
                <a:spcPct val="125000"/>
              </a:lnSpc>
              <a:spcAft>
                <a:spcPts val="400"/>
              </a:spcAft>
            </a:pPr>
            <a:r>
              <a:rPr sz="1609" b="0" i="0">
                <a:solidFill>
                  <a:srgbClr val="3A4F63"/>
                </a:solidFill>
                <a:latin typeface="DM Sans"/>
              </a:rPr>
              <a:t>motiverende gespreksvoering</a:t>
            </a:r>
          </a:p>
          <a:p>
            <a:pPr algn="l">
              <a:lnSpc>
                <a:spcPct val="125000"/>
              </a:lnSpc>
              <a:spcAft>
                <a:spcPts val="400"/>
              </a:spcAft>
            </a:pPr>
            <a:r>
              <a:rPr sz="1609" b="0" i="0">
                <a:solidFill>
                  <a:srgbClr val="3A4F63"/>
                </a:solidFill>
                <a:latin typeface="DM Sans"/>
              </a:rPr>
              <a:t>wat de deelnemer kan navertellen</a:t>
            </a:r>
          </a:p>
        </p:txBody>
      </p:sp>
      <p:cxnSp>
        <p:nvCxnSpPr>
          <p:cNvPr id="15" name="Connector 14"/>
          <p:cNvCxnSpPr/>
          <p:nvPr/>
        </p:nvCxnSpPr>
        <p:spPr>
          <a:xfrm>
            <a:off x="812800" y="44450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2800" y="4597400"/>
            <a:ext cx="10566400" cy="317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Gescoord uit de video-opnames, per visite de onderdelen van die visite (V1 tot V8).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z1"/>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Wat uw team doet voor de procesevaluatie</a:t>
            </a:r>
          </a:p>
        </p:txBody>
      </p:sp>
      <p:pic>
        <p:nvPicPr>
          <p:cNvPr id="4" name="Picture 3" descr="merk.png"/>
          <p:cNvPicPr>
            <a:picLocks noChangeAspect="1"/>
          </p:cNvPicPr>
          <p:nvPr/>
        </p:nvPicPr>
        <p:blipFill>
          <a:blip r:embed="rId2"/>
          <a:stretch>
            <a:fillRect/>
          </a:stretch>
        </p:blipFill>
        <p:spPr>
          <a:xfrm>
            <a:off x="812800" y="6261100"/>
            <a:ext cx="177800" cy="203200"/>
          </a:xfrm>
          <a:prstGeom prst="rect">
            <a:avLst/>
          </a:prstGeom>
        </p:spPr>
      </p:pic>
      <p:sp>
        <p:nvSpPr>
          <p:cNvPr id="5" name="TextBox 4"/>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Procesevaluatie</a:t>
            </a:r>
          </a:p>
        </p:txBody>
      </p:sp>
      <p:sp>
        <p:nvSpPr>
          <p:cNvPr id="6" name="TextBox 5"/>
          <p:cNvSpPr txBox="1"/>
          <p:nvPr/>
        </p:nvSpPr>
        <p:spPr>
          <a:xfrm>
            <a:off x="5207000" y="6261100"/>
            <a:ext cx="6172200" cy="203200"/>
          </a:xfrm>
          <a:prstGeom prst="rect">
            <a:avLst/>
          </a:prstGeom>
          <a:noFill/>
        </p:spPr>
        <p:txBody>
          <a:bodyPr wrap="square" lIns="0" rIns="0" tIns="0" bIns="0" anchor="t">
            <a:spAutoFit/>
          </a:bodyPr>
          <a:lstStyle/>
          <a:p>
            <a:pPr algn="r">
              <a:lnSpc>
                <a:spcPct val="125000"/>
              </a:lnSpc>
              <a:spcAft>
                <a:spcPts val="0"/>
              </a:spcAft>
            </a:pPr>
            <a:r>
              <a:rPr sz="1380" b="0" i="0">
                <a:solidFill>
                  <a:srgbClr val="5A6E80"/>
                </a:solidFill>
                <a:latin typeface="DM Sans"/>
              </a:rPr>
              <a:t>Bron: eCRF 39 · eCRF 40 en 44 · toestemmingsformulier patiënt (eCRF 02)</a:t>
            </a:r>
          </a:p>
        </p:txBody>
      </p:sp>
      <p:cxnSp>
        <p:nvCxnSpPr>
          <p:cNvPr id="7" name="Connector 6"/>
          <p:cNvCxnSpPr/>
          <p:nvPr/>
        </p:nvCxnSpPr>
        <p:spPr>
          <a:xfrm>
            <a:off x="812800" y="20955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2800" y="2260600"/>
            <a:ext cx="2984500" cy="571500"/>
          </a:xfrm>
          <a:prstGeom prst="rect">
            <a:avLst/>
          </a:prstGeom>
          <a:noFill/>
        </p:spPr>
        <p:txBody>
          <a:bodyPr wrap="square" lIns="0" rIns="0" tIns="0" bIns="0" anchor="t">
            <a:spAutoFit/>
          </a:bodyPr>
          <a:lstStyle/>
          <a:p>
            <a:pPr algn="l">
              <a:lnSpc>
                <a:spcPct val="125000"/>
              </a:lnSpc>
              <a:spcAft>
                <a:spcPts val="0"/>
              </a:spcAft>
            </a:pPr>
            <a:r>
              <a:rPr sz="1954" b="0" i="0">
                <a:solidFill>
                  <a:srgbClr val="A34A00"/>
                </a:solidFill>
                <a:latin typeface="DM Serif Display"/>
              </a:rPr>
              <a:t>Na elke sessie</a:t>
            </a:r>
          </a:p>
        </p:txBody>
      </p:sp>
      <p:sp>
        <p:nvSpPr>
          <p:cNvPr id="9" name="TextBox 8"/>
          <p:cNvSpPr txBox="1"/>
          <p:nvPr/>
        </p:nvSpPr>
        <p:spPr>
          <a:xfrm>
            <a:off x="4064000" y="2273300"/>
            <a:ext cx="5715000" cy="698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Het dagboek invullen (eCRF 40)</a:t>
            </a:r>
          </a:p>
        </p:txBody>
      </p:sp>
      <p:sp>
        <p:nvSpPr>
          <p:cNvPr id="10" name="Rounded Rectangle 9"/>
          <p:cNvSpPr/>
          <p:nvPr/>
        </p:nvSpPr>
        <p:spPr>
          <a:xfrm>
            <a:off x="9677400" y="2247900"/>
            <a:ext cx="1701800" cy="355600"/>
          </a:xfrm>
          <a:prstGeom prst="roundRect">
            <a:avLst>
              <a:gd name="adj" fmla="val 50000"/>
            </a:avLst>
          </a:prstGeom>
          <a:solidFill>
            <a:srgbClr val="FFFFFF"/>
          </a:solidFill>
          <a:ln w="15875">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77400" y="2305050"/>
            <a:ext cx="1701800" cy="254000"/>
          </a:xfrm>
          <a:prstGeom prst="rect">
            <a:avLst/>
          </a:prstGeom>
          <a:noFill/>
        </p:spPr>
        <p:txBody>
          <a:bodyPr wrap="square" lIns="0" rIns="0" tIns="0" bIns="0" anchor="t">
            <a:spAutoFit/>
          </a:bodyPr>
          <a:lstStyle/>
          <a:p>
            <a:pPr algn="ctr">
              <a:lnSpc>
                <a:spcPct val="125000"/>
              </a:lnSpc>
              <a:spcAft>
                <a:spcPts val="0"/>
              </a:spcAft>
            </a:pPr>
            <a:r>
              <a:rPr sz="1500" b="1" i="0">
                <a:solidFill>
                  <a:srgbClr val="0B6E8F"/>
                </a:solidFill>
                <a:latin typeface="DM Sans"/>
              </a:rPr>
              <a:t>Optimal Care</a:t>
            </a:r>
          </a:p>
        </p:txBody>
      </p:sp>
      <p:cxnSp>
        <p:nvCxnSpPr>
          <p:cNvPr id="12" name="Connector 11"/>
          <p:cNvCxnSpPr/>
          <p:nvPr/>
        </p:nvCxnSpPr>
        <p:spPr>
          <a:xfrm>
            <a:off x="812800" y="30480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2800" y="3213100"/>
            <a:ext cx="2984500" cy="571500"/>
          </a:xfrm>
          <a:prstGeom prst="rect">
            <a:avLst/>
          </a:prstGeom>
          <a:noFill/>
        </p:spPr>
        <p:txBody>
          <a:bodyPr wrap="square" lIns="0" rIns="0" tIns="0" bIns="0" anchor="t">
            <a:spAutoFit/>
          </a:bodyPr>
          <a:lstStyle/>
          <a:p>
            <a:pPr algn="l">
              <a:lnSpc>
                <a:spcPct val="125000"/>
              </a:lnSpc>
              <a:spcAft>
                <a:spcPts val="0"/>
              </a:spcAft>
            </a:pPr>
            <a:r>
              <a:rPr sz="1954" b="0" i="0">
                <a:solidFill>
                  <a:srgbClr val="A34A00"/>
                </a:solidFill>
                <a:latin typeface="DM Serif Display"/>
              </a:rPr>
              <a:t>Twee sessies per patiënt</a:t>
            </a:r>
          </a:p>
        </p:txBody>
      </p:sp>
      <p:sp>
        <p:nvSpPr>
          <p:cNvPr id="14" name="TextBox 13"/>
          <p:cNvSpPr txBox="1"/>
          <p:nvPr/>
        </p:nvSpPr>
        <p:spPr>
          <a:xfrm>
            <a:off x="4064000" y="3225800"/>
            <a:ext cx="5715000" cy="698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Op video, willekeurig gekozen, en gescoord met de fidelity-checklist (eCRF 44)</a:t>
            </a:r>
          </a:p>
        </p:txBody>
      </p:sp>
      <p:sp>
        <p:nvSpPr>
          <p:cNvPr id="15" name="Rounded Rectangle 14"/>
          <p:cNvSpPr/>
          <p:nvPr/>
        </p:nvSpPr>
        <p:spPr>
          <a:xfrm>
            <a:off x="9677400" y="3200400"/>
            <a:ext cx="1701800" cy="355600"/>
          </a:xfrm>
          <a:prstGeom prst="roundRect">
            <a:avLst>
              <a:gd name="adj" fmla="val 50000"/>
            </a:avLst>
          </a:prstGeom>
          <a:solidFill>
            <a:srgbClr val="FFFFFF"/>
          </a:solidFill>
          <a:ln w="15875">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77400" y="3257550"/>
            <a:ext cx="1701800" cy="254000"/>
          </a:xfrm>
          <a:prstGeom prst="rect">
            <a:avLst/>
          </a:prstGeom>
          <a:noFill/>
        </p:spPr>
        <p:txBody>
          <a:bodyPr wrap="square" lIns="0" rIns="0" tIns="0" bIns="0" anchor="t">
            <a:spAutoFit/>
          </a:bodyPr>
          <a:lstStyle/>
          <a:p>
            <a:pPr algn="ctr">
              <a:lnSpc>
                <a:spcPct val="125000"/>
              </a:lnSpc>
              <a:spcAft>
                <a:spcPts val="0"/>
              </a:spcAft>
            </a:pPr>
            <a:r>
              <a:rPr sz="1500" b="1" i="0">
                <a:solidFill>
                  <a:srgbClr val="0B6E8F"/>
                </a:solidFill>
                <a:latin typeface="DM Sans"/>
              </a:rPr>
              <a:t>Optimal Care</a:t>
            </a:r>
          </a:p>
        </p:txBody>
      </p:sp>
      <p:cxnSp>
        <p:nvCxnSpPr>
          <p:cNvPr id="17" name="Connector 16"/>
          <p:cNvCxnSpPr/>
          <p:nvPr/>
        </p:nvCxnSpPr>
        <p:spPr>
          <a:xfrm>
            <a:off x="812800" y="40005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12800" y="4165600"/>
            <a:ext cx="2984500" cy="571500"/>
          </a:xfrm>
          <a:prstGeom prst="rect">
            <a:avLst/>
          </a:prstGeom>
          <a:noFill/>
        </p:spPr>
        <p:txBody>
          <a:bodyPr wrap="square" lIns="0" rIns="0" tIns="0" bIns="0" anchor="t">
            <a:spAutoFit/>
          </a:bodyPr>
          <a:lstStyle/>
          <a:p>
            <a:pPr algn="l">
              <a:lnSpc>
                <a:spcPct val="125000"/>
              </a:lnSpc>
              <a:spcAft>
                <a:spcPts val="0"/>
              </a:spcAft>
            </a:pPr>
            <a:r>
              <a:rPr sz="1954" b="0" i="0">
                <a:solidFill>
                  <a:srgbClr val="A34A00"/>
                </a:solidFill>
                <a:latin typeface="DM Serif Display"/>
              </a:rPr>
              <a:t>Elke zes maanden</a:t>
            </a:r>
          </a:p>
        </p:txBody>
      </p:sp>
      <p:sp>
        <p:nvSpPr>
          <p:cNvPr id="19" name="TextBox 18"/>
          <p:cNvSpPr txBox="1"/>
          <p:nvPr/>
        </p:nvSpPr>
        <p:spPr>
          <a:xfrm>
            <a:off x="4064000" y="4178300"/>
            <a:ext cx="7302500" cy="698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Community of practice: podologen en pedorthisten delen ervaringen en aanpassingen</a:t>
            </a:r>
          </a:p>
        </p:txBody>
      </p:sp>
      <p:cxnSp>
        <p:nvCxnSpPr>
          <p:cNvPr id="20" name="Connector 19"/>
          <p:cNvCxnSpPr/>
          <p:nvPr/>
        </p:nvCxnSpPr>
        <p:spPr>
          <a:xfrm>
            <a:off x="812800" y="49530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z1"/>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Wie u begeleidt, evalueert een ander centrum</a:t>
            </a:r>
          </a:p>
        </p:txBody>
      </p:sp>
      <p:pic>
        <p:nvPicPr>
          <p:cNvPr id="4" name="Picture 3" descr="merk.png"/>
          <p:cNvPicPr>
            <a:picLocks noChangeAspect="1"/>
          </p:cNvPicPr>
          <p:nvPr/>
        </p:nvPicPr>
        <p:blipFill>
          <a:blip r:embed="rId2"/>
          <a:stretch>
            <a:fillRect/>
          </a:stretch>
        </p:blipFill>
        <p:spPr>
          <a:xfrm>
            <a:off x="812800" y="6261100"/>
            <a:ext cx="177800" cy="203200"/>
          </a:xfrm>
          <a:prstGeom prst="rect">
            <a:avLst/>
          </a:prstGeom>
        </p:spPr>
      </p:pic>
      <p:sp>
        <p:nvSpPr>
          <p:cNvPr id="5" name="TextBox 4"/>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Procesevaluatie</a:t>
            </a:r>
          </a:p>
        </p:txBody>
      </p:sp>
      <p:sp>
        <p:nvSpPr>
          <p:cNvPr id="6" name="TextBox 5"/>
          <p:cNvSpPr txBox="1"/>
          <p:nvPr/>
        </p:nvSpPr>
        <p:spPr>
          <a:xfrm>
            <a:off x="5207000" y="6261100"/>
            <a:ext cx="6172200" cy="203200"/>
          </a:xfrm>
          <a:prstGeom prst="rect">
            <a:avLst/>
          </a:prstGeom>
          <a:noFill/>
        </p:spPr>
        <p:txBody>
          <a:bodyPr wrap="square" lIns="0" rIns="0" tIns="0" bIns="0" anchor="t">
            <a:spAutoFit/>
          </a:bodyPr>
          <a:lstStyle/>
          <a:p>
            <a:pPr algn="r">
              <a:lnSpc>
                <a:spcPct val="125000"/>
              </a:lnSpc>
              <a:spcAft>
                <a:spcPts val="0"/>
              </a:spcAft>
            </a:pPr>
            <a:r>
              <a:rPr sz="1380" b="0" i="0">
                <a:solidFill>
                  <a:srgbClr val="5A6E80"/>
                </a:solidFill>
                <a:latin typeface="DM Sans"/>
              </a:rPr>
              <a:t>Bron: studieteam, 8 oktober 2026</a:t>
            </a:r>
          </a:p>
        </p:txBody>
      </p:sp>
      <p:sp>
        <p:nvSpPr>
          <p:cNvPr id="7" name="TextBox 6"/>
          <p:cNvSpPr txBox="1"/>
          <p:nvPr/>
        </p:nvSpPr>
        <p:spPr>
          <a:xfrm>
            <a:off x="812800" y="2159000"/>
            <a:ext cx="4953000" cy="381000"/>
          </a:xfrm>
          <a:prstGeom prst="rect">
            <a:avLst/>
          </a:prstGeom>
          <a:noFill/>
        </p:spPr>
        <p:txBody>
          <a:bodyPr wrap="square" lIns="0" rIns="0" tIns="0" bIns="0" anchor="t">
            <a:spAutoFit/>
          </a:bodyPr>
          <a:lstStyle/>
          <a:p>
            <a:pPr algn="l">
              <a:lnSpc>
                <a:spcPct val="125000"/>
              </a:lnSpc>
              <a:spcAft>
                <a:spcPts val="0"/>
              </a:spcAft>
            </a:pPr>
            <a:r>
              <a:rPr sz="2529" b="0" i="0">
                <a:solidFill>
                  <a:srgbClr val="0A2540"/>
                </a:solidFill>
                <a:latin typeface="DM Serif Display"/>
              </a:rPr>
              <a:t>PhD A · Janou De Buyser</a:t>
            </a:r>
          </a:p>
        </p:txBody>
      </p:sp>
      <p:cxnSp>
        <p:nvCxnSpPr>
          <p:cNvPr id="8" name="Connector 7"/>
          <p:cNvCxnSpPr/>
          <p:nvPr/>
        </p:nvCxnSpPr>
        <p:spPr>
          <a:xfrm>
            <a:off x="812800" y="2667000"/>
            <a:ext cx="49530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12800" y="2819400"/>
            <a:ext cx="4953000" cy="254000"/>
          </a:xfrm>
          <a:prstGeom prst="rect">
            <a:avLst/>
          </a:prstGeom>
          <a:noFill/>
        </p:spPr>
        <p:txBody>
          <a:bodyPr wrap="square" lIns="0" rIns="0" tIns="0" bIns="0" anchor="t">
            <a:spAutoFit/>
          </a:bodyPr>
          <a:lstStyle/>
          <a:p>
            <a:pPr algn="l">
              <a:lnSpc>
                <a:spcPct val="125000"/>
              </a:lnSpc>
              <a:spcAft>
                <a:spcPts val="0"/>
              </a:spcAft>
            </a:pPr>
            <a:r>
              <a:rPr sz="1495" b="0" i="0">
                <a:solidFill>
                  <a:srgbClr val="5A6E80"/>
                </a:solidFill>
                <a:latin typeface="DM Sans"/>
              </a:rPr>
              <a:t>contactpersoon voor</a:t>
            </a:r>
          </a:p>
        </p:txBody>
      </p:sp>
      <p:sp>
        <p:nvSpPr>
          <p:cNvPr id="10" name="TextBox 9"/>
          <p:cNvSpPr txBox="1"/>
          <p:nvPr/>
        </p:nvSpPr>
        <p:spPr>
          <a:xfrm>
            <a:off x="812800" y="3098800"/>
            <a:ext cx="4953000" cy="317500"/>
          </a:xfrm>
          <a:prstGeom prst="rect">
            <a:avLst/>
          </a:prstGeom>
          <a:noFill/>
        </p:spPr>
        <p:txBody>
          <a:bodyPr wrap="square" lIns="0" rIns="0" tIns="0" bIns="0" anchor="t">
            <a:spAutoFit/>
          </a:bodyPr>
          <a:lstStyle/>
          <a:p>
            <a:pPr algn="l">
              <a:lnSpc>
                <a:spcPct val="125000"/>
              </a:lnSpc>
              <a:spcAft>
                <a:spcPts val="0"/>
              </a:spcAft>
            </a:pPr>
            <a:r>
              <a:rPr sz="1954" b="0" i="0">
                <a:solidFill>
                  <a:srgbClr val="3A4F63"/>
                </a:solidFill>
                <a:latin typeface="DM Sans"/>
              </a:rPr>
              <a:t>Brugge · Gent · Kortrijk</a:t>
            </a:r>
          </a:p>
        </p:txBody>
      </p:sp>
      <p:cxnSp>
        <p:nvCxnSpPr>
          <p:cNvPr id="11" name="Connector 10"/>
          <p:cNvCxnSpPr/>
          <p:nvPr/>
        </p:nvCxnSpPr>
        <p:spPr>
          <a:xfrm>
            <a:off x="812800" y="3683000"/>
            <a:ext cx="49530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2800" y="3835400"/>
            <a:ext cx="4953000" cy="254000"/>
          </a:xfrm>
          <a:prstGeom prst="rect">
            <a:avLst/>
          </a:prstGeom>
          <a:noFill/>
        </p:spPr>
        <p:txBody>
          <a:bodyPr wrap="square" lIns="0" rIns="0" tIns="0" bIns="0" anchor="t">
            <a:spAutoFit/>
          </a:bodyPr>
          <a:lstStyle/>
          <a:p>
            <a:pPr algn="l">
              <a:lnSpc>
                <a:spcPct val="125000"/>
              </a:lnSpc>
              <a:spcAft>
                <a:spcPts val="0"/>
              </a:spcAft>
            </a:pPr>
            <a:r>
              <a:rPr sz="1495" b="0" i="0">
                <a:solidFill>
                  <a:srgbClr val="5A6E80"/>
                </a:solidFill>
                <a:latin typeface="DM Sans"/>
              </a:rPr>
              <a:t>evalueert</a:t>
            </a:r>
          </a:p>
        </p:txBody>
      </p:sp>
      <p:sp>
        <p:nvSpPr>
          <p:cNvPr id="13" name="TextBox 12"/>
          <p:cNvSpPr txBox="1"/>
          <p:nvPr/>
        </p:nvSpPr>
        <p:spPr>
          <a:xfrm>
            <a:off x="812800" y="4114800"/>
            <a:ext cx="4953000" cy="317500"/>
          </a:xfrm>
          <a:prstGeom prst="rect">
            <a:avLst/>
          </a:prstGeom>
          <a:noFill/>
        </p:spPr>
        <p:txBody>
          <a:bodyPr wrap="square" lIns="0" rIns="0" tIns="0" bIns="0" anchor="t">
            <a:spAutoFit/>
          </a:bodyPr>
          <a:lstStyle/>
          <a:p>
            <a:pPr algn="l">
              <a:lnSpc>
                <a:spcPct val="125000"/>
              </a:lnSpc>
              <a:spcAft>
                <a:spcPts val="0"/>
              </a:spcAft>
            </a:pPr>
            <a:r>
              <a:rPr sz="1954" b="1" i="0">
                <a:solidFill>
                  <a:srgbClr val="0B6E8F"/>
                </a:solidFill>
                <a:latin typeface="DM Sans"/>
              </a:rPr>
              <a:t>Leuven · Aalst · Antwerpen</a:t>
            </a:r>
          </a:p>
        </p:txBody>
      </p:sp>
      <p:sp>
        <p:nvSpPr>
          <p:cNvPr id="14" name="TextBox 13"/>
          <p:cNvSpPr txBox="1"/>
          <p:nvPr/>
        </p:nvSpPr>
        <p:spPr>
          <a:xfrm>
            <a:off x="6223000" y="2159000"/>
            <a:ext cx="4953000" cy="381000"/>
          </a:xfrm>
          <a:prstGeom prst="rect">
            <a:avLst/>
          </a:prstGeom>
          <a:noFill/>
        </p:spPr>
        <p:txBody>
          <a:bodyPr wrap="square" lIns="0" rIns="0" tIns="0" bIns="0" anchor="t">
            <a:spAutoFit/>
          </a:bodyPr>
          <a:lstStyle/>
          <a:p>
            <a:pPr algn="l">
              <a:lnSpc>
                <a:spcPct val="125000"/>
              </a:lnSpc>
              <a:spcAft>
                <a:spcPts val="0"/>
              </a:spcAft>
            </a:pPr>
            <a:r>
              <a:rPr sz="2529" b="0" i="0">
                <a:solidFill>
                  <a:srgbClr val="0A2540"/>
                </a:solidFill>
                <a:latin typeface="DM Serif Display"/>
              </a:rPr>
              <a:t>PhD B · nog te selecteren</a:t>
            </a:r>
          </a:p>
        </p:txBody>
      </p:sp>
      <p:cxnSp>
        <p:nvCxnSpPr>
          <p:cNvPr id="15" name="Connector 14"/>
          <p:cNvCxnSpPr/>
          <p:nvPr/>
        </p:nvCxnSpPr>
        <p:spPr>
          <a:xfrm>
            <a:off x="6223000" y="2667000"/>
            <a:ext cx="49530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223000" y="2819400"/>
            <a:ext cx="4953000" cy="254000"/>
          </a:xfrm>
          <a:prstGeom prst="rect">
            <a:avLst/>
          </a:prstGeom>
          <a:noFill/>
        </p:spPr>
        <p:txBody>
          <a:bodyPr wrap="square" lIns="0" rIns="0" tIns="0" bIns="0" anchor="t">
            <a:spAutoFit/>
          </a:bodyPr>
          <a:lstStyle/>
          <a:p>
            <a:pPr algn="l">
              <a:lnSpc>
                <a:spcPct val="125000"/>
              </a:lnSpc>
              <a:spcAft>
                <a:spcPts val="0"/>
              </a:spcAft>
            </a:pPr>
            <a:r>
              <a:rPr sz="1495" b="0" i="0">
                <a:solidFill>
                  <a:srgbClr val="5A6E80"/>
                </a:solidFill>
                <a:latin typeface="DM Sans"/>
              </a:rPr>
              <a:t>contactpersoon voor</a:t>
            </a:r>
          </a:p>
        </p:txBody>
      </p:sp>
      <p:sp>
        <p:nvSpPr>
          <p:cNvPr id="17" name="TextBox 16"/>
          <p:cNvSpPr txBox="1"/>
          <p:nvPr/>
        </p:nvSpPr>
        <p:spPr>
          <a:xfrm>
            <a:off x="6223000" y="3098800"/>
            <a:ext cx="4953000" cy="317500"/>
          </a:xfrm>
          <a:prstGeom prst="rect">
            <a:avLst/>
          </a:prstGeom>
          <a:noFill/>
        </p:spPr>
        <p:txBody>
          <a:bodyPr wrap="square" lIns="0" rIns="0" tIns="0" bIns="0" anchor="t">
            <a:spAutoFit/>
          </a:bodyPr>
          <a:lstStyle/>
          <a:p>
            <a:pPr algn="l">
              <a:lnSpc>
                <a:spcPct val="125000"/>
              </a:lnSpc>
              <a:spcAft>
                <a:spcPts val="0"/>
              </a:spcAft>
            </a:pPr>
            <a:r>
              <a:rPr sz="1954" b="0" i="0">
                <a:solidFill>
                  <a:srgbClr val="3A4F63"/>
                </a:solidFill>
                <a:latin typeface="DM Sans"/>
              </a:rPr>
              <a:t>Aalst · Leuven · Antwerpen</a:t>
            </a:r>
          </a:p>
        </p:txBody>
      </p:sp>
      <p:cxnSp>
        <p:nvCxnSpPr>
          <p:cNvPr id="18" name="Connector 17"/>
          <p:cNvCxnSpPr/>
          <p:nvPr/>
        </p:nvCxnSpPr>
        <p:spPr>
          <a:xfrm>
            <a:off x="6223000" y="3683000"/>
            <a:ext cx="49530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23000" y="3835400"/>
            <a:ext cx="4953000" cy="254000"/>
          </a:xfrm>
          <a:prstGeom prst="rect">
            <a:avLst/>
          </a:prstGeom>
          <a:noFill/>
        </p:spPr>
        <p:txBody>
          <a:bodyPr wrap="square" lIns="0" rIns="0" tIns="0" bIns="0" anchor="t">
            <a:spAutoFit/>
          </a:bodyPr>
          <a:lstStyle/>
          <a:p>
            <a:pPr algn="l">
              <a:lnSpc>
                <a:spcPct val="125000"/>
              </a:lnSpc>
              <a:spcAft>
                <a:spcPts val="0"/>
              </a:spcAft>
            </a:pPr>
            <a:r>
              <a:rPr sz="1495" b="0" i="0">
                <a:solidFill>
                  <a:srgbClr val="5A6E80"/>
                </a:solidFill>
                <a:latin typeface="DM Sans"/>
              </a:rPr>
              <a:t>evalueert</a:t>
            </a:r>
          </a:p>
        </p:txBody>
      </p:sp>
      <p:sp>
        <p:nvSpPr>
          <p:cNvPr id="20" name="TextBox 19"/>
          <p:cNvSpPr txBox="1"/>
          <p:nvPr/>
        </p:nvSpPr>
        <p:spPr>
          <a:xfrm>
            <a:off x="6223000" y="4114800"/>
            <a:ext cx="4953000" cy="317500"/>
          </a:xfrm>
          <a:prstGeom prst="rect">
            <a:avLst/>
          </a:prstGeom>
          <a:noFill/>
        </p:spPr>
        <p:txBody>
          <a:bodyPr wrap="square" lIns="0" rIns="0" tIns="0" bIns="0" anchor="t">
            <a:spAutoFit/>
          </a:bodyPr>
          <a:lstStyle/>
          <a:p>
            <a:pPr algn="l">
              <a:lnSpc>
                <a:spcPct val="125000"/>
              </a:lnSpc>
              <a:spcAft>
                <a:spcPts val="0"/>
              </a:spcAft>
            </a:pPr>
            <a:r>
              <a:rPr sz="1954" b="1" i="0">
                <a:solidFill>
                  <a:srgbClr val="0B6E8F"/>
                </a:solidFill>
                <a:latin typeface="DM Sans"/>
              </a:rPr>
              <a:t>Brugge · Gent · Kortrijk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Twee evaluaties naast de hoofdvraag</a:t>
            </a:r>
          </a:p>
        </p:txBody>
      </p:sp>
      <p:sp>
        <p:nvSpPr>
          <p:cNvPr id="4" name="TextBox 3"/>
          <p:cNvSpPr txBox="1"/>
          <p:nvPr/>
        </p:nvSpPr>
        <p:spPr>
          <a:xfrm>
            <a:off x="812800" y="1473200"/>
            <a:ext cx="10566400" cy="317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De hoofdvraag blijft het recidief van een voetulcus over 18 maanden.</a:t>
            </a:r>
          </a:p>
        </p:txBody>
      </p:sp>
      <p:sp>
        <p:nvSpPr>
          <p:cNvPr id="5" name="!!z1"/>
          <p:cNvSpPr/>
          <p:nvPr/>
        </p:nvSpPr>
        <p:spPr>
          <a:xfrm>
            <a:off x="812800" y="2095500"/>
            <a:ext cx="5080000" cy="3556000"/>
          </a:xfrm>
          <a:prstGeom prst="roundRect">
            <a:avLst>
              <a:gd name="adj" fmla="val 3500"/>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8400" y="2349500"/>
            <a:ext cx="1270000" cy="1270000"/>
          </a:xfrm>
          <a:prstGeom prst="rect">
            <a:avLst/>
          </a:prstGeom>
          <a:noFill/>
        </p:spPr>
        <p:txBody>
          <a:bodyPr wrap="square" lIns="0" rIns="0" tIns="0" bIns="0" anchor="t">
            <a:spAutoFit/>
          </a:bodyPr>
          <a:lstStyle/>
          <a:p>
            <a:pPr algn="l">
              <a:lnSpc>
                <a:spcPct val="90000"/>
              </a:lnSpc>
              <a:spcAft>
                <a:spcPts val="0"/>
              </a:spcAft>
            </a:pPr>
            <a:r>
              <a:rPr sz="8000" b="0" i="0">
                <a:solidFill>
                  <a:srgbClr val="0B6E8F"/>
                </a:solidFill>
                <a:latin typeface="DM Serif Display"/>
              </a:rPr>
              <a:t>1</a:t>
            </a:r>
          </a:p>
        </p:txBody>
      </p:sp>
      <p:sp>
        <p:nvSpPr>
          <p:cNvPr id="7" name="TextBox 6"/>
          <p:cNvSpPr txBox="1"/>
          <p:nvPr/>
        </p:nvSpPr>
        <p:spPr>
          <a:xfrm>
            <a:off x="1168400" y="3746500"/>
            <a:ext cx="4445000" cy="508000"/>
          </a:xfrm>
          <a:prstGeom prst="rect">
            <a:avLst/>
          </a:prstGeom>
          <a:noFill/>
        </p:spPr>
        <p:txBody>
          <a:bodyPr wrap="square" lIns="0" rIns="0" tIns="0" bIns="0" anchor="t">
            <a:spAutoFit/>
          </a:bodyPr>
          <a:lstStyle/>
          <a:p>
            <a:pPr algn="l">
              <a:lnSpc>
                <a:spcPct val="125000"/>
              </a:lnSpc>
              <a:spcAft>
                <a:spcPts val="0"/>
              </a:spcAft>
            </a:pPr>
            <a:r>
              <a:rPr sz="3000" b="0" i="0">
                <a:solidFill>
                  <a:srgbClr val="0A2540"/>
                </a:solidFill>
                <a:latin typeface="DM Serif Display"/>
              </a:rPr>
              <a:t>Procesevaluatie</a:t>
            </a:r>
          </a:p>
        </p:txBody>
      </p:sp>
      <p:sp>
        <p:nvSpPr>
          <p:cNvPr id="8" name="TextBox 7"/>
          <p:cNvSpPr txBox="1"/>
          <p:nvPr/>
        </p:nvSpPr>
        <p:spPr>
          <a:xfrm>
            <a:off x="1168400" y="4318000"/>
            <a:ext cx="4381500" cy="698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Wordt PARADISE geleverd zoals bedoeld, hoe werkt het, en waar?</a:t>
            </a:r>
          </a:p>
        </p:txBody>
      </p:sp>
      <p:sp>
        <p:nvSpPr>
          <p:cNvPr id="9" name="TextBox 8"/>
          <p:cNvSpPr txBox="1"/>
          <p:nvPr/>
        </p:nvSpPr>
        <p:spPr>
          <a:xfrm>
            <a:off x="1168400" y="5207000"/>
            <a:ext cx="4381500" cy="2540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WP2 · Maaike Fobelets, VUB</a:t>
            </a:r>
          </a:p>
        </p:txBody>
      </p:sp>
      <p:sp>
        <p:nvSpPr>
          <p:cNvPr id="10" name="Rounded Rectangle 9"/>
          <p:cNvSpPr/>
          <p:nvPr/>
        </p:nvSpPr>
        <p:spPr>
          <a:xfrm>
            <a:off x="812800" y="2095500"/>
            <a:ext cx="5080000" cy="3556000"/>
          </a:xfrm>
          <a:prstGeom prst="roundRect">
            <a:avLst>
              <a:gd name="adj" fmla="val 3500"/>
            </a:avLst>
          </a:prstGeom>
          <a:solidFill>
            <a:srgbClr val="F2F6F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z2"/>
          <p:cNvSpPr/>
          <p:nvPr/>
        </p:nvSpPr>
        <p:spPr>
          <a:xfrm>
            <a:off x="6299200" y="2095500"/>
            <a:ext cx="5080000" cy="3556000"/>
          </a:xfrm>
          <a:prstGeom prst="roundRect">
            <a:avLst>
              <a:gd name="adj" fmla="val 3500"/>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54800" y="2349500"/>
            <a:ext cx="1270000" cy="1270000"/>
          </a:xfrm>
          <a:prstGeom prst="rect">
            <a:avLst/>
          </a:prstGeom>
          <a:noFill/>
        </p:spPr>
        <p:txBody>
          <a:bodyPr wrap="square" lIns="0" rIns="0" tIns="0" bIns="0" anchor="t">
            <a:spAutoFit/>
          </a:bodyPr>
          <a:lstStyle/>
          <a:p>
            <a:pPr algn="l">
              <a:lnSpc>
                <a:spcPct val="90000"/>
              </a:lnSpc>
              <a:spcAft>
                <a:spcPts val="0"/>
              </a:spcAft>
            </a:pPr>
            <a:r>
              <a:rPr sz="8000" b="0" i="0">
                <a:solidFill>
                  <a:srgbClr val="0B6E8F"/>
                </a:solidFill>
                <a:latin typeface="DM Serif Display"/>
              </a:rPr>
              <a:t>2</a:t>
            </a:r>
          </a:p>
        </p:txBody>
      </p:sp>
      <p:sp>
        <p:nvSpPr>
          <p:cNvPr id="13" name="TextBox 12"/>
          <p:cNvSpPr txBox="1"/>
          <p:nvPr/>
        </p:nvSpPr>
        <p:spPr>
          <a:xfrm>
            <a:off x="6654800" y="3746500"/>
            <a:ext cx="4445000" cy="508000"/>
          </a:xfrm>
          <a:prstGeom prst="rect">
            <a:avLst/>
          </a:prstGeom>
          <a:noFill/>
        </p:spPr>
        <p:txBody>
          <a:bodyPr wrap="square" lIns="0" rIns="0" tIns="0" bIns="0" anchor="t">
            <a:spAutoFit/>
          </a:bodyPr>
          <a:lstStyle/>
          <a:p>
            <a:pPr algn="l">
              <a:lnSpc>
                <a:spcPct val="125000"/>
              </a:lnSpc>
              <a:spcAft>
                <a:spcPts val="0"/>
              </a:spcAft>
            </a:pPr>
            <a:r>
              <a:rPr sz="3000" b="0" i="0">
                <a:solidFill>
                  <a:srgbClr val="0A2540"/>
                </a:solidFill>
                <a:latin typeface="DM Serif Display"/>
              </a:rPr>
              <a:t>Gezondheidseconomie</a:t>
            </a:r>
          </a:p>
        </p:txBody>
      </p:sp>
      <p:sp>
        <p:nvSpPr>
          <p:cNvPr id="14" name="TextBox 13"/>
          <p:cNvSpPr txBox="1"/>
          <p:nvPr/>
        </p:nvSpPr>
        <p:spPr>
          <a:xfrm>
            <a:off x="6654800" y="4318000"/>
            <a:ext cx="4381500" cy="698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Wat kost PARADISE per gewonnen levensjaar in goede gezondheid?</a:t>
            </a:r>
          </a:p>
        </p:txBody>
      </p:sp>
      <p:sp>
        <p:nvSpPr>
          <p:cNvPr id="15" name="TextBox 14"/>
          <p:cNvSpPr txBox="1"/>
          <p:nvPr/>
        </p:nvSpPr>
        <p:spPr>
          <a:xfrm>
            <a:off x="6654800" y="5207000"/>
            <a:ext cx="4381500" cy="2540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WP3 · Koen Putman, VUB</a:t>
            </a:r>
          </a:p>
        </p:txBody>
      </p:sp>
      <p:pic>
        <p:nvPicPr>
          <p:cNvPr id="16" name="Picture 15" descr="merk.png"/>
          <p:cNvPicPr>
            <a:picLocks noChangeAspect="1"/>
          </p:cNvPicPr>
          <p:nvPr/>
        </p:nvPicPr>
        <p:blipFill>
          <a:blip r:embed="rId2"/>
          <a:stretch>
            <a:fillRect/>
          </a:stretch>
        </p:blipFill>
        <p:spPr>
          <a:xfrm>
            <a:off x="812800" y="6261100"/>
            <a:ext cx="177800" cy="203200"/>
          </a:xfrm>
          <a:prstGeom prst="rect">
            <a:avLst/>
          </a:prstGeom>
        </p:spPr>
      </p:pic>
      <p:sp>
        <p:nvSpPr>
          <p:cNvPr id="17" name="TextBox 16"/>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Overzicht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z2"/>
          <p:cNvSpPr/>
          <p:nvPr/>
        </p:nvSpPr>
        <p:spPr>
          <a:xfrm>
            <a:off x="0" y="0"/>
            <a:ext cx="12192000" cy="6858000"/>
          </a:xfrm>
          <a:prstGeom prst="roundRect">
            <a:avLst>
              <a:gd name="adj" fmla="val 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952500"/>
            <a:ext cx="2032000" cy="2667000"/>
          </a:xfrm>
          <a:prstGeom prst="rect">
            <a:avLst/>
          </a:prstGeom>
          <a:noFill/>
        </p:spPr>
        <p:txBody>
          <a:bodyPr wrap="square" lIns="0" rIns="0" tIns="0" bIns="0" anchor="t">
            <a:spAutoFit/>
          </a:bodyPr>
          <a:lstStyle/>
          <a:p>
            <a:pPr algn="l">
              <a:lnSpc>
                <a:spcPct val="90000"/>
              </a:lnSpc>
              <a:spcAft>
                <a:spcPts val="0"/>
              </a:spcAft>
            </a:pPr>
            <a:r>
              <a:rPr sz="18000" b="0" i="0">
                <a:solidFill>
                  <a:srgbClr val="FF9A3D"/>
                </a:solidFill>
                <a:latin typeface="DM Serif Display"/>
              </a:rPr>
              <a:t>2</a:t>
            </a:r>
          </a:p>
        </p:txBody>
      </p:sp>
      <p:sp>
        <p:nvSpPr>
          <p:cNvPr id="4" name="TextBox 3"/>
          <p:cNvSpPr txBox="1"/>
          <p:nvPr/>
        </p:nvSpPr>
        <p:spPr>
          <a:xfrm>
            <a:off x="3302000" y="952500"/>
            <a:ext cx="8064500" cy="254000"/>
          </a:xfrm>
          <a:prstGeom prst="rect">
            <a:avLst/>
          </a:prstGeom>
          <a:noFill/>
        </p:spPr>
        <p:txBody>
          <a:bodyPr wrap="square" lIns="0" rIns="0" tIns="0" bIns="0" anchor="t">
            <a:spAutoFit/>
          </a:bodyPr>
          <a:lstStyle/>
          <a:p>
            <a:pPr algn="l">
              <a:lnSpc>
                <a:spcPct val="125000"/>
              </a:lnSpc>
              <a:spcAft>
                <a:spcPts val="0"/>
              </a:spcAft>
            </a:pPr>
            <a:r>
              <a:rPr sz="1495" b="1" i="0">
                <a:solidFill>
                  <a:srgbClr val="52BDEC"/>
                </a:solidFill>
                <a:latin typeface="DM Sans"/>
              </a:rPr>
              <a:t>Deel 2 van 2</a:t>
            </a:r>
          </a:p>
        </p:txBody>
      </p:sp>
      <p:sp>
        <p:nvSpPr>
          <p:cNvPr id="5" name="TextBox 4"/>
          <p:cNvSpPr txBox="1"/>
          <p:nvPr/>
        </p:nvSpPr>
        <p:spPr>
          <a:xfrm>
            <a:off x="3302000" y="1301750"/>
            <a:ext cx="8064500" cy="762000"/>
          </a:xfrm>
          <a:prstGeom prst="rect">
            <a:avLst/>
          </a:prstGeom>
          <a:noFill/>
        </p:spPr>
        <p:txBody>
          <a:bodyPr wrap="square" lIns="0" rIns="0" tIns="0" bIns="0" anchor="t">
            <a:spAutoFit/>
          </a:bodyPr>
          <a:lstStyle/>
          <a:p>
            <a:pPr algn="l">
              <a:lnSpc>
                <a:spcPct val="105000"/>
              </a:lnSpc>
              <a:spcAft>
                <a:spcPts val="0"/>
              </a:spcAft>
            </a:pPr>
            <a:r>
              <a:rPr sz="4400" b="0" i="0">
                <a:solidFill>
                  <a:srgbClr val="F2F8FC"/>
                </a:solidFill>
                <a:latin typeface="DM Serif Display"/>
              </a:rPr>
              <a:t>Gezondheidseconomie</a:t>
            </a:r>
          </a:p>
        </p:txBody>
      </p:sp>
      <p:sp>
        <p:nvSpPr>
          <p:cNvPr id="6" name="TextBox 5"/>
          <p:cNvSpPr txBox="1"/>
          <p:nvPr/>
        </p:nvSpPr>
        <p:spPr>
          <a:xfrm>
            <a:off x="3302000" y="2095500"/>
            <a:ext cx="8064500" cy="444500"/>
          </a:xfrm>
          <a:prstGeom prst="rect">
            <a:avLst/>
          </a:prstGeom>
          <a:noFill/>
        </p:spPr>
        <p:txBody>
          <a:bodyPr wrap="square" lIns="0" rIns="0" tIns="0" bIns="0" anchor="t">
            <a:spAutoFit/>
          </a:bodyPr>
          <a:lstStyle/>
          <a:p>
            <a:pPr algn="l">
              <a:lnSpc>
                <a:spcPct val="125000"/>
              </a:lnSpc>
              <a:spcAft>
                <a:spcPts val="0"/>
              </a:spcAft>
            </a:pPr>
            <a:r>
              <a:rPr sz="2529" b="0" i="1">
                <a:solidFill>
                  <a:srgbClr val="52BDEC"/>
                </a:solidFill>
                <a:latin typeface="DM Serif Display"/>
              </a:rPr>
              <a:t>Wat kost een gewonnen levensjaar in goede gezondheid?</a:t>
            </a:r>
          </a:p>
        </p:txBody>
      </p:sp>
      <p:cxnSp>
        <p:nvCxnSpPr>
          <p:cNvPr id="7" name="Connector 6"/>
          <p:cNvCxnSpPr/>
          <p:nvPr/>
        </p:nvCxnSpPr>
        <p:spPr>
          <a:xfrm>
            <a:off x="3302000" y="3810000"/>
            <a:ext cx="8077200" cy="0"/>
          </a:xfrm>
          <a:prstGeom prst="line">
            <a:avLst/>
          </a:prstGeom>
          <a:ln w="6350">
            <a:solidFill>
              <a:srgbClr val="21507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302000" y="3911600"/>
            <a:ext cx="8064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C5D8E8"/>
                </a:solidFill>
                <a:latin typeface="DM Sans"/>
              </a:rPr>
              <a:t>één uitkomst: de kosten per QALY</a:t>
            </a:r>
          </a:p>
        </p:txBody>
      </p:sp>
      <p:cxnSp>
        <p:nvCxnSpPr>
          <p:cNvPr id="9" name="Connector 8"/>
          <p:cNvCxnSpPr/>
          <p:nvPr/>
        </p:nvCxnSpPr>
        <p:spPr>
          <a:xfrm>
            <a:off x="3302000" y="4343400"/>
            <a:ext cx="8077200" cy="0"/>
          </a:xfrm>
          <a:prstGeom prst="line">
            <a:avLst/>
          </a:prstGeom>
          <a:ln w="6350">
            <a:solidFill>
              <a:srgbClr val="21507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02000" y="4445000"/>
            <a:ext cx="8064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C5D8E8"/>
                </a:solidFill>
                <a:latin typeface="DM Sans"/>
              </a:rPr>
              <a:t>vier instrumenten</a:t>
            </a:r>
          </a:p>
        </p:txBody>
      </p:sp>
      <p:cxnSp>
        <p:nvCxnSpPr>
          <p:cNvPr id="11" name="Connector 10"/>
          <p:cNvCxnSpPr/>
          <p:nvPr/>
        </p:nvCxnSpPr>
        <p:spPr>
          <a:xfrm>
            <a:off x="3302000" y="4876800"/>
            <a:ext cx="8077200" cy="0"/>
          </a:xfrm>
          <a:prstGeom prst="line">
            <a:avLst/>
          </a:prstGeom>
          <a:ln w="6350">
            <a:solidFill>
              <a:srgbClr val="21507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02000" y="4978400"/>
            <a:ext cx="8064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C5D8E8"/>
                </a:solidFill>
                <a:latin typeface="DM Sans"/>
              </a:rPr>
              <a:t>tijd per visite (eCRF 49)</a:t>
            </a:r>
          </a:p>
        </p:txBody>
      </p:sp>
      <p:pic>
        <p:nvPicPr>
          <p:cNvPr id="13" name="Picture 12" descr="merk.png"/>
          <p:cNvPicPr>
            <a:picLocks noChangeAspect="1"/>
          </p:cNvPicPr>
          <p:nvPr/>
        </p:nvPicPr>
        <p:blipFill>
          <a:blip r:embed="rId2"/>
          <a:stretch>
            <a:fillRect/>
          </a:stretch>
        </p:blipFill>
        <p:spPr>
          <a:xfrm>
            <a:off x="812800" y="6261100"/>
            <a:ext cx="177800" cy="203200"/>
          </a:xfrm>
          <a:prstGeom prst="rect">
            <a:avLst/>
          </a:prstGeom>
        </p:spPr>
      </p:pic>
      <p:sp>
        <p:nvSpPr>
          <p:cNvPr id="14" name="TextBox 13"/>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6F8FAA"/>
                </a:solidFill>
                <a:latin typeface="DM Sans"/>
              </a:rPr>
              <a:t>PARADISE · Gezondheidseconomie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z2"/>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Eén uitkomst: de kosten per gewonnen QALY</a:t>
            </a:r>
          </a:p>
        </p:txBody>
      </p:sp>
      <p:pic>
        <p:nvPicPr>
          <p:cNvPr id="4" name="Picture 3" descr="merk.png"/>
          <p:cNvPicPr>
            <a:picLocks noChangeAspect="1"/>
          </p:cNvPicPr>
          <p:nvPr/>
        </p:nvPicPr>
        <p:blipFill>
          <a:blip r:embed="rId2"/>
          <a:stretch>
            <a:fillRect/>
          </a:stretch>
        </p:blipFill>
        <p:spPr>
          <a:xfrm>
            <a:off x="812800" y="6261100"/>
            <a:ext cx="177800" cy="203200"/>
          </a:xfrm>
          <a:prstGeom prst="rect">
            <a:avLst/>
          </a:prstGeom>
        </p:spPr>
      </p:pic>
      <p:sp>
        <p:nvSpPr>
          <p:cNvPr id="5" name="TextBox 4"/>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Gezondheidseconomie</a:t>
            </a:r>
          </a:p>
        </p:txBody>
      </p:sp>
      <p:sp>
        <p:nvSpPr>
          <p:cNvPr id="6" name="TextBox 5"/>
          <p:cNvSpPr txBox="1"/>
          <p:nvPr/>
        </p:nvSpPr>
        <p:spPr>
          <a:xfrm>
            <a:off x="5207000" y="6261100"/>
            <a:ext cx="6172200" cy="203200"/>
          </a:xfrm>
          <a:prstGeom prst="rect">
            <a:avLst/>
          </a:prstGeom>
          <a:noFill/>
        </p:spPr>
        <p:txBody>
          <a:bodyPr wrap="square" lIns="0" rIns="0" tIns="0" bIns="0" anchor="t">
            <a:spAutoFit/>
          </a:bodyPr>
          <a:lstStyle/>
          <a:p>
            <a:pPr algn="r">
              <a:lnSpc>
                <a:spcPct val="125000"/>
              </a:lnSpc>
              <a:spcAft>
                <a:spcPts val="0"/>
              </a:spcAft>
            </a:pPr>
            <a:r>
              <a:rPr sz="1380" b="0" i="0">
                <a:solidFill>
                  <a:srgbClr val="5A6E80"/>
                </a:solidFill>
                <a:latin typeface="DM Sans"/>
              </a:rPr>
              <a:t>Bron: studieprotocol §7.1</a:t>
            </a:r>
          </a:p>
        </p:txBody>
      </p:sp>
      <p:sp>
        <p:nvSpPr>
          <p:cNvPr id="7" name="TextBox 6"/>
          <p:cNvSpPr txBox="1"/>
          <p:nvPr/>
        </p:nvSpPr>
        <p:spPr>
          <a:xfrm>
            <a:off x="812800" y="2794000"/>
            <a:ext cx="6350000" cy="444500"/>
          </a:xfrm>
          <a:prstGeom prst="rect">
            <a:avLst/>
          </a:prstGeom>
          <a:noFill/>
        </p:spPr>
        <p:txBody>
          <a:bodyPr wrap="square" lIns="0" rIns="0" tIns="0" bIns="0" anchor="t">
            <a:spAutoFit/>
          </a:bodyPr>
          <a:lstStyle/>
          <a:p>
            <a:pPr algn="ctr">
              <a:lnSpc>
                <a:spcPct val="125000"/>
              </a:lnSpc>
              <a:spcAft>
                <a:spcPts val="0"/>
              </a:spcAft>
            </a:pPr>
            <a:r>
              <a:rPr sz="2645" b="0" i="0">
                <a:solidFill>
                  <a:srgbClr val="0A2540"/>
                </a:solidFill>
                <a:latin typeface="DM Serif Display"/>
              </a:rPr>
              <a:t>kosten PARADISE − kosten Usual Care</a:t>
            </a:r>
          </a:p>
        </p:txBody>
      </p:sp>
      <p:cxnSp>
        <p:nvCxnSpPr>
          <p:cNvPr id="8" name="Connector 7"/>
          <p:cNvCxnSpPr/>
          <p:nvPr/>
        </p:nvCxnSpPr>
        <p:spPr>
          <a:xfrm>
            <a:off x="1066800" y="3365500"/>
            <a:ext cx="5842000" cy="0"/>
          </a:xfrm>
          <a:prstGeom prst="line">
            <a:avLst/>
          </a:prstGeom>
          <a:ln w="15875">
            <a:solidFill>
              <a:srgbClr val="0A25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12800" y="3505200"/>
            <a:ext cx="6350000" cy="444500"/>
          </a:xfrm>
          <a:prstGeom prst="rect">
            <a:avLst/>
          </a:prstGeom>
          <a:noFill/>
        </p:spPr>
        <p:txBody>
          <a:bodyPr wrap="square" lIns="0" rIns="0" tIns="0" bIns="0" anchor="t">
            <a:spAutoFit/>
          </a:bodyPr>
          <a:lstStyle/>
          <a:p>
            <a:pPr algn="ctr">
              <a:lnSpc>
                <a:spcPct val="125000"/>
              </a:lnSpc>
              <a:spcAft>
                <a:spcPts val="0"/>
              </a:spcAft>
            </a:pPr>
            <a:r>
              <a:rPr sz="2645" b="0" i="0">
                <a:solidFill>
                  <a:srgbClr val="0A2540"/>
                </a:solidFill>
                <a:latin typeface="DM Serif Display"/>
              </a:rPr>
              <a:t>QALY PARADISE − QALY Usual Care</a:t>
            </a:r>
          </a:p>
        </p:txBody>
      </p:sp>
      <p:sp>
        <p:nvSpPr>
          <p:cNvPr id="10" name="TextBox 9"/>
          <p:cNvSpPr txBox="1"/>
          <p:nvPr/>
        </p:nvSpPr>
        <p:spPr>
          <a:xfrm>
            <a:off x="812800" y="4318000"/>
            <a:ext cx="6350000" cy="254000"/>
          </a:xfrm>
          <a:prstGeom prst="rect">
            <a:avLst/>
          </a:prstGeom>
          <a:noFill/>
        </p:spPr>
        <p:txBody>
          <a:bodyPr wrap="square" lIns="0" rIns="0" tIns="0" bIns="0" anchor="t">
            <a:spAutoFit/>
          </a:bodyPr>
          <a:lstStyle/>
          <a:p>
            <a:pPr algn="ctr">
              <a:lnSpc>
                <a:spcPct val="125000"/>
              </a:lnSpc>
              <a:spcAft>
                <a:spcPts val="0"/>
              </a:spcAft>
            </a:pPr>
            <a:r>
              <a:rPr sz="1609" b="0" i="0">
                <a:solidFill>
                  <a:srgbClr val="5A6E80"/>
                </a:solidFill>
                <a:latin typeface="DM Sans"/>
              </a:rPr>
              <a:t>incrementele kosten-utiliteitsratio (ICUR)</a:t>
            </a:r>
          </a:p>
        </p:txBody>
      </p:sp>
      <p:cxnSp>
        <p:nvCxnSpPr>
          <p:cNvPr id="11" name="Connector 10"/>
          <p:cNvCxnSpPr/>
          <p:nvPr/>
        </p:nvCxnSpPr>
        <p:spPr>
          <a:xfrm>
            <a:off x="7620000" y="2413000"/>
            <a:ext cx="0" cy="292100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937500" y="2413000"/>
            <a:ext cx="3429000" cy="2286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Drempel</a:t>
            </a:r>
          </a:p>
        </p:txBody>
      </p:sp>
      <p:sp>
        <p:nvSpPr>
          <p:cNvPr id="13" name="TextBox 12"/>
          <p:cNvSpPr txBox="1"/>
          <p:nvPr/>
        </p:nvSpPr>
        <p:spPr>
          <a:xfrm>
            <a:off x="7937500" y="2641600"/>
            <a:ext cx="3429000" cy="571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€ 47.000 per QALY</a:t>
            </a:r>
          </a:p>
        </p:txBody>
      </p:sp>
      <p:sp>
        <p:nvSpPr>
          <p:cNvPr id="14" name="TextBox 13"/>
          <p:cNvSpPr txBox="1"/>
          <p:nvPr/>
        </p:nvSpPr>
        <p:spPr>
          <a:xfrm>
            <a:off x="7937500" y="3429000"/>
            <a:ext cx="3429000" cy="2286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Perspectief</a:t>
            </a:r>
          </a:p>
        </p:txBody>
      </p:sp>
      <p:sp>
        <p:nvSpPr>
          <p:cNvPr id="15" name="TextBox 14"/>
          <p:cNvSpPr txBox="1"/>
          <p:nvPr/>
        </p:nvSpPr>
        <p:spPr>
          <a:xfrm>
            <a:off x="7937500" y="3657600"/>
            <a:ext cx="3429000" cy="571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gezondheidszorg; maatschappij waar relevant</a:t>
            </a:r>
          </a:p>
        </p:txBody>
      </p:sp>
      <p:sp>
        <p:nvSpPr>
          <p:cNvPr id="16" name="TextBox 15"/>
          <p:cNvSpPr txBox="1"/>
          <p:nvPr/>
        </p:nvSpPr>
        <p:spPr>
          <a:xfrm>
            <a:off x="7937500" y="4445000"/>
            <a:ext cx="3429000" cy="2286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Horizon</a:t>
            </a:r>
          </a:p>
        </p:txBody>
      </p:sp>
      <p:sp>
        <p:nvSpPr>
          <p:cNvPr id="17" name="TextBox 16"/>
          <p:cNvSpPr txBox="1"/>
          <p:nvPr/>
        </p:nvSpPr>
        <p:spPr>
          <a:xfrm>
            <a:off x="7937500" y="4673600"/>
            <a:ext cx="3429000" cy="571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18 maanden in de studie, 5 jaar met een Markov-model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z2"/>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Vier instrumenten, één tijdlijn</a:t>
            </a:r>
          </a:p>
        </p:txBody>
      </p:sp>
      <p:pic>
        <p:nvPicPr>
          <p:cNvPr id="4" name="Picture 3" descr="merk.png"/>
          <p:cNvPicPr>
            <a:picLocks noChangeAspect="1"/>
          </p:cNvPicPr>
          <p:nvPr/>
        </p:nvPicPr>
        <p:blipFill>
          <a:blip r:embed="rId2"/>
          <a:stretch>
            <a:fillRect/>
          </a:stretch>
        </p:blipFill>
        <p:spPr>
          <a:xfrm>
            <a:off x="812800" y="6261100"/>
            <a:ext cx="177800" cy="203200"/>
          </a:xfrm>
          <a:prstGeom prst="rect">
            <a:avLst/>
          </a:prstGeom>
        </p:spPr>
      </p:pic>
      <p:sp>
        <p:nvSpPr>
          <p:cNvPr id="5" name="TextBox 4"/>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Gezondheidseconomie</a:t>
            </a:r>
          </a:p>
        </p:txBody>
      </p:sp>
      <p:sp>
        <p:nvSpPr>
          <p:cNvPr id="6" name="TextBox 5"/>
          <p:cNvSpPr txBox="1"/>
          <p:nvPr/>
        </p:nvSpPr>
        <p:spPr>
          <a:xfrm>
            <a:off x="5207000" y="6261100"/>
            <a:ext cx="6172200" cy="203200"/>
          </a:xfrm>
          <a:prstGeom prst="rect">
            <a:avLst/>
          </a:prstGeom>
          <a:noFill/>
        </p:spPr>
        <p:txBody>
          <a:bodyPr wrap="square" lIns="0" rIns="0" tIns="0" bIns="0" anchor="t">
            <a:spAutoFit/>
          </a:bodyPr>
          <a:lstStyle/>
          <a:p>
            <a:pPr algn="r">
              <a:lnSpc>
                <a:spcPct val="125000"/>
              </a:lnSpc>
              <a:spcAft>
                <a:spcPts val="0"/>
              </a:spcAft>
            </a:pPr>
            <a:r>
              <a:rPr sz="1380" b="0" i="0">
                <a:solidFill>
                  <a:srgbClr val="5A6E80"/>
                </a:solidFill>
                <a:latin typeface="DM Sans"/>
              </a:rPr>
              <a:t>Bron: protocol §7.1 · REDCap-mapping · eCRF 21, 34b, 35b, 45, 45a, 45b</a:t>
            </a:r>
          </a:p>
        </p:txBody>
      </p:sp>
      <p:sp>
        <p:nvSpPr>
          <p:cNvPr id="7" name="TextBox 6"/>
          <p:cNvSpPr txBox="1"/>
          <p:nvPr/>
        </p:nvSpPr>
        <p:spPr>
          <a:xfrm>
            <a:off x="4076700" y="1905000"/>
            <a:ext cx="889000" cy="254000"/>
          </a:xfrm>
          <a:prstGeom prst="rect">
            <a:avLst/>
          </a:prstGeom>
          <a:noFill/>
        </p:spPr>
        <p:txBody>
          <a:bodyPr wrap="square" lIns="0" rIns="0" tIns="0" bIns="0" anchor="t">
            <a:spAutoFit/>
          </a:bodyPr>
          <a:lstStyle/>
          <a:p>
            <a:pPr algn="ctr">
              <a:lnSpc>
                <a:spcPct val="125000"/>
              </a:lnSpc>
              <a:spcAft>
                <a:spcPts val="0"/>
              </a:spcAft>
            </a:pPr>
            <a:r>
              <a:rPr sz="1725" b="1" i="0">
                <a:solidFill>
                  <a:srgbClr val="0A2540"/>
                </a:solidFill>
                <a:latin typeface="DM Sans"/>
              </a:rPr>
              <a:t>V1</a:t>
            </a:r>
          </a:p>
        </p:txBody>
      </p:sp>
      <p:sp>
        <p:nvSpPr>
          <p:cNvPr id="8" name="TextBox 7"/>
          <p:cNvSpPr txBox="1"/>
          <p:nvPr/>
        </p:nvSpPr>
        <p:spPr>
          <a:xfrm>
            <a:off x="4076700" y="2171700"/>
            <a:ext cx="889000" cy="228600"/>
          </a:xfrm>
          <a:prstGeom prst="rect">
            <a:avLst/>
          </a:prstGeom>
          <a:noFill/>
        </p:spPr>
        <p:txBody>
          <a:bodyPr wrap="square" lIns="0" rIns="0" tIns="0" bIns="0" anchor="t">
            <a:spAutoFit/>
          </a:bodyPr>
          <a:lstStyle/>
          <a:p>
            <a:pPr algn="ctr">
              <a:lnSpc>
                <a:spcPct val="125000"/>
              </a:lnSpc>
              <a:spcAft>
                <a:spcPts val="0"/>
              </a:spcAft>
            </a:pPr>
            <a:r>
              <a:rPr sz="1380" b="0" i="0">
                <a:solidFill>
                  <a:srgbClr val="5A6E80"/>
                </a:solidFill>
                <a:latin typeface="DM Sans"/>
              </a:rPr>
              <a:t>start</a:t>
            </a:r>
          </a:p>
        </p:txBody>
      </p:sp>
      <p:sp>
        <p:nvSpPr>
          <p:cNvPr id="9" name="TextBox 8"/>
          <p:cNvSpPr txBox="1"/>
          <p:nvPr/>
        </p:nvSpPr>
        <p:spPr>
          <a:xfrm>
            <a:off x="4991100" y="1905000"/>
            <a:ext cx="889000" cy="254000"/>
          </a:xfrm>
          <a:prstGeom prst="rect">
            <a:avLst/>
          </a:prstGeom>
          <a:noFill/>
        </p:spPr>
        <p:txBody>
          <a:bodyPr wrap="square" lIns="0" rIns="0" tIns="0" bIns="0" anchor="t">
            <a:spAutoFit/>
          </a:bodyPr>
          <a:lstStyle/>
          <a:p>
            <a:pPr algn="ctr">
              <a:lnSpc>
                <a:spcPct val="125000"/>
              </a:lnSpc>
              <a:spcAft>
                <a:spcPts val="0"/>
              </a:spcAft>
            </a:pPr>
            <a:r>
              <a:rPr sz="1725" b="1" i="0">
                <a:solidFill>
                  <a:srgbClr val="0A2540"/>
                </a:solidFill>
                <a:latin typeface="DM Sans"/>
              </a:rPr>
              <a:t>V2</a:t>
            </a:r>
          </a:p>
        </p:txBody>
      </p:sp>
      <p:sp>
        <p:nvSpPr>
          <p:cNvPr id="10" name="TextBox 9"/>
          <p:cNvSpPr txBox="1"/>
          <p:nvPr/>
        </p:nvSpPr>
        <p:spPr>
          <a:xfrm>
            <a:off x="4991100" y="2171700"/>
            <a:ext cx="889000" cy="228600"/>
          </a:xfrm>
          <a:prstGeom prst="rect">
            <a:avLst/>
          </a:prstGeom>
          <a:noFill/>
        </p:spPr>
        <p:txBody>
          <a:bodyPr wrap="square" lIns="0" rIns="0" tIns="0" bIns="0" anchor="t">
            <a:spAutoFit/>
          </a:bodyPr>
          <a:lstStyle/>
          <a:p>
            <a:pPr algn="ctr">
              <a:lnSpc>
                <a:spcPct val="125000"/>
              </a:lnSpc>
              <a:spcAft>
                <a:spcPts val="0"/>
              </a:spcAft>
            </a:pPr>
            <a:r>
              <a:rPr sz="1380" b="0" i="0">
                <a:solidFill>
                  <a:srgbClr val="5A6E80"/>
                </a:solidFill>
                <a:latin typeface="DM Sans"/>
              </a:rPr>
              <a:t>14 d–1 m</a:t>
            </a:r>
          </a:p>
        </p:txBody>
      </p:sp>
      <p:sp>
        <p:nvSpPr>
          <p:cNvPr id="11" name="TextBox 10"/>
          <p:cNvSpPr txBox="1"/>
          <p:nvPr/>
        </p:nvSpPr>
        <p:spPr>
          <a:xfrm>
            <a:off x="5905500" y="1905000"/>
            <a:ext cx="889000" cy="254000"/>
          </a:xfrm>
          <a:prstGeom prst="rect">
            <a:avLst/>
          </a:prstGeom>
          <a:noFill/>
        </p:spPr>
        <p:txBody>
          <a:bodyPr wrap="square" lIns="0" rIns="0" tIns="0" bIns="0" anchor="t">
            <a:spAutoFit/>
          </a:bodyPr>
          <a:lstStyle/>
          <a:p>
            <a:pPr algn="ctr">
              <a:lnSpc>
                <a:spcPct val="125000"/>
              </a:lnSpc>
              <a:spcAft>
                <a:spcPts val="0"/>
              </a:spcAft>
            </a:pPr>
            <a:r>
              <a:rPr sz="1725" b="1" i="0">
                <a:solidFill>
                  <a:srgbClr val="0A2540"/>
                </a:solidFill>
                <a:latin typeface="DM Sans"/>
              </a:rPr>
              <a:t>V3</a:t>
            </a:r>
          </a:p>
        </p:txBody>
      </p:sp>
      <p:sp>
        <p:nvSpPr>
          <p:cNvPr id="12" name="TextBox 11"/>
          <p:cNvSpPr txBox="1"/>
          <p:nvPr/>
        </p:nvSpPr>
        <p:spPr>
          <a:xfrm>
            <a:off x="5905500" y="2171700"/>
            <a:ext cx="889000" cy="228600"/>
          </a:xfrm>
          <a:prstGeom prst="rect">
            <a:avLst/>
          </a:prstGeom>
          <a:noFill/>
        </p:spPr>
        <p:txBody>
          <a:bodyPr wrap="square" lIns="0" rIns="0" tIns="0" bIns="0" anchor="t">
            <a:spAutoFit/>
          </a:bodyPr>
          <a:lstStyle/>
          <a:p>
            <a:pPr algn="ctr">
              <a:lnSpc>
                <a:spcPct val="125000"/>
              </a:lnSpc>
              <a:spcAft>
                <a:spcPts val="0"/>
              </a:spcAft>
            </a:pPr>
            <a:r>
              <a:rPr sz="1380" b="0" i="0">
                <a:solidFill>
                  <a:srgbClr val="5A6E80"/>
                </a:solidFill>
                <a:latin typeface="DM Sans"/>
              </a:rPr>
              <a:t>m 3</a:t>
            </a:r>
          </a:p>
        </p:txBody>
      </p:sp>
      <p:sp>
        <p:nvSpPr>
          <p:cNvPr id="13" name="TextBox 12"/>
          <p:cNvSpPr txBox="1"/>
          <p:nvPr/>
        </p:nvSpPr>
        <p:spPr>
          <a:xfrm>
            <a:off x="6819900" y="1905000"/>
            <a:ext cx="889000" cy="254000"/>
          </a:xfrm>
          <a:prstGeom prst="rect">
            <a:avLst/>
          </a:prstGeom>
          <a:noFill/>
        </p:spPr>
        <p:txBody>
          <a:bodyPr wrap="square" lIns="0" rIns="0" tIns="0" bIns="0" anchor="t">
            <a:spAutoFit/>
          </a:bodyPr>
          <a:lstStyle/>
          <a:p>
            <a:pPr algn="ctr">
              <a:lnSpc>
                <a:spcPct val="125000"/>
              </a:lnSpc>
              <a:spcAft>
                <a:spcPts val="0"/>
              </a:spcAft>
            </a:pPr>
            <a:r>
              <a:rPr sz="1725" b="1" i="0">
                <a:solidFill>
                  <a:srgbClr val="0A2540"/>
                </a:solidFill>
                <a:latin typeface="DM Sans"/>
              </a:rPr>
              <a:t>V4</a:t>
            </a:r>
          </a:p>
        </p:txBody>
      </p:sp>
      <p:sp>
        <p:nvSpPr>
          <p:cNvPr id="14" name="TextBox 13"/>
          <p:cNvSpPr txBox="1"/>
          <p:nvPr/>
        </p:nvSpPr>
        <p:spPr>
          <a:xfrm>
            <a:off x="6819900" y="2171700"/>
            <a:ext cx="889000" cy="228600"/>
          </a:xfrm>
          <a:prstGeom prst="rect">
            <a:avLst/>
          </a:prstGeom>
          <a:noFill/>
        </p:spPr>
        <p:txBody>
          <a:bodyPr wrap="square" lIns="0" rIns="0" tIns="0" bIns="0" anchor="t">
            <a:spAutoFit/>
          </a:bodyPr>
          <a:lstStyle/>
          <a:p>
            <a:pPr algn="ctr">
              <a:lnSpc>
                <a:spcPct val="125000"/>
              </a:lnSpc>
              <a:spcAft>
                <a:spcPts val="0"/>
              </a:spcAft>
            </a:pPr>
            <a:r>
              <a:rPr sz="1380" b="0" i="0">
                <a:solidFill>
                  <a:srgbClr val="5A6E80"/>
                </a:solidFill>
                <a:latin typeface="DM Sans"/>
              </a:rPr>
              <a:t>m 6</a:t>
            </a:r>
          </a:p>
        </p:txBody>
      </p:sp>
      <p:sp>
        <p:nvSpPr>
          <p:cNvPr id="15" name="TextBox 14"/>
          <p:cNvSpPr txBox="1"/>
          <p:nvPr/>
        </p:nvSpPr>
        <p:spPr>
          <a:xfrm>
            <a:off x="7734300" y="1905000"/>
            <a:ext cx="889000" cy="254000"/>
          </a:xfrm>
          <a:prstGeom prst="rect">
            <a:avLst/>
          </a:prstGeom>
          <a:noFill/>
        </p:spPr>
        <p:txBody>
          <a:bodyPr wrap="square" lIns="0" rIns="0" tIns="0" bIns="0" anchor="t">
            <a:spAutoFit/>
          </a:bodyPr>
          <a:lstStyle/>
          <a:p>
            <a:pPr algn="ctr">
              <a:lnSpc>
                <a:spcPct val="125000"/>
              </a:lnSpc>
              <a:spcAft>
                <a:spcPts val="0"/>
              </a:spcAft>
            </a:pPr>
            <a:r>
              <a:rPr sz="1725" b="1" i="0">
                <a:solidFill>
                  <a:srgbClr val="0A2540"/>
                </a:solidFill>
                <a:latin typeface="DM Sans"/>
              </a:rPr>
              <a:t>V5</a:t>
            </a:r>
          </a:p>
        </p:txBody>
      </p:sp>
      <p:sp>
        <p:nvSpPr>
          <p:cNvPr id="16" name="TextBox 15"/>
          <p:cNvSpPr txBox="1"/>
          <p:nvPr/>
        </p:nvSpPr>
        <p:spPr>
          <a:xfrm>
            <a:off x="7734300" y="2171700"/>
            <a:ext cx="889000" cy="228600"/>
          </a:xfrm>
          <a:prstGeom prst="rect">
            <a:avLst/>
          </a:prstGeom>
          <a:noFill/>
        </p:spPr>
        <p:txBody>
          <a:bodyPr wrap="square" lIns="0" rIns="0" tIns="0" bIns="0" anchor="t">
            <a:spAutoFit/>
          </a:bodyPr>
          <a:lstStyle/>
          <a:p>
            <a:pPr algn="ctr">
              <a:lnSpc>
                <a:spcPct val="125000"/>
              </a:lnSpc>
              <a:spcAft>
                <a:spcPts val="0"/>
              </a:spcAft>
            </a:pPr>
            <a:r>
              <a:rPr sz="1380" b="0" i="0">
                <a:solidFill>
                  <a:srgbClr val="5A6E80"/>
                </a:solidFill>
                <a:latin typeface="DM Sans"/>
              </a:rPr>
              <a:t>m 9</a:t>
            </a:r>
          </a:p>
        </p:txBody>
      </p:sp>
      <p:sp>
        <p:nvSpPr>
          <p:cNvPr id="17" name="TextBox 16"/>
          <p:cNvSpPr txBox="1"/>
          <p:nvPr/>
        </p:nvSpPr>
        <p:spPr>
          <a:xfrm>
            <a:off x="8648700" y="1905000"/>
            <a:ext cx="889000" cy="254000"/>
          </a:xfrm>
          <a:prstGeom prst="rect">
            <a:avLst/>
          </a:prstGeom>
          <a:noFill/>
        </p:spPr>
        <p:txBody>
          <a:bodyPr wrap="square" lIns="0" rIns="0" tIns="0" bIns="0" anchor="t">
            <a:spAutoFit/>
          </a:bodyPr>
          <a:lstStyle/>
          <a:p>
            <a:pPr algn="ctr">
              <a:lnSpc>
                <a:spcPct val="125000"/>
              </a:lnSpc>
              <a:spcAft>
                <a:spcPts val="0"/>
              </a:spcAft>
            </a:pPr>
            <a:r>
              <a:rPr sz="1725" b="1" i="0">
                <a:solidFill>
                  <a:srgbClr val="0A2540"/>
                </a:solidFill>
                <a:latin typeface="DM Sans"/>
              </a:rPr>
              <a:t>V6</a:t>
            </a:r>
          </a:p>
        </p:txBody>
      </p:sp>
      <p:sp>
        <p:nvSpPr>
          <p:cNvPr id="18" name="TextBox 17"/>
          <p:cNvSpPr txBox="1"/>
          <p:nvPr/>
        </p:nvSpPr>
        <p:spPr>
          <a:xfrm>
            <a:off x="8648700" y="2171700"/>
            <a:ext cx="889000" cy="228600"/>
          </a:xfrm>
          <a:prstGeom prst="rect">
            <a:avLst/>
          </a:prstGeom>
          <a:noFill/>
        </p:spPr>
        <p:txBody>
          <a:bodyPr wrap="square" lIns="0" rIns="0" tIns="0" bIns="0" anchor="t">
            <a:spAutoFit/>
          </a:bodyPr>
          <a:lstStyle/>
          <a:p>
            <a:pPr algn="ctr">
              <a:lnSpc>
                <a:spcPct val="125000"/>
              </a:lnSpc>
              <a:spcAft>
                <a:spcPts val="0"/>
              </a:spcAft>
            </a:pPr>
            <a:r>
              <a:rPr sz="1380" b="0" i="0">
                <a:solidFill>
                  <a:srgbClr val="5A6E80"/>
                </a:solidFill>
                <a:latin typeface="DM Sans"/>
              </a:rPr>
              <a:t>m 12</a:t>
            </a:r>
          </a:p>
        </p:txBody>
      </p:sp>
      <p:sp>
        <p:nvSpPr>
          <p:cNvPr id="19" name="TextBox 18"/>
          <p:cNvSpPr txBox="1"/>
          <p:nvPr/>
        </p:nvSpPr>
        <p:spPr>
          <a:xfrm>
            <a:off x="9563100" y="1905000"/>
            <a:ext cx="889000" cy="254000"/>
          </a:xfrm>
          <a:prstGeom prst="rect">
            <a:avLst/>
          </a:prstGeom>
          <a:noFill/>
        </p:spPr>
        <p:txBody>
          <a:bodyPr wrap="square" lIns="0" rIns="0" tIns="0" bIns="0" anchor="t">
            <a:spAutoFit/>
          </a:bodyPr>
          <a:lstStyle/>
          <a:p>
            <a:pPr algn="ctr">
              <a:lnSpc>
                <a:spcPct val="125000"/>
              </a:lnSpc>
              <a:spcAft>
                <a:spcPts val="0"/>
              </a:spcAft>
            </a:pPr>
            <a:r>
              <a:rPr sz="1725" b="1" i="0">
                <a:solidFill>
                  <a:srgbClr val="0A2540"/>
                </a:solidFill>
                <a:latin typeface="DM Sans"/>
              </a:rPr>
              <a:t>V7</a:t>
            </a:r>
          </a:p>
        </p:txBody>
      </p:sp>
      <p:sp>
        <p:nvSpPr>
          <p:cNvPr id="20" name="TextBox 19"/>
          <p:cNvSpPr txBox="1"/>
          <p:nvPr/>
        </p:nvSpPr>
        <p:spPr>
          <a:xfrm>
            <a:off x="9563100" y="2171700"/>
            <a:ext cx="889000" cy="228600"/>
          </a:xfrm>
          <a:prstGeom prst="rect">
            <a:avLst/>
          </a:prstGeom>
          <a:noFill/>
        </p:spPr>
        <p:txBody>
          <a:bodyPr wrap="square" lIns="0" rIns="0" tIns="0" bIns="0" anchor="t">
            <a:spAutoFit/>
          </a:bodyPr>
          <a:lstStyle/>
          <a:p>
            <a:pPr algn="ctr">
              <a:lnSpc>
                <a:spcPct val="125000"/>
              </a:lnSpc>
              <a:spcAft>
                <a:spcPts val="0"/>
              </a:spcAft>
            </a:pPr>
            <a:r>
              <a:rPr sz="1380" b="0" i="0">
                <a:solidFill>
                  <a:srgbClr val="5A6E80"/>
                </a:solidFill>
                <a:latin typeface="DM Sans"/>
              </a:rPr>
              <a:t>m 15</a:t>
            </a:r>
          </a:p>
        </p:txBody>
      </p:sp>
      <p:sp>
        <p:nvSpPr>
          <p:cNvPr id="21" name="TextBox 20"/>
          <p:cNvSpPr txBox="1"/>
          <p:nvPr/>
        </p:nvSpPr>
        <p:spPr>
          <a:xfrm>
            <a:off x="10477500" y="1905000"/>
            <a:ext cx="889000" cy="254000"/>
          </a:xfrm>
          <a:prstGeom prst="rect">
            <a:avLst/>
          </a:prstGeom>
          <a:noFill/>
        </p:spPr>
        <p:txBody>
          <a:bodyPr wrap="square" lIns="0" rIns="0" tIns="0" bIns="0" anchor="t">
            <a:spAutoFit/>
          </a:bodyPr>
          <a:lstStyle/>
          <a:p>
            <a:pPr algn="ctr">
              <a:lnSpc>
                <a:spcPct val="125000"/>
              </a:lnSpc>
              <a:spcAft>
                <a:spcPts val="0"/>
              </a:spcAft>
            </a:pPr>
            <a:r>
              <a:rPr sz="1725" b="1" i="0">
                <a:solidFill>
                  <a:srgbClr val="0A2540"/>
                </a:solidFill>
                <a:latin typeface="DM Sans"/>
              </a:rPr>
              <a:t>V8</a:t>
            </a:r>
          </a:p>
        </p:txBody>
      </p:sp>
      <p:sp>
        <p:nvSpPr>
          <p:cNvPr id="22" name="TextBox 21"/>
          <p:cNvSpPr txBox="1"/>
          <p:nvPr/>
        </p:nvSpPr>
        <p:spPr>
          <a:xfrm>
            <a:off x="10477500" y="2171700"/>
            <a:ext cx="889000" cy="228600"/>
          </a:xfrm>
          <a:prstGeom prst="rect">
            <a:avLst/>
          </a:prstGeom>
          <a:noFill/>
        </p:spPr>
        <p:txBody>
          <a:bodyPr wrap="square" lIns="0" rIns="0" tIns="0" bIns="0" anchor="t">
            <a:spAutoFit/>
          </a:bodyPr>
          <a:lstStyle/>
          <a:p>
            <a:pPr algn="ctr">
              <a:lnSpc>
                <a:spcPct val="125000"/>
              </a:lnSpc>
              <a:spcAft>
                <a:spcPts val="0"/>
              </a:spcAft>
            </a:pPr>
            <a:r>
              <a:rPr sz="1380" b="0" i="0">
                <a:solidFill>
                  <a:srgbClr val="5A6E80"/>
                </a:solidFill>
                <a:latin typeface="DM Sans"/>
              </a:rPr>
              <a:t>m 18</a:t>
            </a:r>
          </a:p>
        </p:txBody>
      </p:sp>
      <p:cxnSp>
        <p:nvCxnSpPr>
          <p:cNvPr id="23" name="Connector 22"/>
          <p:cNvCxnSpPr/>
          <p:nvPr/>
        </p:nvCxnSpPr>
        <p:spPr>
          <a:xfrm>
            <a:off x="812800" y="250825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2800" y="2647950"/>
            <a:ext cx="3111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0A2540"/>
                </a:solidFill>
                <a:latin typeface="DM Serif Display"/>
              </a:rPr>
              <a:t>Levenskwaliteit</a:t>
            </a:r>
          </a:p>
        </p:txBody>
      </p:sp>
      <p:sp>
        <p:nvSpPr>
          <p:cNvPr id="25" name="TextBox 24"/>
          <p:cNvSpPr txBox="1"/>
          <p:nvPr/>
        </p:nvSpPr>
        <p:spPr>
          <a:xfrm>
            <a:off x="812800" y="2952750"/>
            <a:ext cx="3111500" cy="2286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EQ-5D-5L, op papier</a:t>
            </a:r>
          </a:p>
        </p:txBody>
      </p:sp>
      <p:sp>
        <p:nvSpPr>
          <p:cNvPr id="26" name="Oval 25"/>
          <p:cNvSpPr/>
          <p:nvPr/>
        </p:nvSpPr>
        <p:spPr>
          <a:xfrm>
            <a:off x="4425950" y="28067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254750" y="28067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169150" y="28067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83550" y="28067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997950" y="28067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912350" y="28067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826750" y="28067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812800" y="32385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12800" y="3378200"/>
            <a:ext cx="3111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0A2540"/>
                </a:solidFill>
                <a:latin typeface="DM Serif Display"/>
              </a:rPr>
              <a:t>Zorggebruik</a:t>
            </a:r>
          </a:p>
        </p:txBody>
      </p:sp>
      <p:sp>
        <p:nvSpPr>
          <p:cNvPr id="35" name="TextBox 34"/>
          <p:cNvSpPr txBox="1"/>
          <p:nvPr/>
        </p:nvSpPr>
        <p:spPr>
          <a:xfrm>
            <a:off x="812800" y="3683000"/>
            <a:ext cx="3111500" cy="2286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iMTA iMCQ, op papier</a:t>
            </a:r>
          </a:p>
        </p:txBody>
      </p:sp>
      <p:sp>
        <p:nvSpPr>
          <p:cNvPr id="36" name="Oval 35"/>
          <p:cNvSpPr/>
          <p:nvPr/>
        </p:nvSpPr>
        <p:spPr>
          <a:xfrm>
            <a:off x="6254750" y="35369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169150" y="35369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083550" y="35369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97950" y="35369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912350" y="35369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826750" y="35369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812800" y="396875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12800" y="4108450"/>
            <a:ext cx="3111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0A2540"/>
                </a:solidFill>
                <a:latin typeface="DM Serif Display"/>
              </a:rPr>
              <a:t>Productiviteit</a:t>
            </a:r>
          </a:p>
        </p:txBody>
      </p:sp>
      <p:sp>
        <p:nvSpPr>
          <p:cNvPr id="44" name="TextBox 43"/>
          <p:cNvSpPr txBox="1"/>
          <p:nvPr/>
        </p:nvSpPr>
        <p:spPr>
          <a:xfrm>
            <a:off x="812800" y="4413250"/>
            <a:ext cx="3111500" cy="2286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iMTA iPCQ, op papier</a:t>
            </a:r>
          </a:p>
        </p:txBody>
      </p:sp>
      <p:sp>
        <p:nvSpPr>
          <p:cNvPr id="45" name="Oval 44"/>
          <p:cNvSpPr/>
          <p:nvPr/>
        </p:nvSpPr>
        <p:spPr>
          <a:xfrm>
            <a:off x="6254750" y="42672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169150" y="42672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083550" y="42672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997950" y="42672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912350" y="42672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826750" y="426720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812800" y="46990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812800" y="4838700"/>
            <a:ext cx="3111500" cy="317500"/>
          </a:xfrm>
          <a:prstGeom prst="rect">
            <a:avLst/>
          </a:prstGeom>
          <a:noFill/>
        </p:spPr>
        <p:txBody>
          <a:bodyPr wrap="square" lIns="0" rIns="0" tIns="0" bIns="0" anchor="t">
            <a:spAutoFit/>
          </a:bodyPr>
          <a:lstStyle/>
          <a:p>
            <a:pPr algn="l">
              <a:lnSpc>
                <a:spcPct val="125000"/>
              </a:lnSpc>
              <a:spcAft>
                <a:spcPts val="0"/>
              </a:spcAft>
            </a:pPr>
            <a:r>
              <a:rPr sz="1839" b="0" i="0">
                <a:solidFill>
                  <a:srgbClr val="0A2540"/>
                </a:solidFill>
                <a:latin typeface="DM Serif Display"/>
              </a:rPr>
              <a:t>Kostendagboek</a:t>
            </a:r>
          </a:p>
        </p:txBody>
      </p:sp>
      <p:sp>
        <p:nvSpPr>
          <p:cNvPr id="53" name="TextBox 52"/>
          <p:cNvSpPr txBox="1"/>
          <p:nvPr/>
        </p:nvSpPr>
        <p:spPr>
          <a:xfrm>
            <a:off x="812800" y="5143500"/>
            <a:ext cx="3111500" cy="2286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telefonisch, door het studieteam</a:t>
            </a:r>
          </a:p>
        </p:txBody>
      </p:sp>
      <p:sp>
        <p:nvSpPr>
          <p:cNvPr id="54" name="Oval 53"/>
          <p:cNvSpPr/>
          <p:nvPr/>
        </p:nvSpPr>
        <p:spPr>
          <a:xfrm>
            <a:off x="4425950" y="49974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4616450" y="5092700"/>
            <a:ext cx="1638300" cy="0"/>
          </a:xfrm>
          <a:prstGeom prst="line">
            <a:avLst/>
          </a:prstGeom>
          <a:ln w="25400">
            <a:solidFill>
              <a:srgbClr val="0B6E8F"/>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4700" y="5168900"/>
            <a:ext cx="1828800" cy="228600"/>
          </a:xfrm>
          <a:prstGeom prst="rect">
            <a:avLst/>
          </a:prstGeom>
          <a:noFill/>
        </p:spPr>
        <p:txBody>
          <a:bodyPr wrap="square" lIns="0" rIns="0" tIns="0" bIns="0" anchor="t">
            <a:spAutoFit/>
          </a:bodyPr>
          <a:lstStyle/>
          <a:p>
            <a:pPr algn="ctr">
              <a:lnSpc>
                <a:spcPct val="125000"/>
              </a:lnSpc>
              <a:spcAft>
                <a:spcPts val="0"/>
              </a:spcAft>
            </a:pPr>
            <a:r>
              <a:rPr sz="1380" b="0" i="0">
                <a:solidFill>
                  <a:srgbClr val="0B6E8F"/>
                </a:solidFill>
                <a:latin typeface="DM Sans"/>
              </a:rPr>
              <a:t>elke 2 weken</a:t>
            </a:r>
          </a:p>
        </p:txBody>
      </p:sp>
      <p:sp>
        <p:nvSpPr>
          <p:cNvPr id="57" name="Oval 56"/>
          <p:cNvSpPr/>
          <p:nvPr/>
        </p:nvSpPr>
        <p:spPr>
          <a:xfrm>
            <a:off x="6254750" y="49974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169150" y="49974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083550" y="49974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997950" y="49974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912350" y="49974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0826750" y="4997450"/>
            <a:ext cx="190500" cy="190500"/>
          </a:xfrm>
          <a:prstGeom prst="ellipse">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812800" y="542925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812800" y="5575300"/>
            <a:ext cx="10566400" cy="279400"/>
          </a:xfrm>
          <a:prstGeom prst="rect">
            <a:avLst/>
          </a:prstGeom>
          <a:noFill/>
        </p:spPr>
        <p:txBody>
          <a:bodyPr wrap="square" lIns="0" rIns="0" tIns="0" bIns="0" anchor="t">
            <a:spAutoFit/>
          </a:bodyPr>
          <a:lstStyle/>
          <a:p>
            <a:pPr algn="l">
              <a:lnSpc>
                <a:spcPct val="125000"/>
              </a:lnSpc>
              <a:spcAft>
                <a:spcPts val="0"/>
              </a:spcAft>
            </a:pPr>
            <a:r>
              <a:rPr sz="1609" b="1" i="0">
                <a:solidFill>
                  <a:srgbClr val="A34A00"/>
                </a:solidFill>
                <a:latin typeface="DM Sans"/>
              </a:rPr>
              <a:t>Uw team: </a:t>
            </a:r>
            <a:r>
              <a:rPr sz="1609" b="0" i="0">
                <a:solidFill>
                  <a:srgbClr val="A34A00"/>
                </a:solidFill>
                <a:latin typeface="DM Sans"/>
              </a:rPr>
              <a:t>de vragenlijsten in de wachtzaal nakijken op volledigheid. Het studieteam voert ze in.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z2"/>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Tijd is ook een kost: start- en einduur op elke visite</a:t>
            </a:r>
          </a:p>
        </p:txBody>
      </p:sp>
      <p:pic>
        <p:nvPicPr>
          <p:cNvPr id="4" name="Picture 3" descr="merk.png"/>
          <p:cNvPicPr>
            <a:picLocks noChangeAspect="1"/>
          </p:cNvPicPr>
          <p:nvPr/>
        </p:nvPicPr>
        <p:blipFill>
          <a:blip r:embed="rId2"/>
          <a:stretch>
            <a:fillRect/>
          </a:stretch>
        </p:blipFill>
        <p:spPr>
          <a:xfrm>
            <a:off x="812800" y="6261100"/>
            <a:ext cx="177800" cy="203200"/>
          </a:xfrm>
          <a:prstGeom prst="rect">
            <a:avLst/>
          </a:prstGeom>
        </p:spPr>
      </p:pic>
      <p:sp>
        <p:nvSpPr>
          <p:cNvPr id="5" name="TextBox 4"/>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Gezondheidseconomie</a:t>
            </a:r>
          </a:p>
        </p:txBody>
      </p:sp>
      <p:sp>
        <p:nvSpPr>
          <p:cNvPr id="6" name="TextBox 5"/>
          <p:cNvSpPr txBox="1"/>
          <p:nvPr/>
        </p:nvSpPr>
        <p:spPr>
          <a:xfrm>
            <a:off x="5207000" y="6261100"/>
            <a:ext cx="6172200" cy="203200"/>
          </a:xfrm>
          <a:prstGeom prst="rect">
            <a:avLst/>
          </a:prstGeom>
          <a:noFill/>
        </p:spPr>
        <p:txBody>
          <a:bodyPr wrap="square" lIns="0" rIns="0" tIns="0" bIns="0" anchor="t">
            <a:spAutoFit/>
          </a:bodyPr>
          <a:lstStyle/>
          <a:p>
            <a:pPr algn="r">
              <a:lnSpc>
                <a:spcPct val="125000"/>
              </a:lnSpc>
              <a:spcAft>
                <a:spcPts val="0"/>
              </a:spcAft>
            </a:pPr>
            <a:r>
              <a:rPr sz="1380" b="0" i="0">
                <a:solidFill>
                  <a:srgbClr val="5A6E80"/>
                </a:solidFill>
                <a:latin typeface="DM Sans"/>
              </a:rPr>
              <a:t>Bron: eCRF 49 (21 oktober 2026) · protocol §7.1</a:t>
            </a:r>
          </a:p>
        </p:txBody>
      </p:sp>
      <p:sp>
        <p:nvSpPr>
          <p:cNvPr id="7" name="Rounded Rectangle 6"/>
          <p:cNvSpPr/>
          <p:nvPr/>
        </p:nvSpPr>
        <p:spPr>
          <a:xfrm>
            <a:off x="812800" y="1905000"/>
            <a:ext cx="1701800" cy="355600"/>
          </a:xfrm>
          <a:prstGeom prst="roundRect">
            <a:avLst>
              <a:gd name="adj" fmla="val 50000"/>
            </a:avLst>
          </a:prstGeom>
          <a:solidFill>
            <a:srgbClr val="FFFFFF"/>
          </a:solidFill>
          <a:ln w="15875">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1962150"/>
            <a:ext cx="1701800" cy="254000"/>
          </a:xfrm>
          <a:prstGeom prst="rect">
            <a:avLst/>
          </a:prstGeom>
          <a:noFill/>
        </p:spPr>
        <p:txBody>
          <a:bodyPr wrap="square" lIns="0" rIns="0" tIns="0" bIns="0" anchor="t">
            <a:spAutoFit/>
          </a:bodyPr>
          <a:lstStyle/>
          <a:p>
            <a:pPr algn="ctr">
              <a:lnSpc>
                <a:spcPct val="125000"/>
              </a:lnSpc>
              <a:spcAft>
                <a:spcPts val="0"/>
              </a:spcAft>
            </a:pPr>
            <a:r>
              <a:rPr sz="1500" b="1" i="0">
                <a:solidFill>
                  <a:srgbClr val="0B6E8F"/>
                </a:solidFill>
                <a:latin typeface="DM Sans"/>
              </a:rPr>
              <a:t>Optimal Care</a:t>
            </a:r>
          </a:p>
        </p:txBody>
      </p:sp>
      <p:sp>
        <p:nvSpPr>
          <p:cNvPr id="9" name="Rounded Rectangle 8"/>
          <p:cNvSpPr/>
          <p:nvPr/>
        </p:nvSpPr>
        <p:spPr>
          <a:xfrm>
            <a:off x="2641600" y="1905000"/>
            <a:ext cx="1460500" cy="355600"/>
          </a:xfrm>
          <a:prstGeom prst="roundRect">
            <a:avLst>
              <a:gd name="adj" fmla="val 50000"/>
            </a:avLst>
          </a:prstGeom>
          <a:solidFill>
            <a:srgbClr val="FFFFFF"/>
          </a:solidFill>
          <a:ln w="15875">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41600" y="1962150"/>
            <a:ext cx="1460500" cy="254000"/>
          </a:xfrm>
          <a:prstGeom prst="rect">
            <a:avLst/>
          </a:prstGeom>
          <a:noFill/>
        </p:spPr>
        <p:txBody>
          <a:bodyPr wrap="square" lIns="0" rIns="0" tIns="0" bIns="0" anchor="t">
            <a:spAutoFit/>
          </a:bodyPr>
          <a:lstStyle/>
          <a:p>
            <a:pPr algn="ctr">
              <a:lnSpc>
                <a:spcPct val="125000"/>
              </a:lnSpc>
              <a:spcAft>
                <a:spcPts val="0"/>
              </a:spcAft>
            </a:pPr>
            <a:r>
              <a:rPr sz="1500" b="1" i="0">
                <a:solidFill>
                  <a:srgbClr val="0B6E8F"/>
                </a:solidFill>
                <a:latin typeface="DM Sans"/>
              </a:rPr>
              <a:t>Usual Care</a:t>
            </a:r>
          </a:p>
        </p:txBody>
      </p:sp>
      <p:sp>
        <p:nvSpPr>
          <p:cNvPr id="11" name="TextBox 10"/>
          <p:cNvSpPr txBox="1"/>
          <p:nvPr/>
        </p:nvSpPr>
        <p:spPr>
          <a:xfrm>
            <a:off x="4622800" y="1930400"/>
            <a:ext cx="6731000" cy="254000"/>
          </a:xfrm>
          <a:prstGeom prst="rect">
            <a:avLst/>
          </a:prstGeom>
          <a:noFill/>
        </p:spPr>
        <p:txBody>
          <a:bodyPr wrap="square" lIns="0" rIns="0" tIns="0" bIns="0" anchor="t">
            <a:spAutoFit/>
          </a:bodyPr>
          <a:lstStyle/>
          <a:p>
            <a:pPr algn="l">
              <a:lnSpc>
                <a:spcPct val="125000"/>
              </a:lnSpc>
              <a:spcAft>
                <a:spcPts val="0"/>
              </a:spcAft>
            </a:pPr>
            <a:r>
              <a:rPr sz="1725" b="1" i="0">
                <a:solidFill>
                  <a:srgbClr val="0A2540"/>
                </a:solidFill>
                <a:latin typeface="DM Sans"/>
              </a:rPr>
              <a:t>V1 tot V8</a:t>
            </a:r>
          </a:p>
        </p:txBody>
      </p:sp>
      <p:cxnSp>
        <p:nvCxnSpPr>
          <p:cNvPr id="12" name="Connector 11"/>
          <p:cNvCxnSpPr/>
          <p:nvPr/>
        </p:nvCxnSpPr>
        <p:spPr>
          <a:xfrm>
            <a:off x="812800" y="2540000"/>
            <a:ext cx="10566400" cy="0"/>
          </a:xfrm>
          <a:prstGeom prst="line">
            <a:avLst/>
          </a:prstGeom>
          <a:ln w="12700">
            <a:solidFill>
              <a:srgbClr val="0A254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89000" y="2667000"/>
            <a:ext cx="2006600" cy="279400"/>
          </a:xfrm>
          <a:prstGeom prst="rect">
            <a:avLst/>
          </a:prstGeom>
          <a:noFill/>
        </p:spPr>
        <p:txBody>
          <a:bodyPr wrap="square" lIns="0" rIns="0" tIns="0" bIns="0" anchor="t">
            <a:spAutoFit/>
          </a:bodyPr>
          <a:lstStyle/>
          <a:p>
            <a:pPr algn="l">
              <a:lnSpc>
                <a:spcPct val="125000"/>
              </a:lnSpc>
              <a:spcAft>
                <a:spcPts val="0"/>
              </a:spcAft>
            </a:pPr>
            <a:r>
              <a:rPr sz="1609" b="1" i="0">
                <a:solidFill>
                  <a:srgbClr val="0A2540"/>
                </a:solidFill>
                <a:latin typeface="DM Sans"/>
              </a:rPr>
              <a:t>Zorgverlener</a:t>
            </a:r>
          </a:p>
        </p:txBody>
      </p:sp>
      <p:sp>
        <p:nvSpPr>
          <p:cNvPr id="14" name="TextBox 13"/>
          <p:cNvSpPr txBox="1"/>
          <p:nvPr/>
        </p:nvSpPr>
        <p:spPr>
          <a:xfrm>
            <a:off x="3048000" y="2667000"/>
            <a:ext cx="1943100" cy="279400"/>
          </a:xfrm>
          <a:prstGeom prst="rect">
            <a:avLst/>
          </a:prstGeom>
          <a:noFill/>
        </p:spPr>
        <p:txBody>
          <a:bodyPr wrap="square" lIns="0" rIns="0" tIns="0" bIns="0" anchor="t">
            <a:spAutoFit/>
          </a:bodyPr>
          <a:lstStyle/>
          <a:p>
            <a:pPr algn="l">
              <a:lnSpc>
                <a:spcPct val="125000"/>
              </a:lnSpc>
              <a:spcAft>
                <a:spcPts val="0"/>
              </a:spcAft>
            </a:pPr>
            <a:r>
              <a:rPr sz="1609" b="1" i="0">
                <a:solidFill>
                  <a:srgbClr val="0A2540"/>
                </a:solidFill>
                <a:latin typeface="DM Sans"/>
              </a:rPr>
              <a:t>Zag de deelnemer</a:t>
            </a:r>
          </a:p>
        </p:txBody>
      </p:sp>
      <p:sp>
        <p:nvSpPr>
          <p:cNvPr id="15" name="TextBox 14"/>
          <p:cNvSpPr txBox="1"/>
          <p:nvPr/>
        </p:nvSpPr>
        <p:spPr>
          <a:xfrm>
            <a:off x="5143500" y="2667000"/>
            <a:ext cx="1244600" cy="279400"/>
          </a:xfrm>
          <a:prstGeom prst="rect">
            <a:avLst/>
          </a:prstGeom>
          <a:noFill/>
        </p:spPr>
        <p:txBody>
          <a:bodyPr wrap="square" lIns="0" rIns="0" tIns="0" bIns="0" anchor="t">
            <a:spAutoFit/>
          </a:bodyPr>
          <a:lstStyle/>
          <a:p>
            <a:pPr algn="l">
              <a:lnSpc>
                <a:spcPct val="125000"/>
              </a:lnSpc>
              <a:spcAft>
                <a:spcPts val="0"/>
              </a:spcAft>
            </a:pPr>
            <a:r>
              <a:rPr sz="1609" b="1" i="0">
                <a:solidFill>
                  <a:srgbClr val="0A2540"/>
                </a:solidFill>
                <a:latin typeface="DM Sans"/>
              </a:rPr>
              <a:t>Initialen</a:t>
            </a:r>
          </a:p>
        </p:txBody>
      </p:sp>
      <p:sp>
        <p:nvSpPr>
          <p:cNvPr id="16" name="TextBox 15"/>
          <p:cNvSpPr txBox="1"/>
          <p:nvPr/>
        </p:nvSpPr>
        <p:spPr>
          <a:xfrm>
            <a:off x="6540500" y="2667000"/>
            <a:ext cx="2133600" cy="279400"/>
          </a:xfrm>
          <a:prstGeom prst="rect">
            <a:avLst/>
          </a:prstGeom>
          <a:noFill/>
        </p:spPr>
        <p:txBody>
          <a:bodyPr wrap="square" lIns="0" rIns="0" tIns="0" bIns="0" anchor="t">
            <a:spAutoFit/>
          </a:bodyPr>
          <a:lstStyle/>
          <a:p>
            <a:pPr algn="l">
              <a:lnSpc>
                <a:spcPct val="125000"/>
              </a:lnSpc>
              <a:spcAft>
                <a:spcPts val="0"/>
              </a:spcAft>
            </a:pPr>
            <a:r>
              <a:rPr sz="1609" b="1" i="0">
                <a:solidFill>
                  <a:srgbClr val="0A2540"/>
                </a:solidFill>
                <a:latin typeface="DM Sans"/>
              </a:rPr>
              <a:t>Startuur</a:t>
            </a:r>
          </a:p>
        </p:txBody>
      </p:sp>
      <p:sp>
        <p:nvSpPr>
          <p:cNvPr id="17" name="TextBox 16"/>
          <p:cNvSpPr txBox="1"/>
          <p:nvPr/>
        </p:nvSpPr>
        <p:spPr>
          <a:xfrm>
            <a:off x="8826500" y="2667000"/>
            <a:ext cx="2133600" cy="279400"/>
          </a:xfrm>
          <a:prstGeom prst="rect">
            <a:avLst/>
          </a:prstGeom>
          <a:noFill/>
        </p:spPr>
        <p:txBody>
          <a:bodyPr wrap="square" lIns="0" rIns="0" tIns="0" bIns="0" anchor="t">
            <a:spAutoFit/>
          </a:bodyPr>
          <a:lstStyle/>
          <a:p>
            <a:pPr algn="l">
              <a:lnSpc>
                <a:spcPct val="125000"/>
              </a:lnSpc>
              <a:spcAft>
                <a:spcPts val="0"/>
              </a:spcAft>
            </a:pPr>
            <a:r>
              <a:rPr sz="1609" b="1" i="0">
                <a:solidFill>
                  <a:srgbClr val="0A2540"/>
                </a:solidFill>
                <a:latin typeface="DM Sans"/>
              </a:rPr>
              <a:t>Einduur</a:t>
            </a:r>
          </a:p>
        </p:txBody>
      </p:sp>
      <p:cxnSp>
        <p:nvCxnSpPr>
          <p:cNvPr id="18" name="Connector 17"/>
          <p:cNvCxnSpPr/>
          <p:nvPr/>
        </p:nvCxnSpPr>
        <p:spPr>
          <a:xfrm>
            <a:off x="812800" y="30480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89000" y="3251200"/>
            <a:ext cx="2032000" cy="2794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Podoloog</a:t>
            </a:r>
          </a:p>
        </p:txBody>
      </p:sp>
      <p:sp>
        <p:nvSpPr>
          <p:cNvPr id="20" name="TextBox 19"/>
          <p:cNvSpPr txBox="1"/>
          <p:nvPr/>
        </p:nvSpPr>
        <p:spPr>
          <a:xfrm>
            <a:off x="3048000" y="3251200"/>
            <a:ext cx="1968500" cy="2794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 Ja   ☐ Nee</a:t>
            </a:r>
          </a:p>
        </p:txBody>
      </p:sp>
      <p:sp>
        <p:nvSpPr>
          <p:cNvPr id="21" name="Rounded Rectangle 20"/>
          <p:cNvSpPr/>
          <p:nvPr/>
        </p:nvSpPr>
        <p:spPr>
          <a:xfrm>
            <a:off x="6540500" y="3187700"/>
            <a:ext cx="1905000" cy="406400"/>
          </a:xfrm>
          <a:prstGeom prst="roundRect">
            <a:avLst>
              <a:gd name="adj" fmla="val 15000"/>
            </a:avLst>
          </a:prstGeom>
          <a:solidFill>
            <a:srgbClr val="FFFFFF"/>
          </a:solidFill>
          <a:ln w="1270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40500" y="3251200"/>
            <a:ext cx="1905000" cy="279400"/>
          </a:xfrm>
          <a:prstGeom prst="rect">
            <a:avLst/>
          </a:prstGeom>
          <a:noFill/>
        </p:spPr>
        <p:txBody>
          <a:bodyPr wrap="square" lIns="0" rIns="0" tIns="0" bIns="0" anchor="t">
            <a:spAutoFit/>
          </a:bodyPr>
          <a:lstStyle/>
          <a:p>
            <a:pPr algn="ctr">
              <a:lnSpc>
                <a:spcPct val="125000"/>
              </a:lnSpc>
              <a:spcAft>
                <a:spcPts val="0"/>
              </a:spcAft>
            </a:pPr>
            <a:r>
              <a:rPr sz="1725" b="0" i="0">
                <a:solidFill>
                  <a:srgbClr val="A34A00"/>
                </a:solidFill>
                <a:latin typeface="DM Sans"/>
              </a:rPr>
              <a:t>__ : __</a:t>
            </a:r>
          </a:p>
        </p:txBody>
      </p:sp>
      <p:sp>
        <p:nvSpPr>
          <p:cNvPr id="23" name="Rounded Rectangle 22"/>
          <p:cNvSpPr/>
          <p:nvPr/>
        </p:nvSpPr>
        <p:spPr>
          <a:xfrm>
            <a:off x="8826500" y="3187700"/>
            <a:ext cx="1905000" cy="406400"/>
          </a:xfrm>
          <a:prstGeom prst="roundRect">
            <a:avLst>
              <a:gd name="adj" fmla="val 15000"/>
            </a:avLst>
          </a:prstGeom>
          <a:solidFill>
            <a:srgbClr val="FFFFFF"/>
          </a:solidFill>
          <a:ln w="1270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26500" y="3251200"/>
            <a:ext cx="1905000" cy="279400"/>
          </a:xfrm>
          <a:prstGeom prst="rect">
            <a:avLst/>
          </a:prstGeom>
          <a:noFill/>
        </p:spPr>
        <p:txBody>
          <a:bodyPr wrap="square" lIns="0" rIns="0" tIns="0" bIns="0" anchor="t">
            <a:spAutoFit/>
          </a:bodyPr>
          <a:lstStyle/>
          <a:p>
            <a:pPr algn="ctr">
              <a:lnSpc>
                <a:spcPct val="125000"/>
              </a:lnSpc>
              <a:spcAft>
                <a:spcPts val="0"/>
              </a:spcAft>
            </a:pPr>
            <a:r>
              <a:rPr sz="1725" b="0" i="0">
                <a:solidFill>
                  <a:srgbClr val="A34A00"/>
                </a:solidFill>
                <a:latin typeface="DM Sans"/>
              </a:rPr>
              <a:t>__ : __</a:t>
            </a:r>
          </a:p>
        </p:txBody>
      </p:sp>
      <p:cxnSp>
        <p:nvCxnSpPr>
          <p:cNvPr id="25" name="Connector 24"/>
          <p:cNvCxnSpPr/>
          <p:nvPr/>
        </p:nvCxnSpPr>
        <p:spPr>
          <a:xfrm>
            <a:off x="812800" y="37465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89000" y="3949700"/>
            <a:ext cx="2032000" cy="2794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Verpleegkundige</a:t>
            </a:r>
          </a:p>
        </p:txBody>
      </p:sp>
      <p:sp>
        <p:nvSpPr>
          <p:cNvPr id="27" name="TextBox 26"/>
          <p:cNvSpPr txBox="1"/>
          <p:nvPr/>
        </p:nvSpPr>
        <p:spPr>
          <a:xfrm>
            <a:off x="3048000" y="3949700"/>
            <a:ext cx="1968500" cy="2794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 Ja   ☐ Nee</a:t>
            </a:r>
          </a:p>
        </p:txBody>
      </p:sp>
      <p:sp>
        <p:nvSpPr>
          <p:cNvPr id="28" name="Rounded Rectangle 27"/>
          <p:cNvSpPr/>
          <p:nvPr/>
        </p:nvSpPr>
        <p:spPr>
          <a:xfrm>
            <a:off x="6540500" y="3886200"/>
            <a:ext cx="1905000" cy="406400"/>
          </a:xfrm>
          <a:prstGeom prst="roundRect">
            <a:avLst>
              <a:gd name="adj" fmla="val 15000"/>
            </a:avLst>
          </a:prstGeom>
          <a:solidFill>
            <a:srgbClr val="FFFFFF"/>
          </a:solidFill>
          <a:ln w="1270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40500" y="3949700"/>
            <a:ext cx="1905000" cy="279400"/>
          </a:xfrm>
          <a:prstGeom prst="rect">
            <a:avLst/>
          </a:prstGeom>
          <a:noFill/>
        </p:spPr>
        <p:txBody>
          <a:bodyPr wrap="square" lIns="0" rIns="0" tIns="0" bIns="0" anchor="t">
            <a:spAutoFit/>
          </a:bodyPr>
          <a:lstStyle/>
          <a:p>
            <a:pPr algn="ctr">
              <a:lnSpc>
                <a:spcPct val="125000"/>
              </a:lnSpc>
              <a:spcAft>
                <a:spcPts val="0"/>
              </a:spcAft>
            </a:pPr>
            <a:r>
              <a:rPr sz="1725" b="0" i="0">
                <a:solidFill>
                  <a:srgbClr val="A34A00"/>
                </a:solidFill>
                <a:latin typeface="DM Sans"/>
              </a:rPr>
              <a:t>__ : __</a:t>
            </a:r>
          </a:p>
        </p:txBody>
      </p:sp>
      <p:sp>
        <p:nvSpPr>
          <p:cNvPr id="30" name="Rounded Rectangle 29"/>
          <p:cNvSpPr/>
          <p:nvPr/>
        </p:nvSpPr>
        <p:spPr>
          <a:xfrm>
            <a:off x="8826500" y="3886200"/>
            <a:ext cx="1905000" cy="406400"/>
          </a:xfrm>
          <a:prstGeom prst="roundRect">
            <a:avLst>
              <a:gd name="adj" fmla="val 15000"/>
            </a:avLst>
          </a:prstGeom>
          <a:solidFill>
            <a:srgbClr val="FFFFFF"/>
          </a:solidFill>
          <a:ln w="1270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26500" y="3949700"/>
            <a:ext cx="1905000" cy="279400"/>
          </a:xfrm>
          <a:prstGeom prst="rect">
            <a:avLst/>
          </a:prstGeom>
          <a:noFill/>
        </p:spPr>
        <p:txBody>
          <a:bodyPr wrap="square" lIns="0" rIns="0" tIns="0" bIns="0" anchor="t">
            <a:spAutoFit/>
          </a:bodyPr>
          <a:lstStyle/>
          <a:p>
            <a:pPr algn="ctr">
              <a:lnSpc>
                <a:spcPct val="125000"/>
              </a:lnSpc>
              <a:spcAft>
                <a:spcPts val="0"/>
              </a:spcAft>
            </a:pPr>
            <a:r>
              <a:rPr sz="1725" b="0" i="0">
                <a:solidFill>
                  <a:srgbClr val="A34A00"/>
                </a:solidFill>
                <a:latin typeface="DM Sans"/>
              </a:rPr>
              <a:t>__ : __</a:t>
            </a:r>
          </a:p>
        </p:txBody>
      </p:sp>
      <p:cxnSp>
        <p:nvCxnSpPr>
          <p:cNvPr id="32" name="Connector 31"/>
          <p:cNvCxnSpPr/>
          <p:nvPr/>
        </p:nvCxnSpPr>
        <p:spPr>
          <a:xfrm>
            <a:off x="812800" y="4445000"/>
            <a:ext cx="10566400" cy="0"/>
          </a:xfrm>
          <a:prstGeom prst="line">
            <a:avLst/>
          </a:prstGeom>
          <a:ln w="6350">
            <a:solidFill>
              <a:srgbClr val="D3DF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12800" y="4635500"/>
            <a:ext cx="10566400" cy="317500"/>
          </a:xfrm>
          <a:prstGeom prst="rect">
            <a:avLst/>
          </a:prstGeom>
          <a:noFill/>
        </p:spPr>
        <p:txBody>
          <a:bodyPr wrap="square" lIns="0" rIns="0" tIns="0" bIns="0" anchor="t">
            <a:spAutoFit/>
          </a:bodyPr>
          <a:lstStyle/>
          <a:p>
            <a:pPr algn="l">
              <a:lnSpc>
                <a:spcPct val="125000"/>
              </a:lnSpc>
              <a:spcAft>
                <a:spcPts val="0"/>
              </a:spcAft>
            </a:pPr>
            <a:r>
              <a:rPr sz="1609" b="0" i="0">
                <a:solidFill>
                  <a:srgbClr val="5A6E80"/>
                </a:solidFill>
                <a:latin typeface="DM Sans"/>
              </a:rPr>
              <a:t>De duur in minuten rekent REDCap zelf uit.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2000" cy="6858000"/>
          </a:xfrm>
          <a:prstGeom prst="roundRect">
            <a:avLst>
              <a:gd name="adj" fmla="val 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812800"/>
            <a:ext cx="10566400" cy="1270000"/>
          </a:xfrm>
          <a:prstGeom prst="rect">
            <a:avLst/>
          </a:prstGeom>
          <a:noFill/>
        </p:spPr>
        <p:txBody>
          <a:bodyPr wrap="square" lIns="0" rIns="0" tIns="0" bIns="0" anchor="t">
            <a:spAutoFit/>
          </a:bodyPr>
          <a:lstStyle/>
          <a:p>
            <a:pPr algn="l">
              <a:lnSpc>
                <a:spcPct val="105000"/>
              </a:lnSpc>
              <a:spcAft>
                <a:spcPts val="0"/>
              </a:spcAft>
            </a:pPr>
            <a:r>
              <a:rPr sz="3600" b="0" i="0">
                <a:solidFill>
                  <a:srgbClr val="0A2540"/>
                </a:solidFill>
                <a:latin typeface="DM Serif Display"/>
              </a:rPr>
              <a:t>Twee evaluaties naast de hoofdvraag</a:t>
            </a:r>
          </a:p>
        </p:txBody>
      </p:sp>
      <p:sp>
        <p:nvSpPr>
          <p:cNvPr id="4" name="TextBox 3"/>
          <p:cNvSpPr txBox="1"/>
          <p:nvPr/>
        </p:nvSpPr>
        <p:spPr>
          <a:xfrm>
            <a:off x="812800" y="1473200"/>
            <a:ext cx="10566400" cy="317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De hoofdvraag blijft het recidief van een voetulcus over 18 maanden.</a:t>
            </a:r>
          </a:p>
        </p:txBody>
      </p:sp>
      <p:sp>
        <p:nvSpPr>
          <p:cNvPr id="5" name="!!z1"/>
          <p:cNvSpPr/>
          <p:nvPr/>
        </p:nvSpPr>
        <p:spPr>
          <a:xfrm>
            <a:off x="812800" y="2095500"/>
            <a:ext cx="5080000" cy="3556000"/>
          </a:xfrm>
          <a:prstGeom prst="roundRect">
            <a:avLst>
              <a:gd name="adj" fmla="val 3500"/>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8400" y="2349500"/>
            <a:ext cx="1270000" cy="1270000"/>
          </a:xfrm>
          <a:prstGeom prst="rect">
            <a:avLst/>
          </a:prstGeom>
          <a:noFill/>
        </p:spPr>
        <p:txBody>
          <a:bodyPr wrap="square" lIns="0" rIns="0" tIns="0" bIns="0" anchor="t">
            <a:spAutoFit/>
          </a:bodyPr>
          <a:lstStyle/>
          <a:p>
            <a:pPr algn="l">
              <a:lnSpc>
                <a:spcPct val="90000"/>
              </a:lnSpc>
              <a:spcAft>
                <a:spcPts val="0"/>
              </a:spcAft>
            </a:pPr>
            <a:r>
              <a:rPr sz="8000" b="0" i="0">
                <a:solidFill>
                  <a:srgbClr val="0B6E8F"/>
                </a:solidFill>
                <a:latin typeface="DM Serif Display"/>
              </a:rPr>
              <a:t>1</a:t>
            </a:r>
          </a:p>
        </p:txBody>
      </p:sp>
      <p:sp>
        <p:nvSpPr>
          <p:cNvPr id="7" name="TextBox 6"/>
          <p:cNvSpPr txBox="1"/>
          <p:nvPr/>
        </p:nvSpPr>
        <p:spPr>
          <a:xfrm>
            <a:off x="1168400" y="3746500"/>
            <a:ext cx="4445000" cy="508000"/>
          </a:xfrm>
          <a:prstGeom prst="rect">
            <a:avLst/>
          </a:prstGeom>
          <a:noFill/>
        </p:spPr>
        <p:txBody>
          <a:bodyPr wrap="square" lIns="0" rIns="0" tIns="0" bIns="0" anchor="t">
            <a:spAutoFit/>
          </a:bodyPr>
          <a:lstStyle/>
          <a:p>
            <a:pPr algn="l">
              <a:lnSpc>
                <a:spcPct val="125000"/>
              </a:lnSpc>
              <a:spcAft>
                <a:spcPts val="0"/>
              </a:spcAft>
            </a:pPr>
            <a:r>
              <a:rPr sz="3000" b="0" i="0">
                <a:solidFill>
                  <a:srgbClr val="0A2540"/>
                </a:solidFill>
                <a:latin typeface="DM Serif Display"/>
              </a:rPr>
              <a:t>Procesevaluatie</a:t>
            </a:r>
          </a:p>
        </p:txBody>
      </p:sp>
      <p:sp>
        <p:nvSpPr>
          <p:cNvPr id="8" name="TextBox 7"/>
          <p:cNvSpPr txBox="1"/>
          <p:nvPr/>
        </p:nvSpPr>
        <p:spPr>
          <a:xfrm>
            <a:off x="1168400" y="4318000"/>
            <a:ext cx="4381500" cy="698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Wordt PARADISE geleverd zoals bedoeld, hoe werkt het, en waar?</a:t>
            </a:r>
          </a:p>
        </p:txBody>
      </p:sp>
      <p:sp>
        <p:nvSpPr>
          <p:cNvPr id="9" name="TextBox 8"/>
          <p:cNvSpPr txBox="1"/>
          <p:nvPr/>
        </p:nvSpPr>
        <p:spPr>
          <a:xfrm>
            <a:off x="1168400" y="5207000"/>
            <a:ext cx="4381500" cy="2540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WP2 · Maaike Fobelets, VUB</a:t>
            </a:r>
          </a:p>
        </p:txBody>
      </p:sp>
      <p:sp>
        <p:nvSpPr>
          <p:cNvPr id="10" name="Rounded Rectangle 9"/>
          <p:cNvSpPr/>
          <p:nvPr/>
        </p:nvSpPr>
        <p:spPr>
          <a:xfrm>
            <a:off x="812800" y="2095500"/>
            <a:ext cx="5080000" cy="3556000"/>
          </a:xfrm>
          <a:prstGeom prst="roundRect">
            <a:avLst>
              <a:gd name="adj" fmla="val 3500"/>
            </a:avLst>
          </a:prstGeom>
          <a:solidFill>
            <a:srgbClr val="F2F6F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z2"/>
          <p:cNvSpPr/>
          <p:nvPr/>
        </p:nvSpPr>
        <p:spPr>
          <a:xfrm>
            <a:off x="6299200" y="2095500"/>
            <a:ext cx="5080000" cy="3556000"/>
          </a:xfrm>
          <a:prstGeom prst="roundRect">
            <a:avLst>
              <a:gd name="adj" fmla="val 3500"/>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54800" y="2349500"/>
            <a:ext cx="1270000" cy="1270000"/>
          </a:xfrm>
          <a:prstGeom prst="rect">
            <a:avLst/>
          </a:prstGeom>
          <a:noFill/>
        </p:spPr>
        <p:txBody>
          <a:bodyPr wrap="square" lIns="0" rIns="0" tIns="0" bIns="0" anchor="t">
            <a:spAutoFit/>
          </a:bodyPr>
          <a:lstStyle/>
          <a:p>
            <a:pPr algn="l">
              <a:lnSpc>
                <a:spcPct val="90000"/>
              </a:lnSpc>
              <a:spcAft>
                <a:spcPts val="0"/>
              </a:spcAft>
            </a:pPr>
            <a:r>
              <a:rPr sz="8000" b="0" i="0">
                <a:solidFill>
                  <a:srgbClr val="0B6E8F"/>
                </a:solidFill>
                <a:latin typeface="DM Serif Display"/>
              </a:rPr>
              <a:t>2</a:t>
            </a:r>
          </a:p>
        </p:txBody>
      </p:sp>
      <p:sp>
        <p:nvSpPr>
          <p:cNvPr id="13" name="TextBox 12"/>
          <p:cNvSpPr txBox="1"/>
          <p:nvPr/>
        </p:nvSpPr>
        <p:spPr>
          <a:xfrm>
            <a:off x="6654800" y="3746500"/>
            <a:ext cx="4445000" cy="508000"/>
          </a:xfrm>
          <a:prstGeom prst="rect">
            <a:avLst/>
          </a:prstGeom>
          <a:noFill/>
        </p:spPr>
        <p:txBody>
          <a:bodyPr wrap="square" lIns="0" rIns="0" tIns="0" bIns="0" anchor="t">
            <a:spAutoFit/>
          </a:bodyPr>
          <a:lstStyle/>
          <a:p>
            <a:pPr algn="l">
              <a:lnSpc>
                <a:spcPct val="125000"/>
              </a:lnSpc>
              <a:spcAft>
                <a:spcPts val="0"/>
              </a:spcAft>
            </a:pPr>
            <a:r>
              <a:rPr sz="3000" b="0" i="0">
                <a:solidFill>
                  <a:srgbClr val="0A2540"/>
                </a:solidFill>
                <a:latin typeface="DM Serif Display"/>
              </a:rPr>
              <a:t>Gezondheidseconomie</a:t>
            </a:r>
          </a:p>
        </p:txBody>
      </p:sp>
      <p:sp>
        <p:nvSpPr>
          <p:cNvPr id="14" name="TextBox 13"/>
          <p:cNvSpPr txBox="1"/>
          <p:nvPr/>
        </p:nvSpPr>
        <p:spPr>
          <a:xfrm>
            <a:off x="6654800" y="4318000"/>
            <a:ext cx="4381500" cy="698500"/>
          </a:xfrm>
          <a:prstGeom prst="rect">
            <a:avLst/>
          </a:prstGeom>
          <a:noFill/>
        </p:spPr>
        <p:txBody>
          <a:bodyPr wrap="square" lIns="0" rIns="0" tIns="0" bIns="0" anchor="t">
            <a:spAutoFit/>
          </a:bodyPr>
          <a:lstStyle/>
          <a:p>
            <a:pPr algn="l">
              <a:lnSpc>
                <a:spcPct val="125000"/>
              </a:lnSpc>
              <a:spcAft>
                <a:spcPts val="0"/>
              </a:spcAft>
            </a:pPr>
            <a:r>
              <a:rPr sz="1725" b="0" i="0">
                <a:solidFill>
                  <a:srgbClr val="3A4F63"/>
                </a:solidFill>
                <a:latin typeface="DM Sans"/>
              </a:rPr>
              <a:t>Wat kost PARADISE per gewonnen levensjaar in goede gezondheid?</a:t>
            </a:r>
          </a:p>
        </p:txBody>
      </p:sp>
      <p:sp>
        <p:nvSpPr>
          <p:cNvPr id="15" name="TextBox 14"/>
          <p:cNvSpPr txBox="1"/>
          <p:nvPr/>
        </p:nvSpPr>
        <p:spPr>
          <a:xfrm>
            <a:off x="6654800" y="5207000"/>
            <a:ext cx="4381500" cy="2540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WP3 · Koen Putman, VUB</a:t>
            </a:r>
          </a:p>
        </p:txBody>
      </p:sp>
      <p:sp>
        <p:nvSpPr>
          <p:cNvPr id="16" name="Rounded Rectangle 15"/>
          <p:cNvSpPr/>
          <p:nvPr/>
        </p:nvSpPr>
        <p:spPr>
          <a:xfrm>
            <a:off x="6299200" y="2095500"/>
            <a:ext cx="5080000" cy="3556000"/>
          </a:xfrm>
          <a:prstGeom prst="roundRect">
            <a:avLst>
              <a:gd name="adj" fmla="val 3500"/>
            </a:avLst>
          </a:prstGeom>
          <a:solidFill>
            <a:srgbClr val="F2F6F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erk.png"/>
          <p:cNvPicPr>
            <a:picLocks noChangeAspect="1"/>
          </p:cNvPicPr>
          <p:nvPr/>
        </p:nvPicPr>
        <p:blipFill>
          <a:blip r:embed="rId2"/>
          <a:stretch>
            <a:fillRect/>
          </a:stretch>
        </p:blipFill>
        <p:spPr>
          <a:xfrm>
            <a:off x="812800" y="6261100"/>
            <a:ext cx="177800" cy="203200"/>
          </a:xfrm>
          <a:prstGeom prst="rect">
            <a:avLst/>
          </a:prstGeom>
        </p:spPr>
      </p:pic>
      <p:sp>
        <p:nvSpPr>
          <p:cNvPr id="18" name="TextBox 17"/>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5A6E80"/>
                </a:solidFill>
                <a:latin typeface="DM Sans"/>
              </a:rPr>
              <a:t>PARADISE · Overzicht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xmlns:p14="http://schemas.microsoft.com/office/powerpoint/2010/main" spd="med" p14:dur="700">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2000" cy="6858000"/>
          </a:xfrm>
          <a:prstGeom prst="roundRect">
            <a:avLst>
              <a:gd name="adj" fmla="val 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66400" cy="889000"/>
          </a:xfrm>
          <a:prstGeom prst="rect">
            <a:avLst/>
          </a:prstGeom>
          <a:noFill/>
        </p:spPr>
        <p:txBody>
          <a:bodyPr wrap="square" lIns="0" rIns="0" tIns="0" bIns="0" anchor="t">
            <a:spAutoFit/>
          </a:bodyPr>
          <a:lstStyle/>
          <a:p>
            <a:pPr algn="l">
              <a:lnSpc>
                <a:spcPct val="105000"/>
              </a:lnSpc>
              <a:spcAft>
                <a:spcPts val="0"/>
              </a:spcAft>
            </a:pPr>
            <a:r>
              <a:rPr sz="3600" b="0" i="0">
                <a:solidFill>
                  <a:srgbClr val="F2F8FC"/>
                </a:solidFill>
                <a:latin typeface="DM Serif Display"/>
              </a:rPr>
              <a:t>Vragen over de procesevaluatie of de gezondheidseconomie?</a:t>
            </a:r>
          </a:p>
        </p:txBody>
      </p:sp>
      <p:cxnSp>
        <p:nvCxnSpPr>
          <p:cNvPr id="4" name="Connector 3"/>
          <p:cNvCxnSpPr/>
          <p:nvPr/>
        </p:nvCxnSpPr>
        <p:spPr>
          <a:xfrm>
            <a:off x="812800" y="3556000"/>
            <a:ext cx="10566400" cy="0"/>
          </a:xfrm>
          <a:prstGeom prst="line">
            <a:avLst/>
          </a:prstGeom>
          <a:ln w="6350">
            <a:solidFill>
              <a:srgbClr val="21507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12800" y="3746500"/>
            <a:ext cx="10566400" cy="381000"/>
          </a:xfrm>
          <a:prstGeom prst="rect">
            <a:avLst/>
          </a:prstGeom>
          <a:noFill/>
        </p:spPr>
        <p:txBody>
          <a:bodyPr wrap="square" lIns="0" rIns="0" tIns="0" bIns="0" anchor="t">
            <a:spAutoFit/>
          </a:bodyPr>
          <a:lstStyle/>
          <a:p>
            <a:pPr algn="l">
              <a:lnSpc>
                <a:spcPct val="125000"/>
              </a:lnSpc>
              <a:spcAft>
                <a:spcPts val="0"/>
              </a:spcAft>
            </a:pPr>
            <a:r>
              <a:rPr sz="2529" b="0" i="0">
                <a:solidFill>
                  <a:srgbClr val="52BDEC"/>
                </a:solidFill>
                <a:latin typeface="DM Serif Display"/>
              </a:rPr>
              <a:t>paradise-tbm@kuleuven.be</a:t>
            </a:r>
          </a:p>
        </p:txBody>
      </p:sp>
      <p:sp>
        <p:nvSpPr>
          <p:cNvPr id="6" name="TextBox 5"/>
          <p:cNvSpPr txBox="1"/>
          <p:nvPr/>
        </p:nvSpPr>
        <p:spPr>
          <a:xfrm>
            <a:off x="812800" y="4254500"/>
            <a:ext cx="10566400" cy="317500"/>
          </a:xfrm>
          <a:prstGeom prst="rect">
            <a:avLst/>
          </a:prstGeom>
          <a:noFill/>
        </p:spPr>
        <p:txBody>
          <a:bodyPr wrap="square" lIns="0" rIns="0" tIns="0" bIns="0" anchor="t">
            <a:spAutoFit/>
          </a:bodyPr>
          <a:lstStyle/>
          <a:p>
            <a:pPr algn="l">
              <a:lnSpc>
                <a:spcPct val="125000"/>
              </a:lnSpc>
              <a:spcAft>
                <a:spcPts val="0"/>
              </a:spcAft>
            </a:pPr>
            <a:r>
              <a:rPr sz="1725" b="0" i="0">
                <a:solidFill>
                  <a:srgbClr val="C5D8E8"/>
                </a:solidFill>
                <a:latin typeface="DM Sans"/>
              </a:rPr>
              <a:t>Wij bezorgen uw vraag aan Maaike Fobelets (WP2) of Koen Putman (WP3).</a:t>
            </a:r>
          </a:p>
        </p:txBody>
      </p:sp>
      <p:pic>
        <p:nvPicPr>
          <p:cNvPr id="7" name="Picture 6" descr="merk.png"/>
          <p:cNvPicPr>
            <a:picLocks noChangeAspect="1"/>
          </p:cNvPicPr>
          <p:nvPr/>
        </p:nvPicPr>
        <p:blipFill>
          <a:blip r:embed="rId2"/>
          <a:stretch>
            <a:fillRect/>
          </a:stretch>
        </p:blipFill>
        <p:spPr>
          <a:xfrm>
            <a:off x="812800" y="6261100"/>
            <a:ext cx="177800" cy="203200"/>
          </a:xfrm>
          <a:prstGeom prst="rect">
            <a:avLst/>
          </a:prstGeom>
        </p:spPr>
      </p:pic>
      <p:sp>
        <p:nvSpPr>
          <p:cNvPr id="8" name="TextBox 7"/>
          <p:cNvSpPr txBox="1"/>
          <p:nvPr/>
        </p:nvSpPr>
        <p:spPr>
          <a:xfrm>
            <a:off x="1066800" y="6261100"/>
            <a:ext cx="4445000" cy="203200"/>
          </a:xfrm>
          <a:prstGeom prst="rect">
            <a:avLst/>
          </a:prstGeom>
          <a:noFill/>
        </p:spPr>
        <p:txBody>
          <a:bodyPr wrap="square" lIns="0" rIns="0" tIns="0" bIns="0" anchor="t">
            <a:spAutoFit/>
          </a:bodyPr>
          <a:lstStyle/>
          <a:p>
            <a:pPr algn="l">
              <a:lnSpc>
                <a:spcPct val="125000"/>
              </a:lnSpc>
              <a:spcAft>
                <a:spcPts val="0"/>
              </a:spcAft>
            </a:pPr>
            <a:r>
              <a:rPr sz="1380" b="0" i="0">
                <a:solidFill>
                  <a:srgbClr val="6F8FAA"/>
                </a:solidFill>
                <a:latin typeface="DM Sans"/>
              </a:rPr>
              <a:t>PARADISE · Opleiding voor de voetklinieken</a:t>
            </a:r>
          </a:p>
        </p:txBody>
      </p:sp>
    </p:spTree>
  </p:cSld>
  <p:clrMapOvr>
    <a:masterClrMapping/>
  </p:clrMapOvr>
  <p:transition xmlns:p14="http://schemas.microsoft.com/office/powerpoint/2010/main" spd="med" p14:dur="7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