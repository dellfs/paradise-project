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Begin staand, zonder klikken. Laat de dia drie tellen staan voor u praat. De drie tegels zijn het enige wat ze hoeven onthouden.</a:t>
            </a:r>
          </a:p>
          <a:p/>
          <a:p>
            <a:r>
              <a:t>INTERACTIE</a:t>
            </a:r>
          </a:p>
          <a:p>
            <a:r>
              <a:t>Vraag bij binnenkomst: "wie heeft deze week een recidief gezien?" Handen in de lucht. Dat is uw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 zaal kiezen. Dit is geen lineaire deck. Wie kiest, luistert beter.</a:t>
            </a:r>
          </a:p>
          <a:p/>
          <a:p>
            <a:r>
              <a:t>INTERACTIE</a:t>
            </a:r>
          </a:p>
          <a:p>
            <a:r>
              <a:t>Handopsteking of Mentimeter. Begin met het blok dat wint.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het getal even alleen staan. Zeg dan pas: "dit is uw eigen praktijk."</a:t>
            </a:r>
          </a:p>
          <a:p/>
          <a:p>
            <a:r>
              <a:t>INTERACTIE</a:t>
            </a:r>
          </a:p>
          <a:p>
            <a:r>
              <a:t>Morph vanaf de sectiedia: het cijfer groeit uit de titel.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eerst links aan, laat het bezinken, wijs dan rechts. De punchline zegt u, niet de dia.</a:t>
            </a:r>
          </a:p>
          <a:p/>
          <a:p>
            <a:r>
              <a:t>INTERACTIE</a:t>
            </a:r>
          </a:p>
          <a:p>
            <a:r>
              <a:t>Morph: beide blokken schuiven uit het midden uit elkaar.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venijn zit in de derde tegel: binnen zetten ze méér stappen dan buiten.</a:t>
            </a:r>
          </a:p>
          <a:p/>
          <a:p>
            <a:r>
              <a:t>INTERACTIE</a:t>
            </a:r>
          </a:p>
          <a:p>
            <a:r>
              <a:t>Vraag: "wat schat u dat úw patiënten halen?" Laat ze roepen voor u klikt.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Teken het maalteken in de lucht. Product, niet som — dat is het hele punt.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de rode plek aan. Zeg er niets bij. Klik dan pas door.</a:t>
            </a:r>
          </a:p>
          <a:p/>
          <a:p>
            <a:r>
              <a:t>INTERACTIE</a:t>
            </a:r>
          </a:p>
          <a:p>
            <a:r>
              <a:t>Vraag: "waar verwacht u de piek?" Laat ze wijzen voor u de dia toont.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camera duikt de voet in. Zeg: "dit is wat de software eruit haalt — niet één getal voor de hele voet, maar acht."</a:t>
            </a:r>
          </a:p>
          <a:p/>
          <a:p>
            <a:r>
              <a:t>INTERACTIE</a:t>
            </a:r>
          </a:p>
          <a:p>
            <a:r>
              <a:t>Vraag de podologen of ze de maskers zelf al gelegd hebben.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morph waar het om draait: de hete plek koelt af terwijl de voetboog oplicht. Klik traag en zwijg tot de animatie klaar is.</a:t>
            </a:r>
          </a:p>
          <a:p/>
          <a:p>
            <a:r>
              <a:t>INTERACTIE</a:t>
            </a:r>
          </a:p>
          <a:p>
            <a:r>
              <a:t>Vraag daarna: "en hoe weet u of hij hem draagt?" Dat is de brug naar de tweede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"óf". Twee wegen naar dezelfde norm, geen dubbele eis.</a:t>
            </a:r>
          </a:p>
          <a:p/>
          <a:p>
            <a:r>
              <a:t>INTERACTIE</a:t>
            </a:r>
          </a:p>
          <a:p>
            <a:r>
              <a:t>Morph: de twee blokken kantelen naar voren.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is de belangrijkste: wij hebben twee eindpunten nodig, niet één. Dat maakt de lat hoog en dat weten we.</a:t>
            </a:r>
          </a:p>
          <a:p/>
          <a:p>
            <a:r>
              <a:t>INTERACTIE</a:t>
            </a:r>
          </a:p>
          <a:p>
            <a:r>
              <a:t>Geen. Laat ze lezen.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niet elk criterium af. Zeg: "categorie 3, vaatstatus in orde, spreekt Nederlands" — de rest staat op papier.</a:t>
            </a:r>
          </a:p>
          <a:p/>
          <a:p>
            <a:r>
              <a:t>INTERACTIE</a:t>
            </a:r>
          </a:p>
          <a:p>
            <a:r>
              <a:t>Deel de screeningskaart uit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voor een deel van de zaal de eerste kennismaking met het traject. Geef eerst het overzicht, klik dan door: de tijdlijn zoomt in op elke fase en komt op het eind weer terug.</a:t>
            </a:r>
          </a:p>
          <a:p/>
          <a:p>
            <a:r>
              <a:t>INTERACTIE</a:t>
            </a:r>
          </a:p>
          <a:p>
            <a:r>
              <a:t>Vraag voor u inzoomt: "over welke fase wilt u het meest weten?" Zoom dan als eerste naar die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Leg uit dat de screening vóór de toestemming gebeurt en dus kort is: u kijkt enkel of iemand in aanmerking komt.</a:t>
            </a:r>
          </a:p>
          <a:p/>
          <a:p>
            <a:r>
              <a:t>INTERACTIE</a:t>
            </a:r>
          </a:p>
          <a:p>
            <a:r>
              <a:t>Morph: de camera zoomt in op de eerste twee stippen.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zit het meeste werk voor de pedorthist. Kijk hem of haar aan.</a:t>
            </a:r>
          </a:p>
          <a:p/>
          <a:p>
            <a:r>
              <a:t>INTERACTIE</a:t>
            </a:r>
          </a:p>
          <a:p>
            <a:r>
              <a:t>Vraag aan de pedorthist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Benadruk: uitlezen en vervangen kan alleen ter plaatse, dus koppel het aan een bezoek dat toch al gepland is.</a:t>
            </a:r>
          </a:p>
          <a:p/>
          <a:p>
            <a:r>
              <a:t>INTERACTIE</a:t>
            </a:r>
          </a:p>
          <a:p>
            <a:r>
              <a:t>Morph: de camera trekt terug en toont de hele staart.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dezelfde dia als het begin van het blok. De zaal herkent hem, en dat is precies het effect dat u wilt.</a:t>
            </a:r>
          </a:p>
          <a:p/>
          <a:p>
            <a:r>
              <a:t>INTERACTIE</a:t>
            </a:r>
          </a:p>
          <a:p>
            <a:r>
              <a:t>Laat hem staan tijdens de vragen over het traject.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Stap 3 is het hart: eerst láát u hem schatten, dán toont u de data.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kolom. Namen noemen als u ze kent.</a:t>
            </a:r>
          </a:p>
          <a:p/>
          <a:p>
            <a:r>
              <a:t>INTERACTIE</a:t>
            </a:r>
          </a:p>
          <a:p>
            <a:r>
              <a:t>Vraag per kolom: "herkenbaar, of mis ik iets?"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Wees hier eerlijk. Als u een getal verzint dat niet klopt, bent u ze kwijt.</a:t>
            </a:r>
          </a:p>
          <a:p/>
          <a:p>
            <a:r>
              <a:t>INTERACTIE</a:t>
            </a:r>
          </a:p>
          <a:p>
            <a:r>
              <a:t>Poll: "hoeveel minuten schat u?" Noteer de spreiding en kom er na zes maanden op terug.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vijf minuten. Als er geen vragen komen, stel er zelf één: "wat lijkt u het lastigst?"</a:t>
            </a:r>
          </a:p>
          <a:p/>
          <a:p>
            <a:r>
              <a:t>INTERACTIE</a:t>
            </a:r>
          </a:p>
          <a:p>
            <a:r>
              <a:t>Open moment. Noteer wat er komt — het voedt de procesevaluatie.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Eindig hier als u tijd tekortkomt. Dit is de dia die telt.</a:t>
            </a:r>
          </a:p>
          <a:p/>
          <a:p>
            <a:r>
              <a:t>INTERACTIE</a:t>
            </a:r>
          </a:p>
          <a:p>
            <a:r>
              <a:t>Vraag ter plekke of het haalbaar lijkt. Twijfel nu is beter dan uitval straks.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Twee woorden, verder niets. Dit is het moment waarop u vraagt of ze meedoen — laat de dia dat niet verzachten.</a:t>
            </a:r>
          </a:p>
          <a:p/>
          <a:p>
            <a:r>
              <a:t>INTERACTIE</a:t>
            </a:r>
          </a:p>
          <a:p>
            <a:r>
              <a:t>Deel de eenpager uit. Vraag wie een inclusiekandidaat in gedachten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4984" y="952476"/>
            <a:ext cx="10921726" cy="2984425"/>
          </a:xfrm>
          <a:prstGeom prst="roundRect">
            <a:avLst>
              <a:gd name="adj" fmla="val 4500"/>
            </a:avLst>
          </a:prstGeom>
          <a:solidFill>
            <a:srgbClr val="0A2A44">
              <a:alpha val="60000"/>
            </a:srgbClr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952476" y="1308067"/>
            <a:ext cx="8889777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75" y="2806629"/>
            <a:ext cx="761980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52BDEC"/>
                </a:solidFill>
                <a:latin typeface="Segoe UI"/>
              </a:rPr>
              <a:t>Druk. Trouw. Educatie.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505112"/>
            <a:ext cx="825479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FB6D0"/>
                </a:solidFill>
                <a:latin typeface="Segoe UI Light"/>
              </a:rPr>
              <a:t>Eén zorgpad tegen het recidief van de diabetische voet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4984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87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57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DEELNEMERS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27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216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486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VOETKLINIEKEN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345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157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MAANDEN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KU Leuven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Campus Brugge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2907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VUB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5607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Vrije Universiteit Brussel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0831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3531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Informatiesessie · KU Leuven · prof. dr. Kevin Deschamps · FWO T000226N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513" y="1244568"/>
            <a:ext cx="1646451" cy="190495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 SESSIE IS MODULAIR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wilt u beginnen?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Waarom betere zolen niet volstaan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precies gaan doen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er dinsdagmiddag verandert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afspraak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van uw kliniek vragen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Genezing is geen eindpunt. Het is een pauze.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Het lag niet aan de zool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De interventie werkte. Bij de 46% die hem aandeed.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sturen we er twee bij.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Twee componenten. Bovenop wat u al doet.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ZIET BIJ DE METING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Dit is een echte in-shoe meting: honderden sensoren onder de voet, elk met hun eigen piekdruk over minstens twaalf mid-gait stappen.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De hete plek ligt waar de meeste plantaire ulcera ontstaan. Deze patiënt zit ruim boven de norm.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Novel pedar · in-shoe · piekdruk per regio via Multimask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de norm getoetst wordt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86730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127196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314563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63778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656311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600359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66659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336941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80575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73523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hier vijf van de voorvoet in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32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DE ZOOL ERMEE DOET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Dezelfde voet, andere verdeling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na optimalisatie — norm gehaald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Dezelfde sensoren, dezelfde patiënt. De maatzool haalt druk weg onder de metatarsaalkoppen en legt die terug in de voetboog.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Dat is de hele interventie: niet minder belasting, maar belasting op een plek die het aankan.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Illustratief voorbeeld van een drukgestuurde aanpassing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PARADISE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Meten én laten dragen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Drukgestuurde optimalisatie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&lt; 200 kPa   óf   ≥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In-shoe meting met Novel pedar, door uw team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Zool aangepast tot de norm gehaald is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Herhaald op 6 en 12 maanden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SEBIA — gedragsbegeleiding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5 stappen   ·   18 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Individueel, in het gewone consult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Sensordata samen bekijken, niet-veroordelend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COM-B: kennis, gelegenheid én motivatie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STUDIE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willekeurig verdeeld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ONTWERP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Multicentrisch · open-label · superioriteit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mnd  +  draagtijd op 12 mnd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32</a:t>
            </a:r>
          </a:p>
        </p:txBody>
      </p:sp>
      <p:pic>
        <p:nvPicPr>
          <p:cNvPr id="16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SELECTIE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IWGDF-risicocategorie 3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Genezen plantair ulcus of partiële amputatie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PEDIS-perfusie 1 of 2, stabiel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Stapt zelfstandig blootsvoets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Heeft of aanvaardt maatschoeisel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Begrijpt Nederlands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Kritische ischemie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Actief ulcus of Charcot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Nierfunctievervanging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Immunosuppressie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Overleving &lt; 18 maanden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32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Negen contactmomenten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ritme is elke drie maanden: hetzelfde ritme als de controle die deze patiënten volgens de richtlijn al krijgen.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1 · VÓÓR DE EERSTE ZOOL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en baseline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45143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87277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4514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79754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4830959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355760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371000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7743419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7006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662246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1065588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938252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953492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1356834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229498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244738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6480801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1520744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1535984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9393261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811990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827230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22305722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21032367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2118476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2517246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23944828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2409722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Screening: risicocategorie 3, vaatstatus en of de patiënt zelfstandig stapt. Kort, en vóór de toestemming.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Baseline: drukmeting met de pedar, een week MoveMonitor mee naar huis, en het eerste SEBIA-gesprek.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2 · DE ZOOL KOMT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Maand 1 en maand 3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176390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394875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1763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02399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99057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22639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211153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1921885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85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800926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3434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5609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71338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7746806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6473451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662584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0659266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938591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953830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3571727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229837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245076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16484187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1521083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1536322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935092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812329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827568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1: het voorschrift voor de maatzool. Een kort bezoek, zonder meting.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3: aflevering, de Orthotimer gaat in de zool, en de meting wordt herhaald tot de norm gehaald 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3 · DE REST VAN HET JAAR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Zes tot achttien maanden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429114" y="3174920"/>
            <a:ext cx="16382590" cy="2857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4661841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42911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33386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281297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3608826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351357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-99269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-178853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-169329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827595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1749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12699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2647883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852037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947284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446817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367232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3767572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628845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5492612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558786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8108747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7312900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740814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9900460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13318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228435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Elke drie maanden: sensor uitlezen, batterij vervangen, SEBIA-gesprek in het gewone consult.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Op 6 en 12 maanden ook een drukmeting. Twaalf maanden is het primaire analysepunt voor de draagtijd.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momenten, één zorgpad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stappen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Kennis meten. Educatie op maat, met oefenen.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TWEEDE COMPONENT,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32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Draadloze sensorzolen in de eigen schoen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op 6 bar,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Minstens twaalf mid-gait stappen per voet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Op de onderrug, niet waterdicht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80%-NORM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32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Minder dan u vreest. Maar niet niets.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Integreert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Faciliteert opleiding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32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VRAAG DIE U NIET HARDOP STELT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kost dit mij?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Geen verzonnen getal. Dit komt erbij: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DRUKMETING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baseline · 6 · 12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in het bestaande consult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uitlezen en vervangen per bezoek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OPLEIDING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eenmalig, door ons verzorgd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952476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Hoeveel het wérkelijk kost, meten we. Dat is precies wat een implementatiestudie hoort te doen.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32</a:t>
            </a:r>
          </a:p>
        </p:txBody>
      </p:sp>
      <p:pic>
        <p:nvPicPr>
          <p:cNvPr id="2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RUSTPUNT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2362140"/>
            <a:ext cx="1092172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>
                <a:solidFill>
                  <a:srgbClr val="F2F8FC"/>
                </a:solidFill>
                <a:latin typeface="Segoe UI"/>
              </a:rPr>
              <a:t>Vragen?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4444888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Voor we naar de afspraken gaan.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27 / 32</a:t>
            </a:r>
          </a:p>
        </p:txBody>
      </p:sp>
      <p:pic>
        <p:nvPicPr>
          <p:cNvPr id="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6793" y="749281"/>
            <a:ext cx="878107" cy="10159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Pedar en SEBIA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Werkinstructie en draaiboek per handeling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REDCap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Instructie plus een testomgeving om in te oefenen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28 / 32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 noteren wat wél bereikt is en gaan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Wij zijn niet academisch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Drie van de zes centra ook niet. Dat wordt getoetst.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29 / 32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AFSPRAAK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dingen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10921726" cy="394960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281" y="2133546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425" y="2133546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deelnemers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7125" y="2552636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over twaalf maanden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773" y="2920926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281" y="3086022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4425" y="3086022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vaste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125" y="3505112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plus gedelegeerd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6773" y="3873403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281" y="4038499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4425" y="4038499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looppad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125" y="4457588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meer ruimte is niet nodig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6773" y="4825879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281" y="4990975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425" y="4990975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dagboek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125" y="5410064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voor de procesevaluatie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30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904952"/>
            <a:ext cx="7619809" cy="1460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Doe mee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383" y="3594010"/>
            <a:ext cx="888977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52BDEC"/>
                </a:solidFill>
                <a:latin typeface="Segoe UI Light"/>
              </a:rPr>
              <a:t>PARADISE start zodra de goedkeuringen binnen zijn.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KU Leuven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Campus Brugge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2907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VUB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5607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Vrije Universiteit Brussel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0831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3531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  <p:pic>
        <p:nvPicPr>
          <p:cNvPr id="1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074" y="2031949"/>
            <a:ext cx="1920860" cy="22224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REDCap,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▮ e-mailadres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▮ telefoonnummer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kevin.deschamps@kuleuven.be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428914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PARADISE · FWO TBM T000226N · S71769</a:t>
            </a:r>
          </a:p>
        </p:txBody>
      </p:sp>
      <p:pic>
        <p:nvPicPr>
          <p:cNvPr id="20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