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Begin staand, zonder klikken. Laat de dia drie tellen staan voor u praat. De drie tegels zijn het enige wat ze hoeven onthouden.</a:t>
            </a:r>
          </a:p>
          <a:p/>
          <a:p>
            <a:r>
              <a:t>INTERACTIE</a:t>
            </a:r>
          </a:p>
          <a:p>
            <a:r>
              <a:t>Vraag bij binnenkomst: "wie heeft deze week een recidief gezien?" Handen in de lucht. Dat is uw opening.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 zaal kiezen. Dit is geen lineaire deck. Wie kiest, luistert beter.</a:t>
            </a:r>
          </a:p>
          <a:p/>
          <a:p>
            <a:r>
              <a:t>INTERACTIE</a:t>
            </a:r>
          </a:p>
          <a:p>
            <a:r>
              <a:t>Handopsteking of Mentimeter. Begin met het blok dat wint.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het getal even alleen staan. Zeg dan pas: "dit is uw eigen praktijk."</a:t>
            </a:r>
          </a:p>
          <a:p/>
          <a:p>
            <a:r>
              <a:t>INTERACTIE</a:t>
            </a:r>
          </a:p>
          <a:p>
            <a:r>
              <a:t>Morph vanaf de sectiedia: het cijfer groeit uit de titel.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eerst links aan, laat het bezinken, wijs dan rechts. De punchline zegt u, niet de dia.</a:t>
            </a:r>
          </a:p>
          <a:p/>
          <a:p>
            <a:r>
              <a:t>INTERACTIE</a:t>
            </a:r>
          </a:p>
          <a:p>
            <a:r>
              <a:t>Morph: beide blokken schuiven uit het midden uit elkaar.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venijn zit in de derde tegel: binnen zetten ze méér stappen dan buiten.</a:t>
            </a:r>
          </a:p>
          <a:p/>
          <a:p>
            <a:r>
              <a:t>INTERACTIE</a:t>
            </a:r>
          </a:p>
          <a:p>
            <a:r>
              <a:t>Vraag: "wat schat u dat úw patiënten halen?" Laat ze roepen voor u klikt.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Teken het maalteken in de lucht. Product, niet som — dat is het hele punt.</a:t>
            </a:r>
          </a:p>
          <a:p/>
          <a:p>
            <a:r>
              <a:t>INTERACTIE</a:t>
            </a:r>
          </a:p>
          <a:p>
            <a:r>
              <a:t>Morph: de drie tegels komen samen uit één punt.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Benadruk "óf". Twee wegen naar dezelfde norm, geen dubbele eis.</a:t>
            </a:r>
          </a:p>
          <a:p/>
          <a:p>
            <a:r>
              <a:t>INTERACTIE</a:t>
            </a:r>
          </a:p>
          <a:p>
            <a:r>
              <a:t>Morph: de twee blokken kantelen naar voren.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laatste tegel is de belangrijkste: wij hebben twee eindpunten nodig, niet één. Dat maakt de lat hoog en dat weten we.</a:t>
            </a:r>
          </a:p>
          <a:p/>
          <a:p>
            <a:r>
              <a:t>INTERACTIE</a:t>
            </a:r>
          </a:p>
          <a:p>
            <a:r>
              <a:t>Geen. Laat ze lezen.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Loop niet elk criterium af. Zeg: "categorie 3, vaatstatus in orde, spreekt Nederlands" — de rest staat op papier.</a:t>
            </a:r>
          </a:p>
          <a:p/>
          <a:p>
            <a:r>
              <a:t>INTERACTIE</a:t>
            </a:r>
          </a:p>
          <a:p>
            <a:r>
              <a:t>Deel de screeningskaart uit terwijl u praat.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uw belangrijkste geruststelling. Zeg het traag.</a:t>
            </a:r>
          </a:p>
          <a:p/>
          <a:p>
            <a:r>
              <a:t>INTERACTIE</a:t>
            </a:r>
          </a:p>
          <a:p>
            <a:r>
              <a:t>Morph: de tijdlijn schuift in vanaf links.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Stap 3 is het hart: eerst láát u hem schatten, dán toont u de data.</a:t>
            </a:r>
          </a:p>
          <a:p/>
          <a:p>
            <a:r>
              <a:t>INTERACTIE</a:t>
            </a:r>
          </a:p>
          <a:p>
            <a:r>
              <a:t>Rollenspel van twee minuten met een vrijwilliger uit de zaal.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dat de Orthotimer géén GPS, microfoon of camera heeft. Die vraag komt gegarandeerd.</a:t>
            </a:r>
          </a:p>
          <a:p/>
          <a:p>
            <a:r>
              <a:t>INTERACTIE</a:t>
            </a:r>
          </a:p>
          <a:p>
            <a:r>
              <a:t>Laat de toestellen rondgaan. Fysiek werkt beter dan een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Kijk elke groep aan bij hun kolom. Namen noemen als u ze kent.</a:t>
            </a:r>
          </a:p>
          <a:p/>
          <a:p>
            <a:r>
              <a:t>INTERACTIE</a:t>
            </a:r>
          </a:p>
          <a:p>
            <a:r>
              <a:t>Vraag per kolom: "herkenbaar, of mis ik iets?"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waar u stilvalt. Geen haast. Vraag of het helder is voordat u doorgaat.</a:t>
            </a:r>
          </a:p>
          <a:p/>
          <a:p>
            <a:r>
              <a:t>INTERACTIE</a:t>
            </a:r>
          </a:p>
          <a:p>
            <a:r>
              <a:t>Laat iemand het in eigen woorden herhalen. Zo weet u of het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Wees hier eerlijk. Als u een getal verzint dat niet klopt, bent u ze kwijt.</a:t>
            </a:r>
          </a:p>
          <a:p/>
          <a:p>
            <a:r>
              <a:t>INTERACTIE</a:t>
            </a:r>
          </a:p>
          <a:p>
            <a:r>
              <a:t>Poll: "hoeveel minuten schat u?" Noteer de spreiding en kom er na zes maanden op terug.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Plan hier vijf minuten. Als er geen vragen komen, stel er zelf één: "wat lijkt u het lastigst?"</a:t>
            </a:r>
          </a:p>
          <a:p/>
          <a:p>
            <a:r>
              <a:t>INTERACTIE</a:t>
            </a:r>
          </a:p>
          <a:p>
            <a:r>
              <a:t>Open moment. Noteer wat er komt — het voedt de procesevaluatie.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laatste tegel ontspant de zaal. Zeg hem expliciet.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Sla over wat al gevraagd is. Deze dia is een vangnet, geen programma.</a:t>
            </a:r>
          </a:p>
          <a:p/>
          <a:p>
            <a:r>
              <a:t>INTERACTIE</a:t>
            </a:r>
          </a:p>
          <a:p>
            <a:r>
              <a:t>Toon hem alleen als de vragen opdrogen.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Eindig hier als u tijd tekortkomt. Dit is de dia die telt.</a:t>
            </a:r>
          </a:p>
          <a:p/>
          <a:p>
            <a:r>
              <a:t>INTERACTIE</a:t>
            </a:r>
          </a:p>
          <a:p>
            <a:r>
              <a:t>Vraag ter plekke of het haalbaar lijkt. Twijfel nu is beter dan uitval straks.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staan tijdens het napraten. Contactgegevens moeten zichtbaar blijven terwijl mensen naar u toe komen.</a:t>
            </a:r>
          </a:p>
          <a:p/>
          <a:p>
            <a:r>
              <a:t>INTERACTIE</a:t>
            </a:r>
          </a:p>
          <a:p>
            <a:r>
              <a:t>Deel de eenpager uit. Vraag wie een inclusiekandidaat in gedachten heeft.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34984" y="952476"/>
            <a:ext cx="10921726" cy="2984425"/>
          </a:xfrm>
          <a:prstGeom prst="roundRect">
            <a:avLst>
              <a:gd name="adj" fmla="val 4500"/>
            </a:avLst>
          </a:prstGeom>
          <a:solidFill>
            <a:srgbClr val="16242F">
              <a:alpha val="60000"/>
            </a:srgbClr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952476" y="1308067"/>
            <a:ext cx="8889777" cy="1714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1000" b="1">
                <a:solidFill>
                  <a:srgbClr val="F4F8FB"/>
                </a:solidFill>
                <a:latin typeface="Segoe UI"/>
              </a:rPr>
              <a:t>PARADISE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75" y="2806629"/>
            <a:ext cx="761980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2BB9AD"/>
                </a:solidFill>
                <a:latin typeface="Segoe UI"/>
              </a:rPr>
              <a:t>Druk. Trouw. Educatie.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75" y="3505112"/>
            <a:ext cx="8254793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93A9BA"/>
                </a:solidFill>
                <a:latin typeface="Segoe UI Light"/>
              </a:rPr>
              <a:t>Eén zorgpad tegen het recidief van de diabetische voet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4984" y="4216294"/>
            <a:ext cx="3538893" cy="1333466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878" y="4432189"/>
            <a:ext cx="3157903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2BB9AD"/>
                </a:solidFill>
                <a:latin typeface="Segoe UI"/>
              </a:rPr>
              <a:t>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578" y="514337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93A9BA"/>
                </a:solidFill>
                <a:latin typeface="Consolas"/>
              </a:rPr>
              <a:t>DEELNEMERS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6273" y="4216294"/>
            <a:ext cx="3538893" cy="1333466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2168" y="4432189"/>
            <a:ext cx="3157903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2BB9AD"/>
                </a:solidFill>
                <a:latin typeface="Segoe U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4868" y="514337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93A9BA"/>
                </a:solidFill>
                <a:latin typeface="Consolas"/>
              </a:rPr>
              <a:t>VOETKLINIEKEN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4216294"/>
            <a:ext cx="3538893" cy="1333466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33458" y="4432189"/>
            <a:ext cx="3157903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2BB9AD"/>
                </a:solidFill>
                <a:latin typeface="Segoe UI"/>
              </a:rPr>
              <a:t>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6157" y="514337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93A9BA"/>
                </a:solidFill>
                <a:latin typeface="Consolas"/>
              </a:rPr>
              <a:t>MAANDEN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3A9BA"/>
                </a:solidFill>
                <a:latin typeface="Consolas"/>
              </a:rPr>
              <a:t>Informatiesessie · KU Leuven · prof. dr. Kevin Deschamps · FWO T000226N</a:t>
            </a:r>
          </a:p>
        </p:txBody>
      </p:sp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DEZE SESSIE IS MODULAIR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Waar wilt u beginnen?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2BB9AD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4F8FB"/>
                </a:solidFill>
                <a:latin typeface="Segoe UI"/>
              </a:rPr>
              <a:t>Het probleem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79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Waarom betere zolen niet volstaan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3451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946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2BB9AD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946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4F8FB"/>
                </a:solidFill>
                <a:latin typeface="Segoe UI"/>
              </a:rPr>
              <a:t>De interventie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946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Wat we precies gaan doen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1918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2413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2BB9AD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413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4F8FB"/>
                </a:solidFill>
                <a:latin typeface="Segoe UI"/>
              </a:rPr>
              <a:t>Uw 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413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Wat er dinsdagmiddag verandert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0385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0881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2BB9AD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0881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4F8FB"/>
                </a:solidFill>
                <a:latin typeface="Segoe UI"/>
              </a:rPr>
              <a:t>De afspraak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0881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Wat we van uw kliniek vragen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02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2BB9AD"/>
                </a:solidFill>
                <a:latin typeface="Segoe UI"/>
              </a:rPr>
              <a:t>01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4F8FB"/>
                </a:solidFill>
                <a:latin typeface="Segoe UI"/>
              </a:rPr>
              <a:t>Het probleem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93A9BA"/>
                </a:solidFill>
                <a:latin typeface="Segoe UI Light"/>
              </a:rPr>
              <a:t>Genezing is geen eindpunt. Het is een pauze.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03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ro"/>
          <p:cNvSpPr txBox="1"/>
          <p:nvPr/>
        </p:nvSpPr>
        <p:spPr>
          <a:xfrm>
            <a:off x="609584" y="1130271"/>
            <a:ext cx="6349841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8000"/>
              </a:lnSpc>
            </a:pPr>
            <a:r>
              <a:rPr sz="17000" b="1">
                <a:solidFill>
                  <a:srgbClr val="E4674E"/>
                </a:solidFill>
                <a:latin typeface="Segoe UI"/>
              </a:rPr>
              <a:t>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49521" y="1473163"/>
            <a:ext cx="1269968" cy="825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800" b="1">
                <a:solidFill>
                  <a:srgbClr val="E4674E"/>
                </a:solidFill>
                <a:latin typeface="Segoe UI Light"/>
              </a:rPr>
              <a:t>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383" y="3733706"/>
            <a:ext cx="5714857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4F8FB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000" b="1">
                <a:solidFill>
                  <a:srgbClr val="F4F8FB"/>
                </a:solidFill>
                <a:latin typeface="Segoe UI"/>
              </a:rPr>
              <a:t>een nieuw ulcus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4F8FB"/>
                </a:solidFill>
                <a:latin typeface="Segoe UI"/>
              </a:rPr>
              <a:t>60%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93A9BA"/>
                </a:solidFill>
                <a:latin typeface="Consolas"/>
              </a:rPr>
              <a:t>NA DRIE JAAR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4F8FB"/>
                </a:solidFill>
                <a:latin typeface="Segoe UI"/>
              </a:rPr>
              <a:t>65%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93A9BA"/>
                </a:solidFill>
                <a:latin typeface="Consolas"/>
              </a:rPr>
              <a:t>NA VIJF JAAR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4F8FB"/>
                </a:solidFill>
                <a:latin typeface="Segoe UI"/>
              </a:rPr>
              <a:t>2,5×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93A9BA"/>
                </a:solidFill>
                <a:latin typeface="Consolas"/>
              </a:rPr>
              <a:t>HOGERE STERFTE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3A9BA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04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DEZELFDE SCHOEN, TWEE UITKOMSTEN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Het lag niet aan de zool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031949"/>
            <a:ext cx="5384538" cy="2793930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8977" y="2247843"/>
            <a:ext cx="4876551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4F8FB"/>
                </a:solidFill>
                <a:latin typeface="Segoe UI"/>
              </a:rPr>
              <a:t>Iedereen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977" y="2565335"/>
            <a:ext cx="487655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93A9BA"/>
                </a:solidFill>
                <a:latin typeface="Consolas"/>
              </a:rPr>
              <a:t>intention-to-treat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895527"/>
            <a:ext cx="4876551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600" b="1">
                <a:solidFill>
                  <a:srgbClr val="E4674E"/>
                </a:solidFill>
                <a:latin typeface="Segoe UI"/>
              </a:rPr>
              <a:t>38,8%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3975000"/>
            <a:ext cx="4876551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tegenover 44,2%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977" y="4381390"/>
            <a:ext cx="4876551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4674E"/>
                </a:solidFill>
                <a:latin typeface="Segoe UI"/>
              </a:rPr>
              <a:t>Geen verschil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1918" y="2031949"/>
            <a:ext cx="5384538" cy="2793930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5912" y="2247843"/>
            <a:ext cx="4876551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4F8FB"/>
                </a:solidFill>
                <a:latin typeface="Segoe UI"/>
              </a:rPr>
              <a:t>Wie hem droeg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912" y="2565335"/>
            <a:ext cx="487655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93A9BA"/>
                </a:solidFill>
                <a:latin typeface="Consolas"/>
              </a:rPr>
              <a:t>≥ 80% van de stappen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5912" y="2895527"/>
            <a:ext cx="4876551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600" b="1">
                <a:solidFill>
                  <a:srgbClr val="2BB9AD"/>
                </a:solidFill>
                <a:latin typeface="Segoe UI"/>
              </a:rPr>
              <a:t>25,7%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1311" y="3975000"/>
            <a:ext cx="4876551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tegenover 47,8%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5912" y="4381390"/>
            <a:ext cx="4876551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BB9AD"/>
                </a:solidFill>
                <a:latin typeface="Segoe UI"/>
              </a:rPr>
              <a:t>Bijna gehalveerd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984" y="5156071"/>
            <a:ext cx="10921726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>
                <a:solidFill>
                  <a:srgbClr val="F4F8FB"/>
                </a:solidFill>
                <a:latin typeface="Segoe UI"/>
              </a:rPr>
              <a:t>De interventie werkte. Bij de 46% die hem aandeed.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3A9BA"/>
                </a:solidFill>
                <a:latin typeface="Consolas"/>
              </a:rPr>
              <a:t>Bus et al. · Diabetes Care 2013 · DIAFOS, 171 deelnemers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05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ro"/>
          <p:cNvSpPr txBox="1"/>
          <p:nvPr/>
        </p:nvSpPr>
        <p:spPr>
          <a:xfrm>
            <a:off x="609584" y="1130271"/>
            <a:ext cx="6349841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8000"/>
              </a:lnSpc>
            </a:pPr>
            <a:r>
              <a:rPr sz="17000" b="1">
                <a:solidFill>
                  <a:srgbClr val="E0A33D"/>
                </a:solidFill>
                <a:latin typeface="Segoe UI"/>
              </a:rPr>
              <a:t>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49521" y="1473163"/>
            <a:ext cx="1269968" cy="825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800" b="1">
                <a:solidFill>
                  <a:srgbClr val="E0A33D"/>
                </a:solidFill>
                <a:latin typeface="Segoe UI Light"/>
              </a:rPr>
              <a:t>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383" y="3733706"/>
            <a:ext cx="5714857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4F8FB"/>
                </a:solidFill>
                <a:latin typeface="Segoe UI"/>
              </a:rPr>
              <a:t>draagtijd — gemeten,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000" b="1">
                <a:solidFill>
                  <a:srgbClr val="F4F8FB"/>
                </a:solidFill>
                <a:latin typeface="Segoe UI"/>
              </a:rPr>
              <a:t>niet gevraagd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4F8FB"/>
                </a:solidFill>
                <a:latin typeface="Segoe UI"/>
              </a:rPr>
              <a:t>61%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93A9BA"/>
                </a:solidFill>
                <a:latin typeface="Consolas"/>
              </a:rPr>
              <a:t>THUIS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4F8FB"/>
                </a:solidFill>
                <a:latin typeface="Segoe UI"/>
              </a:rPr>
              <a:t>4000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93A9BA"/>
                </a:solidFill>
                <a:latin typeface="Consolas"/>
              </a:rPr>
              <a:t>STAPPEN BINNEN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4F8FB"/>
                </a:solidFill>
                <a:latin typeface="Segoe UI"/>
              </a:rPr>
              <a:t>2600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93A9BA"/>
                </a:solidFill>
                <a:latin typeface="Consolas"/>
              </a:rPr>
              <a:t>STAPPEN BUITEN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3A9BA"/>
                </a:solidFill>
                <a:latin typeface="Consolas"/>
              </a:rPr>
              <a:t>Waaijman et al. · Diabetes Care 2013 · 107 patiënten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06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HET MECHANISME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Belasting is een product,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4000" b="1">
                <a:solidFill>
                  <a:srgbClr val="F4F8FB"/>
                </a:solidFill>
                <a:latin typeface="Segoe UI"/>
              </a:rPr>
              <a:t>geen optelsom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4F8FB"/>
                </a:solidFill>
                <a:latin typeface="Segoe UI"/>
              </a:rPr>
              <a:t>Piekdruk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per stap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547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47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B1622"/>
                </a:solidFill>
                <a:latin typeface="Consolas"/>
              </a:rPr>
              <a:t>BIJGESTUURD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9085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93A9BA"/>
                </a:solidFill>
                <a:latin typeface="Segoe UI Light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627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76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4F8FB"/>
                </a:solidFill>
                <a:latin typeface="Segoe UI"/>
              </a:rPr>
              <a:t>Activiteit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76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stappen per dag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676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22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676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93A9BA"/>
                </a:solidFill>
                <a:latin typeface="Consolas"/>
              </a:rPr>
              <a:t>GEMETEN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0374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93A9BA"/>
                </a:solidFill>
                <a:latin typeface="Segoe UI Light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756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8058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4F8FB"/>
                </a:solidFill>
                <a:latin typeface="Segoe UI"/>
              </a:rPr>
              <a:t>Draagtijd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8058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wérd hij gedragen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08058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8058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B1622"/>
                </a:solidFill>
                <a:latin typeface="Consolas"/>
              </a:rPr>
              <a:t>BIJGESTUURD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4889377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93A9BA"/>
                </a:solidFill>
                <a:latin typeface="Segoe UI"/>
              </a:rPr>
              <a:t>Eén factor op nul maakt het product nul. Daarom sturen we er twee bij.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07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2BB9AD"/>
                </a:solidFill>
                <a:latin typeface="Segoe UI"/>
              </a:rPr>
              <a:t>02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4F8FB"/>
                </a:solidFill>
                <a:latin typeface="Segoe UI"/>
              </a:rPr>
              <a:t>De interventie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93A9BA"/>
                </a:solidFill>
                <a:latin typeface="Segoe UI Light"/>
              </a:rPr>
              <a:t>Twee componenten. Bovenop wat u al doet.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08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PARADISE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Meten én laten dragen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031949"/>
            <a:ext cx="5384538" cy="3619409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8977" y="2247843"/>
            <a:ext cx="126996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BB9AD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977" y="2654233"/>
            <a:ext cx="4876551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4F8FB"/>
                </a:solidFill>
                <a:latin typeface="Segoe UI"/>
              </a:rPr>
              <a:t>Drukgestuurde optimalisatie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8977" y="3479713"/>
            <a:ext cx="4876551" cy="533386"/>
          </a:xfrm>
          <a:prstGeom prst="roundRect">
            <a:avLst>
              <a:gd name="adj" fmla="val 4500"/>
            </a:avLst>
          </a:prstGeom>
          <a:solidFill>
            <a:srgbClr val="22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977" y="3632109"/>
            <a:ext cx="4876551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2BB9AD"/>
                </a:solidFill>
                <a:latin typeface="Consolas"/>
              </a:rPr>
              <a:t>&lt; 200 kPa   óf   ≥ 25% lager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977" y="4241693"/>
            <a:ext cx="4876551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In-shoe meting met Novel pedar, door uw team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93A9BA"/>
                </a:solidFill>
                <a:latin typeface="Segoe UI"/>
              </a:rPr>
              <a:t>Zool aangepast tot de norm gehaald is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93A9BA"/>
                </a:solidFill>
                <a:latin typeface="Segoe UI"/>
              </a:rPr>
              <a:t>Herhaald op 6 en 12 maanden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1918" y="2031949"/>
            <a:ext cx="5384538" cy="3619409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5912" y="2247843"/>
            <a:ext cx="126996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BB9AD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912" y="2654233"/>
            <a:ext cx="4876551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4F8FB"/>
                </a:solidFill>
                <a:latin typeface="Segoe UI"/>
              </a:rPr>
              <a:t>SEBIA — gedragsbegeleiding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5912" y="3479713"/>
            <a:ext cx="4876551" cy="533386"/>
          </a:xfrm>
          <a:prstGeom prst="roundRect">
            <a:avLst>
              <a:gd name="adj" fmla="val 4500"/>
            </a:avLst>
          </a:prstGeom>
          <a:solidFill>
            <a:srgbClr val="22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5912" y="3632109"/>
            <a:ext cx="4876551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2BB9AD"/>
                </a:solidFill>
                <a:latin typeface="Consolas"/>
              </a:rPr>
              <a:t>5 stappen   ·   18 maanden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5912" y="4241693"/>
            <a:ext cx="4876551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Individueel, in het gewone consult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93A9BA"/>
                </a:solidFill>
                <a:latin typeface="Segoe UI"/>
              </a:rPr>
              <a:t>Sensordata samen bekijken, niet-veroordelend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93A9BA"/>
                </a:solidFill>
                <a:latin typeface="Segoe UI"/>
              </a:rPr>
              <a:t>COM-B: kennis, gelegenheid én motivatie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09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DE STUDIE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In één oogopslag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031949"/>
            <a:ext cx="2616071" cy="1460463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235144"/>
            <a:ext cx="2235080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2BB9AD"/>
                </a:solidFill>
                <a:latin typeface="Segoe UI"/>
              </a:rPr>
              <a:t>144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179" y="3009824"/>
            <a:ext cx="2235080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30">
                <a:solidFill>
                  <a:srgbClr val="93A9BA"/>
                </a:solidFill>
                <a:latin typeface="Consolas"/>
              </a:rPr>
              <a:t>DEELNEMERS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3451" y="2031949"/>
            <a:ext cx="2616071" cy="1460463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946" y="2235144"/>
            <a:ext cx="2235080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2BB9AD"/>
                </a:solidFill>
                <a:latin typeface="Segoe UI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6646" y="3009824"/>
            <a:ext cx="2235080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30">
                <a:solidFill>
                  <a:srgbClr val="93A9BA"/>
                </a:solidFill>
                <a:latin typeface="Consolas"/>
              </a:rPr>
              <a:t>PER KLINIEK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1918" y="2031949"/>
            <a:ext cx="2616071" cy="1460463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413" y="2235144"/>
            <a:ext cx="2235080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2BB9AD"/>
                </a:solidFill>
                <a:latin typeface="Segoe UI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113" y="3009824"/>
            <a:ext cx="2235080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30">
                <a:solidFill>
                  <a:srgbClr val="93A9BA"/>
                </a:solidFill>
                <a:latin typeface="Consolas"/>
              </a:rPr>
              <a:t>MAANDEN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40385" y="2031949"/>
            <a:ext cx="2616071" cy="1460463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0881" y="2235144"/>
            <a:ext cx="2235080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2BB9AD"/>
                </a:solidFill>
                <a:latin typeface="Segoe UI"/>
              </a:rPr>
              <a:t>1:1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580" y="3009824"/>
            <a:ext cx="2235080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30">
                <a:solidFill>
                  <a:srgbClr val="93A9BA"/>
                </a:solidFill>
                <a:latin typeface="Consolas"/>
              </a:rPr>
              <a:t>TOEWIJZING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984" y="3721006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479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2BB9AD"/>
                </a:solidFill>
                <a:latin typeface="Consolas"/>
              </a:rPr>
              <a:t>ONTWERP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479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4F8FB"/>
                </a:solidFill>
                <a:latin typeface="Segoe UI"/>
              </a:rPr>
              <a:t>Multicentrisch · open-label · superioriteit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3721006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2413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2BB9AD"/>
                </a:solidFill>
                <a:latin typeface="Consolas"/>
              </a:rPr>
              <a:t>CONTROLEGROEP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2413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4F8FB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4984" y="4559186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479" y="4686182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2BB9AD"/>
                </a:solidFill>
                <a:latin typeface="Consolas"/>
              </a:rPr>
              <a:t>CO-PRIMAIR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479" y="4927476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4F8FB"/>
                </a:solidFill>
                <a:latin typeface="Segoe UI"/>
              </a:rPr>
              <a:t>Recidief op 18 mnd  +  draagtijd op 12 mnd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1918" y="4559186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2413" y="4686182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2BB9AD"/>
                </a:solidFill>
                <a:latin typeface="Consolas"/>
              </a:rPr>
              <a:t>POSITIEF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413" y="4927476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4F8FB"/>
                </a:solidFill>
                <a:latin typeface="Segoe UI"/>
              </a:rPr>
              <a:t>Alleen als béíde eindpunten halen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10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SELECTIE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Wie komt in aanmerking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031949"/>
            <a:ext cx="5384538" cy="3555911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8977" y="2247843"/>
            <a:ext cx="761980" cy="292092"/>
          </a:xfrm>
          <a:prstGeom prst="roundRect">
            <a:avLst>
              <a:gd name="adj" fmla="val 4500"/>
            </a:avLst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8977" y="2324041"/>
            <a:ext cx="761980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spc="130">
                <a:solidFill>
                  <a:srgbClr val="0B1622"/>
                </a:solidFill>
                <a:latin typeface="Consolas"/>
              </a:rPr>
              <a:t>WÉL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781230"/>
            <a:ext cx="4876551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3A9BA"/>
                </a:solidFill>
                <a:latin typeface="Segoe UI"/>
              </a:rPr>
              <a:t>IWGDF-risicocategorie 3</a:t>
            </a:r>
          </a:p>
          <a:p>
            <a:pPr algn="l">
              <a:lnSpc>
                <a:spcPct val="130000"/>
              </a:lnSpc>
              <a:spcBef>
                <a:spcPts val="1700"/>
              </a:spcBef>
            </a:pPr>
            <a:r>
              <a:rPr sz="1600" b="0">
                <a:solidFill>
                  <a:srgbClr val="93A9BA"/>
                </a:solidFill>
                <a:latin typeface="Segoe UI"/>
              </a:rPr>
              <a:t>Genezen plantair ulcus of partiële amputatie</a:t>
            </a:r>
          </a:p>
          <a:p>
            <a:pPr algn="l">
              <a:lnSpc>
                <a:spcPct val="130000"/>
              </a:lnSpc>
              <a:spcBef>
                <a:spcPts val="1700"/>
              </a:spcBef>
            </a:pPr>
            <a:r>
              <a:rPr sz="1600" b="0">
                <a:solidFill>
                  <a:srgbClr val="93A9BA"/>
                </a:solidFill>
                <a:latin typeface="Segoe UI"/>
              </a:rPr>
              <a:t>PEDIS-perfusie 1 of 2, stabiel</a:t>
            </a:r>
          </a:p>
          <a:p>
            <a:pPr algn="l">
              <a:lnSpc>
                <a:spcPct val="130000"/>
              </a:lnSpc>
              <a:spcBef>
                <a:spcPts val="1700"/>
              </a:spcBef>
            </a:pPr>
            <a:r>
              <a:rPr sz="1600" b="0">
                <a:solidFill>
                  <a:srgbClr val="93A9BA"/>
                </a:solidFill>
                <a:latin typeface="Segoe UI"/>
              </a:rPr>
              <a:t>Stapt zelfstandig blootsvoets</a:t>
            </a:r>
          </a:p>
          <a:p>
            <a:pPr algn="l">
              <a:lnSpc>
                <a:spcPct val="130000"/>
              </a:lnSpc>
              <a:spcBef>
                <a:spcPts val="1700"/>
              </a:spcBef>
            </a:pPr>
            <a:r>
              <a:rPr sz="1600" b="0">
                <a:solidFill>
                  <a:srgbClr val="93A9BA"/>
                </a:solidFill>
                <a:latin typeface="Segoe UI"/>
              </a:rPr>
              <a:t>Heeft of aanvaardt maatschoeisel</a:t>
            </a:r>
          </a:p>
          <a:p>
            <a:pPr algn="l">
              <a:lnSpc>
                <a:spcPct val="130000"/>
              </a:lnSpc>
              <a:spcBef>
                <a:spcPts val="1700"/>
              </a:spcBef>
            </a:pPr>
            <a:r>
              <a:rPr sz="1600" b="0">
                <a:solidFill>
                  <a:srgbClr val="93A9BA"/>
                </a:solidFill>
                <a:latin typeface="Segoe UI"/>
              </a:rPr>
              <a:t>Begrijpt Nederlands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918" y="2031949"/>
            <a:ext cx="5384538" cy="3555911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25912" y="2247843"/>
            <a:ext cx="761980" cy="292092"/>
          </a:xfrm>
          <a:prstGeom prst="roundRect">
            <a:avLst>
              <a:gd name="adj" fmla="val 4500"/>
            </a:avLst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5912" y="2324041"/>
            <a:ext cx="761980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spc="130">
                <a:solidFill>
                  <a:srgbClr val="0B1622"/>
                </a:solidFill>
                <a:latin typeface="Consolas"/>
              </a:rPr>
              <a:t>NIET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912" y="2781230"/>
            <a:ext cx="4876551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3A9BA"/>
                </a:solidFill>
                <a:latin typeface="Segoe UI"/>
              </a:rPr>
              <a:t>Kritische ischemie</a:t>
            </a:r>
          </a:p>
          <a:p>
            <a:pPr algn="l">
              <a:lnSpc>
                <a:spcPct val="130000"/>
              </a:lnSpc>
              <a:spcBef>
                <a:spcPts val="1700"/>
              </a:spcBef>
            </a:pPr>
            <a:r>
              <a:rPr sz="1600" b="0">
                <a:solidFill>
                  <a:srgbClr val="93A9BA"/>
                </a:solidFill>
                <a:latin typeface="Segoe UI"/>
              </a:rPr>
              <a:t>Actief ulcus of Charcot</a:t>
            </a:r>
          </a:p>
          <a:p>
            <a:pPr algn="l">
              <a:lnSpc>
                <a:spcPct val="130000"/>
              </a:lnSpc>
              <a:spcBef>
                <a:spcPts val="1700"/>
              </a:spcBef>
            </a:pPr>
            <a:r>
              <a:rPr sz="1600" b="0">
                <a:solidFill>
                  <a:srgbClr val="93A9BA"/>
                </a:solidFill>
                <a:latin typeface="Segoe UI"/>
              </a:rPr>
              <a:t>Nierfunctievervanging</a:t>
            </a:r>
          </a:p>
          <a:p>
            <a:pPr algn="l">
              <a:lnSpc>
                <a:spcPct val="130000"/>
              </a:lnSpc>
              <a:spcBef>
                <a:spcPts val="1700"/>
              </a:spcBef>
            </a:pPr>
            <a:r>
              <a:rPr sz="1600" b="0">
                <a:solidFill>
                  <a:srgbClr val="93A9BA"/>
                </a:solidFill>
                <a:latin typeface="Segoe UI"/>
              </a:rPr>
              <a:t>Immunosuppressie</a:t>
            </a:r>
          </a:p>
          <a:p>
            <a:pPr algn="l">
              <a:lnSpc>
                <a:spcPct val="130000"/>
              </a:lnSpc>
              <a:spcBef>
                <a:spcPts val="1700"/>
              </a:spcBef>
            </a:pPr>
            <a:r>
              <a:rPr sz="1600" b="0">
                <a:solidFill>
                  <a:srgbClr val="93A9BA"/>
                </a:solidFill>
                <a:latin typeface="Segoe UI"/>
              </a:rPr>
              <a:t>Overleving &lt; 18 maanden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11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HET TRAJECT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Negen momenten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2730431"/>
            <a:ext cx="10921726" cy="19049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9198" y="2660583"/>
            <a:ext cx="165095" cy="165095"/>
          </a:xfrm>
          <a:prstGeom prst="ellipse">
            <a:avLst/>
          </a:prstGeom>
          <a:solidFill>
            <a:srgbClr val="2C4356"/>
          </a:solidFill>
          <a:ln w="31750">
            <a:solidFill>
              <a:srgbClr val="0B1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984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4F8FB"/>
                </a:solidFill>
                <a:latin typeface="Consolas"/>
              </a:rPr>
              <a:t>Screen</a:t>
            </a:r>
          </a:p>
        </p:txBody>
      </p:sp>
      <p:sp>
        <p:nvSpPr>
          <p:cNvPr id="8" name="Oval 7"/>
          <p:cNvSpPr/>
          <p:nvPr/>
        </p:nvSpPr>
        <p:spPr>
          <a:xfrm>
            <a:off x="2372724" y="2660583"/>
            <a:ext cx="165095" cy="165095"/>
          </a:xfrm>
          <a:prstGeom prst="ellipse">
            <a:avLst/>
          </a:prstGeom>
          <a:solidFill>
            <a:srgbClr val="2BB9AD"/>
          </a:solidFill>
          <a:ln w="31750">
            <a:solidFill>
              <a:srgbClr val="0B1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48509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4F8FB"/>
                </a:solidFill>
                <a:latin typeface="Consolas"/>
              </a:rPr>
              <a:t>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8509" y="3035224"/>
            <a:ext cx="1213525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BB9AD"/>
                </a:solidFill>
                <a:latin typeface="Consolas"/>
              </a:rPr>
              <a:t>meting</a:t>
            </a:r>
          </a:p>
        </p:txBody>
      </p:sp>
      <p:sp>
        <p:nvSpPr>
          <p:cNvPr id="11" name="Oval 10"/>
          <p:cNvSpPr/>
          <p:nvPr/>
        </p:nvSpPr>
        <p:spPr>
          <a:xfrm>
            <a:off x="3586249" y="2660583"/>
            <a:ext cx="165095" cy="165095"/>
          </a:xfrm>
          <a:prstGeom prst="ellipse">
            <a:avLst/>
          </a:prstGeom>
          <a:solidFill>
            <a:srgbClr val="2BB9AD"/>
          </a:solidFill>
          <a:ln w="31750">
            <a:solidFill>
              <a:srgbClr val="0B1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2034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4F8FB"/>
                </a:solidFill>
                <a:latin typeface="Consola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2034" y="3035224"/>
            <a:ext cx="1213525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BB9AD"/>
                </a:solidFill>
                <a:latin typeface="Consolas"/>
              </a:rPr>
              <a:t>voorschrift</a:t>
            </a:r>
          </a:p>
        </p:txBody>
      </p:sp>
      <p:sp>
        <p:nvSpPr>
          <p:cNvPr id="14" name="Oval 13"/>
          <p:cNvSpPr/>
          <p:nvPr/>
        </p:nvSpPr>
        <p:spPr>
          <a:xfrm>
            <a:off x="4799774" y="2660583"/>
            <a:ext cx="165095" cy="165095"/>
          </a:xfrm>
          <a:prstGeom prst="ellipse">
            <a:avLst/>
          </a:prstGeom>
          <a:solidFill>
            <a:srgbClr val="2BB9AD"/>
          </a:solidFill>
          <a:ln w="31750">
            <a:solidFill>
              <a:srgbClr val="0B1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5559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4F8FB"/>
                </a:solidFill>
                <a:latin typeface="Consola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5559" y="3035224"/>
            <a:ext cx="1213525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BB9AD"/>
                </a:solidFill>
                <a:latin typeface="Consolas"/>
              </a:rPr>
              <a:t>zool + sensor</a:t>
            </a:r>
          </a:p>
        </p:txBody>
      </p:sp>
      <p:sp>
        <p:nvSpPr>
          <p:cNvPr id="17" name="Oval 16"/>
          <p:cNvSpPr/>
          <p:nvPr/>
        </p:nvSpPr>
        <p:spPr>
          <a:xfrm>
            <a:off x="6013299" y="2660583"/>
            <a:ext cx="165095" cy="165095"/>
          </a:xfrm>
          <a:prstGeom prst="ellipse">
            <a:avLst/>
          </a:prstGeom>
          <a:solidFill>
            <a:srgbClr val="2BB9AD"/>
          </a:solidFill>
          <a:ln w="31750">
            <a:solidFill>
              <a:srgbClr val="0B1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9084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4F8FB"/>
                </a:solidFill>
                <a:latin typeface="Consolas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9084" y="3035224"/>
            <a:ext cx="1213525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BB9AD"/>
                </a:solidFill>
                <a:latin typeface="Consolas"/>
              </a:rPr>
              <a:t>meting</a:t>
            </a:r>
          </a:p>
        </p:txBody>
      </p:sp>
      <p:sp>
        <p:nvSpPr>
          <p:cNvPr id="20" name="Oval 19"/>
          <p:cNvSpPr/>
          <p:nvPr/>
        </p:nvSpPr>
        <p:spPr>
          <a:xfrm>
            <a:off x="7226824" y="2660583"/>
            <a:ext cx="165095" cy="165095"/>
          </a:xfrm>
          <a:prstGeom prst="ellipse">
            <a:avLst/>
          </a:prstGeom>
          <a:solidFill>
            <a:srgbClr val="2C4356"/>
          </a:solidFill>
          <a:ln w="31750">
            <a:solidFill>
              <a:srgbClr val="0B1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02610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4F8FB"/>
                </a:solidFill>
                <a:latin typeface="Consolas"/>
              </a:rPr>
              <a:t>9</a:t>
            </a:r>
          </a:p>
        </p:txBody>
      </p:sp>
      <p:sp>
        <p:nvSpPr>
          <p:cNvPr id="22" name="Oval 21"/>
          <p:cNvSpPr/>
          <p:nvPr/>
        </p:nvSpPr>
        <p:spPr>
          <a:xfrm>
            <a:off x="8440350" y="2660583"/>
            <a:ext cx="165095" cy="165095"/>
          </a:xfrm>
          <a:prstGeom prst="ellipse">
            <a:avLst/>
          </a:prstGeom>
          <a:solidFill>
            <a:srgbClr val="2BB9AD"/>
          </a:solidFill>
          <a:ln w="31750">
            <a:solidFill>
              <a:srgbClr val="0B1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16135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4F8FB"/>
                </a:solidFill>
                <a:latin typeface="Consolas"/>
              </a:rPr>
              <a:t>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16135" y="3035224"/>
            <a:ext cx="1213525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BB9AD"/>
                </a:solidFill>
                <a:latin typeface="Consolas"/>
              </a:rPr>
              <a:t>meting</a:t>
            </a:r>
          </a:p>
        </p:txBody>
      </p:sp>
      <p:sp>
        <p:nvSpPr>
          <p:cNvPr id="25" name="Oval 24"/>
          <p:cNvSpPr/>
          <p:nvPr/>
        </p:nvSpPr>
        <p:spPr>
          <a:xfrm>
            <a:off x="9653875" y="2660583"/>
            <a:ext cx="165095" cy="165095"/>
          </a:xfrm>
          <a:prstGeom prst="ellipse">
            <a:avLst/>
          </a:prstGeom>
          <a:solidFill>
            <a:srgbClr val="2C4356"/>
          </a:solidFill>
          <a:ln w="31750">
            <a:solidFill>
              <a:srgbClr val="0B1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29660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4F8FB"/>
                </a:solidFill>
                <a:latin typeface="Consolas"/>
              </a:rPr>
              <a:t>15</a:t>
            </a:r>
          </a:p>
        </p:txBody>
      </p:sp>
      <p:sp>
        <p:nvSpPr>
          <p:cNvPr id="27" name="Oval 26"/>
          <p:cNvSpPr/>
          <p:nvPr/>
        </p:nvSpPr>
        <p:spPr>
          <a:xfrm>
            <a:off x="10867400" y="2660583"/>
            <a:ext cx="165095" cy="165095"/>
          </a:xfrm>
          <a:prstGeom prst="ellipse">
            <a:avLst/>
          </a:prstGeom>
          <a:solidFill>
            <a:srgbClr val="2BB9AD"/>
          </a:solidFill>
          <a:ln w="31750">
            <a:solidFill>
              <a:srgbClr val="0B1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43185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4F8FB"/>
                </a:solidFill>
                <a:latin typeface="Consolas"/>
              </a:rPr>
              <a:t>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43185" y="3035224"/>
            <a:ext cx="1213525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BB9AD"/>
                </a:solidFill>
                <a:latin typeface="Consolas"/>
              </a:rPr>
              <a:t>einde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4984" y="4063898"/>
            <a:ext cx="10921726" cy="1396965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2476" y="4432189"/>
            <a:ext cx="10286742" cy="825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F4F8FB"/>
                </a:solidFill>
                <a:latin typeface="Segoe UI"/>
              </a:rPr>
              <a:t>Acht van de negen vallen samen met de controle die de patiënt sowieso al krijgt. Alleen screening en maand 1 komen erbij.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12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SEBIA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Vijf stappen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095447"/>
            <a:ext cx="2057348" cy="3428914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2779" y="2311342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2BB9AD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" y="2793930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4F8FB"/>
                </a:solidFill>
                <a:latin typeface="Segoe UI"/>
              </a:rPr>
              <a:t>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779" y="3327316"/>
            <a:ext cx="1701757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Kennis meten. Educatie op maat, met oefenen.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4728" y="2095447"/>
            <a:ext cx="2057348" cy="3428914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22524" y="2311342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2BB9AD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2524" y="2793930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4F8FB"/>
                </a:solidFill>
                <a:latin typeface="Segoe UI"/>
              </a:rPr>
              <a:t>3 mnd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2524" y="3327316"/>
            <a:ext cx="1701757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Teach-back. Nadruk op bínnenshuis dragen.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54473" y="2095447"/>
            <a:ext cx="2057348" cy="3428914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2269" y="2311342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2BB9AD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2269" y="2793930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4F8FB"/>
                </a:solidFill>
                <a:latin typeface="Segoe UI"/>
              </a:rPr>
              <a:t>6 · 12 mnd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2269" y="3327316"/>
            <a:ext cx="1701757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Zelfinschatting, dan samen de data bekijken.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4218" y="2095447"/>
            <a:ext cx="2057348" cy="3428914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42013" y="2311342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2BB9AD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2013" y="2793930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4F8FB"/>
                </a:solidFill>
                <a:latin typeface="Segoe UI"/>
              </a:rPr>
              <a:t>9 · 15 mnd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42013" y="3327316"/>
            <a:ext cx="1701757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Voordoen. Uitdraai vergelijken met vorige keer.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73963" y="2095447"/>
            <a:ext cx="2057348" cy="3428914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51758" y="2311342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2BB9AD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1758" y="2793930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4F8FB"/>
                </a:solidFill>
                <a:latin typeface="Segoe UI"/>
              </a:rPr>
              <a:t>18 mnd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51758" y="3327316"/>
            <a:ext cx="1701757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Afsluiten en resultaten delen.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13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031949"/>
            <a:ext cx="3538893" cy="3619409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179" y="2247843"/>
            <a:ext cx="313250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1">
                <a:solidFill>
                  <a:srgbClr val="F4F8FB"/>
                </a:solidFill>
                <a:latin typeface="Segoe UI"/>
              </a:rPr>
              <a:t>pedar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179" y="2590735"/>
            <a:ext cx="313250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2BB9AD"/>
                </a:solidFill>
                <a:latin typeface="Consolas"/>
              </a:rPr>
              <a:t>DRUK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179" y="2933626"/>
            <a:ext cx="3132503" cy="787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2BB9AD"/>
                </a:solidFill>
                <a:latin typeface="Segoe U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878" y="3695607"/>
            <a:ext cx="31325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3A9BA"/>
                </a:solidFill>
                <a:latin typeface="Consolas"/>
              </a:rPr>
              <a:t>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179" y="4140096"/>
            <a:ext cx="3132503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93A9BA"/>
                </a:solidFill>
                <a:latin typeface="Segoe UI"/>
              </a:rPr>
              <a:t>Trublu-kalibratie, 6 bar</a:t>
            </a:r>
          </a:p>
          <a:p>
            <a:pPr algn="l">
              <a:lnSpc>
                <a:spcPct val="132000"/>
              </a:lnSpc>
              <a:spcBef>
                <a:spcPts val="1200"/>
              </a:spcBef>
            </a:pPr>
            <a:r>
              <a:rPr sz="1400" b="0">
                <a:solidFill>
                  <a:srgbClr val="93A9BA"/>
                </a:solidFill>
                <a:latin typeface="Segoe UI"/>
              </a:rPr>
              <a:t>≥ 12 mid-gait stappen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179" y="5130671"/>
            <a:ext cx="3132503" cy="330191"/>
          </a:xfrm>
          <a:prstGeom prst="roundRect">
            <a:avLst>
              <a:gd name="adj" fmla="val 4500"/>
            </a:avLst>
          </a:prstGeom>
          <a:solidFill>
            <a:srgbClr val="22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179" y="5219569"/>
            <a:ext cx="313250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2BB9AD"/>
                </a:solidFill>
                <a:latin typeface="Segoe UI"/>
              </a:rPr>
              <a:t>Uw team meet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6273" y="2031949"/>
            <a:ext cx="3538893" cy="3619409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9468" y="2247843"/>
            <a:ext cx="313250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1">
                <a:solidFill>
                  <a:srgbClr val="F4F8FB"/>
                </a:solidFill>
                <a:latin typeface="Segoe UI"/>
              </a:rPr>
              <a:t>Orthotimer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9468" y="2590735"/>
            <a:ext cx="313250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2BB9AD"/>
                </a:solidFill>
                <a:latin typeface="Consolas"/>
              </a:rPr>
              <a:t>DRAAGTIJD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9468" y="2933626"/>
            <a:ext cx="3132503" cy="787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2BB9AD"/>
                </a:solidFill>
                <a:latin typeface="Segoe UI"/>
              </a:rPr>
              <a:t>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2168" y="3695607"/>
            <a:ext cx="31325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3A9BA"/>
                </a:solidFill>
                <a:latin typeface="Consolas"/>
              </a:rPr>
              <a:t>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9468" y="4140096"/>
            <a:ext cx="3132503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93A9BA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32000"/>
              </a:lnSpc>
              <a:spcBef>
                <a:spcPts val="1200"/>
              </a:spcBef>
            </a:pPr>
            <a:r>
              <a:rPr sz="1400" b="0">
                <a:solidFill>
                  <a:srgbClr val="93A9BA"/>
                </a:solidFill>
                <a:latin typeface="Segoe UI"/>
              </a:rPr>
              <a:t>Batterij 100 dagen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9468" y="5130671"/>
            <a:ext cx="3132503" cy="330191"/>
          </a:xfrm>
          <a:prstGeom prst="roundRect">
            <a:avLst>
              <a:gd name="adj" fmla="val 4500"/>
            </a:avLst>
          </a:prstGeom>
          <a:solidFill>
            <a:srgbClr val="22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9468" y="5219569"/>
            <a:ext cx="313250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2BB9AD"/>
                </a:solidFill>
                <a:latin typeface="Segoe UI"/>
              </a:rPr>
              <a:t>Heet: uw sensor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7563" y="2031949"/>
            <a:ext cx="3538893" cy="3619409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0758" y="2247843"/>
            <a:ext cx="313250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1">
                <a:solidFill>
                  <a:srgbClr val="F4F8FB"/>
                </a:solidFill>
                <a:latin typeface="Segoe UI"/>
              </a:rPr>
              <a:t>MoveMonitor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0758" y="2590735"/>
            <a:ext cx="313250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2BB9AD"/>
                </a:solidFill>
                <a:latin typeface="Consolas"/>
              </a:rPr>
              <a:t>ACTIVITEIT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0758" y="2933626"/>
            <a:ext cx="3132503" cy="787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2BB9AD"/>
                </a:solidFill>
                <a:latin typeface="Segoe U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3458" y="3695607"/>
            <a:ext cx="31325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3A9BA"/>
                </a:solidFill>
                <a:latin typeface="Consolas"/>
              </a:rPr>
              <a:t>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0758" y="4140096"/>
            <a:ext cx="3132503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93A9BA"/>
                </a:solidFill>
                <a:latin typeface="Segoe UI"/>
              </a:rPr>
              <a:t>Op de onderrug</a:t>
            </a:r>
          </a:p>
          <a:p>
            <a:pPr algn="l">
              <a:lnSpc>
                <a:spcPct val="132000"/>
              </a:lnSpc>
              <a:spcBef>
                <a:spcPts val="1200"/>
              </a:spcBef>
            </a:pPr>
            <a:r>
              <a:rPr sz="1400" b="0">
                <a:solidFill>
                  <a:srgbClr val="93A9BA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0758" y="5130671"/>
            <a:ext cx="3132503" cy="330191"/>
          </a:xfrm>
          <a:prstGeom prst="roundRect">
            <a:avLst>
              <a:gd name="adj" fmla="val 4500"/>
            </a:avLst>
          </a:prstGeom>
          <a:solidFill>
            <a:srgbClr val="22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0758" y="5219569"/>
            <a:ext cx="313250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2BB9AD"/>
                </a:solidFill>
                <a:latin typeface="Segoe UI"/>
              </a:rPr>
              <a:t>Zet de norm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14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2BB9AD"/>
                </a:solidFill>
                <a:latin typeface="Segoe UI"/>
              </a:rPr>
              <a:t>03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4F8FB"/>
                </a:solidFill>
                <a:latin typeface="Segoe UI"/>
              </a:rPr>
              <a:t>Uw 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93A9BA"/>
                </a:solidFill>
                <a:latin typeface="Segoe UI Light"/>
              </a:rPr>
              <a:t>Minder dan u vreest. Maar niet niets.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15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VERDELING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Wie doet wat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031949"/>
            <a:ext cx="2616071" cy="3301917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4984" y="2031949"/>
            <a:ext cx="2616071" cy="495287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779" y="2171645"/>
            <a:ext cx="226047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BB9AD"/>
                </a:solidFill>
                <a:latin typeface="Segoe UI"/>
              </a:rPr>
              <a:t>Podoloog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779" y="2743131"/>
            <a:ext cx="2260479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Voert de drukmeting uit</a:t>
            </a:r>
          </a:p>
          <a:p>
            <a:pPr algn="l">
              <a:lnSpc>
                <a:spcPct val="132000"/>
              </a:lnSpc>
              <a:spcBef>
                <a:spcPts val="1700"/>
              </a:spcBef>
            </a:pPr>
            <a:r>
              <a:rPr sz="1500" b="0">
                <a:solidFill>
                  <a:srgbClr val="93A9BA"/>
                </a:solidFill>
                <a:latin typeface="Segoe UI"/>
              </a:rPr>
              <a:t>Levert SEBIA</a:t>
            </a:r>
          </a:p>
          <a:p>
            <a:pPr algn="l">
              <a:lnSpc>
                <a:spcPct val="132000"/>
              </a:lnSpc>
              <a:spcBef>
                <a:spcPts val="1700"/>
              </a:spcBef>
            </a:pPr>
            <a:r>
              <a:rPr sz="1500" b="0">
                <a:solidFill>
                  <a:srgbClr val="93A9BA"/>
                </a:solidFill>
                <a:latin typeface="Segoe UI"/>
              </a:rPr>
              <a:t>Leest sensoren uit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3451" y="2031949"/>
            <a:ext cx="2616071" cy="3301917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03451" y="2031949"/>
            <a:ext cx="2616071" cy="495287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1246" y="2171645"/>
            <a:ext cx="226047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BB9AD"/>
                </a:solidFill>
                <a:latin typeface="Segoe UI"/>
              </a:rPr>
              <a:t>Pedorthist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1246" y="2743131"/>
            <a:ext cx="2260479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Maakt de zool</a:t>
            </a:r>
          </a:p>
          <a:p>
            <a:pPr algn="l">
              <a:lnSpc>
                <a:spcPct val="132000"/>
              </a:lnSpc>
              <a:spcBef>
                <a:spcPts val="1700"/>
              </a:spcBef>
            </a:pPr>
            <a:r>
              <a:rPr sz="1500" b="0">
                <a:solidFill>
                  <a:srgbClr val="93A9BA"/>
                </a:solidFill>
                <a:latin typeface="Segoe UI"/>
              </a:rPr>
              <a:t>Past aan tot de norm</a:t>
            </a:r>
          </a:p>
          <a:p>
            <a:pPr algn="l">
              <a:lnSpc>
                <a:spcPct val="132000"/>
              </a:lnSpc>
              <a:spcBef>
                <a:spcPts val="1700"/>
              </a:spcBef>
            </a:pPr>
            <a:r>
              <a:rPr sz="1500" b="0">
                <a:solidFill>
                  <a:srgbClr val="93A9BA"/>
                </a:solidFill>
                <a:latin typeface="Segoe UI"/>
              </a:rPr>
              <a:t>Integreert de sensor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1918" y="2031949"/>
            <a:ext cx="2616071" cy="3301917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71918" y="2031949"/>
            <a:ext cx="2616071" cy="495287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9714" y="2171645"/>
            <a:ext cx="226047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BB9AD"/>
                </a:solidFill>
                <a:latin typeface="Segoe UI"/>
              </a:rPr>
              <a:t>Arts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714" y="2743131"/>
            <a:ext cx="2260479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Bevestigt geschiktheid</a:t>
            </a:r>
          </a:p>
          <a:p>
            <a:pPr algn="l">
              <a:lnSpc>
                <a:spcPct val="132000"/>
              </a:lnSpc>
              <a:spcBef>
                <a:spcPts val="1700"/>
              </a:spcBef>
            </a:pPr>
            <a:r>
              <a:rPr sz="1500" b="0">
                <a:solidFill>
                  <a:srgbClr val="93A9BA"/>
                </a:solidFill>
                <a:latin typeface="Segoe UI"/>
              </a:rPr>
              <a:t>Beoordeelt laesies</a:t>
            </a:r>
          </a:p>
          <a:p>
            <a:pPr algn="l">
              <a:lnSpc>
                <a:spcPct val="132000"/>
              </a:lnSpc>
              <a:spcBef>
                <a:spcPts val="1700"/>
              </a:spcBef>
            </a:pPr>
            <a:r>
              <a:rPr sz="1500" b="0">
                <a:solidFill>
                  <a:srgbClr val="93A9BA"/>
                </a:solidFill>
                <a:latin typeface="Segoe UI"/>
              </a:rPr>
              <a:t>Meldt voorvallen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0385" y="2031949"/>
            <a:ext cx="2616071" cy="3301917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40385" y="2031949"/>
            <a:ext cx="2616071" cy="495287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18181" y="2171645"/>
            <a:ext cx="226047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BB9AD"/>
                </a:solidFill>
                <a:latin typeface="Segoe UI"/>
              </a:rPr>
              <a:t>Management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8181" y="2743131"/>
            <a:ext cx="2260479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Maakt tijd vrij</a:t>
            </a:r>
          </a:p>
          <a:p>
            <a:pPr algn="l">
              <a:lnSpc>
                <a:spcPct val="132000"/>
              </a:lnSpc>
              <a:spcBef>
                <a:spcPts val="1700"/>
              </a:spcBef>
            </a:pPr>
            <a:r>
              <a:rPr sz="1500" b="0">
                <a:solidFill>
                  <a:srgbClr val="93A9BA"/>
                </a:solidFill>
                <a:latin typeface="Segoe UI"/>
              </a:rPr>
              <a:t>Faciliteert opleiding</a:t>
            </a:r>
          </a:p>
          <a:p>
            <a:pPr algn="l">
              <a:lnSpc>
                <a:spcPct val="132000"/>
              </a:lnSpc>
              <a:spcBef>
                <a:spcPts val="1700"/>
              </a:spcBef>
            </a:pPr>
            <a:r>
              <a:rPr sz="1500" b="0">
                <a:solidFill>
                  <a:srgbClr val="93A9BA"/>
                </a:solidFill>
                <a:latin typeface="Segoe UI"/>
              </a:rPr>
              <a:t>Bewaakt 24 inclusies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16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E4674E"/>
                </a:solidFill>
                <a:latin typeface="Consolas"/>
              </a:rPr>
              <a:t>DE ENIGE REGEL DIE U ÉCHT MOET ONTHOUDEN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1066773"/>
            <a:ext cx="6857828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5400" b="1">
                <a:solidFill>
                  <a:srgbClr val="F4F8FB"/>
                </a:solidFill>
                <a:latin typeface="Segoe UI"/>
              </a:rPr>
              <a:t>Meetwaarden gaan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4F8FB"/>
                </a:solidFill>
                <a:latin typeface="Segoe UI"/>
              </a:rPr>
              <a:t>niet naar de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4F8FB"/>
                </a:solidFill>
                <a:latin typeface="Segoe UI"/>
              </a:rPr>
              <a:t>controlegroep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4101997"/>
            <a:ext cx="6857828" cy="1549361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377" y="4381390"/>
            <a:ext cx="6349841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50" b="0">
                <a:solidFill>
                  <a:srgbClr val="93A9BA"/>
                </a:solidFill>
                <a:latin typeface="Segoe UI"/>
              </a:rPr>
              <a:t>Ook zij krijgen een drukmeting en dragen een sensor — anders kunnen we de groepen niet vergelijken. Maar die getallen blijven dicht. Bespreekt u ze, dan lévert u de interventie.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3803" y="2031949"/>
            <a:ext cx="3682907" cy="3517812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 w="9525">
            <a:solidFill>
              <a:srgbClr val="E467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78595" y="2324041"/>
            <a:ext cx="3111422" cy="2412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E4674E"/>
                </a:solidFill>
                <a:latin typeface="Consolas"/>
              </a:rPr>
              <a:t>UITZONDERING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8595" y="2730431"/>
            <a:ext cx="3111422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F4F8FB"/>
                </a:solidFill>
                <a:latin typeface="Segoe UI"/>
              </a:rPr>
              <a:t>Klinische bevindingen zijn géén meetwaarden. Elke laesie of huiddefect meldt en behandelt u meteen. In beide groepen.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17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DE VRAAG DIE U NIET HARDOP STELT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Wat kost dit mij?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1676358"/>
            <a:ext cx="88897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93A9BA"/>
                </a:solidFill>
                <a:latin typeface="Segoe UI"/>
              </a:rPr>
              <a:t>Geen verzonnen getal. Dit komt erbij: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4984" y="2133546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179" y="2273243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2BB9AD"/>
                </a:solidFill>
                <a:latin typeface="Consolas"/>
              </a:rPr>
              <a:t>DRUKMETING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179" y="2539936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4F8FB"/>
                </a:solidFill>
                <a:latin typeface="Segoe UI"/>
              </a:rPr>
              <a:t>baseline · 6 · 12 maanden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918" y="2133546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5113" y="2273243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2BB9AD"/>
                </a:solidFill>
                <a:latin typeface="Consolas"/>
              </a:rPr>
              <a:t>SEBIA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5113" y="2539936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4F8FB"/>
                </a:solidFill>
                <a:latin typeface="Segoe UI"/>
              </a:rPr>
              <a:t>in het bestaande consult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984" y="3035224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179" y="3174920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2BB9AD"/>
                </a:solidFill>
                <a:latin typeface="Consolas"/>
              </a:rPr>
              <a:t>SENSOR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179" y="3441613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4F8FB"/>
                </a:solidFill>
                <a:latin typeface="Segoe UI"/>
              </a:rPr>
              <a:t>uitlezen en vervangen per bezoek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1918" y="3035224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5113" y="3174920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2BB9AD"/>
                </a:solidFill>
                <a:latin typeface="Consolas"/>
              </a:rPr>
              <a:t>OPLEIDING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5113" y="3441613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4F8FB"/>
                </a:solidFill>
                <a:latin typeface="Segoe UI"/>
              </a:rPr>
              <a:t>eenmalig, door ons verzorgd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984" y="4101997"/>
            <a:ext cx="10921726" cy="952476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 w="9525">
            <a:solidFill>
              <a:srgbClr val="2BB9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476" y="4394090"/>
            <a:ext cx="10286742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F4F8FB"/>
                </a:solidFill>
                <a:latin typeface="Segoe UI"/>
              </a:rPr>
              <a:t>Hoeveel het wérkelijk kost, meten we. Dat is precies wat een implementatiestudie hoort te doen.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18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E0A33D"/>
                </a:solidFill>
                <a:latin typeface="Consolas"/>
              </a:rPr>
              <a:t>RUSTPUNT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2362140"/>
            <a:ext cx="1092172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0" b="1">
                <a:solidFill>
                  <a:srgbClr val="F4F8FB"/>
                </a:solidFill>
                <a:latin typeface="Segoe UI"/>
              </a:rPr>
              <a:t>Vragen?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4444888"/>
            <a:ext cx="10921726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0">
                <a:solidFill>
                  <a:srgbClr val="93A9BA"/>
                </a:solidFill>
                <a:latin typeface="Segoe UI Light"/>
              </a:rPr>
              <a:t>Voor we naar de afspraken gaan.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19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ONDERSTEUNING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Wat u van ons krijgt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031949"/>
            <a:ext cx="2616071" cy="1460463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235144"/>
            <a:ext cx="2235080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2BB9AD"/>
                </a:solidFill>
                <a:latin typeface="Segoe UI"/>
              </a:rPr>
              <a:t>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179" y="3009824"/>
            <a:ext cx="2235080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30">
                <a:solidFill>
                  <a:srgbClr val="93A9BA"/>
                </a:solidFill>
                <a:latin typeface="Consolas"/>
              </a:rPr>
              <a:t>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3451" y="2031949"/>
            <a:ext cx="2616071" cy="1460463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946" y="2235144"/>
            <a:ext cx="2235080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2BB9AD"/>
                </a:solidFill>
                <a:latin typeface="Segoe UI"/>
              </a:rPr>
              <a:t>SOP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6646" y="3009824"/>
            <a:ext cx="2235080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30">
                <a:solidFill>
                  <a:srgbClr val="93A9BA"/>
                </a:solidFill>
                <a:latin typeface="Consolas"/>
              </a:rPr>
              <a:t>PER HANDELING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1918" y="2031949"/>
            <a:ext cx="2616071" cy="1460463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413" y="2235144"/>
            <a:ext cx="2235080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2BB9AD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113" y="3009824"/>
            <a:ext cx="2235080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30">
                <a:solidFill>
                  <a:srgbClr val="93A9BA"/>
                </a:solidFill>
                <a:latin typeface="Consolas"/>
              </a:rPr>
              <a:t>CONTACTPUNT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40385" y="2031949"/>
            <a:ext cx="2616071" cy="1460463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0881" y="2235144"/>
            <a:ext cx="2235080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2BB9AD"/>
                </a:solidFill>
                <a:latin typeface="Segoe U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580" y="3009824"/>
            <a:ext cx="2235080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30">
                <a:solidFill>
                  <a:srgbClr val="93A9BA"/>
                </a:solidFill>
                <a:latin typeface="Consolas"/>
              </a:rPr>
              <a:t>SANCTIES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984" y="3721006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479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2BB9AD"/>
                </a:solidFill>
                <a:latin typeface="Consolas"/>
              </a:rPr>
              <a:t>MOTIVERENDE GESPREKSVOERING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479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4F8FB"/>
                </a:solidFill>
                <a:latin typeface="Segoe UI"/>
              </a:rPr>
              <a:t>Training door een psycholoog, alle centra gelijk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3721006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2413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2BB9AD"/>
                </a:solidFill>
                <a:latin typeface="Consolas"/>
              </a:rPr>
              <a:t>PEDAR EN SEBIA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2413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4F8FB"/>
                </a:solidFill>
                <a:latin typeface="Segoe UI"/>
              </a:rPr>
              <a:t>Werkinstructie en draaiboek per stap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4984" y="4559186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479" y="4686182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2BB9AD"/>
                </a:solidFill>
                <a:latin typeface="Consolas"/>
              </a:rPr>
              <a:t>REDCAP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479" y="4927476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4F8FB"/>
                </a:solidFill>
                <a:latin typeface="Segoe UI"/>
              </a:rPr>
              <a:t>Instructie plus testomgeving om te oefenen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1918" y="4559186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2413" y="4686182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2BB9AD"/>
                </a:solidFill>
                <a:latin typeface="Consolas"/>
              </a:rPr>
              <a:t>PROTOCOLAFWIJKINGEN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413" y="4927476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4F8FB"/>
                </a:solidFill>
                <a:latin typeface="Segoe UI"/>
              </a:rPr>
              <a:t>Melden. Ze worden geregistreerd, niet afgestraft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20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WAT U GAAT VRAGEN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Vooruitlopend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43051"/>
            <a:ext cx="5384538" cy="1320766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179" y="2108147"/>
            <a:ext cx="4978148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1">
                <a:solidFill>
                  <a:srgbClr val="F4F8FB"/>
                </a:solidFill>
                <a:latin typeface="Segoe UI"/>
              </a:rPr>
              <a:t>Patiënt wil de sensor niet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179" y="2590735"/>
            <a:ext cx="4978148" cy="584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Dan niet geschikt. Draagtijd ís een hoofduitkomst.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1918" y="1943051"/>
            <a:ext cx="5384538" cy="1320766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5113" y="2108147"/>
            <a:ext cx="4978148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1">
                <a:solidFill>
                  <a:srgbClr val="F4F8FB"/>
                </a:solidFill>
                <a:latin typeface="Segoe UI"/>
              </a:rPr>
              <a:t>Zool haalt de norm niet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5113" y="2590735"/>
            <a:ext cx="4978148" cy="584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We noteren wat wél bereikt is en gaan door.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984" y="3454313"/>
            <a:ext cx="5384538" cy="1320766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179" y="3619409"/>
            <a:ext cx="4978148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1">
                <a:solidFill>
                  <a:srgbClr val="F4F8FB"/>
                </a:solidFill>
                <a:latin typeface="Segoe UI"/>
              </a:rPr>
              <a:t>Mag ik nog adviseren?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179" y="4101997"/>
            <a:ext cx="4978148" cy="584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Alles wat u vandaag doet, blijft u doen.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1918" y="3454313"/>
            <a:ext cx="5384538" cy="1320766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5113" y="3619409"/>
            <a:ext cx="4978148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1">
                <a:solidFill>
                  <a:srgbClr val="F4F8FB"/>
                </a:solidFill>
                <a:latin typeface="Segoe UI"/>
              </a:rPr>
              <a:t>Wij zijn niet academisch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5113" y="4101997"/>
            <a:ext cx="4978148" cy="584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Drie van de zes centra ook niet. Dat wordt getoetst.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984" y="4965575"/>
            <a:ext cx="5384538" cy="1320766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79" y="5130671"/>
            <a:ext cx="4978148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1">
                <a:solidFill>
                  <a:srgbClr val="F4F8FB"/>
                </a:solidFill>
                <a:latin typeface="Segoe UI"/>
              </a:rPr>
              <a:t>Onze data?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79" y="5613259"/>
            <a:ext cx="4978148" cy="584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Gepseudonimiseerd, tien jaar, binnen de toestemming.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965575"/>
            <a:ext cx="5384538" cy="1320766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5113" y="5130671"/>
            <a:ext cx="4978148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1">
                <a:solidFill>
                  <a:srgbClr val="F4F8FB"/>
                </a:solidFill>
                <a:latin typeface="Segoe UI"/>
              </a:rPr>
              <a:t>Zien wij resultaten?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5113" y="5613259"/>
            <a:ext cx="4978148" cy="584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Eén publicatie, ongeacht de uitkomst.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21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DE AFSPRAAK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Vier dingen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095447"/>
            <a:ext cx="2616071" cy="2984425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349441"/>
            <a:ext cx="2235080" cy="8635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2BB9AD"/>
                </a:solidFill>
                <a:latin typeface="Segoe U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3263818"/>
            <a:ext cx="2235080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4F8FB"/>
                </a:solidFill>
                <a:latin typeface="Segoe UI"/>
              </a:rPr>
              <a:t>deelnemers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79" y="3695607"/>
            <a:ext cx="2235080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93A9BA"/>
                </a:solidFill>
                <a:latin typeface="Segoe UI"/>
              </a:rPr>
              <a:t>over twaalf maanden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3451" y="2095447"/>
            <a:ext cx="2616071" cy="2984425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946" y="2349441"/>
            <a:ext cx="2235080" cy="8635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2BB9AD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946" y="3263818"/>
            <a:ext cx="2235080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4F8FB"/>
                </a:solidFill>
                <a:latin typeface="Segoe UI"/>
              </a:rPr>
              <a:t>vaste 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946" y="3695607"/>
            <a:ext cx="2235080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93A9BA"/>
                </a:solidFill>
                <a:latin typeface="Segoe UI"/>
              </a:rPr>
              <a:t>plus gedelegeerd team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1918" y="2095447"/>
            <a:ext cx="2616071" cy="2984425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2413" y="2349441"/>
            <a:ext cx="2235080" cy="8635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2BB9AD"/>
                </a:solidFill>
                <a:latin typeface="Segoe UI"/>
              </a:rPr>
              <a:t>10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413" y="3263818"/>
            <a:ext cx="2235080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4F8FB"/>
                </a:solidFill>
                <a:latin typeface="Segoe UI"/>
              </a:rPr>
              <a:t>looppad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413" y="3695607"/>
            <a:ext cx="2235080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93A9BA"/>
                </a:solidFill>
                <a:latin typeface="Segoe UI"/>
              </a:rPr>
              <a:t>meer ruimte is niet nodig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0385" y="2095447"/>
            <a:ext cx="2616071" cy="2984425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0881" y="2349441"/>
            <a:ext cx="2235080" cy="8635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2BB9AD"/>
                </a:solidFill>
                <a:latin typeface="Sego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0881" y="3263818"/>
            <a:ext cx="2235080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4F8FB"/>
                </a:solidFill>
                <a:latin typeface="Segoe UI"/>
              </a:rPr>
              <a:t>dagboek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0881" y="3695607"/>
            <a:ext cx="2235080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93A9BA"/>
                </a:solidFill>
                <a:latin typeface="Segoe UI"/>
              </a:rPr>
              <a:t>voor de procesevaluatie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22 /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ro"/>
          <p:cNvSpPr txBox="1"/>
          <p:nvPr/>
        </p:nvSpPr>
        <p:spPr>
          <a:xfrm>
            <a:off x="634984" y="1879553"/>
            <a:ext cx="7619809" cy="1460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F4F8FB"/>
                </a:solidFill>
                <a:latin typeface="Segoe UI"/>
              </a:rPr>
              <a:t>Doe mee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0383" y="3479713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2BB9AD"/>
                </a:solidFill>
                <a:latin typeface="Segoe UI Light"/>
              </a:rPr>
              <a:t>PARADISE start zodra de goedkeuringen binnen zijn.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4216294"/>
            <a:ext cx="6349841" cy="1435064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9776" y="4495687"/>
            <a:ext cx="5841853" cy="10794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b="0">
                <a:solidFill>
                  <a:srgbClr val="93A9BA"/>
                </a:solidFill>
                <a:latin typeface="Segoe UI"/>
              </a:rPr>
              <a:t>Janou De Buyser · doctoraatsonderzoeker</a:t>
            </a:r>
          </a:p>
          <a:p>
            <a:pPr algn="l">
              <a:lnSpc>
                <a:spcPct val="145000"/>
              </a:lnSpc>
              <a:spcBef>
                <a:spcPts val="800"/>
              </a:spcBef>
            </a:pPr>
            <a:r>
              <a:rPr sz="1650" b="0">
                <a:solidFill>
                  <a:srgbClr val="93A9BA"/>
                </a:solidFill>
                <a:latin typeface="Segoe UI"/>
              </a:rPr>
              <a:t>KU Leuven · Revalidatiewetenschappen · Campus Brugge</a:t>
            </a:r>
          </a:p>
          <a:p>
            <a:pPr algn="l">
              <a:lnSpc>
                <a:spcPct val="145000"/>
              </a:lnSpc>
              <a:spcBef>
                <a:spcPts val="800"/>
              </a:spcBef>
            </a:pPr>
            <a:r>
              <a:rPr sz="1650" b="0">
                <a:solidFill>
                  <a:srgbClr val="93A9BA"/>
                </a:solidFill>
                <a:latin typeface="Segoe UI"/>
              </a:rPr>
              <a:t>prof. dr. Kevin Deschamps · kevin.deschamps@kuleuven.be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3A9BA"/>
                </a:solidFill>
                <a:latin typeface="Consolas"/>
              </a:rPr>
              <a:t>Protocolversie 1.0 · 17 mei 2026 · S71769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