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Begin staand, zonder klikken. Laat de dia drie tellen staan voor u praat. De drie tegels zijn het enige wat ze hoeven onthouden.</a:t>
            </a:r>
          </a:p>
          <a:p/>
          <a:p>
            <a:r>
              <a:t>INTERACTIE</a:t>
            </a:r>
          </a:p>
          <a:p>
            <a:r>
              <a:t>Vraag bij binnenkomst: "wie heeft deze week een recidief gezien?" Handen in de lucht. Dat is uw opening.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 zaal kiezen. Dit is geen lineaire deck. Wie kiest, luistert beter.</a:t>
            </a:r>
          </a:p>
          <a:p/>
          <a:p>
            <a:r>
              <a:t>INTERACTIE</a:t>
            </a:r>
          </a:p>
          <a:p>
            <a:r>
              <a:t>Handopsteking of Mentimeter. Begin met het blok dat wint.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het getal even alleen staan. Zeg dan pas: "dit is uw eigen praktijk."</a:t>
            </a:r>
          </a:p>
          <a:p/>
          <a:p>
            <a:r>
              <a:t>INTERACTIE</a:t>
            </a:r>
          </a:p>
          <a:p>
            <a:r>
              <a:t>Morph vanaf de sectiedia: het cijfer groeit uit de titel.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Wijs eerst links aan, laat het bezinken, wijs dan rechts. De punchline zegt u, niet de dia.</a:t>
            </a:r>
          </a:p>
          <a:p/>
          <a:p>
            <a:r>
              <a:t>INTERACTIE</a:t>
            </a:r>
          </a:p>
          <a:p>
            <a:r>
              <a:t>Morph: beide blokken schuiven uit het midden uit elkaar.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Het venijn zit in de derde tegel: binnen zetten ze méér stappen dan buiten.</a:t>
            </a:r>
          </a:p>
          <a:p/>
          <a:p>
            <a:r>
              <a:t>INTERACTIE</a:t>
            </a:r>
          </a:p>
          <a:p>
            <a:r>
              <a:t>Vraag: "wat schat u dat úw patiënten halen?" Laat ze roepen voor u klikt.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Teken het maalteken in de lucht. Product, niet som — dat is het hele punt.</a:t>
            </a:r>
          </a:p>
          <a:p/>
          <a:p>
            <a:r>
              <a:t>INTERACTIE</a:t>
            </a:r>
          </a:p>
          <a:p>
            <a:r>
              <a:t>Morph: de drie tegels komen samen uit één punt.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Wijs de rode plek aan. Zeg er niets bij. Klik dan pas door.</a:t>
            </a:r>
          </a:p>
          <a:p/>
          <a:p>
            <a:r>
              <a:t>INTERACTIE</a:t>
            </a:r>
          </a:p>
          <a:p>
            <a:r>
              <a:t>Vraag: "waar verwacht u de piek?" Laat ze wijzen voor u de dia toont.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De camera duikt de voet in. Zeg: "dit is wat de software eruit haalt — niet één getal voor de hele voet, maar acht."</a:t>
            </a:r>
          </a:p>
          <a:p/>
          <a:p>
            <a:r>
              <a:t>INTERACTIE</a:t>
            </a:r>
          </a:p>
          <a:p>
            <a:r>
              <a:t>Vraag de podologen of ze de maskers zelf al gelegd hebben.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morph waar het om draait: de hete plek koelt af terwijl de voetboog oplicht. Klik traag en zwijg tot de animatie klaar is.</a:t>
            </a:r>
          </a:p>
          <a:p/>
          <a:p>
            <a:r>
              <a:t>INTERACTIE</a:t>
            </a:r>
          </a:p>
          <a:p>
            <a:r>
              <a:t>Vraag daarna: "en hoe weet u of hij hem draagt?" Dat is de brug naar de tweede component.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Benadruk "óf". Twee wegen naar dezelfde norm, geen dubbele eis.</a:t>
            </a:r>
          </a:p>
          <a:p/>
          <a:p>
            <a:r>
              <a:t>INTERACTIE</a:t>
            </a:r>
          </a:p>
          <a:p>
            <a:r>
              <a:t>Morph: de twee blokken kantelen naar voren.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De laatste tegel is de belangrijkste: wij hebben twee eindpunten nodig, niet één. Dat maakt de lat hoog en dat weten we.</a:t>
            </a:r>
          </a:p>
          <a:p/>
          <a:p>
            <a:r>
              <a:t>INTERACTIE</a:t>
            </a:r>
          </a:p>
          <a:p>
            <a:r>
              <a:t>Geen. Laat ze lezen.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Loop niet elk criterium af. Zeg: "categorie 3, vaatstatus in orde, spreekt Nederlands" — de rest staat op papier.</a:t>
            </a:r>
          </a:p>
          <a:p/>
          <a:p>
            <a:r>
              <a:t>INTERACTIE</a:t>
            </a:r>
          </a:p>
          <a:p>
            <a:r>
              <a:t>Deel de screeningskaart uit terwijl u praat.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voor een deel van de zaal de eerste kennismaking met het traject. Geef eerst het overzicht, klik dan door: de tijdlijn zoomt in op elke fase en komt op het eind weer terug.</a:t>
            </a:r>
          </a:p>
          <a:p/>
          <a:p>
            <a:r>
              <a:t>INTERACTIE</a:t>
            </a:r>
          </a:p>
          <a:p>
            <a:r>
              <a:t>Vraag voor u inzoomt: "over welke fase wilt u het meest weten?" Zoom dan als eerste naar die fase.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Leg uit dat de screening vóór de toestemming gebeurt en dus kort is: u kijkt enkel of iemand in aanmerking komt.</a:t>
            </a:r>
          </a:p>
          <a:p/>
          <a:p>
            <a:r>
              <a:t>INTERACTIE</a:t>
            </a:r>
          </a:p>
          <a:p>
            <a:r>
              <a:t>Morph: de camera zoomt in op de eerste twee stippen.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Hier zit het meeste werk voor de pedorthist. Kijk hem of haar aan.</a:t>
            </a:r>
          </a:p>
          <a:p/>
          <a:p>
            <a:r>
              <a:t>INTERACTIE</a:t>
            </a:r>
          </a:p>
          <a:p>
            <a:r>
              <a:t>Vraag aan de pedorthist hoeveel aanpassingsrondes realistisch zijn.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Benadruk: uitlezen en vervangen kan alleen ter plaatse, dus koppel het aan een bezoek dat toch al gepland is.</a:t>
            </a:r>
          </a:p>
          <a:p/>
          <a:p>
            <a:r>
              <a:t>INTERACTIE</a:t>
            </a:r>
          </a:p>
          <a:p>
            <a:r>
              <a:t>Morph: de camera trekt terug en toont de hele staart.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dezelfde dia als het begin van het blok. De zaal herkent hem, en dat is precies het effect dat u wilt.</a:t>
            </a:r>
          </a:p>
          <a:p/>
          <a:p>
            <a:r>
              <a:t>INTERACTIE</a:t>
            </a:r>
          </a:p>
          <a:p>
            <a:r>
              <a:t>Laat hem staan tijdens de vragen over het traject.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Stap 3 is het hart: eerst láát u hem schatten, dán toont u de data.</a:t>
            </a:r>
          </a:p>
          <a:p/>
          <a:p>
            <a:r>
              <a:t>INTERACTIE</a:t>
            </a:r>
          </a:p>
          <a:p>
            <a:r>
              <a:t>Rollenspel van twee minuten met een vrijwilliger uit de zaal.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deze dia even staan zonder te praten. De sensor is fysiek zo klein dat het beeld het argument al maakt.</a:t>
            </a:r>
          </a:p>
          <a:p/>
          <a:p>
            <a:r>
              <a:t>INTERACTIE</a:t>
            </a:r>
          </a:p>
          <a:p>
            <a:r>
              <a:t>Geef er een door de zaal terwijl u praat.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Benoem dat de Orthotimer géén GPS, microfoon of camera heeft. Die vraag komt gegarandeerd.</a:t>
            </a:r>
          </a:p>
          <a:p/>
          <a:p>
            <a:r>
              <a:t>INTERACTIE</a:t>
            </a:r>
          </a:p>
          <a:p>
            <a:r>
              <a:t>Laat de toestellen rondgaan. Fysiek werkt beter dan een 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Kijk elke groep aan bij hun kolom. Namen noemen als u ze kent.</a:t>
            </a:r>
          </a:p>
          <a:p/>
          <a:p>
            <a:r>
              <a:t>INTERACTIE</a:t>
            </a:r>
          </a:p>
          <a:p>
            <a:r>
              <a:t>Vraag per kolom: "herkenbaar, of mis ik iets?"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dia waar u stilvalt. Geen haast. Vraag of het helder is voordat u doorgaat.</a:t>
            </a:r>
          </a:p>
          <a:p/>
          <a:p>
            <a:r>
              <a:t>INTERACTIE</a:t>
            </a:r>
          </a:p>
          <a:p>
            <a:r>
              <a:t>Laat iemand het in eigen woorden herhalen. Zo weet u of het zit.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Wees hier eerlijk. Als u een getal verzint dat niet klopt, bent u ze kwijt.</a:t>
            </a:r>
          </a:p>
          <a:p/>
          <a:p>
            <a:r>
              <a:t>INTERACTIE</a:t>
            </a:r>
          </a:p>
          <a:p>
            <a:r>
              <a:t>Poll: "hoeveel minuten schat u?" Noteer de spreiding en kom er na zes maanden op terug.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Plan hier vijf minuten. Als er geen vragen komen, stel er zelf één: "wat lijkt u het lastigst?"</a:t>
            </a:r>
          </a:p>
          <a:p/>
          <a:p>
            <a:r>
              <a:t>INTERACTIE</a:t>
            </a:r>
          </a:p>
          <a:p>
            <a:r>
              <a:t>Open moment. Noteer wat er komt — het voedt de procesevaluatie.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Het cijfer rechts ontspant de zaal. Zeg het expliciet en wacht even.</a:t>
            </a:r>
          </a:p>
          <a:p/>
          <a:p>
            <a:r>
              <a:t>INTERACTIE</a:t>
            </a:r>
          </a:p>
          <a:p>
            <a:r>
              <a:t>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Sla over wat al gevraagd is. Deze dia is een vangnet, geen programma.</a:t>
            </a:r>
          </a:p>
          <a:p/>
          <a:p>
            <a:r>
              <a:t>INTERACTIE</a:t>
            </a:r>
          </a:p>
          <a:p>
            <a:r>
              <a:t>Toon hem alleen als de vragen opdrogen.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Eindig hier als u tijd tekortkomt. Dit is de dia die telt.</a:t>
            </a:r>
          </a:p>
          <a:p/>
          <a:p>
            <a:r>
              <a:t>INTERACTIE</a:t>
            </a:r>
          </a:p>
          <a:p>
            <a:r>
              <a:t>Vraag ter plekke of het haalbaar lijkt. Twijfel nu is beter dan uitval straks.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deze staan tijdens het napraten. Contactgegevens moeten zichtbaar blijven terwijl mensen naar u toe komen.</a:t>
            </a:r>
          </a:p>
          <a:p/>
          <a:p>
            <a:r>
              <a:t>INTERACTIE</a:t>
            </a:r>
          </a:p>
          <a:p>
            <a:r>
              <a:t>Deel de eenpager uit. Vraag wie een inclusiekandidaat in gedachten heeft.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.png"/><Relationship Id="rId6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34984" y="952476"/>
            <a:ext cx="10921726" cy="2984425"/>
          </a:xfrm>
          <a:prstGeom prst="roundRect">
            <a:avLst>
              <a:gd name="adj" fmla="val 4500"/>
            </a:avLst>
          </a:prstGeom>
          <a:solidFill>
            <a:srgbClr val="0A2A44">
              <a:alpha val="60000"/>
            </a:srgbClr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952476" y="1308067"/>
            <a:ext cx="8889777" cy="17144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11000" b="1">
                <a:solidFill>
                  <a:srgbClr val="F2F8FC"/>
                </a:solidFill>
                <a:latin typeface="Segoe UI"/>
              </a:rPr>
              <a:t>PARADISE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0575" y="2806629"/>
            <a:ext cx="761980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52BDEC"/>
                </a:solidFill>
                <a:latin typeface="Segoe UI"/>
              </a:rPr>
              <a:t>Druk. Trouw. Educatie.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0575" y="3505112"/>
            <a:ext cx="8254793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FB6D0"/>
                </a:solidFill>
                <a:latin typeface="Segoe UI Light"/>
              </a:rPr>
              <a:t>Eén zorgpad tegen het recidief van de diabetische voet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4984" y="4063898"/>
            <a:ext cx="3538893" cy="1269968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878" y="4267093"/>
            <a:ext cx="3157903" cy="736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144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578" y="4965575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spc="140">
                <a:solidFill>
                  <a:srgbClr val="8FB6D0"/>
                </a:solidFill>
                <a:latin typeface="Consolas"/>
              </a:rPr>
              <a:t>DEELNEMERS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6273" y="4063898"/>
            <a:ext cx="3538893" cy="1269968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42168" y="4267093"/>
            <a:ext cx="3157903" cy="736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4868" y="4965575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spc="140">
                <a:solidFill>
                  <a:srgbClr val="8FB6D0"/>
                </a:solidFill>
                <a:latin typeface="Consolas"/>
              </a:rPr>
              <a:t>VOETKLINIEKEN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7563" y="4063898"/>
            <a:ext cx="3538893" cy="1269968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33458" y="4267093"/>
            <a:ext cx="3157903" cy="7365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6157" y="4965575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spc="140">
                <a:solidFill>
                  <a:srgbClr val="8FB6D0"/>
                </a:solidFill>
                <a:latin typeface="Consolas"/>
              </a:rPr>
              <a:t>MAANDEN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4984" y="554976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984" y="5752956"/>
            <a:ext cx="215894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KU Leuven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683" y="6006949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B6D0"/>
                </a:solidFill>
                <a:latin typeface="Consolas"/>
              </a:rPr>
              <a:t>Campus Brugge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82907" y="5752956"/>
            <a:ext cx="215894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VUB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95607" y="6006949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B6D0"/>
                </a:solidFill>
                <a:latin typeface="Consolas"/>
              </a:rPr>
              <a:t>Vrije Universiteit Brussel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30831" y="5752956"/>
            <a:ext cx="215894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FWO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43531" y="6006949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B6D0"/>
                </a:solidFill>
                <a:latin typeface="Consolas"/>
              </a:rPr>
              <a:t>TBM T000226N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984" y="6489537"/>
            <a:ext cx="9524761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Informatiesessie · KU Leuven · prof. dr. Kevin Deschamps · FWO T000226N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0513" y="1244568"/>
            <a:ext cx="1646451" cy="190495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DEZE SESSIE IS MODULAIR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Waar wilt u beginnen?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158946"/>
            <a:ext cx="2616071" cy="304792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5479" y="2412939"/>
            <a:ext cx="2235080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52BDEC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479" y="2959026"/>
            <a:ext cx="2235080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8FC"/>
                </a:solidFill>
                <a:latin typeface="Segoe UI"/>
              </a:rPr>
              <a:t>Het probleem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79" y="3848003"/>
            <a:ext cx="2235080" cy="1142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Waarom betere zolen niet volstaan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3451" y="2158946"/>
            <a:ext cx="2616071" cy="304792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93946" y="2412939"/>
            <a:ext cx="2235080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52BDEC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3946" y="2959026"/>
            <a:ext cx="2235080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8FC"/>
                </a:solidFill>
                <a:latin typeface="Segoe UI"/>
              </a:rPr>
              <a:t>De interventie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946" y="3848003"/>
            <a:ext cx="2235080" cy="1142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Wat we precies gaan doen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1918" y="2158946"/>
            <a:ext cx="2616071" cy="304792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2413" y="2412939"/>
            <a:ext cx="2235080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52BDEC"/>
                </a:solidFill>
                <a:latin typeface="Consola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413" y="2959026"/>
            <a:ext cx="2235080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8FC"/>
                </a:solidFill>
                <a:latin typeface="Segoe UI"/>
              </a:rPr>
              <a:t>Uw 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2413" y="3848003"/>
            <a:ext cx="2235080" cy="1142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Wat er dinsdagmiddag verandert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40385" y="2158946"/>
            <a:ext cx="2616071" cy="304792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0881" y="2412939"/>
            <a:ext cx="2235080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52BDEC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0881" y="2959026"/>
            <a:ext cx="2235080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>
                <a:solidFill>
                  <a:srgbClr val="F2F8FC"/>
                </a:solidFill>
                <a:latin typeface="Segoe UI"/>
              </a:rPr>
              <a:t>De afspraak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0881" y="3848003"/>
            <a:ext cx="2235080" cy="1142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Wat we van uw kliniek vragen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02 / 31</a:t>
            </a:r>
          </a:p>
        </p:txBody>
      </p:sp>
      <p:pic>
        <p:nvPicPr>
          <p:cNvPr id="22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857828" y="-738820"/>
            <a:ext cx="6984825" cy="8081476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634984" y="1854153"/>
            <a:ext cx="4444888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01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975000"/>
            <a:ext cx="8889777" cy="8889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Het probleem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990975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8FB6D0"/>
                </a:solidFill>
                <a:latin typeface="Segoe UI Light"/>
              </a:rPr>
              <a:t>Genezing is geen eindpunt. Het is een pauze.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03 / 31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5974" y="253993"/>
            <a:ext cx="5206869" cy="5206869"/>
          </a:xfrm>
          <a:prstGeom prst="ellipse">
            <a:avLst/>
          </a:prstGeom>
          <a:solidFill>
            <a:srgbClr val="FF7A00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380990" y="761980"/>
            <a:ext cx="7619809" cy="3301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5000" b="1">
                <a:solidFill>
                  <a:srgbClr val="FF7A00"/>
                </a:solidFill>
                <a:latin typeface="Segoe UI"/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4888" y="1320766"/>
            <a:ext cx="1523961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F7A00"/>
                </a:solidFill>
                <a:latin typeface="Segoe UI Light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3975000"/>
            <a:ext cx="5460863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krijgt binnen een jaar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3200" b="1">
                <a:solidFill>
                  <a:srgbClr val="F2F8FC"/>
                </a:solidFill>
                <a:latin typeface="Segoe UI"/>
              </a:rPr>
              <a:t>een nieuw ulcus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7563" y="1142971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0758" y="1320766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60%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3458" y="1930351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NA DRIE JAAR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7563" y="2514537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0758" y="2692332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65%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3458" y="3301917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NA VIJF JAAR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7563" y="3886102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0758" y="4063898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2,5×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33458" y="4673483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HOGERE STERFTE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Armstrong, Boulton &amp; Bus · N Engl J Med 2017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04 / 31</a:t>
            </a:r>
          </a:p>
        </p:txBody>
      </p:sp>
      <p:pic>
        <p:nvPicPr>
          <p:cNvPr id="18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DEZELFDE SCHOEN, TWEE UITKOMSTEN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Het lag niet aan de zool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828754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1993850"/>
            <a:ext cx="380990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Iedereen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683" y="2349441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intention-to-treat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84" y="2768530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Gewone maatzool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93930" y="2717732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93930" y="2717732"/>
            <a:ext cx="6062320" cy="292092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05752" y="2692332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8FB6D0"/>
                </a:solidFill>
                <a:latin typeface="Segoe UI"/>
              </a:rPr>
              <a:t>44,2%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984" y="3187620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Drukgeoptimaliseerd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93930" y="3136821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93930" y="3136821"/>
            <a:ext cx="5321674" cy="292092"/>
          </a:xfrm>
          <a:prstGeom prst="roundRect">
            <a:avLst>
              <a:gd name="adj" fmla="val 500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5752" y="3111422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F7A00"/>
                </a:solidFill>
                <a:latin typeface="Segoe UI"/>
              </a:rPr>
              <a:t>38,8%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" y="3568610"/>
            <a:ext cx="571485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7A00"/>
                </a:solidFill>
                <a:latin typeface="Segoe UI"/>
              </a:rPr>
              <a:t>Geen verschil — p = 0,48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984" y="4089297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984" y="4254393"/>
            <a:ext cx="380990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Wie hem droeg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683" y="4609984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≥ 80% van de stappen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984" y="5029074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Gewone maatzool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93930" y="4978275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793930" y="4978275"/>
            <a:ext cx="6556084" cy="292092"/>
          </a:xfrm>
          <a:prstGeom prst="roundRect">
            <a:avLst>
              <a:gd name="adj" fmla="val 50000"/>
            </a:avLst>
          </a:prstGeom>
          <a:solidFill>
            <a:srgbClr val="8FB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5752" y="4952876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8FB6D0"/>
                </a:solidFill>
                <a:latin typeface="Segoe UI"/>
              </a:rPr>
              <a:t>47,8%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984" y="5448163"/>
            <a:ext cx="2031949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FB6D0"/>
                </a:solidFill>
                <a:latin typeface="Consolas"/>
              </a:rPr>
              <a:t>Drukgeoptimaliseerd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93930" y="5397365"/>
            <a:ext cx="6857828" cy="292092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793930" y="5397365"/>
            <a:ext cx="3524923" cy="292092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05752" y="5371965"/>
            <a:ext cx="1396965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Segoe UI"/>
              </a:rPr>
              <a:t>25,7%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984" y="5829154"/>
            <a:ext cx="571485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52BDEC"/>
                </a:solidFill>
                <a:latin typeface="Segoe UI"/>
              </a:rPr>
              <a:t>Bijna gehalveerd — p = 0,045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4857" y="5930751"/>
            <a:ext cx="584185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400" b="1">
                <a:solidFill>
                  <a:srgbClr val="F2F8FC"/>
                </a:solidFill>
                <a:latin typeface="Segoe UI"/>
              </a:rPr>
              <a:t>De interventie werkte. Bij de 46% die hem aandeed.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Bus et al. · Diabetes Care 2013 · DIAFOS, 171 deelnemers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05 / 31</a:t>
            </a:r>
          </a:p>
        </p:txBody>
      </p:sp>
      <p:pic>
        <p:nvPicPr>
          <p:cNvPr id="32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5974" y="253993"/>
            <a:ext cx="5206869" cy="5206869"/>
          </a:xfrm>
          <a:prstGeom prst="ellipse">
            <a:avLst/>
          </a:prstGeom>
          <a:solidFill>
            <a:srgbClr val="52BDEC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380990" y="761980"/>
            <a:ext cx="7619809" cy="3301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5000" b="1">
                <a:solidFill>
                  <a:srgbClr val="52BDEC"/>
                </a:solidFill>
                <a:latin typeface="Segoe UI"/>
              </a:rPr>
              <a:t>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4888" y="1320766"/>
            <a:ext cx="1523961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52BDEC"/>
                </a:solidFill>
                <a:latin typeface="Segoe UI Light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3975000"/>
            <a:ext cx="5460863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draagtijd — gemeten,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3200" b="1">
                <a:solidFill>
                  <a:srgbClr val="F2F8FC"/>
                </a:solidFill>
                <a:latin typeface="Segoe UI"/>
              </a:rPr>
              <a:t>niet gevraagd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9841" y="1904952"/>
            <a:ext cx="507987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spc="140">
                <a:solidFill>
                  <a:srgbClr val="8FB6D0"/>
                </a:solidFill>
                <a:latin typeface="Consolas"/>
              </a:rPr>
              <a:t>DRAAGTIJD TEGENOVER DE NORM VAN 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841" y="2222444"/>
            <a:ext cx="165095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Gemiddeld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49841" y="2489137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49841" y="2489137"/>
            <a:ext cx="3155871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21726" y="2463738"/>
            <a:ext cx="69848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71%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49841" y="2971725"/>
            <a:ext cx="165095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Thuis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49841" y="3238419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49841" y="3238419"/>
            <a:ext cx="2711382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21726" y="3213019"/>
            <a:ext cx="69848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61%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1" y="3721006"/>
            <a:ext cx="165095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Buitenshuis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49841" y="3987700"/>
            <a:ext cx="4444888" cy="253993"/>
          </a:xfrm>
          <a:prstGeom prst="roundRect">
            <a:avLst>
              <a:gd name="adj" fmla="val 500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9841" y="3987700"/>
            <a:ext cx="3867053" cy="253993"/>
          </a:xfrm>
          <a:prstGeom prst="roundRect">
            <a:avLst>
              <a:gd name="adj" fmla="val 500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21726" y="3962300"/>
            <a:ext cx="69848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87%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05752" y="2184345"/>
            <a:ext cx="19049" cy="2209744"/>
          </a:xfrm>
          <a:prstGeom prst="rect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70768" y="4470288"/>
            <a:ext cx="126996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F7A00"/>
                </a:solidFill>
                <a:latin typeface="Consolas"/>
              </a:rPr>
              <a:t>norm 80%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Waaijman et al. · Diabetes Care 2013 · 107 patiënten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06 / 31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MECHANISME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Belasting is een product,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4000" b="1">
                <a:solidFill>
                  <a:srgbClr val="F2F8FC"/>
                </a:solidFill>
                <a:latin typeface="Segoe UI"/>
              </a:rPr>
              <a:t>geen optelsom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547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Piekdruk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47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per stap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547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47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4182A"/>
                </a:solidFill>
                <a:latin typeface="Consolas"/>
              </a:rPr>
              <a:t>BIJGESTUURD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69085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8FB6D0"/>
                </a:solidFill>
                <a:latin typeface="Segoe UI Light"/>
              </a:rPr>
              <a:t>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627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676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Activiteit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676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stappen per dag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1676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676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8FB6D0"/>
                </a:solidFill>
                <a:latin typeface="Consolas"/>
              </a:rPr>
              <a:t>GEMETEN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60374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8FB6D0"/>
                </a:solidFill>
                <a:latin typeface="Segoe UI Light"/>
              </a:rPr>
              <a:t>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756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8058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Draagtijd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8058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wérd hij gedragen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08058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08058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4182A"/>
                </a:solidFill>
                <a:latin typeface="Consolas"/>
              </a:rPr>
              <a:t>BIJGESTUURD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984" y="4889377"/>
            <a:ext cx="10921726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>
                <a:solidFill>
                  <a:srgbClr val="8FB6D0"/>
                </a:solidFill>
                <a:latin typeface="Segoe UI"/>
              </a:rPr>
              <a:t>Eén factor op nul maakt het product nul. Daarom sturen we er twee bij.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07 / 31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857828" y="-738820"/>
            <a:ext cx="6984825" cy="8081476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634984" y="1854153"/>
            <a:ext cx="4444888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02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975000"/>
            <a:ext cx="8889777" cy="8889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De interventie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990975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8FB6D0"/>
                </a:solidFill>
                <a:latin typeface="Segoe UI Light"/>
              </a:rPr>
              <a:t>Twee componenten. Bovenop wat u al doet.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08 / 31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WAT U ZIET BIJ DE METING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Elke sensor een cijfer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FF7A00"/>
                </a:solidFill>
                <a:latin typeface="Segoe UI"/>
              </a:rPr>
              <a:t>312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FF7A00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op metatarsaal 2-3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Norm:  &lt; 200 kPa   óf   ≥ 25% lager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Dit is een echte in-shoe meting: honderden sensoren onder de voet, elk met hun eigen piekdruk over minstens twaalf mid-gait stappen.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De hete plek ligt waar de meeste plantaire ulcera ontstaan. Deze patiënt zit ruim boven de norm.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Novel pedar · in-shoe · piekdruk per regio via Multimask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09 / 31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p00_07"/>
          <p:cNvSpPr/>
          <p:nvPr/>
        </p:nvSpPr>
        <p:spPr>
          <a:xfrm>
            <a:off x="2426905" y="1263678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p00_08"/>
          <p:cNvSpPr/>
          <p:nvPr/>
        </p:nvSpPr>
        <p:spPr>
          <a:xfrm>
            <a:off x="2839645" y="1263678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p00_09"/>
          <p:cNvSpPr/>
          <p:nvPr/>
        </p:nvSpPr>
        <p:spPr>
          <a:xfrm>
            <a:off x="3252385" y="1263678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10"/>
          <p:cNvSpPr/>
          <p:nvPr/>
        </p:nvSpPr>
        <p:spPr>
          <a:xfrm>
            <a:off x="3665125" y="1263678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1_06"/>
          <p:cNvSpPr/>
          <p:nvPr/>
        </p:nvSpPr>
        <p:spPr>
          <a:xfrm>
            <a:off x="2014166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1_07"/>
          <p:cNvSpPr/>
          <p:nvPr/>
        </p:nvSpPr>
        <p:spPr>
          <a:xfrm>
            <a:off x="2426905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8"/>
          <p:cNvSpPr/>
          <p:nvPr/>
        </p:nvSpPr>
        <p:spPr>
          <a:xfrm>
            <a:off x="2839645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9"/>
          <p:cNvSpPr/>
          <p:nvPr/>
        </p:nvSpPr>
        <p:spPr>
          <a:xfrm>
            <a:off x="3252385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10"/>
          <p:cNvSpPr/>
          <p:nvPr/>
        </p:nvSpPr>
        <p:spPr>
          <a:xfrm>
            <a:off x="3665125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11"/>
          <p:cNvSpPr/>
          <p:nvPr/>
        </p:nvSpPr>
        <p:spPr>
          <a:xfrm>
            <a:off x="4077864" y="1233700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2_05"/>
          <p:cNvSpPr/>
          <p:nvPr/>
        </p:nvSpPr>
        <p:spPr>
          <a:xfrm>
            <a:off x="1601426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2_06"/>
          <p:cNvSpPr/>
          <p:nvPr/>
        </p:nvSpPr>
        <p:spPr>
          <a:xfrm>
            <a:off x="2014166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7"/>
          <p:cNvSpPr/>
          <p:nvPr/>
        </p:nvSpPr>
        <p:spPr>
          <a:xfrm>
            <a:off x="2426905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8"/>
          <p:cNvSpPr/>
          <p:nvPr/>
        </p:nvSpPr>
        <p:spPr>
          <a:xfrm>
            <a:off x="2839645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9"/>
          <p:cNvSpPr/>
          <p:nvPr/>
        </p:nvSpPr>
        <p:spPr>
          <a:xfrm>
            <a:off x="3252385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10"/>
          <p:cNvSpPr/>
          <p:nvPr/>
        </p:nvSpPr>
        <p:spPr>
          <a:xfrm>
            <a:off x="3665125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11"/>
          <p:cNvSpPr/>
          <p:nvPr/>
        </p:nvSpPr>
        <p:spPr>
          <a:xfrm>
            <a:off x="4077864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2"/>
          <p:cNvSpPr/>
          <p:nvPr/>
        </p:nvSpPr>
        <p:spPr>
          <a:xfrm>
            <a:off x="4490604" y="1203722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3_05"/>
          <p:cNvSpPr/>
          <p:nvPr/>
        </p:nvSpPr>
        <p:spPr>
          <a:xfrm>
            <a:off x="1601426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3_06"/>
          <p:cNvSpPr/>
          <p:nvPr/>
        </p:nvSpPr>
        <p:spPr>
          <a:xfrm>
            <a:off x="2014166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7"/>
          <p:cNvSpPr/>
          <p:nvPr/>
        </p:nvSpPr>
        <p:spPr>
          <a:xfrm>
            <a:off x="2426905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8"/>
          <p:cNvSpPr/>
          <p:nvPr/>
        </p:nvSpPr>
        <p:spPr>
          <a:xfrm>
            <a:off x="2839645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9"/>
          <p:cNvSpPr/>
          <p:nvPr/>
        </p:nvSpPr>
        <p:spPr>
          <a:xfrm>
            <a:off x="3252385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10"/>
          <p:cNvSpPr/>
          <p:nvPr/>
        </p:nvSpPr>
        <p:spPr>
          <a:xfrm>
            <a:off x="3665125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11"/>
          <p:cNvSpPr/>
          <p:nvPr/>
        </p:nvSpPr>
        <p:spPr>
          <a:xfrm>
            <a:off x="4077864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2"/>
          <p:cNvSpPr/>
          <p:nvPr/>
        </p:nvSpPr>
        <p:spPr>
          <a:xfrm>
            <a:off x="4490604" y="1173744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4_05"/>
          <p:cNvSpPr/>
          <p:nvPr/>
        </p:nvSpPr>
        <p:spPr>
          <a:xfrm>
            <a:off x="1601426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4_06"/>
          <p:cNvSpPr/>
          <p:nvPr/>
        </p:nvSpPr>
        <p:spPr>
          <a:xfrm>
            <a:off x="2014166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7"/>
          <p:cNvSpPr/>
          <p:nvPr/>
        </p:nvSpPr>
        <p:spPr>
          <a:xfrm>
            <a:off x="2426905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8"/>
          <p:cNvSpPr/>
          <p:nvPr/>
        </p:nvSpPr>
        <p:spPr>
          <a:xfrm>
            <a:off x="2839645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9"/>
          <p:cNvSpPr/>
          <p:nvPr/>
        </p:nvSpPr>
        <p:spPr>
          <a:xfrm>
            <a:off x="3252385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10"/>
          <p:cNvSpPr/>
          <p:nvPr/>
        </p:nvSpPr>
        <p:spPr>
          <a:xfrm>
            <a:off x="3665125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11"/>
          <p:cNvSpPr/>
          <p:nvPr/>
        </p:nvSpPr>
        <p:spPr>
          <a:xfrm>
            <a:off x="4077864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2"/>
          <p:cNvSpPr/>
          <p:nvPr/>
        </p:nvSpPr>
        <p:spPr>
          <a:xfrm>
            <a:off x="4490604" y="1143766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5_05"/>
          <p:cNvSpPr/>
          <p:nvPr/>
        </p:nvSpPr>
        <p:spPr>
          <a:xfrm>
            <a:off x="1601426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5_06"/>
          <p:cNvSpPr/>
          <p:nvPr/>
        </p:nvSpPr>
        <p:spPr>
          <a:xfrm>
            <a:off x="2014166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7"/>
          <p:cNvSpPr/>
          <p:nvPr/>
        </p:nvSpPr>
        <p:spPr>
          <a:xfrm>
            <a:off x="2426905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8"/>
          <p:cNvSpPr/>
          <p:nvPr/>
        </p:nvSpPr>
        <p:spPr>
          <a:xfrm>
            <a:off x="2839645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9"/>
          <p:cNvSpPr/>
          <p:nvPr/>
        </p:nvSpPr>
        <p:spPr>
          <a:xfrm>
            <a:off x="3252385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10"/>
          <p:cNvSpPr/>
          <p:nvPr/>
        </p:nvSpPr>
        <p:spPr>
          <a:xfrm>
            <a:off x="3665125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11"/>
          <p:cNvSpPr/>
          <p:nvPr/>
        </p:nvSpPr>
        <p:spPr>
          <a:xfrm>
            <a:off x="4077864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2"/>
          <p:cNvSpPr/>
          <p:nvPr/>
        </p:nvSpPr>
        <p:spPr>
          <a:xfrm>
            <a:off x="4490604" y="1113788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6_05"/>
          <p:cNvSpPr/>
          <p:nvPr/>
        </p:nvSpPr>
        <p:spPr>
          <a:xfrm>
            <a:off x="1601426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6_06"/>
          <p:cNvSpPr/>
          <p:nvPr/>
        </p:nvSpPr>
        <p:spPr>
          <a:xfrm>
            <a:off x="2014166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7"/>
          <p:cNvSpPr/>
          <p:nvPr/>
        </p:nvSpPr>
        <p:spPr>
          <a:xfrm>
            <a:off x="2426905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8"/>
          <p:cNvSpPr/>
          <p:nvPr/>
        </p:nvSpPr>
        <p:spPr>
          <a:xfrm>
            <a:off x="2839645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9"/>
          <p:cNvSpPr/>
          <p:nvPr/>
        </p:nvSpPr>
        <p:spPr>
          <a:xfrm>
            <a:off x="3252385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10"/>
          <p:cNvSpPr/>
          <p:nvPr/>
        </p:nvSpPr>
        <p:spPr>
          <a:xfrm>
            <a:off x="3665125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11"/>
          <p:cNvSpPr/>
          <p:nvPr/>
        </p:nvSpPr>
        <p:spPr>
          <a:xfrm>
            <a:off x="4077864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2"/>
          <p:cNvSpPr/>
          <p:nvPr/>
        </p:nvSpPr>
        <p:spPr>
          <a:xfrm>
            <a:off x="4490604" y="1083810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7_05"/>
          <p:cNvSpPr/>
          <p:nvPr/>
        </p:nvSpPr>
        <p:spPr>
          <a:xfrm>
            <a:off x="1601426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7_06"/>
          <p:cNvSpPr/>
          <p:nvPr/>
        </p:nvSpPr>
        <p:spPr>
          <a:xfrm>
            <a:off x="2014166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7"/>
          <p:cNvSpPr/>
          <p:nvPr/>
        </p:nvSpPr>
        <p:spPr>
          <a:xfrm>
            <a:off x="2426905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8"/>
          <p:cNvSpPr/>
          <p:nvPr/>
        </p:nvSpPr>
        <p:spPr>
          <a:xfrm>
            <a:off x="2839645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9"/>
          <p:cNvSpPr/>
          <p:nvPr/>
        </p:nvSpPr>
        <p:spPr>
          <a:xfrm>
            <a:off x="3252385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10"/>
          <p:cNvSpPr/>
          <p:nvPr/>
        </p:nvSpPr>
        <p:spPr>
          <a:xfrm>
            <a:off x="3665125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11"/>
          <p:cNvSpPr/>
          <p:nvPr/>
        </p:nvSpPr>
        <p:spPr>
          <a:xfrm>
            <a:off x="4077864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2"/>
          <p:cNvSpPr/>
          <p:nvPr/>
        </p:nvSpPr>
        <p:spPr>
          <a:xfrm>
            <a:off x="4490604" y="1053832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8_05"/>
          <p:cNvSpPr/>
          <p:nvPr/>
        </p:nvSpPr>
        <p:spPr>
          <a:xfrm>
            <a:off x="1601426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8_06"/>
          <p:cNvSpPr/>
          <p:nvPr/>
        </p:nvSpPr>
        <p:spPr>
          <a:xfrm>
            <a:off x="2014166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7"/>
          <p:cNvSpPr/>
          <p:nvPr/>
        </p:nvSpPr>
        <p:spPr>
          <a:xfrm>
            <a:off x="2426905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8"/>
          <p:cNvSpPr/>
          <p:nvPr/>
        </p:nvSpPr>
        <p:spPr>
          <a:xfrm>
            <a:off x="2839645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9"/>
          <p:cNvSpPr/>
          <p:nvPr/>
        </p:nvSpPr>
        <p:spPr>
          <a:xfrm>
            <a:off x="3252385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10"/>
          <p:cNvSpPr/>
          <p:nvPr/>
        </p:nvSpPr>
        <p:spPr>
          <a:xfrm>
            <a:off x="3665125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11"/>
          <p:cNvSpPr/>
          <p:nvPr/>
        </p:nvSpPr>
        <p:spPr>
          <a:xfrm>
            <a:off x="4077864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2"/>
          <p:cNvSpPr/>
          <p:nvPr/>
        </p:nvSpPr>
        <p:spPr>
          <a:xfrm>
            <a:off x="4490604" y="1023854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9_05"/>
          <p:cNvSpPr/>
          <p:nvPr/>
        </p:nvSpPr>
        <p:spPr>
          <a:xfrm>
            <a:off x="1601426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9_06"/>
          <p:cNvSpPr/>
          <p:nvPr/>
        </p:nvSpPr>
        <p:spPr>
          <a:xfrm>
            <a:off x="2014166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7"/>
          <p:cNvSpPr/>
          <p:nvPr/>
        </p:nvSpPr>
        <p:spPr>
          <a:xfrm>
            <a:off x="2426905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8"/>
          <p:cNvSpPr/>
          <p:nvPr/>
        </p:nvSpPr>
        <p:spPr>
          <a:xfrm>
            <a:off x="2839645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9"/>
          <p:cNvSpPr/>
          <p:nvPr/>
        </p:nvSpPr>
        <p:spPr>
          <a:xfrm>
            <a:off x="3252385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10"/>
          <p:cNvSpPr/>
          <p:nvPr/>
        </p:nvSpPr>
        <p:spPr>
          <a:xfrm>
            <a:off x="3665125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11"/>
          <p:cNvSpPr/>
          <p:nvPr/>
        </p:nvSpPr>
        <p:spPr>
          <a:xfrm>
            <a:off x="4077864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2"/>
          <p:cNvSpPr/>
          <p:nvPr/>
        </p:nvSpPr>
        <p:spPr>
          <a:xfrm>
            <a:off x="4490604" y="993876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10_06"/>
          <p:cNvSpPr/>
          <p:nvPr/>
        </p:nvSpPr>
        <p:spPr>
          <a:xfrm>
            <a:off x="2014166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10_07"/>
          <p:cNvSpPr/>
          <p:nvPr/>
        </p:nvSpPr>
        <p:spPr>
          <a:xfrm>
            <a:off x="2426905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8"/>
          <p:cNvSpPr/>
          <p:nvPr/>
        </p:nvSpPr>
        <p:spPr>
          <a:xfrm>
            <a:off x="2839645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9"/>
          <p:cNvSpPr/>
          <p:nvPr/>
        </p:nvSpPr>
        <p:spPr>
          <a:xfrm>
            <a:off x="3252385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10"/>
          <p:cNvSpPr/>
          <p:nvPr/>
        </p:nvSpPr>
        <p:spPr>
          <a:xfrm>
            <a:off x="3665125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11"/>
          <p:cNvSpPr/>
          <p:nvPr/>
        </p:nvSpPr>
        <p:spPr>
          <a:xfrm>
            <a:off x="4077864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2"/>
          <p:cNvSpPr/>
          <p:nvPr/>
        </p:nvSpPr>
        <p:spPr>
          <a:xfrm>
            <a:off x="4490604" y="963898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1_06"/>
          <p:cNvSpPr/>
          <p:nvPr/>
        </p:nvSpPr>
        <p:spPr>
          <a:xfrm>
            <a:off x="2014166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1_07"/>
          <p:cNvSpPr/>
          <p:nvPr/>
        </p:nvSpPr>
        <p:spPr>
          <a:xfrm>
            <a:off x="2426905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8"/>
          <p:cNvSpPr/>
          <p:nvPr/>
        </p:nvSpPr>
        <p:spPr>
          <a:xfrm>
            <a:off x="2839645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9"/>
          <p:cNvSpPr/>
          <p:nvPr/>
        </p:nvSpPr>
        <p:spPr>
          <a:xfrm>
            <a:off x="3252385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10"/>
          <p:cNvSpPr/>
          <p:nvPr/>
        </p:nvSpPr>
        <p:spPr>
          <a:xfrm>
            <a:off x="3665125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11"/>
          <p:cNvSpPr/>
          <p:nvPr/>
        </p:nvSpPr>
        <p:spPr>
          <a:xfrm>
            <a:off x="4077864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2"/>
          <p:cNvSpPr/>
          <p:nvPr/>
        </p:nvSpPr>
        <p:spPr>
          <a:xfrm>
            <a:off x="4490604" y="933920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2_06"/>
          <p:cNvSpPr/>
          <p:nvPr/>
        </p:nvSpPr>
        <p:spPr>
          <a:xfrm>
            <a:off x="2014166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2_07"/>
          <p:cNvSpPr/>
          <p:nvPr/>
        </p:nvSpPr>
        <p:spPr>
          <a:xfrm>
            <a:off x="2426905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8"/>
          <p:cNvSpPr/>
          <p:nvPr/>
        </p:nvSpPr>
        <p:spPr>
          <a:xfrm>
            <a:off x="2839645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9"/>
          <p:cNvSpPr/>
          <p:nvPr/>
        </p:nvSpPr>
        <p:spPr>
          <a:xfrm>
            <a:off x="3252385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10"/>
          <p:cNvSpPr/>
          <p:nvPr/>
        </p:nvSpPr>
        <p:spPr>
          <a:xfrm>
            <a:off x="3665125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11"/>
          <p:cNvSpPr/>
          <p:nvPr/>
        </p:nvSpPr>
        <p:spPr>
          <a:xfrm>
            <a:off x="4077864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2"/>
          <p:cNvSpPr/>
          <p:nvPr/>
        </p:nvSpPr>
        <p:spPr>
          <a:xfrm>
            <a:off x="4490604" y="903943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3_06"/>
          <p:cNvSpPr/>
          <p:nvPr/>
        </p:nvSpPr>
        <p:spPr>
          <a:xfrm>
            <a:off x="2014166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3_07"/>
          <p:cNvSpPr/>
          <p:nvPr/>
        </p:nvSpPr>
        <p:spPr>
          <a:xfrm>
            <a:off x="2426905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8"/>
          <p:cNvSpPr/>
          <p:nvPr/>
        </p:nvSpPr>
        <p:spPr>
          <a:xfrm>
            <a:off x="2839645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9"/>
          <p:cNvSpPr/>
          <p:nvPr/>
        </p:nvSpPr>
        <p:spPr>
          <a:xfrm>
            <a:off x="3252385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10"/>
          <p:cNvSpPr/>
          <p:nvPr/>
        </p:nvSpPr>
        <p:spPr>
          <a:xfrm>
            <a:off x="3665125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11"/>
          <p:cNvSpPr/>
          <p:nvPr/>
        </p:nvSpPr>
        <p:spPr>
          <a:xfrm>
            <a:off x="4077864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2"/>
          <p:cNvSpPr/>
          <p:nvPr/>
        </p:nvSpPr>
        <p:spPr>
          <a:xfrm>
            <a:off x="4490604" y="873965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4_06"/>
          <p:cNvSpPr/>
          <p:nvPr/>
        </p:nvSpPr>
        <p:spPr>
          <a:xfrm>
            <a:off x="2014166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4_07"/>
          <p:cNvSpPr/>
          <p:nvPr/>
        </p:nvSpPr>
        <p:spPr>
          <a:xfrm>
            <a:off x="2426905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8"/>
          <p:cNvSpPr/>
          <p:nvPr/>
        </p:nvSpPr>
        <p:spPr>
          <a:xfrm>
            <a:off x="2839645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9"/>
          <p:cNvSpPr/>
          <p:nvPr/>
        </p:nvSpPr>
        <p:spPr>
          <a:xfrm>
            <a:off x="3252385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10"/>
          <p:cNvSpPr/>
          <p:nvPr/>
        </p:nvSpPr>
        <p:spPr>
          <a:xfrm>
            <a:off x="3665125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11"/>
          <p:cNvSpPr/>
          <p:nvPr/>
        </p:nvSpPr>
        <p:spPr>
          <a:xfrm>
            <a:off x="4077864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2"/>
          <p:cNvSpPr/>
          <p:nvPr/>
        </p:nvSpPr>
        <p:spPr>
          <a:xfrm>
            <a:off x="4490604" y="843987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5_07"/>
          <p:cNvSpPr/>
          <p:nvPr/>
        </p:nvSpPr>
        <p:spPr>
          <a:xfrm>
            <a:off x="2426905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5_08"/>
          <p:cNvSpPr/>
          <p:nvPr/>
        </p:nvSpPr>
        <p:spPr>
          <a:xfrm>
            <a:off x="2839645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9"/>
          <p:cNvSpPr/>
          <p:nvPr/>
        </p:nvSpPr>
        <p:spPr>
          <a:xfrm>
            <a:off x="3252385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10"/>
          <p:cNvSpPr/>
          <p:nvPr/>
        </p:nvSpPr>
        <p:spPr>
          <a:xfrm>
            <a:off x="3665125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11"/>
          <p:cNvSpPr/>
          <p:nvPr/>
        </p:nvSpPr>
        <p:spPr>
          <a:xfrm>
            <a:off x="4077864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2"/>
          <p:cNvSpPr/>
          <p:nvPr/>
        </p:nvSpPr>
        <p:spPr>
          <a:xfrm>
            <a:off x="4490604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3"/>
          <p:cNvSpPr/>
          <p:nvPr/>
        </p:nvSpPr>
        <p:spPr>
          <a:xfrm>
            <a:off x="4903344" y="814009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6_07"/>
          <p:cNvSpPr/>
          <p:nvPr/>
        </p:nvSpPr>
        <p:spPr>
          <a:xfrm>
            <a:off x="2426905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6_08"/>
          <p:cNvSpPr/>
          <p:nvPr/>
        </p:nvSpPr>
        <p:spPr>
          <a:xfrm>
            <a:off x="2839645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9"/>
          <p:cNvSpPr/>
          <p:nvPr/>
        </p:nvSpPr>
        <p:spPr>
          <a:xfrm>
            <a:off x="3252385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10"/>
          <p:cNvSpPr/>
          <p:nvPr/>
        </p:nvSpPr>
        <p:spPr>
          <a:xfrm>
            <a:off x="3665125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11"/>
          <p:cNvSpPr/>
          <p:nvPr/>
        </p:nvSpPr>
        <p:spPr>
          <a:xfrm>
            <a:off x="4077864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2"/>
          <p:cNvSpPr/>
          <p:nvPr/>
        </p:nvSpPr>
        <p:spPr>
          <a:xfrm>
            <a:off x="4490604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3"/>
          <p:cNvSpPr/>
          <p:nvPr/>
        </p:nvSpPr>
        <p:spPr>
          <a:xfrm>
            <a:off x="4903344" y="784031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7_07"/>
          <p:cNvSpPr/>
          <p:nvPr/>
        </p:nvSpPr>
        <p:spPr>
          <a:xfrm>
            <a:off x="2426905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7_08"/>
          <p:cNvSpPr/>
          <p:nvPr/>
        </p:nvSpPr>
        <p:spPr>
          <a:xfrm>
            <a:off x="2839645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9"/>
          <p:cNvSpPr/>
          <p:nvPr/>
        </p:nvSpPr>
        <p:spPr>
          <a:xfrm>
            <a:off x="3252385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10"/>
          <p:cNvSpPr/>
          <p:nvPr/>
        </p:nvSpPr>
        <p:spPr>
          <a:xfrm>
            <a:off x="3665125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11"/>
          <p:cNvSpPr/>
          <p:nvPr/>
        </p:nvSpPr>
        <p:spPr>
          <a:xfrm>
            <a:off x="4077864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2"/>
          <p:cNvSpPr/>
          <p:nvPr/>
        </p:nvSpPr>
        <p:spPr>
          <a:xfrm>
            <a:off x="4490604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3"/>
          <p:cNvSpPr/>
          <p:nvPr/>
        </p:nvSpPr>
        <p:spPr>
          <a:xfrm>
            <a:off x="4903344" y="754053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8_06"/>
          <p:cNvSpPr/>
          <p:nvPr/>
        </p:nvSpPr>
        <p:spPr>
          <a:xfrm>
            <a:off x="2014166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8_07"/>
          <p:cNvSpPr/>
          <p:nvPr/>
        </p:nvSpPr>
        <p:spPr>
          <a:xfrm>
            <a:off x="2426905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8"/>
          <p:cNvSpPr/>
          <p:nvPr/>
        </p:nvSpPr>
        <p:spPr>
          <a:xfrm>
            <a:off x="2839645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9"/>
          <p:cNvSpPr/>
          <p:nvPr/>
        </p:nvSpPr>
        <p:spPr>
          <a:xfrm>
            <a:off x="3252385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10"/>
          <p:cNvSpPr/>
          <p:nvPr/>
        </p:nvSpPr>
        <p:spPr>
          <a:xfrm>
            <a:off x="3665125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11"/>
          <p:cNvSpPr/>
          <p:nvPr/>
        </p:nvSpPr>
        <p:spPr>
          <a:xfrm>
            <a:off x="4077864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2"/>
          <p:cNvSpPr/>
          <p:nvPr/>
        </p:nvSpPr>
        <p:spPr>
          <a:xfrm>
            <a:off x="4490604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3"/>
          <p:cNvSpPr/>
          <p:nvPr/>
        </p:nvSpPr>
        <p:spPr>
          <a:xfrm>
            <a:off x="4903344" y="724075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9_06"/>
          <p:cNvSpPr/>
          <p:nvPr/>
        </p:nvSpPr>
        <p:spPr>
          <a:xfrm>
            <a:off x="2014166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9_07"/>
          <p:cNvSpPr/>
          <p:nvPr/>
        </p:nvSpPr>
        <p:spPr>
          <a:xfrm>
            <a:off x="2426905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8"/>
          <p:cNvSpPr/>
          <p:nvPr/>
        </p:nvSpPr>
        <p:spPr>
          <a:xfrm>
            <a:off x="2839645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9"/>
          <p:cNvSpPr/>
          <p:nvPr/>
        </p:nvSpPr>
        <p:spPr>
          <a:xfrm>
            <a:off x="3252385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10"/>
          <p:cNvSpPr/>
          <p:nvPr/>
        </p:nvSpPr>
        <p:spPr>
          <a:xfrm>
            <a:off x="3665125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11"/>
          <p:cNvSpPr/>
          <p:nvPr/>
        </p:nvSpPr>
        <p:spPr>
          <a:xfrm>
            <a:off x="4077864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2"/>
          <p:cNvSpPr/>
          <p:nvPr/>
        </p:nvSpPr>
        <p:spPr>
          <a:xfrm>
            <a:off x="4490604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3"/>
          <p:cNvSpPr/>
          <p:nvPr/>
        </p:nvSpPr>
        <p:spPr>
          <a:xfrm>
            <a:off x="4903344" y="694097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20_06"/>
          <p:cNvSpPr/>
          <p:nvPr/>
        </p:nvSpPr>
        <p:spPr>
          <a:xfrm>
            <a:off x="2014166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20_07"/>
          <p:cNvSpPr/>
          <p:nvPr/>
        </p:nvSpPr>
        <p:spPr>
          <a:xfrm>
            <a:off x="2426905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8"/>
          <p:cNvSpPr/>
          <p:nvPr/>
        </p:nvSpPr>
        <p:spPr>
          <a:xfrm>
            <a:off x="2839645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9"/>
          <p:cNvSpPr/>
          <p:nvPr/>
        </p:nvSpPr>
        <p:spPr>
          <a:xfrm>
            <a:off x="3252385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10"/>
          <p:cNvSpPr/>
          <p:nvPr/>
        </p:nvSpPr>
        <p:spPr>
          <a:xfrm>
            <a:off x="3665125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11"/>
          <p:cNvSpPr/>
          <p:nvPr/>
        </p:nvSpPr>
        <p:spPr>
          <a:xfrm>
            <a:off x="4077864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2"/>
          <p:cNvSpPr/>
          <p:nvPr/>
        </p:nvSpPr>
        <p:spPr>
          <a:xfrm>
            <a:off x="4490604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3"/>
          <p:cNvSpPr/>
          <p:nvPr/>
        </p:nvSpPr>
        <p:spPr>
          <a:xfrm>
            <a:off x="4903344" y="664119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1_05"/>
          <p:cNvSpPr/>
          <p:nvPr/>
        </p:nvSpPr>
        <p:spPr>
          <a:xfrm>
            <a:off x="1601426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1_06"/>
          <p:cNvSpPr/>
          <p:nvPr/>
        </p:nvSpPr>
        <p:spPr>
          <a:xfrm>
            <a:off x="2014166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7"/>
          <p:cNvSpPr/>
          <p:nvPr/>
        </p:nvSpPr>
        <p:spPr>
          <a:xfrm>
            <a:off x="2426905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8"/>
          <p:cNvSpPr/>
          <p:nvPr/>
        </p:nvSpPr>
        <p:spPr>
          <a:xfrm>
            <a:off x="2839645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9"/>
          <p:cNvSpPr/>
          <p:nvPr/>
        </p:nvSpPr>
        <p:spPr>
          <a:xfrm>
            <a:off x="3252385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10"/>
          <p:cNvSpPr/>
          <p:nvPr/>
        </p:nvSpPr>
        <p:spPr>
          <a:xfrm>
            <a:off x="3665125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11"/>
          <p:cNvSpPr/>
          <p:nvPr/>
        </p:nvSpPr>
        <p:spPr>
          <a:xfrm>
            <a:off x="4077864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2"/>
          <p:cNvSpPr/>
          <p:nvPr/>
        </p:nvSpPr>
        <p:spPr>
          <a:xfrm>
            <a:off x="4490604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3"/>
          <p:cNvSpPr/>
          <p:nvPr/>
        </p:nvSpPr>
        <p:spPr>
          <a:xfrm>
            <a:off x="4903344" y="634141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2_05"/>
          <p:cNvSpPr/>
          <p:nvPr/>
        </p:nvSpPr>
        <p:spPr>
          <a:xfrm>
            <a:off x="1601426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2_06"/>
          <p:cNvSpPr/>
          <p:nvPr/>
        </p:nvSpPr>
        <p:spPr>
          <a:xfrm>
            <a:off x="2014166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7"/>
          <p:cNvSpPr/>
          <p:nvPr/>
        </p:nvSpPr>
        <p:spPr>
          <a:xfrm>
            <a:off x="2426905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8"/>
          <p:cNvSpPr/>
          <p:nvPr/>
        </p:nvSpPr>
        <p:spPr>
          <a:xfrm>
            <a:off x="2839645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9"/>
          <p:cNvSpPr/>
          <p:nvPr/>
        </p:nvSpPr>
        <p:spPr>
          <a:xfrm>
            <a:off x="3252385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10"/>
          <p:cNvSpPr/>
          <p:nvPr/>
        </p:nvSpPr>
        <p:spPr>
          <a:xfrm>
            <a:off x="3665125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11"/>
          <p:cNvSpPr/>
          <p:nvPr/>
        </p:nvSpPr>
        <p:spPr>
          <a:xfrm>
            <a:off x="4077864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2"/>
          <p:cNvSpPr/>
          <p:nvPr/>
        </p:nvSpPr>
        <p:spPr>
          <a:xfrm>
            <a:off x="4490604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3"/>
          <p:cNvSpPr/>
          <p:nvPr/>
        </p:nvSpPr>
        <p:spPr>
          <a:xfrm>
            <a:off x="4903344" y="604163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3_04"/>
          <p:cNvSpPr/>
          <p:nvPr/>
        </p:nvSpPr>
        <p:spPr>
          <a:xfrm>
            <a:off x="1188686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3_05"/>
          <p:cNvSpPr/>
          <p:nvPr/>
        </p:nvSpPr>
        <p:spPr>
          <a:xfrm>
            <a:off x="1601426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6"/>
          <p:cNvSpPr/>
          <p:nvPr/>
        </p:nvSpPr>
        <p:spPr>
          <a:xfrm>
            <a:off x="2014166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7"/>
          <p:cNvSpPr/>
          <p:nvPr/>
        </p:nvSpPr>
        <p:spPr>
          <a:xfrm>
            <a:off x="2426905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8"/>
          <p:cNvSpPr/>
          <p:nvPr/>
        </p:nvSpPr>
        <p:spPr>
          <a:xfrm>
            <a:off x="2839645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9"/>
          <p:cNvSpPr/>
          <p:nvPr/>
        </p:nvSpPr>
        <p:spPr>
          <a:xfrm>
            <a:off x="3252385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10"/>
          <p:cNvSpPr/>
          <p:nvPr/>
        </p:nvSpPr>
        <p:spPr>
          <a:xfrm>
            <a:off x="3665125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11"/>
          <p:cNvSpPr/>
          <p:nvPr/>
        </p:nvSpPr>
        <p:spPr>
          <a:xfrm>
            <a:off x="4077864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2"/>
          <p:cNvSpPr/>
          <p:nvPr/>
        </p:nvSpPr>
        <p:spPr>
          <a:xfrm>
            <a:off x="4490604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3"/>
          <p:cNvSpPr/>
          <p:nvPr/>
        </p:nvSpPr>
        <p:spPr>
          <a:xfrm>
            <a:off x="4903344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4"/>
          <p:cNvSpPr/>
          <p:nvPr/>
        </p:nvSpPr>
        <p:spPr>
          <a:xfrm>
            <a:off x="5316083" y="574185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4_04"/>
          <p:cNvSpPr/>
          <p:nvPr/>
        </p:nvSpPr>
        <p:spPr>
          <a:xfrm>
            <a:off x="1188686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4_05"/>
          <p:cNvSpPr/>
          <p:nvPr/>
        </p:nvSpPr>
        <p:spPr>
          <a:xfrm>
            <a:off x="1601426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6"/>
          <p:cNvSpPr/>
          <p:nvPr/>
        </p:nvSpPr>
        <p:spPr>
          <a:xfrm>
            <a:off x="2014166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7"/>
          <p:cNvSpPr/>
          <p:nvPr/>
        </p:nvSpPr>
        <p:spPr>
          <a:xfrm>
            <a:off x="2426905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8"/>
          <p:cNvSpPr/>
          <p:nvPr/>
        </p:nvSpPr>
        <p:spPr>
          <a:xfrm>
            <a:off x="2839645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9"/>
          <p:cNvSpPr/>
          <p:nvPr/>
        </p:nvSpPr>
        <p:spPr>
          <a:xfrm>
            <a:off x="3252385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10"/>
          <p:cNvSpPr/>
          <p:nvPr/>
        </p:nvSpPr>
        <p:spPr>
          <a:xfrm>
            <a:off x="3665125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11"/>
          <p:cNvSpPr/>
          <p:nvPr/>
        </p:nvSpPr>
        <p:spPr>
          <a:xfrm>
            <a:off x="4077864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2"/>
          <p:cNvSpPr/>
          <p:nvPr/>
        </p:nvSpPr>
        <p:spPr>
          <a:xfrm>
            <a:off x="4490604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3"/>
          <p:cNvSpPr/>
          <p:nvPr/>
        </p:nvSpPr>
        <p:spPr>
          <a:xfrm>
            <a:off x="4903344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4"/>
          <p:cNvSpPr/>
          <p:nvPr/>
        </p:nvSpPr>
        <p:spPr>
          <a:xfrm>
            <a:off x="5316083" y="5442077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5_04"/>
          <p:cNvSpPr/>
          <p:nvPr/>
        </p:nvSpPr>
        <p:spPr>
          <a:xfrm>
            <a:off x="1188686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5_05"/>
          <p:cNvSpPr/>
          <p:nvPr/>
        </p:nvSpPr>
        <p:spPr>
          <a:xfrm>
            <a:off x="1601426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6"/>
          <p:cNvSpPr/>
          <p:nvPr/>
        </p:nvSpPr>
        <p:spPr>
          <a:xfrm>
            <a:off x="2014166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7"/>
          <p:cNvSpPr/>
          <p:nvPr/>
        </p:nvSpPr>
        <p:spPr>
          <a:xfrm>
            <a:off x="2426905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8"/>
          <p:cNvSpPr/>
          <p:nvPr/>
        </p:nvSpPr>
        <p:spPr>
          <a:xfrm>
            <a:off x="2839645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9"/>
          <p:cNvSpPr/>
          <p:nvPr/>
        </p:nvSpPr>
        <p:spPr>
          <a:xfrm>
            <a:off x="3252385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10"/>
          <p:cNvSpPr/>
          <p:nvPr/>
        </p:nvSpPr>
        <p:spPr>
          <a:xfrm>
            <a:off x="3665125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11"/>
          <p:cNvSpPr/>
          <p:nvPr/>
        </p:nvSpPr>
        <p:spPr>
          <a:xfrm>
            <a:off x="4077864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2"/>
          <p:cNvSpPr/>
          <p:nvPr/>
        </p:nvSpPr>
        <p:spPr>
          <a:xfrm>
            <a:off x="4490604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3"/>
          <p:cNvSpPr/>
          <p:nvPr/>
        </p:nvSpPr>
        <p:spPr>
          <a:xfrm>
            <a:off x="4903344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4"/>
          <p:cNvSpPr/>
          <p:nvPr/>
        </p:nvSpPr>
        <p:spPr>
          <a:xfrm>
            <a:off x="5316083" y="5142298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6_03"/>
          <p:cNvSpPr/>
          <p:nvPr/>
        </p:nvSpPr>
        <p:spPr>
          <a:xfrm>
            <a:off x="775947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6_04"/>
          <p:cNvSpPr/>
          <p:nvPr/>
        </p:nvSpPr>
        <p:spPr>
          <a:xfrm>
            <a:off x="1188686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5"/>
          <p:cNvSpPr/>
          <p:nvPr/>
        </p:nvSpPr>
        <p:spPr>
          <a:xfrm>
            <a:off x="1601426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6"/>
          <p:cNvSpPr/>
          <p:nvPr/>
        </p:nvSpPr>
        <p:spPr>
          <a:xfrm>
            <a:off x="2014166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7"/>
          <p:cNvSpPr/>
          <p:nvPr/>
        </p:nvSpPr>
        <p:spPr>
          <a:xfrm>
            <a:off x="2426905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8"/>
          <p:cNvSpPr/>
          <p:nvPr/>
        </p:nvSpPr>
        <p:spPr>
          <a:xfrm>
            <a:off x="2839645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9"/>
          <p:cNvSpPr/>
          <p:nvPr/>
        </p:nvSpPr>
        <p:spPr>
          <a:xfrm>
            <a:off x="3252385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10"/>
          <p:cNvSpPr/>
          <p:nvPr/>
        </p:nvSpPr>
        <p:spPr>
          <a:xfrm>
            <a:off x="3665125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11"/>
          <p:cNvSpPr/>
          <p:nvPr/>
        </p:nvSpPr>
        <p:spPr>
          <a:xfrm>
            <a:off x="4077864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2"/>
          <p:cNvSpPr/>
          <p:nvPr/>
        </p:nvSpPr>
        <p:spPr>
          <a:xfrm>
            <a:off x="4490604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3"/>
          <p:cNvSpPr/>
          <p:nvPr/>
        </p:nvSpPr>
        <p:spPr>
          <a:xfrm>
            <a:off x="4903344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4"/>
          <p:cNvSpPr/>
          <p:nvPr/>
        </p:nvSpPr>
        <p:spPr>
          <a:xfrm>
            <a:off x="5316083" y="484251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7_03"/>
          <p:cNvSpPr/>
          <p:nvPr/>
        </p:nvSpPr>
        <p:spPr>
          <a:xfrm>
            <a:off x="775947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7_04"/>
          <p:cNvSpPr/>
          <p:nvPr/>
        </p:nvSpPr>
        <p:spPr>
          <a:xfrm>
            <a:off x="1188686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5"/>
          <p:cNvSpPr/>
          <p:nvPr/>
        </p:nvSpPr>
        <p:spPr>
          <a:xfrm>
            <a:off x="1601426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6"/>
          <p:cNvSpPr/>
          <p:nvPr/>
        </p:nvSpPr>
        <p:spPr>
          <a:xfrm>
            <a:off x="2014166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7"/>
          <p:cNvSpPr/>
          <p:nvPr/>
        </p:nvSpPr>
        <p:spPr>
          <a:xfrm>
            <a:off x="2426905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8"/>
          <p:cNvSpPr/>
          <p:nvPr/>
        </p:nvSpPr>
        <p:spPr>
          <a:xfrm>
            <a:off x="2839645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9"/>
          <p:cNvSpPr/>
          <p:nvPr/>
        </p:nvSpPr>
        <p:spPr>
          <a:xfrm>
            <a:off x="3252385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10"/>
          <p:cNvSpPr/>
          <p:nvPr/>
        </p:nvSpPr>
        <p:spPr>
          <a:xfrm>
            <a:off x="3665125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11"/>
          <p:cNvSpPr/>
          <p:nvPr/>
        </p:nvSpPr>
        <p:spPr>
          <a:xfrm>
            <a:off x="4077864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2"/>
          <p:cNvSpPr/>
          <p:nvPr/>
        </p:nvSpPr>
        <p:spPr>
          <a:xfrm>
            <a:off x="4490604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3"/>
          <p:cNvSpPr/>
          <p:nvPr/>
        </p:nvSpPr>
        <p:spPr>
          <a:xfrm>
            <a:off x="4903344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4"/>
          <p:cNvSpPr/>
          <p:nvPr/>
        </p:nvSpPr>
        <p:spPr>
          <a:xfrm>
            <a:off x="5316083" y="4542739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8_03"/>
          <p:cNvSpPr/>
          <p:nvPr/>
        </p:nvSpPr>
        <p:spPr>
          <a:xfrm>
            <a:off x="775947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8_04"/>
          <p:cNvSpPr/>
          <p:nvPr/>
        </p:nvSpPr>
        <p:spPr>
          <a:xfrm>
            <a:off x="1188686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5"/>
          <p:cNvSpPr/>
          <p:nvPr/>
        </p:nvSpPr>
        <p:spPr>
          <a:xfrm>
            <a:off x="1601426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6"/>
          <p:cNvSpPr/>
          <p:nvPr/>
        </p:nvSpPr>
        <p:spPr>
          <a:xfrm>
            <a:off x="2014166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7"/>
          <p:cNvSpPr/>
          <p:nvPr/>
        </p:nvSpPr>
        <p:spPr>
          <a:xfrm>
            <a:off x="2426905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8"/>
          <p:cNvSpPr/>
          <p:nvPr/>
        </p:nvSpPr>
        <p:spPr>
          <a:xfrm>
            <a:off x="2839645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9"/>
          <p:cNvSpPr/>
          <p:nvPr/>
        </p:nvSpPr>
        <p:spPr>
          <a:xfrm>
            <a:off x="3252385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10"/>
          <p:cNvSpPr/>
          <p:nvPr/>
        </p:nvSpPr>
        <p:spPr>
          <a:xfrm>
            <a:off x="3665125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11"/>
          <p:cNvSpPr/>
          <p:nvPr/>
        </p:nvSpPr>
        <p:spPr>
          <a:xfrm>
            <a:off x="4077864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2"/>
          <p:cNvSpPr/>
          <p:nvPr/>
        </p:nvSpPr>
        <p:spPr>
          <a:xfrm>
            <a:off x="4490604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3"/>
          <p:cNvSpPr/>
          <p:nvPr/>
        </p:nvSpPr>
        <p:spPr>
          <a:xfrm>
            <a:off x="4903344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4"/>
          <p:cNvSpPr/>
          <p:nvPr/>
        </p:nvSpPr>
        <p:spPr>
          <a:xfrm>
            <a:off x="5316083" y="4242960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9_03"/>
          <p:cNvSpPr/>
          <p:nvPr/>
        </p:nvSpPr>
        <p:spPr>
          <a:xfrm>
            <a:off x="775947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9_04"/>
          <p:cNvSpPr/>
          <p:nvPr/>
        </p:nvSpPr>
        <p:spPr>
          <a:xfrm>
            <a:off x="1188686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5"/>
          <p:cNvSpPr/>
          <p:nvPr/>
        </p:nvSpPr>
        <p:spPr>
          <a:xfrm>
            <a:off x="1601426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6"/>
          <p:cNvSpPr/>
          <p:nvPr/>
        </p:nvSpPr>
        <p:spPr>
          <a:xfrm>
            <a:off x="2014166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7"/>
          <p:cNvSpPr/>
          <p:nvPr/>
        </p:nvSpPr>
        <p:spPr>
          <a:xfrm>
            <a:off x="2426905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8"/>
          <p:cNvSpPr/>
          <p:nvPr/>
        </p:nvSpPr>
        <p:spPr>
          <a:xfrm>
            <a:off x="2839645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9"/>
          <p:cNvSpPr/>
          <p:nvPr/>
        </p:nvSpPr>
        <p:spPr>
          <a:xfrm>
            <a:off x="3252385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10"/>
          <p:cNvSpPr/>
          <p:nvPr/>
        </p:nvSpPr>
        <p:spPr>
          <a:xfrm>
            <a:off x="3665125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11"/>
          <p:cNvSpPr/>
          <p:nvPr/>
        </p:nvSpPr>
        <p:spPr>
          <a:xfrm>
            <a:off x="4077864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2"/>
          <p:cNvSpPr/>
          <p:nvPr/>
        </p:nvSpPr>
        <p:spPr>
          <a:xfrm>
            <a:off x="4490604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3"/>
          <p:cNvSpPr/>
          <p:nvPr/>
        </p:nvSpPr>
        <p:spPr>
          <a:xfrm>
            <a:off x="4903344" y="394318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30_03"/>
          <p:cNvSpPr/>
          <p:nvPr/>
        </p:nvSpPr>
        <p:spPr>
          <a:xfrm>
            <a:off x="775947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30_04"/>
          <p:cNvSpPr/>
          <p:nvPr/>
        </p:nvSpPr>
        <p:spPr>
          <a:xfrm>
            <a:off x="1188686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5"/>
          <p:cNvSpPr/>
          <p:nvPr/>
        </p:nvSpPr>
        <p:spPr>
          <a:xfrm>
            <a:off x="1601426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6"/>
          <p:cNvSpPr/>
          <p:nvPr/>
        </p:nvSpPr>
        <p:spPr>
          <a:xfrm>
            <a:off x="2014166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7"/>
          <p:cNvSpPr/>
          <p:nvPr/>
        </p:nvSpPr>
        <p:spPr>
          <a:xfrm>
            <a:off x="2426905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8"/>
          <p:cNvSpPr/>
          <p:nvPr/>
        </p:nvSpPr>
        <p:spPr>
          <a:xfrm>
            <a:off x="2839645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9"/>
          <p:cNvSpPr/>
          <p:nvPr/>
        </p:nvSpPr>
        <p:spPr>
          <a:xfrm>
            <a:off x="3252385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10"/>
          <p:cNvSpPr/>
          <p:nvPr/>
        </p:nvSpPr>
        <p:spPr>
          <a:xfrm>
            <a:off x="3665125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11"/>
          <p:cNvSpPr/>
          <p:nvPr/>
        </p:nvSpPr>
        <p:spPr>
          <a:xfrm>
            <a:off x="4077864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2"/>
          <p:cNvSpPr/>
          <p:nvPr/>
        </p:nvSpPr>
        <p:spPr>
          <a:xfrm>
            <a:off x="4490604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3"/>
          <p:cNvSpPr/>
          <p:nvPr/>
        </p:nvSpPr>
        <p:spPr>
          <a:xfrm>
            <a:off x="4903344" y="3643401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1_03"/>
          <p:cNvSpPr/>
          <p:nvPr/>
        </p:nvSpPr>
        <p:spPr>
          <a:xfrm>
            <a:off x="775947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1_04"/>
          <p:cNvSpPr/>
          <p:nvPr/>
        </p:nvSpPr>
        <p:spPr>
          <a:xfrm>
            <a:off x="1188686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5"/>
          <p:cNvSpPr/>
          <p:nvPr/>
        </p:nvSpPr>
        <p:spPr>
          <a:xfrm>
            <a:off x="1601426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6"/>
          <p:cNvSpPr/>
          <p:nvPr/>
        </p:nvSpPr>
        <p:spPr>
          <a:xfrm>
            <a:off x="2014166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7"/>
          <p:cNvSpPr/>
          <p:nvPr/>
        </p:nvSpPr>
        <p:spPr>
          <a:xfrm>
            <a:off x="2426905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8"/>
          <p:cNvSpPr/>
          <p:nvPr/>
        </p:nvSpPr>
        <p:spPr>
          <a:xfrm>
            <a:off x="2839645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9"/>
          <p:cNvSpPr/>
          <p:nvPr/>
        </p:nvSpPr>
        <p:spPr>
          <a:xfrm>
            <a:off x="3252385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10"/>
          <p:cNvSpPr/>
          <p:nvPr/>
        </p:nvSpPr>
        <p:spPr>
          <a:xfrm>
            <a:off x="3665125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11"/>
          <p:cNvSpPr/>
          <p:nvPr/>
        </p:nvSpPr>
        <p:spPr>
          <a:xfrm>
            <a:off x="4077864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2"/>
          <p:cNvSpPr/>
          <p:nvPr/>
        </p:nvSpPr>
        <p:spPr>
          <a:xfrm>
            <a:off x="4490604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3"/>
          <p:cNvSpPr/>
          <p:nvPr/>
        </p:nvSpPr>
        <p:spPr>
          <a:xfrm>
            <a:off x="4903344" y="3343622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2_03"/>
          <p:cNvSpPr/>
          <p:nvPr/>
        </p:nvSpPr>
        <p:spPr>
          <a:xfrm>
            <a:off x="775947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2_04"/>
          <p:cNvSpPr/>
          <p:nvPr/>
        </p:nvSpPr>
        <p:spPr>
          <a:xfrm>
            <a:off x="1188686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5"/>
          <p:cNvSpPr/>
          <p:nvPr/>
        </p:nvSpPr>
        <p:spPr>
          <a:xfrm>
            <a:off x="1601426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6"/>
          <p:cNvSpPr/>
          <p:nvPr/>
        </p:nvSpPr>
        <p:spPr>
          <a:xfrm>
            <a:off x="2014166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7"/>
          <p:cNvSpPr/>
          <p:nvPr/>
        </p:nvSpPr>
        <p:spPr>
          <a:xfrm>
            <a:off x="2426905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8"/>
          <p:cNvSpPr/>
          <p:nvPr/>
        </p:nvSpPr>
        <p:spPr>
          <a:xfrm>
            <a:off x="2839645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9"/>
          <p:cNvSpPr/>
          <p:nvPr/>
        </p:nvSpPr>
        <p:spPr>
          <a:xfrm>
            <a:off x="3252385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10"/>
          <p:cNvSpPr/>
          <p:nvPr/>
        </p:nvSpPr>
        <p:spPr>
          <a:xfrm>
            <a:off x="3665125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11"/>
          <p:cNvSpPr/>
          <p:nvPr/>
        </p:nvSpPr>
        <p:spPr>
          <a:xfrm>
            <a:off x="4077864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2"/>
          <p:cNvSpPr/>
          <p:nvPr/>
        </p:nvSpPr>
        <p:spPr>
          <a:xfrm>
            <a:off x="4490604" y="304384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3_03"/>
          <p:cNvSpPr/>
          <p:nvPr/>
        </p:nvSpPr>
        <p:spPr>
          <a:xfrm>
            <a:off x="775947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3_04"/>
          <p:cNvSpPr/>
          <p:nvPr/>
        </p:nvSpPr>
        <p:spPr>
          <a:xfrm>
            <a:off x="1188686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5"/>
          <p:cNvSpPr/>
          <p:nvPr/>
        </p:nvSpPr>
        <p:spPr>
          <a:xfrm>
            <a:off x="1601426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6"/>
          <p:cNvSpPr/>
          <p:nvPr/>
        </p:nvSpPr>
        <p:spPr>
          <a:xfrm>
            <a:off x="2014166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7"/>
          <p:cNvSpPr/>
          <p:nvPr/>
        </p:nvSpPr>
        <p:spPr>
          <a:xfrm>
            <a:off x="2426905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8"/>
          <p:cNvSpPr/>
          <p:nvPr/>
        </p:nvSpPr>
        <p:spPr>
          <a:xfrm>
            <a:off x="2839645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9"/>
          <p:cNvSpPr/>
          <p:nvPr/>
        </p:nvSpPr>
        <p:spPr>
          <a:xfrm>
            <a:off x="3252385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10"/>
          <p:cNvSpPr/>
          <p:nvPr/>
        </p:nvSpPr>
        <p:spPr>
          <a:xfrm>
            <a:off x="3665125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11"/>
          <p:cNvSpPr/>
          <p:nvPr/>
        </p:nvSpPr>
        <p:spPr>
          <a:xfrm>
            <a:off x="4077864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2"/>
          <p:cNvSpPr/>
          <p:nvPr/>
        </p:nvSpPr>
        <p:spPr>
          <a:xfrm>
            <a:off x="4490604" y="2744063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4_03"/>
          <p:cNvSpPr/>
          <p:nvPr/>
        </p:nvSpPr>
        <p:spPr>
          <a:xfrm>
            <a:off x="775947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4_04"/>
          <p:cNvSpPr/>
          <p:nvPr/>
        </p:nvSpPr>
        <p:spPr>
          <a:xfrm>
            <a:off x="1188686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5"/>
          <p:cNvSpPr/>
          <p:nvPr/>
        </p:nvSpPr>
        <p:spPr>
          <a:xfrm>
            <a:off x="1601426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6"/>
          <p:cNvSpPr/>
          <p:nvPr/>
        </p:nvSpPr>
        <p:spPr>
          <a:xfrm>
            <a:off x="2014166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7"/>
          <p:cNvSpPr/>
          <p:nvPr/>
        </p:nvSpPr>
        <p:spPr>
          <a:xfrm>
            <a:off x="2426905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8"/>
          <p:cNvSpPr/>
          <p:nvPr/>
        </p:nvSpPr>
        <p:spPr>
          <a:xfrm>
            <a:off x="2839645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9"/>
          <p:cNvSpPr/>
          <p:nvPr/>
        </p:nvSpPr>
        <p:spPr>
          <a:xfrm>
            <a:off x="3252385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10"/>
          <p:cNvSpPr/>
          <p:nvPr/>
        </p:nvSpPr>
        <p:spPr>
          <a:xfrm>
            <a:off x="3665125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11"/>
          <p:cNvSpPr/>
          <p:nvPr/>
        </p:nvSpPr>
        <p:spPr>
          <a:xfrm>
            <a:off x="4077864" y="2444284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5_04"/>
          <p:cNvSpPr/>
          <p:nvPr/>
        </p:nvSpPr>
        <p:spPr>
          <a:xfrm>
            <a:off x="1188686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5_05"/>
          <p:cNvSpPr/>
          <p:nvPr/>
        </p:nvSpPr>
        <p:spPr>
          <a:xfrm>
            <a:off x="1601426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6"/>
          <p:cNvSpPr/>
          <p:nvPr/>
        </p:nvSpPr>
        <p:spPr>
          <a:xfrm>
            <a:off x="2014166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7"/>
          <p:cNvSpPr/>
          <p:nvPr/>
        </p:nvSpPr>
        <p:spPr>
          <a:xfrm>
            <a:off x="2426905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8"/>
          <p:cNvSpPr/>
          <p:nvPr/>
        </p:nvSpPr>
        <p:spPr>
          <a:xfrm>
            <a:off x="2839645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9"/>
          <p:cNvSpPr/>
          <p:nvPr/>
        </p:nvSpPr>
        <p:spPr>
          <a:xfrm>
            <a:off x="3252385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10"/>
          <p:cNvSpPr/>
          <p:nvPr/>
        </p:nvSpPr>
        <p:spPr>
          <a:xfrm>
            <a:off x="3665125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11"/>
          <p:cNvSpPr/>
          <p:nvPr/>
        </p:nvSpPr>
        <p:spPr>
          <a:xfrm>
            <a:off x="4077864" y="214450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6_04"/>
          <p:cNvSpPr/>
          <p:nvPr/>
        </p:nvSpPr>
        <p:spPr>
          <a:xfrm>
            <a:off x="1188686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6_05"/>
          <p:cNvSpPr/>
          <p:nvPr/>
        </p:nvSpPr>
        <p:spPr>
          <a:xfrm>
            <a:off x="1601426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6"/>
          <p:cNvSpPr/>
          <p:nvPr/>
        </p:nvSpPr>
        <p:spPr>
          <a:xfrm>
            <a:off x="2014166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7"/>
          <p:cNvSpPr/>
          <p:nvPr/>
        </p:nvSpPr>
        <p:spPr>
          <a:xfrm>
            <a:off x="2426905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8"/>
          <p:cNvSpPr/>
          <p:nvPr/>
        </p:nvSpPr>
        <p:spPr>
          <a:xfrm>
            <a:off x="2839645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9"/>
          <p:cNvSpPr/>
          <p:nvPr/>
        </p:nvSpPr>
        <p:spPr>
          <a:xfrm>
            <a:off x="3252385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10"/>
          <p:cNvSpPr/>
          <p:nvPr/>
        </p:nvSpPr>
        <p:spPr>
          <a:xfrm>
            <a:off x="3665125" y="1844725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7_04"/>
          <p:cNvSpPr/>
          <p:nvPr/>
        </p:nvSpPr>
        <p:spPr>
          <a:xfrm>
            <a:off x="1188686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7_05"/>
          <p:cNvSpPr/>
          <p:nvPr/>
        </p:nvSpPr>
        <p:spPr>
          <a:xfrm>
            <a:off x="1601426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6"/>
          <p:cNvSpPr/>
          <p:nvPr/>
        </p:nvSpPr>
        <p:spPr>
          <a:xfrm>
            <a:off x="2014166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7"/>
          <p:cNvSpPr/>
          <p:nvPr/>
        </p:nvSpPr>
        <p:spPr>
          <a:xfrm>
            <a:off x="2426905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8"/>
          <p:cNvSpPr/>
          <p:nvPr/>
        </p:nvSpPr>
        <p:spPr>
          <a:xfrm>
            <a:off x="2839645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9"/>
          <p:cNvSpPr/>
          <p:nvPr/>
        </p:nvSpPr>
        <p:spPr>
          <a:xfrm>
            <a:off x="3252385" y="1544946"/>
            <a:ext cx="257810" cy="257810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INZOOMEN OP DE VOORVOET</a:t>
            </a:r>
          </a:p>
        </p:txBody>
      </p:sp>
      <p:sp>
        <p:nvSpPr>
          <p:cNvPr id="328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Waar de norm getoetst wordt</a:t>
            </a:r>
          </a:p>
        </p:txBody>
      </p:sp>
      <p:sp>
        <p:nvSpPr>
          <p:cNvPr id="329" name="Oval 328"/>
          <p:cNvSpPr/>
          <p:nvPr/>
        </p:nvSpPr>
        <p:spPr>
          <a:xfrm>
            <a:off x="1549361" y="5029582"/>
            <a:ext cx="279393" cy="279393"/>
          </a:xfrm>
          <a:prstGeom prst="ellipse">
            <a:avLst/>
          </a:prstGeom>
          <a:solidFill>
            <a:srgbClr val="0418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TextBox 329"/>
          <p:cNvSpPr txBox="1"/>
          <p:nvPr/>
        </p:nvSpPr>
        <p:spPr>
          <a:xfrm>
            <a:off x="1549361" y="5086730"/>
            <a:ext cx="2793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331" name="Rectangle 330"/>
          <p:cNvSpPr/>
          <p:nvPr/>
        </p:nvSpPr>
        <p:spPr>
          <a:xfrm>
            <a:off x="6349841" y="1904952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6349841" y="2070048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6349841" y="2127196"/>
            <a:ext cx="2539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1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6756231" y="2044648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Metatarsaal 1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6768930" y="2311342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onder de grote teen — tweede meest getroffen plek</a:t>
            </a:r>
          </a:p>
        </p:txBody>
      </p:sp>
      <p:sp>
        <p:nvSpPr>
          <p:cNvPr id="336" name="Oval 335"/>
          <p:cNvSpPr/>
          <p:nvPr/>
        </p:nvSpPr>
        <p:spPr>
          <a:xfrm>
            <a:off x="2589465" y="5257414"/>
            <a:ext cx="279393" cy="279393"/>
          </a:xfrm>
          <a:prstGeom prst="ellipse">
            <a:avLst/>
          </a:prstGeom>
          <a:solidFill>
            <a:srgbClr val="0418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2589465" y="5314563"/>
            <a:ext cx="2793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FFFFF"/>
                </a:solidFill>
                <a:latin typeface="Consolas"/>
              </a:rPr>
              <a:t>2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6349841" y="2641533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6349841" y="2806629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TextBox 339"/>
          <p:cNvSpPr txBox="1"/>
          <p:nvPr/>
        </p:nvSpPr>
        <p:spPr>
          <a:xfrm>
            <a:off x="6349841" y="2863778"/>
            <a:ext cx="2539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2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6756231" y="2781230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Metatarsaal 2-3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6768930" y="3047923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de hete plek op deze meting, en de klassieke ulcusplek</a:t>
            </a:r>
          </a:p>
        </p:txBody>
      </p:sp>
      <p:sp>
        <p:nvSpPr>
          <p:cNvPr id="343" name="Oval 342"/>
          <p:cNvSpPr/>
          <p:nvPr/>
        </p:nvSpPr>
        <p:spPr>
          <a:xfrm>
            <a:off x="4521086" y="5599163"/>
            <a:ext cx="279393" cy="279393"/>
          </a:xfrm>
          <a:prstGeom prst="ellipse">
            <a:avLst/>
          </a:prstGeom>
          <a:solidFill>
            <a:srgbClr val="0418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4521086" y="5656311"/>
            <a:ext cx="2793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FFFFF"/>
                </a:solidFill>
                <a:latin typeface="Consolas"/>
              </a:rPr>
              <a:t>3</a:t>
            </a:r>
          </a:p>
        </p:txBody>
      </p:sp>
      <p:sp>
        <p:nvSpPr>
          <p:cNvPr id="345" name="Rectangle 344"/>
          <p:cNvSpPr/>
          <p:nvPr/>
        </p:nvSpPr>
        <p:spPr>
          <a:xfrm>
            <a:off x="6349841" y="3378115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6349841" y="3543211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6349841" y="3600359"/>
            <a:ext cx="2539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3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6756231" y="3517812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Metatarsaal 4-5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6768930" y="3784505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laterale voorvoet, meestal lagere druk</a:t>
            </a:r>
          </a:p>
        </p:txBody>
      </p:sp>
      <p:sp>
        <p:nvSpPr>
          <p:cNvPr id="350" name="Oval 349"/>
          <p:cNvSpPr/>
          <p:nvPr/>
        </p:nvSpPr>
        <p:spPr>
          <a:xfrm>
            <a:off x="1400774" y="2409510"/>
            <a:ext cx="279393" cy="279393"/>
          </a:xfrm>
          <a:prstGeom prst="ellipse">
            <a:avLst/>
          </a:prstGeom>
          <a:solidFill>
            <a:srgbClr val="0418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TextBox 350"/>
          <p:cNvSpPr txBox="1"/>
          <p:nvPr/>
        </p:nvSpPr>
        <p:spPr>
          <a:xfrm>
            <a:off x="1400774" y="2466659"/>
            <a:ext cx="2793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FFFFF"/>
                </a:solidFill>
                <a:latin typeface="Consolas"/>
              </a:rPr>
              <a:t>4</a:t>
            </a:r>
          </a:p>
        </p:txBody>
      </p:sp>
      <p:sp>
        <p:nvSpPr>
          <p:cNvPr id="352" name="Rectangle 351"/>
          <p:cNvSpPr/>
          <p:nvPr/>
        </p:nvSpPr>
        <p:spPr>
          <a:xfrm>
            <a:off x="6349841" y="4114697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6349841" y="4279793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6349841" y="4336941"/>
            <a:ext cx="2539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4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6756231" y="4254393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Hallux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6768930" y="4521086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apart bekeken, niet meer samengeteld met de tenen</a:t>
            </a:r>
          </a:p>
        </p:txBody>
      </p:sp>
      <p:sp>
        <p:nvSpPr>
          <p:cNvPr id="357" name="Oval 356"/>
          <p:cNvSpPr/>
          <p:nvPr/>
        </p:nvSpPr>
        <p:spPr>
          <a:xfrm>
            <a:off x="3406689" y="2523426"/>
            <a:ext cx="279393" cy="279393"/>
          </a:xfrm>
          <a:prstGeom prst="ellipse">
            <a:avLst/>
          </a:prstGeom>
          <a:solidFill>
            <a:srgbClr val="04182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TextBox 357"/>
          <p:cNvSpPr txBox="1"/>
          <p:nvPr/>
        </p:nvSpPr>
        <p:spPr>
          <a:xfrm>
            <a:off x="3406689" y="2580575"/>
            <a:ext cx="2793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1">
                <a:solidFill>
                  <a:srgbClr val="FFFFFF"/>
                </a:solidFill>
                <a:latin typeface="Consolas"/>
              </a:rPr>
              <a:t>5</a:t>
            </a:r>
          </a:p>
        </p:txBody>
      </p:sp>
      <p:sp>
        <p:nvSpPr>
          <p:cNvPr id="359" name="Rectangle 358"/>
          <p:cNvSpPr/>
          <p:nvPr/>
        </p:nvSpPr>
        <p:spPr>
          <a:xfrm>
            <a:off x="6349841" y="4851278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6349841" y="5016374"/>
            <a:ext cx="253993" cy="2539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6349841" y="5073523"/>
            <a:ext cx="253993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5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6756231" y="4990975"/>
            <a:ext cx="4825879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Tenen 2-5</a:t>
            </a:r>
          </a:p>
        </p:txBody>
      </p:sp>
      <p:sp>
        <p:nvSpPr>
          <p:cNvPr id="363" name="TextBox 362"/>
          <p:cNvSpPr txBox="1"/>
          <p:nvPr/>
        </p:nvSpPr>
        <p:spPr>
          <a:xfrm>
            <a:off x="6768930" y="5257668"/>
            <a:ext cx="482587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eigen regio sinds de laatste maskerversie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Acht regio's via Multimask · hier vijf van de voorvoet in beeld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10 / 31</a:t>
            </a:r>
          </a:p>
        </p:txBody>
      </p:sp>
      <p:pic>
        <p:nvPicPr>
          <p:cNvPr id="366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WAT DE ZOOL ERMEE DOET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Dezelfde voet, andere verdeling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7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4B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3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52BDEC"/>
                </a:solidFill>
                <a:latin typeface="Segoe UI"/>
              </a:rPr>
              <a:t>186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52BDEC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na optimalisatie — norm gehaald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40% lager  ·  onder 200 kPa  ·  beide criteria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Dezelfde sensoren, dezelfde patiënt. De maatzool haalt druk weg onder de metatarsaalkoppen en legt die terug in de voetboog.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Dat is de hele interventie: niet minder belasting, maar belasting op een plek die het aankan.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Illustratief voorbeeld van een drukgestuurde aanpassing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11 / 31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PARADISE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Meten én laten dragen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031949"/>
            <a:ext cx="5384538" cy="361940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8977" y="2247843"/>
            <a:ext cx="126996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52BDEC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977" y="2654233"/>
            <a:ext cx="4876551" cy="698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2F8FC"/>
                </a:solidFill>
                <a:latin typeface="Segoe UI"/>
              </a:rPr>
              <a:t>Drukgestuurde optimalisatie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8977" y="3479713"/>
            <a:ext cx="4876551" cy="533386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8977" y="3632109"/>
            <a:ext cx="4876551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52BDEC"/>
                </a:solidFill>
                <a:latin typeface="Consolas"/>
              </a:rPr>
              <a:t>&lt; 200 kPa   óf   ≥ 25% lager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977" y="4241693"/>
            <a:ext cx="4876551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In-shoe meting met Novel pedar, door uw team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500" b="0">
                <a:solidFill>
                  <a:srgbClr val="8FB6D0"/>
                </a:solidFill>
                <a:latin typeface="Segoe UI"/>
              </a:rPr>
              <a:t>Zool aangepast tot de norm gehaald is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500" b="0">
                <a:solidFill>
                  <a:srgbClr val="8FB6D0"/>
                </a:solidFill>
                <a:latin typeface="Segoe UI"/>
              </a:rPr>
              <a:t>Herhaald op 6 en 12 maanden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1918" y="2031949"/>
            <a:ext cx="5384538" cy="361940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5912" y="2247843"/>
            <a:ext cx="126996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52BDEC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5912" y="2654233"/>
            <a:ext cx="4876551" cy="698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2F8FC"/>
                </a:solidFill>
                <a:latin typeface="Segoe UI"/>
              </a:rPr>
              <a:t>SEBIA — gedragsbegeleiding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25912" y="3479713"/>
            <a:ext cx="4876551" cy="533386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5912" y="3632109"/>
            <a:ext cx="4876551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>
                <a:solidFill>
                  <a:srgbClr val="52BDEC"/>
                </a:solidFill>
                <a:latin typeface="Consolas"/>
              </a:rPr>
              <a:t>5 stappen   ·   18 maanden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5912" y="4241693"/>
            <a:ext cx="4876551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Individueel, in het gewone consult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500" b="0">
                <a:solidFill>
                  <a:srgbClr val="8FB6D0"/>
                </a:solidFill>
                <a:latin typeface="Segoe UI"/>
              </a:rPr>
              <a:t>Sensordata samen bekijken, niet-veroordelend</a:t>
            </a:r>
          </a:p>
          <a:p>
            <a:pPr algn="l">
              <a:lnSpc>
                <a:spcPct val="135000"/>
              </a:lnSpc>
              <a:spcBef>
                <a:spcPts val="1300"/>
              </a:spcBef>
            </a:pPr>
            <a:r>
              <a:rPr sz="1500" b="0">
                <a:solidFill>
                  <a:srgbClr val="8FB6D0"/>
                </a:solidFill>
                <a:latin typeface="Segoe UI"/>
              </a:rPr>
              <a:t>COM-B: kennis, gelegenheid én motivatie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12 / 31</a:t>
            </a:r>
          </a:p>
        </p:txBody>
      </p:sp>
      <p:pic>
        <p:nvPicPr>
          <p:cNvPr id="18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STUDIE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144 patiënten, willekeurig verdeeld</a:t>
            </a:r>
          </a:p>
        </p:txBody>
      </p:sp>
      <p:sp>
        <p:nvSpPr>
          <p:cNvPr id="5" name="Oval 4"/>
          <p:cNvSpPr/>
          <p:nvPr/>
        </p:nvSpPr>
        <p:spPr>
          <a:xfrm>
            <a:off x="634984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6278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7572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58866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0015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4145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8274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32404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56533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0662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4792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8921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051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77180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01309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25439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9568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73698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7827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21956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6086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0215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94345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18474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4984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6278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17572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358866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60015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4145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08274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32404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56533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80662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04792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28921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53051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77180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01309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25439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49568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3698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97827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21956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46086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70215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94345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18474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4984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76278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17572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358866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60015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84145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08274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32404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56533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280662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04792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28921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53051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77180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01309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25439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49568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73698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97827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21956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46086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70215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94345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18474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34984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76278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17572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358866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60015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84145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08274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32404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56533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80662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04792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28921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53051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77180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01309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25439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49568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73698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97827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21956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46086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70215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94345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18474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34984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76278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17572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358866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60015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84145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08274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32404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56533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280662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304792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28921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353051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77180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01309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25439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49568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473698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497827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521956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46086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570215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594345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18474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34984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6278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17572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358866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60015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84145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208274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232404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256533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80662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04792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28921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53051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77180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401309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425439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449568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473698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497827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521956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546086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570215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594345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618474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34984" y="3301917"/>
            <a:ext cx="253993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52BDEC"/>
                </a:solidFill>
                <a:latin typeface="Consolas"/>
              </a:rPr>
              <a:t>72 PARADISE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412939" y="3301917"/>
            <a:ext cx="253993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FF7A00"/>
                </a:solidFill>
                <a:latin typeface="Consolas"/>
              </a:rPr>
              <a:t>72 GEBRUIKELIJKE ZORG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857828" y="1816054"/>
            <a:ext cx="4698882" cy="1587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Elke stip is een patiënt die u zelf includeert.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3000" b="1">
                <a:solidFill>
                  <a:srgbClr val="F2F8FC"/>
                </a:solidFill>
                <a:latin typeface="Segoe UI"/>
              </a:rPr>
              <a:t>24 per kliniek.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34984" y="3848003"/>
            <a:ext cx="5384538" cy="72388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25479" y="3975000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ONTWERP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5479" y="4216294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Multicentrisch · open-label · superioriteit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171918" y="3848003"/>
            <a:ext cx="5384538" cy="72388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362413" y="3975000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CONTROLEGROEP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362413" y="4216294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Gebruikelijke zorg, onveranderd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34984" y="4686182"/>
            <a:ext cx="5384538" cy="72388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25479" y="4813179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CO-PRIMAIR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5479" y="5054473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Recidief op 18 mnd  +  draagtijd op 12 mnd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171918" y="4686182"/>
            <a:ext cx="5384538" cy="72388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362413" y="4813179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POSITIEF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362413" y="5054473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Alleen als béíde eindpunten halen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13 / 31</a:t>
            </a:r>
          </a:p>
        </p:txBody>
      </p:sp>
      <p:pic>
        <p:nvPicPr>
          <p:cNvPr id="165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SELECTIE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Wie komt in aanmerking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93850"/>
            <a:ext cx="5384538" cy="384800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88977" y="2209744"/>
            <a:ext cx="761980" cy="292092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8977" y="2285942"/>
            <a:ext cx="761980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spc="130">
                <a:solidFill>
                  <a:srgbClr val="04182A"/>
                </a:solidFill>
                <a:latin typeface="Consolas"/>
              </a:rPr>
              <a:t>WÉL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977" y="2743131"/>
            <a:ext cx="4876551" cy="29844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IWGDF-risicocategorie 3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Genezen plantair ulcus of partiële amputatie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PEDIS-perfusie 1 of 2, stabiel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Stapt zelfstandig blootsvoets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Heeft of aanvaardt maatschoeisel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Begrijpt Nederlands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1918" y="1993850"/>
            <a:ext cx="5384538" cy="384800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25912" y="2209744"/>
            <a:ext cx="761980" cy="292092"/>
          </a:xfrm>
          <a:prstGeom prst="roundRect">
            <a:avLst>
              <a:gd name="adj" fmla="val 4500"/>
            </a:avLst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5912" y="2285942"/>
            <a:ext cx="761980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 spc="130">
                <a:solidFill>
                  <a:srgbClr val="04182A"/>
                </a:solidFill>
                <a:latin typeface="Consolas"/>
              </a:rPr>
              <a:t>NIET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5912" y="2743131"/>
            <a:ext cx="4876551" cy="29844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Kritische ischemie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Actief ulcus of Charcot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Nierfunctievervanging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Immunosuppressie</a:t>
            </a:r>
          </a:p>
          <a:p>
            <a:pPr algn="l">
              <a:lnSpc>
                <a:spcPct val="130000"/>
              </a:lnSpc>
              <a:spcBef>
                <a:spcPts val="1500"/>
              </a:spcBef>
            </a:pPr>
            <a:r>
              <a:rPr sz="1550" b="0">
                <a:solidFill>
                  <a:srgbClr val="8FB6D0"/>
                </a:solidFill>
                <a:latin typeface="Segoe UI"/>
              </a:rPr>
              <a:t>Overleving &lt; 18 maanden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14 / 31</a:t>
            </a:r>
          </a:p>
        </p:txBody>
      </p:sp>
      <p:pic>
        <p:nvPicPr>
          <p:cNvPr id="1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TRAJECT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Negen contactmomenten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34984" y="2920926"/>
            <a:ext cx="10921726" cy="1904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146499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34984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Screening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698482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2379073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1848509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Baseline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1912007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13" name="!!stip2"/>
          <p:cNvSpPr/>
          <p:nvPr/>
        </p:nvSpPr>
        <p:spPr>
          <a:xfrm>
            <a:off x="3592599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3062034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3125532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voorschrift</a:t>
            </a:r>
          </a:p>
        </p:txBody>
      </p:sp>
      <p:sp>
        <p:nvSpPr>
          <p:cNvPr id="16" name="!!stip3"/>
          <p:cNvSpPr/>
          <p:nvPr/>
        </p:nvSpPr>
        <p:spPr>
          <a:xfrm>
            <a:off x="4806124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4275559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3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4339058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6019649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5489084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6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5552583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2" name="!!stip5"/>
          <p:cNvSpPr/>
          <p:nvPr/>
        </p:nvSpPr>
        <p:spPr>
          <a:xfrm>
            <a:off x="7233174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6702610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9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6766108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25" name="!!stip6"/>
          <p:cNvSpPr/>
          <p:nvPr/>
        </p:nvSpPr>
        <p:spPr>
          <a:xfrm>
            <a:off x="8446699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7916135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12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7979633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8" name="!!stip7"/>
          <p:cNvSpPr/>
          <p:nvPr/>
        </p:nvSpPr>
        <p:spPr>
          <a:xfrm>
            <a:off x="9660225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9129660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15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9193159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31" name="!!stip8"/>
          <p:cNvSpPr/>
          <p:nvPr/>
        </p:nvSpPr>
        <p:spPr>
          <a:xfrm>
            <a:off x="10854700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10343185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18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10406684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afronding</a:t>
            </a:r>
          </a:p>
        </p:txBody>
      </p:sp>
      <p:sp>
        <p:nvSpPr>
          <p:cNvPr id="34" name="Oval 33"/>
          <p:cNvSpPr/>
          <p:nvPr/>
        </p:nvSpPr>
        <p:spPr>
          <a:xfrm>
            <a:off x="660383" y="4013099"/>
            <a:ext cx="114297" cy="114297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0878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meetmoment</a:t>
            </a:r>
          </a:p>
        </p:txBody>
      </p:sp>
      <p:sp>
        <p:nvSpPr>
          <p:cNvPr id="36" name="Oval 35"/>
          <p:cNvSpPr/>
          <p:nvPr/>
        </p:nvSpPr>
        <p:spPr>
          <a:xfrm>
            <a:off x="3200319" y="4013099"/>
            <a:ext cx="114297" cy="114297"/>
          </a:xfrm>
          <a:prstGeom prst="ellipse">
            <a:avLst/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0815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begeleiding</a:t>
            </a:r>
          </a:p>
        </p:txBody>
      </p:sp>
      <p:sp>
        <p:nvSpPr>
          <p:cNvPr id="38" name="Oval 37"/>
          <p:cNvSpPr/>
          <p:nvPr/>
        </p:nvSpPr>
        <p:spPr>
          <a:xfrm>
            <a:off x="5740256" y="4013099"/>
            <a:ext cx="114297" cy="11429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30751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start en afronding</a:t>
            </a:r>
          </a:p>
        </p:txBody>
      </p:sp>
      <p:sp>
        <p:nvSpPr>
          <p:cNvPr id="40" name="!!camera"/>
          <p:cNvSpPr txBox="1"/>
          <p:nvPr/>
        </p:nvSpPr>
        <p:spPr>
          <a:xfrm>
            <a:off x="634984" y="4711582"/>
            <a:ext cx="2031949" cy="1460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52BDEC"/>
                </a:solidFill>
                <a:latin typeface="Segoe UI"/>
              </a:rPr>
              <a:t>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39936" y="4813179"/>
            <a:ext cx="888977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maanden, van screening tot afronding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52636" y="5283067"/>
            <a:ext cx="8889777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8FB6D0"/>
                </a:solidFill>
                <a:latin typeface="Segoe UI"/>
              </a:rPr>
              <a:t>Het ritme is elke drie maanden: hetzelfde ritme als de controle die deze patiënten volgens de richtlijn al krijgen.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15 / 31</a:t>
            </a:r>
          </a:p>
        </p:txBody>
      </p:sp>
      <p:pic>
        <p:nvPicPr>
          <p:cNvPr id="4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FASE 1 · VÓÓR DE EERSTE ZOOL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Screening en baseline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45143" y="3174920"/>
            <a:ext cx="26212144" cy="45718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872779" y="2976805"/>
            <a:ext cx="457188" cy="457188"/>
          </a:xfrm>
          <a:prstGeom prst="ellipse">
            <a:avLst/>
          </a:prstGeom>
          <a:solidFill>
            <a:srgbClr val="FF7A0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45143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>
                <a:solidFill>
                  <a:srgbClr val="F2F8FC"/>
                </a:solidFill>
                <a:latin typeface="Consolas"/>
              </a:rPr>
              <a:t>Screening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797540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4830959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3557604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>
                <a:solidFill>
                  <a:srgbClr val="F2F8FC"/>
                </a:solidFill>
                <a:latin typeface="Consolas"/>
              </a:rPr>
              <a:t>Baseline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3710000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13" name="!!stip2"/>
          <p:cNvSpPr/>
          <p:nvPr/>
        </p:nvSpPr>
        <p:spPr>
          <a:xfrm>
            <a:off x="7743419" y="3022524"/>
            <a:ext cx="365750" cy="365750"/>
          </a:xfrm>
          <a:prstGeom prst="ellipse">
            <a:avLst/>
          </a:prstGeom>
          <a:solidFill>
            <a:srgbClr val="1D8DB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6470064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6622461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voorschrift</a:t>
            </a:r>
          </a:p>
        </p:txBody>
      </p:sp>
      <p:sp>
        <p:nvSpPr>
          <p:cNvPr id="16" name="!!stip3"/>
          <p:cNvSpPr/>
          <p:nvPr/>
        </p:nvSpPr>
        <p:spPr>
          <a:xfrm>
            <a:off x="10655880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9382525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3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9534921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13568340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12294985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6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12447382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2" name="!!stip5"/>
          <p:cNvSpPr/>
          <p:nvPr/>
        </p:nvSpPr>
        <p:spPr>
          <a:xfrm>
            <a:off x="16480801" y="3022524"/>
            <a:ext cx="365750" cy="365750"/>
          </a:xfrm>
          <a:prstGeom prst="ellipse">
            <a:avLst/>
          </a:prstGeom>
          <a:solidFill>
            <a:srgbClr val="1D8DB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15207446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9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15359842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25" name="!!stip6"/>
          <p:cNvSpPr/>
          <p:nvPr/>
        </p:nvSpPr>
        <p:spPr>
          <a:xfrm>
            <a:off x="19393261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18119906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12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18272303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8" name="!!stip7"/>
          <p:cNvSpPr/>
          <p:nvPr/>
        </p:nvSpPr>
        <p:spPr>
          <a:xfrm>
            <a:off x="22305722" y="3022524"/>
            <a:ext cx="365750" cy="365750"/>
          </a:xfrm>
          <a:prstGeom prst="ellipse">
            <a:avLst/>
          </a:prstGeom>
          <a:solidFill>
            <a:srgbClr val="1D8DB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21032367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15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21184763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31" name="!!stip8"/>
          <p:cNvSpPr/>
          <p:nvPr/>
        </p:nvSpPr>
        <p:spPr>
          <a:xfrm>
            <a:off x="25172464" y="2976805"/>
            <a:ext cx="457188" cy="457188"/>
          </a:xfrm>
          <a:prstGeom prst="ellipse">
            <a:avLst/>
          </a:prstGeom>
          <a:solidFill>
            <a:srgbClr val="FF7A0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23944828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18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24097224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afronding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4984" y="474968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camera"/>
          <p:cNvSpPr txBox="1"/>
          <p:nvPr/>
        </p:nvSpPr>
        <p:spPr>
          <a:xfrm>
            <a:off x="634984" y="4902077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F7A00"/>
                </a:solidFill>
                <a:latin typeface="Segoe UI"/>
              </a:rPr>
              <a:t>Wat er gebeurt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55911" y="4889377"/>
            <a:ext cx="3809904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Screening: risicocategorie 3, vaatstatus en of de patiënt zelfstandig stapt. Kort, en vóór de toestemming.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46806" y="4889377"/>
            <a:ext cx="3809904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Baseline: drukmeting met de pedar, een week MoveMonitor mee naar huis, en het eerste SEBIA-gesprek.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16 / 31</a:t>
            </a:r>
          </a:p>
        </p:txBody>
      </p:sp>
      <p:pic>
        <p:nvPicPr>
          <p:cNvPr id="3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FASE 2 · DE ZOOL KOMT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Maand 1 en maand 3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-5176390" y="3174920"/>
            <a:ext cx="26212144" cy="45718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-3948754" y="2976805"/>
            <a:ext cx="457188" cy="457188"/>
          </a:xfrm>
          <a:prstGeom prst="ellipse">
            <a:avLst/>
          </a:prstGeom>
          <a:solidFill>
            <a:srgbClr val="FF7A0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-5176390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>
                <a:solidFill>
                  <a:srgbClr val="F2F8FC"/>
                </a:solidFill>
                <a:latin typeface="Consolas"/>
              </a:rPr>
              <a:t>Screening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-5023994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-990575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-2263930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>
                <a:solidFill>
                  <a:srgbClr val="F2F8FC"/>
                </a:solidFill>
                <a:latin typeface="Consolas"/>
              </a:rPr>
              <a:t>Baseline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-2111533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13" name="!!stip2"/>
          <p:cNvSpPr/>
          <p:nvPr/>
        </p:nvSpPr>
        <p:spPr>
          <a:xfrm>
            <a:off x="1921885" y="3022524"/>
            <a:ext cx="365750" cy="365750"/>
          </a:xfrm>
          <a:prstGeom prst="ellipse">
            <a:avLst/>
          </a:prstGeom>
          <a:solidFill>
            <a:srgbClr val="1D8DB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648530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800926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voorschrift</a:t>
            </a:r>
          </a:p>
        </p:txBody>
      </p:sp>
      <p:sp>
        <p:nvSpPr>
          <p:cNvPr id="16" name="!!stip3"/>
          <p:cNvSpPr/>
          <p:nvPr/>
        </p:nvSpPr>
        <p:spPr>
          <a:xfrm>
            <a:off x="4834345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3560990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3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3713387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7746806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6473451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6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6625847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2" name="!!stip5"/>
          <p:cNvSpPr/>
          <p:nvPr/>
        </p:nvSpPr>
        <p:spPr>
          <a:xfrm>
            <a:off x="10659266" y="3022524"/>
            <a:ext cx="365750" cy="365750"/>
          </a:xfrm>
          <a:prstGeom prst="ellipse">
            <a:avLst/>
          </a:prstGeom>
          <a:solidFill>
            <a:srgbClr val="1D8DB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9385912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9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9538308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25" name="!!stip6"/>
          <p:cNvSpPr/>
          <p:nvPr/>
        </p:nvSpPr>
        <p:spPr>
          <a:xfrm>
            <a:off x="13571727" y="3022524"/>
            <a:ext cx="365750" cy="365750"/>
          </a:xfrm>
          <a:prstGeom prst="ellipse">
            <a:avLst/>
          </a:prstGeom>
          <a:solidFill>
            <a:srgbClr val="52BDEC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12298372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12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12450768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8" name="!!stip7"/>
          <p:cNvSpPr/>
          <p:nvPr/>
        </p:nvSpPr>
        <p:spPr>
          <a:xfrm>
            <a:off x="16484187" y="3022524"/>
            <a:ext cx="365750" cy="365750"/>
          </a:xfrm>
          <a:prstGeom prst="ellipse">
            <a:avLst/>
          </a:prstGeom>
          <a:solidFill>
            <a:srgbClr val="1D8DB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15210833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15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15363229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31" name="!!stip8"/>
          <p:cNvSpPr/>
          <p:nvPr/>
        </p:nvSpPr>
        <p:spPr>
          <a:xfrm>
            <a:off x="19350929" y="2976805"/>
            <a:ext cx="457188" cy="457188"/>
          </a:xfrm>
          <a:prstGeom prst="ellipse">
            <a:avLst/>
          </a:prstGeom>
          <a:solidFill>
            <a:srgbClr val="FF7A00"/>
          </a:solidFill>
          <a:ln w="91439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18123293" y="1285207"/>
            <a:ext cx="2912460" cy="6705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4079" b="1">
                <a:solidFill>
                  <a:srgbClr val="F2F8FC"/>
                </a:solidFill>
                <a:latin typeface="Consolas"/>
              </a:rPr>
              <a:t>18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18275689" y="3967380"/>
            <a:ext cx="2607668" cy="137156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3240" b="0">
                <a:solidFill>
                  <a:srgbClr val="8FB6D0"/>
                </a:solidFill>
                <a:latin typeface="Segoe UI"/>
              </a:rPr>
              <a:t>afronding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4984" y="474968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camera"/>
          <p:cNvSpPr txBox="1"/>
          <p:nvPr/>
        </p:nvSpPr>
        <p:spPr>
          <a:xfrm>
            <a:off x="634984" y="4902077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F7A00"/>
                </a:solidFill>
                <a:latin typeface="Segoe UI"/>
              </a:rPr>
              <a:t>Wat er gebeurt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55911" y="4889377"/>
            <a:ext cx="3809904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Maand 1: het voorschrift voor de maatzool. Een kort bezoek, zonder meting.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46806" y="4889377"/>
            <a:ext cx="3809904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Maand 3: aflevering, de Orthotimer gaat in de zool, en de meting wordt herhaald tot de norm gehaald is.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17 / 31</a:t>
            </a:r>
          </a:p>
        </p:txBody>
      </p:sp>
      <p:pic>
        <p:nvPicPr>
          <p:cNvPr id="3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FASE 3 · DE REST VAN HET JAAR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Zes tot achttien maanden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-5429114" y="3174920"/>
            <a:ext cx="16382590" cy="2857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-4661841" y="3051098"/>
            <a:ext cx="285742" cy="285742"/>
          </a:xfrm>
          <a:prstGeom prst="ellipse">
            <a:avLst/>
          </a:prstGeom>
          <a:solidFill>
            <a:srgbClr val="FF7A00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-5429114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50" b="1">
                <a:solidFill>
                  <a:srgbClr val="F2F8FC"/>
                </a:solidFill>
                <a:latin typeface="Consolas"/>
              </a:rPr>
              <a:t>Screening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-5333866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-2812979" y="3079673"/>
            <a:ext cx="228594" cy="228594"/>
          </a:xfrm>
          <a:prstGeom prst="ellipse">
            <a:avLst/>
          </a:prstGeom>
          <a:solidFill>
            <a:srgbClr val="52BDEC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-3608826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50" b="1">
                <a:solidFill>
                  <a:srgbClr val="F2F8FC"/>
                </a:solidFill>
                <a:latin typeface="Consolas"/>
              </a:rPr>
              <a:t>Baseline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-3513578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13" name="!!stip2"/>
          <p:cNvSpPr/>
          <p:nvPr/>
        </p:nvSpPr>
        <p:spPr>
          <a:xfrm>
            <a:off x="-992691" y="3079673"/>
            <a:ext cx="228594" cy="228594"/>
          </a:xfrm>
          <a:prstGeom prst="ellipse">
            <a:avLst/>
          </a:prstGeom>
          <a:solidFill>
            <a:srgbClr val="1D8DB0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-1788538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2F8FC"/>
                </a:solidFill>
                <a:latin typeface="Consolas"/>
              </a:rPr>
              <a:t>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-1693290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voorschrift</a:t>
            </a:r>
          </a:p>
        </p:txBody>
      </p:sp>
      <p:sp>
        <p:nvSpPr>
          <p:cNvPr id="16" name="!!stip3"/>
          <p:cNvSpPr/>
          <p:nvPr/>
        </p:nvSpPr>
        <p:spPr>
          <a:xfrm>
            <a:off x="827595" y="3079673"/>
            <a:ext cx="228594" cy="228594"/>
          </a:xfrm>
          <a:prstGeom prst="ellipse">
            <a:avLst/>
          </a:prstGeom>
          <a:solidFill>
            <a:srgbClr val="52BDEC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31749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2F8FC"/>
                </a:solidFill>
                <a:latin typeface="Consolas"/>
              </a:rPr>
              <a:t>3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126996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2647883" y="3079673"/>
            <a:ext cx="228594" cy="228594"/>
          </a:xfrm>
          <a:prstGeom prst="ellipse">
            <a:avLst/>
          </a:prstGeom>
          <a:solidFill>
            <a:srgbClr val="52BDEC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1852037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2F8FC"/>
                </a:solidFill>
                <a:latin typeface="Consolas"/>
              </a:rPr>
              <a:t>6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1947284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2" name="!!stip5"/>
          <p:cNvSpPr/>
          <p:nvPr/>
        </p:nvSpPr>
        <p:spPr>
          <a:xfrm>
            <a:off x="4468171" y="3079673"/>
            <a:ext cx="228594" cy="228594"/>
          </a:xfrm>
          <a:prstGeom prst="ellipse">
            <a:avLst/>
          </a:prstGeom>
          <a:solidFill>
            <a:srgbClr val="1D8DB0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3672324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2F8FC"/>
                </a:solidFill>
                <a:latin typeface="Consolas"/>
              </a:rPr>
              <a:t>9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3767572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25" name="!!stip6"/>
          <p:cNvSpPr/>
          <p:nvPr/>
        </p:nvSpPr>
        <p:spPr>
          <a:xfrm>
            <a:off x="6288459" y="3079673"/>
            <a:ext cx="228594" cy="228594"/>
          </a:xfrm>
          <a:prstGeom prst="ellipse">
            <a:avLst/>
          </a:prstGeom>
          <a:solidFill>
            <a:srgbClr val="52BDEC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5492612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2F8FC"/>
                </a:solidFill>
                <a:latin typeface="Consolas"/>
              </a:rPr>
              <a:t>12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5587860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8" name="!!stip7"/>
          <p:cNvSpPr/>
          <p:nvPr/>
        </p:nvSpPr>
        <p:spPr>
          <a:xfrm>
            <a:off x="8108747" y="3079673"/>
            <a:ext cx="228594" cy="228594"/>
          </a:xfrm>
          <a:prstGeom prst="ellipse">
            <a:avLst/>
          </a:prstGeom>
          <a:solidFill>
            <a:srgbClr val="1D8DB0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7312900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2F8FC"/>
                </a:solidFill>
                <a:latin typeface="Consolas"/>
              </a:rPr>
              <a:t>15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7408148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31" name="!!stip8"/>
          <p:cNvSpPr/>
          <p:nvPr/>
        </p:nvSpPr>
        <p:spPr>
          <a:xfrm>
            <a:off x="9900460" y="3051098"/>
            <a:ext cx="285742" cy="285742"/>
          </a:xfrm>
          <a:prstGeom prst="ellipse">
            <a:avLst/>
          </a:prstGeom>
          <a:solidFill>
            <a:srgbClr val="FF7A00"/>
          </a:solidFill>
          <a:ln w="5715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9133188" y="1993850"/>
            <a:ext cx="182028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50" b="1">
                <a:solidFill>
                  <a:srgbClr val="F2F8FC"/>
                </a:solidFill>
                <a:latin typeface="Consolas"/>
              </a:rPr>
              <a:t>18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9228435" y="3670208"/>
            <a:ext cx="1629792" cy="8572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25" b="0">
                <a:solidFill>
                  <a:srgbClr val="8FB6D0"/>
                </a:solidFill>
                <a:latin typeface="Segoe UI"/>
              </a:rPr>
              <a:t>afronding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4984" y="474968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camera"/>
          <p:cNvSpPr txBox="1"/>
          <p:nvPr/>
        </p:nvSpPr>
        <p:spPr>
          <a:xfrm>
            <a:off x="634984" y="4902077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>
                <a:solidFill>
                  <a:srgbClr val="FF7A00"/>
                </a:solidFill>
                <a:latin typeface="Segoe UI"/>
              </a:rPr>
              <a:t>Wat er gebeurt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55911" y="4889377"/>
            <a:ext cx="3809904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Elke drie maanden: sensor uitlezen, batterij vervangen, SEBIA-gesprek in het gewone consult.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46806" y="4889377"/>
            <a:ext cx="3809904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Op 6 en 12 maanden ook een drukmeting. Twaalf maanden is het primaire analysepunt voor de draagtijd.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18 / 31</a:t>
            </a:r>
          </a:p>
        </p:txBody>
      </p:sp>
      <p:pic>
        <p:nvPicPr>
          <p:cNvPr id="3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TRAJECT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Terug naar het geheel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34984" y="2920926"/>
            <a:ext cx="10921726" cy="1904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146499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34984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Screening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698482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2379073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1848509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Baseline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1912007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13" name="!!stip2"/>
          <p:cNvSpPr/>
          <p:nvPr/>
        </p:nvSpPr>
        <p:spPr>
          <a:xfrm>
            <a:off x="3592599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3062034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3125532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voorschrift</a:t>
            </a:r>
          </a:p>
        </p:txBody>
      </p:sp>
      <p:sp>
        <p:nvSpPr>
          <p:cNvPr id="16" name="!!stip3"/>
          <p:cNvSpPr/>
          <p:nvPr/>
        </p:nvSpPr>
        <p:spPr>
          <a:xfrm>
            <a:off x="4806124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4275559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3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4339058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6019649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5489084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6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5552583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2" name="!!stip5"/>
          <p:cNvSpPr/>
          <p:nvPr/>
        </p:nvSpPr>
        <p:spPr>
          <a:xfrm>
            <a:off x="7233174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6702610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9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6766108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25" name="!!stip6"/>
          <p:cNvSpPr/>
          <p:nvPr/>
        </p:nvSpPr>
        <p:spPr>
          <a:xfrm>
            <a:off x="8446699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7916135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12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7979633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8" name="!!stip7"/>
          <p:cNvSpPr/>
          <p:nvPr/>
        </p:nvSpPr>
        <p:spPr>
          <a:xfrm>
            <a:off x="9660225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9129660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15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9193159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begeleiding</a:t>
            </a:r>
          </a:p>
        </p:txBody>
      </p:sp>
      <p:sp>
        <p:nvSpPr>
          <p:cNvPr id="31" name="!!stip8"/>
          <p:cNvSpPr/>
          <p:nvPr/>
        </p:nvSpPr>
        <p:spPr>
          <a:xfrm>
            <a:off x="10854700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10343185" y="2133546"/>
            <a:ext cx="1213525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18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10406684" y="3251118"/>
            <a:ext cx="108652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afronding</a:t>
            </a:r>
          </a:p>
        </p:txBody>
      </p:sp>
      <p:sp>
        <p:nvSpPr>
          <p:cNvPr id="34" name="Oval 33"/>
          <p:cNvSpPr/>
          <p:nvPr/>
        </p:nvSpPr>
        <p:spPr>
          <a:xfrm>
            <a:off x="660383" y="4013099"/>
            <a:ext cx="114297" cy="114297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0878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meetmoment</a:t>
            </a:r>
          </a:p>
        </p:txBody>
      </p:sp>
      <p:sp>
        <p:nvSpPr>
          <p:cNvPr id="36" name="Oval 35"/>
          <p:cNvSpPr/>
          <p:nvPr/>
        </p:nvSpPr>
        <p:spPr>
          <a:xfrm>
            <a:off x="3200319" y="4013099"/>
            <a:ext cx="114297" cy="114297"/>
          </a:xfrm>
          <a:prstGeom prst="ellipse">
            <a:avLst/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90815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begeleiding</a:t>
            </a:r>
          </a:p>
        </p:txBody>
      </p:sp>
      <p:sp>
        <p:nvSpPr>
          <p:cNvPr id="38" name="Oval 37"/>
          <p:cNvSpPr/>
          <p:nvPr/>
        </p:nvSpPr>
        <p:spPr>
          <a:xfrm>
            <a:off x="5740256" y="4013099"/>
            <a:ext cx="114297" cy="11429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30751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start en afronding</a:t>
            </a:r>
          </a:p>
        </p:txBody>
      </p:sp>
      <p:sp>
        <p:nvSpPr>
          <p:cNvPr id="40" name="!!camera"/>
          <p:cNvSpPr txBox="1"/>
          <p:nvPr/>
        </p:nvSpPr>
        <p:spPr>
          <a:xfrm>
            <a:off x="634984" y="4711582"/>
            <a:ext cx="2031949" cy="1460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52BDEC"/>
                </a:solidFill>
                <a:latin typeface="Segoe UI"/>
              </a:rP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39936" y="4813179"/>
            <a:ext cx="888977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momenten, één zorgpad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52636" y="5283067"/>
            <a:ext cx="8889777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8FB6D0"/>
                </a:solidFill>
                <a:latin typeface="Segoe UI"/>
              </a:rPr>
              <a:t>Het verschil met vandaag zit niet in hoe vaak u de patiënt ziet, maar in wat u bij elk bezoek wéét: wat de zool doet en wat er gedragen is.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19 / 31</a:t>
            </a:r>
          </a:p>
        </p:txBody>
      </p:sp>
      <p:pic>
        <p:nvPicPr>
          <p:cNvPr id="4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SEBIA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Vijf stappen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2463738"/>
            <a:ext cx="10921726" cy="1269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9281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4984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2779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779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779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Kennis meten. Educatie op maat, met oefenen.</a:t>
            </a:r>
          </a:p>
        </p:txBody>
      </p:sp>
      <p:sp>
        <p:nvSpPr>
          <p:cNvPr id="11" name="Oval 10"/>
          <p:cNvSpPr/>
          <p:nvPr/>
        </p:nvSpPr>
        <p:spPr>
          <a:xfrm>
            <a:off x="2959026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44728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2524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2524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3 mnd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22524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Teach-back. Nadruk op bínnenshuis dragen.</a:t>
            </a:r>
          </a:p>
        </p:txBody>
      </p:sp>
      <p:sp>
        <p:nvSpPr>
          <p:cNvPr id="16" name="Oval 15"/>
          <p:cNvSpPr/>
          <p:nvPr/>
        </p:nvSpPr>
        <p:spPr>
          <a:xfrm>
            <a:off x="5168770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54473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32269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2269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6 · 12 mnd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2269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Zelfinschatting, dan samen de data bekijken.</a:t>
            </a:r>
          </a:p>
        </p:txBody>
      </p:sp>
      <p:sp>
        <p:nvSpPr>
          <p:cNvPr id="21" name="Oval 20"/>
          <p:cNvSpPr/>
          <p:nvPr/>
        </p:nvSpPr>
        <p:spPr>
          <a:xfrm>
            <a:off x="7378515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264218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42013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2013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9 · 15 mnd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42013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Voordoen. Uitdraai vergelijken met vorige keer.</a:t>
            </a:r>
          </a:p>
        </p:txBody>
      </p:sp>
      <p:sp>
        <p:nvSpPr>
          <p:cNvPr id="26" name="Oval 25"/>
          <p:cNvSpPr/>
          <p:nvPr/>
        </p:nvSpPr>
        <p:spPr>
          <a:xfrm>
            <a:off x="9588260" y="2349441"/>
            <a:ext cx="228594" cy="228594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418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473963" y="2793930"/>
            <a:ext cx="2057348" cy="2539936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51758" y="3009824"/>
            <a:ext cx="165095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52BDEC"/>
                </a:solidFill>
                <a:latin typeface="Consola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51758" y="3467013"/>
            <a:ext cx="170175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18 mnd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1758" y="3987700"/>
            <a:ext cx="1701757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Afsluiten en resultaten delen.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20 / 31</a:t>
            </a:r>
          </a:p>
        </p:txBody>
      </p:sp>
      <p:pic>
        <p:nvPicPr>
          <p:cNvPr id="32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!!beeld" descr="sensor_v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71362" y="0"/>
            <a:ext cx="19534420" cy="6857828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4182A">
                  <a:alpha val="6000"/>
                </a:srgbClr>
              </a:gs>
              <a:gs pos="100000">
                <a:srgbClr val="04182A">
                  <a:alpha val="94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4984" y="4482987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TWEEDE COMPONENT, IN HET ECHT</a:t>
            </a:r>
          </a:p>
        </p:txBody>
      </p:sp>
      <p:sp>
        <p:nvSpPr>
          <p:cNvPr id="6" name="!!sectietitel"/>
          <p:cNvSpPr txBox="1"/>
          <p:nvPr/>
        </p:nvSpPr>
        <p:spPr>
          <a:xfrm>
            <a:off x="634984" y="4787780"/>
            <a:ext cx="9524761" cy="1523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2F8FC"/>
                </a:solidFill>
                <a:latin typeface="Segoe UI"/>
              </a:rPr>
              <a:t>Negen bij dertien millimeter.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4400" b="1">
                <a:solidFill>
                  <a:srgbClr val="F2F8FC"/>
                </a:solidFill>
                <a:latin typeface="Segoe UI"/>
              </a:rPr>
              <a:t>Meer merkt de patiënt niet.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21 / 31</a:t>
            </a:r>
          </a:p>
        </p:txBody>
      </p:sp>
      <p:pic>
        <p:nvPicPr>
          <p:cNvPr id="8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TECHNIEK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Drie toestellen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68450"/>
            <a:ext cx="5384538" cy="400039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e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4719" y="2184345"/>
            <a:ext cx="1965067" cy="16636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377" y="3975000"/>
            <a:ext cx="2412939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Novel pedar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7076" y="4444888"/>
            <a:ext cx="2412939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60">
                <a:solidFill>
                  <a:srgbClr val="52BDEC"/>
                </a:solidFill>
                <a:latin typeface="Consolas"/>
              </a:rPr>
              <a:t>DRUK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4660783"/>
            <a:ext cx="241293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2BDEC"/>
                </a:solidFill>
                <a:latin typeface="Segoe UI"/>
              </a:rPr>
              <a:t>8  voetregio's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5079873"/>
            <a:ext cx="241293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30">
                <a:solidFill>
                  <a:srgbClr val="FF7A00"/>
                </a:solidFill>
                <a:latin typeface="Consolas"/>
              </a:rPr>
              <a:t>UW TEAM MEET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9713" y="3975000"/>
            <a:ext cx="2260416" cy="1777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Draadloze sensorzolen in de eigen schoen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Trublu-kalibratie op 6 bar, elke drie maanden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Minstens twaalf mid-gait stappen per voet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1918" y="1968450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24314" y="2120846"/>
            <a:ext cx="2158946" cy="1612859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thotim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512" y="2553717"/>
            <a:ext cx="2006549" cy="74711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11855" y="2158946"/>
            <a:ext cx="266693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Orthotimer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4554" y="2527236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DRAAGTIJD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1855" y="2730431"/>
            <a:ext cx="2666933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15  minuten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11855" y="3073323"/>
            <a:ext cx="259060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In de zool, 9 × 13 × 4,5 mm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Batterij 100 dagen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11855" y="3644808"/>
            <a:ext cx="266693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HEET: UW SENSOR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1918" y="4051198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24314" y="4203594"/>
            <a:ext cx="2158946" cy="1612859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ovemoni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512" y="4454706"/>
            <a:ext cx="2006549" cy="11106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11855" y="4241693"/>
            <a:ext cx="266693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MoveMonitor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24554" y="4609984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ACTIVITEIT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11855" y="4813179"/>
            <a:ext cx="2666933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7  dagen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11855" y="5156071"/>
            <a:ext cx="259060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Op de onderrug, niet waterdicht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Baseline en 6 maanden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11855" y="5727556"/>
            <a:ext cx="266693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ZET DE 80%-NORM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22 / 31</a:t>
            </a:r>
          </a:p>
        </p:txBody>
      </p:sp>
      <p:pic>
        <p:nvPicPr>
          <p:cNvPr id="29" name="merk" descr="me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857828" y="-738820"/>
            <a:ext cx="6984825" cy="8081476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634984" y="1854153"/>
            <a:ext cx="4444888" cy="20319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03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975000"/>
            <a:ext cx="8889777" cy="8889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600" b="1">
                <a:solidFill>
                  <a:srgbClr val="F2F8FC"/>
                </a:solidFill>
                <a:latin typeface="Segoe UI"/>
              </a:rPr>
              <a:t>Uw 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990975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8FB6D0"/>
                </a:solidFill>
                <a:latin typeface="Segoe UI Light"/>
              </a:rPr>
              <a:t>Minder dan u vreest. Maar niet niets.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23 / 31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VERDELING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Wie doet wat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93035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146246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Podoloog</a:t>
            </a:r>
          </a:p>
        </p:txBody>
      </p:sp>
      <p:sp>
        <p:nvSpPr>
          <p:cNvPr id="7" name="Oval 6"/>
          <p:cNvSpPr/>
          <p:nvPr/>
        </p:nvSpPr>
        <p:spPr>
          <a:xfrm>
            <a:off x="3555911" y="2235144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21006" y="2158946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Voert de drukmeting uit</a:t>
            </a:r>
          </a:p>
        </p:txBody>
      </p:sp>
      <p:sp>
        <p:nvSpPr>
          <p:cNvPr id="9" name="Oval 8"/>
          <p:cNvSpPr/>
          <p:nvPr/>
        </p:nvSpPr>
        <p:spPr>
          <a:xfrm>
            <a:off x="6273643" y="2235144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8739" y="2158946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Levert SEBIA</a:t>
            </a:r>
          </a:p>
        </p:txBody>
      </p:sp>
      <p:sp>
        <p:nvSpPr>
          <p:cNvPr id="11" name="Oval 10"/>
          <p:cNvSpPr/>
          <p:nvPr/>
        </p:nvSpPr>
        <p:spPr>
          <a:xfrm>
            <a:off x="8991375" y="2235144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56471" y="2158946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Leest sensoren uit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984" y="2971725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3187620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Pedorthist</a:t>
            </a:r>
          </a:p>
        </p:txBody>
      </p:sp>
      <p:sp>
        <p:nvSpPr>
          <p:cNvPr id="15" name="Oval 14"/>
          <p:cNvSpPr/>
          <p:nvPr/>
        </p:nvSpPr>
        <p:spPr>
          <a:xfrm>
            <a:off x="3555911" y="3276518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1006" y="3200319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Maakt de zool</a:t>
            </a:r>
          </a:p>
        </p:txBody>
      </p:sp>
      <p:sp>
        <p:nvSpPr>
          <p:cNvPr id="17" name="Oval 16"/>
          <p:cNvSpPr/>
          <p:nvPr/>
        </p:nvSpPr>
        <p:spPr>
          <a:xfrm>
            <a:off x="6273643" y="3276518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8739" y="3200319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Past aan tot de norm</a:t>
            </a:r>
          </a:p>
        </p:txBody>
      </p:sp>
      <p:sp>
        <p:nvSpPr>
          <p:cNvPr id="19" name="Oval 18"/>
          <p:cNvSpPr/>
          <p:nvPr/>
        </p:nvSpPr>
        <p:spPr>
          <a:xfrm>
            <a:off x="8991375" y="3276518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6471" y="3200319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Integreert de sensor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984" y="4013099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984" y="4228994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Arts</a:t>
            </a:r>
          </a:p>
        </p:txBody>
      </p:sp>
      <p:sp>
        <p:nvSpPr>
          <p:cNvPr id="23" name="Oval 22"/>
          <p:cNvSpPr/>
          <p:nvPr/>
        </p:nvSpPr>
        <p:spPr>
          <a:xfrm>
            <a:off x="3555911" y="4317892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21006" y="4241693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Bevestigt geschiktheid</a:t>
            </a:r>
          </a:p>
        </p:txBody>
      </p:sp>
      <p:sp>
        <p:nvSpPr>
          <p:cNvPr id="25" name="Oval 24"/>
          <p:cNvSpPr/>
          <p:nvPr/>
        </p:nvSpPr>
        <p:spPr>
          <a:xfrm>
            <a:off x="6273643" y="4317892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39" y="4241693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Beoordeelt laesies</a:t>
            </a:r>
          </a:p>
        </p:txBody>
      </p:sp>
      <p:sp>
        <p:nvSpPr>
          <p:cNvPr id="27" name="Oval 26"/>
          <p:cNvSpPr/>
          <p:nvPr/>
        </p:nvSpPr>
        <p:spPr>
          <a:xfrm>
            <a:off x="8991375" y="4317892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6471" y="4241693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Meldt voorvallen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4984" y="505447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4984" y="5270368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Management</a:t>
            </a:r>
          </a:p>
        </p:txBody>
      </p:sp>
      <p:sp>
        <p:nvSpPr>
          <p:cNvPr id="31" name="Oval 30"/>
          <p:cNvSpPr/>
          <p:nvPr/>
        </p:nvSpPr>
        <p:spPr>
          <a:xfrm>
            <a:off x="3555911" y="5359266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21006" y="5283067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Maakt tijd vrij</a:t>
            </a:r>
          </a:p>
        </p:txBody>
      </p:sp>
      <p:sp>
        <p:nvSpPr>
          <p:cNvPr id="33" name="Oval 32"/>
          <p:cNvSpPr/>
          <p:nvPr/>
        </p:nvSpPr>
        <p:spPr>
          <a:xfrm>
            <a:off x="6273643" y="5359266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38739" y="5283067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Faciliteert opleiding</a:t>
            </a:r>
          </a:p>
        </p:txBody>
      </p:sp>
      <p:sp>
        <p:nvSpPr>
          <p:cNvPr id="35" name="Oval 34"/>
          <p:cNvSpPr/>
          <p:nvPr/>
        </p:nvSpPr>
        <p:spPr>
          <a:xfrm>
            <a:off x="8991375" y="5359266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56471" y="5283067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Bewaakt 24 inclusies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4984" y="6095847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24 / 31</a:t>
            </a:r>
          </a:p>
        </p:txBody>
      </p:sp>
      <p:pic>
        <p:nvPicPr>
          <p:cNvPr id="3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FF7A00"/>
                </a:solidFill>
                <a:latin typeface="Consolas"/>
              </a:rPr>
              <a:t>DE ENIGE REGEL DIE U ÉCHT MOET ONTHOUDEN</a:t>
            </a:r>
          </a:p>
        </p:txBody>
      </p:sp>
      <p:sp>
        <p:nvSpPr>
          <p:cNvPr id="4" name="hero"/>
          <p:cNvSpPr txBox="1"/>
          <p:nvPr/>
        </p:nvSpPr>
        <p:spPr>
          <a:xfrm>
            <a:off x="634984" y="1066773"/>
            <a:ext cx="6857828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Meetwaarden gaan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5400" b="1">
                <a:solidFill>
                  <a:srgbClr val="F2F8FC"/>
                </a:solidFill>
                <a:latin typeface="Segoe UI"/>
              </a:rPr>
              <a:t>niet naar de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5400" b="1">
                <a:solidFill>
                  <a:srgbClr val="F2F8FC"/>
                </a:solidFill>
                <a:latin typeface="Segoe UI"/>
              </a:rPr>
              <a:t>controlegroep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4101997"/>
            <a:ext cx="6857828" cy="154936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377" y="4381390"/>
            <a:ext cx="6349841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50" b="0">
                <a:solidFill>
                  <a:srgbClr val="8FB6D0"/>
                </a:solidFill>
                <a:latin typeface="Segoe UI"/>
              </a:rPr>
              <a:t>Ook zij krijgen een drukmeting en dragen een sensor — anders kunnen we de groepen niet vergelijken. Maar die getallen blijven dicht. Bespreekt u ze, dan lévert u de interventie.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73803" y="2031949"/>
            <a:ext cx="3682907" cy="3517812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78595" y="2324041"/>
            <a:ext cx="3111422" cy="2412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60">
                <a:solidFill>
                  <a:srgbClr val="FF7A00"/>
                </a:solidFill>
                <a:latin typeface="Consolas"/>
              </a:rPr>
              <a:t>UITZONDERING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78595" y="2730431"/>
            <a:ext cx="3111422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>
                <a:solidFill>
                  <a:srgbClr val="F2F8FC"/>
                </a:solidFill>
                <a:latin typeface="Segoe UI"/>
              </a:rPr>
              <a:t>Klinische bevindingen zijn géén meetwaarden. Elke laesie of huiddefect meldt en behandelt u meteen. In beide groepen.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25 / 31</a:t>
            </a:r>
          </a:p>
        </p:txBody>
      </p:sp>
      <p:pic>
        <p:nvPicPr>
          <p:cNvPr id="1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VRAAG DIE U NIET HARDOP STELT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Wat kost dit mij?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4984" y="1676358"/>
            <a:ext cx="8889777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Geen verzonnen getal. Dit komt erbij: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4984" y="2133546"/>
            <a:ext cx="5384538" cy="77468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8179" y="2273243"/>
            <a:ext cx="497814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40">
                <a:solidFill>
                  <a:srgbClr val="52BDEC"/>
                </a:solidFill>
                <a:latin typeface="Consolas"/>
              </a:rPr>
              <a:t>DRUKMETING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179" y="2539936"/>
            <a:ext cx="4978148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F2F8FC"/>
                </a:solidFill>
                <a:latin typeface="Segoe UI"/>
              </a:rPr>
              <a:t>baseline · 6 · 12 maanden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1918" y="2133546"/>
            <a:ext cx="5384538" cy="77468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5113" y="2273243"/>
            <a:ext cx="497814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40">
                <a:solidFill>
                  <a:srgbClr val="52BDEC"/>
                </a:solidFill>
                <a:latin typeface="Consolas"/>
              </a:rPr>
              <a:t>SEBIA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5113" y="2539936"/>
            <a:ext cx="4978148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F2F8FC"/>
                </a:solidFill>
                <a:latin typeface="Segoe UI"/>
              </a:rPr>
              <a:t>in het bestaande consult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4984" y="3035224"/>
            <a:ext cx="5384538" cy="77468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179" y="3174920"/>
            <a:ext cx="497814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40">
                <a:solidFill>
                  <a:srgbClr val="52BDEC"/>
                </a:solidFill>
                <a:latin typeface="Consolas"/>
              </a:rPr>
              <a:t>SENSOR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179" y="3441613"/>
            <a:ext cx="4978148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F2F8FC"/>
                </a:solidFill>
                <a:latin typeface="Segoe UI"/>
              </a:rPr>
              <a:t>uitlezen en vervangen per bezoek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1918" y="3035224"/>
            <a:ext cx="5384538" cy="77468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5113" y="3174920"/>
            <a:ext cx="4978148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40">
                <a:solidFill>
                  <a:srgbClr val="52BDEC"/>
                </a:solidFill>
                <a:latin typeface="Consolas"/>
              </a:rPr>
              <a:t>OPLEIDING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5113" y="3441613"/>
            <a:ext cx="4978148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F2F8FC"/>
                </a:solidFill>
                <a:latin typeface="Segoe UI"/>
              </a:rPr>
              <a:t>eenmalig, door ons verzorgd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4984" y="4101997"/>
            <a:ext cx="10921726" cy="952476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2476" y="4394090"/>
            <a:ext cx="10286742" cy="6984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F2F8FC"/>
                </a:solidFill>
                <a:latin typeface="Segoe UI"/>
              </a:rPr>
              <a:t>Hoeveel het wérkelijk kost, meten we. Dat is precies wat een implementatiestudie hoort te doen.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26 / 31</a:t>
            </a:r>
          </a:p>
        </p:txBody>
      </p:sp>
      <p:pic>
        <p:nvPicPr>
          <p:cNvPr id="2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FF7A00"/>
                </a:solidFill>
                <a:latin typeface="Consolas"/>
              </a:rPr>
              <a:t>RUSTPUNT</a:t>
            </a:r>
          </a:p>
        </p:txBody>
      </p:sp>
      <p:sp>
        <p:nvSpPr>
          <p:cNvPr id="4" name="hero"/>
          <p:cNvSpPr txBox="1"/>
          <p:nvPr/>
        </p:nvSpPr>
        <p:spPr>
          <a:xfrm>
            <a:off x="634984" y="2362140"/>
            <a:ext cx="10921726" cy="1777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0" b="1">
                <a:solidFill>
                  <a:srgbClr val="F2F8FC"/>
                </a:solidFill>
                <a:latin typeface="Segoe UI"/>
              </a:rPr>
              <a:t>Vragen?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4984" y="4444888"/>
            <a:ext cx="10921726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Voor we naar de afspraken gaan.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27 / 31</a:t>
            </a:r>
          </a:p>
        </p:txBody>
      </p:sp>
      <p:pic>
        <p:nvPicPr>
          <p:cNvPr id="7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6793" y="749281"/>
            <a:ext cx="878107" cy="10159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ONDERSTEUNING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Wat u van ons krijgt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993850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158946"/>
            <a:ext cx="622284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Motiverende gespreksvoering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683" y="2476438"/>
            <a:ext cx="609584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Training door een psycholoog — alle centra dezelfde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984" y="2959026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4984" y="3124121"/>
            <a:ext cx="622284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Pedar en SEBIA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683" y="3441613"/>
            <a:ext cx="609584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Werkinstructie en draaiboek per handeling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984" y="3924201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984" y="4089297"/>
            <a:ext cx="622284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REDCap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683" y="4406789"/>
            <a:ext cx="609584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Instructie plus een testomgeving om in te oefenen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984" y="4889377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984" y="5054473"/>
            <a:ext cx="622284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Eén contactpunt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83" y="5371965"/>
            <a:ext cx="609584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Eén nummer, één mailadres, voor alles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2812" y="1904952"/>
            <a:ext cx="4063898" cy="394960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00799" y="2044648"/>
            <a:ext cx="3047923" cy="3047923"/>
          </a:xfrm>
          <a:prstGeom prst="ellipse">
            <a:avLst/>
          </a:prstGeom>
          <a:solidFill>
            <a:srgbClr val="FF7A0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ro"/>
          <p:cNvSpPr txBox="1"/>
          <p:nvPr/>
        </p:nvSpPr>
        <p:spPr>
          <a:xfrm>
            <a:off x="7772205" y="2158946"/>
            <a:ext cx="3555911" cy="1904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5000" b="1">
                <a:solidFill>
                  <a:srgbClr val="FF7A00"/>
                </a:solidFill>
                <a:latin typeface="Segoe U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205" y="4063898"/>
            <a:ext cx="3555911" cy="3936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sancties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0304" y="4584585"/>
            <a:ext cx="3428914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0">
                <a:solidFill>
                  <a:srgbClr val="8FB6D0"/>
                </a:solidFill>
                <a:latin typeface="Segoe UI"/>
              </a:rPr>
              <a:t>Wijkt u af van het protocol, dan meldt u dat. Het wordt geregistreerd, niet afgestraft.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28 / 31</a:t>
            </a:r>
          </a:p>
        </p:txBody>
      </p:sp>
      <p:pic>
        <p:nvPicPr>
          <p:cNvPr id="23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WAT U GAAT VRAGEN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Vooruitlopend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904952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070048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Patiënt wil de sensor niet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984" y="2514537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977" y="2501837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Dan niet geschikt. Draagtijd ís een hoofduitkomst.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1918" y="1904952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1918" y="2070048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Zool haalt de norm niet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1918" y="2514537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5912" y="2501837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We noteren wat wél bereikt is en gaan door.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984" y="3340016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3505112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Mag ik nog adviseren?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984" y="3949601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8977" y="3936901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Alles wat u vandaag doet, blijft u doen.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1918" y="3340016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1918" y="3505112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Wij zijn niet academisch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1918" y="3949601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5912" y="3936901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Drie van de zes centra ook niet. Dat wordt getoetst.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984" y="4775080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984" y="4940176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Onze data?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984" y="5384665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8977" y="5371965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Gepseudonimiseerd, tien jaar, binnen de toestemming.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1918" y="4775080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1918" y="4940176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Zien wij resultaten?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1918" y="5384665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5912" y="5371965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Eén publicatie, ongeacht de uitkomst.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29 / 31</a:t>
            </a:r>
          </a:p>
        </p:txBody>
      </p:sp>
      <p:pic>
        <p:nvPicPr>
          <p:cNvPr id="30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AFSPRAAK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Vier dingen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04952"/>
            <a:ext cx="10921726" cy="394960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281" y="2133546"/>
            <a:ext cx="1904952" cy="7619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84425" y="2133546"/>
            <a:ext cx="571485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2F8FC"/>
                </a:solidFill>
                <a:latin typeface="Segoe UI"/>
              </a:rPr>
              <a:t>deelnemers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7125" y="2552636"/>
            <a:ext cx="7937301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FB6D0"/>
                </a:solidFill>
                <a:latin typeface="Segoe UI"/>
              </a:rPr>
              <a:t>over twaalf maanden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6773" y="2920926"/>
            <a:ext cx="1005814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281" y="3086022"/>
            <a:ext cx="1904952" cy="7619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84425" y="3086022"/>
            <a:ext cx="571485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2F8FC"/>
                </a:solidFill>
                <a:latin typeface="Segoe UI"/>
              </a:rPr>
              <a:t>vaste 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7125" y="3505112"/>
            <a:ext cx="7937301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FB6D0"/>
                </a:solidFill>
                <a:latin typeface="Segoe UI"/>
              </a:rPr>
              <a:t>plus gedelegeerd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66773" y="3873403"/>
            <a:ext cx="1005814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281" y="4038499"/>
            <a:ext cx="1904952" cy="7619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10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4425" y="4038499"/>
            <a:ext cx="571485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2F8FC"/>
                </a:solidFill>
                <a:latin typeface="Segoe UI"/>
              </a:rPr>
              <a:t>looppad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7125" y="4457588"/>
            <a:ext cx="7937301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FB6D0"/>
                </a:solidFill>
                <a:latin typeface="Segoe UI"/>
              </a:rPr>
              <a:t>meer ruimte is niet nodig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6773" y="4825879"/>
            <a:ext cx="1005814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281" y="4990975"/>
            <a:ext cx="1904952" cy="76198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5400" b="1">
                <a:solidFill>
                  <a:srgbClr val="52BDEC"/>
                </a:solidFill>
                <a:latin typeface="Segoe U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84425" y="4990975"/>
            <a:ext cx="571485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F2F8FC"/>
                </a:solidFill>
                <a:latin typeface="Segoe UI"/>
              </a:rPr>
              <a:t>dagboek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7125" y="5410064"/>
            <a:ext cx="7937301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8FB6D0"/>
                </a:solidFill>
                <a:latin typeface="Segoe UI"/>
              </a:rPr>
              <a:t>voor de procesevaluatie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30 / 31</a:t>
            </a:r>
          </a:p>
        </p:txBody>
      </p:sp>
      <p:pic>
        <p:nvPicPr>
          <p:cNvPr id="22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ero"/>
          <p:cNvSpPr txBox="1"/>
          <p:nvPr/>
        </p:nvSpPr>
        <p:spPr>
          <a:xfrm>
            <a:off x="634984" y="1587460"/>
            <a:ext cx="7619809" cy="1460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F2F8FC"/>
                </a:solidFill>
                <a:latin typeface="Segoe UI"/>
              </a:rPr>
              <a:t>Doe mee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0383" y="3149521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52BDEC"/>
                </a:solidFill>
                <a:latin typeface="Segoe UI Light"/>
              </a:rPr>
              <a:t>PARADISE start zodra de goedkeuringen binnen zijn.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3784505"/>
            <a:ext cx="6349841" cy="1422364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9776" y="4025799"/>
            <a:ext cx="5841853" cy="11429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Janou De Buyser · doctoraatsonderzoeker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650" b="0">
                <a:solidFill>
                  <a:srgbClr val="8FB6D0"/>
                </a:solidFill>
                <a:latin typeface="Segoe UI"/>
              </a:rPr>
              <a:t>KU Leuven · Revalidatiewetenschappen · Campus Brugge</a:t>
            </a:r>
          </a:p>
          <a:p>
            <a:pPr algn="l">
              <a:lnSpc>
                <a:spcPct val="140000"/>
              </a:lnSpc>
              <a:spcBef>
                <a:spcPts val="800"/>
              </a:spcBef>
            </a:pPr>
            <a:r>
              <a:rPr sz="1650" b="0">
                <a:solidFill>
                  <a:srgbClr val="8FB6D0"/>
                </a:solidFill>
                <a:latin typeface="Segoe UI"/>
              </a:rPr>
              <a:t>prof. dr. Kevin Deschamps · kevin.deschamps@kuleuven.be</a:t>
            </a:r>
          </a:p>
        </p:txBody>
      </p:sp>
      <p:sp>
        <p:nvSpPr>
          <p:cNvPr id="7" name="Rectangle 6"/>
          <p:cNvSpPr/>
          <p:nvPr/>
        </p:nvSpPr>
        <p:spPr>
          <a:xfrm>
            <a:off x="634984" y="554976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4984" y="5752956"/>
            <a:ext cx="215894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KU Leuven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7683" y="6006949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B6D0"/>
                </a:solidFill>
                <a:latin typeface="Consolas"/>
              </a:rPr>
              <a:t>Campus Brugge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82907" y="5752956"/>
            <a:ext cx="215894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VUB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5607" y="6006949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B6D0"/>
                </a:solidFill>
                <a:latin typeface="Consolas"/>
              </a:rPr>
              <a:t>Vrije Universiteit Brussel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30831" y="5752956"/>
            <a:ext cx="215894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FWO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43531" y="6006949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B6D0"/>
                </a:solidFill>
                <a:latin typeface="Consolas"/>
              </a:rPr>
              <a:t>TBM T000226N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984" y="6489537"/>
            <a:ext cx="9524761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Protocolversie 1.0 · 17 mei 2026 · S71769</a:t>
            </a:r>
          </a:p>
        </p:txBody>
      </p:sp>
      <p:pic>
        <p:nvPicPr>
          <p:cNvPr id="15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0074" y="2031949"/>
            <a:ext cx="1920860" cy="222244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