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Begin staand, zonder klikken. Laat de dia drie tellen staan voor u praat. De drie tegels zijn het enige wat ze hoeven onthouden.</a:t>
            </a:r>
          </a:p>
          <a:p/>
          <a:p>
            <a:r>
              <a:t>INTERACTIE</a:t>
            </a:r>
          </a:p>
          <a:p>
            <a:r>
              <a:t>Vraag bij binnenkomst: "wie heeft deze week een recidief gezien?" Handen in de lucht. Dat is uw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 zaal kiezen. Dit is geen lineaire deck. Wie kiest, luistert beter.</a:t>
            </a:r>
          </a:p>
          <a:p/>
          <a:p>
            <a:r>
              <a:t>INTERACTIE</a:t>
            </a:r>
          </a:p>
          <a:p>
            <a:r>
              <a:t>Handopsteking of Mentimeter. Begin met het blok dat wint.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het getal even alleen staan. Zeg dan pas: "dit is uw eigen praktijk."</a:t>
            </a:r>
          </a:p>
          <a:p/>
          <a:p>
            <a:r>
              <a:t>INTERACTIE</a:t>
            </a:r>
          </a:p>
          <a:p>
            <a:r>
              <a:t>Morph vanaf de sectiedia: het cijfer groeit uit de titel.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eerst links aan, laat het bezinken, wijs dan rechts. De punchline zegt u, niet de dia.</a:t>
            </a:r>
          </a:p>
          <a:p/>
          <a:p>
            <a:r>
              <a:t>INTERACTIE</a:t>
            </a:r>
          </a:p>
          <a:p>
            <a:r>
              <a:t>Morph: beide blokken schuiven uit het midden uit elkaar.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venijn zit in de derde tegel: binnen zetten ze méér stappen dan buiten.</a:t>
            </a:r>
          </a:p>
          <a:p/>
          <a:p>
            <a:r>
              <a:t>INTERACTIE</a:t>
            </a:r>
          </a:p>
          <a:p>
            <a:r>
              <a:t>Vraag: "wat schat u dat úw patiënten halen?" Laat ze roepen voor u klikt.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Teken het maalteken in de lucht. Product, niet som — dat is het hele punt.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de rode plek aan. Zeg er niets bij. Klik dan pas door.</a:t>
            </a:r>
          </a:p>
          <a:p/>
          <a:p>
            <a:r>
              <a:t>INTERACTIE</a:t>
            </a:r>
          </a:p>
          <a:p>
            <a:r>
              <a:t>Vraag: "waar verwacht u de piek?" Laat ze wijzen voor u de dia toont.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camera duikt de voet in. Zeg: "dit is wat de software eruit haalt — niet één getal voor de hele voet, maar acht."</a:t>
            </a:r>
          </a:p>
          <a:p/>
          <a:p>
            <a:r>
              <a:t>INTERACTIE</a:t>
            </a:r>
          </a:p>
          <a:p>
            <a:r>
              <a:t>Vraag de podologen of ze de maskers zelf al gelegd hebben.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morph waar het om draait: de hete plek koelt af terwijl de voetboog oplicht. Klik traag en zwijg tot de animatie klaar is.</a:t>
            </a:r>
          </a:p>
          <a:p/>
          <a:p>
            <a:r>
              <a:t>INTERACTIE</a:t>
            </a:r>
          </a:p>
          <a:p>
            <a:r>
              <a:t>Vraag daarna: "en hoe weet u of hij hem draagt?" Dat is de brug naar de tweede component.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 "óf". Twee wegen naar dezelfde norm, geen dubbele eis.</a:t>
            </a:r>
          </a:p>
          <a:p/>
          <a:p>
            <a:r>
              <a:t>INTERACTIE</a:t>
            </a:r>
          </a:p>
          <a:p>
            <a:r>
              <a:t>Morph: de twee blokken kantelen naar voren.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laatste tegel is de belangrijkste: wij hebben twee eindpunten nodig, niet één. Dat maakt de lat hoog en dat weten we. Wijs onderaan hun eigen centrum aan — 24 van die 144 stippen zijn van hen.</a:t>
            </a:r>
          </a:p>
          <a:p/>
          <a:p>
            <a:r>
              <a:t>INTERACTIE</a:t>
            </a:r>
          </a:p>
          <a:p>
            <a:r>
              <a:t>Vraag of ze de andere vijf centra kennen. Het maakt van zes losse klinieken één netwerk.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Loop niet elk criterium af. Zeg: "categorie 3, vaatstatus in orde, spreekt Nederlands" — de rest staat op papier.</a:t>
            </a:r>
          </a:p>
          <a:p/>
          <a:p>
            <a:r>
              <a:t>INTERACTIE</a:t>
            </a:r>
          </a:p>
          <a:p>
            <a:r>
              <a:t>Deel de screeningskaart uit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voor een deel van de zaal de eerste kennismaking met het traject. Geef eerst het overzicht, klik dan door: de tijdlijn zoomt in op elke fase en komt op het eind weer terug.</a:t>
            </a:r>
          </a:p>
          <a:p/>
          <a:p>
            <a:r>
              <a:t>INTERACTIE</a:t>
            </a:r>
          </a:p>
          <a:p>
            <a:r>
              <a:t>Vraag voor u inzoomt: "over welke fase wilt u het meest weten?" Zoom dan als eerste naar die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Leg uit dat de screening vóór de toestemming gebeurt en dus kort is: u kijkt enkel of iemand in aanmerking komt.</a:t>
            </a:r>
          </a:p>
          <a:p/>
          <a:p>
            <a:r>
              <a:t>INTERACTIE</a:t>
            </a:r>
          </a:p>
          <a:p>
            <a:r>
              <a:t>Morph: de camera zoomt in op de eerste twee stippen.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Hier zit het meeste werk voor de pedorthist. Kijk hem of haar aan.</a:t>
            </a:r>
          </a:p>
          <a:p/>
          <a:p>
            <a:r>
              <a:t>INTERACTIE</a:t>
            </a:r>
          </a:p>
          <a:p>
            <a:r>
              <a:t>Vraag aan de pedorthist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Benadruk: uitlezen en vervangen kan alleen ter plaatse, dus koppel het aan een bezoek dat toch al gepland is.</a:t>
            </a:r>
          </a:p>
          <a:p/>
          <a:p>
            <a:r>
              <a:t>INTERACTIE</a:t>
            </a:r>
          </a:p>
          <a:p>
            <a:r>
              <a:t>Morph: de camera trekt terug en toont de hele staart.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dezelfde dia als het begin van het blok. De zaal herkent hem, en dat is precies het effect dat u wilt.</a:t>
            </a:r>
          </a:p>
          <a:p/>
          <a:p>
            <a:r>
              <a:t>INTERACTIE</a:t>
            </a:r>
          </a:p>
          <a:p>
            <a:r>
              <a:t>Laat hem staan tijdens de vragen over het traject.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Stap 3 is het hart: eerst láát u hem schatten, dán toont u de data.</a:t>
            </a:r>
          </a:p>
          <a:p/>
          <a:p>
            <a:r>
              <a:t>INTERACTIE</a:t>
            </a:r>
          </a:p>
          <a:p>
            <a:r>
              <a:t>Rollenspel van twee minuten met een vrijwilliger uit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even staan zonder te praten. De sensor is fysiek zo klein dat het beeld het argument al maakt.</a:t>
            </a:r>
          </a:p>
          <a:p/>
          <a:p>
            <a:r>
              <a:t>INTERACTIE</a:t>
            </a:r>
          </a:p>
          <a:p>
            <a:r>
              <a:t>Geef er een door de zaal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Kijk elke groep aan bij hun kolom. Namen noemen als u ze kent.</a:t>
            </a:r>
          </a:p>
          <a:p/>
          <a:p>
            <a:r>
              <a:t>INTERACTIE</a:t>
            </a:r>
          </a:p>
          <a:p>
            <a:r>
              <a:t>Vraag per kolom: "herkenbaar, of mis ik iets?"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u stilvalt. Geen haast. Vraag of het helder is voordat u doorgaat.</a:t>
            </a:r>
          </a:p>
          <a:p/>
          <a:p>
            <a:r>
              <a:t>INTERACTIE</a:t>
            </a:r>
          </a:p>
          <a:p>
            <a:r>
              <a:t>Laat iemand het in eigen woorden herhalen. Zo weet u of het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Wees hier eerlijk. Als u een getal verzint dat niet klopt, bent u ze kwijt.</a:t>
            </a:r>
          </a:p>
          <a:p/>
          <a:p>
            <a:r>
              <a:t>INTERACTIE</a:t>
            </a:r>
          </a:p>
          <a:p>
            <a:r>
              <a:t>Poll: "hoeveel minuten schat u?" Noteer de spreiding en kom er na zes maanden op terug.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Plan hier vijf minuten. Als er geen vragen komen, stel er zelf één: "wat lijkt u het lastigst?"</a:t>
            </a:r>
          </a:p>
          <a:p/>
          <a:p>
            <a:r>
              <a:t>INTERACTIE</a:t>
            </a:r>
          </a:p>
          <a:p>
            <a:r>
              <a:t>Open moment. Noteer wat er komt — het voedt de procesevaluatie.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cijfer rechts ontspant de zaal. Zeg het expliciet en wacht even.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Sla over wat al gevraagd is. Deze dia is een vangnet, geen programma.</a:t>
            </a:r>
          </a:p>
          <a:p/>
          <a:p>
            <a:r>
              <a:t>INTERACTIE</a:t>
            </a:r>
          </a:p>
          <a:p>
            <a:r>
              <a:t>Toon hem alleen als de vragen opdrogen.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Eindig hier als u tijd tekortkomt. Dit is de dia die telt.</a:t>
            </a:r>
          </a:p>
          <a:p/>
          <a:p>
            <a:r>
              <a:t>INTERACTIE</a:t>
            </a:r>
          </a:p>
          <a:p>
            <a:r>
              <a:t>Vraag ter plekke of het haalbaar lijkt. Twijfel nu is beter dan uitval straks.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Twee woorden, verder niets. Dit is het moment waarop u vraagt of ze meedoen — laat de dia dat niet verzachten.</a:t>
            </a:r>
          </a:p>
          <a:p/>
          <a:p>
            <a:r>
              <a:t>INTERACTIE</a:t>
            </a:r>
          </a:p>
          <a:p>
            <a:r>
              <a:t>Deel de eenpager uit. Vraag wie een inclusiekandidaat in gedachten heeft.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4984" y="952476"/>
            <a:ext cx="10921726" cy="2984425"/>
          </a:xfrm>
          <a:prstGeom prst="roundRect">
            <a:avLst>
              <a:gd name="adj" fmla="val 4500"/>
            </a:avLst>
          </a:prstGeom>
          <a:solidFill>
            <a:srgbClr val="0A2A44">
              <a:alpha val="60000"/>
            </a:srgbClr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952476" y="1308067"/>
            <a:ext cx="8889777" cy="1714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10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75" y="2806629"/>
            <a:ext cx="761980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52BDEC"/>
                </a:solidFill>
                <a:latin typeface="Segoe UI"/>
              </a:rPr>
              <a:t>Druk. Trouw. Educatie.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75" y="3505112"/>
            <a:ext cx="825479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FB6D0"/>
                </a:solidFill>
                <a:latin typeface="Segoe UI Light"/>
              </a:rPr>
              <a:t>Eén zorgpad tegen het recidief van de diabetische voet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4984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87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578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DEELNEMERS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6273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216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4868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VOETKLINIEKEN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3345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6157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MAANDEN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4984" y="554976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984" y="5714857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kuleuv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380" y="5822804"/>
            <a:ext cx="1381100" cy="39369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574870" y="5714857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267" y="5822804"/>
            <a:ext cx="1116092" cy="39369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49749" y="5765655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62449" y="60196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6489537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Informatiesessie · KU Leuven · prof. dr. Kevin Deschamps · FWO T000226N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0513" y="1244568"/>
            <a:ext cx="1646451" cy="190495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 SESSIE IS MODULAIR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 wilt u beginnen?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Het probleem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79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Waarom betere zolen niet volstaan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3451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946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946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De interventie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946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we precies gaan doen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1918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2413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413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Uw 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413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er dinsdagmiddag verandert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0385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0881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0881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De afspraak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0881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we van uw kliniek vragen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32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probleem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Genezing is geen eindpunt. Het is een pauze.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32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Het lag niet aan de zool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F7A00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00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4857" y="5930751"/>
            <a:ext cx="584185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De interventie werkte. Bij de 46% die hem aandeed.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32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52BDE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52BDEC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52BDEC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8FB6D0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7A00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32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sturen we er twee bij.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32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02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De interventie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Twee componenten. Bovenop wat u al doet.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08 / 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ZIET BIJ DE METING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Dit is een echte in-shoe meting: honderden sensoren onder de voet, elk met hun eigen piekdruk over minstens twaalf mid-gait stappen.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De hete plek ligt waar de meeste plantaire ulcera ontstaan. Deze patiënt zit ruim boven de norm.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Novel pedar · in-shoe · piekdruk per regio via Multimask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32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00_07"/>
          <p:cNvSpPr/>
          <p:nvPr/>
        </p:nvSpPr>
        <p:spPr>
          <a:xfrm>
            <a:off x="242690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p00_08"/>
          <p:cNvSpPr/>
          <p:nvPr/>
        </p:nvSpPr>
        <p:spPr>
          <a:xfrm>
            <a:off x="283964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00_09"/>
          <p:cNvSpPr/>
          <p:nvPr/>
        </p:nvSpPr>
        <p:spPr>
          <a:xfrm>
            <a:off x="325238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10"/>
          <p:cNvSpPr/>
          <p:nvPr/>
        </p:nvSpPr>
        <p:spPr>
          <a:xfrm>
            <a:off x="366512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1_06"/>
          <p:cNvSpPr/>
          <p:nvPr/>
        </p:nvSpPr>
        <p:spPr>
          <a:xfrm>
            <a:off x="2014166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1_07"/>
          <p:cNvSpPr/>
          <p:nvPr/>
        </p:nvSpPr>
        <p:spPr>
          <a:xfrm>
            <a:off x="242690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8"/>
          <p:cNvSpPr/>
          <p:nvPr/>
        </p:nvSpPr>
        <p:spPr>
          <a:xfrm>
            <a:off x="283964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9"/>
          <p:cNvSpPr/>
          <p:nvPr/>
        </p:nvSpPr>
        <p:spPr>
          <a:xfrm>
            <a:off x="325238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10"/>
          <p:cNvSpPr/>
          <p:nvPr/>
        </p:nvSpPr>
        <p:spPr>
          <a:xfrm>
            <a:off x="366512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11"/>
          <p:cNvSpPr/>
          <p:nvPr/>
        </p:nvSpPr>
        <p:spPr>
          <a:xfrm>
            <a:off x="4077864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2_05"/>
          <p:cNvSpPr/>
          <p:nvPr/>
        </p:nvSpPr>
        <p:spPr>
          <a:xfrm>
            <a:off x="160142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2_06"/>
          <p:cNvSpPr/>
          <p:nvPr/>
        </p:nvSpPr>
        <p:spPr>
          <a:xfrm>
            <a:off x="201416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7"/>
          <p:cNvSpPr/>
          <p:nvPr/>
        </p:nvSpPr>
        <p:spPr>
          <a:xfrm>
            <a:off x="242690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8"/>
          <p:cNvSpPr/>
          <p:nvPr/>
        </p:nvSpPr>
        <p:spPr>
          <a:xfrm>
            <a:off x="283964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9"/>
          <p:cNvSpPr/>
          <p:nvPr/>
        </p:nvSpPr>
        <p:spPr>
          <a:xfrm>
            <a:off x="325238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10"/>
          <p:cNvSpPr/>
          <p:nvPr/>
        </p:nvSpPr>
        <p:spPr>
          <a:xfrm>
            <a:off x="366512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11"/>
          <p:cNvSpPr/>
          <p:nvPr/>
        </p:nvSpPr>
        <p:spPr>
          <a:xfrm>
            <a:off x="407786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2"/>
          <p:cNvSpPr/>
          <p:nvPr/>
        </p:nvSpPr>
        <p:spPr>
          <a:xfrm>
            <a:off x="449060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3_05"/>
          <p:cNvSpPr/>
          <p:nvPr/>
        </p:nvSpPr>
        <p:spPr>
          <a:xfrm>
            <a:off x="160142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3_06"/>
          <p:cNvSpPr/>
          <p:nvPr/>
        </p:nvSpPr>
        <p:spPr>
          <a:xfrm>
            <a:off x="201416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7"/>
          <p:cNvSpPr/>
          <p:nvPr/>
        </p:nvSpPr>
        <p:spPr>
          <a:xfrm>
            <a:off x="242690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8"/>
          <p:cNvSpPr/>
          <p:nvPr/>
        </p:nvSpPr>
        <p:spPr>
          <a:xfrm>
            <a:off x="283964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9"/>
          <p:cNvSpPr/>
          <p:nvPr/>
        </p:nvSpPr>
        <p:spPr>
          <a:xfrm>
            <a:off x="325238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10"/>
          <p:cNvSpPr/>
          <p:nvPr/>
        </p:nvSpPr>
        <p:spPr>
          <a:xfrm>
            <a:off x="366512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11"/>
          <p:cNvSpPr/>
          <p:nvPr/>
        </p:nvSpPr>
        <p:spPr>
          <a:xfrm>
            <a:off x="407786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2"/>
          <p:cNvSpPr/>
          <p:nvPr/>
        </p:nvSpPr>
        <p:spPr>
          <a:xfrm>
            <a:off x="449060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4_05"/>
          <p:cNvSpPr/>
          <p:nvPr/>
        </p:nvSpPr>
        <p:spPr>
          <a:xfrm>
            <a:off x="160142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4_06"/>
          <p:cNvSpPr/>
          <p:nvPr/>
        </p:nvSpPr>
        <p:spPr>
          <a:xfrm>
            <a:off x="201416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7"/>
          <p:cNvSpPr/>
          <p:nvPr/>
        </p:nvSpPr>
        <p:spPr>
          <a:xfrm>
            <a:off x="242690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8"/>
          <p:cNvSpPr/>
          <p:nvPr/>
        </p:nvSpPr>
        <p:spPr>
          <a:xfrm>
            <a:off x="283964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9"/>
          <p:cNvSpPr/>
          <p:nvPr/>
        </p:nvSpPr>
        <p:spPr>
          <a:xfrm>
            <a:off x="325238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10"/>
          <p:cNvSpPr/>
          <p:nvPr/>
        </p:nvSpPr>
        <p:spPr>
          <a:xfrm>
            <a:off x="366512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11"/>
          <p:cNvSpPr/>
          <p:nvPr/>
        </p:nvSpPr>
        <p:spPr>
          <a:xfrm>
            <a:off x="407786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2"/>
          <p:cNvSpPr/>
          <p:nvPr/>
        </p:nvSpPr>
        <p:spPr>
          <a:xfrm>
            <a:off x="449060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5_05"/>
          <p:cNvSpPr/>
          <p:nvPr/>
        </p:nvSpPr>
        <p:spPr>
          <a:xfrm>
            <a:off x="160142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5_06"/>
          <p:cNvSpPr/>
          <p:nvPr/>
        </p:nvSpPr>
        <p:spPr>
          <a:xfrm>
            <a:off x="201416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7"/>
          <p:cNvSpPr/>
          <p:nvPr/>
        </p:nvSpPr>
        <p:spPr>
          <a:xfrm>
            <a:off x="242690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8"/>
          <p:cNvSpPr/>
          <p:nvPr/>
        </p:nvSpPr>
        <p:spPr>
          <a:xfrm>
            <a:off x="283964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9"/>
          <p:cNvSpPr/>
          <p:nvPr/>
        </p:nvSpPr>
        <p:spPr>
          <a:xfrm>
            <a:off x="325238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10"/>
          <p:cNvSpPr/>
          <p:nvPr/>
        </p:nvSpPr>
        <p:spPr>
          <a:xfrm>
            <a:off x="366512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11"/>
          <p:cNvSpPr/>
          <p:nvPr/>
        </p:nvSpPr>
        <p:spPr>
          <a:xfrm>
            <a:off x="407786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2"/>
          <p:cNvSpPr/>
          <p:nvPr/>
        </p:nvSpPr>
        <p:spPr>
          <a:xfrm>
            <a:off x="449060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6_05"/>
          <p:cNvSpPr/>
          <p:nvPr/>
        </p:nvSpPr>
        <p:spPr>
          <a:xfrm>
            <a:off x="160142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6_06"/>
          <p:cNvSpPr/>
          <p:nvPr/>
        </p:nvSpPr>
        <p:spPr>
          <a:xfrm>
            <a:off x="201416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7"/>
          <p:cNvSpPr/>
          <p:nvPr/>
        </p:nvSpPr>
        <p:spPr>
          <a:xfrm>
            <a:off x="242690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8"/>
          <p:cNvSpPr/>
          <p:nvPr/>
        </p:nvSpPr>
        <p:spPr>
          <a:xfrm>
            <a:off x="283964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9"/>
          <p:cNvSpPr/>
          <p:nvPr/>
        </p:nvSpPr>
        <p:spPr>
          <a:xfrm>
            <a:off x="325238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10"/>
          <p:cNvSpPr/>
          <p:nvPr/>
        </p:nvSpPr>
        <p:spPr>
          <a:xfrm>
            <a:off x="366512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11"/>
          <p:cNvSpPr/>
          <p:nvPr/>
        </p:nvSpPr>
        <p:spPr>
          <a:xfrm>
            <a:off x="407786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2"/>
          <p:cNvSpPr/>
          <p:nvPr/>
        </p:nvSpPr>
        <p:spPr>
          <a:xfrm>
            <a:off x="449060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7_05"/>
          <p:cNvSpPr/>
          <p:nvPr/>
        </p:nvSpPr>
        <p:spPr>
          <a:xfrm>
            <a:off x="160142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7_06"/>
          <p:cNvSpPr/>
          <p:nvPr/>
        </p:nvSpPr>
        <p:spPr>
          <a:xfrm>
            <a:off x="201416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7"/>
          <p:cNvSpPr/>
          <p:nvPr/>
        </p:nvSpPr>
        <p:spPr>
          <a:xfrm>
            <a:off x="242690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8"/>
          <p:cNvSpPr/>
          <p:nvPr/>
        </p:nvSpPr>
        <p:spPr>
          <a:xfrm>
            <a:off x="283964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9"/>
          <p:cNvSpPr/>
          <p:nvPr/>
        </p:nvSpPr>
        <p:spPr>
          <a:xfrm>
            <a:off x="325238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10"/>
          <p:cNvSpPr/>
          <p:nvPr/>
        </p:nvSpPr>
        <p:spPr>
          <a:xfrm>
            <a:off x="366512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11"/>
          <p:cNvSpPr/>
          <p:nvPr/>
        </p:nvSpPr>
        <p:spPr>
          <a:xfrm>
            <a:off x="407786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2"/>
          <p:cNvSpPr/>
          <p:nvPr/>
        </p:nvSpPr>
        <p:spPr>
          <a:xfrm>
            <a:off x="449060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8_05"/>
          <p:cNvSpPr/>
          <p:nvPr/>
        </p:nvSpPr>
        <p:spPr>
          <a:xfrm>
            <a:off x="160142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8_06"/>
          <p:cNvSpPr/>
          <p:nvPr/>
        </p:nvSpPr>
        <p:spPr>
          <a:xfrm>
            <a:off x="201416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7"/>
          <p:cNvSpPr/>
          <p:nvPr/>
        </p:nvSpPr>
        <p:spPr>
          <a:xfrm>
            <a:off x="242690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8"/>
          <p:cNvSpPr/>
          <p:nvPr/>
        </p:nvSpPr>
        <p:spPr>
          <a:xfrm>
            <a:off x="283964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9"/>
          <p:cNvSpPr/>
          <p:nvPr/>
        </p:nvSpPr>
        <p:spPr>
          <a:xfrm>
            <a:off x="325238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10"/>
          <p:cNvSpPr/>
          <p:nvPr/>
        </p:nvSpPr>
        <p:spPr>
          <a:xfrm>
            <a:off x="366512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11"/>
          <p:cNvSpPr/>
          <p:nvPr/>
        </p:nvSpPr>
        <p:spPr>
          <a:xfrm>
            <a:off x="407786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2"/>
          <p:cNvSpPr/>
          <p:nvPr/>
        </p:nvSpPr>
        <p:spPr>
          <a:xfrm>
            <a:off x="449060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9_05"/>
          <p:cNvSpPr/>
          <p:nvPr/>
        </p:nvSpPr>
        <p:spPr>
          <a:xfrm>
            <a:off x="160142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9_06"/>
          <p:cNvSpPr/>
          <p:nvPr/>
        </p:nvSpPr>
        <p:spPr>
          <a:xfrm>
            <a:off x="201416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7"/>
          <p:cNvSpPr/>
          <p:nvPr/>
        </p:nvSpPr>
        <p:spPr>
          <a:xfrm>
            <a:off x="242690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8"/>
          <p:cNvSpPr/>
          <p:nvPr/>
        </p:nvSpPr>
        <p:spPr>
          <a:xfrm>
            <a:off x="283964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9"/>
          <p:cNvSpPr/>
          <p:nvPr/>
        </p:nvSpPr>
        <p:spPr>
          <a:xfrm>
            <a:off x="325238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10"/>
          <p:cNvSpPr/>
          <p:nvPr/>
        </p:nvSpPr>
        <p:spPr>
          <a:xfrm>
            <a:off x="366512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11"/>
          <p:cNvSpPr/>
          <p:nvPr/>
        </p:nvSpPr>
        <p:spPr>
          <a:xfrm>
            <a:off x="407786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2"/>
          <p:cNvSpPr/>
          <p:nvPr/>
        </p:nvSpPr>
        <p:spPr>
          <a:xfrm>
            <a:off x="449060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10_06"/>
          <p:cNvSpPr/>
          <p:nvPr/>
        </p:nvSpPr>
        <p:spPr>
          <a:xfrm>
            <a:off x="2014166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10_07"/>
          <p:cNvSpPr/>
          <p:nvPr/>
        </p:nvSpPr>
        <p:spPr>
          <a:xfrm>
            <a:off x="242690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8"/>
          <p:cNvSpPr/>
          <p:nvPr/>
        </p:nvSpPr>
        <p:spPr>
          <a:xfrm>
            <a:off x="283964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9"/>
          <p:cNvSpPr/>
          <p:nvPr/>
        </p:nvSpPr>
        <p:spPr>
          <a:xfrm>
            <a:off x="325238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10"/>
          <p:cNvSpPr/>
          <p:nvPr/>
        </p:nvSpPr>
        <p:spPr>
          <a:xfrm>
            <a:off x="366512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11"/>
          <p:cNvSpPr/>
          <p:nvPr/>
        </p:nvSpPr>
        <p:spPr>
          <a:xfrm>
            <a:off x="407786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2"/>
          <p:cNvSpPr/>
          <p:nvPr/>
        </p:nvSpPr>
        <p:spPr>
          <a:xfrm>
            <a:off x="449060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1_06"/>
          <p:cNvSpPr/>
          <p:nvPr/>
        </p:nvSpPr>
        <p:spPr>
          <a:xfrm>
            <a:off x="2014166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1_07"/>
          <p:cNvSpPr/>
          <p:nvPr/>
        </p:nvSpPr>
        <p:spPr>
          <a:xfrm>
            <a:off x="242690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8"/>
          <p:cNvSpPr/>
          <p:nvPr/>
        </p:nvSpPr>
        <p:spPr>
          <a:xfrm>
            <a:off x="283964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9"/>
          <p:cNvSpPr/>
          <p:nvPr/>
        </p:nvSpPr>
        <p:spPr>
          <a:xfrm>
            <a:off x="325238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10"/>
          <p:cNvSpPr/>
          <p:nvPr/>
        </p:nvSpPr>
        <p:spPr>
          <a:xfrm>
            <a:off x="366512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11"/>
          <p:cNvSpPr/>
          <p:nvPr/>
        </p:nvSpPr>
        <p:spPr>
          <a:xfrm>
            <a:off x="407786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2"/>
          <p:cNvSpPr/>
          <p:nvPr/>
        </p:nvSpPr>
        <p:spPr>
          <a:xfrm>
            <a:off x="449060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2_06"/>
          <p:cNvSpPr/>
          <p:nvPr/>
        </p:nvSpPr>
        <p:spPr>
          <a:xfrm>
            <a:off x="2014166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2_07"/>
          <p:cNvSpPr/>
          <p:nvPr/>
        </p:nvSpPr>
        <p:spPr>
          <a:xfrm>
            <a:off x="242690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8"/>
          <p:cNvSpPr/>
          <p:nvPr/>
        </p:nvSpPr>
        <p:spPr>
          <a:xfrm>
            <a:off x="283964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9"/>
          <p:cNvSpPr/>
          <p:nvPr/>
        </p:nvSpPr>
        <p:spPr>
          <a:xfrm>
            <a:off x="325238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10"/>
          <p:cNvSpPr/>
          <p:nvPr/>
        </p:nvSpPr>
        <p:spPr>
          <a:xfrm>
            <a:off x="366512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11"/>
          <p:cNvSpPr/>
          <p:nvPr/>
        </p:nvSpPr>
        <p:spPr>
          <a:xfrm>
            <a:off x="407786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2"/>
          <p:cNvSpPr/>
          <p:nvPr/>
        </p:nvSpPr>
        <p:spPr>
          <a:xfrm>
            <a:off x="449060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3_06"/>
          <p:cNvSpPr/>
          <p:nvPr/>
        </p:nvSpPr>
        <p:spPr>
          <a:xfrm>
            <a:off x="2014166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3_07"/>
          <p:cNvSpPr/>
          <p:nvPr/>
        </p:nvSpPr>
        <p:spPr>
          <a:xfrm>
            <a:off x="242690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8"/>
          <p:cNvSpPr/>
          <p:nvPr/>
        </p:nvSpPr>
        <p:spPr>
          <a:xfrm>
            <a:off x="283964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9"/>
          <p:cNvSpPr/>
          <p:nvPr/>
        </p:nvSpPr>
        <p:spPr>
          <a:xfrm>
            <a:off x="325238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10"/>
          <p:cNvSpPr/>
          <p:nvPr/>
        </p:nvSpPr>
        <p:spPr>
          <a:xfrm>
            <a:off x="366512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11"/>
          <p:cNvSpPr/>
          <p:nvPr/>
        </p:nvSpPr>
        <p:spPr>
          <a:xfrm>
            <a:off x="407786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2"/>
          <p:cNvSpPr/>
          <p:nvPr/>
        </p:nvSpPr>
        <p:spPr>
          <a:xfrm>
            <a:off x="449060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4_06"/>
          <p:cNvSpPr/>
          <p:nvPr/>
        </p:nvSpPr>
        <p:spPr>
          <a:xfrm>
            <a:off x="2014166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4_07"/>
          <p:cNvSpPr/>
          <p:nvPr/>
        </p:nvSpPr>
        <p:spPr>
          <a:xfrm>
            <a:off x="242690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8"/>
          <p:cNvSpPr/>
          <p:nvPr/>
        </p:nvSpPr>
        <p:spPr>
          <a:xfrm>
            <a:off x="283964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9"/>
          <p:cNvSpPr/>
          <p:nvPr/>
        </p:nvSpPr>
        <p:spPr>
          <a:xfrm>
            <a:off x="325238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10"/>
          <p:cNvSpPr/>
          <p:nvPr/>
        </p:nvSpPr>
        <p:spPr>
          <a:xfrm>
            <a:off x="366512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11"/>
          <p:cNvSpPr/>
          <p:nvPr/>
        </p:nvSpPr>
        <p:spPr>
          <a:xfrm>
            <a:off x="407786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2"/>
          <p:cNvSpPr/>
          <p:nvPr/>
        </p:nvSpPr>
        <p:spPr>
          <a:xfrm>
            <a:off x="449060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5_07"/>
          <p:cNvSpPr/>
          <p:nvPr/>
        </p:nvSpPr>
        <p:spPr>
          <a:xfrm>
            <a:off x="242690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5_08"/>
          <p:cNvSpPr/>
          <p:nvPr/>
        </p:nvSpPr>
        <p:spPr>
          <a:xfrm>
            <a:off x="283964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9"/>
          <p:cNvSpPr/>
          <p:nvPr/>
        </p:nvSpPr>
        <p:spPr>
          <a:xfrm>
            <a:off x="325238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10"/>
          <p:cNvSpPr/>
          <p:nvPr/>
        </p:nvSpPr>
        <p:spPr>
          <a:xfrm>
            <a:off x="366512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11"/>
          <p:cNvSpPr/>
          <p:nvPr/>
        </p:nvSpPr>
        <p:spPr>
          <a:xfrm>
            <a:off x="407786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2"/>
          <p:cNvSpPr/>
          <p:nvPr/>
        </p:nvSpPr>
        <p:spPr>
          <a:xfrm>
            <a:off x="449060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3"/>
          <p:cNvSpPr/>
          <p:nvPr/>
        </p:nvSpPr>
        <p:spPr>
          <a:xfrm>
            <a:off x="490334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6_07"/>
          <p:cNvSpPr/>
          <p:nvPr/>
        </p:nvSpPr>
        <p:spPr>
          <a:xfrm>
            <a:off x="242690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6_08"/>
          <p:cNvSpPr/>
          <p:nvPr/>
        </p:nvSpPr>
        <p:spPr>
          <a:xfrm>
            <a:off x="283964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9"/>
          <p:cNvSpPr/>
          <p:nvPr/>
        </p:nvSpPr>
        <p:spPr>
          <a:xfrm>
            <a:off x="325238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10"/>
          <p:cNvSpPr/>
          <p:nvPr/>
        </p:nvSpPr>
        <p:spPr>
          <a:xfrm>
            <a:off x="366512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11"/>
          <p:cNvSpPr/>
          <p:nvPr/>
        </p:nvSpPr>
        <p:spPr>
          <a:xfrm>
            <a:off x="407786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2"/>
          <p:cNvSpPr/>
          <p:nvPr/>
        </p:nvSpPr>
        <p:spPr>
          <a:xfrm>
            <a:off x="449060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3"/>
          <p:cNvSpPr/>
          <p:nvPr/>
        </p:nvSpPr>
        <p:spPr>
          <a:xfrm>
            <a:off x="490334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7_07"/>
          <p:cNvSpPr/>
          <p:nvPr/>
        </p:nvSpPr>
        <p:spPr>
          <a:xfrm>
            <a:off x="242690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7_08"/>
          <p:cNvSpPr/>
          <p:nvPr/>
        </p:nvSpPr>
        <p:spPr>
          <a:xfrm>
            <a:off x="283964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9"/>
          <p:cNvSpPr/>
          <p:nvPr/>
        </p:nvSpPr>
        <p:spPr>
          <a:xfrm>
            <a:off x="325238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10"/>
          <p:cNvSpPr/>
          <p:nvPr/>
        </p:nvSpPr>
        <p:spPr>
          <a:xfrm>
            <a:off x="366512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11"/>
          <p:cNvSpPr/>
          <p:nvPr/>
        </p:nvSpPr>
        <p:spPr>
          <a:xfrm>
            <a:off x="407786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2"/>
          <p:cNvSpPr/>
          <p:nvPr/>
        </p:nvSpPr>
        <p:spPr>
          <a:xfrm>
            <a:off x="449060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3"/>
          <p:cNvSpPr/>
          <p:nvPr/>
        </p:nvSpPr>
        <p:spPr>
          <a:xfrm>
            <a:off x="490334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8_06"/>
          <p:cNvSpPr/>
          <p:nvPr/>
        </p:nvSpPr>
        <p:spPr>
          <a:xfrm>
            <a:off x="2014166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8_07"/>
          <p:cNvSpPr/>
          <p:nvPr/>
        </p:nvSpPr>
        <p:spPr>
          <a:xfrm>
            <a:off x="242690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8"/>
          <p:cNvSpPr/>
          <p:nvPr/>
        </p:nvSpPr>
        <p:spPr>
          <a:xfrm>
            <a:off x="283964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9"/>
          <p:cNvSpPr/>
          <p:nvPr/>
        </p:nvSpPr>
        <p:spPr>
          <a:xfrm>
            <a:off x="325238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10"/>
          <p:cNvSpPr/>
          <p:nvPr/>
        </p:nvSpPr>
        <p:spPr>
          <a:xfrm>
            <a:off x="366512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11"/>
          <p:cNvSpPr/>
          <p:nvPr/>
        </p:nvSpPr>
        <p:spPr>
          <a:xfrm>
            <a:off x="407786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2"/>
          <p:cNvSpPr/>
          <p:nvPr/>
        </p:nvSpPr>
        <p:spPr>
          <a:xfrm>
            <a:off x="449060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3"/>
          <p:cNvSpPr/>
          <p:nvPr/>
        </p:nvSpPr>
        <p:spPr>
          <a:xfrm>
            <a:off x="490334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9_06"/>
          <p:cNvSpPr/>
          <p:nvPr/>
        </p:nvSpPr>
        <p:spPr>
          <a:xfrm>
            <a:off x="2014166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9_07"/>
          <p:cNvSpPr/>
          <p:nvPr/>
        </p:nvSpPr>
        <p:spPr>
          <a:xfrm>
            <a:off x="242690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8"/>
          <p:cNvSpPr/>
          <p:nvPr/>
        </p:nvSpPr>
        <p:spPr>
          <a:xfrm>
            <a:off x="283964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9"/>
          <p:cNvSpPr/>
          <p:nvPr/>
        </p:nvSpPr>
        <p:spPr>
          <a:xfrm>
            <a:off x="325238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10"/>
          <p:cNvSpPr/>
          <p:nvPr/>
        </p:nvSpPr>
        <p:spPr>
          <a:xfrm>
            <a:off x="366512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11"/>
          <p:cNvSpPr/>
          <p:nvPr/>
        </p:nvSpPr>
        <p:spPr>
          <a:xfrm>
            <a:off x="407786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2"/>
          <p:cNvSpPr/>
          <p:nvPr/>
        </p:nvSpPr>
        <p:spPr>
          <a:xfrm>
            <a:off x="449060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3"/>
          <p:cNvSpPr/>
          <p:nvPr/>
        </p:nvSpPr>
        <p:spPr>
          <a:xfrm>
            <a:off x="490334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20_06"/>
          <p:cNvSpPr/>
          <p:nvPr/>
        </p:nvSpPr>
        <p:spPr>
          <a:xfrm>
            <a:off x="2014166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20_07"/>
          <p:cNvSpPr/>
          <p:nvPr/>
        </p:nvSpPr>
        <p:spPr>
          <a:xfrm>
            <a:off x="242690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8"/>
          <p:cNvSpPr/>
          <p:nvPr/>
        </p:nvSpPr>
        <p:spPr>
          <a:xfrm>
            <a:off x="283964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9"/>
          <p:cNvSpPr/>
          <p:nvPr/>
        </p:nvSpPr>
        <p:spPr>
          <a:xfrm>
            <a:off x="325238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10"/>
          <p:cNvSpPr/>
          <p:nvPr/>
        </p:nvSpPr>
        <p:spPr>
          <a:xfrm>
            <a:off x="366512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11"/>
          <p:cNvSpPr/>
          <p:nvPr/>
        </p:nvSpPr>
        <p:spPr>
          <a:xfrm>
            <a:off x="407786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2"/>
          <p:cNvSpPr/>
          <p:nvPr/>
        </p:nvSpPr>
        <p:spPr>
          <a:xfrm>
            <a:off x="449060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3"/>
          <p:cNvSpPr/>
          <p:nvPr/>
        </p:nvSpPr>
        <p:spPr>
          <a:xfrm>
            <a:off x="490334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1_05"/>
          <p:cNvSpPr/>
          <p:nvPr/>
        </p:nvSpPr>
        <p:spPr>
          <a:xfrm>
            <a:off x="160142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1_06"/>
          <p:cNvSpPr/>
          <p:nvPr/>
        </p:nvSpPr>
        <p:spPr>
          <a:xfrm>
            <a:off x="201416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7"/>
          <p:cNvSpPr/>
          <p:nvPr/>
        </p:nvSpPr>
        <p:spPr>
          <a:xfrm>
            <a:off x="242690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8"/>
          <p:cNvSpPr/>
          <p:nvPr/>
        </p:nvSpPr>
        <p:spPr>
          <a:xfrm>
            <a:off x="283964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9"/>
          <p:cNvSpPr/>
          <p:nvPr/>
        </p:nvSpPr>
        <p:spPr>
          <a:xfrm>
            <a:off x="325238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10"/>
          <p:cNvSpPr/>
          <p:nvPr/>
        </p:nvSpPr>
        <p:spPr>
          <a:xfrm>
            <a:off x="366512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11"/>
          <p:cNvSpPr/>
          <p:nvPr/>
        </p:nvSpPr>
        <p:spPr>
          <a:xfrm>
            <a:off x="407786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2"/>
          <p:cNvSpPr/>
          <p:nvPr/>
        </p:nvSpPr>
        <p:spPr>
          <a:xfrm>
            <a:off x="449060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3"/>
          <p:cNvSpPr/>
          <p:nvPr/>
        </p:nvSpPr>
        <p:spPr>
          <a:xfrm>
            <a:off x="490334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2_05"/>
          <p:cNvSpPr/>
          <p:nvPr/>
        </p:nvSpPr>
        <p:spPr>
          <a:xfrm>
            <a:off x="160142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2_06"/>
          <p:cNvSpPr/>
          <p:nvPr/>
        </p:nvSpPr>
        <p:spPr>
          <a:xfrm>
            <a:off x="201416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7"/>
          <p:cNvSpPr/>
          <p:nvPr/>
        </p:nvSpPr>
        <p:spPr>
          <a:xfrm>
            <a:off x="242690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8"/>
          <p:cNvSpPr/>
          <p:nvPr/>
        </p:nvSpPr>
        <p:spPr>
          <a:xfrm>
            <a:off x="283964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9"/>
          <p:cNvSpPr/>
          <p:nvPr/>
        </p:nvSpPr>
        <p:spPr>
          <a:xfrm>
            <a:off x="325238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10"/>
          <p:cNvSpPr/>
          <p:nvPr/>
        </p:nvSpPr>
        <p:spPr>
          <a:xfrm>
            <a:off x="366512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11"/>
          <p:cNvSpPr/>
          <p:nvPr/>
        </p:nvSpPr>
        <p:spPr>
          <a:xfrm>
            <a:off x="407786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2"/>
          <p:cNvSpPr/>
          <p:nvPr/>
        </p:nvSpPr>
        <p:spPr>
          <a:xfrm>
            <a:off x="449060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3"/>
          <p:cNvSpPr/>
          <p:nvPr/>
        </p:nvSpPr>
        <p:spPr>
          <a:xfrm>
            <a:off x="490334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3_04"/>
          <p:cNvSpPr/>
          <p:nvPr/>
        </p:nvSpPr>
        <p:spPr>
          <a:xfrm>
            <a:off x="118868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3_05"/>
          <p:cNvSpPr/>
          <p:nvPr/>
        </p:nvSpPr>
        <p:spPr>
          <a:xfrm>
            <a:off x="160142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6"/>
          <p:cNvSpPr/>
          <p:nvPr/>
        </p:nvSpPr>
        <p:spPr>
          <a:xfrm>
            <a:off x="201416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7"/>
          <p:cNvSpPr/>
          <p:nvPr/>
        </p:nvSpPr>
        <p:spPr>
          <a:xfrm>
            <a:off x="242690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8"/>
          <p:cNvSpPr/>
          <p:nvPr/>
        </p:nvSpPr>
        <p:spPr>
          <a:xfrm>
            <a:off x="283964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9"/>
          <p:cNvSpPr/>
          <p:nvPr/>
        </p:nvSpPr>
        <p:spPr>
          <a:xfrm>
            <a:off x="325238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10"/>
          <p:cNvSpPr/>
          <p:nvPr/>
        </p:nvSpPr>
        <p:spPr>
          <a:xfrm>
            <a:off x="366512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11"/>
          <p:cNvSpPr/>
          <p:nvPr/>
        </p:nvSpPr>
        <p:spPr>
          <a:xfrm>
            <a:off x="407786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2"/>
          <p:cNvSpPr/>
          <p:nvPr/>
        </p:nvSpPr>
        <p:spPr>
          <a:xfrm>
            <a:off x="449060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3"/>
          <p:cNvSpPr/>
          <p:nvPr/>
        </p:nvSpPr>
        <p:spPr>
          <a:xfrm>
            <a:off x="490334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4"/>
          <p:cNvSpPr/>
          <p:nvPr/>
        </p:nvSpPr>
        <p:spPr>
          <a:xfrm>
            <a:off x="5316083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4_04"/>
          <p:cNvSpPr/>
          <p:nvPr/>
        </p:nvSpPr>
        <p:spPr>
          <a:xfrm>
            <a:off x="118868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4_05"/>
          <p:cNvSpPr/>
          <p:nvPr/>
        </p:nvSpPr>
        <p:spPr>
          <a:xfrm>
            <a:off x="160142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6"/>
          <p:cNvSpPr/>
          <p:nvPr/>
        </p:nvSpPr>
        <p:spPr>
          <a:xfrm>
            <a:off x="201416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7"/>
          <p:cNvSpPr/>
          <p:nvPr/>
        </p:nvSpPr>
        <p:spPr>
          <a:xfrm>
            <a:off x="242690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8"/>
          <p:cNvSpPr/>
          <p:nvPr/>
        </p:nvSpPr>
        <p:spPr>
          <a:xfrm>
            <a:off x="283964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9"/>
          <p:cNvSpPr/>
          <p:nvPr/>
        </p:nvSpPr>
        <p:spPr>
          <a:xfrm>
            <a:off x="325238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10"/>
          <p:cNvSpPr/>
          <p:nvPr/>
        </p:nvSpPr>
        <p:spPr>
          <a:xfrm>
            <a:off x="366512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11"/>
          <p:cNvSpPr/>
          <p:nvPr/>
        </p:nvSpPr>
        <p:spPr>
          <a:xfrm>
            <a:off x="407786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2"/>
          <p:cNvSpPr/>
          <p:nvPr/>
        </p:nvSpPr>
        <p:spPr>
          <a:xfrm>
            <a:off x="449060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3"/>
          <p:cNvSpPr/>
          <p:nvPr/>
        </p:nvSpPr>
        <p:spPr>
          <a:xfrm>
            <a:off x="490334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4"/>
          <p:cNvSpPr/>
          <p:nvPr/>
        </p:nvSpPr>
        <p:spPr>
          <a:xfrm>
            <a:off x="5316083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5_04"/>
          <p:cNvSpPr/>
          <p:nvPr/>
        </p:nvSpPr>
        <p:spPr>
          <a:xfrm>
            <a:off x="118868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5_05"/>
          <p:cNvSpPr/>
          <p:nvPr/>
        </p:nvSpPr>
        <p:spPr>
          <a:xfrm>
            <a:off x="160142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6"/>
          <p:cNvSpPr/>
          <p:nvPr/>
        </p:nvSpPr>
        <p:spPr>
          <a:xfrm>
            <a:off x="201416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7"/>
          <p:cNvSpPr/>
          <p:nvPr/>
        </p:nvSpPr>
        <p:spPr>
          <a:xfrm>
            <a:off x="242690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8"/>
          <p:cNvSpPr/>
          <p:nvPr/>
        </p:nvSpPr>
        <p:spPr>
          <a:xfrm>
            <a:off x="283964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9"/>
          <p:cNvSpPr/>
          <p:nvPr/>
        </p:nvSpPr>
        <p:spPr>
          <a:xfrm>
            <a:off x="325238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10"/>
          <p:cNvSpPr/>
          <p:nvPr/>
        </p:nvSpPr>
        <p:spPr>
          <a:xfrm>
            <a:off x="366512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11"/>
          <p:cNvSpPr/>
          <p:nvPr/>
        </p:nvSpPr>
        <p:spPr>
          <a:xfrm>
            <a:off x="407786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2"/>
          <p:cNvSpPr/>
          <p:nvPr/>
        </p:nvSpPr>
        <p:spPr>
          <a:xfrm>
            <a:off x="449060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3"/>
          <p:cNvSpPr/>
          <p:nvPr/>
        </p:nvSpPr>
        <p:spPr>
          <a:xfrm>
            <a:off x="490334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4"/>
          <p:cNvSpPr/>
          <p:nvPr/>
        </p:nvSpPr>
        <p:spPr>
          <a:xfrm>
            <a:off x="5316083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6_03"/>
          <p:cNvSpPr/>
          <p:nvPr/>
        </p:nvSpPr>
        <p:spPr>
          <a:xfrm>
            <a:off x="775947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6_04"/>
          <p:cNvSpPr/>
          <p:nvPr/>
        </p:nvSpPr>
        <p:spPr>
          <a:xfrm>
            <a:off x="118868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5"/>
          <p:cNvSpPr/>
          <p:nvPr/>
        </p:nvSpPr>
        <p:spPr>
          <a:xfrm>
            <a:off x="160142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6"/>
          <p:cNvSpPr/>
          <p:nvPr/>
        </p:nvSpPr>
        <p:spPr>
          <a:xfrm>
            <a:off x="201416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7"/>
          <p:cNvSpPr/>
          <p:nvPr/>
        </p:nvSpPr>
        <p:spPr>
          <a:xfrm>
            <a:off x="242690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8"/>
          <p:cNvSpPr/>
          <p:nvPr/>
        </p:nvSpPr>
        <p:spPr>
          <a:xfrm>
            <a:off x="283964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9"/>
          <p:cNvSpPr/>
          <p:nvPr/>
        </p:nvSpPr>
        <p:spPr>
          <a:xfrm>
            <a:off x="325238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10"/>
          <p:cNvSpPr/>
          <p:nvPr/>
        </p:nvSpPr>
        <p:spPr>
          <a:xfrm>
            <a:off x="366512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11"/>
          <p:cNvSpPr/>
          <p:nvPr/>
        </p:nvSpPr>
        <p:spPr>
          <a:xfrm>
            <a:off x="407786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2"/>
          <p:cNvSpPr/>
          <p:nvPr/>
        </p:nvSpPr>
        <p:spPr>
          <a:xfrm>
            <a:off x="449060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3"/>
          <p:cNvSpPr/>
          <p:nvPr/>
        </p:nvSpPr>
        <p:spPr>
          <a:xfrm>
            <a:off x="490334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4"/>
          <p:cNvSpPr/>
          <p:nvPr/>
        </p:nvSpPr>
        <p:spPr>
          <a:xfrm>
            <a:off x="5316083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7_03"/>
          <p:cNvSpPr/>
          <p:nvPr/>
        </p:nvSpPr>
        <p:spPr>
          <a:xfrm>
            <a:off x="775947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7_04"/>
          <p:cNvSpPr/>
          <p:nvPr/>
        </p:nvSpPr>
        <p:spPr>
          <a:xfrm>
            <a:off x="118868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5"/>
          <p:cNvSpPr/>
          <p:nvPr/>
        </p:nvSpPr>
        <p:spPr>
          <a:xfrm>
            <a:off x="160142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6"/>
          <p:cNvSpPr/>
          <p:nvPr/>
        </p:nvSpPr>
        <p:spPr>
          <a:xfrm>
            <a:off x="201416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7"/>
          <p:cNvSpPr/>
          <p:nvPr/>
        </p:nvSpPr>
        <p:spPr>
          <a:xfrm>
            <a:off x="242690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8"/>
          <p:cNvSpPr/>
          <p:nvPr/>
        </p:nvSpPr>
        <p:spPr>
          <a:xfrm>
            <a:off x="283964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9"/>
          <p:cNvSpPr/>
          <p:nvPr/>
        </p:nvSpPr>
        <p:spPr>
          <a:xfrm>
            <a:off x="325238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10"/>
          <p:cNvSpPr/>
          <p:nvPr/>
        </p:nvSpPr>
        <p:spPr>
          <a:xfrm>
            <a:off x="366512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11"/>
          <p:cNvSpPr/>
          <p:nvPr/>
        </p:nvSpPr>
        <p:spPr>
          <a:xfrm>
            <a:off x="407786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2"/>
          <p:cNvSpPr/>
          <p:nvPr/>
        </p:nvSpPr>
        <p:spPr>
          <a:xfrm>
            <a:off x="449060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3"/>
          <p:cNvSpPr/>
          <p:nvPr/>
        </p:nvSpPr>
        <p:spPr>
          <a:xfrm>
            <a:off x="490334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4"/>
          <p:cNvSpPr/>
          <p:nvPr/>
        </p:nvSpPr>
        <p:spPr>
          <a:xfrm>
            <a:off x="5316083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8_03"/>
          <p:cNvSpPr/>
          <p:nvPr/>
        </p:nvSpPr>
        <p:spPr>
          <a:xfrm>
            <a:off x="775947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8_04"/>
          <p:cNvSpPr/>
          <p:nvPr/>
        </p:nvSpPr>
        <p:spPr>
          <a:xfrm>
            <a:off x="118868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5"/>
          <p:cNvSpPr/>
          <p:nvPr/>
        </p:nvSpPr>
        <p:spPr>
          <a:xfrm>
            <a:off x="160142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6"/>
          <p:cNvSpPr/>
          <p:nvPr/>
        </p:nvSpPr>
        <p:spPr>
          <a:xfrm>
            <a:off x="201416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7"/>
          <p:cNvSpPr/>
          <p:nvPr/>
        </p:nvSpPr>
        <p:spPr>
          <a:xfrm>
            <a:off x="242690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8"/>
          <p:cNvSpPr/>
          <p:nvPr/>
        </p:nvSpPr>
        <p:spPr>
          <a:xfrm>
            <a:off x="283964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9"/>
          <p:cNvSpPr/>
          <p:nvPr/>
        </p:nvSpPr>
        <p:spPr>
          <a:xfrm>
            <a:off x="325238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10"/>
          <p:cNvSpPr/>
          <p:nvPr/>
        </p:nvSpPr>
        <p:spPr>
          <a:xfrm>
            <a:off x="366512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11"/>
          <p:cNvSpPr/>
          <p:nvPr/>
        </p:nvSpPr>
        <p:spPr>
          <a:xfrm>
            <a:off x="407786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2"/>
          <p:cNvSpPr/>
          <p:nvPr/>
        </p:nvSpPr>
        <p:spPr>
          <a:xfrm>
            <a:off x="449060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3"/>
          <p:cNvSpPr/>
          <p:nvPr/>
        </p:nvSpPr>
        <p:spPr>
          <a:xfrm>
            <a:off x="490334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4"/>
          <p:cNvSpPr/>
          <p:nvPr/>
        </p:nvSpPr>
        <p:spPr>
          <a:xfrm>
            <a:off x="5316083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9_03"/>
          <p:cNvSpPr/>
          <p:nvPr/>
        </p:nvSpPr>
        <p:spPr>
          <a:xfrm>
            <a:off x="775947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9_04"/>
          <p:cNvSpPr/>
          <p:nvPr/>
        </p:nvSpPr>
        <p:spPr>
          <a:xfrm>
            <a:off x="118868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5"/>
          <p:cNvSpPr/>
          <p:nvPr/>
        </p:nvSpPr>
        <p:spPr>
          <a:xfrm>
            <a:off x="160142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6"/>
          <p:cNvSpPr/>
          <p:nvPr/>
        </p:nvSpPr>
        <p:spPr>
          <a:xfrm>
            <a:off x="201416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7"/>
          <p:cNvSpPr/>
          <p:nvPr/>
        </p:nvSpPr>
        <p:spPr>
          <a:xfrm>
            <a:off x="242690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8"/>
          <p:cNvSpPr/>
          <p:nvPr/>
        </p:nvSpPr>
        <p:spPr>
          <a:xfrm>
            <a:off x="283964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9"/>
          <p:cNvSpPr/>
          <p:nvPr/>
        </p:nvSpPr>
        <p:spPr>
          <a:xfrm>
            <a:off x="325238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10"/>
          <p:cNvSpPr/>
          <p:nvPr/>
        </p:nvSpPr>
        <p:spPr>
          <a:xfrm>
            <a:off x="366512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11"/>
          <p:cNvSpPr/>
          <p:nvPr/>
        </p:nvSpPr>
        <p:spPr>
          <a:xfrm>
            <a:off x="407786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2"/>
          <p:cNvSpPr/>
          <p:nvPr/>
        </p:nvSpPr>
        <p:spPr>
          <a:xfrm>
            <a:off x="449060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3"/>
          <p:cNvSpPr/>
          <p:nvPr/>
        </p:nvSpPr>
        <p:spPr>
          <a:xfrm>
            <a:off x="490334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30_03"/>
          <p:cNvSpPr/>
          <p:nvPr/>
        </p:nvSpPr>
        <p:spPr>
          <a:xfrm>
            <a:off x="775947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30_04"/>
          <p:cNvSpPr/>
          <p:nvPr/>
        </p:nvSpPr>
        <p:spPr>
          <a:xfrm>
            <a:off x="118868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5"/>
          <p:cNvSpPr/>
          <p:nvPr/>
        </p:nvSpPr>
        <p:spPr>
          <a:xfrm>
            <a:off x="160142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6"/>
          <p:cNvSpPr/>
          <p:nvPr/>
        </p:nvSpPr>
        <p:spPr>
          <a:xfrm>
            <a:off x="201416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7"/>
          <p:cNvSpPr/>
          <p:nvPr/>
        </p:nvSpPr>
        <p:spPr>
          <a:xfrm>
            <a:off x="242690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8"/>
          <p:cNvSpPr/>
          <p:nvPr/>
        </p:nvSpPr>
        <p:spPr>
          <a:xfrm>
            <a:off x="283964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9"/>
          <p:cNvSpPr/>
          <p:nvPr/>
        </p:nvSpPr>
        <p:spPr>
          <a:xfrm>
            <a:off x="325238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10"/>
          <p:cNvSpPr/>
          <p:nvPr/>
        </p:nvSpPr>
        <p:spPr>
          <a:xfrm>
            <a:off x="366512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11"/>
          <p:cNvSpPr/>
          <p:nvPr/>
        </p:nvSpPr>
        <p:spPr>
          <a:xfrm>
            <a:off x="407786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2"/>
          <p:cNvSpPr/>
          <p:nvPr/>
        </p:nvSpPr>
        <p:spPr>
          <a:xfrm>
            <a:off x="449060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3"/>
          <p:cNvSpPr/>
          <p:nvPr/>
        </p:nvSpPr>
        <p:spPr>
          <a:xfrm>
            <a:off x="490334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1_03"/>
          <p:cNvSpPr/>
          <p:nvPr/>
        </p:nvSpPr>
        <p:spPr>
          <a:xfrm>
            <a:off x="775947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1_04"/>
          <p:cNvSpPr/>
          <p:nvPr/>
        </p:nvSpPr>
        <p:spPr>
          <a:xfrm>
            <a:off x="118868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5"/>
          <p:cNvSpPr/>
          <p:nvPr/>
        </p:nvSpPr>
        <p:spPr>
          <a:xfrm>
            <a:off x="160142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6"/>
          <p:cNvSpPr/>
          <p:nvPr/>
        </p:nvSpPr>
        <p:spPr>
          <a:xfrm>
            <a:off x="201416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7"/>
          <p:cNvSpPr/>
          <p:nvPr/>
        </p:nvSpPr>
        <p:spPr>
          <a:xfrm>
            <a:off x="242690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8"/>
          <p:cNvSpPr/>
          <p:nvPr/>
        </p:nvSpPr>
        <p:spPr>
          <a:xfrm>
            <a:off x="283964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9"/>
          <p:cNvSpPr/>
          <p:nvPr/>
        </p:nvSpPr>
        <p:spPr>
          <a:xfrm>
            <a:off x="325238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10"/>
          <p:cNvSpPr/>
          <p:nvPr/>
        </p:nvSpPr>
        <p:spPr>
          <a:xfrm>
            <a:off x="366512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11"/>
          <p:cNvSpPr/>
          <p:nvPr/>
        </p:nvSpPr>
        <p:spPr>
          <a:xfrm>
            <a:off x="407786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2"/>
          <p:cNvSpPr/>
          <p:nvPr/>
        </p:nvSpPr>
        <p:spPr>
          <a:xfrm>
            <a:off x="449060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3"/>
          <p:cNvSpPr/>
          <p:nvPr/>
        </p:nvSpPr>
        <p:spPr>
          <a:xfrm>
            <a:off x="490334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2_03"/>
          <p:cNvSpPr/>
          <p:nvPr/>
        </p:nvSpPr>
        <p:spPr>
          <a:xfrm>
            <a:off x="775947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2_04"/>
          <p:cNvSpPr/>
          <p:nvPr/>
        </p:nvSpPr>
        <p:spPr>
          <a:xfrm>
            <a:off x="118868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5"/>
          <p:cNvSpPr/>
          <p:nvPr/>
        </p:nvSpPr>
        <p:spPr>
          <a:xfrm>
            <a:off x="160142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6"/>
          <p:cNvSpPr/>
          <p:nvPr/>
        </p:nvSpPr>
        <p:spPr>
          <a:xfrm>
            <a:off x="201416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7"/>
          <p:cNvSpPr/>
          <p:nvPr/>
        </p:nvSpPr>
        <p:spPr>
          <a:xfrm>
            <a:off x="242690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8"/>
          <p:cNvSpPr/>
          <p:nvPr/>
        </p:nvSpPr>
        <p:spPr>
          <a:xfrm>
            <a:off x="283964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9"/>
          <p:cNvSpPr/>
          <p:nvPr/>
        </p:nvSpPr>
        <p:spPr>
          <a:xfrm>
            <a:off x="325238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10"/>
          <p:cNvSpPr/>
          <p:nvPr/>
        </p:nvSpPr>
        <p:spPr>
          <a:xfrm>
            <a:off x="366512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11"/>
          <p:cNvSpPr/>
          <p:nvPr/>
        </p:nvSpPr>
        <p:spPr>
          <a:xfrm>
            <a:off x="407786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2"/>
          <p:cNvSpPr/>
          <p:nvPr/>
        </p:nvSpPr>
        <p:spPr>
          <a:xfrm>
            <a:off x="449060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3_03"/>
          <p:cNvSpPr/>
          <p:nvPr/>
        </p:nvSpPr>
        <p:spPr>
          <a:xfrm>
            <a:off x="775947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3_04"/>
          <p:cNvSpPr/>
          <p:nvPr/>
        </p:nvSpPr>
        <p:spPr>
          <a:xfrm>
            <a:off x="118868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5"/>
          <p:cNvSpPr/>
          <p:nvPr/>
        </p:nvSpPr>
        <p:spPr>
          <a:xfrm>
            <a:off x="160142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6"/>
          <p:cNvSpPr/>
          <p:nvPr/>
        </p:nvSpPr>
        <p:spPr>
          <a:xfrm>
            <a:off x="201416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7"/>
          <p:cNvSpPr/>
          <p:nvPr/>
        </p:nvSpPr>
        <p:spPr>
          <a:xfrm>
            <a:off x="242690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8"/>
          <p:cNvSpPr/>
          <p:nvPr/>
        </p:nvSpPr>
        <p:spPr>
          <a:xfrm>
            <a:off x="283964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9"/>
          <p:cNvSpPr/>
          <p:nvPr/>
        </p:nvSpPr>
        <p:spPr>
          <a:xfrm>
            <a:off x="325238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10"/>
          <p:cNvSpPr/>
          <p:nvPr/>
        </p:nvSpPr>
        <p:spPr>
          <a:xfrm>
            <a:off x="366512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11"/>
          <p:cNvSpPr/>
          <p:nvPr/>
        </p:nvSpPr>
        <p:spPr>
          <a:xfrm>
            <a:off x="407786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2"/>
          <p:cNvSpPr/>
          <p:nvPr/>
        </p:nvSpPr>
        <p:spPr>
          <a:xfrm>
            <a:off x="449060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4_03"/>
          <p:cNvSpPr/>
          <p:nvPr/>
        </p:nvSpPr>
        <p:spPr>
          <a:xfrm>
            <a:off x="775947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4_04"/>
          <p:cNvSpPr/>
          <p:nvPr/>
        </p:nvSpPr>
        <p:spPr>
          <a:xfrm>
            <a:off x="118868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5"/>
          <p:cNvSpPr/>
          <p:nvPr/>
        </p:nvSpPr>
        <p:spPr>
          <a:xfrm>
            <a:off x="160142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6"/>
          <p:cNvSpPr/>
          <p:nvPr/>
        </p:nvSpPr>
        <p:spPr>
          <a:xfrm>
            <a:off x="201416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7"/>
          <p:cNvSpPr/>
          <p:nvPr/>
        </p:nvSpPr>
        <p:spPr>
          <a:xfrm>
            <a:off x="242690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8"/>
          <p:cNvSpPr/>
          <p:nvPr/>
        </p:nvSpPr>
        <p:spPr>
          <a:xfrm>
            <a:off x="283964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9"/>
          <p:cNvSpPr/>
          <p:nvPr/>
        </p:nvSpPr>
        <p:spPr>
          <a:xfrm>
            <a:off x="325238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10"/>
          <p:cNvSpPr/>
          <p:nvPr/>
        </p:nvSpPr>
        <p:spPr>
          <a:xfrm>
            <a:off x="366512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11"/>
          <p:cNvSpPr/>
          <p:nvPr/>
        </p:nvSpPr>
        <p:spPr>
          <a:xfrm>
            <a:off x="4077864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5_04"/>
          <p:cNvSpPr/>
          <p:nvPr/>
        </p:nvSpPr>
        <p:spPr>
          <a:xfrm>
            <a:off x="118868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5_05"/>
          <p:cNvSpPr/>
          <p:nvPr/>
        </p:nvSpPr>
        <p:spPr>
          <a:xfrm>
            <a:off x="160142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6"/>
          <p:cNvSpPr/>
          <p:nvPr/>
        </p:nvSpPr>
        <p:spPr>
          <a:xfrm>
            <a:off x="201416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7"/>
          <p:cNvSpPr/>
          <p:nvPr/>
        </p:nvSpPr>
        <p:spPr>
          <a:xfrm>
            <a:off x="242690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8"/>
          <p:cNvSpPr/>
          <p:nvPr/>
        </p:nvSpPr>
        <p:spPr>
          <a:xfrm>
            <a:off x="283964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9"/>
          <p:cNvSpPr/>
          <p:nvPr/>
        </p:nvSpPr>
        <p:spPr>
          <a:xfrm>
            <a:off x="325238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10"/>
          <p:cNvSpPr/>
          <p:nvPr/>
        </p:nvSpPr>
        <p:spPr>
          <a:xfrm>
            <a:off x="366512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11"/>
          <p:cNvSpPr/>
          <p:nvPr/>
        </p:nvSpPr>
        <p:spPr>
          <a:xfrm>
            <a:off x="4077864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6_04"/>
          <p:cNvSpPr/>
          <p:nvPr/>
        </p:nvSpPr>
        <p:spPr>
          <a:xfrm>
            <a:off x="118868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6_05"/>
          <p:cNvSpPr/>
          <p:nvPr/>
        </p:nvSpPr>
        <p:spPr>
          <a:xfrm>
            <a:off x="160142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6"/>
          <p:cNvSpPr/>
          <p:nvPr/>
        </p:nvSpPr>
        <p:spPr>
          <a:xfrm>
            <a:off x="201416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7"/>
          <p:cNvSpPr/>
          <p:nvPr/>
        </p:nvSpPr>
        <p:spPr>
          <a:xfrm>
            <a:off x="242690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8"/>
          <p:cNvSpPr/>
          <p:nvPr/>
        </p:nvSpPr>
        <p:spPr>
          <a:xfrm>
            <a:off x="283964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9"/>
          <p:cNvSpPr/>
          <p:nvPr/>
        </p:nvSpPr>
        <p:spPr>
          <a:xfrm>
            <a:off x="325238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10"/>
          <p:cNvSpPr/>
          <p:nvPr/>
        </p:nvSpPr>
        <p:spPr>
          <a:xfrm>
            <a:off x="366512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7_04"/>
          <p:cNvSpPr/>
          <p:nvPr/>
        </p:nvSpPr>
        <p:spPr>
          <a:xfrm>
            <a:off x="118868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7_05"/>
          <p:cNvSpPr/>
          <p:nvPr/>
        </p:nvSpPr>
        <p:spPr>
          <a:xfrm>
            <a:off x="160142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6"/>
          <p:cNvSpPr/>
          <p:nvPr/>
        </p:nvSpPr>
        <p:spPr>
          <a:xfrm>
            <a:off x="201416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7"/>
          <p:cNvSpPr/>
          <p:nvPr/>
        </p:nvSpPr>
        <p:spPr>
          <a:xfrm>
            <a:off x="242690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8"/>
          <p:cNvSpPr/>
          <p:nvPr/>
        </p:nvSpPr>
        <p:spPr>
          <a:xfrm>
            <a:off x="283964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9"/>
          <p:cNvSpPr/>
          <p:nvPr/>
        </p:nvSpPr>
        <p:spPr>
          <a:xfrm>
            <a:off x="325238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INZOOMEN OP DE VOORVOET</a:t>
            </a:r>
          </a:p>
        </p:txBody>
      </p:sp>
      <p:sp>
        <p:nvSpPr>
          <p:cNvPr id="328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 de norm getoetst wordt</a:t>
            </a:r>
          </a:p>
        </p:txBody>
      </p:sp>
      <p:sp>
        <p:nvSpPr>
          <p:cNvPr id="329" name="Oval 328"/>
          <p:cNvSpPr/>
          <p:nvPr/>
        </p:nvSpPr>
        <p:spPr>
          <a:xfrm>
            <a:off x="1549361" y="5029582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1549361" y="5086730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349841" y="1904952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6349841" y="2070048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349841" y="2127196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756231" y="2044648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6768930" y="2311342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onder de grote teen — tweede meest getroffen plek</a:t>
            </a:r>
          </a:p>
        </p:txBody>
      </p:sp>
      <p:sp>
        <p:nvSpPr>
          <p:cNvPr id="336" name="Oval 335"/>
          <p:cNvSpPr/>
          <p:nvPr/>
        </p:nvSpPr>
        <p:spPr>
          <a:xfrm>
            <a:off x="2589465" y="5257414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2589465" y="5314563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349841" y="2641533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6349841" y="2806629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349841" y="2863778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756231" y="2781230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2-3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768930" y="3047923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hete plek op deze meting, en de klassieke ulcusplek</a:t>
            </a:r>
          </a:p>
        </p:txBody>
      </p:sp>
      <p:sp>
        <p:nvSpPr>
          <p:cNvPr id="343" name="Oval 342"/>
          <p:cNvSpPr/>
          <p:nvPr/>
        </p:nvSpPr>
        <p:spPr>
          <a:xfrm>
            <a:off x="4521086" y="5599163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4521086" y="5656311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6349841" y="3378115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6349841" y="3543211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6349841" y="3600359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6756231" y="3517812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4-5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768930" y="3784505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laterale voorvoet, meestal lagere druk</a:t>
            </a:r>
          </a:p>
        </p:txBody>
      </p:sp>
      <p:sp>
        <p:nvSpPr>
          <p:cNvPr id="350" name="Oval 349"/>
          <p:cNvSpPr/>
          <p:nvPr/>
        </p:nvSpPr>
        <p:spPr>
          <a:xfrm>
            <a:off x="1400774" y="2409510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1400774" y="2466659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6349841" y="4114697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349841" y="4279793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349841" y="4336941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6756231" y="4254393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Hallux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6768930" y="4521086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apart bekeken, niet meer samengeteld met de tenen</a:t>
            </a:r>
          </a:p>
        </p:txBody>
      </p:sp>
      <p:sp>
        <p:nvSpPr>
          <p:cNvPr id="357" name="Oval 356"/>
          <p:cNvSpPr/>
          <p:nvPr/>
        </p:nvSpPr>
        <p:spPr>
          <a:xfrm>
            <a:off x="3406689" y="2523426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3406689" y="2580575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6349841" y="4851278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6349841" y="5016374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6349841" y="5073523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6756231" y="4990975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Tenen 2-5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6768930" y="5257668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eigen regio sinds de laatste maskerversie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Acht regio's via Multimask · hier vijf van de voorvoet in beeld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32</a:t>
            </a:r>
          </a:p>
        </p:txBody>
      </p:sp>
      <p:pic>
        <p:nvPicPr>
          <p:cNvPr id="366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DE ZOOL ERMEE DOET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Dezelfde voet, andere verdeling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na optimalisatie — norm gehaald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Dezelfde sensoren, dezelfde patiënt. De maatzool haalt druk weg onder de metatarsaalkoppen en legt die terug in de voetboog.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Dat is de hele interventie: niet minder belasting, maar belasting op een plek die het aankan.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Illustratief voorbeeld van een drukgestuurde aanpassing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32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PARADISE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Meten én laten dragen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8977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977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Drukgestuurde optimalisatie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8977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977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&lt; 200 kPa   óf   ≥ 25% lager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77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In-shoe meting met Novel pedar, door uw team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Zool aangepast tot de norm gehaald is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Herhaald op 6 en 12 maanden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918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912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912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SEBIA — gedragsbegeleiding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5912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5912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5 stappen   ·   18 maanden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5912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Individueel, in het gewone consult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Sensordata samen bekijken, niet-veroordelend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COM-B: kennis, gelegenheid én motivatie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32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STUDIE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willekeurig verdeeld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ONTWERP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Multicentrisch · open-label · superioriteit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op 18 mnd  +  draagtijd op 12 mnd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32</a:t>
            </a:r>
          </a:p>
        </p:txBody>
      </p:sp>
      <p:pic>
        <p:nvPicPr>
          <p:cNvPr id="17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SELECTIE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komt in aanmerking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8977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8977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WÉL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IWGDF-risicocategorie 3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Genezen plantair ulcus of partiële amputatie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PEDIS-perfusie 1 of 2, stabiel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Stapt zelfstandig blootsvoets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Heeft of aanvaardt maatschoeisel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Begrijpt Nederlands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25912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5912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NIET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Kritische ischemie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Actief ulcus of Charcot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Nierfunctievervanging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Immunosuppressie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Overleving &lt; 18 maanden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32</a:t>
            </a:r>
          </a:p>
        </p:txBody>
      </p:sp>
      <p:pic>
        <p:nvPicPr>
          <p:cNvPr id="1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Negen contactmomenten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146499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379073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84850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912007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3592599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306203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312553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06124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427555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433905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601964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4890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55258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7233174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70261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76610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844669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91613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97963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9660225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912966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9193159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0854700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034318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0406684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Oval 33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6" name="Oval 35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38" name="Oval 37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0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ritme is elke drie maanden: hetzelfde ritme als de controle die deze patiënten volgens de richtlijn al krijgen.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15 / 32</a:t>
            </a:r>
          </a:p>
        </p:txBody>
      </p:sp>
      <p:pic>
        <p:nvPicPr>
          <p:cNvPr id="4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1 · VÓÓR DE EERSTE ZOOL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en baseline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45143" y="3174920"/>
            <a:ext cx="26212144" cy="45718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872779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4514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797540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4830959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3557604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3710000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7743419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6470064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6622461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10655880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9382525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9534921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13568340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12294985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12447382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16480801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15207446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15359842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19393261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18119906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1827230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22305722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21032367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2118476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25172464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23944828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24097224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Screening: risicocategorie 3, vaatstatus en of de patiënt zelfstandig stapt. Kort, en vóór de toestemming.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Baseline: drukmeting met de pedar, een week MoveMonitor mee naar huis, en het eerste SEBIA-gesprek.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2 · DE ZOOL KOMT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Maand 1 en maand 3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-5176390" y="3174920"/>
            <a:ext cx="26212144" cy="45718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-3948754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-517639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-5023994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-990575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-226393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-211153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1921885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64853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800926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34345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56099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713387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7746806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6473451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6625847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10659266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9385912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9538308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13571727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12298372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12450768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16484187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1521083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15363229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9350929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812329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8275689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Maand 1: het voorschrift voor de maatzool. Een kort bezoek, zonder meting.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Maand 3: aflevering, de Orthotimer gaat in de zool, en de meting wordt herhaald tot de norm gehaald is.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3 · DE REST VAN HET JAAR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Zes tot achttien maanden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-5429114" y="3174920"/>
            <a:ext cx="16382590" cy="2857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-4661841" y="3051098"/>
            <a:ext cx="285742" cy="285742"/>
          </a:xfrm>
          <a:prstGeom prst="ellipse">
            <a:avLst/>
          </a:prstGeom>
          <a:solidFill>
            <a:srgbClr val="FF7A0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-5429114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5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-5333866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-2812979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-3608826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5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-3513578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-992691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-1788538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-1693290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827595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1749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126996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2647883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1852037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1947284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4468171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3672324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3767572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6288459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5492612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5587860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8108747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7312900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7408148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9900460" y="3051098"/>
            <a:ext cx="285742" cy="285742"/>
          </a:xfrm>
          <a:prstGeom prst="ellipse">
            <a:avLst/>
          </a:prstGeom>
          <a:solidFill>
            <a:srgbClr val="FF7A0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133188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228435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Elke drie maanden: sensor uitlezen, batterij vervangen, SEBIA-gesprek in het gewone consult.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Op 6 en 12 maanden ook een drukmeting. Twaalf maanden is het primaire analysepunt voor de draagtijd.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146499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379073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84850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912007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3592599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306203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312553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06124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427555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433905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601964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4890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55258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7233174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70261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76610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844669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91613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97963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9660225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912966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9193159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0854700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034318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0406684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Oval 33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6" name="Oval 35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38" name="Oval 37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0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momenten, één zorgpad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verschil met vandaag zit niet in hoe vaak u de patiënt ziet, maar in wat u bij elk bezoek wéét: wat de zool doet en wat er gedragen is.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32</a:t>
            </a:r>
          </a:p>
        </p:txBody>
      </p:sp>
      <p:pic>
        <p:nvPicPr>
          <p:cNvPr id="4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SEBIA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Vijf stappen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463738"/>
            <a:ext cx="10921726" cy="1269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281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984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77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77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77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Kennis meten. Educatie op maat, met oefenen.</a:t>
            </a:r>
          </a:p>
        </p:txBody>
      </p:sp>
      <p:sp>
        <p:nvSpPr>
          <p:cNvPr id="11" name="Oval 10"/>
          <p:cNvSpPr/>
          <p:nvPr/>
        </p:nvSpPr>
        <p:spPr>
          <a:xfrm>
            <a:off x="2959026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472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2524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524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3 mnd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2524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Teach-back. Nadruk op bínnenshuis dragen.</a:t>
            </a:r>
          </a:p>
        </p:txBody>
      </p:sp>
      <p:sp>
        <p:nvSpPr>
          <p:cNvPr id="16" name="Oval 15"/>
          <p:cNvSpPr/>
          <p:nvPr/>
        </p:nvSpPr>
        <p:spPr>
          <a:xfrm>
            <a:off x="516877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5447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226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26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6 · 12 mnd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26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Zelfinschatting, dan samen de data bekijken.</a:t>
            </a:r>
          </a:p>
        </p:txBody>
      </p:sp>
      <p:sp>
        <p:nvSpPr>
          <p:cNvPr id="21" name="Oval 20"/>
          <p:cNvSpPr/>
          <p:nvPr/>
        </p:nvSpPr>
        <p:spPr>
          <a:xfrm>
            <a:off x="7378515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6421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2013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2013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9 · 15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013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Voordoen. Uitdraai vergelijken met vorige keer.</a:t>
            </a:r>
          </a:p>
        </p:txBody>
      </p:sp>
      <p:sp>
        <p:nvSpPr>
          <p:cNvPr id="26" name="Oval 25"/>
          <p:cNvSpPr/>
          <p:nvPr/>
        </p:nvSpPr>
        <p:spPr>
          <a:xfrm>
            <a:off x="958826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7396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1758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1758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18 mnd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1758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Afsluiten en resultaten delen.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32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beeld" descr="sensor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71362" y="0"/>
            <a:ext cx="19534420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000"/>
                </a:srgbClr>
              </a:gs>
              <a:gs pos="100000">
                <a:srgbClr val="04182A">
                  <a:alpha val="9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4984" y="4482987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TWEEDE COMPONENT, IN HET ECHT</a:t>
            </a:r>
          </a:p>
        </p:txBody>
      </p:sp>
      <p:sp>
        <p:nvSpPr>
          <p:cNvPr id="6" name="!!sectietitel"/>
          <p:cNvSpPr txBox="1"/>
          <p:nvPr/>
        </p:nvSpPr>
        <p:spPr>
          <a:xfrm>
            <a:off x="634984" y="4787780"/>
            <a:ext cx="9524761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2F8FC"/>
                </a:solidFill>
                <a:latin typeface="Segoe UI"/>
              </a:rPr>
              <a:t>Negen bij dertien millimeter.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4400" b="1">
                <a:solidFill>
                  <a:srgbClr val="F2F8FC"/>
                </a:solidFill>
                <a:latin typeface="Segoe UI"/>
              </a:rPr>
              <a:t>Meer merkt de patiënt niet.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32</a:t>
            </a:r>
          </a:p>
        </p:txBody>
      </p:sp>
      <p:pic>
        <p:nvPicPr>
          <p:cNvPr id="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Draadloze sensorzolen in de eigen schoen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op 6 bar,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Minstens twaalf mid-gait stappen per voet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Op de onderrug, niet waterdicht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80%-NORM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22 / 32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03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Uw 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Minder dan u vreest. Maar niet niets.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23 / 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VERDELING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doet wat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3035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46246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Podoloog</a:t>
            </a:r>
          </a:p>
        </p:txBody>
      </p:sp>
      <p:sp>
        <p:nvSpPr>
          <p:cNvPr id="7" name="Oval 6"/>
          <p:cNvSpPr/>
          <p:nvPr/>
        </p:nvSpPr>
        <p:spPr>
          <a:xfrm>
            <a:off x="3555911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21006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Voert de drukmeting uit</a:t>
            </a:r>
          </a:p>
        </p:txBody>
      </p:sp>
      <p:sp>
        <p:nvSpPr>
          <p:cNvPr id="9" name="Oval 8"/>
          <p:cNvSpPr/>
          <p:nvPr/>
        </p:nvSpPr>
        <p:spPr>
          <a:xfrm>
            <a:off x="6273643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739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Levert SEBIA</a:t>
            </a:r>
          </a:p>
        </p:txBody>
      </p:sp>
      <p:sp>
        <p:nvSpPr>
          <p:cNvPr id="11" name="Oval 10"/>
          <p:cNvSpPr/>
          <p:nvPr/>
        </p:nvSpPr>
        <p:spPr>
          <a:xfrm>
            <a:off x="8991375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6471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Leest sensoren uit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2971725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187620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Pedorthist</a:t>
            </a:r>
          </a:p>
        </p:txBody>
      </p:sp>
      <p:sp>
        <p:nvSpPr>
          <p:cNvPr id="15" name="Oval 14"/>
          <p:cNvSpPr/>
          <p:nvPr/>
        </p:nvSpPr>
        <p:spPr>
          <a:xfrm>
            <a:off x="3555911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006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de zool</a:t>
            </a:r>
          </a:p>
        </p:txBody>
      </p:sp>
      <p:sp>
        <p:nvSpPr>
          <p:cNvPr id="17" name="Oval 16"/>
          <p:cNvSpPr/>
          <p:nvPr/>
        </p:nvSpPr>
        <p:spPr>
          <a:xfrm>
            <a:off x="6273643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739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Past aan tot de norm</a:t>
            </a:r>
          </a:p>
        </p:txBody>
      </p:sp>
      <p:sp>
        <p:nvSpPr>
          <p:cNvPr id="19" name="Oval 18"/>
          <p:cNvSpPr/>
          <p:nvPr/>
        </p:nvSpPr>
        <p:spPr>
          <a:xfrm>
            <a:off x="8991375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6471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Integreert de sensor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013099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228994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Arts</a:t>
            </a:r>
          </a:p>
        </p:txBody>
      </p:sp>
      <p:sp>
        <p:nvSpPr>
          <p:cNvPr id="23" name="Oval 22"/>
          <p:cNvSpPr/>
          <p:nvPr/>
        </p:nvSpPr>
        <p:spPr>
          <a:xfrm>
            <a:off x="3555911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1006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Bevestigt geschiktheid</a:t>
            </a:r>
          </a:p>
        </p:txBody>
      </p:sp>
      <p:sp>
        <p:nvSpPr>
          <p:cNvPr id="25" name="Oval 24"/>
          <p:cNvSpPr/>
          <p:nvPr/>
        </p:nvSpPr>
        <p:spPr>
          <a:xfrm>
            <a:off x="6273643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39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Beoordeelt laesies</a:t>
            </a:r>
          </a:p>
        </p:txBody>
      </p:sp>
      <p:sp>
        <p:nvSpPr>
          <p:cNvPr id="27" name="Oval 26"/>
          <p:cNvSpPr/>
          <p:nvPr/>
        </p:nvSpPr>
        <p:spPr>
          <a:xfrm>
            <a:off x="8991375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6471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Meldt voorvallen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984" y="505447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984" y="5270368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Management</a:t>
            </a:r>
          </a:p>
        </p:txBody>
      </p:sp>
      <p:sp>
        <p:nvSpPr>
          <p:cNvPr id="31" name="Oval 30"/>
          <p:cNvSpPr/>
          <p:nvPr/>
        </p:nvSpPr>
        <p:spPr>
          <a:xfrm>
            <a:off x="3555911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21006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tijd vrij</a:t>
            </a:r>
          </a:p>
        </p:txBody>
      </p:sp>
      <p:sp>
        <p:nvSpPr>
          <p:cNvPr id="33" name="Oval 32"/>
          <p:cNvSpPr/>
          <p:nvPr/>
        </p:nvSpPr>
        <p:spPr>
          <a:xfrm>
            <a:off x="6273643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8739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Faciliteert opleiding</a:t>
            </a:r>
          </a:p>
        </p:txBody>
      </p:sp>
      <p:sp>
        <p:nvSpPr>
          <p:cNvPr id="35" name="Oval 34"/>
          <p:cNvSpPr/>
          <p:nvPr/>
        </p:nvSpPr>
        <p:spPr>
          <a:xfrm>
            <a:off x="8991375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56471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Bewaakt 24 inclusies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984" y="609584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24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77" y="4381390"/>
            <a:ext cx="634984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>
                <a:solidFill>
                  <a:srgbClr val="8FB6D0"/>
                </a:solidFill>
                <a:latin typeface="Segoe UI"/>
              </a:rPr>
              <a:t>Ook zij krijgen een drukmeting en dragen een sensor — anders kunnen we de groepen niet vergelijken. Maar die getallen blijven dicht. Bespreekt u ze, dan lévert u de interventie.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FF7A00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25 / 32</a:t>
            </a:r>
          </a:p>
        </p:txBody>
      </p:sp>
      <p:pic>
        <p:nvPicPr>
          <p:cNvPr id="1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VRAAG DIE U NIET HARDOP STELT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kost dit mij?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1676358"/>
            <a:ext cx="88897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Geen verzonnen getal. Dit komt erbij: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4984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179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DRUKMETING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179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baseline · 6 · 12 maanden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5113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SEBIA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113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in het bestaande consult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984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179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SENSOR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79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uitlezen en vervangen per bezoek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1918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5113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OPLEIDING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113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eenmalig, door ons verzorgd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984" y="4101997"/>
            <a:ext cx="10921726" cy="952476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" y="4394090"/>
            <a:ext cx="10286742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Hoeveel het wérkelijk kost, meten we. Dat is precies wat een implementatiestudie hoort te doen.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26 / 32</a:t>
            </a:r>
          </a:p>
        </p:txBody>
      </p:sp>
      <p:pic>
        <p:nvPicPr>
          <p:cNvPr id="2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RUSTPUNT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2362140"/>
            <a:ext cx="1092172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0" b="1">
                <a:solidFill>
                  <a:srgbClr val="F2F8FC"/>
                </a:solidFill>
                <a:latin typeface="Segoe UI"/>
              </a:rPr>
              <a:t>Vragen?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4444888"/>
            <a:ext cx="10921726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Voor we naar de afspraken gaan.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27 / 32</a:t>
            </a:r>
          </a:p>
        </p:txBody>
      </p:sp>
      <p:pic>
        <p:nvPicPr>
          <p:cNvPr id="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6793" y="749281"/>
            <a:ext cx="878107" cy="10159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ONDERSTEUNING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u van ons krijgt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93850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58946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Motiverende gespreksvoering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476438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Training door een psycholoog — alle centra dezelfde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2959026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984" y="3124121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Pedar en SEBIA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" y="3441613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Werkinstructie en draaiboek per handeling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984" y="3924201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984" y="4089297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REDCap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" y="4406789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Instructie plus een testomgeving om in te oefenen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984" y="4889377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984" y="5054473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Eén contactpunt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" y="5371965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nummer, één mailadres, voor alles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2812" y="1904952"/>
            <a:ext cx="4063898" cy="39496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00799" y="2044648"/>
            <a:ext cx="3047923" cy="3047923"/>
          </a:xfrm>
          <a:prstGeom prst="ellipse">
            <a:avLst/>
          </a:prstGeom>
          <a:solidFill>
            <a:srgbClr val="FF7A0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ro"/>
          <p:cNvSpPr txBox="1"/>
          <p:nvPr/>
        </p:nvSpPr>
        <p:spPr>
          <a:xfrm>
            <a:off x="7772205" y="2158946"/>
            <a:ext cx="3555911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205" y="4063898"/>
            <a:ext cx="3555911" cy="39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sancties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304" y="4584585"/>
            <a:ext cx="3428914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Wijkt u af van het protocol, dan meldt u dat. Het wordt geregistreerd, niet afgestraft.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28 / 32</a:t>
            </a:r>
          </a:p>
        </p:txBody>
      </p:sp>
      <p:pic>
        <p:nvPicPr>
          <p:cNvPr id="23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GAAT VRAGEN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Vooruitlopend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Patiënt wil de sensor niet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Dan niet geschikt. Draagtijd ís een hoofduitkomst.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1918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1918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Zool haalt de norm niet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918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We noteren wat wél bereikt is en gaan door.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Mag ik nog adviseren?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977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Alles wat u vandaag doet, blijft u doen.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1918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1918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Wij zijn niet academisch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1918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912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Drie van de zes centra ook niet. Dat wordt getoetst.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Onze data?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977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Gepseudonimiseerd, tien jaar, binnen de toestemming.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1918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1918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Zien wij resultaten?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1918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5912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publicatie, ongeacht de uitkomst.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29 / 32</a:t>
            </a:r>
          </a:p>
        </p:txBody>
      </p:sp>
      <p:pic>
        <p:nvPicPr>
          <p:cNvPr id="3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AFSPRAAK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Vier dingen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10921726" cy="394960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281" y="2133546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4425" y="2133546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deelnemers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7125" y="2552636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over twaalf maanden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6773" y="2920926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281" y="3086022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4425" y="3086022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vaste 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125" y="3505112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plus gedelegeerd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6773" y="3873403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281" y="4038499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10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4425" y="4038499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looppad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7125" y="4457588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meer ruimte is niet nodig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6773" y="4825879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281" y="4990975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4425" y="4990975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dagboek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125" y="5410064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voor de procesevaluatie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30 / 32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34984" y="1904952"/>
            <a:ext cx="7619809" cy="1460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>
                <a:solidFill>
                  <a:srgbClr val="F2F8FC"/>
                </a:solidFill>
                <a:latin typeface="Segoe UI"/>
              </a:rPr>
              <a:t>Doe mee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383" y="3594010"/>
            <a:ext cx="8889777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>
                <a:solidFill>
                  <a:srgbClr val="52BDEC"/>
                </a:solidFill>
                <a:latin typeface="Segoe UI Light"/>
              </a:rPr>
              <a:t>PARADISE start zodra de goedkeuringen binnen zijn.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554976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4984" y="5714857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uleuv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380" y="5822804"/>
            <a:ext cx="1381100" cy="3936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574870" y="5714857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267" y="5822804"/>
            <a:ext cx="1116092" cy="3936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49749" y="5765655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2449" y="60196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6489537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  <p:pic>
        <p:nvPicPr>
          <p:cNvPr id="13" name="merk" descr="me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0074" y="2031949"/>
            <a:ext cx="1920860" cy="22224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REDCap,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32 / 32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