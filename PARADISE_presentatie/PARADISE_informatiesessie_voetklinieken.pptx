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Begin staand, zonder klikken. Laat de dia drie tellen staan voor u praat. De drie tegels zijn het enige wat ze hoeven onthouden.</a:t>
            </a:r>
          </a:p>
          <a:p/>
          <a:p>
            <a:r>
              <a:t>INTERACTIE</a:t>
            </a:r>
          </a:p>
          <a:p>
            <a:r>
              <a:t>Vraag bij binnenkomst: "wie heeft deze week een recidief gezien?" Handen in de lucht. Dat is uw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 zaal kiezen. Dit is geen lineaire deck. Wie kiest, luistert beter.</a:t>
            </a:r>
          </a:p>
          <a:p/>
          <a:p>
            <a:r>
              <a:t>INTERACTIE</a:t>
            </a:r>
          </a:p>
          <a:p>
            <a:r>
              <a:t>Handopsteking of Mentimeter. Begin met het blok dat wint.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het getal even alleen staan. Zeg dan pas: "dit is uw eigen praktijk."</a:t>
            </a:r>
          </a:p>
          <a:p/>
          <a:p>
            <a:r>
              <a:t>INTERACTIE</a:t>
            </a:r>
          </a:p>
          <a:p>
            <a:r>
              <a:t>Morph vanaf de sectiedia: het cijfer groeit uit de titel.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eerst links aan, laat het bezinken, wijs dan rechts. De punchline zegt u, niet de dia.</a:t>
            </a:r>
          </a:p>
          <a:p/>
          <a:p>
            <a:r>
              <a:t>INTERACTIE</a:t>
            </a:r>
          </a:p>
          <a:p>
            <a:r>
              <a:t>Morph: beide blokken schuiven uit het midden uit elkaar.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venijn zit in de derde tegel: binnen zetten ze méér stappen dan buiten.</a:t>
            </a:r>
          </a:p>
          <a:p/>
          <a:p>
            <a:r>
              <a:t>INTERACTIE</a:t>
            </a:r>
          </a:p>
          <a:p>
            <a:r>
              <a:t>Vraag: "wat schat u dat úw patiënten halen?" Laat ze roepen voor u klikt.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Teken het maalteken in de lucht. Product, niet som — dat is het hele punt.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de rode plek aan. Zeg er niets bij. Klik dan pas door.</a:t>
            </a:r>
          </a:p>
          <a:p/>
          <a:p>
            <a:r>
              <a:t>INTERACTIE</a:t>
            </a:r>
          </a:p>
          <a:p>
            <a:r>
              <a:t>Vraag: "waar verwacht u de piek?" Laat ze wijzen voor u de dia toont.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morph waar het om draait: de hete plek koelt af terwijl de voetboog oplicht. Klik traag en zwijg tot de animatie klaar is.</a:t>
            </a:r>
          </a:p>
          <a:p/>
          <a:p>
            <a:r>
              <a:t>INTERACTIE</a:t>
            </a:r>
          </a:p>
          <a:p>
            <a:r>
              <a:t>Vraag daarna: "en hoe weet u of hij hem draagt?" Dat is de brug naar de tweede component.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 "óf". Twee wegen naar dezelfde norm, geen dubbele eis.</a:t>
            </a:r>
          </a:p>
          <a:p/>
          <a:p>
            <a:r>
              <a:t>INTERACTIE</a:t>
            </a:r>
          </a:p>
          <a:p>
            <a:r>
              <a:t>Morph: de twee blokken kantelen naar voren.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laatste tegel is de belangrijkste: wij hebben twee eindpunten nodig, niet één. Dat maakt de lat hoog en dat weten we.</a:t>
            </a:r>
          </a:p>
          <a:p/>
          <a:p>
            <a:r>
              <a:t>INTERACTIE</a:t>
            </a:r>
          </a:p>
          <a:p>
            <a:r>
              <a:t>Geen. Laat ze lezen.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Loop niet elk criterium af. Zeg: "categorie 3, vaatstatus in orde, spreekt Nederlands" — de rest staat op papier.</a:t>
            </a:r>
          </a:p>
          <a:p/>
          <a:p>
            <a:r>
              <a:t>INTERACTIE</a:t>
            </a:r>
          </a:p>
          <a:p>
            <a:r>
              <a:t>Deel de screeningskaart uit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uw belangrijkste geruststelling. Zeg het traag. Klik daarna door: de tijdlijn zoomt in op elke fase en komt op het eind weer terug.</a:t>
            </a:r>
          </a:p>
          <a:p/>
          <a:p>
            <a:r>
              <a:t>INTERACTIE</a:t>
            </a:r>
          </a:p>
          <a:p>
            <a:r>
              <a:t>Vraag voor u inzoomt: "welke fase kost ú het meeste tijd?" Zoom dan als eerste naar die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 dat de screening vóór de toestemming gebeurt en dus kort is.</a:t>
            </a:r>
          </a:p>
          <a:p/>
          <a:p>
            <a:r>
              <a:t>INTERACTIE</a:t>
            </a:r>
          </a:p>
          <a:p>
            <a:r>
              <a:t>Morph: de camera zoomt in op de eerste twee stippen.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Hier zit het meeste werk voor de pedorthist. Kijk hem of haar aan.</a:t>
            </a:r>
          </a:p>
          <a:p/>
          <a:p>
            <a:r>
              <a:t>INTERACTIE</a:t>
            </a:r>
          </a:p>
          <a:p>
            <a:r>
              <a:t>Vraag aan de pedorthist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Benadruk: uitlezen en vervangen kan alleen ter plaatse, dus koppel het aan een bezoek dat toch al gepland is.</a:t>
            </a:r>
          </a:p>
          <a:p/>
          <a:p>
            <a:r>
              <a:t>INTERACTIE</a:t>
            </a:r>
          </a:p>
          <a:p>
            <a:r>
              <a:t>Morph: de camera trekt terug en toont de hele staart.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dezelfde dia als het begin van het blok. De zaal herkent hem, en dat is precies het effect dat u wilt.</a:t>
            </a:r>
          </a:p>
          <a:p/>
          <a:p>
            <a:r>
              <a:t>INTERACTIE</a:t>
            </a:r>
          </a:p>
          <a:p>
            <a:r>
              <a:t>Laat hem staan tijdens de vragen over het traject.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Stap 3 is het hart: eerst láát u hem schatten, dán toont u de data.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Kijk elke groep aan bij hun kolom. Namen noemen als u ze kent.</a:t>
            </a:r>
          </a:p>
          <a:p/>
          <a:p>
            <a:r>
              <a:t>INTERACTIE</a:t>
            </a:r>
          </a:p>
          <a:p>
            <a:r>
              <a:t>Vraag per kolom: "herkenbaar, of mis ik iets?"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Wees hier eerlijk. Als u een getal verzint dat niet klopt, bent u ze kwijt.</a:t>
            </a:r>
          </a:p>
          <a:p/>
          <a:p>
            <a:r>
              <a:t>INTERACTIE</a:t>
            </a:r>
          </a:p>
          <a:p>
            <a:r>
              <a:t>Poll: "hoeveel minuten schat u?" Noteer de spreiding en kom er na zes maanden op terug.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Plan hier vijf minuten. Als er geen vragen komen, stel er zelf één: "wat lijkt u het lastigst?"</a:t>
            </a:r>
          </a:p>
          <a:p/>
          <a:p>
            <a:r>
              <a:t>INTERACTIE</a:t>
            </a:r>
          </a:p>
          <a:p>
            <a:r>
              <a:t>Open moment. Noteer wat er komt — het voedt de procesevaluatie.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cijfer rechts ontspant de zaal. Zeg het expliciet en wacht even.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Sla over wat al gevraagd is. Deze dia is een vangnet, geen programma.</a:t>
            </a:r>
          </a:p>
          <a:p/>
          <a:p>
            <a:r>
              <a:t>INTERACTIE</a:t>
            </a:r>
          </a:p>
          <a:p>
            <a:r>
              <a:t>Toon hem alleen als de vragen opdrogen.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Eindig hier als u tijd tekortkomt. Dit is de dia die telt.</a:t>
            </a:r>
          </a:p>
          <a:p/>
          <a:p>
            <a:r>
              <a:t>INTERACTIE</a:t>
            </a:r>
          </a:p>
          <a:p>
            <a:r>
              <a:t>Vraag ter plekke of het haalbaar lijkt. Twijfel nu is beter dan uitval straks.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staan tijdens het napraten. Contactgegevens moeten zichtbaar blijven terwijl mensen naar u toe komen.</a:t>
            </a:r>
          </a:p>
          <a:p/>
          <a:p>
            <a:r>
              <a:t>INTERACTIE</a:t>
            </a:r>
          </a:p>
          <a:p>
            <a:r>
              <a:t>Deel de eenpager uit. Vraag wie een inclusiekandidaat in gedachten heeft.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4984" y="952476"/>
            <a:ext cx="10921726" cy="2984425"/>
          </a:xfrm>
          <a:prstGeom prst="roundRect">
            <a:avLst>
              <a:gd name="adj" fmla="val 4500"/>
            </a:avLst>
          </a:prstGeom>
          <a:solidFill>
            <a:srgbClr val="16242F">
              <a:alpha val="60000"/>
            </a:srgbClr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952476" y="1308067"/>
            <a:ext cx="8889777" cy="1714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1000" b="1">
                <a:solidFill>
                  <a:srgbClr val="F4F8FB"/>
                </a:solidFill>
                <a:latin typeface="Segoe UI"/>
              </a:rPr>
              <a:t>PARADISE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75" y="2806629"/>
            <a:ext cx="761980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2BB9AD"/>
                </a:solidFill>
                <a:latin typeface="Segoe UI"/>
              </a:rPr>
              <a:t>Druk. Trouw. Educatie.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75" y="3505112"/>
            <a:ext cx="825479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3A9BA"/>
                </a:solidFill>
                <a:latin typeface="Segoe UI Light"/>
              </a:rPr>
              <a:t>Eén zorgpad tegen het recidief van de diabetische voet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4984" y="4216294"/>
            <a:ext cx="3538893" cy="1333466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878" y="4432189"/>
            <a:ext cx="315790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2BB9AD"/>
                </a:solidFill>
                <a:latin typeface="Segoe UI"/>
              </a:rPr>
              <a:t>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578" y="514337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93A9BA"/>
                </a:solidFill>
                <a:latin typeface="Consolas"/>
              </a:rPr>
              <a:t>DEELNEMERS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6273" y="4216294"/>
            <a:ext cx="3538893" cy="1333466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2168" y="4432189"/>
            <a:ext cx="315790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2BB9AD"/>
                </a:solidFill>
                <a:latin typeface="Segoe U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4868" y="514337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93A9BA"/>
                </a:solidFill>
                <a:latin typeface="Consolas"/>
              </a:rPr>
              <a:t>VOETKLINIEKEN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4216294"/>
            <a:ext cx="3538893" cy="1333466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33458" y="4432189"/>
            <a:ext cx="315790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2BB9AD"/>
                </a:solidFill>
                <a:latin typeface="Segoe UI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6157" y="514337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93A9BA"/>
                </a:solidFill>
                <a:latin typeface="Consolas"/>
              </a:rPr>
              <a:t>MAANDEN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9BA"/>
                </a:solidFill>
                <a:latin typeface="Consolas"/>
              </a:rPr>
              <a:t>Informatiesessie · KU Leuven · prof. dr. Kevin Deschamps · FWO T000226N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DEZE SESSIE IS MODULAIR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Waar wilt u beginnen?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2BB9AD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4F8FB"/>
                </a:solidFill>
                <a:latin typeface="Segoe UI"/>
              </a:rPr>
              <a:t>Het probleem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79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Waarom betere zolen niet volstaan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3451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946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2BB9AD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946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4F8FB"/>
                </a:solidFill>
                <a:latin typeface="Segoe UI"/>
              </a:rPr>
              <a:t>De interventie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946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Wat we precies gaan doen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1918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2413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2BB9AD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413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4F8FB"/>
                </a:solidFill>
                <a:latin typeface="Segoe UI"/>
              </a:rPr>
              <a:t>Uw 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413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Wat er dinsdagmiddag verandert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0385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0881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2BB9AD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0881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4F8FB"/>
                </a:solidFill>
                <a:latin typeface="Segoe UI"/>
              </a:rPr>
              <a:t>De afspraak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0881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Wat we van uw kliniek vragen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02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2BB9AD"/>
                </a:solidFill>
                <a:latin typeface="Segoe UI"/>
              </a:rPr>
              <a:t>01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4F8FB"/>
                </a:solidFill>
                <a:latin typeface="Segoe UI"/>
              </a:rPr>
              <a:t>Het probleem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93A9BA"/>
                </a:solidFill>
                <a:latin typeface="Segoe UI Light"/>
              </a:rPr>
              <a:t>Genezing is geen eindpunt. Het is een pauze.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03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E4674E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E4674E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E4674E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4F8FB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4F8FB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4F8FB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93A9BA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4F8FB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93A9BA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4F8FB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93A9BA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9BA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04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Het lag niet aan de zool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4F8FB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3A9BA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3A9BA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E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93A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93A9BA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3A9BA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E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E4674E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4674E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4F8FB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3A9BA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3A9BA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E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93A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93A9BA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3A9BA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E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BB9AD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BB9AD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7" y="5930751"/>
            <a:ext cx="584185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400" b="1">
                <a:solidFill>
                  <a:srgbClr val="F4F8FB"/>
                </a:solidFill>
                <a:latin typeface="Segoe UI"/>
              </a:rPr>
              <a:t>De interventie werkte. Bij de 46% die hem aandeed.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9BA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05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E0A33D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E0A33D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E0A33D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4F8FB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4F8FB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93A9BA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E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E0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4F8FB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E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E0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4F8FB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E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E0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4F8FB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4F8FB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9BA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06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4F8FB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4F8FB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B1622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93A9BA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4F8FB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22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93A9BA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93A9BA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4F8FB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B1622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93A9BA"/>
                </a:solidFill>
                <a:latin typeface="Segoe UI"/>
              </a:rPr>
              <a:t>Eén factor op nul maakt het product nul. Daarom sturen we er twee bij.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07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2BB9AD"/>
                </a:solidFill>
                <a:latin typeface="Segoe UI"/>
              </a:rPr>
              <a:t>02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4F8FB"/>
                </a:solidFill>
                <a:latin typeface="Segoe UI"/>
              </a:rPr>
              <a:t>De interventie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93A9BA"/>
                </a:solidFill>
                <a:latin typeface="Segoe UI Light"/>
              </a:rPr>
              <a:t>Twee componenten. Bovenop wat u al doet.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08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WAT U ZIET BIJ DE METING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8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8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D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A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A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7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9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AA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AA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A1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A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4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3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0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A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4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7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6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6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6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7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6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B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9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4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B2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A6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A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8FC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CB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8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A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9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ABB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6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BA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3B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E0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ADB5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EB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EB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E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B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6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A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6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7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14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142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15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15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15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152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16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163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16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74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84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84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84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95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959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95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A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A6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1B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1B7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1C7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1E8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208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21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239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259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26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28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2AB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2FB9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3BB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47B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53B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5FB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6BB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78B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84B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90C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9BB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A7B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B2B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BD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C9A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D4A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E0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E1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E19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E28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E28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E37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E37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E46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E86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ED5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F15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F6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FA4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F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3A9BA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3A9BA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3A9BA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3A9BA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E4674E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E4674E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4F8FB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22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E0A33D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93A9BA"/>
                </a:solidFill>
                <a:latin typeface="Segoe UI"/>
              </a:rPr>
              <a:t>Dit is een echte in-shoe meting: honderden sensoren onder de voet, elk met hun eigen piekdruk over minstens twaalf mid-gait stappen.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93A9BA"/>
                </a:solidFill>
                <a:latin typeface="Segoe UI"/>
              </a:rPr>
              <a:t>De hete plek ligt waar de meeste plantaire ulcera ontstaan. Deze patiënt zit ruim boven de norm.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9BA"/>
                </a:solidFill>
                <a:latin typeface="Consolas"/>
              </a:rPr>
              <a:t>Novel pedar · in-shoe · piekdruk per regio via Multimask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09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WAT DE ZOOL ERMEE DOET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Dezelfde voet, andere verdeling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7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6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6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7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E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8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8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6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8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7F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9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4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E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C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B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6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6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6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5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9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D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7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6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7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B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E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7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A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5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8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6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A1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6E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76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A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A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8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9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8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9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7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76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6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5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5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7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7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5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5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46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6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14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142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15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15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15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152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16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163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16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17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173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74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845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84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84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95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959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95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A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A6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1B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1B7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1C7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1E8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208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21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239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259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26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28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2AB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2FB9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3BB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47B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53B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5FB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6BB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78B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84B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90C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9BB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A7B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B2B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BD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C9A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D4A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E0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E1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E19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E28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E28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E37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E37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E46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E86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ED5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F15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F64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FA4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F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3A9BA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3A9BA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3A9BA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3A9BA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2BB9AD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2BB9AD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4F8FB"/>
                </a:solidFill>
                <a:latin typeface="Segoe UI"/>
              </a:rPr>
              <a:t>piekdruk na optimalisatie — norm gehaald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22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E0A33D"/>
                </a:solidFill>
                <a:latin typeface="Consolas"/>
              </a:rPr>
              <a:t>40% lager  ·  onder 200 kPa  ·  beide criteria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93A9BA"/>
                </a:solidFill>
                <a:latin typeface="Segoe UI"/>
              </a:rPr>
              <a:t>Dezelfde sensoren, dezelfde patiënt. De maatzool haalt druk weg onder de metatarsaalkoppen en legt die terug in de voetboog.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93A9BA"/>
                </a:solidFill>
                <a:latin typeface="Segoe UI"/>
              </a:rPr>
              <a:t>Dat is de hele interventie: niet minder belasting, maar belasting op een plek die het aankan.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9BA"/>
                </a:solidFill>
                <a:latin typeface="Consolas"/>
              </a:rPr>
              <a:t>Illustratief voorbeeld van een drukgestuurde aanpassing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10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PARADISE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Meten én laten dragen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8977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BB9AD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977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4F8FB"/>
                </a:solidFill>
                <a:latin typeface="Segoe UI"/>
              </a:rPr>
              <a:t>Drukgestuurde optimalisatie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977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22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977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2BB9AD"/>
                </a:solidFill>
                <a:latin typeface="Consolas"/>
              </a:rPr>
              <a:t>&lt; 200 kPa   óf   ≥ 25% lager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77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In-shoe meting met Novel pedar, door uw team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Zool aangepast tot de norm gehaald is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Herhaald op 6 en 12 maanden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912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BB9AD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912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4F8FB"/>
                </a:solidFill>
                <a:latin typeface="Segoe UI"/>
              </a:rPr>
              <a:t>SEBIA — gedragsbegeleiding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5912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22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5912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2BB9AD"/>
                </a:solidFill>
                <a:latin typeface="Consolas"/>
              </a:rPr>
              <a:t>5 stappen   ·   18 maanden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912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Individueel, in het gewone consult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Sensordata samen bekijken, niet-veroordelend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93A9BA"/>
                </a:solidFill>
                <a:latin typeface="Segoe UI"/>
              </a:rPr>
              <a:t>COM-B: kennis, gelegenheid én motivatie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11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DE STUDIE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144 patiënten, willekeurig verdeeld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2BB9AD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E4674E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4F8FB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4F8FB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848003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975000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ONTWERP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216294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4F8FB"/>
                </a:solidFill>
                <a:latin typeface="Segoe UI"/>
              </a:rPr>
              <a:t>Multicentrisch · open-label · superioriteit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848003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975000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216294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4F8FB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686182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813179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5054473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4F8FB"/>
                </a:solidFill>
                <a:latin typeface="Segoe UI"/>
              </a:rPr>
              <a:t>Recidief op 18 mnd  +  draagtijd op 12 mnd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686182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813179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2BB9AD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5054473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4F8FB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12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SELECTIE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Wie komt in aanmerking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8977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8977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B1622"/>
                </a:solidFill>
                <a:latin typeface="Consolas"/>
              </a:rPr>
              <a:t>WÉL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IWGDF-risicocategorie 3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93A9BA"/>
                </a:solidFill>
                <a:latin typeface="Segoe UI"/>
              </a:rPr>
              <a:t>Genezen plantair ulcus of partiële amputatie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93A9BA"/>
                </a:solidFill>
                <a:latin typeface="Segoe UI"/>
              </a:rPr>
              <a:t>PEDIS-perfusie 1 of 2, stabiel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93A9BA"/>
                </a:solidFill>
                <a:latin typeface="Segoe UI"/>
              </a:rPr>
              <a:t>Stapt zelfstandig blootsvoets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93A9BA"/>
                </a:solidFill>
                <a:latin typeface="Segoe UI"/>
              </a:rPr>
              <a:t>Heeft of aanvaardt maatschoeisel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93A9BA"/>
                </a:solidFill>
                <a:latin typeface="Segoe UI"/>
              </a:rPr>
              <a:t>Begrijpt Nederlands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25912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E4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5912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B1622"/>
                </a:solidFill>
                <a:latin typeface="Consolas"/>
              </a:rPr>
              <a:t>NIET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Kritische ischemie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93A9BA"/>
                </a:solidFill>
                <a:latin typeface="Segoe UI"/>
              </a:rPr>
              <a:t>Actief ulcus of Charcot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93A9BA"/>
                </a:solidFill>
                <a:latin typeface="Segoe UI"/>
              </a:rPr>
              <a:t>Nierfunctievervanging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93A9BA"/>
                </a:solidFill>
                <a:latin typeface="Segoe UI"/>
              </a:rPr>
              <a:t>Immunosuppressie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93A9BA"/>
                </a:solidFill>
                <a:latin typeface="Segoe UI"/>
              </a:rPr>
              <a:t>Overleving &lt; 18 maanden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13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Negen momenten, twee nieuw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16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3047923"/>
            <a:ext cx="10921726" cy="19049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133799" y="2952676"/>
            <a:ext cx="215894" cy="215894"/>
          </a:xfrm>
          <a:prstGeom prst="ellipse">
            <a:avLst/>
          </a:prstGeom>
          <a:solidFill>
            <a:srgbClr val="E0A33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E0A33D"/>
                </a:solidFill>
                <a:latin typeface="Consolas"/>
              </a:rPr>
              <a:t>Screen</a:t>
            </a:r>
          </a:p>
        </p:txBody>
      </p:sp>
      <p:sp>
        <p:nvSpPr>
          <p:cNvPr id="9" name="!!nieuw0"/>
          <p:cNvSpPr txBox="1"/>
          <p:nvPr/>
        </p:nvSpPr>
        <p:spPr>
          <a:xfrm>
            <a:off x="634984" y="2616134"/>
            <a:ext cx="1213525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spc="160">
                <a:solidFill>
                  <a:srgbClr val="E0A33D"/>
                </a:solidFill>
                <a:latin typeface="Consolas"/>
              </a:rPr>
              <a:t>NIEUW</a:t>
            </a:r>
          </a:p>
        </p:txBody>
      </p:sp>
      <p:sp>
        <p:nvSpPr>
          <p:cNvPr id="10" name="!!taak0"/>
          <p:cNvSpPr txBox="1"/>
          <p:nvPr/>
        </p:nvSpPr>
        <p:spPr>
          <a:xfrm>
            <a:off x="698482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geschiktheid</a:t>
            </a:r>
          </a:p>
        </p:txBody>
      </p:sp>
      <p:sp>
        <p:nvSpPr>
          <p:cNvPr id="11" name="!!stip1"/>
          <p:cNvSpPr/>
          <p:nvPr/>
        </p:nvSpPr>
        <p:spPr>
          <a:xfrm>
            <a:off x="2379073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aand1"/>
          <p:cNvSpPr txBox="1"/>
          <p:nvPr/>
        </p:nvSpPr>
        <p:spPr>
          <a:xfrm>
            <a:off x="1848509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Base</a:t>
            </a:r>
          </a:p>
        </p:txBody>
      </p:sp>
      <p:sp>
        <p:nvSpPr>
          <p:cNvPr id="13" name="!!taak1"/>
          <p:cNvSpPr txBox="1"/>
          <p:nvPr/>
        </p:nvSpPr>
        <p:spPr>
          <a:xfrm>
            <a:off x="1912007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14" name="!!stip2"/>
          <p:cNvSpPr/>
          <p:nvPr/>
        </p:nvSpPr>
        <p:spPr>
          <a:xfrm>
            <a:off x="3560849" y="2952676"/>
            <a:ext cx="215894" cy="215894"/>
          </a:xfrm>
          <a:prstGeom prst="ellipse">
            <a:avLst/>
          </a:prstGeom>
          <a:solidFill>
            <a:srgbClr val="E0A33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aand2"/>
          <p:cNvSpPr txBox="1"/>
          <p:nvPr/>
        </p:nvSpPr>
        <p:spPr>
          <a:xfrm>
            <a:off x="3062034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E0A33D"/>
                </a:solidFill>
                <a:latin typeface="Consolas"/>
              </a:rPr>
              <a:t>1</a:t>
            </a:r>
          </a:p>
        </p:txBody>
      </p:sp>
      <p:sp>
        <p:nvSpPr>
          <p:cNvPr id="16" name="!!nieuw2"/>
          <p:cNvSpPr txBox="1"/>
          <p:nvPr/>
        </p:nvSpPr>
        <p:spPr>
          <a:xfrm>
            <a:off x="3062034" y="2616134"/>
            <a:ext cx="1213525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spc="160">
                <a:solidFill>
                  <a:srgbClr val="E0A33D"/>
                </a:solidFill>
                <a:latin typeface="Consolas"/>
              </a:rPr>
              <a:t>NIEUW</a:t>
            </a:r>
          </a:p>
        </p:txBody>
      </p:sp>
      <p:sp>
        <p:nvSpPr>
          <p:cNvPr id="17" name="!!taak2"/>
          <p:cNvSpPr txBox="1"/>
          <p:nvPr/>
        </p:nvSpPr>
        <p:spPr>
          <a:xfrm>
            <a:off x="3125532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voorschrift</a:t>
            </a:r>
          </a:p>
        </p:txBody>
      </p:sp>
      <p:sp>
        <p:nvSpPr>
          <p:cNvPr id="18" name="!!stip3"/>
          <p:cNvSpPr/>
          <p:nvPr/>
        </p:nvSpPr>
        <p:spPr>
          <a:xfrm>
            <a:off x="4806124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aand3"/>
          <p:cNvSpPr txBox="1"/>
          <p:nvPr/>
        </p:nvSpPr>
        <p:spPr>
          <a:xfrm>
            <a:off x="4275559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3</a:t>
            </a:r>
          </a:p>
        </p:txBody>
      </p:sp>
      <p:sp>
        <p:nvSpPr>
          <p:cNvPr id="20" name="!!taak3"/>
          <p:cNvSpPr txBox="1"/>
          <p:nvPr/>
        </p:nvSpPr>
        <p:spPr>
          <a:xfrm>
            <a:off x="4339058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zool + sensor</a:t>
            </a:r>
          </a:p>
        </p:txBody>
      </p:sp>
      <p:sp>
        <p:nvSpPr>
          <p:cNvPr id="21" name="!!stip4"/>
          <p:cNvSpPr/>
          <p:nvPr/>
        </p:nvSpPr>
        <p:spPr>
          <a:xfrm>
            <a:off x="6019649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aand4"/>
          <p:cNvSpPr txBox="1"/>
          <p:nvPr/>
        </p:nvSpPr>
        <p:spPr>
          <a:xfrm>
            <a:off x="5489084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6</a:t>
            </a:r>
          </a:p>
        </p:txBody>
      </p:sp>
      <p:sp>
        <p:nvSpPr>
          <p:cNvPr id="23" name="!!taak4"/>
          <p:cNvSpPr txBox="1"/>
          <p:nvPr/>
        </p:nvSpPr>
        <p:spPr>
          <a:xfrm>
            <a:off x="5552583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24" name="!!stip5"/>
          <p:cNvSpPr/>
          <p:nvPr/>
        </p:nvSpPr>
        <p:spPr>
          <a:xfrm>
            <a:off x="7233174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aand5"/>
          <p:cNvSpPr txBox="1"/>
          <p:nvPr/>
        </p:nvSpPr>
        <p:spPr>
          <a:xfrm>
            <a:off x="6702610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9</a:t>
            </a:r>
          </a:p>
        </p:txBody>
      </p:sp>
      <p:sp>
        <p:nvSpPr>
          <p:cNvPr id="26" name="!!taak5"/>
          <p:cNvSpPr txBox="1"/>
          <p:nvPr/>
        </p:nvSpPr>
        <p:spPr>
          <a:xfrm>
            <a:off x="6766108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controle</a:t>
            </a:r>
          </a:p>
        </p:txBody>
      </p:sp>
      <p:sp>
        <p:nvSpPr>
          <p:cNvPr id="27" name="!!stip6"/>
          <p:cNvSpPr/>
          <p:nvPr/>
        </p:nvSpPr>
        <p:spPr>
          <a:xfrm>
            <a:off x="8446699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aand6"/>
          <p:cNvSpPr txBox="1"/>
          <p:nvPr/>
        </p:nvSpPr>
        <p:spPr>
          <a:xfrm>
            <a:off x="7916135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12</a:t>
            </a:r>
          </a:p>
        </p:txBody>
      </p:sp>
      <p:sp>
        <p:nvSpPr>
          <p:cNvPr id="29" name="!!taak6"/>
          <p:cNvSpPr txBox="1"/>
          <p:nvPr/>
        </p:nvSpPr>
        <p:spPr>
          <a:xfrm>
            <a:off x="7979633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30" name="!!stip7"/>
          <p:cNvSpPr/>
          <p:nvPr/>
        </p:nvSpPr>
        <p:spPr>
          <a:xfrm>
            <a:off x="9660225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aand7"/>
          <p:cNvSpPr txBox="1"/>
          <p:nvPr/>
        </p:nvSpPr>
        <p:spPr>
          <a:xfrm>
            <a:off x="9129660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15</a:t>
            </a:r>
          </a:p>
        </p:txBody>
      </p:sp>
      <p:sp>
        <p:nvSpPr>
          <p:cNvPr id="32" name="!!taak7"/>
          <p:cNvSpPr txBox="1"/>
          <p:nvPr/>
        </p:nvSpPr>
        <p:spPr>
          <a:xfrm>
            <a:off x="9193159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controle</a:t>
            </a:r>
          </a:p>
        </p:txBody>
      </p:sp>
      <p:sp>
        <p:nvSpPr>
          <p:cNvPr id="33" name="!!stip8"/>
          <p:cNvSpPr/>
          <p:nvPr/>
        </p:nvSpPr>
        <p:spPr>
          <a:xfrm>
            <a:off x="10873750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aand8"/>
          <p:cNvSpPr txBox="1"/>
          <p:nvPr/>
        </p:nvSpPr>
        <p:spPr>
          <a:xfrm>
            <a:off x="10343185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18</a:t>
            </a:r>
          </a:p>
        </p:txBody>
      </p:sp>
      <p:sp>
        <p:nvSpPr>
          <p:cNvPr id="35" name="!!taak8"/>
          <p:cNvSpPr txBox="1"/>
          <p:nvPr/>
        </p:nvSpPr>
        <p:spPr>
          <a:xfrm>
            <a:off x="10406684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einde</a:t>
            </a:r>
          </a:p>
        </p:txBody>
      </p:sp>
      <p:sp>
        <p:nvSpPr>
          <p:cNvPr id="36" name="!!camera"/>
          <p:cNvSpPr txBox="1"/>
          <p:nvPr/>
        </p:nvSpPr>
        <p:spPr>
          <a:xfrm>
            <a:off x="634984" y="4851278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E0A33D"/>
                </a:solidFill>
                <a:latin typeface="Segoe UI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0926" y="4965575"/>
            <a:ext cx="85087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4F8FB"/>
                </a:solidFill>
                <a:latin typeface="Segoe UI"/>
              </a:rPr>
              <a:t>bezoeken komen erbij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33626" y="5448163"/>
            <a:ext cx="8508787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93A9BA"/>
                </a:solidFill>
                <a:latin typeface="Segoe UI"/>
              </a:rPr>
              <a:t>De zeven andere momenten vallen samen met de controle die de patiënt sowieso al krijgt. Alleen de screening en maand 1 zijn extra.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14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FASE 1 · VÓÓR DE EERSTE ZOOL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Screening en baseline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16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45143" y="3174920"/>
            <a:ext cx="26212144" cy="45718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842300" y="2946326"/>
            <a:ext cx="518147" cy="518147"/>
          </a:xfrm>
          <a:prstGeom prst="ellipse">
            <a:avLst/>
          </a:prstGeom>
          <a:solidFill>
            <a:srgbClr val="E0A33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4514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E0A33D"/>
                </a:solidFill>
                <a:latin typeface="Consolas"/>
              </a:rPr>
              <a:t>Screen</a:t>
            </a:r>
          </a:p>
        </p:txBody>
      </p:sp>
      <p:sp>
        <p:nvSpPr>
          <p:cNvPr id="9" name="!!nieuw0"/>
          <p:cNvSpPr txBox="1"/>
          <p:nvPr/>
        </p:nvSpPr>
        <p:spPr>
          <a:xfrm>
            <a:off x="645143" y="2138626"/>
            <a:ext cx="2912460" cy="4876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20" b="1" spc="160">
                <a:solidFill>
                  <a:srgbClr val="E0A33D"/>
                </a:solidFill>
                <a:latin typeface="Consolas"/>
              </a:rPr>
              <a:t>NIEUW</a:t>
            </a:r>
          </a:p>
        </p:txBody>
      </p:sp>
      <p:sp>
        <p:nvSpPr>
          <p:cNvPr id="10" name="!!taak0"/>
          <p:cNvSpPr txBox="1"/>
          <p:nvPr/>
        </p:nvSpPr>
        <p:spPr>
          <a:xfrm>
            <a:off x="797540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geschiktheid</a:t>
            </a:r>
          </a:p>
        </p:txBody>
      </p:sp>
      <p:sp>
        <p:nvSpPr>
          <p:cNvPr id="11" name="!!stip1"/>
          <p:cNvSpPr/>
          <p:nvPr/>
        </p:nvSpPr>
        <p:spPr>
          <a:xfrm>
            <a:off x="4830959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aand1"/>
          <p:cNvSpPr txBox="1"/>
          <p:nvPr/>
        </p:nvSpPr>
        <p:spPr>
          <a:xfrm>
            <a:off x="3557604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Base</a:t>
            </a:r>
          </a:p>
        </p:txBody>
      </p:sp>
      <p:sp>
        <p:nvSpPr>
          <p:cNvPr id="13" name="!!taak1"/>
          <p:cNvSpPr txBox="1"/>
          <p:nvPr/>
        </p:nvSpPr>
        <p:spPr>
          <a:xfrm>
            <a:off x="3710000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14" name="!!stip2"/>
          <p:cNvSpPr/>
          <p:nvPr/>
        </p:nvSpPr>
        <p:spPr>
          <a:xfrm>
            <a:off x="7667221" y="2946326"/>
            <a:ext cx="518147" cy="518147"/>
          </a:xfrm>
          <a:prstGeom prst="ellipse">
            <a:avLst/>
          </a:prstGeom>
          <a:solidFill>
            <a:srgbClr val="E0A33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aand2"/>
          <p:cNvSpPr txBox="1"/>
          <p:nvPr/>
        </p:nvSpPr>
        <p:spPr>
          <a:xfrm>
            <a:off x="6470064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E0A33D"/>
                </a:solidFill>
                <a:latin typeface="Consolas"/>
              </a:rPr>
              <a:t>1</a:t>
            </a:r>
          </a:p>
        </p:txBody>
      </p:sp>
      <p:sp>
        <p:nvSpPr>
          <p:cNvPr id="16" name="!!nieuw2"/>
          <p:cNvSpPr txBox="1"/>
          <p:nvPr/>
        </p:nvSpPr>
        <p:spPr>
          <a:xfrm>
            <a:off x="6470064" y="2138626"/>
            <a:ext cx="2912460" cy="4876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20" b="1" spc="160">
                <a:solidFill>
                  <a:srgbClr val="E0A33D"/>
                </a:solidFill>
                <a:latin typeface="Consolas"/>
              </a:rPr>
              <a:t>NIEUW</a:t>
            </a:r>
          </a:p>
        </p:txBody>
      </p:sp>
      <p:sp>
        <p:nvSpPr>
          <p:cNvPr id="17" name="!!taak2"/>
          <p:cNvSpPr txBox="1"/>
          <p:nvPr/>
        </p:nvSpPr>
        <p:spPr>
          <a:xfrm>
            <a:off x="6622461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voorschrift</a:t>
            </a:r>
          </a:p>
        </p:txBody>
      </p:sp>
      <p:sp>
        <p:nvSpPr>
          <p:cNvPr id="18" name="!!stip3"/>
          <p:cNvSpPr/>
          <p:nvPr/>
        </p:nvSpPr>
        <p:spPr>
          <a:xfrm>
            <a:off x="10655880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aand3"/>
          <p:cNvSpPr txBox="1"/>
          <p:nvPr/>
        </p:nvSpPr>
        <p:spPr>
          <a:xfrm>
            <a:off x="9382525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3</a:t>
            </a:r>
          </a:p>
        </p:txBody>
      </p:sp>
      <p:sp>
        <p:nvSpPr>
          <p:cNvPr id="20" name="!!taak3"/>
          <p:cNvSpPr txBox="1"/>
          <p:nvPr/>
        </p:nvSpPr>
        <p:spPr>
          <a:xfrm>
            <a:off x="9534921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zool + sensor</a:t>
            </a:r>
          </a:p>
        </p:txBody>
      </p:sp>
      <p:sp>
        <p:nvSpPr>
          <p:cNvPr id="21" name="!!stip4"/>
          <p:cNvSpPr/>
          <p:nvPr/>
        </p:nvSpPr>
        <p:spPr>
          <a:xfrm>
            <a:off x="13568340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aand4"/>
          <p:cNvSpPr txBox="1"/>
          <p:nvPr/>
        </p:nvSpPr>
        <p:spPr>
          <a:xfrm>
            <a:off x="12294985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6</a:t>
            </a:r>
          </a:p>
        </p:txBody>
      </p:sp>
      <p:sp>
        <p:nvSpPr>
          <p:cNvPr id="23" name="!!taak4"/>
          <p:cNvSpPr txBox="1"/>
          <p:nvPr/>
        </p:nvSpPr>
        <p:spPr>
          <a:xfrm>
            <a:off x="12447382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24" name="!!stip5"/>
          <p:cNvSpPr/>
          <p:nvPr/>
        </p:nvSpPr>
        <p:spPr>
          <a:xfrm>
            <a:off x="16480801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aand5"/>
          <p:cNvSpPr txBox="1"/>
          <p:nvPr/>
        </p:nvSpPr>
        <p:spPr>
          <a:xfrm>
            <a:off x="15207446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9</a:t>
            </a:r>
          </a:p>
        </p:txBody>
      </p:sp>
      <p:sp>
        <p:nvSpPr>
          <p:cNvPr id="26" name="!!taak5"/>
          <p:cNvSpPr txBox="1"/>
          <p:nvPr/>
        </p:nvSpPr>
        <p:spPr>
          <a:xfrm>
            <a:off x="15359842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controle</a:t>
            </a:r>
          </a:p>
        </p:txBody>
      </p:sp>
      <p:sp>
        <p:nvSpPr>
          <p:cNvPr id="27" name="!!stip6"/>
          <p:cNvSpPr/>
          <p:nvPr/>
        </p:nvSpPr>
        <p:spPr>
          <a:xfrm>
            <a:off x="19393261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aand6"/>
          <p:cNvSpPr txBox="1"/>
          <p:nvPr/>
        </p:nvSpPr>
        <p:spPr>
          <a:xfrm>
            <a:off x="18119906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12</a:t>
            </a:r>
          </a:p>
        </p:txBody>
      </p:sp>
      <p:sp>
        <p:nvSpPr>
          <p:cNvPr id="29" name="!!taak6"/>
          <p:cNvSpPr txBox="1"/>
          <p:nvPr/>
        </p:nvSpPr>
        <p:spPr>
          <a:xfrm>
            <a:off x="1827230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30" name="!!stip7"/>
          <p:cNvSpPr/>
          <p:nvPr/>
        </p:nvSpPr>
        <p:spPr>
          <a:xfrm>
            <a:off x="22305722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aand7"/>
          <p:cNvSpPr txBox="1"/>
          <p:nvPr/>
        </p:nvSpPr>
        <p:spPr>
          <a:xfrm>
            <a:off x="21032367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15</a:t>
            </a:r>
          </a:p>
        </p:txBody>
      </p:sp>
      <p:sp>
        <p:nvSpPr>
          <p:cNvPr id="32" name="!!taak7"/>
          <p:cNvSpPr txBox="1"/>
          <p:nvPr/>
        </p:nvSpPr>
        <p:spPr>
          <a:xfrm>
            <a:off x="2118476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controle</a:t>
            </a:r>
          </a:p>
        </p:txBody>
      </p:sp>
      <p:sp>
        <p:nvSpPr>
          <p:cNvPr id="33" name="!!stip8"/>
          <p:cNvSpPr/>
          <p:nvPr/>
        </p:nvSpPr>
        <p:spPr>
          <a:xfrm>
            <a:off x="25218182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aand8"/>
          <p:cNvSpPr txBox="1"/>
          <p:nvPr/>
        </p:nvSpPr>
        <p:spPr>
          <a:xfrm>
            <a:off x="23944828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18</a:t>
            </a:r>
          </a:p>
        </p:txBody>
      </p:sp>
      <p:sp>
        <p:nvSpPr>
          <p:cNvPr id="35" name="!!taak8"/>
          <p:cNvSpPr txBox="1"/>
          <p:nvPr/>
        </p:nvSpPr>
        <p:spPr>
          <a:xfrm>
            <a:off x="24097224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einde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0A33D"/>
                </a:solidFill>
                <a:latin typeface="Segoe UI"/>
              </a:rPr>
              <a:t>Wat er gebeurt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93A9BA"/>
                </a:solidFill>
                <a:latin typeface="Segoe UI"/>
              </a:rPr>
              <a:t>Screening: risicocategorie 3, vaatstatus, kan de patiënt mee — dit is het enige echt nieuwe bezoek.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93A9BA"/>
                </a:solidFill>
                <a:latin typeface="Segoe UI"/>
              </a:rPr>
              <a:t>Baseline: drukmeting met de pedar, een week MoveMonitor mee naar huis, en het eerste SEBIA-gesprek.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15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FASE 2 · DE ZOOL KOMT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Maand 1 en maand 3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16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-5176390" y="3174920"/>
            <a:ext cx="26212144" cy="45718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-3979233" y="2946326"/>
            <a:ext cx="518147" cy="518147"/>
          </a:xfrm>
          <a:prstGeom prst="ellipse">
            <a:avLst/>
          </a:prstGeom>
          <a:solidFill>
            <a:srgbClr val="E0A33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-517639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E0A33D"/>
                </a:solidFill>
                <a:latin typeface="Consolas"/>
              </a:rPr>
              <a:t>Screen</a:t>
            </a:r>
          </a:p>
        </p:txBody>
      </p:sp>
      <p:sp>
        <p:nvSpPr>
          <p:cNvPr id="9" name="!!nieuw0"/>
          <p:cNvSpPr txBox="1"/>
          <p:nvPr/>
        </p:nvSpPr>
        <p:spPr>
          <a:xfrm>
            <a:off x="-5176390" y="2138626"/>
            <a:ext cx="2912460" cy="4876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20" b="1" spc="160">
                <a:solidFill>
                  <a:srgbClr val="E0A33D"/>
                </a:solidFill>
                <a:latin typeface="Consolas"/>
              </a:rPr>
              <a:t>NIEUW</a:t>
            </a:r>
          </a:p>
        </p:txBody>
      </p:sp>
      <p:sp>
        <p:nvSpPr>
          <p:cNvPr id="10" name="!!taak0"/>
          <p:cNvSpPr txBox="1"/>
          <p:nvPr/>
        </p:nvSpPr>
        <p:spPr>
          <a:xfrm>
            <a:off x="-5023994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geschiktheid</a:t>
            </a:r>
          </a:p>
        </p:txBody>
      </p:sp>
      <p:sp>
        <p:nvSpPr>
          <p:cNvPr id="11" name="!!stip1"/>
          <p:cNvSpPr/>
          <p:nvPr/>
        </p:nvSpPr>
        <p:spPr>
          <a:xfrm>
            <a:off x="-990575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aand1"/>
          <p:cNvSpPr txBox="1"/>
          <p:nvPr/>
        </p:nvSpPr>
        <p:spPr>
          <a:xfrm>
            <a:off x="-226393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Base</a:t>
            </a:r>
          </a:p>
        </p:txBody>
      </p:sp>
      <p:sp>
        <p:nvSpPr>
          <p:cNvPr id="13" name="!!taak1"/>
          <p:cNvSpPr txBox="1"/>
          <p:nvPr/>
        </p:nvSpPr>
        <p:spPr>
          <a:xfrm>
            <a:off x="-211153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14" name="!!stip2"/>
          <p:cNvSpPr/>
          <p:nvPr/>
        </p:nvSpPr>
        <p:spPr>
          <a:xfrm>
            <a:off x="1845687" y="2946326"/>
            <a:ext cx="518147" cy="518147"/>
          </a:xfrm>
          <a:prstGeom prst="ellipse">
            <a:avLst/>
          </a:prstGeom>
          <a:solidFill>
            <a:srgbClr val="E0A33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aand2"/>
          <p:cNvSpPr txBox="1"/>
          <p:nvPr/>
        </p:nvSpPr>
        <p:spPr>
          <a:xfrm>
            <a:off x="64853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E0A33D"/>
                </a:solidFill>
                <a:latin typeface="Consolas"/>
              </a:rPr>
              <a:t>1</a:t>
            </a:r>
          </a:p>
        </p:txBody>
      </p:sp>
      <p:sp>
        <p:nvSpPr>
          <p:cNvPr id="16" name="!!nieuw2"/>
          <p:cNvSpPr txBox="1"/>
          <p:nvPr/>
        </p:nvSpPr>
        <p:spPr>
          <a:xfrm>
            <a:off x="648530" y="2138626"/>
            <a:ext cx="2912460" cy="4876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20" b="1" spc="160">
                <a:solidFill>
                  <a:srgbClr val="E0A33D"/>
                </a:solidFill>
                <a:latin typeface="Consolas"/>
              </a:rPr>
              <a:t>NIEUW</a:t>
            </a:r>
          </a:p>
        </p:txBody>
      </p:sp>
      <p:sp>
        <p:nvSpPr>
          <p:cNvPr id="17" name="!!taak2"/>
          <p:cNvSpPr txBox="1"/>
          <p:nvPr/>
        </p:nvSpPr>
        <p:spPr>
          <a:xfrm>
            <a:off x="800926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voorschrift</a:t>
            </a:r>
          </a:p>
        </p:txBody>
      </p:sp>
      <p:sp>
        <p:nvSpPr>
          <p:cNvPr id="18" name="!!stip3"/>
          <p:cNvSpPr/>
          <p:nvPr/>
        </p:nvSpPr>
        <p:spPr>
          <a:xfrm>
            <a:off x="4834345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aand3"/>
          <p:cNvSpPr txBox="1"/>
          <p:nvPr/>
        </p:nvSpPr>
        <p:spPr>
          <a:xfrm>
            <a:off x="356099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3</a:t>
            </a:r>
          </a:p>
        </p:txBody>
      </p:sp>
      <p:sp>
        <p:nvSpPr>
          <p:cNvPr id="20" name="!!taak3"/>
          <p:cNvSpPr txBox="1"/>
          <p:nvPr/>
        </p:nvSpPr>
        <p:spPr>
          <a:xfrm>
            <a:off x="3713387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zool + sensor</a:t>
            </a:r>
          </a:p>
        </p:txBody>
      </p:sp>
      <p:sp>
        <p:nvSpPr>
          <p:cNvPr id="21" name="!!stip4"/>
          <p:cNvSpPr/>
          <p:nvPr/>
        </p:nvSpPr>
        <p:spPr>
          <a:xfrm>
            <a:off x="7746806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aand4"/>
          <p:cNvSpPr txBox="1"/>
          <p:nvPr/>
        </p:nvSpPr>
        <p:spPr>
          <a:xfrm>
            <a:off x="6473451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6</a:t>
            </a:r>
          </a:p>
        </p:txBody>
      </p:sp>
      <p:sp>
        <p:nvSpPr>
          <p:cNvPr id="23" name="!!taak4"/>
          <p:cNvSpPr txBox="1"/>
          <p:nvPr/>
        </p:nvSpPr>
        <p:spPr>
          <a:xfrm>
            <a:off x="6625847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24" name="!!stip5"/>
          <p:cNvSpPr/>
          <p:nvPr/>
        </p:nvSpPr>
        <p:spPr>
          <a:xfrm>
            <a:off x="10659266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aand5"/>
          <p:cNvSpPr txBox="1"/>
          <p:nvPr/>
        </p:nvSpPr>
        <p:spPr>
          <a:xfrm>
            <a:off x="9385912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9</a:t>
            </a:r>
          </a:p>
        </p:txBody>
      </p:sp>
      <p:sp>
        <p:nvSpPr>
          <p:cNvPr id="26" name="!!taak5"/>
          <p:cNvSpPr txBox="1"/>
          <p:nvPr/>
        </p:nvSpPr>
        <p:spPr>
          <a:xfrm>
            <a:off x="9538308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controle</a:t>
            </a:r>
          </a:p>
        </p:txBody>
      </p:sp>
      <p:sp>
        <p:nvSpPr>
          <p:cNvPr id="27" name="!!stip6"/>
          <p:cNvSpPr/>
          <p:nvPr/>
        </p:nvSpPr>
        <p:spPr>
          <a:xfrm>
            <a:off x="13571727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aand6"/>
          <p:cNvSpPr txBox="1"/>
          <p:nvPr/>
        </p:nvSpPr>
        <p:spPr>
          <a:xfrm>
            <a:off x="12298372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12</a:t>
            </a:r>
          </a:p>
        </p:txBody>
      </p:sp>
      <p:sp>
        <p:nvSpPr>
          <p:cNvPr id="29" name="!!taak6"/>
          <p:cNvSpPr txBox="1"/>
          <p:nvPr/>
        </p:nvSpPr>
        <p:spPr>
          <a:xfrm>
            <a:off x="12450768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30" name="!!stip7"/>
          <p:cNvSpPr/>
          <p:nvPr/>
        </p:nvSpPr>
        <p:spPr>
          <a:xfrm>
            <a:off x="16484187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aand7"/>
          <p:cNvSpPr txBox="1"/>
          <p:nvPr/>
        </p:nvSpPr>
        <p:spPr>
          <a:xfrm>
            <a:off x="1521083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15</a:t>
            </a:r>
          </a:p>
        </p:txBody>
      </p:sp>
      <p:sp>
        <p:nvSpPr>
          <p:cNvPr id="32" name="!!taak7"/>
          <p:cNvSpPr txBox="1"/>
          <p:nvPr/>
        </p:nvSpPr>
        <p:spPr>
          <a:xfrm>
            <a:off x="15363229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controle</a:t>
            </a:r>
          </a:p>
        </p:txBody>
      </p:sp>
      <p:sp>
        <p:nvSpPr>
          <p:cNvPr id="33" name="!!stip8"/>
          <p:cNvSpPr/>
          <p:nvPr/>
        </p:nvSpPr>
        <p:spPr>
          <a:xfrm>
            <a:off x="19396648" y="3022524"/>
            <a:ext cx="365750" cy="365750"/>
          </a:xfrm>
          <a:prstGeom prst="ellipse">
            <a:avLst/>
          </a:prstGeom>
          <a:solidFill>
            <a:srgbClr val="2BB9AD"/>
          </a:solidFill>
          <a:ln w="91439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aand8"/>
          <p:cNvSpPr txBox="1"/>
          <p:nvPr/>
        </p:nvSpPr>
        <p:spPr>
          <a:xfrm>
            <a:off x="1812329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4F8FB"/>
                </a:solidFill>
                <a:latin typeface="Consolas"/>
              </a:rPr>
              <a:t>18</a:t>
            </a:r>
          </a:p>
        </p:txBody>
      </p:sp>
      <p:sp>
        <p:nvSpPr>
          <p:cNvPr id="35" name="!!taak8"/>
          <p:cNvSpPr txBox="1"/>
          <p:nvPr/>
        </p:nvSpPr>
        <p:spPr>
          <a:xfrm>
            <a:off x="18275689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93A9BA"/>
                </a:solidFill>
                <a:latin typeface="Segoe UI"/>
              </a:rPr>
              <a:t>einde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0A33D"/>
                </a:solidFill>
                <a:latin typeface="Segoe UI"/>
              </a:rPr>
              <a:t>Wat er gebeurt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93A9BA"/>
                </a:solidFill>
                <a:latin typeface="Segoe UI"/>
              </a:rPr>
              <a:t>Maand 1: het voorschrift voor de maatzool. Kort bezoek, het tweede en laatste extra moment.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93A9BA"/>
                </a:solidFill>
                <a:latin typeface="Segoe UI"/>
              </a:rPr>
              <a:t>Maand 3: aflevering, de Orthotimer gaat in de zool, en de meting wordt herhaald tot de norm gehaald is.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16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FASE 3 · DE REST VAN HET JAAR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Zes tot achttien maanden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16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-5429114" y="3174920"/>
            <a:ext cx="16382590" cy="2857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-4680891" y="3032049"/>
            <a:ext cx="323841" cy="323841"/>
          </a:xfrm>
          <a:prstGeom prst="ellipse">
            <a:avLst/>
          </a:prstGeom>
          <a:solidFill>
            <a:srgbClr val="E0A33D"/>
          </a:solidFill>
          <a:ln w="5715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-5429114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E0A33D"/>
                </a:solidFill>
                <a:latin typeface="Consolas"/>
              </a:rPr>
              <a:t>Screen</a:t>
            </a:r>
          </a:p>
        </p:txBody>
      </p:sp>
      <p:sp>
        <p:nvSpPr>
          <p:cNvPr id="9" name="!!nieuw0"/>
          <p:cNvSpPr txBox="1"/>
          <p:nvPr/>
        </p:nvSpPr>
        <p:spPr>
          <a:xfrm>
            <a:off x="-5429114" y="2527236"/>
            <a:ext cx="1820287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75" b="1" spc="160">
                <a:solidFill>
                  <a:srgbClr val="E0A33D"/>
                </a:solidFill>
                <a:latin typeface="Consolas"/>
              </a:rPr>
              <a:t>NIEUW</a:t>
            </a:r>
          </a:p>
        </p:txBody>
      </p:sp>
      <p:sp>
        <p:nvSpPr>
          <p:cNvPr id="10" name="!!taak0"/>
          <p:cNvSpPr txBox="1"/>
          <p:nvPr/>
        </p:nvSpPr>
        <p:spPr>
          <a:xfrm>
            <a:off x="-5333866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93A9BA"/>
                </a:solidFill>
                <a:latin typeface="Segoe UI"/>
              </a:rPr>
              <a:t>geschiktheid</a:t>
            </a:r>
          </a:p>
        </p:txBody>
      </p:sp>
      <p:sp>
        <p:nvSpPr>
          <p:cNvPr id="11" name="!!stip1"/>
          <p:cNvSpPr/>
          <p:nvPr/>
        </p:nvSpPr>
        <p:spPr>
          <a:xfrm>
            <a:off x="-2812979" y="3079673"/>
            <a:ext cx="228594" cy="228594"/>
          </a:xfrm>
          <a:prstGeom prst="ellipse">
            <a:avLst/>
          </a:prstGeom>
          <a:solidFill>
            <a:srgbClr val="2BB9AD"/>
          </a:solidFill>
          <a:ln w="5715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aand1"/>
          <p:cNvSpPr txBox="1"/>
          <p:nvPr/>
        </p:nvSpPr>
        <p:spPr>
          <a:xfrm>
            <a:off x="-3608826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4F8FB"/>
                </a:solidFill>
                <a:latin typeface="Consolas"/>
              </a:rPr>
              <a:t>Base</a:t>
            </a:r>
          </a:p>
        </p:txBody>
      </p:sp>
      <p:sp>
        <p:nvSpPr>
          <p:cNvPr id="13" name="!!taak1"/>
          <p:cNvSpPr txBox="1"/>
          <p:nvPr/>
        </p:nvSpPr>
        <p:spPr>
          <a:xfrm>
            <a:off x="-3513578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14" name="!!stip2"/>
          <p:cNvSpPr/>
          <p:nvPr/>
        </p:nvSpPr>
        <p:spPr>
          <a:xfrm>
            <a:off x="-1040315" y="3032049"/>
            <a:ext cx="323841" cy="323841"/>
          </a:xfrm>
          <a:prstGeom prst="ellipse">
            <a:avLst/>
          </a:prstGeom>
          <a:solidFill>
            <a:srgbClr val="E0A33D"/>
          </a:solidFill>
          <a:ln w="5715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aand2"/>
          <p:cNvSpPr txBox="1"/>
          <p:nvPr/>
        </p:nvSpPr>
        <p:spPr>
          <a:xfrm>
            <a:off x="-1788538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E0A33D"/>
                </a:solidFill>
                <a:latin typeface="Consolas"/>
              </a:rPr>
              <a:t>1</a:t>
            </a:r>
          </a:p>
        </p:txBody>
      </p:sp>
      <p:sp>
        <p:nvSpPr>
          <p:cNvPr id="16" name="!!nieuw2"/>
          <p:cNvSpPr txBox="1"/>
          <p:nvPr/>
        </p:nvSpPr>
        <p:spPr>
          <a:xfrm>
            <a:off x="-1788538" y="2527236"/>
            <a:ext cx="1820287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75" b="1" spc="160">
                <a:solidFill>
                  <a:srgbClr val="E0A33D"/>
                </a:solidFill>
                <a:latin typeface="Consolas"/>
              </a:rPr>
              <a:t>NIEUW</a:t>
            </a:r>
          </a:p>
        </p:txBody>
      </p:sp>
      <p:sp>
        <p:nvSpPr>
          <p:cNvPr id="17" name="!!taak2"/>
          <p:cNvSpPr txBox="1"/>
          <p:nvPr/>
        </p:nvSpPr>
        <p:spPr>
          <a:xfrm>
            <a:off x="-1693290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93A9BA"/>
                </a:solidFill>
                <a:latin typeface="Segoe UI"/>
              </a:rPr>
              <a:t>voorschrift</a:t>
            </a:r>
          </a:p>
        </p:txBody>
      </p:sp>
      <p:sp>
        <p:nvSpPr>
          <p:cNvPr id="18" name="!!stip3"/>
          <p:cNvSpPr/>
          <p:nvPr/>
        </p:nvSpPr>
        <p:spPr>
          <a:xfrm>
            <a:off x="827595" y="3079673"/>
            <a:ext cx="228594" cy="228594"/>
          </a:xfrm>
          <a:prstGeom prst="ellipse">
            <a:avLst/>
          </a:prstGeom>
          <a:solidFill>
            <a:srgbClr val="2BB9AD"/>
          </a:solidFill>
          <a:ln w="5715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aand3"/>
          <p:cNvSpPr txBox="1"/>
          <p:nvPr/>
        </p:nvSpPr>
        <p:spPr>
          <a:xfrm>
            <a:off x="31749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4F8FB"/>
                </a:solidFill>
                <a:latin typeface="Consolas"/>
              </a:rPr>
              <a:t>3</a:t>
            </a:r>
          </a:p>
        </p:txBody>
      </p:sp>
      <p:sp>
        <p:nvSpPr>
          <p:cNvPr id="20" name="!!taak3"/>
          <p:cNvSpPr txBox="1"/>
          <p:nvPr/>
        </p:nvSpPr>
        <p:spPr>
          <a:xfrm>
            <a:off x="126996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93A9BA"/>
                </a:solidFill>
                <a:latin typeface="Segoe UI"/>
              </a:rPr>
              <a:t>zool + sensor</a:t>
            </a:r>
          </a:p>
        </p:txBody>
      </p:sp>
      <p:sp>
        <p:nvSpPr>
          <p:cNvPr id="21" name="!!stip4"/>
          <p:cNvSpPr/>
          <p:nvPr/>
        </p:nvSpPr>
        <p:spPr>
          <a:xfrm>
            <a:off x="2647883" y="3079673"/>
            <a:ext cx="228594" cy="228594"/>
          </a:xfrm>
          <a:prstGeom prst="ellipse">
            <a:avLst/>
          </a:prstGeom>
          <a:solidFill>
            <a:srgbClr val="2BB9AD"/>
          </a:solidFill>
          <a:ln w="5715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aand4"/>
          <p:cNvSpPr txBox="1"/>
          <p:nvPr/>
        </p:nvSpPr>
        <p:spPr>
          <a:xfrm>
            <a:off x="1852037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4F8FB"/>
                </a:solidFill>
                <a:latin typeface="Consolas"/>
              </a:rPr>
              <a:t>6</a:t>
            </a:r>
          </a:p>
        </p:txBody>
      </p:sp>
      <p:sp>
        <p:nvSpPr>
          <p:cNvPr id="23" name="!!taak4"/>
          <p:cNvSpPr txBox="1"/>
          <p:nvPr/>
        </p:nvSpPr>
        <p:spPr>
          <a:xfrm>
            <a:off x="1947284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24" name="!!stip5"/>
          <p:cNvSpPr/>
          <p:nvPr/>
        </p:nvSpPr>
        <p:spPr>
          <a:xfrm>
            <a:off x="4468171" y="3079673"/>
            <a:ext cx="228594" cy="228594"/>
          </a:xfrm>
          <a:prstGeom prst="ellipse">
            <a:avLst/>
          </a:prstGeom>
          <a:solidFill>
            <a:srgbClr val="2BB9AD"/>
          </a:solidFill>
          <a:ln w="5715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aand5"/>
          <p:cNvSpPr txBox="1"/>
          <p:nvPr/>
        </p:nvSpPr>
        <p:spPr>
          <a:xfrm>
            <a:off x="3672324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4F8FB"/>
                </a:solidFill>
                <a:latin typeface="Consolas"/>
              </a:rPr>
              <a:t>9</a:t>
            </a:r>
          </a:p>
        </p:txBody>
      </p:sp>
      <p:sp>
        <p:nvSpPr>
          <p:cNvPr id="26" name="!!taak5"/>
          <p:cNvSpPr txBox="1"/>
          <p:nvPr/>
        </p:nvSpPr>
        <p:spPr>
          <a:xfrm>
            <a:off x="3767572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93A9BA"/>
                </a:solidFill>
                <a:latin typeface="Segoe UI"/>
              </a:rPr>
              <a:t>controle</a:t>
            </a:r>
          </a:p>
        </p:txBody>
      </p:sp>
      <p:sp>
        <p:nvSpPr>
          <p:cNvPr id="27" name="!!stip6"/>
          <p:cNvSpPr/>
          <p:nvPr/>
        </p:nvSpPr>
        <p:spPr>
          <a:xfrm>
            <a:off x="6288459" y="3079673"/>
            <a:ext cx="228594" cy="228594"/>
          </a:xfrm>
          <a:prstGeom prst="ellipse">
            <a:avLst/>
          </a:prstGeom>
          <a:solidFill>
            <a:srgbClr val="2BB9AD"/>
          </a:solidFill>
          <a:ln w="5715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aand6"/>
          <p:cNvSpPr txBox="1"/>
          <p:nvPr/>
        </p:nvSpPr>
        <p:spPr>
          <a:xfrm>
            <a:off x="5492612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4F8FB"/>
                </a:solidFill>
                <a:latin typeface="Consolas"/>
              </a:rPr>
              <a:t>12</a:t>
            </a:r>
          </a:p>
        </p:txBody>
      </p:sp>
      <p:sp>
        <p:nvSpPr>
          <p:cNvPr id="29" name="!!taak6"/>
          <p:cNvSpPr txBox="1"/>
          <p:nvPr/>
        </p:nvSpPr>
        <p:spPr>
          <a:xfrm>
            <a:off x="5587860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30" name="!!stip7"/>
          <p:cNvSpPr/>
          <p:nvPr/>
        </p:nvSpPr>
        <p:spPr>
          <a:xfrm>
            <a:off x="8108747" y="3079673"/>
            <a:ext cx="228594" cy="228594"/>
          </a:xfrm>
          <a:prstGeom prst="ellipse">
            <a:avLst/>
          </a:prstGeom>
          <a:solidFill>
            <a:srgbClr val="2BB9AD"/>
          </a:solidFill>
          <a:ln w="5715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aand7"/>
          <p:cNvSpPr txBox="1"/>
          <p:nvPr/>
        </p:nvSpPr>
        <p:spPr>
          <a:xfrm>
            <a:off x="7312900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4F8FB"/>
                </a:solidFill>
                <a:latin typeface="Consolas"/>
              </a:rPr>
              <a:t>15</a:t>
            </a:r>
          </a:p>
        </p:txBody>
      </p:sp>
      <p:sp>
        <p:nvSpPr>
          <p:cNvPr id="32" name="!!taak7"/>
          <p:cNvSpPr txBox="1"/>
          <p:nvPr/>
        </p:nvSpPr>
        <p:spPr>
          <a:xfrm>
            <a:off x="7408148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93A9BA"/>
                </a:solidFill>
                <a:latin typeface="Segoe UI"/>
              </a:rPr>
              <a:t>controle</a:t>
            </a:r>
          </a:p>
        </p:txBody>
      </p:sp>
      <p:sp>
        <p:nvSpPr>
          <p:cNvPr id="33" name="!!stip8"/>
          <p:cNvSpPr/>
          <p:nvPr/>
        </p:nvSpPr>
        <p:spPr>
          <a:xfrm>
            <a:off x="9929035" y="3079673"/>
            <a:ext cx="228594" cy="228594"/>
          </a:xfrm>
          <a:prstGeom prst="ellipse">
            <a:avLst/>
          </a:prstGeom>
          <a:solidFill>
            <a:srgbClr val="2BB9AD"/>
          </a:solidFill>
          <a:ln w="5715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aand8"/>
          <p:cNvSpPr txBox="1"/>
          <p:nvPr/>
        </p:nvSpPr>
        <p:spPr>
          <a:xfrm>
            <a:off x="9133188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4F8FB"/>
                </a:solidFill>
                <a:latin typeface="Consolas"/>
              </a:rPr>
              <a:t>18</a:t>
            </a:r>
          </a:p>
        </p:txBody>
      </p:sp>
      <p:sp>
        <p:nvSpPr>
          <p:cNvPr id="35" name="!!taak8"/>
          <p:cNvSpPr txBox="1"/>
          <p:nvPr/>
        </p:nvSpPr>
        <p:spPr>
          <a:xfrm>
            <a:off x="9228435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93A9BA"/>
                </a:solidFill>
                <a:latin typeface="Segoe UI"/>
              </a:rPr>
              <a:t>einde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0A33D"/>
                </a:solidFill>
                <a:latin typeface="Segoe UI"/>
              </a:rPr>
              <a:t>Wat er gebeurt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93A9BA"/>
                </a:solidFill>
                <a:latin typeface="Segoe UI"/>
              </a:rPr>
              <a:t>Elke drie maanden: sensor uitlezen, batterij vervangen, SEBIA-gesprek in het gewone consult.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93A9BA"/>
                </a:solidFill>
                <a:latin typeface="Segoe UI"/>
              </a:rPr>
              <a:t>Op 6 en 12 maanden ook een drukmeting. Twaalf maanden is het primaire analysepunt voor de draagtijd.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17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16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3047923"/>
            <a:ext cx="10921726" cy="19049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133799" y="2952676"/>
            <a:ext cx="215894" cy="215894"/>
          </a:xfrm>
          <a:prstGeom prst="ellipse">
            <a:avLst/>
          </a:prstGeom>
          <a:solidFill>
            <a:srgbClr val="E0A33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E0A33D"/>
                </a:solidFill>
                <a:latin typeface="Consolas"/>
              </a:rPr>
              <a:t>Screen</a:t>
            </a:r>
          </a:p>
        </p:txBody>
      </p:sp>
      <p:sp>
        <p:nvSpPr>
          <p:cNvPr id="9" name="!!nieuw0"/>
          <p:cNvSpPr txBox="1"/>
          <p:nvPr/>
        </p:nvSpPr>
        <p:spPr>
          <a:xfrm>
            <a:off x="634984" y="2616134"/>
            <a:ext cx="1213525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spc="160">
                <a:solidFill>
                  <a:srgbClr val="E0A33D"/>
                </a:solidFill>
                <a:latin typeface="Consolas"/>
              </a:rPr>
              <a:t>NIEUW</a:t>
            </a:r>
          </a:p>
        </p:txBody>
      </p:sp>
      <p:sp>
        <p:nvSpPr>
          <p:cNvPr id="10" name="!!taak0"/>
          <p:cNvSpPr txBox="1"/>
          <p:nvPr/>
        </p:nvSpPr>
        <p:spPr>
          <a:xfrm>
            <a:off x="698482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geschiktheid</a:t>
            </a:r>
          </a:p>
        </p:txBody>
      </p:sp>
      <p:sp>
        <p:nvSpPr>
          <p:cNvPr id="11" name="!!stip1"/>
          <p:cNvSpPr/>
          <p:nvPr/>
        </p:nvSpPr>
        <p:spPr>
          <a:xfrm>
            <a:off x="2379073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aand1"/>
          <p:cNvSpPr txBox="1"/>
          <p:nvPr/>
        </p:nvSpPr>
        <p:spPr>
          <a:xfrm>
            <a:off x="1848509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Base</a:t>
            </a:r>
          </a:p>
        </p:txBody>
      </p:sp>
      <p:sp>
        <p:nvSpPr>
          <p:cNvPr id="13" name="!!taak1"/>
          <p:cNvSpPr txBox="1"/>
          <p:nvPr/>
        </p:nvSpPr>
        <p:spPr>
          <a:xfrm>
            <a:off x="1912007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14" name="!!stip2"/>
          <p:cNvSpPr/>
          <p:nvPr/>
        </p:nvSpPr>
        <p:spPr>
          <a:xfrm>
            <a:off x="3560849" y="2952676"/>
            <a:ext cx="215894" cy="215894"/>
          </a:xfrm>
          <a:prstGeom prst="ellipse">
            <a:avLst/>
          </a:prstGeom>
          <a:solidFill>
            <a:srgbClr val="E0A33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aand2"/>
          <p:cNvSpPr txBox="1"/>
          <p:nvPr/>
        </p:nvSpPr>
        <p:spPr>
          <a:xfrm>
            <a:off x="3062034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E0A33D"/>
                </a:solidFill>
                <a:latin typeface="Consolas"/>
              </a:rPr>
              <a:t>1</a:t>
            </a:r>
          </a:p>
        </p:txBody>
      </p:sp>
      <p:sp>
        <p:nvSpPr>
          <p:cNvPr id="16" name="!!nieuw2"/>
          <p:cNvSpPr txBox="1"/>
          <p:nvPr/>
        </p:nvSpPr>
        <p:spPr>
          <a:xfrm>
            <a:off x="3062034" y="2616134"/>
            <a:ext cx="1213525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spc="160">
                <a:solidFill>
                  <a:srgbClr val="E0A33D"/>
                </a:solidFill>
                <a:latin typeface="Consolas"/>
              </a:rPr>
              <a:t>NIEUW</a:t>
            </a:r>
          </a:p>
        </p:txBody>
      </p:sp>
      <p:sp>
        <p:nvSpPr>
          <p:cNvPr id="17" name="!!taak2"/>
          <p:cNvSpPr txBox="1"/>
          <p:nvPr/>
        </p:nvSpPr>
        <p:spPr>
          <a:xfrm>
            <a:off x="3125532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voorschrift</a:t>
            </a:r>
          </a:p>
        </p:txBody>
      </p:sp>
      <p:sp>
        <p:nvSpPr>
          <p:cNvPr id="18" name="!!stip3"/>
          <p:cNvSpPr/>
          <p:nvPr/>
        </p:nvSpPr>
        <p:spPr>
          <a:xfrm>
            <a:off x="4806124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aand3"/>
          <p:cNvSpPr txBox="1"/>
          <p:nvPr/>
        </p:nvSpPr>
        <p:spPr>
          <a:xfrm>
            <a:off x="4275559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3</a:t>
            </a:r>
          </a:p>
        </p:txBody>
      </p:sp>
      <p:sp>
        <p:nvSpPr>
          <p:cNvPr id="20" name="!!taak3"/>
          <p:cNvSpPr txBox="1"/>
          <p:nvPr/>
        </p:nvSpPr>
        <p:spPr>
          <a:xfrm>
            <a:off x="4339058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zool + sensor</a:t>
            </a:r>
          </a:p>
        </p:txBody>
      </p:sp>
      <p:sp>
        <p:nvSpPr>
          <p:cNvPr id="21" name="!!stip4"/>
          <p:cNvSpPr/>
          <p:nvPr/>
        </p:nvSpPr>
        <p:spPr>
          <a:xfrm>
            <a:off x="6019649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aand4"/>
          <p:cNvSpPr txBox="1"/>
          <p:nvPr/>
        </p:nvSpPr>
        <p:spPr>
          <a:xfrm>
            <a:off x="5489084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6</a:t>
            </a:r>
          </a:p>
        </p:txBody>
      </p:sp>
      <p:sp>
        <p:nvSpPr>
          <p:cNvPr id="23" name="!!taak4"/>
          <p:cNvSpPr txBox="1"/>
          <p:nvPr/>
        </p:nvSpPr>
        <p:spPr>
          <a:xfrm>
            <a:off x="5552583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24" name="!!stip5"/>
          <p:cNvSpPr/>
          <p:nvPr/>
        </p:nvSpPr>
        <p:spPr>
          <a:xfrm>
            <a:off x="7233174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aand5"/>
          <p:cNvSpPr txBox="1"/>
          <p:nvPr/>
        </p:nvSpPr>
        <p:spPr>
          <a:xfrm>
            <a:off x="6702610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9</a:t>
            </a:r>
          </a:p>
        </p:txBody>
      </p:sp>
      <p:sp>
        <p:nvSpPr>
          <p:cNvPr id="26" name="!!taak5"/>
          <p:cNvSpPr txBox="1"/>
          <p:nvPr/>
        </p:nvSpPr>
        <p:spPr>
          <a:xfrm>
            <a:off x="6766108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controle</a:t>
            </a:r>
          </a:p>
        </p:txBody>
      </p:sp>
      <p:sp>
        <p:nvSpPr>
          <p:cNvPr id="27" name="!!stip6"/>
          <p:cNvSpPr/>
          <p:nvPr/>
        </p:nvSpPr>
        <p:spPr>
          <a:xfrm>
            <a:off x="8446699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aand6"/>
          <p:cNvSpPr txBox="1"/>
          <p:nvPr/>
        </p:nvSpPr>
        <p:spPr>
          <a:xfrm>
            <a:off x="7916135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12</a:t>
            </a:r>
          </a:p>
        </p:txBody>
      </p:sp>
      <p:sp>
        <p:nvSpPr>
          <p:cNvPr id="29" name="!!taak6"/>
          <p:cNvSpPr txBox="1"/>
          <p:nvPr/>
        </p:nvSpPr>
        <p:spPr>
          <a:xfrm>
            <a:off x="7979633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meting</a:t>
            </a:r>
          </a:p>
        </p:txBody>
      </p:sp>
      <p:sp>
        <p:nvSpPr>
          <p:cNvPr id="30" name="!!stip7"/>
          <p:cNvSpPr/>
          <p:nvPr/>
        </p:nvSpPr>
        <p:spPr>
          <a:xfrm>
            <a:off x="9660225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aand7"/>
          <p:cNvSpPr txBox="1"/>
          <p:nvPr/>
        </p:nvSpPr>
        <p:spPr>
          <a:xfrm>
            <a:off x="9129660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15</a:t>
            </a:r>
          </a:p>
        </p:txBody>
      </p:sp>
      <p:sp>
        <p:nvSpPr>
          <p:cNvPr id="32" name="!!taak7"/>
          <p:cNvSpPr txBox="1"/>
          <p:nvPr/>
        </p:nvSpPr>
        <p:spPr>
          <a:xfrm>
            <a:off x="9193159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controle</a:t>
            </a:r>
          </a:p>
        </p:txBody>
      </p:sp>
      <p:sp>
        <p:nvSpPr>
          <p:cNvPr id="33" name="!!stip8"/>
          <p:cNvSpPr/>
          <p:nvPr/>
        </p:nvSpPr>
        <p:spPr>
          <a:xfrm>
            <a:off x="10873750" y="2984425"/>
            <a:ext cx="152396" cy="152396"/>
          </a:xfrm>
          <a:prstGeom prst="ellipse">
            <a:avLst/>
          </a:prstGeom>
          <a:solidFill>
            <a:srgbClr val="2BB9AD"/>
          </a:solidFill>
          <a:ln w="38100">
            <a:solidFill>
              <a:srgbClr val="16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aand8"/>
          <p:cNvSpPr txBox="1"/>
          <p:nvPr/>
        </p:nvSpPr>
        <p:spPr>
          <a:xfrm>
            <a:off x="10343185" y="2260543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4F8FB"/>
                </a:solidFill>
                <a:latin typeface="Consolas"/>
              </a:rPr>
              <a:t>18</a:t>
            </a:r>
          </a:p>
        </p:txBody>
      </p:sp>
      <p:sp>
        <p:nvSpPr>
          <p:cNvPr id="35" name="!!taak8"/>
          <p:cNvSpPr txBox="1"/>
          <p:nvPr/>
        </p:nvSpPr>
        <p:spPr>
          <a:xfrm>
            <a:off x="10406684" y="3378115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93A9BA"/>
                </a:solidFill>
                <a:latin typeface="Segoe UI"/>
              </a:rPr>
              <a:t>einde</a:t>
            </a:r>
          </a:p>
        </p:txBody>
      </p:sp>
      <p:sp>
        <p:nvSpPr>
          <p:cNvPr id="36" name="!!camera"/>
          <p:cNvSpPr txBox="1"/>
          <p:nvPr/>
        </p:nvSpPr>
        <p:spPr>
          <a:xfrm>
            <a:off x="634984" y="4851278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E0A33D"/>
                </a:solidFill>
                <a:latin typeface="Segoe UI"/>
              </a:rPr>
              <a:t>7/9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0926" y="4965575"/>
            <a:ext cx="85087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4F8FB"/>
                </a:solidFill>
                <a:latin typeface="Segoe UI"/>
              </a:rPr>
              <a:t>momenten waren er sowieso 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33626" y="5448163"/>
            <a:ext cx="8508787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93A9BA"/>
                </a:solidFill>
                <a:latin typeface="Segoe UI"/>
              </a:rPr>
              <a:t>U ziet de patiënt niet vaker. U ziet hem beter: bij elk bezoek weet u wat de zool doet en wat er gedragen is.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18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SEBIA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Vijf stappen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95447"/>
            <a:ext cx="2057348" cy="3428914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2779" y="2311342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BB9AD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" y="2793930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779" y="3327316"/>
            <a:ext cx="1701757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Kennis meten. Educatie op maat, met oefenen.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4728" y="2095447"/>
            <a:ext cx="2057348" cy="3428914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22524" y="2311342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BB9AD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2524" y="2793930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3 mnd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2524" y="3327316"/>
            <a:ext cx="1701757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4473" y="2095447"/>
            <a:ext cx="2057348" cy="3428914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269" y="2311342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BB9AD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2269" y="2793930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6 · 12 mnd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2269" y="3327316"/>
            <a:ext cx="1701757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4218" y="2095447"/>
            <a:ext cx="2057348" cy="3428914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2013" y="2311342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BB9AD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2013" y="2793930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9 · 15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2013" y="3327316"/>
            <a:ext cx="1701757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73963" y="2095447"/>
            <a:ext cx="2057348" cy="3428914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51758" y="2311342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2BB9AD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1758" y="2793930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4F8FB"/>
                </a:solidFill>
                <a:latin typeface="Segoe UI"/>
              </a:rPr>
              <a:t>18 mnd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51758" y="3327316"/>
            <a:ext cx="1701757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93A9BA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19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4F8FB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2BB9AD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B9AD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E0A33D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93A9BA"/>
                </a:solidFill>
                <a:latin typeface="Segoe UI"/>
              </a:rPr>
              <a:t>Draadloze sensorzolen in de eigen schoen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93A9BA"/>
                </a:solidFill>
                <a:latin typeface="Segoe UI"/>
              </a:rPr>
              <a:t>Trublu-kalibratie op 6 bar,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93A9BA"/>
                </a:solidFill>
                <a:latin typeface="Segoe UI"/>
              </a:rPr>
              <a:t>Minstens twaalf mid-gait stappen per voet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4F8FB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2BB9AD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BB9AD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93A9BA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93A9BA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E0A33D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223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4F8FB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2BB9AD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BB9AD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93A9BA"/>
                </a:solidFill>
                <a:latin typeface="Segoe UI"/>
              </a:rPr>
              <a:t>Op de onderrug, niet waterdicht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93A9BA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E0A33D"/>
                </a:solidFill>
                <a:latin typeface="Consolas"/>
              </a:rPr>
              <a:t>ZET DE 80%-NORM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20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2BB9AD"/>
                </a:solidFill>
                <a:latin typeface="Segoe UI"/>
              </a:rPr>
              <a:t>03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4F8FB"/>
                </a:solidFill>
                <a:latin typeface="Segoe UI"/>
              </a:rPr>
              <a:t>Uw 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93A9BA"/>
                </a:solidFill>
                <a:latin typeface="Segoe UI Light"/>
              </a:rPr>
              <a:t>Minder dan u vreest. Maar niet niets.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21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VERDELING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Wie doet wat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30351"/>
            <a:ext cx="10921726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46246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4F8FB"/>
                </a:solidFill>
                <a:latin typeface="Segoe UI"/>
              </a:rPr>
              <a:t>Podoloog</a:t>
            </a:r>
          </a:p>
        </p:txBody>
      </p:sp>
      <p:sp>
        <p:nvSpPr>
          <p:cNvPr id="7" name="Oval 6"/>
          <p:cNvSpPr/>
          <p:nvPr/>
        </p:nvSpPr>
        <p:spPr>
          <a:xfrm>
            <a:off x="3555911" y="2235144"/>
            <a:ext cx="69848" cy="69848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21006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Voert de drukmeting uit</a:t>
            </a:r>
          </a:p>
        </p:txBody>
      </p:sp>
      <p:sp>
        <p:nvSpPr>
          <p:cNvPr id="9" name="Oval 8"/>
          <p:cNvSpPr/>
          <p:nvPr/>
        </p:nvSpPr>
        <p:spPr>
          <a:xfrm>
            <a:off x="6273643" y="2235144"/>
            <a:ext cx="69848" cy="69848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739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Levert SEBIA</a:t>
            </a:r>
          </a:p>
        </p:txBody>
      </p:sp>
      <p:sp>
        <p:nvSpPr>
          <p:cNvPr id="11" name="Oval 10"/>
          <p:cNvSpPr/>
          <p:nvPr/>
        </p:nvSpPr>
        <p:spPr>
          <a:xfrm>
            <a:off x="8991375" y="2235144"/>
            <a:ext cx="69848" cy="69848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6471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Leest sensoren uit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2971725"/>
            <a:ext cx="10921726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187620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4F8FB"/>
                </a:solidFill>
                <a:latin typeface="Segoe UI"/>
              </a:rPr>
              <a:t>Pedorthist</a:t>
            </a:r>
          </a:p>
        </p:txBody>
      </p:sp>
      <p:sp>
        <p:nvSpPr>
          <p:cNvPr id="15" name="Oval 14"/>
          <p:cNvSpPr/>
          <p:nvPr/>
        </p:nvSpPr>
        <p:spPr>
          <a:xfrm>
            <a:off x="3555911" y="3276518"/>
            <a:ext cx="69848" cy="69848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006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Maakt de zool</a:t>
            </a:r>
          </a:p>
        </p:txBody>
      </p:sp>
      <p:sp>
        <p:nvSpPr>
          <p:cNvPr id="17" name="Oval 16"/>
          <p:cNvSpPr/>
          <p:nvPr/>
        </p:nvSpPr>
        <p:spPr>
          <a:xfrm>
            <a:off x="6273643" y="3276518"/>
            <a:ext cx="69848" cy="69848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739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Past aan tot de norm</a:t>
            </a:r>
          </a:p>
        </p:txBody>
      </p:sp>
      <p:sp>
        <p:nvSpPr>
          <p:cNvPr id="19" name="Oval 18"/>
          <p:cNvSpPr/>
          <p:nvPr/>
        </p:nvSpPr>
        <p:spPr>
          <a:xfrm>
            <a:off x="8991375" y="3276518"/>
            <a:ext cx="69848" cy="69848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6471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Integreert de sensor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013099"/>
            <a:ext cx="10921726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228994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4F8FB"/>
                </a:solidFill>
                <a:latin typeface="Segoe UI"/>
              </a:rPr>
              <a:t>Arts</a:t>
            </a:r>
          </a:p>
        </p:txBody>
      </p:sp>
      <p:sp>
        <p:nvSpPr>
          <p:cNvPr id="23" name="Oval 22"/>
          <p:cNvSpPr/>
          <p:nvPr/>
        </p:nvSpPr>
        <p:spPr>
          <a:xfrm>
            <a:off x="3555911" y="4317892"/>
            <a:ext cx="69848" cy="69848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006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Bevestigt geschiktheid</a:t>
            </a:r>
          </a:p>
        </p:txBody>
      </p:sp>
      <p:sp>
        <p:nvSpPr>
          <p:cNvPr id="25" name="Oval 24"/>
          <p:cNvSpPr/>
          <p:nvPr/>
        </p:nvSpPr>
        <p:spPr>
          <a:xfrm>
            <a:off x="6273643" y="4317892"/>
            <a:ext cx="69848" cy="69848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39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Beoordeelt laesies</a:t>
            </a:r>
          </a:p>
        </p:txBody>
      </p:sp>
      <p:sp>
        <p:nvSpPr>
          <p:cNvPr id="27" name="Oval 26"/>
          <p:cNvSpPr/>
          <p:nvPr/>
        </p:nvSpPr>
        <p:spPr>
          <a:xfrm>
            <a:off x="8991375" y="4317892"/>
            <a:ext cx="69848" cy="69848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6471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Meldt voorvallen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984" y="5054473"/>
            <a:ext cx="10921726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984" y="5270368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4F8FB"/>
                </a:solidFill>
                <a:latin typeface="Segoe UI"/>
              </a:rPr>
              <a:t>Management</a:t>
            </a:r>
          </a:p>
        </p:txBody>
      </p:sp>
      <p:sp>
        <p:nvSpPr>
          <p:cNvPr id="31" name="Oval 30"/>
          <p:cNvSpPr/>
          <p:nvPr/>
        </p:nvSpPr>
        <p:spPr>
          <a:xfrm>
            <a:off x="3555911" y="5359266"/>
            <a:ext cx="69848" cy="69848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21006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Maakt tijd vrij</a:t>
            </a:r>
          </a:p>
        </p:txBody>
      </p:sp>
      <p:sp>
        <p:nvSpPr>
          <p:cNvPr id="33" name="Oval 32"/>
          <p:cNvSpPr/>
          <p:nvPr/>
        </p:nvSpPr>
        <p:spPr>
          <a:xfrm>
            <a:off x="6273643" y="5359266"/>
            <a:ext cx="69848" cy="69848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8739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Faciliteert opleiding</a:t>
            </a:r>
          </a:p>
        </p:txBody>
      </p:sp>
      <p:sp>
        <p:nvSpPr>
          <p:cNvPr id="35" name="Oval 34"/>
          <p:cNvSpPr/>
          <p:nvPr/>
        </p:nvSpPr>
        <p:spPr>
          <a:xfrm>
            <a:off x="8991375" y="5359266"/>
            <a:ext cx="69848" cy="69848"/>
          </a:xfrm>
          <a:prstGeom prst="ellipse">
            <a:avLst/>
          </a:prstGeom>
          <a:solidFill>
            <a:srgbClr val="2BB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6471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Bewaakt 24 inclusies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984" y="6095847"/>
            <a:ext cx="10921726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22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E4674E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4F8FB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4F8FB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4F8FB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93A9BA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E467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E4674E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4F8FB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23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DE VRAAG DIE U NIET HARDOP STELT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Wat kost dit mij?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1676358"/>
            <a:ext cx="88897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93A9BA"/>
                </a:solidFill>
                <a:latin typeface="Segoe UI"/>
              </a:rPr>
              <a:t>Geen verzonnen getal. Dit komt erbij: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4984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179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2BB9AD"/>
                </a:solidFill>
                <a:latin typeface="Consolas"/>
              </a:rPr>
              <a:t>DRUKMETING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179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4F8FB"/>
                </a:solidFill>
                <a:latin typeface="Segoe UI"/>
              </a:rPr>
              <a:t>baseline · 6 · 12 maanden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5113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2BB9AD"/>
                </a:solidFill>
                <a:latin typeface="Consolas"/>
              </a:rPr>
              <a:t>SEBIA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113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4F8FB"/>
                </a:solidFill>
                <a:latin typeface="Segoe UI"/>
              </a:rPr>
              <a:t>in het bestaande consult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984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179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2BB9AD"/>
                </a:solidFill>
                <a:latin typeface="Consolas"/>
              </a:rPr>
              <a:t>SENSOR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79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4F8FB"/>
                </a:solidFill>
                <a:latin typeface="Segoe UI"/>
              </a:rPr>
              <a:t>uitlezen en vervangen per bezoek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1918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5113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2BB9AD"/>
                </a:solidFill>
                <a:latin typeface="Consolas"/>
              </a:rPr>
              <a:t>OPLEIDING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113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4F8FB"/>
                </a:solidFill>
                <a:latin typeface="Segoe UI"/>
              </a:rPr>
              <a:t>eenmalig, door ons verzorgd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984" y="4101997"/>
            <a:ext cx="10921726" cy="952476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2BB9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94090"/>
            <a:ext cx="10286742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4F8FB"/>
                </a:solidFill>
                <a:latin typeface="Segoe UI"/>
              </a:rPr>
              <a:t>Hoeveel het wérkelijk kost, meten we. Dat is precies wat een implementatiestudie hoort te doen.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24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E0A33D"/>
                </a:solidFill>
                <a:latin typeface="Consolas"/>
              </a:rPr>
              <a:t>RUSTPUNT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2362140"/>
            <a:ext cx="1092172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0" b="1">
                <a:solidFill>
                  <a:srgbClr val="F4F8FB"/>
                </a:solidFill>
                <a:latin typeface="Segoe UI"/>
              </a:rPr>
              <a:t>Vragen?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4444888"/>
            <a:ext cx="10921726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>
                <a:solidFill>
                  <a:srgbClr val="93A9BA"/>
                </a:solidFill>
                <a:latin typeface="Segoe UI Light"/>
              </a:rPr>
              <a:t>Voor we naar de afspraken gaan.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25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ONDERSTEUNING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Wat u van ons krijgt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93850"/>
            <a:ext cx="6222844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58946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4F8FB"/>
                </a:solidFill>
                <a:latin typeface="Segoe UI"/>
              </a:rPr>
              <a:t>Motiverende gespreksvoering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476438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Training door een psycholoog — alle centra dezelfde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2959026"/>
            <a:ext cx="6222844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984" y="3124121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4F8FB"/>
                </a:solidFill>
                <a:latin typeface="Segoe UI"/>
              </a:rPr>
              <a:t>Pedar en SEBIA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" y="3441613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Werkinstructie en draaiboek per handeling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984" y="3924201"/>
            <a:ext cx="6222844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984" y="4089297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4F8FB"/>
                </a:solidFill>
                <a:latin typeface="Segoe UI"/>
              </a:rPr>
              <a:t>REDCap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" y="4406789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Instructie plus een testomgeving om in te oefenen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984" y="4889377"/>
            <a:ext cx="6222844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984" y="5054473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4F8FB"/>
                </a:solidFill>
                <a:latin typeface="Segoe UI"/>
              </a:rPr>
              <a:t>Eén contactpunt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" y="5371965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Eén nummer, één mailadres, voor alles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2812" y="1904952"/>
            <a:ext cx="4063898" cy="3949601"/>
          </a:xfrm>
          <a:prstGeom prst="roundRect">
            <a:avLst>
              <a:gd name="adj" fmla="val 4500"/>
            </a:avLst>
          </a:prstGeom>
          <a:solidFill>
            <a:srgbClr val="1E3040"/>
          </a:solidFill>
          <a:ln w="9525">
            <a:solidFill>
              <a:srgbClr val="E0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00799" y="2044648"/>
            <a:ext cx="3047923" cy="3047923"/>
          </a:xfrm>
          <a:prstGeom prst="ellipse">
            <a:avLst/>
          </a:prstGeom>
          <a:solidFill>
            <a:srgbClr val="E0A33D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ro"/>
          <p:cNvSpPr txBox="1"/>
          <p:nvPr/>
        </p:nvSpPr>
        <p:spPr>
          <a:xfrm>
            <a:off x="7772205" y="2158946"/>
            <a:ext cx="3555911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E0A33D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205" y="4063898"/>
            <a:ext cx="3555911" cy="39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F4F8FB"/>
                </a:solidFill>
                <a:latin typeface="Segoe UI"/>
              </a:rPr>
              <a:t>sancties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304" y="4584585"/>
            <a:ext cx="3428914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93A9BA"/>
                </a:solidFill>
                <a:latin typeface="Segoe UI"/>
              </a:rPr>
              <a:t>Wijkt u af van het protocol, dan meldt u dat. Het wordt geregistreerd, niet afgestraft.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26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WAT U GAAT VRAGEN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Vooruitlopend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04952"/>
            <a:ext cx="5384538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4F8FB"/>
                </a:solidFill>
                <a:latin typeface="Segoe UI"/>
              </a:rPr>
              <a:t>Patiënt wil de sensor niet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BB9AD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Dan niet geschikt. Draagtijd ís een hoofduitkomst.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1918" y="1904952"/>
            <a:ext cx="5384538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1918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4F8FB"/>
                </a:solidFill>
                <a:latin typeface="Segoe UI"/>
              </a:rPr>
              <a:t>Zool haalt de norm niet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918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BB9AD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We noteren wat wél bereikt is en gaan door.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340016"/>
            <a:ext cx="5384538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4F8FB"/>
                </a:solidFill>
                <a:latin typeface="Segoe UI"/>
              </a:rPr>
              <a:t>Mag ik nog adviseren?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BB9AD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977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Alles wat u vandaag doet, blijft u doen.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1918" y="3340016"/>
            <a:ext cx="5384538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1918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4F8FB"/>
                </a:solidFill>
                <a:latin typeface="Segoe UI"/>
              </a:rPr>
              <a:t>Wij zijn niet academisch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1918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BB9AD"/>
                </a:solidFill>
                <a:latin typeface="Segoe U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912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Drie van de zes centra ook niet. Dat wordt getoetst.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775080"/>
            <a:ext cx="5384538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4F8FB"/>
                </a:solidFill>
                <a:latin typeface="Segoe UI"/>
              </a:rPr>
              <a:t>Onze data?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BB9AD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977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Gepseudonimiseerd, tien jaar, binnen de toestemming.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1918" y="4775080"/>
            <a:ext cx="5384538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1918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4F8FB"/>
                </a:solidFill>
                <a:latin typeface="Segoe UI"/>
              </a:rPr>
              <a:t>Zien wij resultaten?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1918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BB9AD"/>
                </a:solidFill>
                <a:latin typeface="Segoe U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5912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93A9BA"/>
                </a:solidFill>
                <a:latin typeface="Segoe UI"/>
              </a:rPr>
              <a:t>Eén publicatie, ongeacht de uitkomst.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27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2BB9AD"/>
                </a:solidFill>
                <a:latin typeface="Consolas"/>
              </a:rPr>
              <a:t>DE AFSPRAAK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4F8FB"/>
                </a:solidFill>
                <a:latin typeface="Segoe UI"/>
              </a:rPr>
              <a:t>Vier dingen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10921726" cy="3949601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281" y="2184345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2BB9AD"/>
                </a:solidFill>
                <a:latin typeface="Segoe U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4425" y="2235144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4F8FB"/>
                </a:solidFill>
                <a:latin typeface="Segoe UI"/>
              </a:rPr>
              <a:t>deelnemers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7125" y="2578035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3A9BA"/>
                </a:solidFill>
                <a:latin typeface="Segoe UI"/>
              </a:rPr>
              <a:t>over twaalf maanden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6773" y="2946326"/>
            <a:ext cx="10058148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281" y="3111422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2BB9AD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4425" y="3162220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4F8FB"/>
                </a:solidFill>
                <a:latin typeface="Segoe UI"/>
              </a:rPr>
              <a:t>vaste 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125" y="3505112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3A9BA"/>
                </a:solidFill>
                <a:latin typeface="Segoe UI"/>
              </a:rPr>
              <a:t>plus gedelegeerd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6773" y="3873403"/>
            <a:ext cx="10058148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281" y="4038499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2BB9AD"/>
                </a:solidFill>
                <a:latin typeface="Segoe UI"/>
              </a:rPr>
              <a:t>10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4425" y="4089297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4F8FB"/>
                </a:solidFill>
                <a:latin typeface="Segoe UI"/>
              </a:rPr>
              <a:t>looppad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125" y="4432189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3A9BA"/>
                </a:solidFill>
                <a:latin typeface="Segoe UI"/>
              </a:rPr>
              <a:t>meer ruimte is niet nodig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6773" y="4800479"/>
            <a:ext cx="10058148" cy="9524"/>
          </a:xfrm>
          <a:prstGeom prst="rect">
            <a:avLst/>
          </a:prstGeom>
          <a:solidFill>
            <a:srgbClr val="2C4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281" y="4965575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2BB9AD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4425" y="5016374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4F8FB"/>
                </a:solidFill>
                <a:latin typeface="Segoe UI"/>
              </a:rPr>
              <a:t>dagboek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125" y="5359266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3A9BA"/>
                </a:solidFill>
                <a:latin typeface="Segoe UI"/>
              </a:rPr>
              <a:t>voor de procesevaluatie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93A9BA"/>
                </a:solidFill>
                <a:latin typeface="Consolas"/>
              </a:rPr>
              <a:t>28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B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879553"/>
            <a:ext cx="7619809" cy="1460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F4F8FB"/>
                </a:solidFill>
                <a:latin typeface="Segoe UI"/>
              </a:rPr>
              <a:t>Doe mee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383" y="3479713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2BB9AD"/>
                </a:solidFill>
                <a:latin typeface="Segoe UI Light"/>
              </a:rPr>
              <a:t>PARADISE start zodra de goedkeuringen binnen zijn.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216294"/>
            <a:ext cx="6349841" cy="1435064"/>
          </a:xfrm>
          <a:prstGeom prst="roundRect">
            <a:avLst>
              <a:gd name="adj" fmla="val 4500"/>
            </a:avLst>
          </a:prstGeom>
          <a:solidFill>
            <a:srgbClr val="16242F"/>
          </a:solidFill>
          <a:ln w="9525">
            <a:solidFill>
              <a:srgbClr val="2C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9776" y="4495687"/>
            <a:ext cx="5841853" cy="1079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b="0">
                <a:solidFill>
                  <a:srgbClr val="93A9BA"/>
                </a:solidFill>
                <a:latin typeface="Segoe UI"/>
              </a:rPr>
              <a:t>Janou De Buyser · doctoraatsonderzoeker</a:t>
            </a:r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650" b="0">
                <a:solidFill>
                  <a:srgbClr val="93A9BA"/>
                </a:solidFill>
                <a:latin typeface="Segoe UI"/>
              </a:rPr>
              <a:t>KU Leuven · Revalidatiewetenschappen · Campus Brugge</a:t>
            </a:r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650" b="0">
                <a:solidFill>
                  <a:srgbClr val="93A9BA"/>
                </a:solidFill>
                <a:latin typeface="Segoe UI"/>
              </a:rPr>
              <a:t>prof. dr. Kevin Deschamps · kevin.deschamps@kuleuven.be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9BA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