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Begin staand, zonder klikken. Laat de dia drie tellen staan voor u praat. De drie tegels zijn het enige wat ze hoeven onthouden.</a:t>
            </a:r>
          </a:p>
          <a:p/>
          <a:p>
            <a:r>
              <a:t>INTERACTIE</a:t>
            </a:r>
          </a:p>
          <a:p>
            <a:r>
              <a:t>Vraag bij binnenkomst: "wie heeft deze week een recidief gezien?" Handen in de lucht. Dat is uw opening.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Laat de zaal kiezen. Dit is geen lineaire deck. Wie kiest, luistert beter.</a:t>
            </a:r>
          </a:p>
          <a:p/>
          <a:p>
            <a:r>
              <a:t>INTERACTIE</a:t>
            </a:r>
          </a:p>
          <a:p>
            <a:r>
              <a:t>Handopsteking of Mentimeter. Begin met het blok dat wint.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/>
          <a:p/>
          <a:p>
            <a:r>
              <a:t>INTERACTIE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Laat het getal even alleen staan. Zeg dan pas: "dit is uw eigen praktijk."</a:t>
            </a:r>
          </a:p>
          <a:p/>
          <a:p>
            <a:r>
              <a:t>INTERACTIE</a:t>
            </a:r>
          </a:p>
          <a:p>
            <a:r>
              <a:t>Morph vanaf de sectiedia: het cijfer groeit uit de titel.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Wijs eerst links aan, laat het bezinken, wijs dan rechts. De punchline zegt u, niet de dia.</a:t>
            </a:r>
          </a:p>
          <a:p/>
          <a:p>
            <a:r>
              <a:t>INTERACTIE</a:t>
            </a:r>
          </a:p>
          <a:p>
            <a:r>
              <a:t>Morph: beide blokken schuiven uit het midden uit elkaar.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Het venijn zit in de derde tegel: binnen zetten ze méér stappen dan buiten.</a:t>
            </a:r>
          </a:p>
          <a:p/>
          <a:p>
            <a:r>
              <a:t>INTERACTIE</a:t>
            </a:r>
          </a:p>
          <a:p>
            <a:r>
              <a:t>Vraag: "wat schat u dat úw patiënten halen?" Laat ze roepen voor u klikt.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Teken het maalteken in de lucht. Product, niet som — dat is het hele punt.</a:t>
            </a:r>
          </a:p>
          <a:p/>
          <a:p>
            <a:r>
              <a:t>INTERACTIE</a:t>
            </a:r>
          </a:p>
          <a:p>
            <a:r>
              <a:t>Morph: de drie tegels komen samen uit één punt.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/>
          <a:p/>
          <a:p>
            <a:r>
              <a:t>INTERACTIE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Wijs de rode plek aan. Zeg er niets bij. Klik dan pas door.</a:t>
            </a:r>
          </a:p>
          <a:p/>
          <a:p>
            <a:r>
              <a:t>INTERACTIE</a:t>
            </a:r>
          </a:p>
          <a:p>
            <a:r>
              <a:t>Vraag: "waar verwacht u de piek?" Laat ze wijzen voor u de dia toont.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Dit is de morph waar het om draait: de hete plek koelt af terwijl de voetboog oplicht. Klik traag en zwijg tot de animatie klaar is.</a:t>
            </a:r>
          </a:p>
          <a:p/>
          <a:p>
            <a:r>
              <a:t>INTERACTIE</a:t>
            </a:r>
          </a:p>
          <a:p>
            <a:r>
              <a:t>Vraag daarna: "en hoe weet u of hij hem draagt?" Dat is de brug naar de tweede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Benadruk "óf". Twee wegen naar dezelfde norm, geen dubbele eis.</a:t>
            </a:r>
          </a:p>
          <a:p/>
          <a:p>
            <a:r>
              <a:t>INTERACTIE</a:t>
            </a:r>
          </a:p>
          <a:p>
            <a:r>
              <a:t>Morph: de twee blokken kantelen naar voren.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De laatste tegel is de belangrijkste: wij hebben twee eindpunten nodig, niet één. Dat maakt de lat hoog en dat weten we.</a:t>
            </a:r>
          </a:p>
          <a:p/>
          <a:p>
            <a:r>
              <a:t>INTERACTIE</a:t>
            </a:r>
          </a:p>
          <a:p>
            <a:r>
              <a:t>Geen. Laat ze lezen.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Loop niet elk criterium af. Zeg: "categorie 3, vaatstatus in orde, spreekt Nederlands" — de rest staat op papier.</a:t>
            </a:r>
          </a:p>
          <a:p/>
          <a:p>
            <a:r>
              <a:t>INTERACTIE</a:t>
            </a:r>
          </a:p>
          <a:p>
            <a:r>
              <a:t>Deel de screeningskaart uit terwijl u praat.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Dit is voor een deel van de zaal de eerste kennismaking met het traject. Geef eerst het overzicht, klik dan door: de tijdlijn zoomt in op elke fase en komt op het eind weer terug.</a:t>
            </a:r>
          </a:p>
          <a:p/>
          <a:p>
            <a:r>
              <a:t>INTERACTIE</a:t>
            </a:r>
          </a:p>
          <a:p>
            <a:r>
              <a:t>Vraag voor u inzoomt: "over welke fase wilt u het meest weten?" Zoom dan als eerste naar die fase.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Leg uit dat de screening vóór de toestemming gebeurt en dus kort is: u kijkt enkel of iemand in aanmerking komt.</a:t>
            </a:r>
          </a:p>
          <a:p/>
          <a:p>
            <a:r>
              <a:t>INTERACTIE</a:t>
            </a:r>
          </a:p>
          <a:p>
            <a:r>
              <a:t>Morph: de camera zoomt in op de eerste twee stippen.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Hier zit het meeste werk voor de pedorthist. Kijk hem of haar aan.</a:t>
            </a:r>
          </a:p>
          <a:p/>
          <a:p>
            <a:r>
              <a:t>INTERACTIE</a:t>
            </a:r>
          </a:p>
          <a:p>
            <a:r>
              <a:t>Vraag aan de pedorthist hoeveel aanpassingsrondes realistisch zijn.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Benadruk: uitlezen en vervangen kan alleen ter plaatse, dus koppel het aan een bezoek dat toch al gepland is.</a:t>
            </a:r>
          </a:p>
          <a:p/>
          <a:p>
            <a:r>
              <a:t>INTERACTIE</a:t>
            </a:r>
          </a:p>
          <a:p>
            <a:r>
              <a:t>Morph: de camera trekt terug en toont de hele staart.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Dit is dezelfde dia als het begin van het blok. De zaal herkent hem, en dat is precies het effect dat u wilt.</a:t>
            </a:r>
          </a:p>
          <a:p/>
          <a:p>
            <a:r>
              <a:t>INTERACTIE</a:t>
            </a:r>
          </a:p>
          <a:p>
            <a:r>
              <a:t>Laat hem staan tijdens de vragen over het traject.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Stap 3 is het hart: eerst láát u hem schatten, dán toont u de data.</a:t>
            </a:r>
          </a:p>
          <a:p/>
          <a:p>
            <a:r>
              <a:t>INTERACTIE</a:t>
            </a:r>
          </a:p>
          <a:p>
            <a:r>
              <a:t>Rollenspel van twee minuten met een vrijwilliger uit de zaal.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Benoem dat de Orthotimer géén GPS, microfoon of camera heeft. Die vraag komt gegarandeerd.</a:t>
            </a:r>
          </a:p>
          <a:p/>
          <a:p>
            <a:r>
              <a:t>INTERACTIE</a:t>
            </a:r>
          </a:p>
          <a:p>
            <a:r>
              <a:t>Laat de toestellen rondgaan. Fysiek werkt beter dan een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/>
          <a:p/>
          <a:p>
            <a:r>
              <a:t>INTERACTIE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Kijk elke groep aan bij hun kolom. Namen noemen als u ze kent.</a:t>
            </a:r>
          </a:p>
          <a:p/>
          <a:p>
            <a:r>
              <a:t>INTERACTIE</a:t>
            </a:r>
          </a:p>
          <a:p>
            <a:r>
              <a:t>Vraag per kolom: "herkenbaar, of mis ik iets?"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Dit is de dia waar u stilvalt. Geen haast. Vraag of het helder is voordat u doorgaat.</a:t>
            </a:r>
          </a:p>
          <a:p/>
          <a:p>
            <a:r>
              <a:t>INTERACTIE</a:t>
            </a:r>
          </a:p>
          <a:p>
            <a:r>
              <a:t>Laat iemand het in eigen woorden herhalen. Zo weet u of het zit.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Wees hier eerlijk. Als u een getal verzint dat niet klopt, bent u ze kwijt.</a:t>
            </a:r>
          </a:p>
          <a:p/>
          <a:p>
            <a:r>
              <a:t>INTERACTIE</a:t>
            </a:r>
          </a:p>
          <a:p>
            <a:r>
              <a:t>Poll: "hoeveel minuten schat u?" Noteer de spreiding en kom er na zes maanden op terug.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Plan hier vijf minuten. Als er geen vragen komen, stel er zelf één: "wat lijkt u het lastigst?"</a:t>
            </a:r>
          </a:p>
          <a:p/>
          <a:p>
            <a:r>
              <a:t>INTERACTIE</a:t>
            </a:r>
          </a:p>
          <a:p>
            <a:r>
              <a:t>Open moment. Noteer wat er komt — het voedt de procesevaluatie.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Het cijfer rechts ontspant de zaal. Zeg het expliciet en wacht even.</a:t>
            </a:r>
          </a:p>
          <a:p/>
          <a:p>
            <a:r>
              <a:t>INTERACTIE</a:t>
            </a:r>
          </a:p>
          <a:p>
            <a:r>
              <a:t>Geen.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Sla over wat al gevraagd is. Deze dia is een vangnet, geen programma.</a:t>
            </a:r>
          </a:p>
          <a:p/>
          <a:p>
            <a:r>
              <a:t>INTERACTIE</a:t>
            </a:r>
          </a:p>
          <a:p>
            <a:r>
              <a:t>Toon hem alleen als de vragen opdrogen.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Eindig hier als u tijd tekortkomt. Dit is de dia die telt.</a:t>
            </a:r>
          </a:p>
          <a:p/>
          <a:p>
            <a:r>
              <a:t>INTERACTIE</a:t>
            </a:r>
          </a:p>
          <a:p>
            <a:r>
              <a:t>Vraag ter plekke of het haalbaar lijkt. Twijfel nu is beter dan uitval straks.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PRESENTATIETIP</a:t>
            </a:r>
          </a:p>
          <a:p>
            <a:r>
              <a:t>Laat deze staan tijdens het napraten. Contactgegevens moeten zichtbaar blijven terwijl mensen naar u toe komen.</a:t>
            </a:r>
          </a:p>
          <a:p/>
          <a:p>
            <a:r>
              <a:t>INTERACTIE</a:t>
            </a:r>
          </a:p>
          <a:p>
            <a:r>
              <a:t>Deel de eenpager uit. Vraag wie een inclusiekandidaat in gedachten heeft.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34984" y="952476"/>
            <a:ext cx="10921726" cy="2984425"/>
          </a:xfrm>
          <a:prstGeom prst="roundRect">
            <a:avLst>
              <a:gd name="adj" fmla="val 4500"/>
            </a:avLst>
          </a:prstGeom>
          <a:solidFill>
            <a:srgbClr val="0A2A44">
              <a:alpha val="60000"/>
            </a:srgbClr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ro"/>
          <p:cNvSpPr txBox="1"/>
          <p:nvPr/>
        </p:nvSpPr>
        <p:spPr>
          <a:xfrm>
            <a:off x="952476" y="1308067"/>
            <a:ext cx="8889777" cy="171445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1000" b="1">
                <a:solidFill>
                  <a:srgbClr val="F2F8FC"/>
                </a:solidFill>
                <a:latin typeface="Segoe UI"/>
              </a:rPr>
              <a:t>PARADISE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0575" y="2806629"/>
            <a:ext cx="7619809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52BDEC"/>
                </a:solidFill>
                <a:latin typeface="Segoe UI"/>
              </a:rPr>
              <a:t>Druk. Trouw. Educatie.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75" y="3505112"/>
            <a:ext cx="8254793" cy="44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>
                <a:solidFill>
                  <a:srgbClr val="8FB6D0"/>
                </a:solidFill>
                <a:latin typeface="Segoe UI Light"/>
              </a:rPr>
              <a:t>Eén zorgpad tegen het recidief van de diabetische voet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4984" y="4216294"/>
            <a:ext cx="3538893" cy="1333466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878" y="4432189"/>
            <a:ext cx="3157903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52BDEC"/>
                </a:solidFill>
                <a:latin typeface="Segoe UI"/>
              </a:rPr>
              <a:t>144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578" y="5143371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spc="140">
                <a:solidFill>
                  <a:srgbClr val="8FB6D0"/>
                </a:solidFill>
                <a:latin typeface="Consolas"/>
              </a:rPr>
              <a:t>DEELNEMERS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6273" y="4216294"/>
            <a:ext cx="3538893" cy="1333466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2168" y="4432189"/>
            <a:ext cx="3157903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52BDEC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4868" y="5143371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spc="140">
                <a:solidFill>
                  <a:srgbClr val="8FB6D0"/>
                </a:solidFill>
                <a:latin typeface="Consolas"/>
              </a:rPr>
              <a:t>VOETKLINIEKEN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7563" y="4216294"/>
            <a:ext cx="3538893" cy="1333466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3458" y="4432189"/>
            <a:ext cx="3157903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52BDEC"/>
                </a:solidFill>
                <a:latin typeface="Segoe UI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6157" y="5143371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spc="140">
                <a:solidFill>
                  <a:srgbClr val="8FB6D0"/>
                </a:solidFill>
                <a:latin typeface="Consolas"/>
              </a:rPr>
              <a:t>MAANDEN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84" y="6387940"/>
            <a:ext cx="9524761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Informatiesessie · KU Leuven · prof. dr. Kevin Deschamps · FWO T000226N</a:t>
            </a:r>
          </a:p>
        </p:txBody>
      </p:sp>
      <p:pic>
        <p:nvPicPr>
          <p:cNvPr id="17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513" y="1244568"/>
            <a:ext cx="1646451" cy="1904952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9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DEZE SESSIE IS MODULAIR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Waar wilt u beginnen?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2158946"/>
            <a:ext cx="2616071" cy="304792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479" y="2412939"/>
            <a:ext cx="2235080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52BDE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479" y="2959026"/>
            <a:ext cx="2235080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8FC"/>
                </a:solidFill>
                <a:latin typeface="Segoe UI"/>
              </a:rPr>
              <a:t>Het probleem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5479" y="3848003"/>
            <a:ext cx="2235080" cy="1142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Waarom betere zolen niet volstaan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3451" y="2158946"/>
            <a:ext cx="2616071" cy="304792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946" y="2412939"/>
            <a:ext cx="2235080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52BDEC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946" y="2959026"/>
            <a:ext cx="2235080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8FC"/>
                </a:solidFill>
                <a:latin typeface="Segoe UI"/>
              </a:rPr>
              <a:t>De interventie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946" y="3848003"/>
            <a:ext cx="2235080" cy="1142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Wat we precies gaan doen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1918" y="2158946"/>
            <a:ext cx="2616071" cy="304792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2413" y="2412939"/>
            <a:ext cx="2235080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52BDEC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413" y="2959026"/>
            <a:ext cx="2235080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8FC"/>
                </a:solidFill>
                <a:latin typeface="Segoe UI"/>
              </a:rPr>
              <a:t>Uw 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2413" y="3848003"/>
            <a:ext cx="2235080" cy="1142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Wat er dinsdagmiddag verandert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0385" y="2158946"/>
            <a:ext cx="2616071" cy="304792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0881" y="2412939"/>
            <a:ext cx="2235080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52BDE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0881" y="2959026"/>
            <a:ext cx="2235080" cy="761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F2F8FC"/>
                </a:solidFill>
                <a:latin typeface="Segoe UI"/>
              </a:rPr>
              <a:t>De afspraak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881" y="3848003"/>
            <a:ext cx="2235080" cy="114297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Wat we van uw kliniek vragen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02 / 29</a:t>
            </a:r>
          </a:p>
        </p:txBody>
      </p:sp>
      <p:pic>
        <p:nvPicPr>
          <p:cNvPr id="22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"/>
          <p:cNvSpPr txBox="1"/>
          <p:nvPr/>
        </p:nvSpPr>
        <p:spPr>
          <a:xfrm>
            <a:off x="634984" y="1854153"/>
            <a:ext cx="4444888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52BDEC"/>
                </a:solidFill>
                <a:latin typeface="Segoe UI"/>
              </a:rPr>
              <a:t>01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3975000"/>
            <a:ext cx="8889777" cy="888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600" b="1">
                <a:solidFill>
                  <a:srgbClr val="F2F8FC"/>
                </a:solidFill>
                <a:latin typeface="Segoe UI"/>
              </a:rPr>
              <a:t>Het probleem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383" y="4990975"/>
            <a:ext cx="8254793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8FB6D0"/>
                </a:solidFill>
                <a:latin typeface="Segoe UI Light"/>
              </a:rPr>
              <a:t>Genezing is geen eindpunt. Het is een pauze.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03 / 29</a:t>
            </a:r>
          </a:p>
        </p:txBody>
      </p:sp>
      <p:pic>
        <p:nvPicPr>
          <p:cNvPr id="7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756" y="1904952"/>
            <a:ext cx="1865978" cy="2158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5974" y="253993"/>
            <a:ext cx="5206869" cy="5206869"/>
          </a:xfrm>
          <a:prstGeom prst="ellipse">
            <a:avLst/>
          </a:prstGeom>
          <a:solidFill>
            <a:srgbClr val="FF7A00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ro"/>
          <p:cNvSpPr txBox="1"/>
          <p:nvPr/>
        </p:nvSpPr>
        <p:spPr>
          <a:xfrm>
            <a:off x="380990" y="761980"/>
            <a:ext cx="7619809" cy="3301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2000"/>
              </a:lnSpc>
            </a:pPr>
            <a:r>
              <a:rPr sz="25000" b="1">
                <a:solidFill>
                  <a:srgbClr val="FF7A00"/>
                </a:solidFill>
                <a:latin typeface="Segoe UI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4888" y="1320766"/>
            <a:ext cx="1523961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1">
                <a:solidFill>
                  <a:srgbClr val="FF7A00"/>
                </a:solidFill>
                <a:latin typeface="Segoe UI Light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383" y="3975000"/>
            <a:ext cx="5460863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2F8FC"/>
                </a:solidFill>
                <a:latin typeface="Segoe UI"/>
              </a:rPr>
              <a:t>krijgt binnen een jaar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3200" b="1">
                <a:solidFill>
                  <a:srgbClr val="F2F8FC"/>
                </a:solidFill>
                <a:latin typeface="Segoe UI"/>
              </a:rPr>
              <a:t>een nieuw ulcus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7563" y="1142971"/>
            <a:ext cx="3538893" cy="120646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0758" y="1320766"/>
            <a:ext cx="3157903" cy="609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2F8FC"/>
                </a:solidFill>
                <a:latin typeface="Segoe UI"/>
              </a:rPr>
              <a:t>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33458" y="1930351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spc="130">
                <a:solidFill>
                  <a:srgbClr val="8FB6D0"/>
                </a:solidFill>
                <a:latin typeface="Consolas"/>
              </a:rPr>
              <a:t>NA DRIE JAAR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7563" y="2514537"/>
            <a:ext cx="3538893" cy="120646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0758" y="2692332"/>
            <a:ext cx="3157903" cy="609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2F8FC"/>
                </a:solidFill>
                <a:latin typeface="Segoe UI"/>
              </a:rPr>
              <a:t>65%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33458" y="3301917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spc="130">
                <a:solidFill>
                  <a:srgbClr val="8FB6D0"/>
                </a:solidFill>
                <a:latin typeface="Consolas"/>
              </a:rPr>
              <a:t>NA VIJF JAAR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7563" y="3886102"/>
            <a:ext cx="3538893" cy="120646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0758" y="4063898"/>
            <a:ext cx="3157903" cy="609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2F8FC"/>
                </a:solidFill>
                <a:latin typeface="Segoe UI"/>
              </a:rPr>
              <a:t>2,5×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3458" y="4673483"/>
            <a:ext cx="3157903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spc="130">
                <a:solidFill>
                  <a:srgbClr val="8FB6D0"/>
                </a:solidFill>
                <a:latin typeface="Consolas"/>
              </a:rPr>
              <a:t>HOGERE STERFTE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84" y="6387940"/>
            <a:ext cx="8889777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Armstrong, Boulton &amp; Bus · N Engl J Med 2017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04 / 29</a:t>
            </a:r>
          </a:p>
        </p:txBody>
      </p:sp>
      <p:pic>
        <p:nvPicPr>
          <p:cNvPr id="18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DEZELFDE SCHOEN, TWEE UITKOMSTEN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Het lag niet aan de zool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984" y="1828754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984" y="1993850"/>
            <a:ext cx="380990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Iedereen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83" y="2349441"/>
            <a:ext cx="3809904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intention-to-treat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84" y="2768530"/>
            <a:ext cx="2031949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B6D0"/>
                </a:solidFill>
                <a:latin typeface="Consolas"/>
              </a:rPr>
              <a:t>Gewone maatzool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3930" y="2717732"/>
            <a:ext cx="6857828" cy="292092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93930" y="2717732"/>
            <a:ext cx="6062320" cy="292092"/>
          </a:xfrm>
          <a:prstGeom prst="roundRect">
            <a:avLst>
              <a:gd name="adj" fmla="val 50000"/>
            </a:avLst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05752" y="2692332"/>
            <a:ext cx="1396965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8FB6D0"/>
                </a:solidFill>
                <a:latin typeface="Segoe UI"/>
              </a:rPr>
              <a:t>44,2%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4" y="3187620"/>
            <a:ext cx="2031949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B6D0"/>
                </a:solidFill>
                <a:latin typeface="Consolas"/>
              </a:rPr>
              <a:t>Drukgeoptimaliseerd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3930" y="3136821"/>
            <a:ext cx="6857828" cy="292092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93930" y="3136821"/>
            <a:ext cx="5321674" cy="292092"/>
          </a:xfrm>
          <a:prstGeom prst="roundRect">
            <a:avLst>
              <a:gd name="adj" fmla="val 500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5752" y="3111422"/>
            <a:ext cx="1396965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F7A00"/>
                </a:solidFill>
                <a:latin typeface="Segoe UI"/>
              </a:rPr>
              <a:t>38,8%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84" y="3568610"/>
            <a:ext cx="5714857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7A00"/>
                </a:solidFill>
                <a:latin typeface="Segoe UI"/>
              </a:rPr>
              <a:t>Geen verschil — p = 0,48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984" y="4089297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984" y="4254393"/>
            <a:ext cx="380990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Wie hem droeg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683" y="4609984"/>
            <a:ext cx="3809904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≥ 80% van de stappen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984" y="5029074"/>
            <a:ext cx="2031949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B6D0"/>
                </a:solidFill>
                <a:latin typeface="Consolas"/>
              </a:rPr>
              <a:t>Gewone maatzool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93930" y="4978275"/>
            <a:ext cx="6857828" cy="292092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93930" y="4978275"/>
            <a:ext cx="6556084" cy="292092"/>
          </a:xfrm>
          <a:prstGeom prst="roundRect">
            <a:avLst>
              <a:gd name="adj" fmla="val 50000"/>
            </a:avLst>
          </a:prstGeom>
          <a:solidFill>
            <a:srgbClr val="8FB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5752" y="4952876"/>
            <a:ext cx="1396965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8FB6D0"/>
                </a:solidFill>
                <a:latin typeface="Segoe UI"/>
              </a:rPr>
              <a:t>47,8%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984" y="5448163"/>
            <a:ext cx="2031949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8FB6D0"/>
                </a:solidFill>
                <a:latin typeface="Consolas"/>
              </a:rPr>
              <a:t>Drukgeoptimaliseerd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93930" y="5397365"/>
            <a:ext cx="6857828" cy="292092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793930" y="5397365"/>
            <a:ext cx="3524923" cy="292092"/>
          </a:xfrm>
          <a:prstGeom prst="roundRect">
            <a:avLst>
              <a:gd name="adj" fmla="val 500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5752" y="5371965"/>
            <a:ext cx="1396965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Segoe UI"/>
              </a:rPr>
              <a:t>25,7%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984" y="5829154"/>
            <a:ext cx="5714857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52BDEC"/>
                </a:solidFill>
                <a:latin typeface="Segoe UI"/>
              </a:rPr>
              <a:t>Bijna gehalveerd — p = 0,045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4857" y="5930751"/>
            <a:ext cx="584185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400" b="1">
                <a:solidFill>
                  <a:srgbClr val="F2F8FC"/>
                </a:solidFill>
                <a:latin typeface="Segoe UI"/>
              </a:rPr>
              <a:t>De interventie werkte. Bij de 46% die hem aandeed.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4984" y="6387940"/>
            <a:ext cx="8889777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Bus et al. · Diabetes Care 2013 · DIAFOS, 171 deelnemers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05 / 29</a:t>
            </a:r>
          </a:p>
        </p:txBody>
      </p:sp>
      <p:pic>
        <p:nvPicPr>
          <p:cNvPr id="32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5974" y="253993"/>
            <a:ext cx="5206869" cy="5206869"/>
          </a:xfrm>
          <a:prstGeom prst="ellipse">
            <a:avLst/>
          </a:prstGeom>
          <a:solidFill>
            <a:srgbClr val="52BDEC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ro"/>
          <p:cNvSpPr txBox="1"/>
          <p:nvPr/>
        </p:nvSpPr>
        <p:spPr>
          <a:xfrm>
            <a:off x="380990" y="761980"/>
            <a:ext cx="7619809" cy="33019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2000"/>
              </a:lnSpc>
            </a:pPr>
            <a:r>
              <a:rPr sz="25000" b="1">
                <a:solidFill>
                  <a:srgbClr val="52BDEC"/>
                </a:solidFill>
                <a:latin typeface="Segoe UI"/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44888" y="1320766"/>
            <a:ext cx="1523961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7600" b="1">
                <a:solidFill>
                  <a:srgbClr val="52BDEC"/>
                </a:solidFill>
                <a:latin typeface="Segoe UI Light"/>
              </a:rPr>
              <a:t>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383" y="3975000"/>
            <a:ext cx="5460863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>
                <a:solidFill>
                  <a:srgbClr val="F2F8FC"/>
                </a:solidFill>
                <a:latin typeface="Segoe UI"/>
              </a:rPr>
              <a:t>draagtijd — gemeten,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3200" b="1">
                <a:solidFill>
                  <a:srgbClr val="F2F8FC"/>
                </a:solidFill>
                <a:latin typeface="Segoe UI"/>
              </a:rPr>
              <a:t>niet gevraagd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1" y="1904952"/>
            <a:ext cx="507987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140">
                <a:solidFill>
                  <a:srgbClr val="8FB6D0"/>
                </a:solidFill>
                <a:latin typeface="Consolas"/>
              </a:rPr>
              <a:t>DRAAGTIJD TEGENOVER DE NORM VAN 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49841" y="2222444"/>
            <a:ext cx="165095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Gemiddeld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49841" y="2489137"/>
            <a:ext cx="4444888" cy="253993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49841" y="2489137"/>
            <a:ext cx="3155871" cy="253993"/>
          </a:xfrm>
          <a:prstGeom prst="roundRect">
            <a:avLst>
              <a:gd name="adj" fmla="val 500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1726" y="2463738"/>
            <a:ext cx="698482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9841" y="2971725"/>
            <a:ext cx="165095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Thuis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49841" y="3238419"/>
            <a:ext cx="4444888" cy="253993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49841" y="3238419"/>
            <a:ext cx="2711382" cy="253993"/>
          </a:xfrm>
          <a:prstGeom prst="roundRect">
            <a:avLst>
              <a:gd name="adj" fmla="val 500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21726" y="3213019"/>
            <a:ext cx="698482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9841" y="3721006"/>
            <a:ext cx="165095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Buitenshuis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9841" y="3987700"/>
            <a:ext cx="4444888" cy="253993"/>
          </a:xfrm>
          <a:prstGeom prst="roundRect">
            <a:avLst>
              <a:gd name="adj" fmla="val 500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9841" y="3987700"/>
            <a:ext cx="3867053" cy="253993"/>
          </a:xfrm>
          <a:prstGeom prst="roundRect">
            <a:avLst>
              <a:gd name="adj" fmla="val 500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21726" y="3962300"/>
            <a:ext cx="698482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87%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5752" y="2184345"/>
            <a:ext cx="19049" cy="2209744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0768" y="4470288"/>
            <a:ext cx="126996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FF7A00"/>
                </a:solidFill>
                <a:latin typeface="Consolas"/>
              </a:rPr>
              <a:t>norm 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984" y="6387940"/>
            <a:ext cx="8889777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Waaijman et al. · Diabetes Care 2013 · 107 patiënten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06 / 29</a:t>
            </a:r>
          </a:p>
        </p:txBody>
      </p:sp>
      <p:pic>
        <p:nvPicPr>
          <p:cNvPr id="24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HET MECHANISME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Belasting is een product,</a:t>
            </a:r>
          </a:p>
          <a:p>
            <a:pPr algn="l">
              <a:lnSpc>
                <a:spcPct val="110000"/>
              </a:lnSpc>
              <a:spcBef>
                <a:spcPts val="500"/>
              </a:spcBef>
            </a:pPr>
            <a:r>
              <a:rPr sz="4000" b="1">
                <a:solidFill>
                  <a:srgbClr val="F2F8FC"/>
                </a:solidFill>
                <a:latin typeface="Segoe UI"/>
              </a:rPr>
              <a:t>geen optelsom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2539936"/>
            <a:ext cx="3284899" cy="196845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5479" y="2768530"/>
            <a:ext cx="2903909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2F8FC"/>
                </a:solidFill>
                <a:latin typeface="Segoe UI"/>
              </a:rPr>
              <a:t>Piekdruk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5479" y="3200319"/>
            <a:ext cx="2903909" cy="355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per stap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5479" y="3797205"/>
            <a:ext cx="1015974" cy="279393"/>
          </a:xfrm>
          <a:prstGeom prst="roundRect">
            <a:avLst>
              <a:gd name="adj" fmla="val 45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5479" y="3873403"/>
            <a:ext cx="1015974" cy="2031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120">
                <a:solidFill>
                  <a:srgbClr val="04182A"/>
                </a:solidFill>
                <a:latin typeface="Consolas"/>
              </a:rPr>
              <a:t>BIJGESTUURD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9085" y="3251118"/>
            <a:ext cx="406389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>
                <a:solidFill>
                  <a:srgbClr val="8FB6D0"/>
                </a:solidFill>
                <a:latin typeface="Segoe UI Light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6273" y="2539936"/>
            <a:ext cx="3284899" cy="196845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6769" y="2768530"/>
            <a:ext cx="2903909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2F8FC"/>
                </a:solidFill>
                <a:latin typeface="Segoe UI"/>
              </a:rPr>
              <a:t>Activiteit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6769" y="3200319"/>
            <a:ext cx="2903909" cy="355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stappen per dag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6769" y="3797205"/>
            <a:ext cx="1015974" cy="279393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6769" y="3873403"/>
            <a:ext cx="1015974" cy="2031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120">
                <a:solidFill>
                  <a:srgbClr val="8FB6D0"/>
                </a:solidFill>
                <a:latin typeface="Consolas"/>
              </a:rPr>
              <a:t>GEMETEN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60374" y="3251118"/>
            <a:ext cx="406389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400" b="0">
                <a:solidFill>
                  <a:srgbClr val="8FB6D0"/>
                </a:solidFill>
                <a:latin typeface="Segoe UI Light"/>
              </a:rPr>
              <a:t>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7563" y="2539936"/>
            <a:ext cx="3284899" cy="196845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8058" y="2768530"/>
            <a:ext cx="2903909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2F8FC"/>
                </a:solidFill>
                <a:latin typeface="Segoe UI"/>
              </a:rPr>
              <a:t>Draagtijd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8058" y="3200319"/>
            <a:ext cx="2903909" cy="355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wérd hij gedragen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08058" y="3797205"/>
            <a:ext cx="1015974" cy="279393"/>
          </a:xfrm>
          <a:prstGeom prst="roundRect">
            <a:avLst>
              <a:gd name="adj" fmla="val 45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8058" y="3873403"/>
            <a:ext cx="1015974" cy="2031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spc="120">
                <a:solidFill>
                  <a:srgbClr val="04182A"/>
                </a:solidFill>
                <a:latin typeface="Consolas"/>
              </a:rPr>
              <a:t>BIJGESTUURD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984" y="4889377"/>
            <a:ext cx="10921726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8FB6D0"/>
                </a:solidFill>
                <a:latin typeface="Segoe UI"/>
              </a:rPr>
              <a:t>Eén factor op nul maakt het product nul. Daarom sturen we er twee bij.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07 / 29</a:t>
            </a:r>
          </a:p>
        </p:txBody>
      </p:sp>
      <p:pic>
        <p:nvPicPr>
          <p:cNvPr id="24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"/>
          <p:cNvSpPr txBox="1"/>
          <p:nvPr/>
        </p:nvSpPr>
        <p:spPr>
          <a:xfrm>
            <a:off x="634984" y="1854153"/>
            <a:ext cx="4444888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52BDEC"/>
                </a:solidFill>
                <a:latin typeface="Segoe UI"/>
              </a:rPr>
              <a:t>02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3975000"/>
            <a:ext cx="8889777" cy="888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600" b="1">
                <a:solidFill>
                  <a:srgbClr val="F2F8FC"/>
                </a:solidFill>
                <a:latin typeface="Segoe UI"/>
              </a:rPr>
              <a:t>De interventie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383" y="4990975"/>
            <a:ext cx="8254793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8FB6D0"/>
                </a:solidFill>
                <a:latin typeface="Segoe UI Light"/>
              </a:rPr>
              <a:t>Twee componenten. Bovenop wat u al doet.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08 / 29</a:t>
            </a:r>
          </a:p>
        </p:txBody>
      </p:sp>
      <p:pic>
        <p:nvPicPr>
          <p:cNvPr id="7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756" y="1904952"/>
            <a:ext cx="1865978" cy="2158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WAT U ZIET BIJ DE METING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Elke sensor een cijfer</a:t>
            </a:r>
          </a:p>
        </p:txBody>
      </p:sp>
      <p:sp>
        <p:nvSpPr>
          <p:cNvPr id="5" name="!!p00_07"/>
          <p:cNvSpPr/>
          <p:nvPr/>
        </p:nvSpPr>
        <p:spPr>
          <a:xfrm>
            <a:off x="1585505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p00_08"/>
          <p:cNvSpPr/>
          <p:nvPr/>
        </p:nvSpPr>
        <p:spPr>
          <a:xfrm>
            <a:off x="1744251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p00_09"/>
          <p:cNvSpPr/>
          <p:nvPr/>
        </p:nvSpPr>
        <p:spPr>
          <a:xfrm>
            <a:off x="1902997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00_10"/>
          <p:cNvSpPr/>
          <p:nvPr/>
        </p:nvSpPr>
        <p:spPr>
          <a:xfrm>
            <a:off x="2061743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01_06"/>
          <p:cNvSpPr/>
          <p:nvPr/>
        </p:nvSpPr>
        <p:spPr>
          <a:xfrm>
            <a:off x="1426759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p01_07"/>
          <p:cNvSpPr/>
          <p:nvPr/>
        </p:nvSpPr>
        <p:spPr>
          <a:xfrm>
            <a:off x="1585505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01_08"/>
          <p:cNvSpPr/>
          <p:nvPr/>
        </p:nvSpPr>
        <p:spPr>
          <a:xfrm>
            <a:off x="1744251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3BA9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01_09"/>
          <p:cNvSpPr/>
          <p:nvPr/>
        </p:nvSpPr>
        <p:spPr>
          <a:xfrm>
            <a:off x="1902997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01_10"/>
          <p:cNvSpPr/>
          <p:nvPr/>
        </p:nvSpPr>
        <p:spPr>
          <a:xfrm>
            <a:off x="2061743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191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01_11"/>
          <p:cNvSpPr/>
          <p:nvPr/>
        </p:nvSpPr>
        <p:spPr>
          <a:xfrm>
            <a:off x="2220489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02_05"/>
          <p:cNvSpPr/>
          <p:nvPr/>
        </p:nvSpPr>
        <p:spPr>
          <a:xfrm>
            <a:off x="1268013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p02_06"/>
          <p:cNvSpPr/>
          <p:nvPr/>
        </p:nvSpPr>
        <p:spPr>
          <a:xfrm>
            <a:off x="1426759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02_07"/>
          <p:cNvSpPr/>
          <p:nvPr/>
        </p:nvSpPr>
        <p:spPr>
          <a:xfrm>
            <a:off x="1585505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p02_08"/>
          <p:cNvSpPr/>
          <p:nvPr/>
        </p:nvSpPr>
        <p:spPr>
          <a:xfrm>
            <a:off x="1744251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p02_09"/>
          <p:cNvSpPr/>
          <p:nvPr/>
        </p:nvSpPr>
        <p:spPr>
          <a:xfrm>
            <a:off x="1902997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4AB6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p02_10"/>
          <p:cNvSpPr/>
          <p:nvPr/>
        </p:nvSpPr>
        <p:spPr>
          <a:xfrm>
            <a:off x="2061743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p02_11"/>
          <p:cNvSpPr/>
          <p:nvPr/>
        </p:nvSpPr>
        <p:spPr>
          <a:xfrm>
            <a:off x="2220489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p02_12"/>
          <p:cNvSpPr/>
          <p:nvPr/>
        </p:nvSpPr>
        <p:spPr>
          <a:xfrm>
            <a:off x="2379235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p03_05"/>
          <p:cNvSpPr/>
          <p:nvPr/>
        </p:nvSpPr>
        <p:spPr>
          <a:xfrm>
            <a:off x="1268013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p03_06"/>
          <p:cNvSpPr/>
          <p:nvPr/>
        </p:nvSpPr>
        <p:spPr>
          <a:xfrm>
            <a:off x="1426759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p03_07"/>
          <p:cNvSpPr/>
          <p:nvPr/>
        </p:nvSpPr>
        <p:spPr>
          <a:xfrm>
            <a:off x="1585505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p03_08"/>
          <p:cNvSpPr/>
          <p:nvPr/>
        </p:nvSpPr>
        <p:spPr>
          <a:xfrm>
            <a:off x="1744251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54B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p03_09"/>
          <p:cNvSpPr/>
          <p:nvPr/>
        </p:nvSpPr>
        <p:spPr>
          <a:xfrm>
            <a:off x="1902997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54B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p03_10"/>
          <p:cNvSpPr/>
          <p:nvPr/>
        </p:nvSpPr>
        <p:spPr>
          <a:xfrm>
            <a:off x="2061743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p03_11"/>
          <p:cNvSpPr/>
          <p:nvPr/>
        </p:nvSpPr>
        <p:spPr>
          <a:xfrm>
            <a:off x="2220489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p03_12"/>
          <p:cNvSpPr/>
          <p:nvPr/>
        </p:nvSpPr>
        <p:spPr>
          <a:xfrm>
            <a:off x="2379235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04_05"/>
          <p:cNvSpPr/>
          <p:nvPr/>
        </p:nvSpPr>
        <p:spPr>
          <a:xfrm>
            <a:off x="1268013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1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p04_06"/>
          <p:cNvSpPr/>
          <p:nvPr/>
        </p:nvSpPr>
        <p:spPr>
          <a:xfrm>
            <a:off x="1426759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p04_07"/>
          <p:cNvSpPr/>
          <p:nvPr/>
        </p:nvSpPr>
        <p:spPr>
          <a:xfrm>
            <a:off x="1585505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p04_08"/>
          <p:cNvSpPr/>
          <p:nvPr/>
        </p:nvSpPr>
        <p:spPr>
          <a:xfrm>
            <a:off x="1744251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p04_09"/>
          <p:cNvSpPr/>
          <p:nvPr/>
        </p:nvSpPr>
        <p:spPr>
          <a:xfrm>
            <a:off x="1902997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57B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p04_10"/>
          <p:cNvSpPr/>
          <p:nvPr/>
        </p:nvSpPr>
        <p:spPr>
          <a:xfrm>
            <a:off x="2061743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5A3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p04_11"/>
          <p:cNvSpPr/>
          <p:nvPr/>
        </p:nvSpPr>
        <p:spPr>
          <a:xfrm>
            <a:off x="2220489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04_12"/>
          <p:cNvSpPr/>
          <p:nvPr/>
        </p:nvSpPr>
        <p:spPr>
          <a:xfrm>
            <a:off x="2379235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p05_05"/>
          <p:cNvSpPr/>
          <p:nvPr/>
        </p:nvSpPr>
        <p:spPr>
          <a:xfrm>
            <a:off x="1268013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p05_06"/>
          <p:cNvSpPr/>
          <p:nvPr/>
        </p:nvSpPr>
        <p:spPr>
          <a:xfrm>
            <a:off x="1426759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p05_07"/>
          <p:cNvSpPr/>
          <p:nvPr/>
        </p:nvSpPr>
        <p:spPr>
          <a:xfrm>
            <a:off x="1585505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p05_08"/>
          <p:cNvSpPr/>
          <p:nvPr/>
        </p:nvSpPr>
        <p:spPr>
          <a:xfrm>
            <a:off x="1744251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4DB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p05_09"/>
          <p:cNvSpPr/>
          <p:nvPr/>
        </p:nvSpPr>
        <p:spPr>
          <a:xfrm>
            <a:off x="1902997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4DB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p05_10"/>
          <p:cNvSpPr/>
          <p:nvPr/>
        </p:nvSpPr>
        <p:spPr>
          <a:xfrm>
            <a:off x="2061743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p05_11"/>
          <p:cNvSpPr/>
          <p:nvPr/>
        </p:nvSpPr>
        <p:spPr>
          <a:xfrm>
            <a:off x="2220489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p05_12"/>
          <p:cNvSpPr/>
          <p:nvPr/>
        </p:nvSpPr>
        <p:spPr>
          <a:xfrm>
            <a:off x="2379235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p06_05"/>
          <p:cNvSpPr/>
          <p:nvPr/>
        </p:nvSpPr>
        <p:spPr>
          <a:xfrm>
            <a:off x="1268013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p06_06"/>
          <p:cNvSpPr/>
          <p:nvPr/>
        </p:nvSpPr>
        <p:spPr>
          <a:xfrm>
            <a:off x="1426759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p06_07"/>
          <p:cNvSpPr/>
          <p:nvPr/>
        </p:nvSpPr>
        <p:spPr>
          <a:xfrm>
            <a:off x="1585505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p06_08"/>
          <p:cNvSpPr/>
          <p:nvPr/>
        </p:nvSpPr>
        <p:spPr>
          <a:xfrm>
            <a:off x="1744251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p06_09"/>
          <p:cNvSpPr/>
          <p:nvPr/>
        </p:nvSpPr>
        <p:spPr>
          <a:xfrm>
            <a:off x="1902997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42AE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p06_10"/>
          <p:cNvSpPr/>
          <p:nvPr/>
        </p:nvSpPr>
        <p:spPr>
          <a:xfrm>
            <a:off x="2061743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p06_11"/>
          <p:cNvSpPr/>
          <p:nvPr/>
        </p:nvSpPr>
        <p:spPr>
          <a:xfrm>
            <a:off x="2220489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p06_12"/>
          <p:cNvSpPr/>
          <p:nvPr/>
        </p:nvSpPr>
        <p:spPr>
          <a:xfrm>
            <a:off x="2379235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p07_05"/>
          <p:cNvSpPr/>
          <p:nvPr/>
        </p:nvSpPr>
        <p:spPr>
          <a:xfrm>
            <a:off x="1268013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p07_06"/>
          <p:cNvSpPr/>
          <p:nvPr/>
        </p:nvSpPr>
        <p:spPr>
          <a:xfrm>
            <a:off x="1426759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p07_07"/>
          <p:cNvSpPr/>
          <p:nvPr/>
        </p:nvSpPr>
        <p:spPr>
          <a:xfrm>
            <a:off x="1585505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p07_08"/>
          <p:cNvSpPr/>
          <p:nvPr/>
        </p:nvSpPr>
        <p:spPr>
          <a:xfrm>
            <a:off x="1744251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p07_09"/>
          <p:cNvSpPr/>
          <p:nvPr/>
        </p:nvSpPr>
        <p:spPr>
          <a:xfrm>
            <a:off x="1902997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33A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p07_10"/>
          <p:cNvSpPr/>
          <p:nvPr/>
        </p:nvSpPr>
        <p:spPr>
          <a:xfrm>
            <a:off x="2061743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F8F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p07_11"/>
          <p:cNvSpPr/>
          <p:nvPr/>
        </p:nvSpPr>
        <p:spPr>
          <a:xfrm>
            <a:off x="2220489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p07_12"/>
          <p:cNvSpPr/>
          <p:nvPr/>
        </p:nvSpPr>
        <p:spPr>
          <a:xfrm>
            <a:off x="2379235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p08_05"/>
          <p:cNvSpPr/>
          <p:nvPr/>
        </p:nvSpPr>
        <p:spPr>
          <a:xfrm>
            <a:off x="1268013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p08_06"/>
          <p:cNvSpPr/>
          <p:nvPr/>
        </p:nvSpPr>
        <p:spPr>
          <a:xfrm>
            <a:off x="1426759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p08_07"/>
          <p:cNvSpPr/>
          <p:nvPr/>
        </p:nvSpPr>
        <p:spPr>
          <a:xfrm>
            <a:off x="1585505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p08_08"/>
          <p:cNvSpPr/>
          <p:nvPr/>
        </p:nvSpPr>
        <p:spPr>
          <a:xfrm>
            <a:off x="1744251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p08_09"/>
          <p:cNvSpPr/>
          <p:nvPr/>
        </p:nvSpPr>
        <p:spPr>
          <a:xfrm>
            <a:off x="1902997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p08_10"/>
          <p:cNvSpPr/>
          <p:nvPr/>
        </p:nvSpPr>
        <p:spPr>
          <a:xfrm>
            <a:off x="2061743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p08_11"/>
          <p:cNvSpPr/>
          <p:nvPr/>
        </p:nvSpPr>
        <p:spPr>
          <a:xfrm>
            <a:off x="2220489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E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p08_12"/>
          <p:cNvSpPr/>
          <p:nvPr/>
        </p:nvSpPr>
        <p:spPr>
          <a:xfrm>
            <a:off x="2379235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p09_05"/>
          <p:cNvSpPr/>
          <p:nvPr/>
        </p:nvSpPr>
        <p:spPr>
          <a:xfrm>
            <a:off x="1268013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p09_06"/>
          <p:cNvSpPr/>
          <p:nvPr/>
        </p:nvSpPr>
        <p:spPr>
          <a:xfrm>
            <a:off x="1426759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p09_07"/>
          <p:cNvSpPr/>
          <p:nvPr/>
        </p:nvSpPr>
        <p:spPr>
          <a:xfrm>
            <a:off x="1585505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p09_08"/>
          <p:cNvSpPr/>
          <p:nvPr/>
        </p:nvSpPr>
        <p:spPr>
          <a:xfrm>
            <a:off x="1744251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p09_09"/>
          <p:cNvSpPr/>
          <p:nvPr/>
        </p:nvSpPr>
        <p:spPr>
          <a:xfrm>
            <a:off x="1902997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p09_10"/>
          <p:cNvSpPr/>
          <p:nvPr/>
        </p:nvSpPr>
        <p:spPr>
          <a:xfrm>
            <a:off x="2061743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p09_11"/>
          <p:cNvSpPr/>
          <p:nvPr/>
        </p:nvSpPr>
        <p:spPr>
          <a:xfrm>
            <a:off x="2220489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p09_12"/>
          <p:cNvSpPr/>
          <p:nvPr/>
        </p:nvSpPr>
        <p:spPr>
          <a:xfrm>
            <a:off x="2379235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p10_06"/>
          <p:cNvSpPr/>
          <p:nvPr/>
        </p:nvSpPr>
        <p:spPr>
          <a:xfrm>
            <a:off x="1426759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p10_07"/>
          <p:cNvSpPr/>
          <p:nvPr/>
        </p:nvSpPr>
        <p:spPr>
          <a:xfrm>
            <a:off x="1585505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p10_08"/>
          <p:cNvSpPr/>
          <p:nvPr/>
        </p:nvSpPr>
        <p:spPr>
          <a:xfrm>
            <a:off x="1744251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p10_09"/>
          <p:cNvSpPr/>
          <p:nvPr/>
        </p:nvSpPr>
        <p:spPr>
          <a:xfrm>
            <a:off x="1902997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p10_10"/>
          <p:cNvSpPr/>
          <p:nvPr/>
        </p:nvSpPr>
        <p:spPr>
          <a:xfrm>
            <a:off x="2061743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p10_11"/>
          <p:cNvSpPr/>
          <p:nvPr/>
        </p:nvSpPr>
        <p:spPr>
          <a:xfrm>
            <a:off x="2220489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p10_12"/>
          <p:cNvSpPr/>
          <p:nvPr/>
        </p:nvSpPr>
        <p:spPr>
          <a:xfrm>
            <a:off x="2379235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p11_06"/>
          <p:cNvSpPr/>
          <p:nvPr/>
        </p:nvSpPr>
        <p:spPr>
          <a:xfrm>
            <a:off x="1426759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p11_07"/>
          <p:cNvSpPr/>
          <p:nvPr/>
        </p:nvSpPr>
        <p:spPr>
          <a:xfrm>
            <a:off x="1585505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p11_08"/>
          <p:cNvSpPr/>
          <p:nvPr/>
        </p:nvSpPr>
        <p:spPr>
          <a:xfrm>
            <a:off x="1744251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p11_09"/>
          <p:cNvSpPr/>
          <p:nvPr/>
        </p:nvSpPr>
        <p:spPr>
          <a:xfrm>
            <a:off x="1902997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p11_10"/>
          <p:cNvSpPr/>
          <p:nvPr/>
        </p:nvSpPr>
        <p:spPr>
          <a:xfrm>
            <a:off x="2061743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p11_11"/>
          <p:cNvSpPr/>
          <p:nvPr/>
        </p:nvSpPr>
        <p:spPr>
          <a:xfrm>
            <a:off x="2220489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p11_12"/>
          <p:cNvSpPr/>
          <p:nvPr/>
        </p:nvSpPr>
        <p:spPr>
          <a:xfrm>
            <a:off x="2379235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p12_06"/>
          <p:cNvSpPr/>
          <p:nvPr/>
        </p:nvSpPr>
        <p:spPr>
          <a:xfrm>
            <a:off x="1426759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p12_07"/>
          <p:cNvSpPr/>
          <p:nvPr/>
        </p:nvSpPr>
        <p:spPr>
          <a:xfrm>
            <a:off x="1585505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p12_08"/>
          <p:cNvSpPr/>
          <p:nvPr/>
        </p:nvSpPr>
        <p:spPr>
          <a:xfrm>
            <a:off x="1744251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p12_09"/>
          <p:cNvSpPr/>
          <p:nvPr/>
        </p:nvSpPr>
        <p:spPr>
          <a:xfrm>
            <a:off x="1902997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p12_10"/>
          <p:cNvSpPr/>
          <p:nvPr/>
        </p:nvSpPr>
        <p:spPr>
          <a:xfrm>
            <a:off x="2061743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p12_11"/>
          <p:cNvSpPr/>
          <p:nvPr/>
        </p:nvSpPr>
        <p:spPr>
          <a:xfrm>
            <a:off x="2220489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p12_12"/>
          <p:cNvSpPr/>
          <p:nvPr/>
        </p:nvSpPr>
        <p:spPr>
          <a:xfrm>
            <a:off x="2379235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p13_06"/>
          <p:cNvSpPr/>
          <p:nvPr/>
        </p:nvSpPr>
        <p:spPr>
          <a:xfrm>
            <a:off x="1426759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p13_07"/>
          <p:cNvSpPr/>
          <p:nvPr/>
        </p:nvSpPr>
        <p:spPr>
          <a:xfrm>
            <a:off x="1585505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p13_08"/>
          <p:cNvSpPr/>
          <p:nvPr/>
        </p:nvSpPr>
        <p:spPr>
          <a:xfrm>
            <a:off x="1744251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p13_09"/>
          <p:cNvSpPr/>
          <p:nvPr/>
        </p:nvSpPr>
        <p:spPr>
          <a:xfrm>
            <a:off x="1902997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p13_10"/>
          <p:cNvSpPr/>
          <p:nvPr/>
        </p:nvSpPr>
        <p:spPr>
          <a:xfrm>
            <a:off x="2061743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p13_11"/>
          <p:cNvSpPr/>
          <p:nvPr/>
        </p:nvSpPr>
        <p:spPr>
          <a:xfrm>
            <a:off x="2220489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p13_12"/>
          <p:cNvSpPr/>
          <p:nvPr/>
        </p:nvSpPr>
        <p:spPr>
          <a:xfrm>
            <a:off x="2379235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p14_06"/>
          <p:cNvSpPr/>
          <p:nvPr/>
        </p:nvSpPr>
        <p:spPr>
          <a:xfrm>
            <a:off x="1426759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p14_07"/>
          <p:cNvSpPr/>
          <p:nvPr/>
        </p:nvSpPr>
        <p:spPr>
          <a:xfrm>
            <a:off x="1585505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9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p14_08"/>
          <p:cNvSpPr/>
          <p:nvPr/>
        </p:nvSpPr>
        <p:spPr>
          <a:xfrm>
            <a:off x="1744251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p14_09"/>
          <p:cNvSpPr/>
          <p:nvPr/>
        </p:nvSpPr>
        <p:spPr>
          <a:xfrm>
            <a:off x="1902997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p14_10"/>
          <p:cNvSpPr/>
          <p:nvPr/>
        </p:nvSpPr>
        <p:spPr>
          <a:xfrm>
            <a:off x="2061743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p14_11"/>
          <p:cNvSpPr/>
          <p:nvPr/>
        </p:nvSpPr>
        <p:spPr>
          <a:xfrm>
            <a:off x="2220489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p14_12"/>
          <p:cNvSpPr/>
          <p:nvPr/>
        </p:nvSpPr>
        <p:spPr>
          <a:xfrm>
            <a:off x="2379235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p15_07"/>
          <p:cNvSpPr/>
          <p:nvPr/>
        </p:nvSpPr>
        <p:spPr>
          <a:xfrm>
            <a:off x="1585505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p15_08"/>
          <p:cNvSpPr/>
          <p:nvPr/>
        </p:nvSpPr>
        <p:spPr>
          <a:xfrm>
            <a:off x="1744251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4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p15_09"/>
          <p:cNvSpPr/>
          <p:nvPr/>
        </p:nvSpPr>
        <p:spPr>
          <a:xfrm>
            <a:off x="1902997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p15_10"/>
          <p:cNvSpPr/>
          <p:nvPr/>
        </p:nvSpPr>
        <p:spPr>
          <a:xfrm>
            <a:off x="2061743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p15_11"/>
          <p:cNvSpPr/>
          <p:nvPr/>
        </p:nvSpPr>
        <p:spPr>
          <a:xfrm>
            <a:off x="2220489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p15_12"/>
          <p:cNvSpPr/>
          <p:nvPr/>
        </p:nvSpPr>
        <p:spPr>
          <a:xfrm>
            <a:off x="2379235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p15_13"/>
          <p:cNvSpPr/>
          <p:nvPr/>
        </p:nvSpPr>
        <p:spPr>
          <a:xfrm>
            <a:off x="2537981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p16_07"/>
          <p:cNvSpPr/>
          <p:nvPr/>
        </p:nvSpPr>
        <p:spPr>
          <a:xfrm>
            <a:off x="1585505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p16_08"/>
          <p:cNvSpPr/>
          <p:nvPr/>
        </p:nvSpPr>
        <p:spPr>
          <a:xfrm>
            <a:off x="1744251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p16_09"/>
          <p:cNvSpPr/>
          <p:nvPr/>
        </p:nvSpPr>
        <p:spPr>
          <a:xfrm>
            <a:off x="1902997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p16_10"/>
          <p:cNvSpPr/>
          <p:nvPr/>
        </p:nvSpPr>
        <p:spPr>
          <a:xfrm>
            <a:off x="2061743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1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p16_11"/>
          <p:cNvSpPr/>
          <p:nvPr/>
        </p:nvSpPr>
        <p:spPr>
          <a:xfrm>
            <a:off x="2220489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p16_12"/>
          <p:cNvSpPr/>
          <p:nvPr/>
        </p:nvSpPr>
        <p:spPr>
          <a:xfrm>
            <a:off x="2379235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p16_13"/>
          <p:cNvSpPr/>
          <p:nvPr/>
        </p:nvSpPr>
        <p:spPr>
          <a:xfrm>
            <a:off x="2537981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p17_07"/>
          <p:cNvSpPr/>
          <p:nvPr/>
        </p:nvSpPr>
        <p:spPr>
          <a:xfrm>
            <a:off x="1585505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p17_08"/>
          <p:cNvSpPr/>
          <p:nvPr/>
        </p:nvSpPr>
        <p:spPr>
          <a:xfrm>
            <a:off x="1744251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1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p17_09"/>
          <p:cNvSpPr/>
          <p:nvPr/>
        </p:nvSpPr>
        <p:spPr>
          <a:xfrm>
            <a:off x="1902997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p17_10"/>
          <p:cNvSpPr/>
          <p:nvPr/>
        </p:nvSpPr>
        <p:spPr>
          <a:xfrm>
            <a:off x="2061743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p17_11"/>
          <p:cNvSpPr/>
          <p:nvPr/>
        </p:nvSpPr>
        <p:spPr>
          <a:xfrm>
            <a:off x="2220489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p17_12"/>
          <p:cNvSpPr/>
          <p:nvPr/>
        </p:nvSpPr>
        <p:spPr>
          <a:xfrm>
            <a:off x="2379235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p17_13"/>
          <p:cNvSpPr/>
          <p:nvPr/>
        </p:nvSpPr>
        <p:spPr>
          <a:xfrm>
            <a:off x="2537981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p18_06"/>
          <p:cNvSpPr/>
          <p:nvPr/>
        </p:nvSpPr>
        <p:spPr>
          <a:xfrm>
            <a:off x="1426759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p18_07"/>
          <p:cNvSpPr/>
          <p:nvPr/>
        </p:nvSpPr>
        <p:spPr>
          <a:xfrm>
            <a:off x="1585505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p18_08"/>
          <p:cNvSpPr/>
          <p:nvPr/>
        </p:nvSpPr>
        <p:spPr>
          <a:xfrm>
            <a:off x="1744251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p18_09"/>
          <p:cNvSpPr/>
          <p:nvPr/>
        </p:nvSpPr>
        <p:spPr>
          <a:xfrm>
            <a:off x="1902997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p18_10"/>
          <p:cNvSpPr/>
          <p:nvPr/>
        </p:nvSpPr>
        <p:spPr>
          <a:xfrm>
            <a:off x="2061743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p18_11"/>
          <p:cNvSpPr/>
          <p:nvPr/>
        </p:nvSpPr>
        <p:spPr>
          <a:xfrm>
            <a:off x="2220489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p18_12"/>
          <p:cNvSpPr/>
          <p:nvPr/>
        </p:nvSpPr>
        <p:spPr>
          <a:xfrm>
            <a:off x="2379235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p18_13"/>
          <p:cNvSpPr/>
          <p:nvPr/>
        </p:nvSpPr>
        <p:spPr>
          <a:xfrm>
            <a:off x="2537981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p19_06"/>
          <p:cNvSpPr/>
          <p:nvPr/>
        </p:nvSpPr>
        <p:spPr>
          <a:xfrm>
            <a:off x="1426759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p19_07"/>
          <p:cNvSpPr/>
          <p:nvPr/>
        </p:nvSpPr>
        <p:spPr>
          <a:xfrm>
            <a:off x="1585505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p19_08"/>
          <p:cNvSpPr/>
          <p:nvPr/>
        </p:nvSpPr>
        <p:spPr>
          <a:xfrm>
            <a:off x="1744251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p19_09"/>
          <p:cNvSpPr/>
          <p:nvPr/>
        </p:nvSpPr>
        <p:spPr>
          <a:xfrm>
            <a:off x="1902997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p19_10"/>
          <p:cNvSpPr/>
          <p:nvPr/>
        </p:nvSpPr>
        <p:spPr>
          <a:xfrm>
            <a:off x="2061743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p19_11"/>
          <p:cNvSpPr/>
          <p:nvPr/>
        </p:nvSpPr>
        <p:spPr>
          <a:xfrm>
            <a:off x="2220489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p19_12"/>
          <p:cNvSpPr/>
          <p:nvPr/>
        </p:nvSpPr>
        <p:spPr>
          <a:xfrm>
            <a:off x="2379235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p19_13"/>
          <p:cNvSpPr/>
          <p:nvPr/>
        </p:nvSpPr>
        <p:spPr>
          <a:xfrm>
            <a:off x="2537981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p20_06"/>
          <p:cNvSpPr/>
          <p:nvPr/>
        </p:nvSpPr>
        <p:spPr>
          <a:xfrm>
            <a:off x="1426759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p20_07"/>
          <p:cNvSpPr/>
          <p:nvPr/>
        </p:nvSpPr>
        <p:spPr>
          <a:xfrm>
            <a:off x="1585505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p20_08"/>
          <p:cNvSpPr/>
          <p:nvPr/>
        </p:nvSpPr>
        <p:spPr>
          <a:xfrm>
            <a:off x="1744251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p20_09"/>
          <p:cNvSpPr/>
          <p:nvPr/>
        </p:nvSpPr>
        <p:spPr>
          <a:xfrm>
            <a:off x="1902997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p20_10"/>
          <p:cNvSpPr/>
          <p:nvPr/>
        </p:nvSpPr>
        <p:spPr>
          <a:xfrm>
            <a:off x="2061743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p20_11"/>
          <p:cNvSpPr/>
          <p:nvPr/>
        </p:nvSpPr>
        <p:spPr>
          <a:xfrm>
            <a:off x="2220489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p20_12"/>
          <p:cNvSpPr/>
          <p:nvPr/>
        </p:nvSpPr>
        <p:spPr>
          <a:xfrm>
            <a:off x="2379235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p20_13"/>
          <p:cNvSpPr/>
          <p:nvPr/>
        </p:nvSpPr>
        <p:spPr>
          <a:xfrm>
            <a:off x="2537981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p21_05"/>
          <p:cNvSpPr/>
          <p:nvPr/>
        </p:nvSpPr>
        <p:spPr>
          <a:xfrm>
            <a:off x="1268013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8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p21_06"/>
          <p:cNvSpPr/>
          <p:nvPr/>
        </p:nvSpPr>
        <p:spPr>
          <a:xfrm>
            <a:off x="1426759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p21_07"/>
          <p:cNvSpPr/>
          <p:nvPr/>
        </p:nvSpPr>
        <p:spPr>
          <a:xfrm>
            <a:off x="1585505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B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p21_08"/>
          <p:cNvSpPr/>
          <p:nvPr/>
        </p:nvSpPr>
        <p:spPr>
          <a:xfrm>
            <a:off x="1744251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p21_09"/>
          <p:cNvSpPr/>
          <p:nvPr/>
        </p:nvSpPr>
        <p:spPr>
          <a:xfrm>
            <a:off x="1902997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p21_10"/>
          <p:cNvSpPr/>
          <p:nvPr/>
        </p:nvSpPr>
        <p:spPr>
          <a:xfrm>
            <a:off x="2061743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p21_11"/>
          <p:cNvSpPr/>
          <p:nvPr/>
        </p:nvSpPr>
        <p:spPr>
          <a:xfrm>
            <a:off x="2220489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p21_12"/>
          <p:cNvSpPr/>
          <p:nvPr/>
        </p:nvSpPr>
        <p:spPr>
          <a:xfrm>
            <a:off x="2379235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p21_13"/>
          <p:cNvSpPr/>
          <p:nvPr/>
        </p:nvSpPr>
        <p:spPr>
          <a:xfrm>
            <a:off x="2537981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p22_05"/>
          <p:cNvSpPr/>
          <p:nvPr/>
        </p:nvSpPr>
        <p:spPr>
          <a:xfrm>
            <a:off x="1268013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p22_06"/>
          <p:cNvSpPr/>
          <p:nvPr/>
        </p:nvSpPr>
        <p:spPr>
          <a:xfrm>
            <a:off x="1426759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p22_07"/>
          <p:cNvSpPr/>
          <p:nvPr/>
        </p:nvSpPr>
        <p:spPr>
          <a:xfrm>
            <a:off x="1585505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70C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p22_08"/>
          <p:cNvSpPr/>
          <p:nvPr/>
        </p:nvSpPr>
        <p:spPr>
          <a:xfrm>
            <a:off x="1744251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51BC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p22_09"/>
          <p:cNvSpPr/>
          <p:nvPr/>
        </p:nvSpPr>
        <p:spPr>
          <a:xfrm>
            <a:off x="1902997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p22_10"/>
          <p:cNvSpPr/>
          <p:nvPr/>
        </p:nvSpPr>
        <p:spPr>
          <a:xfrm>
            <a:off x="2061743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p22_11"/>
          <p:cNvSpPr/>
          <p:nvPr/>
        </p:nvSpPr>
        <p:spPr>
          <a:xfrm>
            <a:off x="2220489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p22_12"/>
          <p:cNvSpPr/>
          <p:nvPr/>
        </p:nvSpPr>
        <p:spPr>
          <a:xfrm>
            <a:off x="2379235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E9D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p22_13"/>
          <p:cNvSpPr/>
          <p:nvPr/>
        </p:nvSpPr>
        <p:spPr>
          <a:xfrm>
            <a:off x="2537981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p23_04"/>
          <p:cNvSpPr/>
          <p:nvPr/>
        </p:nvSpPr>
        <p:spPr>
          <a:xfrm>
            <a:off x="110926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p23_05"/>
          <p:cNvSpPr/>
          <p:nvPr/>
        </p:nvSpPr>
        <p:spPr>
          <a:xfrm>
            <a:off x="1268013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p23_06"/>
          <p:cNvSpPr/>
          <p:nvPr/>
        </p:nvSpPr>
        <p:spPr>
          <a:xfrm>
            <a:off x="1426759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62B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p23_07"/>
          <p:cNvSpPr/>
          <p:nvPr/>
        </p:nvSpPr>
        <p:spPr>
          <a:xfrm>
            <a:off x="1585505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p23_08"/>
          <p:cNvSpPr/>
          <p:nvPr/>
        </p:nvSpPr>
        <p:spPr>
          <a:xfrm>
            <a:off x="1744251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4D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p23_09"/>
          <p:cNvSpPr/>
          <p:nvPr/>
        </p:nvSpPr>
        <p:spPr>
          <a:xfrm>
            <a:off x="190299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p23_10"/>
          <p:cNvSpPr/>
          <p:nvPr/>
        </p:nvSpPr>
        <p:spPr>
          <a:xfrm>
            <a:off x="2061743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p23_11"/>
          <p:cNvSpPr/>
          <p:nvPr/>
        </p:nvSpPr>
        <p:spPr>
          <a:xfrm>
            <a:off x="2220489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p23_12"/>
          <p:cNvSpPr/>
          <p:nvPr/>
        </p:nvSpPr>
        <p:spPr>
          <a:xfrm>
            <a:off x="2379235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9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p23_13"/>
          <p:cNvSpPr/>
          <p:nvPr/>
        </p:nvSpPr>
        <p:spPr>
          <a:xfrm>
            <a:off x="2537981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p23_14"/>
          <p:cNvSpPr/>
          <p:nvPr/>
        </p:nvSpPr>
        <p:spPr>
          <a:xfrm>
            <a:off x="269672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2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p24_04"/>
          <p:cNvSpPr/>
          <p:nvPr/>
        </p:nvSpPr>
        <p:spPr>
          <a:xfrm>
            <a:off x="110926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p24_05"/>
          <p:cNvSpPr/>
          <p:nvPr/>
        </p:nvSpPr>
        <p:spPr>
          <a:xfrm>
            <a:off x="1268013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5DB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p24_06"/>
          <p:cNvSpPr/>
          <p:nvPr/>
        </p:nvSpPr>
        <p:spPr>
          <a:xfrm>
            <a:off x="1426759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DBCE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p24_07"/>
          <p:cNvSpPr/>
          <p:nvPr/>
        </p:nvSpPr>
        <p:spPr>
          <a:xfrm>
            <a:off x="1585505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8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p24_08"/>
          <p:cNvSpPr/>
          <p:nvPr/>
        </p:nvSpPr>
        <p:spPr>
          <a:xfrm>
            <a:off x="1744251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A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p24_09"/>
          <p:cNvSpPr/>
          <p:nvPr/>
        </p:nvSpPr>
        <p:spPr>
          <a:xfrm>
            <a:off x="190299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p24_10"/>
          <p:cNvSpPr/>
          <p:nvPr/>
        </p:nvSpPr>
        <p:spPr>
          <a:xfrm>
            <a:off x="2061743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p24_11"/>
          <p:cNvSpPr/>
          <p:nvPr/>
        </p:nvSpPr>
        <p:spPr>
          <a:xfrm>
            <a:off x="2220489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8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p24_12"/>
          <p:cNvSpPr/>
          <p:nvPr/>
        </p:nvSpPr>
        <p:spPr>
          <a:xfrm>
            <a:off x="2379235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6A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p24_13"/>
          <p:cNvSpPr/>
          <p:nvPr/>
        </p:nvSpPr>
        <p:spPr>
          <a:xfrm>
            <a:off x="2537981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p24_14"/>
          <p:cNvSpPr/>
          <p:nvPr/>
        </p:nvSpPr>
        <p:spPr>
          <a:xfrm>
            <a:off x="269672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p25_04"/>
          <p:cNvSpPr/>
          <p:nvPr/>
        </p:nvSpPr>
        <p:spPr>
          <a:xfrm>
            <a:off x="110926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p25_05"/>
          <p:cNvSpPr/>
          <p:nvPr/>
        </p:nvSpPr>
        <p:spPr>
          <a:xfrm>
            <a:off x="1268013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9CC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p25_06"/>
          <p:cNvSpPr/>
          <p:nvPr/>
        </p:nvSpPr>
        <p:spPr>
          <a:xfrm>
            <a:off x="1426759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D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p25_07"/>
          <p:cNvSpPr/>
          <p:nvPr/>
        </p:nvSpPr>
        <p:spPr>
          <a:xfrm>
            <a:off x="1585505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8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p25_08"/>
          <p:cNvSpPr/>
          <p:nvPr/>
        </p:nvSpPr>
        <p:spPr>
          <a:xfrm>
            <a:off x="1744251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A9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p25_09"/>
          <p:cNvSpPr/>
          <p:nvPr/>
        </p:nvSpPr>
        <p:spPr>
          <a:xfrm>
            <a:off x="190299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p25_10"/>
          <p:cNvSpPr/>
          <p:nvPr/>
        </p:nvSpPr>
        <p:spPr>
          <a:xfrm>
            <a:off x="2061743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p25_11"/>
          <p:cNvSpPr/>
          <p:nvPr/>
        </p:nvSpPr>
        <p:spPr>
          <a:xfrm>
            <a:off x="2220489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p25_12"/>
          <p:cNvSpPr/>
          <p:nvPr/>
        </p:nvSpPr>
        <p:spPr>
          <a:xfrm>
            <a:off x="2379235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p25_13"/>
          <p:cNvSpPr/>
          <p:nvPr/>
        </p:nvSpPr>
        <p:spPr>
          <a:xfrm>
            <a:off x="2537981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p25_14"/>
          <p:cNvSpPr/>
          <p:nvPr/>
        </p:nvSpPr>
        <p:spPr>
          <a:xfrm>
            <a:off x="269672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p26_03"/>
          <p:cNvSpPr/>
          <p:nvPr/>
        </p:nvSpPr>
        <p:spPr>
          <a:xfrm>
            <a:off x="95052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p26_04"/>
          <p:cNvSpPr/>
          <p:nvPr/>
        </p:nvSpPr>
        <p:spPr>
          <a:xfrm>
            <a:off x="110926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p26_05"/>
          <p:cNvSpPr/>
          <p:nvPr/>
        </p:nvSpPr>
        <p:spPr>
          <a:xfrm>
            <a:off x="1268013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7D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p26_06"/>
          <p:cNvSpPr/>
          <p:nvPr/>
        </p:nvSpPr>
        <p:spPr>
          <a:xfrm>
            <a:off x="1426759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BDC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p26_07"/>
          <p:cNvSpPr/>
          <p:nvPr/>
        </p:nvSpPr>
        <p:spPr>
          <a:xfrm>
            <a:off x="1585505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FB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p26_08"/>
          <p:cNvSpPr/>
          <p:nvPr/>
        </p:nvSpPr>
        <p:spPr>
          <a:xfrm>
            <a:off x="174425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F7D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p26_09"/>
          <p:cNvSpPr/>
          <p:nvPr/>
        </p:nvSpPr>
        <p:spPr>
          <a:xfrm>
            <a:off x="190299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p26_10"/>
          <p:cNvSpPr/>
          <p:nvPr/>
        </p:nvSpPr>
        <p:spPr>
          <a:xfrm>
            <a:off x="2061743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p26_11"/>
          <p:cNvSpPr/>
          <p:nvPr/>
        </p:nvSpPr>
        <p:spPr>
          <a:xfrm>
            <a:off x="2220489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p26_12"/>
          <p:cNvSpPr/>
          <p:nvPr/>
        </p:nvSpPr>
        <p:spPr>
          <a:xfrm>
            <a:off x="2379235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p26_13"/>
          <p:cNvSpPr/>
          <p:nvPr/>
        </p:nvSpPr>
        <p:spPr>
          <a:xfrm>
            <a:off x="253798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p26_14"/>
          <p:cNvSpPr/>
          <p:nvPr/>
        </p:nvSpPr>
        <p:spPr>
          <a:xfrm>
            <a:off x="269672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p27_03"/>
          <p:cNvSpPr/>
          <p:nvPr/>
        </p:nvSpPr>
        <p:spPr>
          <a:xfrm>
            <a:off x="95052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p27_04"/>
          <p:cNvSpPr/>
          <p:nvPr/>
        </p:nvSpPr>
        <p:spPr>
          <a:xfrm>
            <a:off x="110926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p27_05"/>
          <p:cNvSpPr/>
          <p:nvPr/>
        </p:nvSpPr>
        <p:spPr>
          <a:xfrm>
            <a:off x="1268013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p27_06"/>
          <p:cNvSpPr/>
          <p:nvPr/>
        </p:nvSpPr>
        <p:spPr>
          <a:xfrm>
            <a:off x="1426759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p27_07"/>
          <p:cNvSpPr/>
          <p:nvPr/>
        </p:nvSpPr>
        <p:spPr>
          <a:xfrm>
            <a:off x="1585505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85C3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p27_08"/>
          <p:cNvSpPr/>
          <p:nvPr/>
        </p:nvSpPr>
        <p:spPr>
          <a:xfrm>
            <a:off x="174425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4FB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p27_09"/>
          <p:cNvSpPr/>
          <p:nvPr/>
        </p:nvSpPr>
        <p:spPr>
          <a:xfrm>
            <a:off x="190299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p27_10"/>
          <p:cNvSpPr/>
          <p:nvPr/>
        </p:nvSpPr>
        <p:spPr>
          <a:xfrm>
            <a:off x="2061743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p27_11"/>
          <p:cNvSpPr/>
          <p:nvPr/>
        </p:nvSpPr>
        <p:spPr>
          <a:xfrm>
            <a:off x="2220489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5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p27_12"/>
          <p:cNvSpPr/>
          <p:nvPr/>
        </p:nvSpPr>
        <p:spPr>
          <a:xfrm>
            <a:off x="2379235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p27_13"/>
          <p:cNvSpPr/>
          <p:nvPr/>
        </p:nvSpPr>
        <p:spPr>
          <a:xfrm>
            <a:off x="253798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p27_14"/>
          <p:cNvSpPr/>
          <p:nvPr/>
        </p:nvSpPr>
        <p:spPr>
          <a:xfrm>
            <a:off x="269672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p28_03"/>
          <p:cNvSpPr/>
          <p:nvPr/>
        </p:nvSpPr>
        <p:spPr>
          <a:xfrm>
            <a:off x="95052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p28_04"/>
          <p:cNvSpPr/>
          <p:nvPr/>
        </p:nvSpPr>
        <p:spPr>
          <a:xfrm>
            <a:off x="110926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p28_05"/>
          <p:cNvSpPr/>
          <p:nvPr/>
        </p:nvSpPr>
        <p:spPr>
          <a:xfrm>
            <a:off x="1268013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p28_06"/>
          <p:cNvSpPr/>
          <p:nvPr/>
        </p:nvSpPr>
        <p:spPr>
          <a:xfrm>
            <a:off x="1426759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p28_07"/>
          <p:cNvSpPr/>
          <p:nvPr/>
        </p:nvSpPr>
        <p:spPr>
          <a:xfrm>
            <a:off x="1585505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p28_08"/>
          <p:cNvSpPr/>
          <p:nvPr/>
        </p:nvSpPr>
        <p:spPr>
          <a:xfrm>
            <a:off x="174425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p28_09"/>
          <p:cNvSpPr/>
          <p:nvPr/>
        </p:nvSpPr>
        <p:spPr>
          <a:xfrm>
            <a:off x="190299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p28_10"/>
          <p:cNvSpPr/>
          <p:nvPr/>
        </p:nvSpPr>
        <p:spPr>
          <a:xfrm>
            <a:off x="2061743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p28_11"/>
          <p:cNvSpPr/>
          <p:nvPr/>
        </p:nvSpPr>
        <p:spPr>
          <a:xfrm>
            <a:off x="2220489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p28_12"/>
          <p:cNvSpPr/>
          <p:nvPr/>
        </p:nvSpPr>
        <p:spPr>
          <a:xfrm>
            <a:off x="2379235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p28_13"/>
          <p:cNvSpPr/>
          <p:nvPr/>
        </p:nvSpPr>
        <p:spPr>
          <a:xfrm>
            <a:off x="253798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p28_14"/>
          <p:cNvSpPr/>
          <p:nvPr/>
        </p:nvSpPr>
        <p:spPr>
          <a:xfrm>
            <a:off x="269672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p29_03"/>
          <p:cNvSpPr/>
          <p:nvPr/>
        </p:nvSpPr>
        <p:spPr>
          <a:xfrm>
            <a:off x="95052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p29_04"/>
          <p:cNvSpPr/>
          <p:nvPr/>
        </p:nvSpPr>
        <p:spPr>
          <a:xfrm>
            <a:off x="1109267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p29_05"/>
          <p:cNvSpPr/>
          <p:nvPr/>
        </p:nvSpPr>
        <p:spPr>
          <a:xfrm>
            <a:off x="1268013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p29_06"/>
          <p:cNvSpPr/>
          <p:nvPr/>
        </p:nvSpPr>
        <p:spPr>
          <a:xfrm>
            <a:off x="1426759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p29_07"/>
          <p:cNvSpPr/>
          <p:nvPr/>
        </p:nvSpPr>
        <p:spPr>
          <a:xfrm>
            <a:off x="1585505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p29_08"/>
          <p:cNvSpPr/>
          <p:nvPr/>
        </p:nvSpPr>
        <p:spPr>
          <a:xfrm>
            <a:off x="174425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p29_09"/>
          <p:cNvSpPr/>
          <p:nvPr/>
        </p:nvSpPr>
        <p:spPr>
          <a:xfrm>
            <a:off x="1902997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p29_10"/>
          <p:cNvSpPr/>
          <p:nvPr/>
        </p:nvSpPr>
        <p:spPr>
          <a:xfrm>
            <a:off x="2061743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p29_11"/>
          <p:cNvSpPr/>
          <p:nvPr/>
        </p:nvSpPr>
        <p:spPr>
          <a:xfrm>
            <a:off x="2220489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p29_12"/>
          <p:cNvSpPr/>
          <p:nvPr/>
        </p:nvSpPr>
        <p:spPr>
          <a:xfrm>
            <a:off x="2379235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p29_13"/>
          <p:cNvSpPr/>
          <p:nvPr/>
        </p:nvSpPr>
        <p:spPr>
          <a:xfrm>
            <a:off x="253798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p30_03"/>
          <p:cNvSpPr/>
          <p:nvPr/>
        </p:nvSpPr>
        <p:spPr>
          <a:xfrm>
            <a:off x="95052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p30_04"/>
          <p:cNvSpPr/>
          <p:nvPr/>
        </p:nvSpPr>
        <p:spPr>
          <a:xfrm>
            <a:off x="1109267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p30_05"/>
          <p:cNvSpPr/>
          <p:nvPr/>
        </p:nvSpPr>
        <p:spPr>
          <a:xfrm>
            <a:off x="1268013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p30_06"/>
          <p:cNvSpPr/>
          <p:nvPr/>
        </p:nvSpPr>
        <p:spPr>
          <a:xfrm>
            <a:off x="1426759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p30_07"/>
          <p:cNvSpPr/>
          <p:nvPr/>
        </p:nvSpPr>
        <p:spPr>
          <a:xfrm>
            <a:off x="1585505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p30_08"/>
          <p:cNvSpPr/>
          <p:nvPr/>
        </p:nvSpPr>
        <p:spPr>
          <a:xfrm>
            <a:off x="174425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p30_09"/>
          <p:cNvSpPr/>
          <p:nvPr/>
        </p:nvSpPr>
        <p:spPr>
          <a:xfrm>
            <a:off x="1902997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p30_10"/>
          <p:cNvSpPr/>
          <p:nvPr/>
        </p:nvSpPr>
        <p:spPr>
          <a:xfrm>
            <a:off x="2061743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p30_11"/>
          <p:cNvSpPr/>
          <p:nvPr/>
        </p:nvSpPr>
        <p:spPr>
          <a:xfrm>
            <a:off x="2220489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p30_12"/>
          <p:cNvSpPr/>
          <p:nvPr/>
        </p:nvSpPr>
        <p:spPr>
          <a:xfrm>
            <a:off x="2379235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p30_13"/>
          <p:cNvSpPr/>
          <p:nvPr/>
        </p:nvSpPr>
        <p:spPr>
          <a:xfrm>
            <a:off x="253798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p31_03"/>
          <p:cNvSpPr/>
          <p:nvPr/>
        </p:nvSpPr>
        <p:spPr>
          <a:xfrm>
            <a:off x="95052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p31_04"/>
          <p:cNvSpPr/>
          <p:nvPr/>
        </p:nvSpPr>
        <p:spPr>
          <a:xfrm>
            <a:off x="1109267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p31_05"/>
          <p:cNvSpPr/>
          <p:nvPr/>
        </p:nvSpPr>
        <p:spPr>
          <a:xfrm>
            <a:off x="1268013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p31_06"/>
          <p:cNvSpPr/>
          <p:nvPr/>
        </p:nvSpPr>
        <p:spPr>
          <a:xfrm>
            <a:off x="1426759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p31_07"/>
          <p:cNvSpPr/>
          <p:nvPr/>
        </p:nvSpPr>
        <p:spPr>
          <a:xfrm>
            <a:off x="1585505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p31_08"/>
          <p:cNvSpPr/>
          <p:nvPr/>
        </p:nvSpPr>
        <p:spPr>
          <a:xfrm>
            <a:off x="174425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p31_09"/>
          <p:cNvSpPr/>
          <p:nvPr/>
        </p:nvSpPr>
        <p:spPr>
          <a:xfrm>
            <a:off x="1902997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p31_10"/>
          <p:cNvSpPr/>
          <p:nvPr/>
        </p:nvSpPr>
        <p:spPr>
          <a:xfrm>
            <a:off x="2061743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p31_11"/>
          <p:cNvSpPr/>
          <p:nvPr/>
        </p:nvSpPr>
        <p:spPr>
          <a:xfrm>
            <a:off x="2220489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p31_12"/>
          <p:cNvSpPr/>
          <p:nvPr/>
        </p:nvSpPr>
        <p:spPr>
          <a:xfrm>
            <a:off x="2379235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p31_13"/>
          <p:cNvSpPr/>
          <p:nvPr/>
        </p:nvSpPr>
        <p:spPr>
          <a:xfrm>
            <a:off x="253798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p32_03"/>
          <p:cNvSpPr/>
          <p:nvPr/>
        </p:nvSpPr>
        <p:spPr>
          <a:xfrm>
            <a:off x="950521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p32_04"/>
          <p:cNvSpPr/>
          <p:nvPr/>
        </p:nvSpPr>
        <p:spPr>
          <a:xfrm>
            <a:off x="1109267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p32_05"/>
          <p:cNvSpPr/>
          <p:nvPr/>
        </p:nvSpPr>
        <p:spPr>
          <a:xfrm>
            <a:off x="1268013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p32_06"/>
          <p:cNvSpPr/>
          <p:nvPr/>
        </p:nvSpPr>
        <p:spPr>
          <a:xfrm>
            <a:off x="1426759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p32_07"/>
          <p:cNvSpPr/>
          <p:nvPr/>
        </p:nvSpPr>
        <p:spPr>
          <a:xfrm>
            <a:off x="1585505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p32_08"/>
          <p:cNvSpPr/>
          <p:nvPr/>
        </p:nvSpPr>
        <p:spPr>
          <a:xfrm>
            <a:off x="1744251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p32_09"/>
          <p:cNvSpPr/>
          <p:nvPr/>
        </p:nvSpPr>
        <p:spPr>
          <a:xfrm>
            <a:off x="1902997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p32_10"/>
          <p:cNvSpPr/>
          <p:nvPr/>
        </p:nvSpPr>
        <p:spPr>
          <a:xfrm>
            <a:off x="2061743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p32_11"/>
          <p:cNvSpPr/>
          <p:nvPr/>
        </p:nvSpPr>
        <p:spPr>
          <a:xfrm>
            <a:off x="2220489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p32_12"/>
          <p:cNvSpPr/>
          <p:nvPr/>
        </p:nvSpPr>
        <p:spPr>
          <a:xfrm>
            <a:off x="2379235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p33_03"/>
          <p:cNvSpPr/>
          <p:nvPr/>
        </p:nvSpPr>
        <p:spPr>
          <a:xfrm>
            <a:off x="950521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p33_04"/>
          <p:cNvSpPr/>
          <p:nvPr/>
        </p:nvSpPr>
        <p:spPr>
          <a:xfrm>
            <a:off x="1109267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p33_05"/>
          <p:cNvSpPr/>
          <p:nvPr/>
        </p:nvSpPr>
        <p:spPr>
          <a:xfrm>
            <a:off x="1268013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p33_06"/>
          <p:cNvSpPr/>
          <p:nvPr/>
        </p:nvSpPr>
        <p:spPr>
          <a:xfrm>
            <a:off x="1426759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p33_07"/>
          <p:cNvSpPr/>
          <p:nvPr/>
        </p:nvSpPr>
        <p:spPr>
          <a:xfrm>
            <a:off x="1585505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1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p33_08"/>
          <p:cNvSpPr/>
          <p:nvPr/>
        </p:nvSpPr>
        <p:spPr>
          <a:xfrm>
            <a:off x="1744251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p33_09"/>
          <p:cNvSpPr/>
          <p:nvPr/>
        </p:nvSpPr>
        <p:spPr>
          <a:xfrm>
            <a:off x="1902997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p33_10"/>
          <p:cNvSpPr/>
          <p:nvPr/>
        </p:nvSpPr>
        <p:spPr>
          <a:xfrm>
            <a:off x="2061743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p33_11"/>
          <p:cNvSpPr/>
          <p:nvPr/>
        </p:nvSpPr>
        <p:spPr>
          <a:xfrm>
            <a:off x="2220489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p33_12"/>
          <p:cNvSpPr/>
          <p:nvPr/>
        </p:nvSpPr>
        <p:spPr>
          <a:xfrm>
            <a:off x="2379235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p34_03"/>
          <p:cNvSpPr/>
          <p:nvPr/>
        </p:nvSpPr>
        <p:spPr>
          <a:xfrm>
            <a:off x="950521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p34_04"/>
          <p:cNvSpPr/>
          <p:nvPr/>
        </p:nvSpPr>
        <p:spPr>
          <a:xfrm>
            <a:off x="1109267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20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p34_05"/>
          <p:cNvSpPr/>
          <p:nvPr/>
        </p:nvSpPr>
        <p:spPr>
          <a:xfrm>
            <a:off x="1268013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p34_06"/>
          <p:cNvSpPr/>
          <p:nvPr/>
        </p:nvSpPr>
        <p:spPr>
          <a:xfrm>
            <a:off x="1426759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p34_07"/>
          <p:cNvSpPr/>
          <p:nvPr/>
        </p:nvSpPr>
        <p:spPr>
          <a:xfrm>
            <a:off x="1585505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p34_08"/>
          <p:cNvSpPr/>
          <p:nvPr/>
        </p:nvSpPr>
        <p:spPr>
          <a:xfrm>
            <a:off x="1744251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p34_09"/>
          <p:cNvSpPr/>
          <p:nvPr/>
        </p:nvSpPr>
        <p:spPr>
          <a:xfrm>
            <a:off x="1902997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p34_10"/>
          <p:cNvSpPr/>
          <p:nvPr/>
        </p:nvSpPr>
        <p:spPr>
          <a:xfrm>
            <a:off x="2061743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p34_11"/>
          <p:cNvSpPr/>
          <p:nvPr/>
        </p:nvSpPr>
        <p:spPr>
          <a:xfrm>
            <a:off x="2220489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p35_04"/>
          <p:cNvSpPr/>
          <p:nvPr/>
        </p:nvSpPr>
        <p:spPr>
          <a:xfrm>
            <a:off x="1109267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p35_05"/>
          <p:cNvSpPr/>
          <p:nvPr/>
        </p:nvSpPr>
        <p:spPr>
          <a:xfrm>
            <a:off x="1268013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p35_06"/>
          <p:cNvSpPr/>
          <p:nvPr/>
        </p:nvSpPr>
        <p:spPr>
          <a:xfrm>
            <a:off x="1426759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p35_07"/>
          <p:cNvSpPr/>
          <p:nvPr/>
        </p:nvSpPr>
        <p:spPr>
          <a:xfrm>
            <a:off x="1585505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p35_08"/>
          <p:cNvSpPr/>
          <p:nvPr/>
        </p:nvSpPr>
        <p:spPr>
          <a:xfrm>
            <a:off x="1744251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p35_09"/>
          <p:cNvSpPr/>
          <p:nvPr/>
        </p:nvSpPr>
        <p:spPr>
          <a:xfrm>
            <a:off x="1902997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p35_10"/>
          <p:cNvSpPr/>
          <p:nvPr/>
        </p:nvSpPr>
        <p:spPr>
          <a:xfrm>
            <a:off x="2061743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p35_11"/>
          <p:cNvSpPr/>
          <p:nvPr/>
        </p:nvSpPr>
        <p:spPr>
          <a:xfrm>
            <a:off x="2220489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p36_04"/>
          <p:cNvSpPr/>
          <p:nvPr/>
        </p:nvSpPr>
        <p:spPr>
          <a:xfrm>
            <a:off x="1109267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p36_05"/>
          <p:cNvSpPr/>
          <p:nvPr/>
        </p:nvSpPr>
        <p:spPr>
          <a:xfrm>
            <a:off x="1268013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p36_06"/>
          <p:cNvSpPr/>
          <p:nvPr/>
        </p:nvSpPr>
        <p:spPr>
          <a:xfrm>
            <a:off x="1426759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p36_07"/>
          <p:cNvSpPr/>
          <p:nvPr/>
        </p:nvSpPr>
        <p:spPr>
          <a:xfrm>
            <a:off x="1585505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p36_08"/>
          <p:cNvSpPr/>
          <p:nvPr/>
        </p:nvSpPr>
        <p:spPr>
          <a:xfrm>
            <a:off x="1744251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p36_09"/>
          <p:cNvSpPr/>
          <p:nvPr/>
        </p:nvSpPr>
        <p:spPr>
          <a:xfrm>
            <a:off x="1902997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p36_10"/>
          <p:cNvSpPr/>
          <p:nvPr/>
        </p:nvSpPr>
        <p:spPr>
          <a:xfrm>
            <a:off x="2061743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p37_04"/>
          <p:cNvSpPr/>
          <p:nvPr/>
        </p:nvSpPr>
        <p:spPr>
          <a:xfrm>
            <a:off x="1109267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p37_05"/>
          <p:cNvSpPr/>
          <p:nvPr/>
        </p:nvSpPr>
        <p:spPr>
          <a:xfrm>
            <a:off x="1268013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p37_06"/>
          <p:cNvSpPr/>
          <p:nvPr/>
        </p:nvSpPr>
        <p:spPr>
          <a:xfrm>
            <a:off x="1426759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p37_07"/>
          <p:cNvSpPr/>
          <p:nvPr/>
        </p:nvSpPr>
        <p:spPr>
          <a:xfrm>
            <a:off x="1585505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p37_08"/>
          <p:cNvSpPr/>
          <p:nvPr/>
        </p:nvSpPr>
        <p:spPr>
          <a:xfrm>
            <a:off x="1744251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!!p37_09"/>
          <p:cNvSpPr/>
          <p:nvPr/>
        </p:nvSpPr>
        <p:spPr>
          <a:xfrm>
            <a:off x="1902997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20726" y="5905352"/>
            <a:ext cx="38099" cy="101597"/>
          </a:xfrm>
          <a:prstGeom prst="rect">
            <a:avLst/>
          </a:prstGeom>
          <a:solidFill>
            <a:srgbClr val="0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52476" y="5905352"/>
            <a:ext cx="38099" cy="101597"/>
          </a:xfrm>
          <a:prstGeom prst="rect">
            <a:avLst/>
          </a:prstGeom>
          <a:solidFill>
            <a:srgbClr val="0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84225" y="5905352"/>
            <a:ext cx="38099" cy="101597"/>
          </a:xfrm>
          <a:prstGeom prst="rect">
            <a:avLst/>
          </a:prstGeom>
          <a:solidFill>
            <a:srgbClr val="0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15974" y="5905352"/>
            <a:ext cx="38099" cy="101597"/>
          </a:xfrm>
          <a:prstGeom prst="rect">
            <a:avLst/>
          </a:prstGeom>
          <a:solidFill>
            <a:srgbClr val="0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47723" y="5905352"/>
            <a:ext cx="38099" cy="101597"/>
          </a:xfrm>
          <a:prstGeom prst="rect">
            <a:avLst/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79473" y="5905352"/>
            <a:ext cx="38099" cy="101597"/>
          </a:xfrm>
          <a:prstGeom prst="rect">
            <a:avLst/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11222" y="5905352"/>
            <a:ext cx="38099" cy="101597"/>
          </a:xfrm>
          <a:prstGeom prst="rect">
            <a:avLst/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142971" y="5905352"/>
            <a:ext cx="38099" cy="101597"/>
          </a:xfrm>
          <a:prstGeom prst="rect">
            <a:avLst/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174720" y="5905352"/>
            <a:ext cx="38099" cy="101597"/>
          </a:xfrm>
          <a:prstGeom prst="rect">
            <a:avLst/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206469" y="5905352"/>
            <a:ext cx="38099" cy="101597"/>
          </a:xfrm>
          <a:prstGeom prst="rect">
            <a:avLst/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238219" y="5905352"/>
            <a:ext cx="38099" cy="101597"/>
          </a:xfrm>
          <a:prstGeom prst="rect">
            <a:avLst/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269968" y="5905352"/>
            <a:ext cx="38099" cy="101597"/>
          </a:xfrm>
          <a:prstGeom prst="rect">
            <a:avLst/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301717" y="5905352"/>
            <a:ext cx="38099" cy="101597"/>
          </a:xfrm>
          <a:prstGeom prst="rect">
            <a:avLst/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333466" y="5905352"/>
            <a:ext cx="38099" cy="101597"/>
          </a:xfrm>
          <a:prstGeom prst="rect">
            <a:avLst/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365215" y="5905352"/>
            <a:ext cx="38099" cy="101597"/>
          </a:xfrm>
          <a:prstGeom prst="rect">
            <a:avLst/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396965" y="5905352"/>
            <a:ext cx="38099" cy="101597"/>
          </a:xfrm>
          <a:prstGeom prst="rect">
            <a:avLst/>
          </a:prstGeom>
          <a:solidFill>
            <a:srgbClr val="166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428714" y="5905352"/>
            <a:ext cx="38099" cy="101597"/>
          </a:xfrm>
          <a:prstGeom prst="rect">
            <a:avLst/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460463" y="5905352"/>
            <a:ext cx="38099" cy="101597"/>
          </a:xfrm>
          <a:prstGeom prst="rect">
            <a:avLst/>
          </a:prstGeom>
          <a:solidFill>
            <a:srgbClr val="1A7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492212" y="5905352"/>
            <a:ext cx="38099" cy="101597"/>
          </a:xfrm>
          <a:prstGeom prst="rect">
            <a:avLst/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523961" y="5905352"/>
            <a:ext cx="38099" cy="101597"/>
          </a:xfrm>
          <a:prstGeom prst="rect">
            <a:avLst/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555711" y="5905352"/>
            <a:ext cx="38099" cy="101597"/>
          </a:xfrm>
          <a:prstGeom prst="rect">
            <a:avLst/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587460" y="5905352"/>
            <a:ext cx="38099" cy="101597"/>
          </a:xfrm>
          <a:prstGeom prst="rect">
            <a:avLst/>
          </a:prstGeom>
          <a:solidFill>
            <a:srgbClr val="299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19209" y="5905352"/>
            <a:ext cx="38099" cy="101597"/>
          </a:xfrm>
          <a:prstGeom prst="rect">
            <a:avLst/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650958" y="5905352"/>
            <a:ext cx="38099" cy="101597"/>
          </a:xfrm>
          <a:prstGeom prst="rect">
            <a:avLst/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682707" y="5905352"/>
            <a:ext cx="38099" cy="101597"/>
          </a:xfrm>
          <a:prstGeom prst="rect">
            <a:avLst/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714457" y="5905352"/>
            <a:ext cx="38099" cy="101597"/>
          </a:xfrm>
          <a:prstGeom prst="rect">
            <a:avLst/>
          </a:prstGeom>
          <a:solidFill>
            <a:srgbClr val="3F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746206" y="5905352"/>
            <a:ext cx="38099" cy="101597"/>
          </a:xfrm>
          <a:prstGeom prst="rect">
            <a:avLst/>
          </a:prstGeom>
          <a:solidFill>
            <a:srgbClr val="45B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777955" y="5905352"/>
            <a:ext cx="38099" cy="101597"/>
          </a:xfrm>
          <a:prstGeom prst="rect">
            <a:avLst/>
          </a:prstGeom>
          <a:solidFill>
            <a:srgbClr val="4B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809704" y="5905352"/>
            <a:ext cx="38099" cy="101597"/>
          </a:xfrm>
          <a:prstGeom prst="rect">
            <a:avLst/>
          </a:prstGeom>
          <a:solidFill>
            <a:srgbClr val="50B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841453" y="5905352"/>
            <a:ext cx="38099" cy="101597"/>
          </a:xfrm>
          <a:prstGeom prst="rect">
            <a:avLst/>
          </a:prstGeom>
          <a:solidFill>
            <a:srgbClr val="60B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873203" y="5905352"/>
            <a:ext cx="38099" cy="101597"/>
          </a:xfrm>
          <a:prstGeom prst="rect">
            <a:avLst/>
          </a:prstGeom>
          <a:solidFill>
            <a:srgbClr val="75C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904952" y="5905352"/>
            <a:ext cx="38099" cy="101597"/>
          </a:xfrm>
          <a:prstGeom prst="rect">
            <a:avLst/>
          </a:prstGeom>
          <a:solidFill>
            <a:srgbClr val="8AC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936701" y="5905352"/>
            <a:ext cx="38099" cy="101597"/>
          </a:xfrm>
          <a:prstGeom prst="rect">
            <a:avLst/>
          </a:prstGeom>
          <a:solidFill>
            <a:srgbClr val="9FC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968450" y="5905352"/>
            <a:ext cx="38099" cy="101597"/>
          </a:xfrm>
          <a:prstGeom prst="rect">
            <a:avLst/>
          </a:prstGeom>
          <a:solidFill>
            <a:srgbClr val="B4C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000199" y="5905352"/>
            <a:ext cx="38099" cy="101597"/>
          </a:xfrm>
          <a:prstGeom prst="rect">
            <a:avLst/>
          </a:prstGeom>
          <a:solidFill>
            <a:srgbClr val="C9C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031949" y="5905352"/>
            <a:ext cx="38099" cy="101597"/>
          </a:xfrm>
          <a:prstGeom prst="rect">
            <a:avLst/>
          </a:prstGeom>
          <a:solidFill>
            <a:srgbClr val="DEC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063698" y="5905352"/>
            <a:ext cx="38099" cy="101597"/>
          </a:xfrm>
          <a:prstGeom prst="rect">
            <a:avLst/>
          </a:prstGeom>
          <a:solidFill>
            <a:srgbClr val="F3D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095447" y="5905352"/>
            <a:ext cx="38099" cy="101597"/>
          </a:xfrm>
          <a:prstGeom prst="rect">
            <a:avLst/>
          </a:prstGeom>
          <a:solidFill>
            <a:srgbClr val="FFC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2127196" y="5905352"/>
            <a:ext cx="38099" cy="101597"/>
          </a:xfrm>
          <a:prstGeom prst="rect">
            <a:avLst/>
          </a:prstGeom>
          <a:solidFill>
            <a:srgbClr val="FFC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158946" y="5905352"/>
            <a:ext cx="38099" cy="101597"/>
          </a:xfrm>
          <a:prstGeom prst="rect">
            <a:avLst/>
          </a:prstGeom>
          <a:solidFill>
            <a:srgbClr val="FFB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190695" y="5905352"/>
            <a:ext cx="38099" cy="101597"/>
          </a:xfrm>
          <a:prstGeom prst="rect">
            <a:avLst/>
          </a:prstGeom>
          <a:solidFill>
            <a:srgbClr val="FF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2222444" y="5905352"/>
            <a:ext cx="38099" cy="101597"/>
          </a:xfrm>
          <a:prstGeom prst="rect">
            <a:avLst/>
          </a:prstGeom>
          <a:solidFill>
            <a:srgbClr val="FFA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2254193" y="5905352"/>
            <a:ext cx="38099" cy="101597"/>
          </a:xfrm>
          <a:prstGeom prst="rect">
            <a:avLst/>
          </a:prstGeom>
          <a:solidFill>
            <a:srgbClr val="FF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2285942" y="5905352"/>
            <a:ext cx="38099" cy="101597"/>
          </a:xfrm>
          <a:prstGeom prst="rect">
            <a:avLst/>
          </a:prstGeom>
          <a:solidFill>
            <a:srgbClr val="FF9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2317692" y="5905352"/>
            <a:ext cx="38099" cy="101597"/>
          </a:xfrm>
          <a:prstGeom prst="rect">
            <a:avLst/>
          </a:prstGeom>
          <a:solidFill>
            <a:srgbClr val="FF9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349441" y="5905352"/>
            <a:ext cx="38099" cy="101597"/>
          </a:xfrm>
          <a:prstGeom prst="rect">
            <a:avLst/>
          </a:prstGeom>
          <a:solidFill>
            <a:srgbClr val="FF8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381190" y="5905352"/>
            <a:ext cx="38099" cy="101597"/>
          </a:xfrm>
          <a:prstGeom prst="rect">
            <a:avLst/>
          </a:prstGeom>
          <a:solidFill>
            <a:srgbClr val="FF8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412939" y="5905352"/>
            <a:ext cx="38099" cy="101597"/>
          </a:xfrm>
          <a:prstGeom prst="rect">
            <a:avLst/>
          </a:prstGeom>
          <a:solidFill>
            <a:srgbClr val="FF7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444688" y="5905352"/>
            <a:ext cx="38099" cy="101597"/>
          </a:xfrm>
          <a:prstGeom prst="rect">
            <a:avLst/>
          </a:prstGeom>
          <a:solidFill>
            <a:srgbClr val="FD7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476438" y="5905352"/>
            <a:ext cx="38099" cy="101597"/>
          </a:xfrm>
          <a:prstGeom prst="rect">
            <a:avLst/>
          </a:prstGeom>
          <a:solidFill>
            <a:srgbClr val="FB6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508187" y="5905352"/>
            <a:ext cx="38099" cy="101597"/>
          </a:xfrm>
          <a:prstGeom prst="rect">
            <a:avLst/>
          </a:prstGeom>
          <a:solidFill>
            <a:srgbClr val="FA69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539936" y="5905352"/>
            <a:ext cx="38099" cy="101597"/>
          </a:xfrm>
          <a:prstGeom prst="rect">
            <a:avLst/>
          </a:prstGeom>
          <a:solidFill>
            <a:srgbClr val="F86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571685" y="5905352"/>
            <a:ext cx="38099" cy="101597"/>
          </a:xfrm>
          <a:prstGeom prst="rect">
            <a:avLst/>
          </a:prstGeom>
          <a:solidFill>
            <a:srgbClr val="F6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603434" y="5905352"/>
            <a:ext cx="38099" cy="101597"/>
          </a:xfrm>
          <a:prstGeom prst="rect">
            <a:avLst/>
          </a:prstGeom>
          <a:solidFill>
            <a:srgbClr val="F45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635184" y="5905352"/>
            <a:ext cx="38099" cy="101597"/>
          </a:xfrm>
          <a:prstGeom prst="rect">
            <a:avLst/>
          </a:prstGeom>
          <a:solidFill>
            <a:srgbClr val="F25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666933" y="5905352"/>
            <a:ext cx="38099" cy="101597"/>
          </a:xfrm>
          <a:prstGeom prst="rect">
            <a:avLst/>
          </a:prstGeom>
          <a:solidFill>
            <a:srgbClr val="F0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698682" y="5905352"/>
            <a:ext cx="38099" cy="101597"/>
          </a:xfrm>
          <a:prstGeom prst="rect">
            <a:avLst/>
          </a:prstGeom>
          <a:solidFill>
            <a:srgbClr val="EE4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730431" y="5905352"/>
            <a:ext cx="38099" cy="101597"/>
          </a:xfrm>
          <a:prstGeom prst="rect">
            <a:avLst/>
          </a:prstGeom>
          <a:solidFill>
            <a:srgbClr val="EC3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62180" y="5905352"/>
            <a:ext cx="38099" cy="101597"/>
          </a:xfrm>
          <a:prstGeom prst="rect">
            <a:avLst/>
          </a:prstGeom>
          <a:solidFill>
            <a:srgbClr val="EA3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793930" y="5905352"/>
            <a:ext cx="38099" cy="101597"/>
          </a:xfrm>
          <a:prstGeom prst="rect">
            <a:avLst/>
          </a:prstGeom>
          <a:solidFill>
            <a:srgbClr val="E8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539736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0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492212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200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444688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400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978075" y="5892652"/>
            <a:ext cx="1269968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kPa</a:t>
            </a:r>
          </a:p>
        </p:txBody>
      </p:sp>
      <p:sp>
        <p:nvSpPr>
          <p:cNvPr id="393" name="!!piek"/>
          <p:cNvSpPr txBox="1"/>
          <p:nvPr/>
        </p:nvSpPr>
        <p:spPr>
          <a:xfrm>
            <a:off x="3555911" y="1587460"/>
            <a:ext cx="4444888" cy="190495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FF7A00"/>
                </a:solidFill>
                <a:latin typeface="Segoe UI"/>
              </a:rPr>
              <a:t>312</a:t>
            </a:r>
          </a:p>
        </p:txBody>
      </p:sp>
      <p:sp>
        <p:nvSpPr>
          <p:cNvPr id="394" name="!!eenheid"/>
          <p:cNvSpPr txBox="1"/>
          <p:nvPr/>
        </p:nvSpPr>
        <p:spPr>
          <a:xfrm>
            <a:off x="6857828" y="1904952"/>
            <a:ext cx="1269968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FF7A00"/>
                </a:solidFill>
                <a:latin typeface="Segoe UI Light"/>
              </a:rPr>
              <a:t>kPa</a:t>
            </a:r>
          </a:p>
        </p:txBody>
      </p:sp>
      <p:sp>
        <p:nvSpPr>
          <p:cNvPr id="395" name="!!plek"/>
          <p:cNvSpPr txBox="1"/>
          <p:nvPr/>
        </p:nvSpPr>
        <p:spPr>
          <a:xfrm>
            <a:off x="3581310" y="3352716"/>
            <a:ext cx="7619809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piekdruk op metatarsaal 2-3</a:t>
            </a:r>
          </a:p>
        </p:txBody>
      </p:sp>
      <p:sp>
        <p:nvSpPr>
          <p:cNvPr id="396" name="!!norm"/>
          <p:cNvSpPr/>
          <p:nvPr/>
        </p:nvSpPr>
        <p:spPr>
          <a:xfrm>
            <a:off x="3555911" y="3924201"/>
            <a:ext cx="8000799" cy="609584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!!normtekst"/>
          <p:cNvSpPr txBox="1"/>
          <p:nvPr/>
        </p:nvSpPr>
        <p:spPr>
          <a:xfrm>
            <a:off x="3555911" y="4101997"/>
            <a:ext cx="8000799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7A00"/>
                </a:solidFill>
                <a:latin typeface="Consolas"/>
              </a:rPr>
              <a:t>Norm:  &lt; 200 kPa   óf   ≥ 25% lager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555911" y="4825879"/>
            <a:ext cx="8000799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8FB6D0"/>
                </a:solidFill>
                <a:latin typeface="Segoe UI"/>
              </a:rPr>
              <a:t>Dit is een echte in-shoe meting: honderden sensoren onder de voet, elk met hun eigen piekdruk over minstens twaalf mid-gait stappen.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FB6D0"/>
                </a:solidFill>
                <a:latin typeface="Segoe UI"/>
              </a:rPr>
              <a:t>De hete plek ligt waar de meeste plantaire ulcera ontstaan. Deze patiënt zit ruim boven de norm.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634984" y="6387940"/>
            <a:ext cx="8889777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Novel pedar · in-shoe · piekdruk per regio via Multimask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09 / 29</a:t>
            </a:r>
          </a:p>
        </p:txBody>
      </p:sp>
      <p:pic>
        <p:nvPicPr>
          <p:cNvPr id="401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WAT DE ZOOL ERMEE DOET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Dezelfde voet, andere verdeling</a:t>
            </a:r>
          </a:p>
        </p:txBody>
      </p:sp>
      <p:sp>
        <p:nvSpPr>
          <p:cNvPr id="5" name="!!p00_07"/>
          <p:cNvSpPr/>
          <p:nvPr/>
        </p:nvSpPr>
        <p:spPr>
          <a:xfrm>
            <a:off x="1585505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p00_08"/>
          <p:cNvSpPr/>
          <p:nvPr/>
        </p:nvSpPr>
        <p:spPr>
          <a:xfrm>
            <a:off x="1744251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p00_09"/>
          <p:cNvSpPr/>
          <p:nvPr/>
        </p:nvSpPr>
        <p:spPr>
          <a:xfrm>
            <a:off x="1902997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p00_10"/>
          <p:cNvSpPr/>
          <p:nvPr/>
        </p:nvSpPr>
        <p:spPr>
          <a:xfrm>
            <a:off x="2061743" y="56457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!!p01_06"/>
          <p:cNvSpPr/>
          <p:nvPr/>
        </p:nvSpPr>
        <p:spPr>
          <a:xfrm>
            <a:off x="1426759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p01_07"/>
          <p:cNvSpPr/>
          <p:nvPr/>
        </p:nvSpPr>
        <p:spPr>
          <a:xfrm>
            <a:off x="1585505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p01_08"/>
          <p:cNvSpPr/>
          <p:nvPr/>
        </p:nvSpPr>
        <p:spPr>
          <a:xfrm>
            <a:off x="1744251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!!p01_09"/>
          <p:cNvSpPr/>
          <p:nvPr/>
        </p:nvSpPr>
        <p:spPr>
          <a:xfrm>
            <a:off x="1902997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!!p01_10"/>
          <p:cNvSpPr/>
          <p:nvPr/>
        </p:nvSpPr>
        <p:spPr>
          <a:xfrm>
            <a:off x="2061743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p01_11"/>
          <p:cNvSpPr/>
          <p:nvPr/>
        </p:nvSpPr>
        <p:spPr>
          <a:xfrm>
            <a:off x="2220489" y="55304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!!p02_05"/>
          <p:cNvSpPr/>
          <p:nvPr/>
        </p:nvSpPr>
        <p:spPr>
          <a:xfrm>
            <a:off x="1268013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!!p02_06"/>
          <p:cNvSpPr/>
          <p:nvPr/>
        </p:nvSpPr>
        <p:spPr>
          <a:xfrm>
            <a:off x="1426759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p02_07"/>
          <p:cNvSpPr/>
          <p:nvPr/>
        </p:nvSpPr>
        <p:spPr>
          <a:xfrm>
            <a:off x="1585505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0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!!p02_08"/>
          <p:cNvSpPr/>
          <p:nvPr/>
        </p:nvSpPr>
        <p:spPr>
          <a:xfrm>
            <a:off x="1744251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!!p02_09"/>
          <p:cNvSpPr/>
          <p:nvPr/>
        </p:nvSpPr>
        <p:spPr>
          <a:xfrm>
            <a:off x="1902997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p02_10"/>
          <p:cNvSpPr/>
          <p:nvPr/>
        </p:nvSpPr>
        <p:spPr>
          <a:xfrm>
            <a:off x="2061743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!!p02_11"/>
          <p:cNvSpPr/>
          <p:nvPr/>
        </p:nvSpPr>
        <p:spPr>
          <a:xfrm>
            <a:off x="2220489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!!p02_12"/>
          <p:cNvSpPr/>
          <p:nvPr/>
        </p:nvSpPr>
        <p:spPr>
          <a:xfrm>
            <a:off x="2379235" y="5415127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p03_05"/>
          <p:cNvSpPr/>
          <p:nvPr/>
        </p:nvSpPr>
        <p:spPr>
          <a:xfrm>
            <a:off x="1268013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!!p03_06"/>
          <p:cNvSpPr/>
          <p:nvPr/>
        </p:nvSpPr>
        <p:spPr>
          <a:xfrm>
            <a:off x="1426759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!!p03_07"/>
          <p:cNvSpPr/>
          <p:nvPr/>
        </p:nvSpPr>
        <p:spPr>
          <a:xfrm>
            <a:off x="1585505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p03_08"/>
          <p:cNvSpPr/>
          <p:nvPr/>
        </p:nvSpPr>
        <p:spPr>
          <a:xfrm>
            <a:off x="1744251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2A0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!!p03_09"/>
          <p:cNvSpPr/>
          <p:nvPr/>
        </p:nvSpPr>
        <p:spPr>
          <a:xfrm>
            <a:off x="1902997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p03_10"/>
          <p:cNvSpPr/>
          <p:nvPr/>
        </p:nvSpPr>
        <p:spPr>
          <a:xfrm>
            <a:off x="2061743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p03_11"/>
          <p:cNvSpPr/>
          <p:nvPr/>
        </p:nvSpPr>
        <p:spPr>
          <a:xfrm>
            <a:off x="2220489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!!p03_12"/>
          <p:cNvSpPr/>
          <p:nvPr/>
        </p:nvSpPr>
        <p:spPr>
          <a:xfrm>
            <a:off x="2379235" y="52998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!!p04_05"/>
          <p:cNvSpPr/>
          <p:nvPr/>
        </p:nvSpPr>
        <p:spPr>
          <a:xfrm>
            <a:off x="1268013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p04_06"/>
          <p:cNvSpPr/>
          <p:nvPr/>
        </p:nvSpPr>
        <p:spPr>
          <a:xfrm>
            <a:off x="1426759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!!p04_07"/>
          <p:cNvSpPr/>
          <p:nvPr/>
        </p:nvSpPr>
        <p:spPr>
          <a:xfrm>
            <a:off x="1585505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!!p04_08"/>
          <p:cNvSpPr/>
          <p:nvPr/>
        </p:nvSpPr>
        <p:spPr>
          <a:xfrm>
            <a:off x="1744251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8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p04_09"/>
          <p:cNvSpPr/>
          <p:nvPr/>
        </p:nvSpPr>
        <p:spPr>
          <a:xfrm>
            <a:off x="1902997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9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!!p04_10"/>
          <p:cNvSpPr/>
          <p:nvPr/>
        </p:nvSpPr>
        <p:spPr>
          <a:xfrm>
            <a:off x="2061743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!!p04_11"/>
          <p:cNvSpPr/>
          <p:nvPr/>
        </p:nvSpPr>
        <p:spPr>
          <a:xfrm>
            <a:off x="2220489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9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!!p04_12"/>
          <p:cNvSpPr/>
          <p:nvPr/>
        </p:nvSpPr>
        <p:spPr>
          <a:xfrm>
            <a:off x="2379235" y="51845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!!p05_05"/>
          <p:cNvSpPr/>
          <p:nvPr/>
        </p:nvSpPr>
        <p:spPr>
          <a:xfrm>
            <a:off x="1268013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!!p05_06"/>
          <p:cNvSpPr/>
          <p:nvPr/>
        </p:nvSpPr>
        <p:spPr>
          <a:xfrm>
            <a:off x="1426759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!!p05_07"/>
          <p:cNvSpPr/>
          <p:nvPr/>
        </p:nvSpPr>
        <p:spPr>
          <a:xfrm>
            <a:off x="1585505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!!p05_08"/>
          <p:cNvSpPr/>
          <p:nvPr/>
        </p:nvSpPr>
        <p:spPr>
          <a:xfrm>
            <a:off x="1744251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!!p05_09"/>
          <p:cNvSpPr/>
          <p:nvPr/>
        </p:nvSpPr>
        <p:spPr>
          <a:xfrm>
            <a:off x="1902997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BA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!!p05_10"/>
          <p:cNvSpPr/>
          <p:nvPr/>
        </p:nvSpPr>
        <p:spPr>
          <a:xfrm>
            <a:off x="2061743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79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!!p05_11"/>
          <p:cNvSpPr/>
          <p:nvPr/>
        </p:nvSpPr>
        <p:spPr>
          <a:xfrm>
            <a:off x="2220489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!!p05_12"/>
          <p:cNvSpPr/>
          <p:nvPr/>
        </p:nvSpPr>
        <p:spPr>
          <a:xfrm>
            <a:off x="2379235" y="50692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3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!!p06_05"/>
          <p:cNvSpPr/>
          <p:nvPr/>
        </p:nvSpPr>
        <p:spPr>
          <a:xfrm>
            <a:off x="1268013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!!p06_06"/>
          <p:cNvSpPr/>
          <p:nvPr/>
        </p:nvSpPr>
        <p:spPr>
          <a:xfrm>
            <a:off x="1426759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!!p06_07"/>
          <p:cNvSpPr/>
          <p:nvPr/>
        </p:nvSpPr>
        <p:spPr>
          <a:xfrm>
            <a:off x="1585505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!!p06_08"/>
          <p:cNvSpPr/>
          <p:nvPr/>
        </p:nvSpPr>
        <p:spPr>
          <a:xfrm>
            <a:off x="1744251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7A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!!p06_09"/>
          <p:cNvSpPr/>
          <p:nvPr/>
        </p:nvSpPr>
        <p:spPr>
          <a:xfrm>
            <a:off x="1902997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!!p06_10"/>
          <p:cNvSpPr/>
          <p:nvPr/>
        </p:nvSpPr>
        <p:spPr>
          <a:xfrm>
            <a:off x="2061743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!!p06_11"/>
          <p:cNvSpPr/>
          <p:nvPr/>
        </p:nvSpPr>
        <p:spPr>
          <a:xfrm>
            <a:off x="2220489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!!p06_12"/>
          <p:cNvSpPr/>
          <p:nvPr/>
        </p:nvSpPr>
        <p:spPr>
          <a:xfrm>
            <a:off x="2379235" y="4953928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!!p07_05"/>
          <p:cNvSpPr/>
          <p:nvPr/>
        </p:nvSpPr>
        <p:spPr>
          <a:xfrm>
            <a:off x="1268013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!!p07_06"/>
          <p:cNvSpPr/>
          <p:nvPr/>
        </p:nvSpPr>
        <p:spPr>
          <a:xfrm>
            <a:off x="1426759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3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!!p07_07"/>
          <p:cNvSpPr/>
          <p:nvPr/>
        </p:nvSpPr>
        <p:spPr>
          <a:xfrm>
            <a:off x="1585505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!!p07_08"/>
          <p:cNvSpPr/>
          <p:nvPr/>
        </p:nvSpPr>
        <p:spPr>
          <a:xfrm>
            <a:off x="1744251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33A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!!p07_09"/>
          <p:cNvSpPr/>
          <p:nvPr/>
        </p:nvSpPr>
        <p:spPr>
          <a:xfrm>
            <a:off x="1902997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36A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!!p07_10"/>
          <p:cNvSpPr/>
          <p:nvPr/>
        </p:nvSpPr>
        <p:spPr>
          <a:xfrm>
            <a:off x="2061743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!!p07_11"/>
          <p:cNvSpPr/>
          <p:nvPr/>
        </p:nvSpPr>
        <p:spPr>
          <a:xfrm>
            <a:off x="2220489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!!p07_12"/>
          <p:cNvSpPr/>
          <p:nvPr/>
        </p:nvSpPr>
        <p:spPr>
          <a:xfrm>
            <a:off x="2379235" y="48386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!!p08_05"/>
          <p:cNvSpPr/>
          <p:nvPr/>
        </p:nvSpPr>
        <p:spPr>
          <a:xfrm>
            <a:off x="1268013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!!p08_06"/>
          <p:cNvSpPr/>
          <p:nvPr/>
        </p:nvSpPr>
        <p:spPr>
          <a:xfrm>
            <a:off x="1426759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!!p08_07"/>
          <p:cNvSpPr/>
          <p:nvPr/>
        </p:nvSpPr>
        <p:spPr>
          <a:xfrm>
            <a:off x="1585505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!!p08_08"/>
          <p:cNvSpPr/>
          <p:nvPr/>
        </p:nvSpPr>
        <p:spPr>
          <a:xfrm>
            <a:off x="1744251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!!p08_09"/>
          <p:cNvSpPr/>
          <p:nvPr/>
        </p:nvSpPr>
        <p:spPr>
          <a:xfrm>
            <a:off x="1902997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!!p08_10"/>
          <p:cNvSpPr/>
          <p:nvPr/>
        </p:nvSpPr>
        <p:spPr>
          <a:xfrm>
            <a:off x="2061743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!!p08_11"/>
          <p:cNvSpPr/>
          <p:nvPr/>
        </p:nvSpPr>
        <p:spPr>
          <a:xfrm>
            <a:off x="2220489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!!p08_12"/>
          <p:cNvSpPr/>
          <p:nvPr/>
        </p:nvSpPr>
        <p:spPr>
          <a:xfrm>
            <a:off x="2379235" y="47233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!!p09_05"/>
          <p:cNvSpPr/>
          <p:nvPr/>
        </p:nvSpPr>
        <p:spPr>
          <a:xfrm>
            <a:off x="1268013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!!p09_06"/>
          <p:cNvSpPr/>
          <p:nvPr/>
        </p:nvSpPr>
        <p:spPr>
          <a:xfrm>
            <a:off x="1426759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!!p09_07"/>
          <p:cNvSpPr/>
          <p:nvPr/>
        </p:nvSpPr>
        <p:spPr>
          <a:xfrm>
            <a:off x="1585505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!!p09_08"/>
          <p:cNvSpPr/>
          <p:nvPr/>
        </p:nvSpPr>
        <p:spPr>
          <a:xfrm>
            <a:off x="1744251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!!p09_09"/>
          <p:cNvSpPr/>
          <p:nvPr/>
        </p:nvSpPr>
        <p:spPr>
          <a:xfrm>
            <a:off x="1902997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!!p09_10"/>
          <p:cNvSpPr/>
          <p:nvPr/>
        </p:nvSpPr>
        <p:spPr>
          <a:xfrm>
            <a:off x="2061743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!!p09_11"/>
          <p:cNvSpPr/>
          <p:nvPr/>
        </p:nvSpPr>
        <p:spPr>
          <a:xfrm>
            <a:off x="2220489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9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!!p09_12"/>
          <p:cNvSpPr/>
          <p:nvPr/>
        </p:nvSpPr>
        <p:spPr>
          <a:xfrm>
            <a:off x="2379235" y="46080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!!p10_06"/>
          <p:cNvSpPr/>
          <p:nvPr/>
        </p:nvSpPr>
        <p:spPr>
          <a:xfrm>
            <a:off x="1426759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!!p10_07"/>
          <p:cNvSpPr/>
          <p:nvPr/>
        </p:nvSpPr>
        <p:spPr>
          <a:xfrm>
            <a:off x="1585505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!!p10_08"/>
          <p:cNvSpPr/>
          <p:nvPr/>
        </p:nvSpPr>
        <p:spPr>
          <a:xfrm>
            <a:off x="1744251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!!p10_09"/>
          <p:cNvSpPr/>
          <p:nvPr/>
        </p:nvSpPr>
        <p:spPr>
          <a:xfrm>
            <a:off x="1902997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!!p10_10"/>
          <p:cNvSpPr/>
          <p:nvPr/>
        </p:nvSpPr>
        <p:spPr>
          <a:xfrm>
            <a:off x="2061743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!!p10_11"/>
          <p:cNvSpPr/>
          <p:nvPr/>
        </p:nvSpPr>
        <p:spPr>
          <a:xfrm>
            <a:off x="2220489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!!p10_12"/>
          <p:cNvSpPr/>
          <p:nvPr/>
        </p:nvSpPr>
        <p:spPr>
          <a:xfrm>
            <a:off x="2379235" y="4492729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C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!!p11_06"/>
          <p:cNvSpPr/>
          <p:nvPr/>
        </p:nvSpPr>
        <p:spPr>
          <a:xfrm>
            <a:off x="1426759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!!p11_07"/>
          <p:cNvSpPr/>
          <p:nvPr/>
        </p:nvSpPr>
        <p:spPr>
          <a:xfrm>
            <a:off x="1585505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!!p11_08"/>
          <p:cNvSpPr/>
          <p:nvPr/>
        </p:nvSpPr>
        <p:spPr>
          <a:xfrm>
            <a:off x="1744251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F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!!p11_09"/>
          <p:cNvSpPr/>
          <p:nvPr/>
        </p:nvSpPr>
        <p:spPr>
          <a:xfrm>
            <a:off x="1902997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!!p11_10"/>
          <p:cNvSpPr/>
          <p:nvPr/>
        </p:nvSpPr>
        <p:spPr>
          <a:xfrm>
            <a:off x="2061743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!!p11_11"/>
          <p:cNvSpPr/>
          <p:nvPr/>
        </p:nvSpPr>
        <p:spPr>
          <a:xfrm>
            <a:off x="2220489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!!p11_12"/>
          <p:cNvSpPr/>
          <p:nvPr/>
        </p:nvSpPr>
        <p:spPr>
          <a:xfrm>
            <a:off x="2379235" y="43774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!!p12_06"/>
          <p:cNvSpPr/>
          <p:nvPr/>
        </p:nvSpPr>
        <p:spPr>
          <a:xfrm>
            <a:off x="1426759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!!p12_07"/>
          <p:cNvSpPr/>
          <p:nvPr/>
        </p:nvSpPr>
        <p:spPr>
          <a:xfrm>
            <a:off x="1585505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E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!!p12_08"/>
          <p:cNvSpPr/>
          <p:nvPr/>
        </p:nvSpPr>
        <p:spPr>
          <a:xfrm>
            <a:off x="1744251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!!p12_09"/>
          <p:cNvSpPr/>
          <p:nvPr/>
        </p:nvSpPr>
        <p:spPr>
          <a:xfrm>
            <a:off x="1902997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!!p12_10"/>
          <p:cNvSpPr/>
          <p:nvPr/>
        </p:nvSpPr>
        <p:spPr>
          <a:xfrm>
            <a:off x="2061743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!!p12_11"/>
          <p:cNvSpPr/>
          <p:nvPr/>
        </p:nvSpPr>
        <p:spPr>
          <a:xfrm>
            <a:off x="2220489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!!p12_12"/>
          <p:cNvSpPr/>
          <p:nvPr/>
        </p:nvSpPr>
        <p:spPr>
          <a:xfrm>
            <a:off x="2379235" y="42621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B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!!p13_06"/>
          <p:cNvSpPr/>
          <p:nvPr/>
        </p:nvSpPr>
        <p:spPr>
          <a:xfrm>
            <a:off x="1426759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!!p13_07"/>
          <p:cNvSpPr/>
          <p:nvPr/>
        </p:nvSpPr>
        <p:spPr>
          <a:xfrm>
            <a:off x="1585505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!!p13_08"/>
          <p:cNvSpPr/>
          <p:nvPr/>
        </p:nvSpPr>
        <p:spPr>
          <a:xfrm>
            <a:off x="1744251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!!p13_09"/>
          <p:cNvSpPr/>
          <p:nvPr/>
        </p:nvSpPr>
        <p:spPr>
          <a:xfrm>
            <a:off x="1902997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B9A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!!p13_10"/>
          <p:cNvSpPr/>
          <p:nvPr/>
        </p:nvSpPr>
        <p:spPr>
          <a:xfrm>
            <a:off x="2061743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!!p13_11"/>
          <p:cNvSpPr/>
          <p:nvPr/>
        </p:nvSpPr>
        <p:spPr>
          <a:xfrm>
            <a:off x="2220489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!!p13_12"/>
          <p:cNvSpPr/>
          <p:nvPr/>
        </p:nvSpPr>
        <p:spPr>
          <a:xfrm>
            <a:off x="2379235" y="41468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!!p14_06"/>
          <p:cNvSpPr/>
          <p:nvPr/>
        </p:nvSpPr>
        <p:spPr>
          <a:xfrm>
            <a:off x="1426759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F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!!p14_07"/>
          <p:cNvSpPr/>
          <p:nvPr/>
        </p:nvSpPr>
        <p:spPr>
          <a:xfrm>
            <a:off x="1585505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!!p14_08"/>
          <p:cNvSpPr/>
          <p:nvPr/>
        </p:nvSpPr>
        <p:spPr>
          <a:xfrm>
            <a:off x="1744251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!!p14_09"/>
          <p:cNvSpPr/>
          <p:nvPr/>
        </p:nvSpPr>
        <p:spPr>
          <a:xfrm>
            <a:off x="1902997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B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!!p14_10"/>
          <p:cNvSpPr/>
          <p:nvPr/>
        </p:nvSpPr>
        <p:spPr>
          <a:xfrm>
            <a:off x="2061743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!!p14_11"/>
          <p:cNvSpPr/>
          <p:nvPr/>
        </p:nvSpPr>
        <p:spPr>
          <a:xfrm>
            <a:off x="2220489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!!p14_12"/>
          <p:cNvSpPr/>
          <p:nvPr/>
        </p:nvSpPr>
        <p:spPr>
          <a:xfrm>
            <a:off x="2379235" y="4031530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!!p15_07"/>
          <p:cNvSpPr/>
          <p:nvPr/>
        </p:nvSpPr>
        <p:spPr>
          <a:xfrm>
            <a:off x="1585505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!!p15_08"/>
          <p:cNvSpPr/>
          <p:nvPr/>
        </p:nvSpPr>
        <p:spPr>
          <a:xfrm>
            <a:off x="1744251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!!p15_09"/>
          <p:cNvSpPr/>
          <p:nvPr/>
        </p:nvSpPr>
        <p:spPr>
          <a:xfrm>
            <a:off x="1902997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D9C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!!p15_10"/>
          <p:cNvSpPr/>
          <p:nvPr/>
        </p:nvSpPr>
        <p:spPr>
          <a:xfrm>
            <a:off x="2061743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319F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!!p15_11"/>
          <p:cNvSpPr/>
          <p:nvPr/>
        </p:nvSpPr>
        <p:spPr>
          <a:xfrm>
            <a:off x="2220489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!!p15_12"/>
          <p:cNvSpPr/>
          <p:nvPr/>
        </p:nvSpPr>
        <p:spPr>
          <a:xfrm>
            <a:off x="2379235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!!p15_13"/>
          <p:cNvSpPr/>
          <p:nvPr/>
        </p:nvSpPr>
        <p:spPr>
          <a:xfrm>
            <a:off x="2537981" y="39162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7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!!p16_07"/>
          <p:cNvSpPr/>
          <p:nvPr/>
        </p:nvSpPr>
        <p:spPr>
          <a:xfrm>
            <a:off x="1585505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C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!!p16_08"/>
          <p:cNvSpPr/>
          <p:nvPr/>
        </p:nvSpPr>
        <p:spPr>
          <a:xfrm>
            <a:off x="1744251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!!p16_09"/>
          <p:cNvSpPr/>
          <p:nvPr/>
        </p:nvSpPr>
        <p:spPr>
          <a:xfrm>
            <a:off x="1902997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!!p16_10"/>
          <p:cNvSpPr/>
          <p:nvPr/>
        </p:nvSpPr>
        <p:spPr>
          <a:xfrm>
            <a:off x="2061743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309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!!p16_11"/>
          <p:cNvSpPr/>
          <p:nvPr/>
        </p:nvSpPr>
        <p:spPr>
          <a:xfrm>
            <a:off x="2220489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!!p16_12"/>
          <p:cNvSpPr/>
          <p:nvPr/>
        </p:nvSpPr>
        <p:spPr>
          <a:xfrm>
            <a:off x="2379235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D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!!p16_13"/>
          <p:cNvSpPr/>
          <p:nvPr/>
        </p:nvSpPr>
        <p:spPr>
          <a:xfrm>
            <a:off x="2537981" y="38009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!!p17_07"/>
          <p:cNvSpPr/>
          <p:nvPr/>
        </p:nvSpPr>
        <p:spPr>
          <a:xfrm>
            <a:off x="1585505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!!p17_08"/>
          <p:cNvSpPr/>
          <p:nvPr/>
        </p:nvSpPr>
        <p:spPr>
          <a:xfrm>
            <a:off x="1744251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!!p17_09"/>
          <p:cNvSpPr/>
          <p:nvPr/>
        </p:nvSpPr>
        <p:spPr>
          <a:xfrm>
            <a:off x="1902997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!!p17_10"/>
          <p:cNvSpPr/>
          <p:nvPr/>
        </p:nvSpPr>
        <p:spPr>
          <a:xfrm>
            <a:off x="2061743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E9C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!!p17_11"/>
          <p:cNvSpPr/>
          <p:nvPr/>
        </p:nvSpPr>
        <p:spPr>
          <a:xfrm>
            <a:off x="2220489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!!p17_12"/>
          <p:cNvSpPr/>
          <p:nvPr/>
        </p:nvSpPr>
        <p:spPr>
          <a:xfrm>
            <a:off x="2379235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!!p17_13"/>
          <p:cNvSpPr/>
          <p:nvPr/>
        </p:nvSpPr>
        <p:spPr>
          <a:xfrm>
            <a:off x="2537981" y="36856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!!p18_06"/>
          <p:cNvSpPr/>
          <p:nvPr/>
        </p:nvSpPr>
        <p:spPr>
          <a:xfrm>
            <a:off x="1426759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!!p18_07"/>
          <p:cNvSpPr/>
          <p:nvPr/>
        </p:nvSpPr>
        <p:spPr>
          <a:xfrm>
            <a:off x="1585505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!!p18_08"/>
          <p:cNvSpPr/>
          <p:nvPr/>
        </p:nvSpPr>
        <p:spPr>
          <a:xfrm>
            <a:off x="1744251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!!p18_09"/>
          <p:cNvSpPr/>
          <p:nvPr/>
        </p:nvSpPr>
        <p:spPr>
          <a:xfrm>
            <a:off x="1902997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7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!!p18_10"/>
          <p:cNvSpPr/>
          <p:nvPr/>
        </p:nvSpPr>
        <p:spPr>
          <a:xfrm>
            <a:off x="2061743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!!p18_11"/>
          <p:cNvSpPr/>
          <p:nvPr/>
        </p:nvSpPr>
        <p:spPr>
          <a:xfrm>
            <a:off x="2220489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!!p18_12"/>
          <p:cNvSpPr/>
          <p:nvPr/>
        </p:nvSpPr>
        <p:spPr>
          <a:xfrm>
            <a:off x="2379235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!!p18_13"/>
          <p:cNvSpPr/>
          <p:nvPr/>
        </p:nvSpPr>
        <p:spPr>
          <a:xfrm>
            <a:off x="2537981" y="3570331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!!p19_06"/>
          <p:cNvSpPr/>
          <p:nvPr/>
        </p:nvSpPr>
        <p:spPr>
          <a:xfrm>
            <a:off x="1426759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A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!!p19_07"/>
          <p:cNvSpPr/>
          <p:nvPr/>
        </p:nvSpPr>
        <p:spPr>
          <a:xfrm>
            <a:off x="1585505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976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!!p19_08"/>
          <p:cNvSpPr/>
          <p:nvPr/>
        </p:nvSpPr>
        <p:spPr>
          <a:xfrm>
            <a:off x="1744251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!!p19_09"/>
          <p:cNvSpPr/>
          <p:nvPr/>
        </p:nvSpPr>
        <p:spPr>
          <a:xfrm>
            <a:off x="1902997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!!p19_10"/>
          <p:cNvSpPr/>
          <p:nvPr/>
        </p:nvSpPr>
        <p:spPr>
          <a:xfrm>
            <a:off x="2061743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!!p19_11"/>
          <p:cNvSpPr/>
          <p:nvPr/>
        </p:nvSpPr>
        <p:spPr>
          <a:xfrm>
            <a:off x="2220489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!!p19_12"/>
          <p:cNvSpPr/>
          <p:nvPr/>
        </p:nvSpPr>
        <p:spPr>
          <a:xfrm>
            <a:off x="2379235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!!p19_13"/>
          <p:cNvSpPr/>
          <p:nvPr/>
        </p:nvSpPr>
        <p:spPr>
          <a:xfrm>
            <a:off x="2537981" y="34550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!!p20_06"/>
          <p:cNvSpPr/>
          <p:nvPr/>
        </p:nvSpPr>
        <p:spPr>
          <a:xfrm>
            <a:off x="1426759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!!p20_07"/>
          <p:cNvSpPr/>
          <p:nvPr/>
        </p:nvSpPr>
        <p:spPr>
          <a:xfrm>
            <a:off x="1585505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!!p20_08"/>
          <p:cNvSpPr/>
          <p:nvPr/>
        </p:nvSpPr>
        <p:spPr>
          <a:xfrm>
            <a:off x="1744251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!!p20_09"/>
          <p:cNvSpPr/>
          <p:nvPr/>
        </p:nvSpPr>
        <p:spPr>
          <a:xfrm>
            <a:off x="1902997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39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!!p20_10"/>
          <p:cNvSpPr/>
          <p:nvPr/>
        </p:nvSpPr>
        <p:spPr>
          <a:xfrm>
            <a:off x="2061743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!!p20_11"/>
          <p:cNvSpPr/>
          <p:nvPr/>
        </p:nvSpPr>
        <p:spPr>
          <a:xfrm>
            <a:off x="2220489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!!p20_12"/>
          <p:cNvSpPr/>
          <p:nvPr/>
        </p:nvSpPr>
        <p:spPr>
          <a:xfrm>
            <a:off x="2379235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1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!!p20_13"/>
          <p:cNvSpPr/>
          <p:nvPr/>
        </p:nvSpPr>
        <p:spPr>
          <a:xfrm>
            <a:off x="2537981" y="33397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!!p21_05"/>
          <p:cNvSpPr/>
          <p:nvPr/>
        </p:nvSpPr>
        <p:spPr>
          <a:xfrm>
            <a:off x="1268013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!!p21_06"/>
          <p:cNvSpPr/>
          <p:nvPr/>
        </p:nvSpPr>
        <p:spPr>
          <a:xfrm>
            <a:off x="1426759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!!p21_07"/>
          <p:cNvSpPr/>
          <p:nvPr/>
        </p:nvSpPr>
        <p:spPr>
          <a:xfrm>
            <a:off x="1585505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!!p21_08"/>
          <p:cNvSpPr/>
          <p:nvPr/>
        </p:nvSpPr>
        <p:spPr>
          <a:xfrm>
            <a:off x="1744251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9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!!p21_09"/>
          <p:cNvSpPr/>
          <p:nvPr/>
        </p:nvSpPr>
        <p:spPr>
          <a:xfrm>
            <a:off x="1902997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!!p21_10"/>
          <p:cNvSpPr/>
          <p:nvPr/>
        </p:nvSpPr>
        <p:spPr>
          <a:xfrm>
            <a:off x="2061743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19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!!p21_11"/>
          <p:cNvSpPr/>
          <p:nvPr/>
        </p:nvSpPr>
        <p:spPr>
          <a:xfrm>
            <a:off x="2220489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!!p21_12"/>
          <p:cNvSpPr/>
          <p:nvPr/>
        </p:nvSpPr>
        <p:spPr>
          <a:xfrm>
            <a:off x="2379235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A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!!p21_13"/>
          <p:cNvSpPr/>
          <p:nvPr/>
        </p:nvSpPr>
        <p:spPr>
          <a:xfrm>
            <a:off x="2537981" y="32244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B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!!p22_05"/>
          <p:cNvSpPr/>
          <p:nvPr/>
        </p:nvSpPr>
        <p:spPr>
          <a:xfrm>
            <a:off x="1268013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!!p22_06"/>
          <p:cNvSpPr/>
          <p:nvPr/>
        </p:nvSpPr>
        <p:spPr>
          <a:xfrm>
            <a:off x="1426759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!!p22_07"/>
          <p:cNvSpPr/>
          <p:nvPr/>
        </p:nvSpPr>
        <p:spPr>
          <a:xfrm>
            <a:off x="1585505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!!p22_08"/>
          <p:cNvSpPr/>
          <p:nvPr/>
        </p:nvSpPr>
        <p:spPr>
          <a:xfrm>
            <a:off x="1744251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!!p22_09"/>
          <p:cNvSpPr/>
          <p:nvPr/>
        </p:nvSpPr>
        <p:spPr>
          <a:xfrm>
            <a:off x="1902997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594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!!p22_10"/>
          <p:cNvSpPr/>
          <p:nvPr/>
        </p:nvSpPr>
        <p:spPr>
          <a:xfrm>
            <a:off x="2061743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F8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!!p22_11"/>
          <p:cNvSpPr/>
          <p:nvPr/>
        </p:nvSpPr>
        <p:spPr>
          <a:xfrm>
            <a:off x="2220489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2B9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!!p22_12"/>
          <p:cNvSpPr/>
          <p:nvPr/>
        </p:nvSpPr>
        <p:spPr>
          <a:xfrm>
            <a:off x="2379235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30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!!p22_13"/>
          <p:cNvSpPr/>
          <p:nvPr/>
        </p:nvSpPr>
        <p:spPr>
          <a:xfrm>
            <a:off x="2537981" y="3109132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!!p23_04"/>
          <p:cNvSpPr/>
          <p:nvPr/>
        </p:nvSpPr>
        <p:spPr>
          <a:xfrm>
            <a:off x="110926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D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!!p23_05"/>
          <p:cNvSpPr/>
          <p:nvPr/>
        </p:nvSpPr>
        <p:spPr>
          <a:xfrm>
            <a:off x="1268013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897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!!p23_06"/>
          <p:cNvSpPr/>
          <p:nvPr/>
        </p:nvSpPr>
        <p:spPr>
          <a:xfrm>
            <a:off x="1426759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AA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!!p23_07"/>
          <p:cNvSpPr/>
          <p:nvPr/>
        </p:nvSpPr>
        <p:spPr>
          <a:xfrm>
            <a:off x="1585505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4B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!!p23_08"/>
          <p:cNvSpPr/>
          <p:nvPr/>
        </p:nvSpPr>
        <p:spPr>
          <a:xfrm>
            <a:off x="1744251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!!p23_09"/>
          <p:cNvSpPr/>
          <p:nvPr/>
        </p:nvSpPr>
        <p:spPr>
          <a:xfrm>
            <a:off x="190299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695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!!p23_10"/>
          <p:cNvSpPr/>
          <p:nvPr/>
        </p:nvSpPr>
        <p:spPr>
          <a:xfrm>
            <a:off x="2061743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!!p23_11"/>
          <p:cNvSpPr/>
          <p:nvPr/>
        </p:nvSpPr>
        <p:spPr>
          <a:xfrm>
            <a:off x="2220489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!!p23_12"/>
          <p:cNvSpPr/>
          <p:nvPr/>
        </p:nvSpPr>
        <p:spPr>
          <a:xfrm>
            <a:off x="2379235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2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!!p23_13"/>
          <p:cNvSpPr/>
          <p:nvPr/>
        </p:nvSpPr>
        <p:spPr>
          <a:xfrm>
            <a:off x="2537981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9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!!p23_14"/>
          <p:cNvSpPr/>
          <p:nvPr/>
        </p:nvSpPr>
        <p:spPr>
          <a:xfrm>
            <a:off x="2696727" y="29938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!!p24_04"/>
          <p:cNvSpPr/>
          <p:nvPr/>
        </p:nvSpPr>
        <p:spPr>
          <a:xfrm>
            <a:off x="110926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F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!!p24_05"/>
          <p:cNvSpPr/>
          <p:nvPr/>
        </p:nvSpPr>
        <p:spPr>
          <a:xfrm>
            <a:off x="1268013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8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!!p24_06"/>
          <p:cNvSpPr/>
          <p:nvPr/>
        </p:nvSpPr>
        <p:spPr>
          <a:xfrm>
            <a:off x="1426759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8B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!!p24_07"/>
          <p:cNvSpPr/>
          <p:nvPr/>
        </p:nvSpPr>
        <p:spPr>
          <a:xfrm>
            <a:off x="1585505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DB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!!p24_08"/>
          <p:cNvSpPr/>
          <p:nvPr/>
        </p:nvSpPr>
        <p:spPr>
          <a:xfrm>
            <a:off x="1744251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1A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!!p24_09"/>
          <p:cNvSpPr/>
          <p:nvPr/>
        </p:nvSpPr>
        <p:spPr>
          <a:xfrm>
            <a:off x="190299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49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!!p24_10"/>
          <p:cNvSpPr/>
          <p:nvPr/>
        </p:nvSpPr>
        <p:spPr>
          <a:xfrm>
            <a:off x="2061743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!!p24_11"/>
          <p:cNvSpPr/>
          <p:nvPr/>
        </p:nvSpPr>
        <p:spPr>
          <a:xfrm>
            <a:off x="2220489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29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!!p24_12"/>
          <p:cNvSpPr/>
          <p:nvPr/>
        </p:nvSpPr>
        <p:spPr>
          <a:xfrm>
            <a:off x="2379235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2C9B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!!p24_13"/>
          <p:cNvSpPr/>
          <p:nvPr/>
        </p:nvSpPr>
        <p:spPr>
          <a:xfrm>
            <a:off x="2537981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!!p24_14"/>
          <p:cNvSpPr/>
          <p:nvPr/>
        </p:nvSpPr>
        <p:spPr>
          <a:xfrm>
            <a:off x="2696727" y="28785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!!p25_04"/>
          <p:cNvSpPr/>
          <p:nvPr/>
        </p:nvSpPr>
        <p:spPr>
          <a:xfrm>
            <a:off x="110926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C88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!!p25_05"/>
          <p:cNvSpPr/>
          <p:nvPr/>
        </p:nvSpPr>
        <p:spPr>
          <a:xfrm>
            <a:off x="1268013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0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!!p25_06"/>
          <p:cNvSpPr/>
          <p:nvPr/>
        </p:nvSpPr>
        <p:spPr>
          <a:xfrm>
            <a:off x="1426759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CB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!!p25_07"/>
          <p:cNvSpPr/>
          <p:nvPr/>
        </p:nvSpPr>
        <p:spPr>
          <a:xfrm>
            <a:off x="1585505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CB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!!p25_08"/>
          <p:cNvSpPr/>
          <p:nvPr/>
        </p:nvSpPr>
        <p:spPr>
          <a:xfrm>
            <a:off x="1744251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DA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!!p25_09"/>
          <p:cNvSpPr/>
          <p:nvPr/>
        </p:nvSpPr>
        <p:spPr>
          <a:xfrm>
            <a:off x="190299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!!p25_10"/>
          <p:cNvSpPr/>
          <p:nvPr/>
        </p:nvSpPr>
        <p:spPr>
          <a:xfrm>
            <a:off x="2061743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!!p25_11"/>
          <p:cNvSpPr/>
          <p:nvPr/>
        </p:nvSpPr>
        <p:spPr>
          <a:xfrm>
            <a:off x="2220489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1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!!p25_12"/>
          <p:cNvSpPr/>
          <p:nvPr/>
        </p:nvSpPr>
        <p:spPr>
          <a:xfrm>
            <a:off x="2379235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!!p25_13"/>
          <p:cNvSpPr/>
          <p:nvPr/>
        </p:nvSpPr>
        <p:spPr>
          <a:xfrm>
            <a:off x="2537981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!!p25_14"/>
          <p:cNvSpPr/>
          <p:nvPr/>
        </p:nvSpPr>
        <p:spPr>
          <a:xfrm>
            <a:off x="2696727" y="27632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E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!!p26_03"/>
          <p:cNvSpPr/>
          <p:nvPr/>
        </p:nvSpPr>
        <p:spPr>
          <a:xfrm>
            <a:off x="95052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!!p26_04"/>
          <p:cNvSpPr/>
          <p:nvPr/>
        </p:nvSpPr>
        <p:spPr>
          <a:xfrm>
            <a:off x="110926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3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!!p26_05"/>
          <p:cNvSpPr/>
          <p:nvPr/>
        </p:nvSpPr>
        <p:spPr>
          <a:xfrm>
            <a:off x="1268013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!!p26_06"/>
          <p:cNvSpPr/>
          <p:nvPr/>
        </p:nvSpPr>
        <p:spPr>
          <a:xfrm>
            <a:off x="1426759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3A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!!p26_07"/>
          <p:cNvSpPr/>
          <p:nvPr/>
        </p:nvSpPr>
        <p:spPr>
          <a:xfrm>
            <a:off x="1585505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40AD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!!p26_08"/>
          <p:cNvSpPr/>
          <p:nvPr/>
        </p:nvSpPr>
        <p:spPr>
          <a:xfrm>
            <a:off x="174425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319F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!!p26_09"/>
          <p:cNvSpPr/>
          <p:nvPr/>
        </p:nvSpPr>
        <p:spPr>
          <a:xfrm>
            <a:off x="190299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D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!!p26_10"/>
          <p:cNvSpPr/>
          <p:nvPr/>
        </p:nvSpPr>
        <p:spPr>
          <a:xfrm>
            <a:off x="2061743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!!p26_11"/>
          <p:cNvSpPr/>
          <p:nvPr/>
        </p:nvSpPr>
        <p:spPr>
          <a:xfrm>
            <a:off x="2220489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!!p26_12"/>
          <p:cNvSpPr/>
          <p:nvPr/>
        </p:nvSpPr>
        <p:spPr>
          <a:xfrm>
            <a:off x="2379235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!!p26_13"/>
          <p:cNvSpPr/>
          <p:nvPr/>
        </p:nvSpPr>
        <p:spPr>
          <a:xfrm>
            <a:off x="2537981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!!p26_14"/>
          <p:cNvSpPr/>
          <p:nvPr/>
        </p:nvSpPr>
        <p:spPr>
          <a:xfrm>
            <a:off x="2696727" y="2647933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!!p27_03"/>
          <p:cNvSpPr/>
          <p:nvPr/>
        </p:nvSpPr>
        <p:spPr>
          <a:xfrm>
            <a:off x="95052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!!p27_04"/>
          <p:cNvSpPr/>
          <p:nvPr/>
        </p:nvSpPr>
        <p:spPr>
          <a:xfrm>
            <a:off x="110926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!!p27_05"/>
          <p:cNvSpPr/>
          <p:nvPr/>
        </p:nvSpPr>
        <p:spPr>
          <a:xfrm>
            <a:off x="1268013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299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!!p27_06"/>
          <p:cNvSpPr/>
          <p:nvPr/>
        </p:nvSpPr>
        <p:spPr>
          <a:xfrm>
            <a:off x="1426759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309E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!!p27_07"/>
          <p:cNvSpPr/>
          <p:nvPr/>
        </p:nvSpPr>
        <p:spPr>
          <a:xfrm>
            <a:off x="1585505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2C9A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!!p27_08"/>
          <p:cNvSpPr/>
          <p:nvPr/>
        </p:nvSpPr>
        <p:spPr>
          <a:xfrm>
            <a:off x="174425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!!p27_09"/>
          <p:cNvSpPr/>
          <p:nvPr/>
        </p:nvSpPr>
        <p:spPr>
          <a:xfrm>
            <a:off x="190299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7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!!p27_10"/>
          <p:cNvSpPr/>
          <p:nvPr/>
        </p:nvSpPr>
        <p:spPr>
          <a:xfrm>
            <a:off x="2061743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E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!!p27_11"/>
          <p:cNvSpPr/>
          <p:nvPr/>
        </p:nvSpPr>
        <p:spPr>
          <a:xfrm>
            <a:off x="2220489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!!p27_12"/>
          <p:cNvSpPr/>
          <p:nvPr/>
        </p:nvSpPr>
        <p:spPr>
          <a:xfrm>
            <a:off x="2379235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5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!!p27_13"/>
          <p:cNvSpPr/>
          <p:nvPr/>
        </p:nvSpPr>
        <p:spPr>
          <a:xfrm>
            <a:off x="2537981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4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!!p27_14"/>
          <p:cNvSpPr/>
          <p:nvPr/>
        </p:nvSpPr>
        <p:spPr>
          <a:xfrm>
            <a:off x="2696727" y="25326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!!p28_03"/>
          <p:cNvSpPr/>
          <p:nvPr/>
        </p:nvSpPr>
        <p:spPr>
          <a:xfrm>
            <a:off x="95052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!!p28_04"/>
          <p:cNvSpPr/>
          <p:nvPr/>
        </p:nvSpPr>
        <p:spPr>
          <a:xfrm>
            <a:off x="110926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!!p28_05"/>
          <p:cNvSpPr/>
          <p:nvPr/>
        </p:nvSpPr>
        <p:spPr>
          <a:xfrm>
            <a:off x="1268013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!!p28_06"/>
          <p:cNvSpPr/>
          <p:nvPr/>
        </p:nvSpPr>
        <p:spPr>
          <a:xfrm>
            <a:off x="1426759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B8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!!p28_07"/>
          <p:cNvSpPr/>
          <p:nvPr/>
        </p:nvSpPr>
        <p:spPr>
          <a:xfrm>
            <a:off x="1585505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A7E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!!p28_08"/>
          <p:cNvSpPr/>
          <p:nvPr/>
        </p:nvSpPr>
        <p:spPr>
          <a:xfrm>
            <a:off x="174425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!!p28_09"/>
          <p:cNvSpPr/>
          <p:nvPr/>
        </p:nvSpPr>
        <p:spPr>
          <a:xfrm>
            <a:off x="190299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!!p28_10"/>
          <p:cNvSpPr/>
          <p:nvPr/>
        </p:nvSpPr>
        <p:spPr>
          <a:xfrm>
            <a:off x="2061743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!!p28_11"/>
          <p:cNvSpPr/>
          <p:nvPr/>
        </p:nvSpPr>
        <p:spPr>
          <a:xfrm>
            <a:off x="2220489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B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!!p28_12"/>
          <p:cNvSpPr/>
          <p:nvPr/>
        </p:nvSpPr>
        <p:spPr>
          <a:xfrm>
            <a:off x="2379235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!!p28_13"/>
          <p:cNvSpPr/>
          <p:nvPr/>
        </p:nvSpPr>
        <p:spPr>
          <a:xfrm>
            <a:off x="2537981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!!p28_14"/>
          <p:cNvSpPr/>
          <p:nvPr/>
        </p:nvSpPr>
        <p:spPr>
          <a:xfrm>
            <a:off x="2696727" y="24173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!!p29_03"/>
          <p:cNvSpPr/>
          <p:nvPr/>
        </p:nvSpPr>
        <p:spPr>
          <a:xfrm>
            <a:off x="95052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!!p29_04"/>
          <p:cNvSpPr/>
          <p:nvPr/>
        </p:nvSpPr>
        <p:spPr>
          <a:xfrm>
            <a:off x="1109267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!!p29_05"/>
          <p:cNvSpPr/>
          <p:nvPr/>
        </p:nvSpPr>
        <p:spPr>
          <a:xfrm>
            <a:off x="1268013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0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!!p29_06"/>
          <p:cNvSpPr/>
          <p:nvPr/>
        </p:nvSpPr>
        <p:spPr>
          <a:xfrm>
            <a:off x="1426759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61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!!p29_07"/>
          <p:cNvSpPr/>
          <p:nvPr/>
        </p:nvSpPr>
        <p:spPr>
          <a:xfrm>
            <a:off x="1585505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!!p29_08"/>
          <p:cNvSpPr/>
          <p:nvPr/>
        </p:nvSpPr>
        <p:spPr>
          <a:xfrm>
            <a:off x="174425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!!p29_09"/>
          <p:cNvSpPr/>
          <p:nvPr/>
        </p:nvSpPr>
        <p:spPr>
          <a:xfrm>
            <a:off x="1902997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D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!!p29_10"/>
          <p:cNvSpPr/>
          <p:nvPr/>
        </p:nvSpPr>
        <p:spPr>
          <a:xfrm>
            <a:off x="2061743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!!p29_11"/>
          <p:cNvSpPr/>
          <p:nvPr/>
        </p:nvSpPr>
        <p:spPr>
          <a:xfrm>
            <a:off x="2220489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!!p29_12"/>
          <p:cNvSpPr/>
          <p:nvPr/>
        </p:nvSpPr>
        <p:spPr>
          <a:xfrm>
            <a:off x="2379235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4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!!p29_13"/>
          <p:cNvSpPr/>
          <p:nvPr/>
        </p:nvSpPr>
        <p:spPr>
          <a:xfrm>
            <a:off x="2537981" y="23020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!!p30_03"/>
          <p:cNvSpPr/>
          <p:nvPr/>
        </p:nvSpPr>
        <p:spPr>
          <a:xfrm>
            <a:off x="95052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!!p30_04"/>
          <p:cNvSpPr/>
          <p:nvPr/>
        </p:nvSpPr>
        <p:spPr>
          <a:xfrm>
            <a:off x="1109267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!!p30_05"/>
          <p:cNvSpPr/>
          <p:nvPr/>
        </p:nvSpPr>
        <p:spPr>
          <a:xfrm>
            <a:off x="1268013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0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!!p30_06"/>
          <p:cNvSpPr/>
          <p:nvPr/>
        </p:nvSpPr>
        <p:spPr>
          <a:xfrm>
            <a:off x="1426759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!!p30_07"/>
          <p:cNvSpPr/>
          <p:nvPr/>
        </p:nvSpPr>
        <p:spPr>
          <a:xfrm>
            <a:off x="1585505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4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!!p30_08"/>
          <p:cNvSpPr/>
          <p:nvPr/>
        </p:nvSpPr>
        <p:spPr>
          <a:xfrm>
            <a:off x="174425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!!p30_09"/>
          <p:cNvSpPr/>
          <p:nvPr/>
        </p:nvSpPr>
        <p:spPr>
          <a:xfrm>
            <a:off x="1902997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!!p30_10"/>
          <p:cNvSpPr/>
          <p:nvPr/>
        </p:nvSpPr>
        <p:spPr>
          <a:xfrm>
            <a:off x="2061743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!!p30_11"/>
          <p:cNvSpPr/>
          <p:nvPr/>
        </p:nvSpPr>
        <p:spPr>
          <a:xfrm>
            <a:off x="2220489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!!p30_12"/>
          <p:cNvSpPr/>
          <p:nvPr/>
        </p:nvSpPr>
        <p:spPr>
          <a:xfrm>
            <a:off x="2379235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!!p30_13"/>
          <p:cNvSpPr/>
          <p:nvPr/>
        </p:nvSpPr>
        <p:spPr>
          <a:xfrm>
            <a:off x="2537981" y="2186734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!!p31_03"/>
          <p:cNvSpPr/>
          <p:nvPr/>
        </p:nvSpPr>
        <p:spPr>
          <a:xfrm>
            <a:off x="95052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!!p31_04"/>
          <p:cNvSpPr/>
          <p:nvPr/>
        </p:nvSpPr>
        <p:spPr>
          <a:xfrm>
            <a:off x="1109267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F47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!!p31_05"/>
          <p:cNvSpPr/>
          <p:nvPr/>
        </p:nvSpPr>
        <p:spPr>
          <a:xfrm>
            <a:off x="1268013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!!p31_06"/>
          <p:cNvSpPr/>
          <p:nvPr/>
        </p:nvSpPr>
        <p:spPr>
          <a:xfrm>
            <a:off x="1426759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!!p31_07"/>
          <p:cNvSpPr/>
          <p:nvPr/>
        </p:nvSpPr>
        <p:spPr>
          <a:xfrm>
            <a:off x="1585505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!!p31_08"/>
          <p:cNvSpPr/>
          <p:nvPr/>
        </p:nvSpPr>
        <p:spPr>
          <a:xfrm>
            <a:off x="174425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!!p31_09"/>
          <p:cNvSpPr/>
          <p:nvPr/>
        </p:nvSpPr>
        <p:spPr>
          <a:xfrm>
            <a:off x="1902997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!!p31_10"/>
          <p:cNvSpPr/>
          <p:nvPr/>
        </p:nvSpPr>
        <p:spPr>
          <a:xfrm>
            <a:off x="2061743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!!p31_11"/>
          <p:cNvSpPr/>
          <p:nvPr/>
        </p:nvSpPr>
        <p:spPr>
          <a:xfrm>
            <a:off x="2220489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!!p31_12"/>
          <p:cNvSpPr/>
          <p:nvPr/>
        </p:nvSpPr>
        <p:spPr>
          <a:xfrm>
            <a:off x="2379235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!!p31_13"/>
          <p:cNvSpPr/>
          <p:nvPr/>
        </p:nvSpPr>
        <p:spPr>
          <a:xfrm>
            <a:off x="2537981" y="20714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!!p32_03"/>
          <p:cNvSpPr/>
          <p:nvPr/>
        </p:nvSpPr>
        <p:spPr>
          <a:xfrm>
            <a:off x="950521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!!p32_04"/>
          <p:cNvSpPr/>
          <p:nvPr/>
        </p:nvSpPr>
        <p:spPr>
          <a:xfrm>
            <a:off x="1109267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358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!!p32_05"/>
          <p:cNvSpPr/>
          <p:nvPr/>
        </p:nvSpPr>
        <p:spPr>
          <a:xfrm>
            <a:off x="1268013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45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!!p32_06"/>
          <p:cNvSpPr/>
          <p:nvPr/>
        </p:nvSpPr>
        <p:spPr>
          <a:xfrm>
            <a:off x="1426759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C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!!p32_07"/>
          <p:cNvSpPr/>
          <p:nvPr/>
        </p:nvSpPr>
        <p:spPr>
          <a:xfrm>
            <a:off x="1585505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B3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!!p32_08"/>
          <p:cNvSpPr/>
          <p:nvPr/>
        </p:nvSpPr>
        <p:spPr>
          <a:xfrm>
            <a:off x="1744251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!!p32_09"/>
          <p:cNvSpPr/>
          <p:nvPr/>
        </p:nvSpPr>
        <p:spPr>
          <a:xfrm>
            <a:off x="1902997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!!p32_10"/>
          <p:cNvSpPr/>
          <p:nvPr/>
        </p:nvSpPr>
        <p:spPr>
          <a:xfrm>
            <a:off x="2061743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!!p32_11"/>
          <p:cNvSpPr/>
          <p:nvPr/>
        </p:nvSpPr>
        <p:spPr>
          <a:xfrm>
            <a:off x="2220489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!!p32_12"/>
          <p:cNvSpPr/>
          <p:nvPr/>
        </p:nvSpPr>
        <p:spPr>
          <a:xfrm>
            <a:off x="2379235" y="19561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!!p33_03"/>
          <p:cNvSpPr/>
          <p:nvPr/>
        </p:nvSpPr>
        <p:spPr>
          <a:xfrm>
            <a:off x="950521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!!p33_04"/>
          <p:cNvSpPr/>
          <p:nvPr/>
        </p:nvSpPr>
        <p:spPr>
          <a:xfrm>
            <a:off x="1109267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9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!!p33_05"/>
          <p:cNvSpPr/>
          <p:nvPr/>
        </p:nvSpPr>
        <p:spPr>
          <a:xfrm>
            <a:off x="1268013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70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!!p33_06"/>
          <p:cNvSpPr/>
          <p:nvPr/>
        </p:nvSpPr>
        <p:spPr>
          <a:xfrm>
            <a:off x="1426759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!!p33_07"/>
          <p:cNvSpPr/>
          <p:nvPr/>
        </p:nvSpPr>
        <p:spPr>
          <a:xfrm>
            <a:off x="1585505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3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!!p33_08"/>
          <p:cNvSpPr/>
          <p:nvPr/>
        </p:nvSpPr>
        <p:spPr>
          <a:xfrm>
            <a:off x="1744251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!!p33_09"/>
          <p:cNvSpPr/>
          <p:nvPr/>
        </p:nvSpPr>
        <p:spPr>
          <a:xfrm>
            <a:off x="1902997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!!p33_10"/>
          <p:cNvSpPr/>
          <p:nvPr/>
        </p:nvSpPr>
        <p:spPr>
          <a:xfrm>
            <a:off x="2061743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!!p33_11"/>
          <p:cNvSpPr/>
          <p:nvPr/>
        </p:nvSpPr>
        <p:spPr>
          <a:xfrm>
            <a:off x="2220489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!!p33_12"/>
          <p:cNvSpPr/>
          <p:nvPr/>
        </p:nvSpPr>
        <p:spPr>
          <a:xfrm>
            <a:off x="2379235" y="18408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!!p34_03"/>
          <p:cNvSpPr/>
          <p:nvPr/>
        </p:nvSpPr>
        <p:spPr>
          <a:xfrm>
            <a:off x="950521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!!p34_04"/>
          <p:cNvSpPr/>
          <p:nvPr/>
        </p:nvSpPr>
        <p:spPr>
          <a:xfrm>
            <a:off x="1109267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76F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!!p34_05"/>
          <p:cNvSpPr/>
          <p:nvPr/>
        </p:nvSpPr>
        <p:spPr>
          <a:xfrm>
            <a:off x="1268013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1875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!!p34_06"/>
          <p:cNvSpPr/>
          <p:nvPr/>
        </p:nvSpPr>
        <p:spPr>
          <a:xfrm>
            <a:off x="1426759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!!p34_07"/>
          <p:cNvSpPr/>
          <p:nvPr/>
        </p:nvSpPr>
        <p:spPr>
          <a:xfrm>
            <a:off x="1585505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!!p34_08"/>
          <p:cNvSpPr/>
          <p:nvPr/>
        </p:nvSpPr>
        <p:spPr>
          <a:xfrm>
            <a:off x="1744251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C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!!p34_09"/>
          <p:cNvSpPr/>
          <p:nvPr/>
        </p:nvSpPr>
        <p:spPr>
          <a:xfrm>
            <a:off x="1902997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!!p34_10"/>
          <p:cNvSpPr/>
          <p:nvPr/>
        </p:nvSpPr>
        <p:spPr>
          <a:xfrm>
            <a:off x="2061743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!!p34_11"/>
          <p:cNvSpPr/>
          <p:nvPr/>
        </p:nvSpPr>
        <p:spPr>
          <a:xfrm>
            <a:off x="2220489" y="1725535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!!p35_04"/>
          <p:cNvSpPr/>
          <p:nvPr/>
        </p:nvSpPr>
        <p:spPr>
          <a:xfrm>
            <a:off x="1109267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56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!!p35_05"/>
          <p:cNvSpPr/>
          <p:nvPr/>
        </p:nvSpPr>
        <p:spPr>
          <a:xfrm>
            <a:off x="1268013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66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!!p35_06"/>
          <p:cNvSpPr/>
          <p:nvPr/>
        </p:nvSpPr>
        <p:spPr>
          <a:xfrm>
            <a:off x="1426759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D39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!!p35_07"/>
          <p:cNvSpPr/>
          <p:nvPr/>
        </p:nvSpPr>
        <p:spPr>
          <a:xfrm>
            <a:off x="1585505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!!p35_08"/>
          <p:cNvSpPr/>
          <p:nvPr/>
        </p:nvSpPr>
        <p:spPr>
          <a:xfrm>
            <a:off x="1744251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!!p35_09"/>
          <p:cNvSpPr/>
          <p:nvPr/>
        </p:nvSpPr>
        <p:spPr>
          <a:xfrm>
            <a:off x="1902997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!!p35_10"/>
          <p:cNvSpPr/>
          <p:nvPr/>
        </p:nvSpPr>
        <p:spPr>
          <a:xfrm>
            <a:off x="2061743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!!p35_11"/>
          <p:cNvSpPr/>
          <p:nvPr/>
        </p:nvSpPr>
        <p:spPr>
          <a:xfrm>
            <a:off x="2220489" y="16102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!!p36_04"/>
          <p:cNvSpPr/>
          <p:nvPr/>
        </p:nvSpPr>
        <p:spPr>
          <a:xfrm>
            <a:off x="1109267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14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!!p36_05"/>
          <p:cNvSpPr/>
          <p:nvPr/>
        </p:nvSpPr>
        <p:spPr>
          <a:xfrm>
            <a:off x="1268013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12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!!p36_06"/>
          <p:cNvSpPr/>
          <p:nvPr/>
        </p:nvSpPr>
        <p:spPr>
          <a:xfrm>
            <a:off x="1426759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!!p36_07"/>
          <p:cNvSpPr/>
          <p:nvPr/>
        </p:nvSpPr>
        <p:spPr>
          <a:xfrm>
            <a:off x="1585505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92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!!p36_08"/>
          <p:cNvSpPr/>
          <p:nvPr/>
        </p:nvSpPr>
        <p:spPr>
          <a:xfrm>
            <a:off x="1744251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!!p36_09"/>
          <p:cNvSpPr/>
          <p:nvPr/>
        </p:nvSpPr>
        <p:spPr>
          <a:xfrm>
            <a:off x="1902997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!!p36_10"/>
          <p:cNvSpPr/>
          <p:nvPr/>
        </p:nvSpPr>
        <p:spPr>
          <a:xfrm>
            <a:off x="2061743" y="14949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!!p37_04"/>
          <p:cNvSpPr/>
          <p:nvPr/>
        </p:nvSpPr>
        <p:spPr>
          <a:xfrm>
            <a:off x="1109267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7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!!p37_05"/>
          <p:cNvSpPr/>
          <p:nvPr/>
        </p:nvSpPr>
        <p:spPr>
          <a:xfrm>
            <a:off x="1268013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C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!!p37_06"/>
          <p:cNvSpPr/>
          <p:nvPr/>
        </p:nvSpPr>
        <p:spPr>
          <a:xfrm>
            <a:off x="1426759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A2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!!p37_07"/>
          <p:cNvSpPr/>
          <p:nvPr/>
        </p:nvSpPr>
        <p:spPr>
          <a:xfrm>
            <a:off x="1585505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!!p37_08"/>
          <p:cNvSpPr/>
          <p:nvPr/>
        </p:nvSpPr>
        <p:spPr>
          <a:xfrm>
            <a:off x="1744251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!!p37_09"/>
          <p:cNvSpPr/>
          <p:nvPr/>
        </p:nvSpPr>
        <p:spPr>
          <a:xfrm>
            <a:off x="1902997" y="1379636"/>
            <a:ext cx="99157" cy="99157"/>
          </a:xfrm>
          <a:prstGeom prst="roundRect">
            <a:avLst>
              <a:gd name="adj" fmla="val 30000"/>
            </a:avLst>
          </a:prstGeom>
          <a:solidFill>
            <a:srgbClr val="08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920726" y="5905352"/>
            <a:ext cx="38099" cy="101597"/>
          </a:xfrm>
          <a:prstGeom prst="rect">
            <a:avLst/>
          </a:prstGeom>
          <a:solidFill>
            <a:srgbClr val="05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952476" y="5905352"/>
            <a:ext cx="38099" cy="101597"/>
          </a:xfrm>
          <a:prstGeom prst="rect">
            <a:avLst/>
          </a:prstGeom>
          <a:solidFill>
            <a:srgbClr val="0620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984225" y="5905352"/>
            <a:ext cx="38099" cy="101597"/>
          </a:xfrm>
          <a:prstGeom prst="rect">
            <a:avLst/>
          </a:prstGeom>
          <a:solidFill>
            <a:srgbClr val="072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015974" y="5905352"/>
            <a:ext cx="38099" cy="101597"/>
          </a:xfrm>
          <a:prstGeom prst="rect">
            <a:avLst/>
          </a:prstGeom>
          <a:solidFill>
            <a:srgbClr val="0826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047723" y="5905352"/>
            <a:ext cx="38099" cy="101597"/>
          </a:xfrm>
          <a:prstGeom prst="rect">
            <a:avLst/>
          </a:prstGeom>
          <a:solidFill>
            <a:srgbClr val="082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079473" y="5905352"/>
            <a:ext cx="38099" cy="101597"/>
          </a:xfrm>
          <a:prstGeom prst="rect">
            <a:avLst/>
          </a:prstGeom>
          <a:solidFill>
            <a:srgbClr val="092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111222" y="5905352"/>
            <a:ext cx="38099" cy="101597"/>
          </a:xfrm>
          <a:prstGeom prst="rect">
            <a:avLst/>
          </a:prstGeom>
          <a:solidFill>
            <a:srgbClr val="0A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1142971" y="5905352"/>
            <a:ext cx="38099" cy="101597"/>
          </a:xfrm>
          <a:prstGeom prst="rect">
            <a:avLst/>
          </a:prstGeom>
          <a:solidFill>
            <a:srgbClr val="0B33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1174720" y="5905352"/>
            <a:ext cx="38099" cy="101597"/>
          </a:xfrm>
          <a:prstGeom prst="rect">
            <a:avLst/>
          </a:prstGeom>
          <a:solidFill>
            <a:srgbClr val="0C3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1206469" y="5905352"/>
            <a:ext cx="38099" cy="101597"/>
          </a:xfrm>
          <a:prstGeom prst="rect">
            <a:avLst/>
          </a:prstGeom>
          <a:solidFill>
            <a:srgbClr val="0D3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1238219" y="5905352"/>
            <a:ext cx="38099" cy="101597"/>
          </a:xfrm>
          <a:prstGeom prst="rect">
            <a:avLst/>
          </a:prstGeom>
          <a:solidFill>
            <a:srgbClr val="0E3F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1269968" y="5905352"/>
            <a:ext cx="38099" cy="101597"/>
          </a:xfrm>
          <a:prstGeom prst="rect">
            <a:avLst/>
          </a:prstGeom>
          <a:solidFill>
            <a:srgbClr val="104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301717" y="5905352"/>
            <a:ext cx="38099" cy="101597"/>
          </a:xfrm>
          <a:prstGeom prst="rect">
            <a:avLst/>
          </a:prstGeom>
          <a:solidFill>
            <a:srgbClr val="1151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1333466" y="5905352"/>
            <a:ext cx="38099" cy="101597"/>
          </a:xfrm>
          <a:prstGeom prst="rect">
            <a:avLst/>
          </a:prstGeom>
          <a:solidFill>
            <a:srgbClr val="1359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1365215" y="5905352"/>
            <a:ext cx="38099" cy="101597"/>
          </a:xfrm>
          <a:prstGeom prst="rect">
            <a:avLst/>
          </a:prstGeom>
          <a:solidFill>
            <a:srgbClr val="1562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1396965" y="5905352"/>
            <a:ext cx="38099" cy="101597"/>
          </a:xfrm>
          <a:prstGeom prst="rect">
            <a:avLst/>
          </a:prstGeom>
          <a:solidFill>
            <a:srgbClr val="166B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1428714" y="5905352"/>
            <a:ext cx="38099" cy="101597"/>
          </a:xfrm>
          <a:prstGeom prst="rect">
            <a:avLst/>
          </a:prstGeom>
          <a:solidFill>
            <a:srgbClr val="1874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1460463" y="5905352"/>
            <a:ext cx="38099" cy="101597"/>
          </a:xfrm>
          <a:prstGeom prst="rect">
            <a:avLst/>
          </a:prstGeom>
          <a:solidFill>
            <a:srgbClr val="1A7CA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1492212" y="5905352"/>
            <a:ext cx="38099" cy="101597"/>
          </a:xfrm>
          <a:prstGeom prst="rect">
            <a:avLst/>
          </a:prstGeom>
          <a:solidFill>
            <a:srgbClr val="1C85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523961" y="5905352"/>
            <a:ext cx="38099" cy="101597"/>
          </a:xfrm>
          <a:prstGeom prst="rect">
            <a:avLst/>
          </a:prstGeom>
          <a:solidFill>
            <a:srgbClr val="1E8E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555711" y="5905352"/>
            <a:ext cx="38099" cy="101597"/>
          </a:xfrm>
          <a:prstGeom prst="rect">
            <a:avLst/>
          </a:prstGeom>
          <a:solidFill>
            <a:srgbClr val="239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587460" y="5905352"/>
            <a:ext cx="38099" cy="101597"/>
          </a:xfrm>
          <a:prstGeom prst="rect">
            <a:avLst/>
          </a:prstGeom>
          <a:solidFill>
            <a:srgbClr val="2998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19209" y="5905352"/>
            <a:ext cx="38099" cy="101597"/>
          </a:xfrm>
          <a:prstGeom prst="rect">
            <a:avLst/>
          </a:prstGeom>
          <a:solidFill>
            <a:srgbClr val="2F9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650958" y="5905352"/>
            <a:ext cx="38099" cy="101597"/>
          </a:xfrm>
          <a:prstGeom prst="rect">
            <a:avLst/>
          </a:prstGeom>
          <a:solidFill>
            <a:srgbClr val="34A2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1682707" y="5905352"/>
            <a:ext cx="38099" cy="101597"/>
          </a:xfrm>
          <a:prstGeom prst="rect">
            <a:avLst/>
          </a:prstGeom>
          <a:solidFill>
            <a:srgbClr val="3AA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1714457" y="5905352"/>
            <a:ext cx="38099" cy="101597"/>
          </a:xfrm>
          <a:prstGeom prst="rect">
            <a:avLst/>
          </a:prstGeom>
          <a:solidFill>
            <a:srgbClr val="3FAC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1746206" y="5905352"/>
            <a:ext cx="38099" cy="101597"/>
          </a:xfrm>
          <a:prstGeom prst="rect">
            <a:avLst/>
          </a:prstGeom>
          <a:solidFill>
            <a:srgbClr val="45B1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1777955" y="5905352"/>
            <a:ext cx="38099" cy="101597"/>
          </a:xfrm>
          <a:prstGeom prst="rect">
            <a:avLst/>
          </a:prstGeom>
          <a:solidFill>
            <a:srgbClr val="4BB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1809704" y="5905352"/>
            <a:ext cx="38099" cy="101597"/>
          </a:xfrm>
          <a:prstGeom prst="rect">
            <a:avLst/>
          </a:prstGeom>
          <a:solidFill>
            <a:srgbClr val="50B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1841453" y="5905352"/>
            <a:ext cx="38099" cy="101597"/>
          </a:xfrm>
          <a:prstGeom prst="rect">
            <a:avLst/>
          </a:prstGeom>
          <a:solidFill>
            <a:srgbClr val="60B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1873203" y="5905352"/>
            <a:ext cx="38099" cy="101597"/>
          </a:xfrm>
          <a:prstGeom prst="rect">
            <a:avLst/>
          </a:prstGeom>
          <a:solidFill>
            <a:srgbClr val="75C1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1904952" y="5905352"/>
            <a:ext cx="38099" cy="101597"/>
          </a:xfrm>
          <a:prstGeom prst="rect">
            <a:avLst/>
          </a:prstGeom>
          <a:solidFill>
            <a:srgbClr val="8AC4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1936701" y="5905352"/>
            <a:ext cx="38099" cy="101597"/>
          </a:xfrm>
          <a:prstGeom prst="rect">
            <a:avLst/>
          </a:prstGeom>
          <a:solidFill>
            <a:srgbClr val="9FC6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968450" y="5905352"/>
            <a:ext cx="38099" cy="101597"/>
          </a:xfrm>
          <a:prstGeom prst="rect">
            <a:avLst/>
          </a:prstGeom>
          <a:solidFill>
            <a:srgbClr val="B4C9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000199" y="5905352"/>
            <a:ext cx="38099" cy="101597"/>
          </a:xfrm>
          <a:prstGeom prst="rect">
            <a:avLst/>
          </a:prstGeom>
          <a:solidFill>
            <a:srgbClr val="C9C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031949" y="5905352"/>
            <a:ext cx="38099" cy="101597"/>
          </a:xfrm>
          <a:prstGeom prst="rect">
            <a:avLst/>
          </a:prstGeom>
          <a:solidFill>
            <a:srgbClr val="DEC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063698" y="5905352"/>
            <a:ext cx="38099" cy="101597"/>
          </a:xfrm>
          <a:prstGeom prst="rect">
            <a:avLst/>
          </a:prstGeom>
          <a:solidFill>
            <a:srgbClr val="F3D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2095447" y="5905352"/>
            <a:ext cx="38099" cy="101597"/>
          </a:xfrm>
          <a:prstGeom prst="rect">
            <a:avLst/>
          </a:prstGeom>
          <a:solidFill>
            <a:srgbClr val="FFC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2127196" y="5905352"/>
            <a:ext cx="38099" cy="101597"/>
          </a:xfrm>
          <a:prstGeom prst="rect">
            <a:avLst/>
          </a:prstGeom>
          <a:solidFill>
            <a:srgbClr val="FFC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2158946" y="5905352"/>
            <a:ext cx="38099" cy="101597"/>
          </a:xfrm>
          <a:prstGeom prst="rect">
            <a:avLst/>
          </a:prstGeom>
          <a:solidFill>
            <a:srgbClr val="FFB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2190695" y="5905352"/>
            <a:ext cx="38099" cy="101597"/>
          </a:xfrm>
          <a:prstGeom prst="rect">
            <a:avLst/>
          </a:prstGeom>
          <a:solidFill>
            <a:srgbClr val="FFB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2222444" y="5905352"/>
            <a:ext cx="38099" cy="101597"/>
          </a:xfrm>
          <a:prstGeom prst="rect">
            <a:avLst/>
          </a:prstGeom>
          <a:solidFill>
            <a:srgbClr val="FFAD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2254193" y="5905352"/>
            <a:ext cx="38099" cy="101597"/>
          </a:xfrm>
          <a:prstGeom prst="rect">
            <a:avLst/>
          </a:prstGeom>
          <a:solidFill>
            <a:srgbClr val="FF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2285942" y="5905352"/>
            <a:ext cx="38099" cy="101597"/>
          </a:xfrm>
          <a:prstGeom prst="rect">
            <a:avLst/>
          </a:prstGeom>
          <a:solidFill>
            <a:srgbClr val="FF9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2317692" y="5905352"/>
            <a:ext cx="38099" cy="101597"/>
          </a:xfrm>
          <a:prstGeom prst="rect">
            <a:avLst/>
          </a:prstGeom>
          <a:solidFill>
            <a:srgbClr val="FF9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349441" y="5905352"/>
            <a:ext cx="38099" cy="101597"/>
          </a:xfrm>
          <a:prstGeom prst="rect">
            <a:avLst/>
          </a:prstGeom>
          <a:solidFill>
            <a:srgbClr val="FF8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2381190" y="5905352"/>
            <a:ext cx="38099" cy="101597"/>
          </a:xfrm>
          <a:prstGeom prst="rect">
            <a:avLst/>
          </a:prstGeom>
          <a:solidFill>
            <a:srgbClr val="FF8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2412939" y="5905352"/>
            <a:ext cx="38099" cy="101597"/>
          </a:xfrm>
          <a:prstGeom prst="rect">
            <a:avLst/>
          </a:prstGeom>
          <a:solidFill>
            <a:srgbClr val="FF7C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2444688" y="5905352"/>
            <a:ext cx="38099" cy="101597"/>
          </a:xfrm>
          <a:prstGeom prst="rect">
            <a:avLst/>
          </a:prstGeom>
          <a:solidFill>
            <a:srgbClr val="FD75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2476438" y="5905352"/>
            <a:ext cx="38099" cy="101597"/>
          </a:xfrm>
          <a:prstGeom prst="rect">
            <a:avLst/>
          </a:prstGeom>
          <a:solidFill>
            <a:srgbClr val="FB6F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2508187" y="5905352"/>
            <a:ext cx="38099" cy="101597"/>
          </a:xfrm>
          <a:prstGeom prst="rect">
            <a:avLst/>
          </a:prstGeom>
          <a:solidFill>
            <a:srgbClr val="FA69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2539936" y="5905352"/>
            <a:ext cx="38099" cy="101597"/>
          </a:xfrm>
          <a:prstGeom prst="rect">
            <a:avLst/>
          </a:prstGeom>
          <a:solidFill>
            <a:srgbClr val="F86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2571685" y="5905352"/>
            <a:ext cx="38099" cy="101597"/>
          </a:xfrm>
          <a:prstGeom prst="rect">
            <a:avLst/>
          </a:prstGeom>
          <a:solidFill>
            <a:srgbClr val="F65D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2603434" y="5905352"/>
            <a:ext cx="38099" cy="101597"/>
          </a:xfrm>
          <a:prstGeom prst="rect">
            <a:avLst/>
          </a:prstGeom>
          <a:solidFill>
            <a:srgbClr val="F45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635184" y="5905352"/>
            <a:ext cx="38099" cy="101597"/>
          </a:xfrm>
          <a:prstGeom prst="rect">
            <a:avLst/>
          </a:prstGeom>
          <a:solidFill>
            <a:srgbClr val="F25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666933" y="5905352"/>
            <a:ext cx="38099" cy="101597"/>
          </a:xfrm>
          <a:prstGeom prst="rect">
            <a:avLst/>
          </a:prstGeom>
          <a:solidFill>
            <a:srgbClr val="F04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698682" y="5905352"/>
            <a:ext cx="38099" cy="101597"/>
          </a:xfrm>
          <a:prstGeom prst="rect">
            <a:avLst/>
          </a:prstGeom>
          <a:solidFill>
            <a:srgbClr val="EE45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730431" y="5905352"/>
            <a:ext cx="38099" cy="101597"/>
          </a:xfrm>
          <a:prstGeom prst="rect">
            <a:avLst/>
          </a:prstGeom>
          <a:solidFill>
            <a:srgbClr val="EC3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62180" y="5905352"/>
            <a:ext cx="38099" cy="101597"/>
          </a:xfrm>
          <a:prstGeom prst="rect">
            <a:avLst/>
          </a:prstGeom>
          <a:solidFill>
            <a:srgbClr val="EA3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793930" y="5905352"/>
            <a:ext cx="38099" cy="101597"/>
          </a:xfrm>
          <a:prstGeom prst="rect">
            <a:avLst/>
          </a:prstGeom>
          <a:solidFill>
            <a:srgbClr val="E83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539736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0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492212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200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2444688" y="6070448"/>
            <a:ext cx="761980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400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2978075" y="5892652"/>
            <a:ext cx="1269968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8FB6D0"/>
                </a:solidFill>
                <a:latin typeface="Consolas"/>
              </a:rPr>
              <a:t>kPa</a:t>
            </a:r>
          </a:p>
        </p:txBody>
      </p:sp>
      <p:sp>
        <p:nvSpPr>
          <p:cNvPr id="393" name="!!piek"/>
          <p:cNvSpPr txBox="1"/>
          <p:nvPr/>
        </p:nvSpPr>
        <p:spPr>
          <a:xfrm>
            <a:off x="3555911" y="1587460"/>
            <a:ext cx="4444888" cy="190495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52BDEC"/>
                </a:solidFill>
                <a:latin typeface="Segoe UI"/>
              </a:rPr>
              <a:t>186</a:t>
            </a:r>
          </a:p>
        </p:txBody>
      </p:sp>
      <p:sp>
        <p:nvSpPr>
          <p:cNvPr id="394" name="!!eenheid"/>
          <p:cNvSpPr txBox="1"/>
          <p:nvPr/>
        </p:nvSpPr>
        <p:spPr>
          <a:xfrm>
            <a:off x="6857828" y="1904952"/>
            <a:ext cx="1269968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52BDEC"/>
                </a:solidFill>
                <a:latin typeface="Segoe UI Light"/>
              </a:rPr>
              <a:t>kPa</a:t>
            </a:r>
          </a:p>
        </p:txBody>
      </p:sp>
      <p:sp>
        <p:nvSpPr>
          <p:cNvPr id="395" name="!!plek"/>
          <p:cNvSpPr txBox="1"/>
          <p:nvPr/>
        </p:nvSpPr>
        <p:spPr>
          <a:xfrm>
            <a:off x="3581310" y="3352716"/>
            <a:ext cx="7619809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F2F8FC"/>
                </a:solidFill>
                <a:latin typeface="Segoe UI"/>
              </a:rPr>
              <a:t>piekdruk na optimalisatie — norm gehaald</a:t>
            </a:r>
          </a:p>
        </p:txBody>
      </p:sp>
      <p:sp>
        <p:nvSpPr>
          <p:cNvPr id="396" name="!!norm"/>
          <p:cNvSpPr/>
          <p:nvPr/>
        </p:nvSpPr>
        <p:spPr>
          <a:xfrm>
            <a:off x="3555911" y="3924201"/>
            <a:ext cx="8000799" cy="609584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!!normtekst"/>
          <p:cNvSpPr txBox="1"/>
          <p:nvPr/>
        </p:nvSpPr>
        <p:spPr>
          <a:xfrm>
            <a:off x="3555911" y="4101997"/>
            <a:ext cx="8000799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FF7A00"/>
                </a:solidFill>
                <a:latin typeface="Consolas"/>
              </a:rPr>
              <a:t>40% lager  ·  onder 200 kPa  ·  beide criteria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3555911" y="4825879"/>
            <a:ext cx="8000799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8FB6D0"/>
                </a:solidFill>
                <a:latin typeface="Segoe UI"/>
              </a:rPr>
              <a:t>Dezelfde sensoren, dezelfde patiënt. De maatzool haalt druk weg onder de metatarsaalkoppen en legt die terug in de voetboog.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700" b="0">
                <a:solidFill>
                  <a:srgbClr val="8FB6D0"/>
                </a:solidFill>
                <a:latin typeface="Segoe UI"/>
              </a:rPr>
              <a:t>Dat is de hele interventie: niet minder belasting, maar belasting op een plek die het aankan.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634984" y="6387940"/>
            <a:ext cx="8889777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Illustratief voorbeeld van een drukgestuurde aanpassing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10 / 29</a:t>
            </a:r>
          </a:p>
        </p:txBody>
      </p:sp>
      <p:pic>
        <p:nvPicPr>
          <p:cNvPr id="401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PARADISE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Meten én laten dragen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2031949"/>
            <a:ext cx="5384538" cy="361940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8977" y="2247843"/>
            <a:ext cx="126996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BDE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977" y="2654233"/>
            <a:ext cx="4876551" cy="69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2F8FC"/>
                </a:solidFill>
                <a:latin typeface="Segoe UI"/>
              </a:rPr>
              <a:t>Drukgestuurde optimalisatie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8977" y="3479713"/>
            <a:ext cx="4876551" cy="533386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977" y="3632109"/>
            <a:ext cx="4876551" cy="30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52BDEC"/>
                </a:solidFill>
                <a:latin typeface="Consolas"/>
              </a:rPr>
              <a:t>&lt; 200 kPa   óf   ≥ 25% lager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8977" y="4241693"/>
            <a:ext cx="4876551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In-shoe meting met Novel pedar, door uw team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500" b="0">
                <a:solidFill>
                  <a:srgbClr val="8FB6D0"/>
                </a:solidFill>
                <a:latin typeface="Segoe UI"/>
              </a:rPr>
              <a:t>Zool aangepast tot de norm gehaald is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500" b="0">
                <a:solidFill>
                  <a:srgbClr val="8FB6D0"/>
                </a:solidFill>
                <a:latin typeface="Segoe UI"/>
              </a:rPr>
              <a:t>Herhaald op 6 en 12 maanden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1918" y="2031949"/>
            <a:ext cx="5384538" cy="361940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5912" y="2247843"/>
            <a:ext cx="126996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52BDEC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5912" y="2654233"/>
            <a:ext cx="4876551" cy="69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2F8FC"/>
                </a:solidFill>
                <a:latin typeface="Segoe UI"/>
              </a:rPr>
              <a:t>SEBIA — gedragsbegeleiding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25912" y="3479713"/>
            <a:ext cx="4876551" cy="533386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5912" y="3632109"/>
            <a:ext cx="4876551" cy="304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1">
                <a:solidFill>
                  <a:srgbClr val="52BDEC"/>
                </a:solidFill>
                <a:latin typeface="Consolas"/>
              </a:rPr>
              <a:t>5 stappen   ·   18 maanden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5912" y="4241693"/>
            <a:ext cx="4876551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Individueel, in het gewone consult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500" b="0">
                <a:solidFill>
                  <a:srgbClr val="8FB6D0"/>
                </a:solidFill>
                <a:latin typeface="Segoe UI"/>
              </a:rPr>
              <a:t>Sensordata samen bekijken, niet-veroordelend</a:t>
            </a:r>
          </a:p>
          <a:p>
            <a:pPr algn="l">
              <a:lnSpc>
                <a:spcPct val="135000"/>
              </a:lnSpc>
              <a:spcBef>
                <a:spcPts val="1300"/>
              </a:spcBef>
            </a:pPr>
            <a:r>
              <a:rPr sz="1500" b="0">
                <a:solidFill>
                  <a:srgbClr val="8FB6D0"/>
                </a:solidFill>
                <a:latin typeface="Segoe UI"/>
              </a:rPr>
              <a:t>COM-B: kennis, gelegenheid én motivatie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11 / 29</a:t>
            </a:r>
          </a:p>
        </p:txBody>
      </p:sp>
      <p:pic>
        <p:nvPicPr>
          <p:cNvPr id="18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 STUDIE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144 patiënten, willekeurig verdeeld</a:t>
            </a:r>
          </a:p>
        </p:txBody>
      </p:sp>
      <p:sp>
        <p:nvSpPr>
          <p:cNvPr id="5" name="Oval 4"/>
          <p:cNvSpPr/>
          <p:nvPr/>
        </p:nvSpPr>
        <p:spPr>
          <a:xfrm>
            <a:off x="634984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6278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7572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58866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00159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1453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82747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24041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65335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06629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7923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289217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30511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71805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3099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254393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95687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981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78275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219569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60863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02157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943451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184745" y="1904952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984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6278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7572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58866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00159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41453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082747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324041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65335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806629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047923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289217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530511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771805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013099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254393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495687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736981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78275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19569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460863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702157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943451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184745" y="2146246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34984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76278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17572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358866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600159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841453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082747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324041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565335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06629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047923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289217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530511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771805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4013099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54393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495687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736981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978275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5219569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5460863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702157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5943451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184745" y="2387540"/>
            <a:ext cx="165095" cy="165095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634984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76278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117572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58866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600159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841453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082747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324041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565335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806629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047923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289217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530511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771805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013099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254393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495687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736981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978275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5219569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5460863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5702157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5943451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184745" y="2628834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34984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876278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117572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358866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600159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841453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082747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324041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2565335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2806629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3047923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289217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530511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3771805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4013099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4254393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4495687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4736981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4978275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219569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460863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702157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943451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6184745" y="2870128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634984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76278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117572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358866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600159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841453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082747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2324041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2565335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806629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3047923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3289217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3530511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771805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4013099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4254393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4495687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4736981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4978275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5219569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5460863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5702157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5943451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184745" y="3111422"/>
            <a:ext cx="165095" cy="165095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34984" y="3301917"/>
            <a:ext cx="2539936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spc="140">
                <a:solidFill>
                  <a:srgbClr val="52BDEC"/>
                </a:solidFill>
                <a:latin typeface="Consolas"/>
              </a:rPr>
              <a:t>72 PARADISE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412939" y="3301917"/>
            <a:ext cx="2539936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spc="140">
                <a:solidFill>
                  <a:srgbClr val="FF7A00"/>
                </a:solidFill>
                <a:latin typeface="Consolas"/>
              </a:rPr>
              <a:t>72 GEBRUIKELIJKE ZORG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857828" y="1816054"/>
            <a:ext cx="4698882" cy="1587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Elke stip is een patiënt die u zelf includeert.</a:t>
            </a:r>
          </a:p>
          <a:p>
            <a:pPr algn="l">
              <a:lnSpc>
                <a:spcPct val="130000"/>
              </a:lnSpc>
              <a:spcBef>
                <a:spcPts val="500"/>
              </a:spcBef>
            </a:pPr>
            <a:r>
              <a:rPr sz="3000" b="1">
                <a:solidFill>
                  <a:srgbClr val="F2F8FC"/>
                </a:solidFill>
                <a:latin typeface="Segoe UI"/>
              </a:rPr>
              <a:t>24 per kliniek.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34984" y="3848003"/>
            <a:ext cx="5384538" cy="72388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825479" y="3975000"/>
            <a:ext cx="5003547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40">
                <a:solidFill>
                  <a:srgbClr val="52BDEC"/>
                </a:solidFill>
                <a:latin typeface="Consolas"/>
              </a:rPr>
              <a:t>ONTWERP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25479" y="4216294"/>
            <a:ext cx="5003547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F2F8FC"/>
                </a:solidFill>
                <a:latin typeface="Segoe UI"/>
              </a:rPr>
              <a:t>Multicentrisch · open-label · superioriteit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171918" y="3848003"/>
            <a:ext cx="5384538" cy="72388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362413" y="3975000"/>
            <a:ext cx="5003547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40">
                <a:solidFill>
                  <a:srgbClr val="52BDEC"/>
                </a:solidFill>
                <a:latin typeface="Consolas"/>
              </a:rPr>
              <a:t>CONTROLEGROEP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362413" y="4216294"/>
            <a:ext cx="5003547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F2F8FC"/>
                </a:solidFill>
                <a:latin typeface="Segoe UI"/>
              </a:rPr>
              <a:t>Gebruikelijke zorg, onveranderd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34984" y="4686182"/>
            <a:ext cx="5384538" cy="72388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25479" y="4813179"/>
            <a:ext cx="5003547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40">
                <a:solidFill>
                  <a:srgbClr val="52BDEC"/>
                </a:solidFill>
                <a:latin typeface="Consolas"/>
              </a:rPr>
              <a:t>CO-PRIMAIR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25479" y="5054473"/>
            <a:ext cx="5003547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F2F8FC"/>
                </a:solidFill>
                <a:latin typeface="Segoe UI"/>
              </a:rPr>
              <a:t>Recidief op 18 mnd  +  draagtijd op 12 mnd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171918" y="4686182"/>
            <a:ext cx="5384538" cy="72388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362413" y="4813179"/>
            <a:ext cx="5003547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40">
                <a:solidFill>
                  <a:srgbClr val="52BDEC"/>
                </a:solidFill>
                <a:latin typeface="Consolas"/>
              </a:rPr>
              <a:t>POSITIEF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62413" y="5054473"/>
            <a:ext cx="5003547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>
                <a:solidFill>
                  <a:srgbClr val="F2F8FC"/>
                </a:solidFill>
                <a:latin typeface="Segoe UI"/>
              </a:rPr>
              <a:t>Alleen als béíde eindpunten halen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12 / 29</a:t>
            </a:r>
          </a:p>
        </p:txBody>
      </p:sp>
      <p:pic>
        <p:nvPicPr>
          <p:cNvPr id="165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SELECTIE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Wie komt in aanmerking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1993850"/>
            <a:ext cx="5384538" cy="384800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8977" y="2209744"/>
            <a:ext cx="761980" cy="292092"/>
          </a:xfrm>
          <a:prstGeom prst="roundRect">
            <a:avLst>
              <a:gd name="adj" fmla="val 4500"/>
            </a:avLst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977" y="2285942"/>
            <a:ext cx="761980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spc="130">
                <a:solidFill>
                  <a:srgbClr val="04182A"/>
                </a:solidFill>
                <a:latin typeface="Consolas"/>
              </a:rPr>
              <a:t>WÉL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977" y="2743131"/>
            <a:ext cx="4876551" cy="2984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IWGDF-risicocategorie 3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Genezen plantair ulcus of partiële amputatie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PEDIS-perfusie 1 of 2, stabiel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Stapt zelfstandig blootsvoets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Heeft of aanvaardt maatschoeisel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Begrijpt Nederlands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1918" y="1993850"/>
            <a:ext cx="5384538" cy="3848003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25912" y="2209744"/>
            <a:ext cx="761980" cy="292092"/>
          </a:xfrm>
          <a:prstGeom prst="roundRect">
            <a:avLst>
              <a:gd name="adj" fmla="val 4500"/>
            </a:avLst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5912" y="2285942"/>
            <a:ext cx="761980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spc="130">
                <a:solidFill>
                  <a:srgbClr val="04182A"/>
                </a:solidFill>
                <a:latin typeface="Consolas"/>
              </a:rPr>
              <a:t>NIET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912" y="2743131"/>
            <a:ext cx="4876551" cy="2984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Kritische ischemie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Actief ulcus of Charcot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Nierfunctievervanging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Immunosuppressie</a:t>
            </a:r>
          </a:p>
          <a:p>
            <a:pPr algn="l">
              <a:lnSpc>
                <a:spcPct val="130000"/>
              </a:lnSpc>
              <a:spcBef>
                <a:spcPts val="1500"/>
              </a:spcBef>
            </a:pPr>
            <a:r>
              <a:rPr sz="1550" b="0">
                <a:solidFill>
                  <a:srgbClr val="8FB6D0"/>
                </a:solidFill>
                <a:latin typeface="Segoe UI"/>
              </a:rPr>
              <a:t>Overleving &lt; 18 maanden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13 / 29</a:t>
            </a:r>
          </a:p>
        </p:txBody>
      </p:sp>
      <p:pic>
        <p:nvPicPr>
          <p:cNvPr id="14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355591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HET TRAJECT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609584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Negen contactmomenten</a:t>
            </a:r>
          </a:p>
        </p:txBody>
      </p:sp>
      <p:sp>
        <p:nvSpPr>
          <p:cNvPr id="5" name="!!band"/>
          <p:cNvSpPr/>
          <p:nvPr/>
        </p:nvSpPr>
        <p:spPr>
          <a:xfrm>
            <a:off x="0" y="1206469"/>
            <a:ext cx="12191695" cy="3301917"/>
          </a:xfrm>
          <a:prstGeom prst="rect">
            <a:avLst/>
          </a:prstGeom>
          <a:solidFill>
            <a:srgbClr val="0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as"/>
          <p:cNvSpPr/>
          <p:nvPr/>
        </p:nvSpPr>
        <p:spPr>
          <a:xfrm>
            <a:off x="634984" y="2920926"/>
            <a:ext cx="10921726" cy="19049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stip0"/>
          <p:cNvSpPr/>
          <p:nvPr/>
        </p:nvSpPr>
        <p:spPr>
          <a:xfrm>
            <a:off x="1146499" y="2838379"/>
            <a:ext cx="190495" cy="190495"/>
          </a:xfrm>
          <a:prstGeom prst="ellipse">
            <a:avLst/>
          </a:prstGeom>
          <a:solidFill>
            <a:srgbClr val="FF7A0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aand0"/>
          <p:cNvSpPr txBox="1"/>
          <p:nvPr/>
        </p:nvSpPr>
        <p:spPr>
          <a:xfrm>
            <a:off x="63498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2F8FC"/>
                </a:solidFill>
                <a:latin typeface="Consolas"/>
              </a:rPr>
              <a:t>Screening</a:t>
            </a:r>
          </a:p>
        </p:txBody>
      </p:sp>
      <p:sp>
        <p:nvSpPr>
          <p:cNvPr id="9" name="!!taak0"/>
          <p:cNvSpPr txBox="1"/>
          <p:nvPr/>
        </p:nvSpPr>
        <p:spPr>
          <a:xfrm>
            <a:off x="698482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geschiktheid</a:t>
            </a:r>
          </a:p>
        </p:txBody>
      </p:sp>
      <p:sp>
        <p:nvSpPr>
          <p:cNvPr id="10" name="!!stip1"/>
          <p:cNvSpPr/>
          <p:nvPr/>
        </p:nvSpPr>
        <p:spPr>
          <a:xfrm>
            <a:off x="2379073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aand1"/>
          <p:cNvSpPr txBox="1"/>
          <p:nvPr/>
        </p:nvSpPr>
        <p:spPr>
          <a:xfrm>
            <a:off x="1848509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2F8FC"/>
                </a:solidFill>
                <a:latin typeface="Consolas"/>
              </a:rPr>
              <a:t>Baseline</a:t>
            </a:r>
          </a:p>
        </p:txBody>
      </p:sp>
      <p:sp>
        <p:nvSpPr>
          <p:cNvPr id="12" name="!!taak1"/>
          <p:cNvSpPr txBox="1"/>
          <p:nvPr/>
        </p:nvSpPr>
        <p:spPr>
          <a:xfrm>
            <a:off x="1912007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13" name="!!stip2"/>
          <p:cNvSpPr/>
          <p:nvPr/>
        </p:nvSpPr>
        <p:spPr>
          <a:xfrm>
            <a:off x="3592599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aand2"/>
          <p:cNvSpPr txBox="1"/>
          <p:nvPr/>
        </p:nvSpPr>
        <p:spPr>
          <a:xfrm>
            <a:off x="306203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</a:t>
            </a:r>
          </a:p>
        </p:txBody>
      </p:sp>
      <p:sp>
        <p:nvSpPr>
          <p:cNvPr id="15" name="!!taak2"/>
          <p:cNvSpPr txBox="1"/>
          <p:nvPr/>
        </p:nvSpPr>
        <p:spPr>
          <a:xfrm>
            <a:off x="3125532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voorschrift</a:t>
            </a:r>
          </a:p>
        </p:txBody>
      </p:sp>
      <p:sp>
        <p:nvSpPr>
          <p:cNvPr id="16" name="!!stip3"/>
          <p:cNvSpPr/>
          <p:nvPr/>
        </p:nvSpPr>
        <p:spPr>
          <a:xfrm>
            <a:off x="4806124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aand3"/>
          <p:cNvSpPr txBox="1"/>
          <p:nvPr/>
        </p:nvSpPr>
        <p:spPr>
          <a:xfrm>
            <a:off x="4275559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3</a:t>
            </a:r>
          </a:p>
        </p:txBody>
      </p:sp>
      <p:sp>
        <p:nvSpPr>
          <p:cNvPr id="18" name="!!taak3"/>
          <p:cNvSpPr txBox="1"/>
          <p:nvPr/>
        </p:nvSpPr>
        <p:spPr>
          <a:xfrm>
            <a:off x="4339058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zool + sensor</a:t>
            </a:r>
          </a:p>
        </p:txBody>
      </p:sp>
      <p:sp>
        <p:nvSpPr>
          <p:cNvPr id="19" name="!!stip4"/>
          <p:cNvSpPr/>
          <p:nvPr/>
        </p:nvSpPr>
        <p:spPr>
          <a:xfrm>
            <a:off x="6019649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aand4"/>
          <p:cNvSpPr txBox="1"/>
          <p:nvPr/>
        </p:nvSpPr>
        <p:spPr>
          <a:xfrm>
            <a:off x="548908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6</a:t>
            </a:r>
          </a:p>
        </p:txBody>
      </p:sp>
      <p:sp>
        <p:nvSpPr>
          <p:cNvPr id="21" name="!!taak4"/>
          <p:cNvSpPr txBox="1"/>
          <p:nvPr/>
        </p:nvSpPr>
        <p:spPr>
          <a:xfrm>
            <a:off x="5552583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2" name="!!stip5"/>
          <p:cNvSpPr/>
          <p:nvPr/>
        </p:nvSpPr>
        <p:spPr>
          <a:xfrm>
            <a:off x="7233174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aand5"/>
          <p:cNvSpPr txBox="1"/>
          <p:nvPr/>
        </p:nvSpPr>
        <p:spPr>
          <a:xfrm>
            <a:off x="6702610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9</a:t>
            </a:r>
          </a:p>
        </p:txBody>
      </p:sp>
      <p:sp>
        <p:nvSpPr>
          <p:cNvPr id="24" name="!!taak5"/>
          <p:cNvSpPr txBox="1"/>
          <p:nvPr/>
        </p:nvSpPr>
        <p:spPr>
          <a:xfrm>
            <a:off x="6766108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25" name="!!stip6"/>
          <p:cNvSpPr/>
          <p:nvPr/>
        </p:nvSpPr>
        <p:spPr>
          <a:xfrm>
            <a:off x="8446699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aand6"/>
          <p:cNvSpPr txBox="1"/>
          <p:nvPr/>
        </p:nvSpPr>
        <p:spPr>
          <a:xfrm>
            <a:off x="7916135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12</a:t>
            </a:r>
          </a:p>
        </p:txBody>
      </p:sp>
      <p:sp>
        <p:nvSpPr>
          <p:cNvPr id="27" name="!!taak6"/>
          <p:cNvSpPr txBox="1"/>
          <p:nvPr/>
        </p:nvSpPr>
        <p:spPr>
          <a:xfrm>
            <a:off x="7979633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8" name="!!stip7"/>
          <p:cNvSpPr/>
          <p:nvPr/>
        </p:nvSpPr>
        <p:spPr>
          <a:xfrm>
            <a:off x="9660225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aand7"/>
          <p:cNvSpPr txBox="1"/>
          <p:nvPr/>
        </p:nvSpPr>
        <p:spPr>
          <a:xfrm>
            <a:off x="9129660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15</a:t>
            </a:r>
          </a:p>
        </p:txBody>
      </p:sp>
      <p:sp>
        <p:nvSpPr>
          <p:cNvPr id="30" name="!!taak7"/>
          <p:cNvSpPr txBox="1"/>
          <p:nvPr/>
        </p:nvSpPr>
        <p:spPr>
          <a:xfrm>
            <a:off x="9193159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31" name="!!stip8"/>
          <p:cNvSpPr/>
          <p:nvPr/>
        </p:nvSpPr>
        <p:spPr>
          <a:xfrm>
            <a:off x="10854700" y="2838379"/>
            <a:ext cx="190495" cy="190495"/>
          </a:xfrm>
          <a:prstGeom prst="ellipse">
            <a:avLst/>
          </a:prstGeom>
          <a:solidFill>
            <a:srgbClr val="FF7A0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aand8"/>
          <p:cNvSpPr txBox="1"/>
          <p:nvPr/>
        </p:nvSpPr>
        <p:spPr>
          <a:xfrm>
            <a:off x="10343185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18</a:t>
            </a:r>
          </a:p>
        </p:txBody>
      </p:sp>
      <p:sp>
        <p:nvSpPr>
          <p:cNvPr id="33" name="!!taak8"/>
          <p:cNvSpPr txBox="1"/>
          <p:nvPr/>
        </p:nvSpPr>
        <p:spPr>
          <a:xfrm>
            <a:off x="10406684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afronding</a:t>
            </a:r>
          </a:p>
        </p:txBody>
      </p:sp>
      <p:sp>
        <p:nvSpPr>
          <p:cNvPr id="34" name="Oval 33"/>
          <p:cNvSpPr/>
          <p:nvPr/>
        </p:nvSpPr>
        <p:spPr>
          <a:xfrm>
            <a:off x="660383" y="4013099"/>
            <a:ext cx="114297" cy="114297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878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meetmoment</a:t>
            </a:r>
          </a:p>
        </p:txBody>
      </p:sp>
      <p:sp>
        <p:nvSpPr>
          <p:cNvPr id="36" name="Oval 35"/>
          <p:cNvSpPr/>
          <p:nvPr/>
        </p:nvSpPr>
        <p:spPr>
          <a:xfrm>
            <a:off x="3200319" y="4013099"/>
            <a:ext cx="114297" cy="114297"/>
          </a:xfrm>
          <a:prstGeom prst="ellipse">
            <a:avLst/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0815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begeleiding</a:t>
            </a:r>
          </a:p>
        </p:txBody>
      </p:sp>
      <p:sp>
        <p:nvSpPr>
          <p:cNvPr id="38" name="Oval 37"/>
          <p:cNvSpPr/>
          <p:nvPr/>
        </p:nvSpPr>
        <p:spPr>
          <a:xfrm>
            <a:off x="5740256" y="4013099"/>
            <a:ext cx="114297" cy="114297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0751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start en afronding</a:t>
            </a:r>
          </a:p>
        </p:txBody>
      </p:sp>
      <p:sp>
        <p:nvSpPr>
          <p:cNvPr id="40" name="!!camera"/>
          <p:cNvSpPr txBox="1"/>
          <p:nvPr/>
        </p:nvSpPr>
        <p:spPr>
          <a:xfrm>
            <a:off x="634984" y="4711582"/>
            <a:ext cx="2031949" cy="146046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52BDEC"/>
                </a:solidFill>
                <a:latin typeface="Segoe UI"/>
              </a:rP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9936" y="4813179"/>
            <a:ext cx="888977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maanden, van screening tot afronding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52636" y="5283067"/>
            <a:ext cx="8889777" cy="95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FB6D0"/>
                </a:solidFill>
                <a:latin typeface="Segoe UI"/>
              </a:rPr>
              <a:t>Het ritme is elke drie maanden: hetzelfde ritme als de controle die deze patiënten volgens de richtlijn al krijgen.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14 / 29</a:t>
            </a:r>
          </a:p>
        </p:txBody>
      </p:sp>
      <p:pic>
        <p:nvPicPr>
          <p:cNvPr id="44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355591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FASE 1 · VÓÓR DE EERSTE ZOOL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609584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Screening en baseline</a:t>
            </a:r>
          </a:p>
        </p:txBody>
      </p:sp>
      <p:sp>
        <p:nvSpPr>
          <p:cNvPr id="5" name="!!band"/>
          <p:cNvSpPr/>
          <p:nvPr/>
        </p:nvSpPr>
        <p:spPr>
          <a:xfrm>
            <a:off x="0" y="1206469"/>
            <a:ext cx="12191695" cy="3301917"/>
          </a:xfrm>
          <a:prstGeom prst="rect">
            <a:avLst/>
          </a:prstGeom>
          <a:solidFill>
            <a:srgbClr val="0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as"/>
          <p:cNvSpPr/>
          <p:nvPr/>
        </p:nvSpPr>
        <p:spPr>
          <a:xfrm>
            <a:off x="645143" y="3174920"/>
            <a:ext cx="26212144" cy="45718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stip0"/>
          <p:cNvSpPr/>
          <p:nvPr/>
        </p:nvSpPr>
        <p:spPr>
          <a:xfrm>
            <a:off x="1872779" y="2976805"/>
            <a:ext cx="457188" cy="457188"/>
          </a:xfrm>
          <a:prstGeom prst="ellipse">
            <a:avLst/>
          </a:prstGeom>
          <a:solidFill>
            <a:srgbClr val="FF7A0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aand0"/>
          <p:cNvSpPr txBox="1"/>
          <p:nvPr/>
        </p:nvSpPr>
        <p:spPr>
          <a:xfrm>
            <a:off x="645143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2F8FC"/>
                </a:solidFill>
                <a:latin typeface="Consolas"/>
              </a:rPr>
              <a:t>Screening</a:t>
            </a:r>
          </a:p>
        </p:txBody>
      </p:sp>
      <p:sp>
        <p:nvSpPr>
          <p:cNvPr id="9" name="!!taak0"/>
          <p:cNvSpPr txBox="1"/>
          <p:nvPr/>
        </p:nvSpPr>
        <p:spPr>
          <a:xfrm>
            <a:off x="797540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geschiktheid</a:t>
            </a:r>
          </a:p>
        </p:txBody>
      </p:sp>
      <p:sp>
        <p:nvSpPr>
          <p:cNvPr id="10" name="!!stip1"/>
          <p:cNvSpPr/>
          <p:nvPr/>
        </p:nvSpPr>
        <p:spPr>
          <a:xfrm>
            <a:off x="4830959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aand1"/>
          <p:cNvSpPr txBox="1"/>
          <p:nvPr/>
        </p:nvSpPr>
        <p:spPr>
          <a:xfrm>
            <a:off x="3557604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2F8FC"/>
                </a:solidFill>
                <a:latin typeface="Consolas"/>
              </a:rPr>
              <a:t>Baseline</a:t>
            </a:r>
          </a:p>
        </p:txBody>
      </p:sp>
      <p:sp>
        <p:nvSpPr>
          <p:cNvPr id="12" name="!!taak1"/>
          <p:cNvSpPr txBox="1"/>
          <p:nvPr/>
        </p:nvSpPr>
        <p:spPr>
          <a:xfrm>
            <a:off x="3710000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13" name="!!stip2"/>
          <p:cNvSpPr/>
          <p:nvPr/>
        </p:nvSpPr>
        <p:spPr>
          <a:xfrm>
            <a:off x="7743419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aand2"/>
          <p:cNvSpPr txBox="1"/>
          <p:nvPr/>
        </p:nvSpPr>
        <p:spPr>
          <a:xfrm>
            <a:off x="6470064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</a:t>
            </a:r>
          </a:p>
        </p:txBody>
      </p:sp>
      <p:sp>
        <p:nvSpPr>
          <p:cNvPr id="15" name="!!taak2"/>
          <p:cNvSpPr txBox="1"/>
          <p:nvPr/>
        </p:nvSpPr>
        <p:spPr>
          <a:xfrm>
            <a:off x="6622461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voorschrift</a:t>
            </a:r>
          </a:p>
        </p:txBody>
      </p:sp>
      <p:sp>
        <p:nvSpPr>
          <p:cNvPr id="16" name="!!stip3"/>
          <p:cNvSpPr/>
          <p:nvPr/>
        </p:nvSpPr>
        <p:spPr>
          <a:xfrm>
            <a:off x="10655880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aand3"/>
          <p:cNvSpPr txBox="1"/>
          <p:nvPr/>
        </p:nvSpPr>
        <p:spPr>
          <a:xfrm>
            <a:off x="9382525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3</a:t>
            </a:r>
          </a:p>
        </p:txBody>
      </p:sp>
      <p:sp>
        <p:nvSpPr>
          <p:cNvPr id="18" name="!!taak3"/>
          <p:cNvSpPr txBox="1"/>
          <p:nvPr/>
        </p:nvSpPr>
        <p:spPr>
          <a:xfrm>
            <a:off x="9534921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zool + sensor</a:t>
            </a:r>
          </a:p>
        </p:txBody>
      </p:sp>
      <p:sp>
        <p:nvSpPr>
          <p:cNvPr id="19" name="!!stip4"/>
          <p:cNvSpPr/>
          <p:nvPr/>
        </p:nvSpPr>
        <p:spPr>
          <a:xfrm>
            <a:off x="13568340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aand4"/>
          <p:cNvSpPr txBox="1"/>
          <p:nvPr/>
        </p:nvSpPr>
        <p:spPr>
          <a:xfrm>
            <a:off x="12294985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6</a:t>
            </a:r>
          </a:p>
        </p:txBody>
      </p:sp>
      <p:sp>
        <p:nvSpPr>
          <p:cNvPr id="21" name="!!taak4"/>
          <p:cNvSpPr txBox="1"/>
          <p:nvPr/>
        </p:nvSpPr>
        <p:spPr>
          <a:xfrm>
            <a:off x="12447382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2" name="!!stip5"/>
          <p:cNvSpPr/>
          <p:nvPr/>
        </p:nvSpPr>
        <p:spPr>
          <a:xfrm>
            <a:off x="16480801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aand5"/>
          <p:cNvSpPr txBox="1"/>
          <p:nvPr/>
        </p:nvSpPr>
        <p:spPr>
          <a:xfrm>
            <a:off x="15207446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9</a:t>
            </a:r>
          </a:p>
        </p:txBody>
      </p:sp>
      <p:sp>
        <p:nvSpPr>
          <p:cNvPr id="24" name="!!taak5"/>
          <p:cNvSpPr txBox="1"/>
          <p:nvPr/>
        </p:nvSpPr>
        <p:spPr>
          <a:xfrm>
            <a:off x="15359842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25" name="!!stip6"/>
          <p:cNvSpPr/>
          <p:nvPr/>
        </p:nvSpPr>
        <p:spPr>
          <a:xfrm>
            <a:off x="19393261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aand6"/>
          <p:cNvSpPr txBox="1"/>
          <p:nvPr/>
        </p:nvSpPr>
        <p:spPr>
          <a:xfrm>
            <a:off x="18119906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12</a:t>
            </a:r>
          </a:p>
        </p:txBody>
      </p:sp>
      <p:sp>
        <p:nvSpPr>
          <p:cNvPr id="27" name="!!taak6"/>
          <p:cNvSpPr txBox="1"/>
          <p:nvPr/>
        </p:nvSpPr>
        <p:spPr>
          <a:xfrm>
            <a:off x="18272303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8" name="!!stip7"/>
          <p:cNvSpPr/>
          <p:nvPr/>
        </p:nvSpPr>
        <p:spPr>
          <a:xfrm>
            <a:off x="22305722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aand7"/>
          <p:cNvSpPr txBox="1"/>
          <p:nvPr/>
        </p:nvSpPr>
        <p:spPr>
          <a:xfrm>
            <a:off x="21032367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15</a:t>
            </a:r>
          </a:p>
        </p:txBody>
      </p:sp>
      <p:sp>
        <p:nvSpPr>
          <p:cNvPr id="30" name="!!taak7"/>
          <p:cNvSpPr txBox="1"/>
          <p:nvPr/>
        </p:nvSpPr>
        <p:spPr>
          <a:xfrm>
            <a:off x="21184763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31" name="!!stip8"/>
          <p:cNvSpPr/>
          <p:nvPr/>
        </p:nvSpPr>
        <p:spPr>
          <a:xfrm>
            <a:off x="25172464" y="2976805"/>
            <a:ext cx="457188" cy="457188"/>
          </a:xfrm>
          <a:prstGeom prst="ellipse">
            <a:avLst/>
          </a:prstGeom>
          <a:solidFill>
            <a:srgbClr val="FF7A0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aand8"/>
          <p:cNvSpPr txBox="1"/>
          <p:nvPr/>
        </p:nvSpPr>
        <p:spPr>
          <a:xfrm>
            <a:off x="23944828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18</a:t>
            </a:r>
          </a:p>
        </p:txBody>
      </p:sp>
      <p:sp>
        <p:nvSpPr>
          <p:cNvPr id="33" name="!!taak8"/>
          <p:cNvSpPr txBox="1"/>
          <p:nvPr/>
        </p:nvSpPr>
        <p:spPr>
          <a:xfrm>
            <a:off x="24097224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afronding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984" y="4749681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camera"/>
          <p:cNvSpPr txBox="1"/>
          <p:nvPr/>
        </p:nvSpPr>
        <p:spPr>
          <a:xfrm>
            <a:off x="634984" y="4902077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7A00"/>
                </a:solidFill>
                <a:latin typeface="Segoe UI"/>
              </a:rPr>
              <a:t>Wat er gebeurt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5911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Screening: risicocategorie 3, vaatstatus en of de patiënt zelfstandig stapt. Kort, en vóór de toestemming.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6806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Baseline: drukmeting met de pedar, een week MoveMonitor mee naar huis, en het eerste SEBIA-gesprek.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15 / 29</a:t>
            </a:r>
          </a:p>
        </p:txBody>
      </p:sp>
      <p:pic>
        <p:nvPicPr>
          <p:cNvPr id="39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355591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FASE 2 · DE ZOOL KOMT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609584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Maand 1 en maand 3</a:t>
            </a:r>
          </a:p>
        </p:txBody>
      </p:sp>
      <p:sp>
        <p:nvSpPr>
          <p:cNvPr id="5" name="!!band"/>
          <p:cNvSpPr/>
          <p:nvPr/>
        </p:nvSpPr>
        <p:spPr>
          <a:xfrm>
            <a:off x="0" y="1206469"/>
            <a:ext cx="12191695" cy="3301917"/>
          </a:xfrm>
          <a:prstGeom prst="rect">
            <a:avLst/>
          </a:prstGeom>
          <a:solidFill>
            <a:srgbClr val="0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as"/>
          <p:cNvSpPr/>
          <p:nvPr/>
        </p:nvSpPr>
        <p:spPr>
          <a:xfrm>
            <a:off x="-5176390" y="3174920"/>
            <a:ext cx="26212144" cy="45718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stip0"/>
          <p:cNvSpPr/>
          <p:nvPr/>
        </p:nvSpPr>
        <p:spPr>
          <a:xfrm>
            <a:off x="-3948754" y="2976805"/>
            <a:ext cx="457188" cy="457188"/>
          </a:xfrm>
          <a:prstGeom prst="ellipse">
            <a:avLst/>
          </a:prstGeom>
          <a:solidFill>
            <a:srgbClr val="FF7A0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aand0"/>
          <p:cNvSpPr txBox="1"/>
          <p:nvPr/>
        </p:nvSpPr>
        <p:spPr>
          <a:xfrm>
            <a:off x="-5176390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2F8FC"/>
                </a:solidFill>
                <a:latin typeface="Consolas"/>
              </a:rPr>
              <a:t>Screening</a:t>
            </a:r>
          </a:p>
        </p:txBody>
      </p:sp>
      <p:sp>
        <p:nvSpPr>
          <p:cNvPr id="9" name="!!taak0"/>
          <p:cNvSpPr txBox="1"/>
          <p:nvPr/>
        </p:nvSpPr>
        <p:spPr>
          <a:xfrm>
            <a:off x="-5023994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geschiktheid</a:t>
            </a:r>
          </a:p>
        </p:txBody>
      </p:sp>
      <p:sp>
        <p:nvSpPr>
          <p:cNvPr id="10" name="!!stip1"/>
          <p:cNvSpPr/>
          <p:nvPr/>
        </p:nvSpPr>
        <p:spPr>
          <a:xfrm>
            <a:off x="-990575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aand1"/>
          <p:cNvSpPr txBox="1"/>
          <p:nvPr/>
        </p:nvSpPr>
        <p:spPr>
          <a:xfrm>
            <a:off x="-2263930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600" b="1">
                <a:solidFill>
                  <a:srgbClr val="F2F8FC"/>
                </a:solidFill>
                <a:latin typeface="Consolas"/>
              </a:rPr>
              <a:t>Baseline</a:t>
            </a:r>
          </a:p>
        </p:txBody>
      </p:sp>
      <p:sp>
        <p:nvSpPr>
          <p:cNvPr id="12" name="!!taak1"/>
          <p:cNvSpPr txBox="1"/>
          <p:nvPr/>
        </p:nvSpPr>
        <p:spPr>
          <a:xfrm>
            <a:off x="-2111533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13" name="!!stip2"/>
          <p:cNvSpPr/>
          <p:nvPr/>
        </p:nvSpPr>
        <p:spPr>
          <a:xfrm>
            <a:off x="1921885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aand2"/>
          <p:cNvSpPr txBox="1"/>
          <p:nvPr/>
        </p:nvSpPr>
        <p:spPr>
          <a:xfrm>
            <a:off x="648530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</a:t>
            </a:r>
          </a:p>
        </p:txBody>
      </p:sp>
      <p:sp>
        <p:nvSpPr>
          <p:cNvPr id="15" name="!!taak2"/>
          <p:cNvSpPr txBox="1"/>
          <p:nvPr/>
        </p:nvSpPr>
        <p:spPr>
          <a:xfrm>
            <a:off x="800926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voorschrift</a:t>
            </a:r>
          </a:p>
        </p:txBody>
      </p:sp>
      <p:sp>
        <p:nvSpPr>
          <p:cNvPr id="16" name="!!stip3"/>
          <p:cNvSpPr/>
          <p:nvPr/>
        </p:nvSpPr>
        <p:spPr>
          <a:xfrm>
            <a:off x="4834345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aand3"/>
          <p:cNvSpPr txBox="1"/>
          <p:nvPr/>
        </p:nvSpPr>
        <p:spPr>
          <a:xfrm>
            <a:off x="3560990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3</a:t>
            </a:r>
          </a:p>
        </p:txBody>
      </p:sp>
      <p:sp>
        <p:nvSpPr>
          <p:cNvPr id="18" name="!!taak3"/>
          <p:cNvSpPr txBox="1"/>
          <p:nvPr/>
        </p:nvSpPr>
        <p:spPr>
          <a:xfrm>
            <a:off x="3713387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zool + sensor</a:t>
            </a:r>
          </a:p>
        </p:txBody>
      </p:sp>
      <p:sp>
        <p:nvSpPr>
          <p:cNvPr id="19" name="!!stip4"/>
          <p:cNvSpPr/>
          <p:nvPr/>
        </p:nvSpPr>
        <p:spPr>
          <a:xfrm>
            <a:off x="7746806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aand4"/>
          <p:cNvSpPr txBox="1"/>
          <p:nvPr/>
        </p:nvSpPr>
        <p:spPr>
          <a:xfrm>
            <a:off x="6473451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6</a:t>
            </a:r>
          </a:p>
        </p:txBody>
      </p:sp>
      <p:sp>
        <p:nvSpPr>
          <p:cNvPr id="21" name="!!taak4"/>
          <p:cNvSpPr txBox="1"/>
          <p:nvPr/>
        </p:nvSpPr>
        <p:spPr>
          <a:xfrm>
            <a:off x="6625847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2" name="!!stip5"/>
          <p:cNvSpPr/>
          <p:nvPr/>
        </p:nvSpPr>
        <p:spPr>
          <a:xfrm>
            <a:off x="10659266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aand5"/>
          <p:cNvSpPr txBox="1"/>
          <p:nvPr/>
        </p:nvSpPr>
        <p:spPr>
          <a:xfrm>
            <a:off x="9385912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9</a:t>
            </a:r>
          </a:p>
        </p:txBody>
      </p:sp>
      <p:sp>
        <p:nvSpPr>
          <p:cNvPr id="24" name="!!taak5"/>
          <p:cNvSpPr txBox="1"/>
          <p:nvPr/>
        </p:nvSpPr>
        <p:spPr>
          <a:xfrm>
            <a:off x="9538308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25" name="!!stip6"/>
          <p:cNvSpPr/>
          <p:nvPr/>
        </p:nvSpPr>
        <p:spPr>
          <a:xfrm>
            <a:off x="13571727" y="3022524"/>
            <a:ext cx="365750" cy="365750"/>
          </a:xfrm>
          <a:prstGeom prst="ellipse">
            <a:avLst/>
          </a:prstGeom>
          <a:solidFill>
            <a:srgbClr val="52BDEC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aand6"/>
          <p:cNvSpPr txBox="1"/>
          <p:nvPr/>
        </p:nvSpPr>
        <p:spPr>
          <a:xfrm>
            <a:off x="12298372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12</a:t>
            </a:r>
          </a:p>
        </p:txBody>
      </p:sp>
      <p:sp>
        <p:nvSpPr>
          <p:cNvPr id="27" name="!!taak6"/>
          <p:cNvSpPr txBox="1"/>
          <p:nvPr/>
        </p:nvSpPr>
        <p:spPr>
          <a:xfrm>
            <a:off x="12450768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8" name="!!stip7"/>
          <p:cNvSpPr/>
          <p:nvPr/>
        </p:nvSpPr>
        <p:spPr>
          <a:xfrm>
            <a:off x="16484187" y="3022524"/>
            <a:ext cx="365750" cy="365750"/>
          </a:xfrm>
          <a:prstGeom prst="ellipse">
            <a:avLst/>
          </a:prstGeom>
          <a:solidFill>
            <a:srgbClr val="1D8DB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aand7"/>
          <p:cNvSpPr txBox="1"/>
          <p:nvPr/>
        </p:nvSpPr>
        <p:spPr>
          <a:xfrm>
            <a:off x="15210833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15</a:t>
            </a:r>
          </a:p>
        </p:txBody>
      </p:sp>
      <p:sp>
        <p:nvSpPr>
          <p:cNvPr id="30" name="!!taak7"/>
          <p:cNvSpPr txBox="1"/>
          <p:nvPr/>
        </p:nvSpPr>
        <p:spPr>
          <a:xfrm>
            <a:off x="15363229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31" name="!!stip8"/>
          <p:cNvSpPr/>
          <p:nvPr/>
        </p:nvSpPr>
        <p:spPr>
          <a:xfrm>
            <a:off x="19350929" y="2976805"/>
            <a:ext cx="457188" cy="457188"/>
          </a:xfrm>
          <a:prstGeom prst="ellipse">
            <a:avLst/>
          </a:prstGeom>
          <a:solidFill>
            <a:srgbClr val="FF7A00"/>
          </a:solidFill>
          <a:ln w="91439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aand8"/>
          <p:cNvSpPr txBox="1"/>
          <p:nvPr/>
        </p:nvSpPr>
        <p:spPr>
          <a:xfrm>
            <a:off x="18123293" y="1285207"/>
            <a:ext cx="2912460" cy="6705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4079" b="1">
                <a:solidFill>
                  <a:srgbClr val="F2F8FC"/>
                </a:solidFill>
                <a:latin typeface="Consolas"/>
              </a:rPr>
              <a:t>18</a:t>
            </a:r>
          </a:p>
        </p:txBody>
      </p:sp>
      <p:sp>
        <p:nvSpPr>
          <p:cNvPr id="33" name="!!taak8"/>
          <p:cNvSpPr txBox="1"/>
          <p:nvPr/>
        </p:nvSpPr>
        <p:spPr>
          <a:xfrm>
            <a:off x="18275689" y="3967380"/>
            <a:ext cx="2607668" cy="137156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3240" b="0">
                <a:solidFill>
                  <a:srgbClr val="8FB6D0"/>
                </a:solidFill>
                <a:latin typeface="Segoe UI"/>
              </a:rPr>
              <a:t>afronding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984" y="4749681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camera"/>
          <p:cNvSpPr txBox="1"/>
          <p:nvPr/>
        </p:nvSpPr>
        <p:spPr>
          <a:xfrm>
            <a:off x="634984" y="4902077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7A00"/>
                </a:solidFill>
                <a:latin typeface="Segoe UI"/>
              </a:rPr>
              <a:t>Wat er gebeurt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5911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Maand 1: het voorschrift voor de maatzool. Een kort bezoek, zonder meting.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6806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Maand 3: aflevering, de Orthotimer gaat in de zool, en de meting wordt herhaald tot de norm gehaald is.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16 / 29</a:t>
            </a:r>
          </a:p>
        </p:txBody>
      </p:sp>
      <p:pic>
        <p:nvPicPr>
          <p:cNvPr id="39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355591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FASE 3 · DE REST VAN HET JAAR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609584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Zes tot achttien maanden</a:t>
            </a:r>
          </a:p>
        </p:txBody>
      </p:sp>
      <p:sp>
        <p:nvSpPr>
          <p:cNvPr id="5" name="!!band"/>
          <p:cNvSpPr/>
          <p:nvPr/>
        </p:nvSpPr>
        <p:spPr>
          <a:xfrm>
            <a:off x="0" y="1206469"/>
            <a:ext cx="12191695" cy="3301917"/>
          </a:xfrm>
          <a:prstGeom prst="rect">
            <a:avLst/>
          </a:prstGeom>
          <a:solidFill>
            <a:srgbClr val="0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as"/>
          <p:cNvSpPr/>
          <p:nvPr/>
        </p:nvSpPr>
        <p:spPr>
          <a:xfrm>
            <a:off x="-5429114" y="3174920"/>
            <a:ext cx="16382590" cy="2857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stip0"/>
          <p:cNvSpPr/>
          <p:nvPr/>
        </p:nvSpPr>
        <p:spPr>
          <a:xfrm>
            <a:off x="-4661841" y="3051098"/>
            <a:ext cx="285742" cy="285742"/>
          </a:xfrm>
          <a:prstGeom prst="ellipse">
            <a:avLst/>
          </a:prstGeom>
          <a:solidFill>
            <a:srgbClr val="FF7A00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aand0"/>
          <p:cNvSpPr txBox="1"/>
          <p:nvPr/>
        </p:nvSpPr>
        <p:spPr>
          <a:xfrm>
            <a:off x="-5429114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2F8FC"/>
                </a:solidFill>
                <a:latin typeface="Consolas"/>
              </a:rPr>
              <a:t>Screening</a:t>
            </a:r>
          </a:p>
        </p:txBody>
      </p:sp>
      <p:sp>
        <p:nvSpPr>
          <p:cNvPr id="9" name="!!taak0"/>
          <p:cNvSpPr txBox="1"/>
          <p:nvPr/>
        </p:nvSpPr>
        <p:spPr>
          <a:xfrm>
            <a:off x="-5333866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geschiktheid</a:t>
            </a:r>
          </a:p>
        </p:txBody>
      </p:sp>
      <p:sp>
        <p:nvSpPr>
          <p:cNvPr id="10" name="!!stip1"/>
          <p:cNvSpPr/>
          <p:nvPr/>
        </p:nvSpPr>
        <p:spPr>
          <a:xfrm>
            <a:off x="-2812979" y="3079673"/>
            <a:ext cx="228594" cy="228594"/>
          </a:xfrm>
          <a:prstGeom prst="ellipse">
            <a:avLst/>
          </a:prstGeom>
          <a:solidFill>
            <a:srgbClr val="52BDEC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aand1"/>
          <p:cNvSpPr txBox="1"/>
          <p:nvPr/>
        </p:nvSpPr>
        <p:spPr>
          <a:xfrm>
            <a:off x="-3608826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1">
                <a:solidFill>
                  <a:srgbClr val="F2F8FC"/>
                </a:solidFill>
                <a:latin typeface="Consolas"/>
              </a:rPr>
              <a:t>Baseline</a:t>
            </a:r>
          </a:p>
        </p:txBody>
      </p:sp>
      <p:sp>
        <p:nvSpPr>
          <p:cNvPr id="12" name="!!taak1"/>
          <p:cNvSpPr txBox="1"/>
          <p:nvPr/>
        </p:nvSpPr>
        <p:spPr>
          <a:xfrm>
            <a:off x="-3513578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13" name="!!stip2"/>
          <p:cNvSpPr/>
          <p:nvPr/>
        </p:nvSpPr>
        <p:spPr>
          <a:xfrm>
            <a:off x="-992691" y="3079673"/>
            <a:ext cx="228594" cy="228594"/>
          </a:xfrm>
          <a:prstGeom prst="ellipse">
            <a:avLst/>
          </a:prstGeom>
          <a:solidFill>
            <a:srgbClr val="1D8DB0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aand2"/>
          <p:cNvSpPr txBox="1"/>
          <p:nvPr/>
        </p:nvSpPr>
        <p:spPr>
          <a:xfrm>
            <a:off x="-1788538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1</a:t>
            </a:r>
          </a:p>
        </p:txBody>
      </p:sp>
      <p:sp>
        <p:nvSpPr>
          <p:cNvPr id="15" name="!!taak2"/>
          <p:cNvSpPr txBox="1"/>
          <p:nvPr/>
        </p:nvSpPr>
        <p:spPr>
          <a:xfrm>
            <a:off x="-1693290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voorschrift</a:t>
            </a:r>
          </a:p>
        </p:txBody>
      </p:sp>
      <p:sp>
        <p:nvSpPr>
          <p:cNvPr id="16" name="!!stip3"/>
          <p:cNvSpPr/>
          <p:nvPr/>
        </p:nvSpPr>
        <p:spPr>
          <a:xfrm>
            <a:off x="827595" y="3079673"/>
            <a:ext cx="228594" cy="228594"/>
          </a:xfrm>
          <a:prstGeom prst="ellipse">
            <a:avLst/>
          </a:prstGeom>
          <a:solidFill>
            <a:srgbClr val="52BDEC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aand3"/>
          <p:cNvSpPr txBox="1"/>
          <p:nvPr/>
        </p:nvSpPr>
        <p:spPr>
          <a:xfrm>
            <a:off x="31749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3</a:t>
            </a:r>
          </a:p>
        </p:txBody>
      </p:sp>
      <p:sp>
        <p:nvSpPr>
          <p:cNvPr id="18" name="!!taak3"/>
          <p:cNvSpPr txBox="1"/>
          <p:nvPr/>
        </p:nvSpPr>
        <p:spPr>
          <a:xfrm>
            <a:off x="126996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zool + sensor</a:t>
            </a:r>
          </a:p>
        </p:txBody>
      </p:sp>
      <p:sp>
        <p:nvSpPr>
          <p:cNvPr id="19" name="!!stip4"/>
          <p:cNvSpPr/>
          <p:nvPr/>
        </p:nvSpPr>
        <p:spPr>
          <a:xfrm>
            <a:off x="2647883" y="3079673"/>
            <a:ext cx="228594" cy="228594"/>
          </a:xfrm>
          <a:prstGeom prst="ellipse">
            <a:avLst/>
          </a:prstGeom>
          <a:solidFill>
            <a:srgbClr val="52BDEC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aand4"/>
          <p:cNvSpPr txBox="1"/>
          <p:nvPr/>
        </p:nvSpPr>
        <p:spPr>
          <a:xfrm>
            <a:off x="1852037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6</a:t>
            </a:r>
          </a:p>
        </p:txBody>
      </p:sp>
      <p:sp>
        <p:nvSpPr>
          <p:cNvPr id="21" name="!!taak4"/>
          <p:cNvSpPr txBox="1"/>
          <p:nvPr/>
        </p:nvSpPr>
        <p:spPr>
          <a:xfrm>
            <a:off x="1947284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2" name="!!stip5"/>
          <p:cNvSpPr/>
          <p:nvPr/>
        </p:nvSpPr>
        <p:spPr>
          <a:xfrm>
            <a:off x="4468171" y="3079673"/>
            <a:ext cx="228594" cy="228594"/>
          </a:xfrm>
          <a:prstGeom prst="ellipse">
            <a:avLst/>
          </a:prstGeom>
          <a:solidFill>
            <a:srgbClr val="1D8DB0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aand5"/>
          <p:cNvSpPr txBox="1"/>
          <p:nvPr/>
        </p:nvSpPr>
        <p:spPr>
          <a:xfrm>
            <a:off x="3672324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9</a:t>
            </a:r>
          </a:p>
        </p:txBody>
      </p:sp>
      <p:sp>
        <p:nvSpPr>
          <p:cNvPr id="24" name="!!taak5"/>
          <p:cNvSpPr txBox="1"/>
          <p:nvPr/>
        </p:nvSpPr>
        <p:spPr>
          <a:xfrm>
            <a:off x="3767572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25" name="!!stip6"/>
          <p:cNvSpPr/>
          <p:nvPr/>
        </p:nvSpPr>
        <p:spPr>
          <a:xfrm>
            <a:off x="6288459" y="3079673"/>
            <a:ext cx="228594" cy="228594"/>
          </a:xfrm>
          <a:prstGeom prst="ellipse">
            <a:avLst/>
          </a:prstGeom>
          <a:solidFill>
            <a:srgbClr val="52BDEC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aand6"/>
          <p:cNvSpPr txBox="1"/>
          <p:nvPr/>
        </p:nvSpPr>
        <p:spPr>
          <a:xfrm>
            <a:off x="5492612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12</a:t>
            </a:r>
          </a:p>
        </p:txBody>
      </p:sp>
      <p:sp>
        <p:nvSpPr>
          <p:cNvPr id="27" name="!!taak6"/>
          <p:cNvSpPr txBox="1"/>
          <p:nvPr/>
        </p:nvSpPr>
        <p:spPr>
          <a:xfrm>
            <a:off x="5587860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8" name="!!stip7"/>
          <p:cNvSpPr/>
          <p:nvPr/>
        </p:nvSpPr>
        <p:spPr>
          <a:xfrm>
            <a:off x="8108747" y="3079673"/>
            <a:ext cx="228594" cy="228594"/>
          </a:xfrm>
          <a:prstGeom prst="ellipse">
            <a:avLst/>
          </a:prstGeom>
          <a:solidFill>
            <a:srgbClr val="1D8DB0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aand7"/>
          <p:cNvSpPr txBox="1"/>
          <p:nvPr/>
        </p:nvSpPr>
        <p:spPr>
          <a:xfrm>
            <a:off x="7312900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15</a:t>
            </a:r>
          </a:p>
        </p:txBody>
      </p:sp>
      <p:sp>
        <p:nvSpPr>
          <p:cNvPr id="30" name="!!taak7"/>
          <p:cNvSpPr txBox="1"/>
          <p:nvPr/>
        </p:nvSpPr>
        <p:spPr>
          <a:xfrm>
            <a:off x="7408148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31" name="!!stip8"/>
          <p:cNvSpPr/>
          <p:nvPr/>
        </p:nvSpPr>
        <p:spPr>
          <a:xfrm>
            <a:off x="9900460" y="3051098"/>
            <a:ext cx="285742" cy="285742"/>
          </a:xfrm>
          <a:prstGeom prst="ellipse">
            <a:avLst/>
          </a:prstGeom>
          <a:solidFill>
            <a:srgbClr val="FF7A00"/>
          </a:solidFill>
          <a:ln w="5715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aand8"/>
          <p:cNvSpPr txBox="1"/>
          <p:nvPr/>
        </p:nvSpPr>
        <p:spPr>
          <a:xfrm>
            <a:off x="9133188" y="1993850"/>
            <a:ext cx="182028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50" b="1">
                <a:solidFill>
                  <a:srgbClr val="F2F8FC"/>
                </a:solidFill>
                <a:latin typeface="Consolas"/>
              </a:rPr>
              <a:t>18</a:t>
            </a:r>
          </a:p>
        </p:txBody>
      </p:sp>
      <p:sp>
        <p:nvSpPr>
          <p:cNvPr id="33" name="!!taak8"/>
          <p:cNvSpPr txBox="1"/>
          <p:nvPr/>
        </p:nvSpPr>
        <p:spPr>
          <a:xfrm>
            <a:off x="9228435" y="3670208"/>
            <a:ext cx="1629792" cy="8572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025" b="0">
                <a:solidFill>
                  <a:srgbClr val="8FB6D0"/>
                </a:solidFill>
                <a:latin typeface="Segoe UI"/>
              </a:rPr>
              <a:t>afronding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984" y="4749681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!!camera"/>
          <p:cNvSpPr txBox="1"/>
          <p:nvPr/>
        </p:nvSpPr>
        <p:spPr>
          <a:xfrm>
            <a:off x="634984" y="4902077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>
                <a:solidFill>
                  <a:srgbClr val="FF7A00"/>
                </a:solidFill>
                <a:latin typeface="Segoe UI"/>
              </a:rPr>
              <a:t>Wat er gebeurt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55911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Elke drie maanden: sensor uitlezen, batterij vervangen, SEBIA-gesprek in het gewone consult.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6806" y="4889377"/>
            <a:ext cx="3809904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Op 6 en 12 maanden ook een drukmeting. Twaalf maanden is het primaire analysepunt voor de draagtijd.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17 / 29</a:t>
            </a:r>
          </a:p>
        </p:txBody>
      </p:sp>
      <p:pic>
        <p:nvPicPr>
          <p:cNvPr id="39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355591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HET TRAJECT</a:t>
            </a:r>
          </a:p>
        </p:txBody>
      </p:sp>
      <p:sp>
        <p:nvSpPr>
          <p:cNvPr id="4" name="!!sectietitel"/>
          <p:cNvSpPr txBox="1"/>
          <p:nvPr/>
        </p:nvSpPr>
        <p:spPr>
          <a:xfrm>
            <a:off x="634984" y="609584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Terug naar het geheel</a:t>
            </a:r>
          </a:p>
        </p:txBody>
      </p:sp>
      <p:sp>
        <p:nvSpPr>
          <p:cNvPr id="5" name="!!band"/>
          <p:cNvSpPr/>
          <p:nvPr/>
        </p:nvSpPr>
        <p:spPr>
          <a:xfrm>
            <a:off x="0" y="1206469"/>
            <a:ext cx="12191695" cy="3301917"/>
          </a:xfrm>
          <a:prstGeom prst="rect">
            <a:avLst/>
          </a:prstGeom>
          <a:solidFill>
            <a:srgbClr val="0A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!!as"/>
          <p:cNvSpPr/>
          <p:nvPr/>
        </p:nvSpPr>
        <p:spPr>
          <a:xfrm>
            <a:off x="634984" y="2920926"/>
            <a:ext cx="10921726" cy="19049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!!stip0"/>
          <p:cNvSpPr/>
          <p:nvPr/>
        </p:nvSpPr>
        <p:spPr>
          <a:xfrm>
            <a:off x="1146499" y="2838379"/>
            <a:ext cx="190495" cy="190495"/>
          </a:xfrm>
          <a:prstGeom prst="ellipse">
            <a:avLst/>
          </a:prstGeom>
          <a:solidFill>
            <a:srgbClr val="FF7A0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maand0"/>
          <p:cNvSpPr txBox="1"/>
          <p:nvPr/>
        </p:nvSpPr>
        <p:spPr>
          <a:xfrm>
            <a:off x="63498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2F8FC"/>
                </a:solidFill>
                <a:latin typeface="Consolas"/>
              </a:rPr>
              <a:t>Screening</a:t>
            </a:r>
          </a:p>
        </p:txBody>
      </p:sp>
      <p:sp>
        <p:nvSpPr>
          <p:cNvPr id="9" name="!!taak0"/>
          <p:cNvSpPr txBox="1"/>
          <p:nvPr/>
        </p:nvSpPr>
        <p:spPr>
          <a:xfrm>
            <a:off x="698482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geschiktheid</a:t>
            </a:r>
          </a:p>
        </p:txBody>
      </p:sp>
      <p:sp>
        <p:nvSpPr>
          <p:cNvPr id="10" name="!!stip1"/>
          <p:cNvSpPr/>
          <p:nvPr/>
        </p:nvSpPr>
        <p:spPr>
          <a:xfrm>
            <a:off x="2379073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maand1"/>
          <p:cNvSpPr txBox="1"/>
          <p:nvPr/>
        </p:nvSpPr>
        <p:spPr>
          <a:xfrm>
            <a:off x="1848509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F2F8FC"/>
                </a:solidFill>
                <a:latin typeface="Consolas"/>
              </a:rPr>
              <a:t>Baseline</a:t>
            </a:r>
          </a:p>
        </p:txBody>
      </p:sp>
      <p:sp>
        <p:nvSpPr>
          <p:cNvPr id="12" name="!!taak1"/>
          <p:cNvSpPr txBox="1"/>
          <p:nvPr/>
        </p:nvSpPr>
        <p:spPr>
          <a:xfrm>
            <a:off x="1912007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13" name="!!stip2"/>
          <p:cNvSpPr/>
          <p:nvPr/>
        </p:nvSpPr>
        <p:spPr>
          <a:xfrm>
            <a:off x="3592599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!!maand2"/>
          <p:cNvSpPr txBox="1"/>
          <p:nvPr/>
        </p:nvSpPr>
        <p:spPr>
          <a:xfrm>
            <a:off x="306203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</a:t>
            </a:r>
          </a:p>
        </p:txBody>
      </p:sp>
      <p:sp>
        <p:nvSpPr>
          <p:cNvPr id="15" name="!!taak2"/>
          <p:cNvSpPr txBox="1"/>
          <p:nvPr/>
        </p:nvSpPr>
        <p:spPr>
          <a:xfrm>
            <a:off x="3125532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voorschrift</a:t>
            </a:r>
          </a:p>
        </p:txBody>
      </p:sp>
      <p:sp>
        <p:nvSpPr>
          <p:cNvPr id="16" name="!!stip3"/>
          <p:cNvSpPr/>
          <p:nvPr/>
        </p:nvSpPr>
        <p:spPr>
          <a:xfrm>
            <a:off x="4806124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!!maand3"/>
          <p:cNvSpPr txBox="1"/>
          <p:nvPr/>
        </p:nvSpPr>
        <p:spPr>
          <a:xfrm>
            <a:off x="4275559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3</a:t>
            </a:r>
          </a:p>
        </p:txBody>
      </p:sp>
      <p:sp>
        <p:nvSpPr>
          <p:cNvPr id="18" name="!!taak3"/>
          <p:cNvSpPr txBox="1"/>
          <p:nvPr/>
        </p:nvSpPr>
        <p:spPr>
          <a:xfrm>
            <a:off x="4339058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zool + sensor</a:t>
            </a:r>
          </a:p>
        </p:txBody>
      </p:sp>
      <p:sp>
        <p:nvSpPr>
          <p:cNvPr id="19" name="!!stip4"/>
          <p:cNvSpPr/>
          <p:nvPr/>
        </p:nvSpPr>
        <p:spPr>
          <a:xfrm>
            <a:off x="6019649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!!maand4"/>
          <p:cNvSpPr txBox="1"/>
          <p:nvPr/>
        </p:nvSpPr>
        <p:spPr>
          <a:xfrm>
            <a:off x="5489084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6</a:t>
            </a:r>
          </a:p>
        </p:txBody>
      </p:sp>
      <p:sp>
        <p:nvSpPr>
          <p:cNvPr id="21" name="!!taak4"/>
          <p:cNvSpPr txBox="1"/>
          <p:nvPr/>
        </p:nvSpPr>
        <p:spPr>
          <a:xfrm>
            <a:off x="5552583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2" name="!!stip5"/>
          <p:cNvSpPr/>
          <p:nvPr/>
        </p:nvSpPr>
        <p:spPr>
          <a:xfrm>
            <a:off x="7233174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!!maand5"/>
          <p:cNvSpPr txBox="1"/>
          <p:nvPr/>
        </p:nvSpPr>
        <p:spPr>
          <a:xfrm>
            <a:off x="6702610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9</a:t>
            </a:r>
          </a:p>
        </p:txBody>
      </p:sp>
      <p:sp>
        <p:nvSpPr>
          <p:cNvPr id="24" name="!!taak5"/>
          <p:cNvSpPr txBox="1"/>
          <p:nvPr/>
        </p:nvSpPr>
        <p:spPr>
          <a:xfrm>
            <a:off x="6766108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25" name="!!stip6"/>
          <p:cNvSpPr/>
          <p:nvPr/>
        </p:nvSpPr>
        <p:spPr>
          <a:xfrm>
            <a:off x="8446699" y="2857428"/>
            <a:ext cx="152396" cy="152396"/>
          </a:xfrm>
          <a:prstGeom prst="ellipse">
            <a:avLst/>
          </a:prstGeom>
          <a:solidFill>
            <a:srgbClr val="52BDEC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!!maand6"/>
          <p:cNvSpPr txBox="1"/>
          <p:nvPr/>
        </p:nvSpPr>
        <p:spPr>
          <a:xfrm>
            <a:off x="7916135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12</a:t>
            </a:r>
          </a:p>
        </p:txBody>
      </p:sp>
      <p:sp>
        <p:nvSpPr>
          <p:cNvPr id="27" name="!!taak6"/>
          <p:cNvSpPr txBox="1"/>
          <p:nvPr/>
        </p:nvSpPr>
        <p:spPr>
          <a:xfrm>
            <a:off x="7979633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meting</a:t>
            </a:r>
          </a:p>
        </p:txBody>
      </p:sp>
      <p:sp>
        <p:nvSpPr>
          <p:cNvPr id="28" name="!!stip7"/>
          <p:cNvSpPr/>
          <p:nvPr/>
        </p:nvSpPr>
        <p:spPr>
          <a:xfrm>
            <a:off x="9660225" y="2857428"/>
            <a:ext cx="152396" cy="152396"/>
          </a:xfrm>
          <a:prstGeom prst="ellipse">
            <a:avLst/>
          </a:prstGeom>
          <a:solidFill>
            <a:srgbClr val="1D8DB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!!maand7"/>
          <p:cNvSpPr txBox="1"/>
          <p:nvPr/>
        </p:nvSpPr>
        <p:spPr>
          <a:xfrm>
            <a:off x="9129660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15</a:t>
            </a:r>
          </a:p>
        </p:txBody>
      </p:sp>
      <p:sp>
        <p:nvSpPr>
          <p:cNvPr id="30" name="!!taak7"/>
          <p:cNvSpPr txBox="1"/>
          <p:nvPr/>
        </p:nvSpPr>
        <p:spPr>
          <a:xfrm>
            <a:off x="9193159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begeleiding</a:t>
            </a:r>
          </a:p>
        </p:txBody>
      </p:sp>
      <p:sp>
        <p:nvSpPr>
          <p:cNvPr id="31" name="!!stip8"/>
          <p:cNvSpPr/>
          <p:nvPr/>
        </p:nvSpPr>
        <p:spPr>
          <a:xfrm>
            <a:off x="10854700" y="2838379"/>
            <a:ext cx="190495" cy="190495"/>
          </a:xfrm>
          <a:prstGeom prst="ellipse">
            <a:avLst/>
          </a:prstGeom>
          <a:solidFill>
            <a:srgbClr val="FF7A00"/>
          </a:solidFill>
          <a:ln w="38100">
            <a:solidFill>
              <a:srgbClr val="0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!!maand8"/>
          <p:cNvSpPr txBox="1"/>
          <p:nvPr/>
        </p:nvSpPr>
        <p:spPr>
          <a:xfrm>
            <a:off x="10343185" y="2133546"/>
            <a:ext cx="1213525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2F8FC"/>
                </a:solidFill>
                <a:latin typeface="Consolas"/>
              </a:rPr>
              <a:t>18</a:t>
            </a:r>
          </a:p>
        </p:txBody>
      </p:sp>
      <p:sp>
        <p:nvSpPr>
          <p:cNvPr id="33" name="!!taak8"/>
          <p:cNvSpPr txBox="1"/>
          <p:nvPr/>
        </p:nvSpPr>
        <p:spPr>
          <a:xfrm>
            <a:off x="10406684" y="3251118"/>
            <a:ext cx="108652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0">
                <a:solidFill>
                  <a:srgbClr val="8FB6D0"/>
                </a:solidFill>
                <a:latin typeface="Segoe UI"/>
              </a:rPr>
              <a:t>afronding</a:t>
            </a:r>
          </a:p>
        </p:txBody>
      </p:sp>
      <p:sp>
        <p:nvSpPr>
          <p:cNvPr id="34" name="Oval 33"/>
          <p:cNvSpPr/>
          <p:nvPr/>
        </p:nvSpPr>
        <p:spPr>
          <a:xfrm>
            <a:off x="660383" y="4013099"/>
            <a:ext cx="114297" cy="114297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878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meetmoment</a:t>
            </a:r>
          </a:p>
        </p:txBody>
      </p:sp>
      <p:sp>
        <p:nvSpPr>
          <p:cNvPr id="36" name="Oval 35"/>
          <p:cNvSpPr/>
          <p:nvPr/>
        </p:nvSpPr>
        <p:spPr>
          <a:xfrm>
            <a:off x="3200319" y="4013099"/>
            <a:ext cx="114297" cy="114297"/>
          </a:xfrm>
          <a:prstGeom prst="ellipse">
            <a:avLst/>
          </a:prstGeom>
          <a:solidFill>
            <a:srgbClr val="1D8D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0815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begeleiding</a:t>
            </a:r>
          </a:p>
        </p:txBody>
      </p:sp>
      <p:sp>
        <p:nvSpPr>
          <p:cNvPr id="38" name="Oval 37"/>
          <p:cNvSpPr/>
          <p:nvPr/>
        </p:nvSpPr>
        <p:spPr>
          <a:xfrm>
            <a:off x="5740256" y="4013099"/>
            <a:ext cx="114297" cy="114297"/>
          </a:xfrm>
          <a:prstGeom prst="ellipse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30751" y="3975000"/>
            <a:ext cx="2285942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8FB6D0"/>
                </a:solidFill>
                <a:latin typeface="Consolas"/>
              </a:rPr>
              <a:t>start en afronding</a:t>
            </a:r>
          </a:p>
        </p:txBody>
      </p:sp>
      <p:sp>
        <p:nvSpPr>
          <p:cNvPr id="40" name="!!camera"/>
          <p:cNvSpPr txBox="1"/>
          <p:nvPr/>
        </p:nvSpPr>
        <p:spPr>
          <a:xfrm>
            <a:off x="634984" y="4711582"/>
            <a:ext cx="2031949" cy="146046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52BDEC"/>
                </a:solidFill>
                <a:latin typeface="Segoe UI"/>
              </a:rP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39936" y="4813179"/>
            <a:ext cx="888977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momenten, één zorgpad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52636" y="5283067"/>
            <a:ext cx="8889777" cy="9524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FB6D0"/>
                </a:solidFill>
                <a:latin typeface="Segoe UI"/>
              </a:rPr>
              <a:t>Het verschil met vandaag zit niet in hoe vaak u de patiënt ziet, maar in wat u bij elk bezoek wéét: wat de zool doet en wat er gedragen is.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18 / 29</a:t>
            </a:r>
          </a:p>
        </p:txBody>
      </p:sp>
      <p:pic>
        <p:nvPicPr>
          <p:cNvPr id="44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SEBIA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Vijf stappen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2095447"/>
            <a:ext cx="2057348" cy="3428914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779" y="2311342"/>
            <a:ext cx="165095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779" y="2793930"/>
            <a:ext cx="170175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2F8FC"/>
                </a:solidFill>
                <a:latin typeface="Segoe UI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779" y="3327316"/>
            <a:ext cx="1701757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Kennis meten. Educatie op maat, met oefenen.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44728" y="2095447"/>
            <a:ext cx="2057348" cy="3428914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2524" y="2311342"/>
            <a:ext cx="165095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2524" y="2793930"/>
            <a:ext cx="170175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2F8FC"/>
                </a:solidFill>
                <a:latin typeface="Segoe UI"/>
              </a:rPr>
              <a:t>3 mnd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2524" y="3327316"/>
            <a:ext cx="1701757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Teach-back. Nadruk op bínnenshuis dragen.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54473" y="2095447"/>
            <a:ext cx="2057348" cy="3428914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2269" y="2311342"/>
            <a:ext cx="165095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2269" y="2793930"/>
            <a:ext cx="170175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2F8FC"/>
                </a:solidFill>
                <a:latin typeface="Segoe UI"/>
              </a:rPr>
              <a:t>6 · 12 mnd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2269" y="3327316"/>
            <a:ext cx="1701757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Zelfinschatting, dan samen de data bekijken.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4218" y="2095447"/>
            <a:ext cx="2057348" cy="3428914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2013" y="2311342"/>
            <a:ext cx="165095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2013" y="2793930"/>
            <a:ext cx="170175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2F8FC"/>
                </a:solidFill>
                <a:latin typeface="Segoe UI"/>
              </a:rPr>
              <a:t>9 · 15 mnd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2013" y="3327316"/>
            <a:ext cx="1701757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Voordoen. Uitdraai vergelijken met vorige keer.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3963" y="2095447"/>
            <a:ext cx="2057348" cy="3428914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1758" y="2311342"/>
            <a:ext cx="165095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52BDEC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1758" y="2793930"/>
            <a:ext cx="1701757" cy="4190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F2F8FC"/>
                </a:solidFill>
                <a:latin typeface="Segoe UI"/>
              </a:rPr>
              <a:t>18 mnd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1758" y="3327316"/>
            <a:ext cx="1701757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</a:pPr>
            <a:r>
              <a:rPr sz="1500" b="0">
                <a:solidFill>
                  <a:srgbClr val="8FB6D0"/>
                </a:solidFill>
                <a:latin typeface="Segoe UI"/>
              </a:rPr>
              <a:t>Afsluiten en resultaten delen.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19 / 29</a:t>
            </a:r>
          </a:p>
        </p:txBody>
      </p:sp>
      <p:pic>
        <p:nvPicPr>
          <p:cNvPr id="26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 TECHNIEK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Drie toestellen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1968450"/>
            <a:ext cx="5384538" cy="4000399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e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719" y="2184345"/>
            <a:ext cx="1965067" cy="16636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377" y="3975000"/>
            <a:ext cx="2412939" cy="44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F2F8FC"/>
                </a:solidFill>
                <a:latin typeface="Segoe UI"/>
              </a:rPr>
              <a:t>Novel pedar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7076" y="4444888"/>
            <a:ext cx="2412939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60">
                <a:solidFill>
                  <a:srgbClr val="52BDEC"/>
                </a:solidFill>
                <a:latin typeface="Consolas"/>
              </a:rPr>
              <a:t>DRUK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77" y="4660783"/>
            <a:ext cx="2412939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2BDEC"/>
                </a:solidFill>
                <a:latin typeface="Segoe UI"/>
              </a:rPr>
              <a:t>8  voetregio's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377" y="5079873"/>
            <a:ext cx="2412939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spc="130">
                <a:solidFill>
                  <a:srgbClr val="FF7A00"/>
                </a:solidFill>
                <a:latin typeface="Consolas"/>
              </a:rPr>
              <a:t>UW TEAM MEET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9713" y="3975000"/>
            <a:ext cx="2260416" cy="1777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8FB6D0"/>
                </a:solidFill>
                <a:latin typeface="Segoe UI"/>
              </a:rPr>
              <a:t>Draadloze sensorzolen in de eigen schoen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0">
                <a:solidFill>
                  <a:srgbClr val="8FB6D0"/>
                </a:solidFill>
                <a:latin typeface="Segoe UI"/>
              </a:rPr>
              <a:t>Trublu-kalibratie op 6 bar, elke drie maanden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450" b="0">
                <a:solidFill>
                  <a:srgbClr val="8FB6D0"/>
                </a:solidFill>
                <a:latin typeface="Segoe UI"/>
              </a:rPr>
              <a:t>Minstens twaalf mid-gait stappen per voet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1918" y="1968450"/>
            <a:ext cx="5384538" cy="1917652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24314" y="2120846"/>
            <a:ext cx="2158946" cy="1612859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orthotim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512" y="2553717"/>
            <a:ext cx="2006549" cy="74711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711855" y="2158946"/>
            <a:ext cx="2666933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2F8FC"/>
                </a:solidFill>
                <a:latin typeface="Segoe UI"/>
              </a:rPr>
              <a:t>Orthotimer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4554" y="2527236"/>
            <a:ext cx="2666933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50">
                <a:solidFill>
                  <a:srgbClr val="52BDEC"/>
                </a:solidFill>
                <a:latin typeface="Consolas"/>
              </a:rPr>
              <a:t>DRAAGTIJD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1855" y="2730431"/>
            <a:ext cx="2666933" cy="355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2BDEC"/>
                </a:solidFill>
                <a:latin typeface="Segoe UI"/>
              </a:rPr>
              <a:t>15  minuten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1855" y="3073323"/>
            <a:ext cx="259060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8FB6D0"/>
                </a:solidFill>
                <a:latin typeface="Segoe UI"/>
              </a:rPr>
              <a:t>In de zool, 9 × 13 × 4,5 mm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400" b="0">
                <a:solidFill>
                  <a:srgbClr val="8FB6D0"/>
                </a:solidFill>
                <a:latin typeface="Segoe UI"/>
              </a:rPr>
              <a:t>Batterij 100 dagen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1855" y="3644808"/>
            <a:ext cx="266693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30">
                <a:solidFill>
                  <a:srgbClr val="FF7A00"/>
                </a:solidFill>
                <a:latin typeface="Consolas"/>
              </a:rPr>
              <a:t>HEET: UW SENSOR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1918" y="4051198"/>
            <a:ext cx="5384538" cy="1917652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24314" y="4203594"/>
            <a:ext cx="2158946" cy="1612859"/>
          </a:xfrm>
          <a:prstGeom prst="roundRect">
            <a:avLst>
              <a:gd name="adj" fmla="val 4500"/>
            </a:avLst>
          </a:prstGeom>
          <a:solidFill>
            <a:srgbClr val="174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movemoni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512" y="4454706"/>
            <a:ext cx="2006549" cy="111063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11855" y="4241693"/>
            <a:ext cx="2666933" cy="3428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>
                <a:solidFill>
                  <a:srgbClr val="F2F8FC"/>
                </a:solidFill>
                <a:latin typeface="Segoe UI"/>
              </a:rPr>
              <a:t>MoveMonitor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24554" y="4609984"/>
            <a:ext cx="2666933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spc="150">
                <a:solidFill>
                  <a:srgbClr val="52BDEC"/>
                </a:solidFill>
                <a:latin typeface="Consolas"/>
              </a:rPr>
              <a:t>ACTIVITEIT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11855" y="4813179"/>
            <a:ext cx="2666933" cy="3555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52BDEC"/>
                </a:solidFill>
                <a:latin typeface="Segoe UI"/>
              </a:rPr>
              <a:t>7  dagen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11855" y="5156071"/>
            <a:ext cx="2590608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8FB6D0"/>
                </a:solidFill>
                <a:latin typeface="Segoe UI"/>
              </a:rPr>
              <a:t>Op de onderrug, niet waterdicht</a:t>
            </a:r>
          </a:p>
          <a:p>
            <a:pPr algn="l">
              <a:lnSpc>
                <a:spcPct val="128000"/>
              </a:lnSpc>
              <a:spcBef>
                <a:spcPts val="600"/>
              </a:spcBef>
            </a:pPr>
            <a:r>
              <a:rPr sz="1400" b="0">
                <a:solidFill>
                  <a:srgbClr val="8FB6D0"/>
                </a:solidFill>
                <a:latin typeface="Segoe UI"/>
              </a:rPr>
              <a:t>Baseline en 6 maanden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1855" y="5727556"/>
            <a:ext cx="2666933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30">
                <a:solidFill>
                  <a:srgbClr val="FF7A00"/>
                </a:solidFill>
                <a:latin typeface="Consolas"/>
              </a:rPr>
              <a:t>ZET DE 80%-NORM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20 / 29</a:t>
            </a:r>
          </a:p>
        </p:txBody>
      </p:sp>
      <p:pic>
        <p:nvPicPr>
          <p:cNvPr id="29" name="merk" descr="me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"/>
          <p:cNvSpPr txBox="1"/>
          <p:nvPr/>
        </p:nvSpPr>
        <p:spPr>
          <a:xfrm>
            <a:off x="634984" y="1854153"/>
            <a:ext cx="4444888" cy="20319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52BDEC"/>
                </a:solidFill>
                <a:latin typeface="Segoe UI"/>
              </a:rPr>
              <a:t>03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3975000"/>
            <a:ext cx="8889777" cy="8889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5600" b="1">
                <a:solidFill>
                  <a:srgbClr val="F2F8FC"/>
                </a:solidFill>
                <a:latin typeface="Segoe UI"/>
              </a:rPr>
              <a:t>Uw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383" y="4990975"/>
            <a:ext cx="8254793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0">
                <a:solidFill>
                  <a:srgbClr val="8FB6D0"/>
                </a:solidFill>
                <a:latin typeface="Segoe UI Light"/>
              </a:rPr>
              <a:t>Minder dan u vreest. Maar niet niets.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21 / 29</a:t>
            </a:r>
          </a:p>
        </p:txBody>
      </p:sp>
      <p:pic>
        <p:nvPicPr>
          <p:cNvPr id="7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756" y="1904952"/>
            <a:ext cx="1865978" cy="21589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VERDELING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Wie doet wat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984" y="1930351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984" y="2146246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2F8FC"/>
                </a:solidFill>
                <a:latin typeface="Segoe UI"/>
              </a:rPr>
              <a:t>Podoloog</a:t>
            </a:r>
          </a:p>
        </p:txBody>
      </p:sp>
      <p:sp>
        <p:nvSpPr>
          <p:cNvPr id="7" name="Oval 6"/>
          <p:cNvSpPr/>
          <p:nvPr/>
        </p:nvSpPr>
        <p:spPr>
          <a:xfrm>
            <a:off x="3555911" y="2235144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21006" y="2158946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Voert de drukmeting uit</a:t>
            </a:r>
          </a:p>
        </p:txBody>
      </p:sp>
      <p:sp>
        <p:nvSpPr>
          <p:cNvPr id="9" name="Oval 8"/>
          <p:cNvSpPr/>
          <p:nvPr/>
        </p:nvSpPr>
        <p:spPr>
          <a:xfrm>
            <a:off x="6273643" y="2235144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739" y="2158946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Levert SEBIA</a:t>
            </a:r>
          </a:p>
        </p:txBody>
      </p:sp>
      <p:sp>
        <p:nvSpPr>
          <p:cNvPr id="11" name="Oval 10"/>
          <p:cNvSpPr/>
          <p:nvPr/>
        </p:nvSpPr>
        <p:spPr>
          <a:xfrm>
            <a:off x="8991375" y="2235144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56471" y="2158946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Leest sensoren uit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984" y="2971725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984" y="3187620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2F8FC"/>
                </a:solidFill>
                <a:latin typeface="Segoe UI"/>
              </a:rPr>
              <a:t>Pedorthist</a:t>
            </a:r>
          </a:p>
        </p:txBody>
      </p:sp>
      <p:sp>
        <p:nvSpPr>
          <p:cNvPr id="15" name="Oval 14"/>
          <p:cNvSpPr/>
          <p:nvPr/>
        </p:nvSpPr>
        <p:spPr>
          <a:xfrm>
            <a:off x="3555911" y="3276518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006" y="3200319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Maakt de zool</a:t>
            </a:r>
          </a:p>
        </p:txBody>
      </p:sp>
      <p:sp>
        <p:nvSpPr>
          <p:cNvPr id="17" name="Oval 16"/>
          <p:cNvSpPr/>
          <p:nvPr/>
        </p:nvSpPr>
        <p:spPr>
          <a:xfrm>
            <a:off x="6273643" y="3276518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8739" y="3200319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Past aan tot de norm</a:t>
            </a:r>
          </a:p>
        </p:txBody>
      </p:sp>
      <p:sp>
        <p:nvSpPr>
          <p:cNvPr id="19" name="Oval 18"/>
          <p:cNvSpPr/>
          <p:nvPr/>
        </p:nvSpPr>
        <p:spPr>
          <a:xfrm>
            <a:off x="8991375" y="3276518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6471" y="3200319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Integreert de sensor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984" y="4013099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984" y="4228994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2F8FC"/>
                </a:solidFill>
                <a:latin typeface="Segoe UI"/>
              </a:rPr>
              <a:t>Arts</a:t>
            </a:r>
          </a:p>
        </p:txBody>
      </p:sp>
      <p:sp>
        <p:nvSpPr>
          <p:cNvPr id="23" name="Oval 22"/>
          <p:cNvSpPr/>
          <p:nvPr/>
        </p:nvSpPr>
        <p:spPr>
          <a:xfrm>
            <a:off x="3555911" y="4317892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006" y="4241693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Bevestigt geschiktheid</a:t>
            </a:r>
          </a:p>
        </p:txBody>
      </p:sp>
      <p:sp>
        <p:nvSpPr>
          <p:cNvPr id="25" name="Oval 24"/>
          <p:cNvSpPr/>
          <p:nvPr/>
        </p:nvSpPr>
        <p:spPr>
          <a:xfrm>
            <a:off x="6273643" y="4317892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8739" y="4241693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Beoordeelt laesies</a:t>
            </a:r>
          </a:p>
        </p:txBody>
      </p:sp>
      <p:sp>
        <p:nvSpPr>
          <p:cNvPr id="27" name="Oval 26"/>
          <p:cNvSpPr/>
          <p:nvPr/>
        </p:nvSpPr>
        <p:spPr>
          <a:xfrm>
            <a:off x="8991375" y="4317892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6471" y="4241693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Meldt voorvallen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984" y="5054473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984" y="5270368"/>
            <a:ext cx="2666933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F2F8FC"/>
                </a:solidFill>
                <a:latin typeface="Segoe UI"/>
              </a:rPr>
              <a:t>Management</a:t>
            </a:r>
          </a:p>
        </p:txBody>
      </p:sp>
      <p:sp>
        <p:nvSpPr>
          <p:cNvPr id="31" name="Oval 30"/>
          <p:cNvSpPr/>
          <p:nvPr/>
        </p:nvSpPr>
        <p:spPr>
          <a:xfrm>
            <a:off x="3555911" y="5359266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21006" y="5283067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Maakt tijd vrij</a:t>
            </a:r>
          </a:p>
        </p:txBody>
      </p:sp>
      <p:sp>
        <p:nvSpPr>
          <p:cNvPr id="33" name="Oval 32"/>
          <p:cNvSpPr/>
          <p:nvPr/>
        </p:nvSpPr>
        <p:spPr>
          <a:xfrm>
            <a:off x="6273643" y="5359266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8739" y="5283067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Faciliteert opleiding</a:t>
            </a:r>
          </a:p>
        </p:txBody>
      </p:sp>
      <p:sp>
        <p:nvSpPr>
          <p:cNvPr id="35" name="Oval 34"/>
          <p:cNvSpPr/>
          <p:nvPr/>
        </p:nvSpPr>
        <p:spPr>
          <a:xfrm>
            <a:off x="8991375" y="5359266"/>
            <a:ext cx="69848" cy="69848"/>
          </a:xfrm>
          <a:prstGeom prst="ellipse">
            <a:avLst/>
          </a:prstGeom>
          <a:solidFill>
            <a:srgbClr val="52B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56471" y="5283067"/>
            <a:ext cx="2362140" cy="5714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Bewaakt 24 inclusies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984" y="6095847"/>
            <a:ext cx="10921726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22 / 29</a:t>
            </a:r>
          </a:p>
        </p:txBody>
      </p:sp>
      <p:pic>
        <p:nvPicPr>
          <p:cNvPr id="39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FF7A00"/>
                </a:solidFill>
                <a:latin typeface="Consolas"/>
              </a:rPr>
              <a:t>DE ENIGE REGEL DIE U ÉCHT MOET ONTHOUDEN</a:t>
            </a:r>
          </a:p>
        </p:txBody>
      </p:sp>
      <p:sp>
        <p:nvSpPr>
          <p:cNvPr id="4" name="hero"/>
          <p:cNvSpPr txBox="1"/>
          <p:nvPr/>
        </p:nvSpPr>
        <p:spPr>
          <a:xfrm>
            <a:off x="634984" y="1066773"/>
            <a:ext cx="6857828" cy="253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>
                <a:solidFill>
                  <a:srgbClr val="F2F8FC"/>
                </a:solidFill>
                <a:latin typeface="Segoe UI"/>
              </a:rPr>
              <a:t>Meetwaarden gaan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5400" b="1">
                <a:solidFill>
                  <a:srgbClr val="F2F8FC"/>
                </a:solidFill>
                <a:latin typeface="Segoe UI"/>
              </a:rPr>
              <a:t>niet naar de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5400" b="1">
                <a:solidFill>
                  <a:srgbClr val="F2F8FC"/>
                </a:solidFill>
                <a:latin typeface="Segoe UI"/>
              </a:rPr>
              <a:t>controlegroep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4101997"/>
            <a:ext cx="6857828" cy="154936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377" y="4381390"/>
            <a:ext cx="6349841" cy="12064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50" b="0">
                <a:solidFill>
                  <a:srgbClr val="8FB6D0"/>
                </a:solidFill>
                <a:latin typeface="Segoe UI"/>
              </a:rPr>
              <a:t>Ook zij krijgen een drukmeting en dragen een sensor — anders kunnen we de groepen niet vergelijken. Maar die getallen blijven dicht. Bespreekt u ze, dan lévert u de interventie.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3803" y="2031949"/>
            <a:ext cx="3682907" cy="3517812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78595" y="2324041"/>
            <a:ext cx="3111422" cy="2412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60">
                <a:solidFill>
                  <a:srgbClr val="FF7A00"/>
                </a:solidFill>
                <a:latin typeface="Consolas"/>
              </a:rPr>
              <a:t>UITZONDERING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8595" y="2730431"/>
            <a:ext cx="3111422" cy="253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F2F8FC"/>
                </a:solidFill>
                <a:latin typeface="Segoe UI"/>
              </a:rPr>
              <a:t>Klinische bevindingen zijn géén meetwaarden. Elke laesie of huiddefect meldt en behandelt u meteen. In beide groepen.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23 / 29</a:t>
            </a:r>
          </a:p>
        </p:txBody>
      </p:sp>
      <p:pic>
        <p:nvPicPr>
          <p:cNvPr id="11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 VRAAG DIE U NIET HARDOP STELT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Wat kost dit mij?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" y="1676358"/>
            <a:ext cx="8889777" cy="2793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Geen verzonnen getal. Dit komt erbij: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4984" y="2133546"/>
            <a:ext cx="5384538" cy="77468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179" y="2273243"/>
            <a:ext cx="497814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40">
                <a:solidFill>
                  <a:srgbClr val="52BDEC"/>
                </a:solidFill>
                <a:latin typeface="Consolas"/>
              </a:rPr>
              <a:t>DRUKMETING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539936"/>
            <a:ext cx="4978148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2F8FC"/>
                </a:solidFill>
                <a:latin typeface="Segoe UI"/>
              </a:rPr>
              <a:t>baseline · 6 · 12 maanden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1918" y="2133546"/>
            <a:ext cx="5384538" cy="77468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5113" y="2273243"/>
            <a:ext cx="497814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40">
                <a:solidFill>
                  <a:srgbClr val="52BDEC"/>
                </a:solidFill>
                <a:latin typeface="Consolas"/>
              </a:rPr>
              <a:t>SEBIA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113" y="2539936"/>
            <a:ext cx="4978148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2F8FC"/>
                </a:solidFill>
                <a:latin typeface="Segoe UI"/>
              </a:rPr>
              <a:t>in het bestaande consult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984" y="3035224"/>
            <a:ext cx="5384538" cy="77468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179" y="3174920"/>
            <a:ext cx="497814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40">
                <a:solidFill>
                  <a:srgbClr val="52BDEC"/>
                </a:solidFill>
                <a:latin typeface="Consolas"/>
              </a:rPr>
              <a:t>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79" y="3441613"/>
            <a:ext cx="4978148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2F8FC"/>
                </a:solidFill>
                <a:latin typeface="Segoe UI"/>
              </a:rPr>
              <a:t>uitlezen en vervangen per bezoek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1918" y="3035224"/>
            <a:ext cx="5384538" cy="774680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5113" y="3174920"/>
            <a:ext cx="4978148" cy="2285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140">
                <a:solidFill>
                  <a:srgbClr val="52BDEC"/>
                </a:solidFill>
                <a:latin typeface="Consolas"/>
              </a:rPr>
              <a:t>OPLEIDING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113" y="3441613"/>
            <a:ext cx="4978148" cy="2920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F2F8FC"/>
                </a:solidFill>
                <a:latin typeface="Segoe UI"/>
              </a:rPr>
              <a:t>eenmalig, door ons verzorgd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984" y="4101997"/>
            <a:ext cx="10921726" cy="952476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52BD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2476" y="4394090"/>
            <a:ext cx="10286742" cy="69848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>
                <a:solidFill>
                  <a:srgbClr val="F2F8FC"/>
                </a:solidFill>
                <a:latin typeface="Segoe UI"/>
              </a:rPr>
              <a:t>Hoeveel het wérkelijk kost, meten we. Dat is precies wat een implementatiestudie hoort te doen.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24 / 29</a:t>
            </a:r>
          </a:p>
        </p:txBody>
      </p:sp>
      <p:pic>
        <p:nvPicPr>
          <p:cNvPr id="21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FF7A00"/>
                </a:solidFill>
                <a:latin typeface="Consolas"/>
              </a:rPr>
              <a:t>RUSTPUNT</a:t>
            </a:r>
          </a:p>
        </p:txBody>
      </p:sp>
      <p:sp>
        <p:nvSpPr>
          <p:cNvPr id="4" name="hero"/>
          <p:cNvSpPr txBox="1"/>
          <p:nvPr/>
        </p:nvSpPr>
        <p:spPr>
          <a:xfrm>
            <a:off x="634984" y="2362140"/>
            <a:ext cx="10921726" cy="1777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0" b="1">
                <a:solidFill>
                  <a:srgbClr val="F2F8FC"/>
                </a:solidFill>
                <a:latin typeface="Segoe UI"/>
              </a:rPr>
              <a:t>Vragen?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4984" y="4444888"/>
            <a:ext cx="10921726" cy="444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300" b="0">
                <a:solidFill>
                  <a:srgbClr val="8FB6D0"/>
                </a:solidFill>
                <a:latin typeface="Segoe UI Light"/>
              </a:rPr>
              <a:t>Voor we naar de afspraken gaan.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25 / 29</a:t>
            </a:r>
          </a:p>
        </p:txBody>
      </p:sp>
      <p:pic>
        <p:nvPicPr>
          <p:cNvPr id="7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6793" y="749281"/>
            <a:ext cx="878107" cy="101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ONDERSTEUNING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Wat u van ons krijgt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984" y="1993850"/>
            <a:ext cx="6222844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984" y="2158946"/>
            <a:ext cx="622284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2F8FC"/>
                </a:solidFill>
                <a:latin typeface="Segoe UI"/>
              </a:rPr>
              <a:t>Motiverende gespreksvoering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683" y="2476438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Training door een psycholoog — alle centra dezelfde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984" y="2959026"/>
            <a:ext cx="6222844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4984" y="3124121"/>
            <a:ext cx="622284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2F8FC"/>
                </a:solidFill>
                <a:latin typeface="Segoe UI"/>
              </a:rPr>
              <a:t>Pedar en SEBIA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83" y="3441613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Werkinstructie en draaiboek per handeling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984" y="3924201"/>
            <a:ext cx="6222844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984" y="4089297"/>
            <a:ext cx="622284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2F8FC"/>
                </a:solidFill>
                <a:latin typeface="Segoe UI"/>
              </a:rPr>
              <a:t>REDCap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683" y="4406789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Instructie plus een testomgeving om in te oefenen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984" y="4889377"/>
            <a:ext cx="6222844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984" y="5054473"/>
            <a:ext cx="6222844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2F8FC"/>
                </a:solidFill>
                <a:latin typeface="Segoe UI"/>
              </a:rPr>
              <a:t>Eén contactpunt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83" y="5371965"/>
            <a:ext cx="609584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Eén nummer, één mailadres, voor alles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2812" y="1904952"/>
            <a:ext cx="4063898" cy="3949601"/>
          </a:xfrm>
          <a:prstGeom prst="roundRect">
            <a:avLst>
              <a:gd name="adj" fmla="val 4500"/>
            </a:avLst>
          </a:prstGeom>
          <a:solidFill>
            <a:srgbClr val="113A57"/>
          </a:solidFill>
          <a:ln w="9525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00799" y="2044648"/>
            <a:ext cx="3047923" cy="3047923"/>
          </a:xfrm>
          <a:prstGeom prst="ellipse">
            <a:avLst/>
          </a:prstGeom>
          <a:solidFill>
            <a:srgbClr val="FF7A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ro"/>
          <p:cNvSpPr txBox="1"/>
          <p:nvPr/>
        </p:nvSpPr>
        <p:spPr>
          <a:xfrm>
            <a:off x="7772205" y="2158946"/>
            <a:ext cx="3555911" cy="19049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sz="15000" b="1">
                <a:solidFill>
                  <a:srgbClr val="FF7A00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205" y="4063898"/>
            <a:ext cx="3555911" cy="3936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>
                <a:solidFill>
                  <a:srgbClr val="F2F8FC"/>
                </a:solidFill>
                <a:latin typeface="Segoe UI"/>
              </a:rPr>
              <a:t>sancties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304" y="4584585"/>
            <a:ext cx="3428914" cy="10159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>
                <a:solidFill>
                  <a:srgbClr val="8FB6D0"/>
                </a:solidFill>
                <a:latin typeface="Segoe UI"/>
              </a:rPr>
              <a:t>Wijkt u af van het protocol, dan meldt u dat. Het wordt geregistreerd, niet afgestraft.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26 / 29</a:t>
            </a:r>
          </a:p>
        </p:txBody>
      </p:sp>
      <p:pic>
        <p:nvPicPr>
          <p:cNvPr id="23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WAT U GAAT VRAGEN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Vooruitlopend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984" y="1904952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984" y="2070048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Patiënt wil de sensor niet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" y="2514537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977" y="2501837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Dan niet geschikt. Draagtijd ís een hoofduitkomst.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1918" y="1904952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1918" y="2070048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Zool haalt de norm niet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1918" y="2514537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5912" y="2501837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We noteren wat wél bereikt is en gaan door.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984" y="3340016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4984" y="3505112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Mag ik nog adviseren?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984" y="3949601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8977" y="3936901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Alles wat u vandaag doet, blijft u doen.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1918" y="3340016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1918" y="3505112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Wij zijn niet academisch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1918" y="3949601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5912" y="3936901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Drie van de zes centra ook niet. Dat wordt getoetst.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984" y="4775080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984" y="4940176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Onze data?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984" y="5384665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977" y="5371965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Gepseudonimiseerd, tien jaar, binnen de toestemming.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1918" y="4775080"/>
            <a:ext cx="538453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1918" y="4940176"/>
            <a:ext cx="5384538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F2F8FC"/>
                </a:solidFill>
                <a:latin typeface="Segoe UI"/>
              </a:rPr>
              <a:t>Zien wij resultaten?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1918" y="5384665"/>
            <a:ext cx="190495" cy="25399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52BDEC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5912" y="5371965"/>
            <a:ext cx="5130544" cy="634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>
                <a:solidFill>
                  <a:srgbClr val="8FB6D0"/>
                </a:solidFill>
                <a:latin typeface="Segoe UI"/>
              </a:rPr>
              <a:t>Eén publicatie, ongeacht de uitkomst.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27 / 29</a:t>
            </a:r>
          </a:p>
        </p:txBody>
      </p:sp>
      <p:pic>
        <p:nvPicPr>
          <p:cNvPr id="30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4984" y="571485"/>
            <a:ext cx="9524761" cy="215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spc="240">
                <a:solidFill>
                  <a:srgbClr val="52BDEC"/>
                </a:solidFill>
                <a:latin typeface="Consolas"/>
              </a:rPr>
              <a:t>DE AFSPRAAK</a:t>
            </a:r>
          </a:p>
        </p:txBody>
      </p:sp>
      <p:sp>
        <p:nvSpPr>
          <p:cNvPr id="4" name="sectietitel"/>
          <p:cNvSpPr txBox="1"/>
          <p:nvPr/>
        </p:nvSpPr>
        <p:spPr>
          <a:xfrm>
            <a:off x="634984" y="838179"/>
            <a:ext cx="9905752" cy="1269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2F8FC"/>
                </a:solidFill>
                <a:latin typeface="Segoe UI"/>
              </a:rPr>
              <a:t>Vier dingen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1904952"/>
            <a:ext cx="10921726" cy="394960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281" y="2133546"/>
            <a:ext cx="1904952" cy="761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>
                <a:solidFill>
                  <a:srgbClr val="52BDEC"/>
                </a:solidFill>
                <a:latin typeface="Segoe U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4425" y="2133546"/>
            <a:ext cx="571485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F8FC"/>
                </a:solidFill>
                <a:latin typeface="Segoe UI"/>
              </a:rPr>
              <a:t>deelnemers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7125" y="2552636"/>
            <a:ext cx="7937301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FB6D0"/>
                </a:solidFill>
                <a:latin typeface="Segoe UI"/>
              </a:rPr>
              <a:t>over twaalf maanden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773" y="2920926"/>
            <a:ext cx="1005814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281" y="3086022"/>
            <a:ext cx="1904952" cy="761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>
                <a:solidFill>
                  <a:srgbClr val="52BDE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4425" y="3086022"/>
            <a:ext cx="571485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F8FC"/>
                </a:solidFill>
                <a:latin typeface="Segoe UI"/>
              </a:rPr>
              <a:t>vaste 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7125" y="3505112"/>
            <a:ext cx="7937301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FB6D0"/>
                </a:solidFill>
                <a:latin typeface="Segoe UI"/>
              </a:rPr>
              <a:t>plus gedelegeerd team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6773" y="3873403"/>
            <a:ext cx="1005814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281" y="4038499"/>
            <a:ext cx="1904952" cy="761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>
                <a:solidFill>
                  <a:srgbClr val="52BDEC"/>
                </a:solidFill>
                <a:latin typeface="Segoe UI"/>
              </a:rPr>
              <a:t>10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4425" y="4038499"/>
            <a:ext cx="571485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F8FC"/>
                </a:solidFill>
                <a:latin typeface="Segoe UI"/>
              </a:rPr>
              <a:t>looppad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7125" y="4457588"/>
            <a:ext cx="7937301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FB6D0"/>
                </a:solidFill>
                <a:latin typeface="Segoe UI"/>
              </a:rPr>
              <a:t>meer ruimte is niet nodig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6773" y="4825879"/>
            <a:ext cx="10058148" cy="9524"/>
          </a:xfrm>
          <a:prstGeom prst="rect">
            <a:avLst/>
          </a:prstGeom>
          <a:solidFill>
            <a:srgbClr val="215B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281" y="4990975"/>
            <a:ext cx="1904952" cy="7619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5400" b="1">
                <a:solidFill>
                  <a:srgbClr val="52BDEC"/>
                </a:solidFill>
                <a:latin typeface="Segoe U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4425" y="4990975"/>
            <a:ext cx="5714857" cy="3809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F2F8FC"/>
                </a:solidFill>
                <a:latin typeface="Segoe UI"/>
              </a:rPr>
              <a:t>dagboek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7125" y="5410064"/>
            <a:ext cx="7937301" cy="3174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FB6D0"/>
                </a:solidFill>
                <a:latin typeface="Segoe UI"/>
              </a:rPr>
              <a:t>voor de procesevaluatie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40736" y="6387940"/>
            <a:ext cx="1015974" cy="177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8FB6D0"/>
                </a:solidFill>
                <a:latin typeface="Consolas"/>
              </a:rPr>
              <a:t>28 / 29</a:t>
            </a:r>
          </a:p>
        </p:txBody>
      </p:sp>
      <p:pic>
        <p:nvPicPr>
          <p:cNvPr id="22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166" y="368290"/>
            <a:ext cx="417101" cy="4825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041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ero"/>
          <p:cNvSpPr txBox="1"/>
          <p:nvPr/>
        </p:nvSpPr>
        <p:spPr>
          <a:xfrm>
            <a:off x="634984" y="1879553"/>
            <a:ext cx="7619809" cy="146046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F2F8FC"/>
                </a:solidFill>
                <a:latin typeface="Segoe UI"/>
              </a:rPr>
              <a:t>Doe mee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0383" y="3479713"/>
            <a:ext cx="8254793" cy="5079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0">
                <a:solidFill>
                  <a:srgbClr val="52BDEC"/>
                </a:solidFill>
                <a:latin typeface="Segoe UI Light"/>
              </a:rPr>
              <a:t>PARADISE start zodra de goedkeuringen binnen zijn.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4984" y="4190895"/>
            <a:ext cx="6349841" cy="1549361"/>
          </a:xfrm>
          <a:prstGeom prst="roundRect">
            <a:avLst>
              <a:gd name="adj" fmla="val 4500"/>
            </a:avLst>
          </a:prstGeom>
          <a:solidFill>
            <a:srgbClr val="0A2A44"/>
          </a:solidFill>
          <a:ln w="9525">
            <a:solidFill>
              <a:srgbClr val="215B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9776" y="4444888"/>
            <a:ext cx="5841853" cy="12064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50" b="0">
                <a:solidFill>
                  <a:srgbClr val="8FB6D0"/>
                </a:solidFill>
                <a:latin typeface="Segoe UI"/>
              </a:rPr>
              <a:t>Janou De Buyser · doctoraatsonderzoeker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650" b="0">
                <a:solidFill>
                  <a:srgbClr val="8FB6D0"/>
                </a:solidFill>
                <a:latin typeface="Segoe UI"/>
              </a:rPr>
              <a:t>KU Leuven · Revalidatiewetenschappen · Campus Brugge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650" b="0">
                <a:solidFill>
                  <a:srgbClr val="8FB6D0"/>
                </a:solidFill>
                <a:latin typeface="Segoe UI"/>
              </a:rPr>
              <a:t>prof. dr. Kevin Deschamps · kevin.deschamps@kuleuven.be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" y="6387940"/>
            <a:ext cx="9524761" cy="190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FB6D0"/>
                </a:solidFill>
                <a:latin typeface="Consolas"/>
              </a:rPr>
              <a:t>Protocolversie 1.0 · 17 mei 2026 · S71769</a:t>
            </a:r>
          </a:p>
        </p:txBody>
      </p:sp>
      <p:pic>
        <p:nvPicPr>
          <p:cNvPr id="8" name="merk" descr="me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0074" y="2031949"/>
            <a:ext cx="1920860" cy="2222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xmlns:p14="http://schemas.microsoft.com/office/powerpoint/2010/main" spd="slow" p14:dur="9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